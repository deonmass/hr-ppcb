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charts/chart5.xml" ContentType="application/vnd.openxmlformats-officedocument.drawingml.chart+xml"/>
  <Override PartName="/ppt/charts/style3.xml" ContentType="application/vnd.ms-office.chartstyle+xml"/>
  <Override PartName="/ppt/charts/colors3.xml" ContentType="application/vnd.ms-office.chartcolorstyle+xml"/>
  <Override PartName="/ppt/media/image9.jpg" ContentType="image/jpeg"/>
  <Override PartName="/ppt/media/image10.jpg" ContentType="image/jpeg"/>
  <Override PartName="/ppt/charts/chart6.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1330" r:id="rId5"/>
    <p:sldId id="1331" r:id="rId6"/>
    <p:sldId id="259" r:id="rId7"/>
    <p:sldId id="260" r:id="rId8"/>
    <p:sldId id="261" r:id="rId9"/>
    <p:sldId id="262" r:id="rId10"/>
    <p:sldId id="263" r:id="rId11"/>
    <p:sldId id="264" r:id="rId12"/>
    <p:sldId id="265" r:id="rId13"/>
    <p:sldId id="1332" r:id="rId14"/>
    <p:sldId id="1328" r:id="rId15"/>
    <p:sldId id="269" r:id="rId16"/>
    <p:sldId id="270" r:id="rId17"/>
    <p:sldId id="271" r:id="rId18"/>
    <p:sldId id="272"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552" autoAdjust="0"/>
  </p:normalViewPr>
  <p:slideViewPr>
    <p:cSldViewPr snapToGrid="0" snapToObjects="1">
      <p:cViewPr varScale="1">
        <p:scale>
          <a:sx n="56" d="100"/>
          <a:sy n="56" d="100"/>
        </p:scale>
        <p:origin x="97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oleObject" Target="file:///D:\Rapports\August%2026\New%20report%20-%20Aout%2026.xlsx" TargetMode="External"/><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Age Distribution</c:v>
                </c:pt>
              </c:strCache>
            </c:strRef>
          </c:tx>
          <c:spPr>
            <a:solidFill>
              <a:srgbClr val="E30613"/>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&lt;25 ans</c:v>
                </c:pt>
                <c:pt idx="1">
                  <c:v>25 - 29 ans</c:v>
                </c:pt>
                <c:pt idx="2">
                  <c:v>30 - 34 ans</c:v>
                </c:pt>
                <c:pt idx="3">
                  <c:v>35 - 39 ans</c:v>
                </c:pt>
                <c:pt idx="4">
                  <c:v>40 - 44 ans</c:v>
                </c:pt>
                <c:pt idx="5">
                  <c:v>45 - 49 ans</c:v>
                </c:pt>
                <c:pt idx="6">
                  <c:v>50 - 54 ans</c:v>
                </c:pt>
                <c:pt idx="7">
                  <c:v>&gt;55</c:v>
                </c:pt>
              </c:strCache>
            </c:strRef>
          </c:cat>
          <c:val>
            <c:numRef>
              <c:f>Sheet1!$B$2:$B$9</c:f>
              <c:numCache>
                <c:formatCode>General</c:formatCode>
                <c:ptCount val="8"/>
                <c:pt idx="0">
                  <c:v>1</c:v>
                </c:pt>
                <c:pt idx="1">
                  <c:v>14</c:v>
                </c:pt>
                <c:pt idx="2">
                  <c:v>23</c:v>
                </c:pt>
                <c:pt idx="3">
                  <c:v>53</c:v>
                </c:pt>
                <c:pt idx="4">
                  <c:v>40</c:v>
                </c:pt>
                <c:pt idx="5">
                  <c:v>23</c:v>
                </c:pt>
                <c:pt idx="6">
                  <c:v>10</c:v>
                </c:pt>
                <c:pt idx="7">
                  <c:v>11</c:v>
                </c:pt>
              </c:numCache>
            </c:numRef>
          </c:val>
          <c:extLst>
            <c:ext xmlns:c16="http://schemas.microsoft.com/office/drawing/2014/chart" uri="{C3380CC4-5D6E-409C-BE32-E72D297353CC}">
              <c16:uniqueId val="{00000000-8BA8-42AA-9F9C-7CFBD3EF7C5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16161E"/>
                </a:solidFill>
                <a:latin typeface="Arial"/>
              </a:defRPr>
            </a:pPr>
            <a:endParaRPr lang="en-US"/>
          </a:p>
        </c:txPr>
        <c:crossAx val="2094734552"/>
        <c:crosses val="autoZero"/>
        <c:auto val="1"/>
        <c:lblAlgn val="ctr"/>
        <c:lblOffset val="100"/>
        <c:noMultiLvlLbl val="1"/>
      </c:catAx>
      <c:valAx>
        <c:axId val="2094734552"/>
        <c:scaling>
          <c:orientation val="minMax"/>
          <c:max val="61"/>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Length of Service</c:v>
                </c:pt>
              </c:strCache>
            </c:strRef>
          </c:tx>
          <c:spPr>
            <a:solidFill>
              <a:srgbClr val="6B6B7A"/>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&lt;1 year</c:v>
                </c:pt>
                <c:pt idx="1">
                  <c:v>1 - 3 year(s)</c:v>
                </c:pt>
                <c:pt idx="2">
                  <c:v>4 - 6 years</c:v>
                </c:pt>
                <c:pt idx="3">
                  <c:v>7 - 9 years</c:v>
                </c:pt>
                <c:pt idx="4">
                  <c:v>&gt;= 10 years</c:v>
                </c:pt>
              </c:strCache>
            </c:strRef>
          </c:cat>
          <c:val>
            <c:numRef>
              <c:f>Sheet1!$B$2:$B$6</c:f>
              <c:numCache>
                <c:formatCode>General</c:formatCode>
                <c:ptCount val="5"/>
                <c:pt idx="0">
                  <c:v>15</c:v>
                </c:pt>
                <c:pt idx="1">
                  <c:v>44</c:v>
                </c:pt>
                <c:pt idx="2">
                  <c:v>37</c:v>
                </c:pt>
                <c:pt idx="3">
                  <c:v>51</c:v>
                </c:pt>
                <c:pt idx="4">
                  <c:v>28</c:v>
                </c:pt>
              </c:numCache>
            </c:numRef>
          </c:val>
          <c:extLst>
            <c:ext xmlns:c16="http://schemas.microsoft.com/office/drawing/2014/chart" uri="{C3380CC4-5D6E-409C-BE32-E72D297353CC}">
              <c16:uniqueId val="{00000000-EC75-4E83-96C9-D383171AF85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16161E"/>
                </a:solidFill>
                <a:latin typeface="Arial"/>
              </a:defRPr>
            </a:pPr>
            <a:endParaRPr lang="en-US"/>
          </a:p>
        </c:txPr>
        <c:crossAx val="2094734552"/>
        <c:crosses val="autoZero"/>
        <c:auto val="1"/>
        <c:lblAlgn val="ctr"/>
        <c:lblOffset val="100"/>
        <c:noMultiLvlLbl val="1"/>
      </c:catAx>
      <c:valAx>
        <c:axId val="2094734552"/>
        <c:scaling>
          <c:orientation val="minMax"/>
          <c:max val="59"/>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1" i="0" u="none" strike="noStrike" kern="1200" spc="0" baseline="0" dirty="0">
                <a:solidFill>
                  <a:schemeClr val="tx1"/>
                </a:solidFill>
              </a:rPr>
              <a:t>COST PER MONTH (USD)</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col"/>
        <c:grouping val="stacked"/>
        <c:varyColors val="0"/>
        <c:ser>
          <c:idx val="0"/>
          <c:order val="0"/>
          <c:tx>
            <c:strRef>
              <c:f>Training!$B$4</c:f>
              <c:strCache>
                <c:ptCount val="1"/>
                <c:pt idx="0">
                  <c:v>Plant</c:v>
                </c:pt>
              </c:strCache>
            </c:strRef>
          </c:tx>
          <c:spPr>
            <a:solidFill>
              <a:schemeClr val="accent2"/>
            </a:solidFill>
            <a:ln>
              <a:noFill/>
            </a:ln>
            <a:effectLst/>
          </c:spPr>
          <c:invertIfNegative val="0"/>
          <c:cat>
            <c:strRef>
              <c:f>Training!$C$2:$K$2</c:f>
              <c:strCache>
                <c:ptCount val="9"/>
                <c:pt idx="0">
                  <c:v>April</c:v>
                </c:pt>
                <c:pt idx="1">
                  <c:v>May</c:v>
                </c:pt>
                <c:pt idx="2">
                  <c:v>June</c:v>
                </c:pt>
                <c:pt idx="3">
                  <c:v>July</c:v>
                </c:pt>
                <c:pt idx="4">
                  <c:v>August</c:v>
                </c:pt>
                <c:pt idx="5">
                  <c:v>September</c:v>
                </c:pt>
                <c:pt idx="6">
                  <c:v>October</c:v>
                </c:pt>
                <c:pt idx="7">
                  <c:v>November</c:v>
                </c:pt>
                <c:pt idx="8">
                  <c:v>December</c:v>
                </c:pt>
              </c:strCache>
            </c:strRef>
          </c:cat>
          <c:val>
            <c:numRef>
              <c:f>Training!$C$4:$K$4</c:f>
              <c:numCache>
                <c:formatCode>_(* #,##0_);_(* \(#,##0\);_(* "-"??_);_(@_)</c:formatCode>
                <c:ptCount val="9"/>
                <c:pt idx="0">
                  <c:v>2170</c:v>
                </c:pt>
                <c:pt idx="1">
                  <c:v>2342</c:v>
                </c:pt>
                <c:pt idx="2">
                  <c:v>30</c:v>
                </c:pt>
                <c:pt idx="3">
                  <c:v>2500</c:v>
                </c:pt>
                <c:pt idx="4">
                  <c:v>400</c:v>
                </c:pt>
              </c:numCache>
            </c:numRef>
          </c:val>
          <c:extLst>
            <c:ext xmlns:c16="http://schemas.microsoft.com/office/drawing/2014/chart" uri="{C3380CC4-5D6E-409C-BE32-E72D297353CC}">
              <c16:uniqueId val="{00000000-5CB1-4E49-97D0-9ACAB13F7BEB}"/>
            </c:ext>
          </c:extLst>
        </c:ser>
        <c:ser>
          <c:idx val="1"/>
          <c:order val="1"/>
          <c:tx>
            <c:strRef>
              <c:f>Training!$B$3</c:f>
              <c:strCache>
                <c:ptCount val="1"/>
                <c:pt idx="0">
                  <c:v>HQ</c:v>
                </c:pt>
              </c:strCache>
            </c:strRef>
          </c:tx>
          <c:spPr>
            <a:solidFill>
              <a:schemeClr val="accent1">
                <a:lumMod val="75000"/>
              </a:schemeClr>
            </a:solidFill>
            <a:ln>
              <a:noFill/>
            </a:ln>
            <a:effectLst/>
          </c:spPr>
          <c:invertIfNegative val="0"/>
          <c:cat>
            <c:strRef>
              <c:f>Training!$C$2:$K$2</c:f>
              <c:strCache>
                <c:ptCount val="9"/>
                <c:pt idx="0">
                  <c:v>April</c:v>
                </c:pt>
                <c:pt idx="1">
                  <c:v>May</c:v>
                </c:pt>
                <c:pt idx="2">
                  <c:v>June</c:v>
                </c:pt>
                <c:pt idx="3">
                  <c:v>July</c:v>
                </c:pt>
                <c:pt idx="4">
                  <c:v>August</c:v>
                </c:pt>
                <c:pt idx="5">
                  <c:v>September</c:v>
                </c:pt>
                <c:pt idx="6">
                  <c:v>October</c:v>
                </c:pt>
                <c:pt idx="7">
                  <c:v>November</c:v>
                </c:pt>
                <c:pt idx="8">
                  <c:v>December</c:v>
                </c:pt>
              </c:strCache>
            </c:strRef>
          </c:cat>
          <c:val>
            <c:numRef>
              <c:f>Training!$C$3:$K$3</c:f>
              <c:numCache>
                <c:formatCode>_(* #,##0_);_(* \(#,##0\);_(* "-"??_);_(@_)</c:formatCode>
                <c:ptCount val="9"/>
                <c:pt idx="0">
                  <c:v>2500</c:v>
                </c:pt>
                <c:pt idx="1">
                  <c:v>25720</c:v>
                </c:pt>
                <c:pt idx="2">
                  <c:v>2700</c:v>
                </c:pt>
                <c:pt idx="3">
                  <c:v>1370</c:v>
                </c:pt>
                <c:pt idx="4">
                  <c:v>6550</c:v>
                </c:pt>
              </c:numCache>
            </c:numRef>
          </c:val>
          <c:extLst>
            <c:ext xmlns:c16="http://schemas.microsoft.com/office/drawing/2014/chart" uri="{C3380CC4-5D6E-409C-BE32-E72D297353CC}">
              <c16:uniqueId val="{00000001-5CB1-4E49-97D0-9ACAB13F7BEB}"/>
            </c:ext>
          </c:extLst>
        </c:ser>
        <c:dLbls>
          <c:showLegendKey val="0"/>
          <c:showVal val="0"/>
          <c:showCatName val="0"/>
          <c:showSerName val="0"/>
          <c:showPercent val="0"/>
          <c:showBubbleSize val="0"/>
        </c:dLbls>
        <c:gapWidth val="95"/>
        <c:overlap val="100"/>
        <c:axId val="1460015888"/>
        <c:axId val="598181968"/>
      </c:barChart>
      <c:catAx>
        <c:axId val="1460015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598181968"/>
        <c:crosses val="autoZero"/>
        <c:auto val="1"/>
        <c:lblAlgn val="ctr"/>
        <c:lblOffset val="100"/>
        <c:noMultiLvlLbl val="0"/>
      </c:catAx>
      <c:valAx>
        <c:axId val="598181968"/>
        <c:scaling>
          <c:orientation val="minMax"/>
        </c:scaling>
        <c:delete val="0"/>
        <c:axPos val="l"/>
        <c:majorGridlines>
          <c:spPr>
            <a:ln w="9525" cap="flat" cmpd="sng" algn="ctr">
              <a:solidFill>
                <a:schemeClr val="tx1">
                  <a:lumMod val="15000"/>
                  <a:lumOff val="85000"/>
                </a:schemeClr>
              </a:solidFill>
              <a:round/>
            </a:ln>
            <a:effectLst/>
          </c:spPr>
        </c:majorGridlines>
        <c:title>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460015888"/>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fr-FR"/>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Ventes</c:v>
                </c:pt>
              </c:strCache>
            </c:strRef>
          </c:tx>
          <c:spPr>
            <a:ln>
              <a:noFill/>
            </a:ln>
          </c:spPr>
          <c:dPt>
            <c:idx val="0"/>
            <c:bubble3D val="0"/>
            <c:spPr>
              <a:solidFill>
                <a:srgbClr val="92D050"/>
              </a:solidFill>
              <a:ln w="19050">
                <a:noFill/>
              </a:ln>
              <a:effectLst/>
            </c:spPr>
            <c:extLst>
              <c:ext xmlns:c16="http://schemas.microsoft.com/office/drawing/2014/chart" uri="{C3380CC4-5D6E-409C-BE32-E72D297353CC}">
                <c16:uniqueId val="{00000001-7B1A-46DD-99B9-6D20D062DA06}"/>
              </c:ext>
            </c:extLst>
          </c:dPt>
          <c:dPt>
            <c:idx val="1"/>
            <c:bubble3D val="0"/>
            <c:spPr>
              <a:solidFill>
                <a:schemeClr val="accent1">
                  <a:lumMod val="40000"/>
                  <a:lumOff val="60000"/>
                </a:schemeClr>
              </a:solidFill>
              <a:ln w="19050">
                <a:noFill/>
              </a:ln>
              <a:effectLst/>
            </c:spPr>
            <c:extLst>
              <c:ext xmlns:c16="http://schemas.microsoft.com/office/drawing/2014/chart" uri="{C3380CC4-5D6E-409C-BE32-E72D297353CC}">
                <c16:uniqueId val="{00000003-7B1A-46DD-99B9-6D20D062DA06}"/>
              </c:ext>
            </c:extLst>
          </c:dPt>
          <c:cat>
            <c:strRef>
              <c:f>Sheet1!$A$2:$A$3</c:f>
              <c:strCache>
                <c:ptCount val="2"/>
                <c:pt idx="0">
                  <c:v>Fait</c:v>
                </c:pt>
                <c:pt idx="1">
                  <c:v>à faire</c:v>
                </c:pt>
              </c:strCache>
            </c:strRef>
          </c:cat>
          <c:val>
            <c:numRef>
              <c:f>Sheet1!$B$2:$B$3</c:f>
              <c:numCache>
                <c:formatCode>0%</c:formatCode>
                <c:ptCount val="2"/>
                <c:pt idx="0">
                  <c:v>0.3</c:v>
                </c:pt>
                <c:pt idx="1">
                  <c:v>0.95</c:v>
                </c:pt>
              </c:numCache>
            </c:numRef>
          </c:val>
          <c:extLst>
            <c:ext xmlns:c16="http://schemas.microsoft.com/office/drawing/2014/chart" uri="{C3380CC4-5D6E-409C-BE32-E72D297353CC}">
              <c16:uniqueId val="{00000004-7B1A-46DD-99B9-6D20D062DA06}"/>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Ventes</c:v>
                </c:pt>
              </c:strCache>
            </c:strRef>
          </c:tx>
          <c:spPr>
            <a:ln>
              <a:noFill/>
            </a:ln>
          </c:spPr>
          <c:dPt>
            <c:idx val="0"/>
            <c:bubble3D val="0"/>
            <c:spPr>
              <a:solidFill>
                <a:srgbClr val="92D050"/>
              </a:solidFill>
              <a:ln w="19050">
                <a:noFill/>
              </a:ln>
              <a:effectLst/>
            </c:spPr>
            <c:extLst>
              <c:ext xmlns:c16="http://schemas.microsoft.com/office/drawing/2014/chart" uri="{C3380CC4-5D6E-409C-BE32-E72D297353CC}">
                <c16:uniqueId val="{00000001-FAF0-40B9-AA2E-56997AC50578}"/>
              </c:ext>
            </c:extLst>
          </c:dPt>
          <c:dPt>
            <c:idx val="1"/>
            <c:bubble3D val="0"/>
            <c:spPr>
              <a:solidFill>
                <a:schemeClr val="accent1">
                  <a:lumMod val="20000"/>
                  <a:lumOff val="80000"/>
                </a:schemeClr>
              </a:solidFill>
              <a:ln w="19050">
                <a:noFill/>
              </a:ln>
              <a:effectLst/>
            </c:spPr>
            <c:extLst>
              <c:ext xmlns:c16="http://schemas.microsoft.com/office/drawing/2014/chart" uri="{C3380CC4-5D6E-409C-BE32-E72D297353CC}">
                <c16:uniqueId val="{00000003-FAF0-40B9-AA2E-56997AC50578}"/>
              </c:ext>
            </c:extLst>
          </c:dPt>
          <c:cat>
            <c:strRef>
              <c:f>Sheet1!$A$2:$A$3</c:f>
              <c:strCache>
                <c:ptCount val="2"/>
                <c:pt idx="0">
                  <c:v>Fait</c:v>
                </c:pt>
                <c:pt idx="1">
                  <c:v>à faire</c:v>
                </c:pt>
              </c:strCache>
            </c:strRef>
          </c:cat>
          <c:val>
            <c:numRef>
              <c:f>Sheet1!$B$2:$B$3</c:f>
              <c:numCache>
                <c:formatCode>0%</c:formatCode>
                <c:ptCount val="2"/>
                <c:pt idx="0">
                  <c:v>0.5</c:v>
                </c:pt>
                <c:pt idx="1">
                  <c:v>0.5</c:v>
                </c:pt>
              </c:numCache>
            </c:numRef>
          </c:val>
          <c:extLst>
            <c:ext xmlns:c16="http://schemas.microsoft.com/office/drawing/2014/chart" uri="{C3380CC4-5D6E-409C-BE32-E72D297353CC}">
              <c16:uniqueId val="{00000004-FAF0-40B9-AA2E-56997AC50578}"/>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Scho</c:v>
                </c:pt>
              </c:strCache>
            </c:strRef>
          </c:tx>
          <c:spPr>
            <a:solidFill>
              <a:schemeClr val="tx2">
                <a:lumMod val="20000"/>
                <a:lumOff val="80000"/>
              </a:schemeClr>
            </a:solidFill>
            <a:ln>
              <a:noFill/>
            </a:ln>
          </c:spPr>
          <c:dPt>
            <c:idx val="0"/>
            <c:bubble3D val="0"/>
            <c:spPr>
              <a:solidFill>
                <a:srgbClr val="92D050"/>
              </a:solidFill>
              <a:ln w="19050">
                <a:noFill/>
              </a:ln>
              <a:effectLst/>
            </c:spPr>
            <c:extLst>
              <c:ext xmlns:c16="http://schemas.microsoft.com/office/drawing/2014/chart" uri="{C3380CC4-5D6E-409C-BE32-E72D297353CC}">
                <c16:uniqueId val="{00000001-ECFB-471B-9573-B70C93EE720E}"/>
              </c:ext>
            </c:extLst>
          </c:dPt>
          <c:dPt>
            <c:idx val="1"/>
            <c:bubble3D val="0"/>
            <c:spPr>
              <a:solidFill>
                <a:schemeClr val="accent1">
                  <a:lumMod val="20000"/>
                  <a:lumOff val="80000"/>
                </a:schemeClr>
              </a:solidFill>
              <a:ln w="19050">
                <a:noFill/>
              </a:ln>
              <a:effectLst/>
            </c:spPr>
            <c:extLst>
              <c:ext xmlns:c16="http://schemas.microsoft.com/office/drawing/2014/chart" uri="{C3380CC4-5D6E-409C-BE32-E72D297353CC}">
                <c16:uniqueId val="{00000003-ECFB-471B-9573-B70C93EE720E}"/>
              </c:ext>
            </c:extLst>
          </c:dPt>
          <c:cat>
            <c:strRef>
              <c:f>Sheet1!$A$2:$A$3</c:f>
              <c:strCache>
                <c:ptCount val="2"/>
                <c:pt idx="0">
                  <c:v>Marché conclu</c:v>
                </c:pt>
                <c:pt idx="1">
                  <c:v>À faire</c:v>
                </c:pt>
              </c:strCache>
            </c:strRef>
          </c:cat>
          <c:val>
            <c:numRef>
              <c:f>Sheet1!$B$2:$B$3</c:f>
              <c:numCache>
                <c:formatCode>0%</c:formatCode>
                <c:ptCount val="2"/>
                <c:pt idx="0">
                  <c:v>0.5</c:v>
                </c:pt>
                <c:pt idx="1">
                  <c:v>0.5</c:v>
                </c:pt>
              </c:numCache>
            </c:numRef>
          </c:val>
          <c:extLst>
            <c:ext xmlns:c16="http://schemas.microsoft.com/office/drawing/2014/chart" uri="{C3380CC4-5D6E-409C-BE32-E72D297353CC}">
              <c16:uniqueId val="{00000004-ECFB-471B-9573-B70C93EE720E}"/>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8296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DE265-5E5C-A73B-0362-BD5A624B5D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03223-0672-CEF6-0A51-05D6A27A3A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72957F-43FC-57B7-FA24-49B1BB41C5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22E0BB-9393-9D8B-7DE6-F81B103DE6EE}"/>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604408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9988F-A60B-2EBA-C4A5-74F4EE874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4F064-910A-284F-F20F-819725CC69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DAD64E-13C0-85BC-0E9E-9ECCBAC650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8D2F59-3A43-2907-61F2-07BD99E6D893}"/>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697078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C3FC2-D71B-E005-A0C4-48F5F2600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C83C24-9797-C834-8DD4-34A5FD40B8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321ABE-A62D-F127-0DED-49997868E2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5F0875-C2D1-E762-EC04-1B2902EBA71E}"/>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021966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PY">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A152F2-A2CC-5743-960D-B215E594CD2C}"/>
              </a:ext>
            </a:extLst>
          </p:cNvPr>
          <p:cNvSpPr txBox="1"/>
          <p:nvPr userDrawn="1"/>
        </p:nvSpPr>
        <p:spPr>
          <a:xfrm>
            <a:off x="1965434" y="-882869"/>
            <a:ext cx="0" cy="0"/>
          </a:xfrm>
          <a:prstGeom prst="rect">
            <a:avLst/>
          </a:prstGeom>
          <a:noFill/>
        </p:spPr>
        <p:txBody>
          <a:bodyPr wrap="none" rtlCol="0">
            <a:noAutofit/>
          </a:bodyPr>
          <a:lstStyle/>
          <a:p>
            <a:pPr algn="l"/>
            <a:endParaRPr lang="en-US"/>
          </a:p>
        </p:txBody>
      </p:sp>
      <p:sp>
        <p:nvSpPr>
          <p:cNvPr id="3" name="TextBox 2">
            <a:extLst>
              <a:ext uri="{FF2B5EF4-FFF2-40B4-BE49-F238E27FC236}">
                <a16:creationId xmlns:a16="http://schemas.microsoft.com/office/drawing/2014/main" id="{4EC83089-3A30-5A40-B530-607FAEFBA67E}"/>
              </a:ext>
            </a:extLst>
          </p:cNvPr>
          <p:cNvSpPr txBox="1"/>
          <p:nvPr userDrawn="1"/>
        </p:nvSpPr>
        <p:spPr>
          <a:xfrm>
            <a:off x="3343275" y="-842963"/>
            <a:ext cx="0" cy="0"/>
          </a:xfrm>
          <a:prstGeom prst="rect">
            <a:avLst/>
          </a:prstGeom>
          <a:noFill/>
        </p:spPr>
        <p:txBody>
          <a:bodyPr wrap="none" rtlCol="0">
            <a:noAutofit/>
          </a:bodyPr>
          <a:lstStyle/>
          <a:p>
            <a:pPr algn="l"/>
            <a:endParaRPr lang="en-US"/>
          </a:p>
        </p:txBody>
      </p:sp>
      <p:sp>
        <p:nvSpPr>
          <p:cNvPr id="10" name="Text Placeholder 3">
            <a:extLst>
              <a:ext uri="{FF2B5EF4-FFF2-40B4-BE49-F238E27FC236}">
                <a16:creationId xmlns:a16="http://schemas.microsoft.com/office/drawing/2014/main" id="{7CAF83C4-7EF0-B44E-A9F6-CD9545BDD84F}"/>
              </a:ext>
            </a:extLst>
          </p:cNvPr>
          <p:cNvSpPr>
            <a:spLocks noGrp="1"/>
          </p:cNvSpPr>
          <p:nvPr>
            <p:ph type="body" sz="half" idx="2" hasCustomPrompt="1"/>
          </p:nvPr>
        </p:nvSpPr>
        <p:spPr>
          <a:xfrm>
            <a:off x="404628" y="1978599"/>
            <a:ext cx="9980343" cy="4036884"/>
          </a:xfrm>
        </p:spPr>
        <p:txBody>
          <a:bodyPr/>
          <a:lstStyle>
            <a:lvl1pPr marL="0" indent="0">
              <a:lnSpc>
                <a:spcPts val="1400"/>
              </a:lnSpc>
              <a:buNone/>
              <a:defRPr sz="1200">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r>
              <a:rPr lang="fr" sz="1200">
                <a:latin typeface="Arial" panose="020B0604020202020204" pitchFamily="34" charset="0"/>
                <a:cs typeface="Arial" panose="020B0604020202020204" pitchFamily="34" charset="0"/>
              </a:rPr>
              <a:t>Lorem ipsum dolor sit amet, consectetur adipiscing elit, sed do eiusmod tempor incididunt ut labore et dolore magna aliqua. Nemo tortor id aliquet lectus proin, nissant condimentum. Arcu dui vivever, arcu felis bibendum ut. Arcu cursus vitae mauris ruisseau aenean vel elit sans. Mais nisi porta ejusejus, selon le lor. Aptis à avoir du mal commodo et écritué, avec des éléments de mêlée, dont ils ont besoin, et pourtant, de nombreux facteurs liés à leurs besoins, et pourtant, à leur conscience, et à leur conscience, et pourtant, à leur conscience, et pourtant, à leur conscience, et à leur conscience, ils ont besoin, et pourtant, ; « », « » (ou « », « (« « , » « , » « » « » ((ou ou « ) » ((ou que ce soit vraiment que cela ait été un peu plus ou moins bien vu), et il était désormais désormais (ou</a:t>
            </a:r>
          </a:p>
          <a:p>
            <a:r>
              <a:rPr lang="fr" sz="1200" err="1">
                <a:latin typeface="Arial" panose="020B0604020202020204" pitchFamily="34" charset="0"/>
                <a:cs typeface="Arial" panose="020B0604020202020204" pitchFamily="34" charset="0"/>
              </a:rPr>
              <a:t>Mais sed risus pretium quam vulputate dignissim suspension in. Nulla pharetra diam sit amet nisl suscipit adidatif. Besoins eu sans, felis utilisés proin fermentum leo vel orci. Diam ut venenatis encore. Consequuntur ac felis donec et odio mobilisation, diam vraiment vult. Urna harassation at elementum eu facilité sed odio morbi. Aliquet sagittis id consectetur purus ut faucibus pulvinar elementum. </a:t>
            </a:r>
          </a:p>
        </p:txBody>
      </p:sp>
      <p:pic>
        <p:nvPicPr>
          <p:cNvPr id="11" name="Picture 10" descr="Flèche, carte de cheminée&#10;&#10;Description générée automatiquement">
            <a:extLst>
              <a:ext uri="{FF2B5EF4-FFF2-40B4-BE49-F238E27FC236}">
                <a16:creationId xmlns:a16="http://schemas.microsoft.com/office/drawing/2014/main" id="{2D8E92D5-915C-6D47-8333-5119CE95CE0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04628" y="0"/>
            <a:ext cx="2334986" cy="538843"/>
          </a:xfrm>
          <a:prstGeom prst="rect">
            <a:avLst/>
          </a:prstGeom>
        </p:spPr>
      </p:pic>
      <p:pic>
        <p:nvPicPr>
          <p:cNvPr id="12" name="Picture 11" descr="Arrow&#10;&#10;Description générée automatiquement avec une confiance moyenne">
            <a:extLst>
              <a:ext uri="{FF2B5EF4-FFF2-40B4-BE49-F238E27FC236}">
                <a16:creationId xmlns:a16="http://schemas.microsoft.com/office/drawing/2014/main" id="{6B2B6B72-3093-874F-90AF-367BA5AE8295}"/>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04628" y="6468836"/>
            <a:ext cx="2439759" cy="389164"/>
          </a:xfrm>
          <a:prstGeom prst="rect">
            <a:avLst/>
          </a:prstGeom>
        </p:spPr>
      </p:pic>
      <p:sp>
        <p:nvSpPr>
          <p:cNvPr id="9" name="Title 1">
            <a:extLst>
              <a:ext uri="{FF2B5EF4-FFF2-40B4-BE49-F238E27FC236}">
                <a16:creationId xmlns:a16="http://schemas.microsoft.com/office/drawing/2014/main" id="{14C25450-573F-DE44-A8CC-2B31B6FF8CEB}"/>
              </a:ext>
            </a:extLst>
          </p:cNvPr>
          <p:cNvSpPr>
            <a:spLocks noGrp="1"/>
          </p:cNvSpPr>
          <p:nvPr>
            <p:ph type="title" hasCustomPrompt="1"/>
          </p:nvPr>
        </p:nvSpPr>
        <p:spPr>
          <a:xfrm>
            <a:off x="404629" y="751359"/>
            <a:ext cx="7803963" cy="737832"/>
          </a:xfrm>
        </p:spPr>
        <p:txBody>
          <a:bodyPr anchor="t"/>
          <a:lstStyle>
            <a:lvl1pPr algn="l">
              <a:defRPr sz="2400" b="1" i="0">
                <a:solidFill>
                  <a:schemeClr val="tx1"/>
                </a:solidFill>
                <a:latin typeface="Arial Black" panose="020B0604020202020204" pitchFamily="34" charset="0"/>
                <a:cs typeface="Arial Black" panose="020B0604020202020204" pitchFamily="34" charset="0"/>
              </a:defRPr>
            </a:lvl1pPr>
          </a:lstStyle>
          <a:p>
            <a:r>
              <a:rPr lang="fr"/>
              <a:t>CLIQUEZ POUR MODIFIER</a:t>
            </a:r>
            <a:br>
              <a:rPr lang="en-GB"/>
            </a:br>
            <a:r>
              <a:rPr lang="fr"/>
              <a:t>LE STYLE DU TITRE MAÎTRE</a:t>
            </a:r>
          </a:p>
        </p:txBody>
      </p:sp>
      <p:sp>
        <p:nvSpPr>
          <p:cNvPr id="13" name="Slide Number Placeholder 5">
            <a:extLst>
              <a:ext uri="{FF2B5EF4-FFF2-40B4-BE49-F238E27FC236}">
                <a16:creationId xmlns:a16="http://schemas.microsoft.com/office/drawing/2014/main" id="{89469E39-899B-A541-807D-6E514AF153CC}"/>
              </a:ext>
            </a:extLst>
          </p:cNvPr>
          <p:cNvSpPr>
            <a:spLocks noGrp="1"/>
          </p:cNvSpPr>
          <p:nvPr>
            <p:ph type="sldNum" sz="quarter" idx="4"/>
          </p:nvPr>
        </p:nvSpPr>
        <p:spPr>
          <a:xfrm>
            <a:off x="8739667" y="6381530"/>
            <a:ext cx="2743200" cy="365125"/>
          </a:xfrm>
          <a:prstGeom prst="rect">
            <a:avLst/>
          </a:prstGeom>
        </p:spPr>
        <p:txBody>
          <a:bodyPr vert="horz" lIns="91440" tIns="45720" rIns="91440" bIns="45720" rtlCol="0" anchor="ctr"/>
          <a:lstStyle>
            <a:lvl1pPr algn="r">
              <a:defRPr sz="800">
                <a:solidFill>
                  <a:schemeClr val="tx1"/>
                </a:solidFill>
                <a:latin typeface="Arial" panose="020B0604020202020204" pitchFamily="34" charset="0"/>
                <a:cs typeface="Arial" panose="020B0604020202020204" pitchFamily="34" charset="0"/>
              </a:defRPr>
            </a:lvl1pPr>
          </a:lstStyle>
          <a:p>
            <a:fld id="{DDAFD0C9-8BC0-5147-B74C-78C6A0363883}" type="slidenum">
              <a:rPr lang="en-ZA" smtClean="0"/>
              <a:t>‹#›</a:t>
            </a:fld>
            <a:endParaRPr lang="en-ZA"/>
          </a:p>
        </p:txBody>
      </p:sp>
    </p:spTree>
    <p:extLst>
      <p:ext uri="{BB962C8B-B14F-4D97-AF65-F5344CB8AC3E}">
        <p14:creationId xmlns:p14="http://schemas.microsoft.com/office/powerpoint/2010/main" val="26670531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chart" Target="../charts/chart3.xml"/></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chart" Target="../charts/chart5.xml"/><Relationship Id="rId7" Type="http://schemas.openxmlformats.org/officeDocument/2006/relationships/image" Target="../media/image11.png"/><Relationship Id="rId2" Type="http://schemas.openxmlformats.org/officeDocument/2006/relationships/chart" Target="../charts/chart4.xml"/><Relationship Id="rId1" Type="http://schemas.openxmlformats.org/officeDocument/2006/relationships/slideLayout" Target="../slideLayouts/slideLayout2.xml"/><Relationship Id="rId6" Type="http://schemas.openxmlformats.org/officeDocument/2006/relationships/chart" Target="../charts/chart6.xml"/><Relationship Id="rId5" Type="http://schemas.openxmlformats.org/officeDocument/2006/relationships/image" Target="../media/image10.jpg"/><Relationship Id="rId4" Type="http://schemas.openxmlformats.org/officeDocument/2006/relationships/image" Target="../media/image9.jpg"/><Relationship Id="rId9"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206240" cy="4206240"/>
          </a:xfrm>
          <a:prstGeom prst="ellipse">
            <a:avLst/>
          </a:prstGeom>
          <a:solidFill>
            <a:srgbClr val="E8E8EC"/>
          </a:solidFill>
          <a:ln w="12700">
            <a:solidFill>
              <a:srgbClr val="E8E8EC"/>
            </a:solidFill>
            <a:prstDash val="solid"/>
          </a:ln>
        </p:spPr>
        <p:txBody>
          <a:bodyPr/>
          <a:lstStyle/>
          <a:p>
            <a:endParaRPr lang="fr-FR"/>
          </a:p>
        </p:txBody>
      </p:sp>
      <p:sp>
        <p:nvSpPr>
          <p:cNvPr id="3" name="Shape 1"/>
          <p:cNvSpPr/>
          <p:nvPr/>
        </p:nvSpPr>
        <p:spPr>
          <a:xfrm>
            <a:off x="4541368" y="5806440"/>
            <a:ext cx="3108960" cy="3108960"/>
          </a:xfrm>
          <a:prstGeom prst="ellipse">
            <a:avLst/>
          </a:prstGeom>
          <a:solidFill>
            <a:srgbClr val="D8D8DE"/>
          </a:solidFill>
          <a:ln w="12700">
            <a:solidFill>
              <a:srgbClr val="D8D8DE"/>
            </a:solidFill>
            <a:prstDash val="solid"/>
          </a:ln>
        </p:spPr>
        <p:txBody>
          <a:bodyPr/>
          <a:lstStyle/>
          <a:p>
            <a:endParaRPr lang="fr-FR"/>
          </a:p>
        </p:txBody>
      </p:sp>
      <p:pic>
        <p:nvPicPr>
          <p:cNvPr id="4" name="Image 0" descr="D:\Apps\hr-rh-app\templates\exco\cover-assets\cover-banner.png"/>
          <p:cNvPicPr>
            <a:picLocks noChangeAspect="1"/>
          </p:cNvPicPr>
          <p:nvPr/>
        </p:nvPicPr>
        <p:blipFill>
          <a:blip r:embed="rId3"/>
          <a:srcRect/>
          <a:stretch/>
        </p:blipFill>
        <p:spPr>
          <a:xfrm>
            <a:off x="609448" y="502920"/>
            <a:ext cx="10972800" cy="3171825"/>
          </a:xfrm>
          <a:prstGeom prst="rect">
            <a:avLst/>
          </a:prstGeom>
        </p:spPr>
      </p:pic>
      <p:pic>
        <p:nvPicPr>
          <p:cNvPr id="5" name="Image 1" descr="D:\Apps\hr-rh-app\templates\exco\cover-assets\cover-badge.png"/>
          <p:cNvPicPr>
            <a:picLocks noChangeAspect="1"/>
          </p:cNvPicPr>
          <p:nvPr/>
        </p:nvPicPr>
        <p:blipFill>
          <a:blip r:embed="rId4"/>
          <a:srcRect/>
          <a:stretch/>
        </p:blipFill>
        <p:spPr>
          <a:xfrm>
            <a:off x="5922112" y="5222557"/>
            <a:ext cx="347472" cy="347472"/>
          </a:xfrm>
          <a:prstGeom prst="rect">
            <a:avLst/>
          </a:prstGeom>
        </p:spPr>
      </p:pic>
      <p:sp>
        <p:nvSpPr>
          <p:cNvPr id="6" name="Text 2"/>
          <p:cNvSpPr/>
          <p:nvPr/>
        </p:nvSpPr>
        <p:spPr>
          <a:xfrm>
            <a:off x="3215488" y="4708017"/>
            <a:ext cx="5760720" cy="384048"/>
          </a:xfrm>
          <a:prstGeom prst="rect">
            <a:avLst/>
          </a:prstGeom>
          <a:noFill/>
          <a:ln/>
        </p:spPr>
        <p:txBody>
          <a:bodyPr wrap="square" rtlCol="0" anchor="ctr"/>
          <a:lstStyle/>
          <a:p>
            <a:pPr marL="0" indent="0" algn="ctr">
              <a:buNone/>
            </a:pPr>
            <a:r>
              <a:rPr lang="en-US" sz="1500" b="1" dirty="0">
                <a:solidFill>
                  <a:srgbClr val="0A0A0A"/>
                </a:solidFill>
                <a:latin typeface="Segoe UI" pitchFamily="34" charset="0"/>
                <a:ea typeface="Segoe UI" pitchFamily="34" charset="-122"/>
                <a:cs typeface="Segoe UI" pitchFamily="34" charset="-120"/>
              </a:rPr>
              <a:t>EXCO MEETING HELD ON 31 AUGUST 2026, IN ZAMBA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8EC"/>
        </a:solidFill>
        <a:effectLst/>
      </p:bgPr>
    </p:bg>
    <p:spTree>
      <p:nvGrpSpPr>
        <p:cNvPr id="1" name=""/>
        <p:cNvGrpSpPr/>
        <p:nvPr/>
      </p:nvGrpSpPr>
      <p:grpSpPr>
        <a:xfrm>
          <a:off x="0" y="0"/>
          <a:ext cx="0" cy="0"/>
          <a:chOff x="0" y="0"/>
          <a:chExt cx="0" cy="0"/>
        </a:xfrm>
      </p:grpSpPr>
      <p:pic>
        <p:nvPicPr>
          <p:cNvPr id="2" name="Image 0" descr="D:\Apps\hr-rh-app\templates\exco\cover-assets\slide-fade.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4" name="Shape 1"/>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Text 2"/>
          <p:cNvSpPr/>
          <p:nvPr/>
        </p:nvSpPr>
        <p:spPr>
          <a:xfrm>
            <a:off x="365760" y="128016"/>
            <a:ext cx="4572000" cy="146304"/>
          </a:xfrm>
          <a:prstGeom prst="rect">
            <a:avLst/>
          </a:prstGeom>
          <a:noFill/>
          <a:ln/>
        </p:spPr>
        <p:txBody>
          <a:bodyPr wrap="square" rtlCol="0" anchor="ctr"/>
          <a:lstStyle/>
          <a:p>
            <a:pPr marL="0" indent="0">
              <a:buNone/>
            </a:pPr>
            <a:r>
              <a:rPr lang="en-US" sz="900" b="1" dirty="0">
                <a:solidFill>
                  <a:srgbClr val="E30613"/>
                </a:solidFill>
                <a:latin typeface="Segoe UI" pitchFamily="34" charset="0"/>
                <a:ea typeface="Segoe UI" pitchFamily="34" charset="-122"/>
                <a:cs typeface="Segoe UI" pitchFamily="34" charset="-120"/>
              </a:rPr>
              <a:t>PPC · HR EXCO</a:t>
            </a:r>
            <a:endParaRPr lang="en-US" sz="900" dirty="0"/>
          </a:p>
        </p:txBody>
      </p:sp>
      <p:sp>
        <p:nvSpPr>
          <p:cNvPr id="6" name="Text 3"/>
          <p:cNvSpPr/>
          <p:nvPr/>
        </p:nvSpPr>
        <p:spPr>
          <a:xfrm>
            <a:off x="365760"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Agenda</a:t>
            </a:r>
            <a:endParaRPr lang="en-US" sz="1800" dirty="0"/>
          </a:p>
        </p:txBody>
      </p:sp>
      <p:sp>
        <p:nvSpPr>
          <p:cNvPr id="7" name="Text 4"/>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8" name="Shape 5"/>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9" name="Shape 6"/>
          <p:cNvSpPr/>
          <p:nvPr/>
        </p:nvSpPr>
        <p:spPr>
          <a:xfrm>
            <a:off x="457200" y="1234440"/>
            <a:ext cx="5577840" cy="777240"/>
          </a:xfrm>
          <a:prstGeom prst="roundRect">
            <a:avLst>
              <a:gd name="adj" fmla="val 9412"/>
            </a:avLst>
          </a:prstGeom>
          <a:solidFill>
            <a:srgbClr val="FFFFFF"/>
          </a:solidFill>
          <a:ln w="12700">
            <a:solidFill>
              <a:srgbClr val="E0E0E6"/>
            </a:solidFill>
            <a:prstDash val="solid"/>
          </a:ln>
          <a:effectLst>
            <a:outerShdw blurRad="63500" dist="12700" dir="16200000" algn="bl" rotWithShape="0">
              <a:srgbClr val="000000">
                <a:alpha val="6000"/>
              </a:srgbClr>
            </a:outerShdw>
          </a:effectLst>
        </p:spPr>
        <p:txBody>
          <a:bodyPr/>
          <a:lstStyle/>
          <a:p>
            <a:endParaRPr lang="fr-FR"/>
          </a:p>
        </p:txBody>
      </p:sp>
      <p:sp>
        <p:nvSpPr>
          <p:cNvPr id="10" name="Shape 7"/>
          <p:cNvSpPr/>
          <p:nvPr/>
        </p:nvSpPr>
        <p:spPr>
          <a:xfrm>
            <a:off x="594360" y="1417320"/>
            <a:ext cx="502920" cy="411480"/>
          </a:xfrm>
          <a:prstGeom prst="roundRect">
            <a:avLst>
              <a:gd name="adj" fmla="val 13333"/>
            </a:avLst>
          </a:prstGeom>
          <a:solidFill>
            <a:srgbClr val="E30613"/>
          </a:solidFill>
          <a:ln w="12700">
            <a:solidFill>
              <a:srgbClr val="E30613"/>
            </a:solidFill>
            <a:prstDash val="solid"/>
          </a:ln>
        </p:spPr>
        <p:txBody>
          <a:bodyPr/>
          <a:lstStyle/>
          <a:p>
            <a:endParaRPr lang="fr-FR"/>
          </a:p>
        </p:txBody>
      </p:sp>
      <p:sp>
        <p:nvSpPr>
          <p:cNvPr id="11" name="Text 8"/>
          <p:cNvSpPr/>
          <p:nvPr/>
        </p:nvSpPr>
        <p:spPr>
          <a:xfrm>
            <a:off x="594360" y="1417320"/>
            <a:ext cx="502920" cy="41148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01</a:t>
            </a:r>
            <a:endParaRPr lang="en-US" sz="1200" dirty="0"/>
          </a:p>
        </p:txBody>
      </p:sp>
      <p:sp>
        <p:nvSpPr>
          <p:cNvPr id="12" name="Text 9"/>
          <p:cNvSpPr/>
          <p:nvPr/>
        </p:nvSpPr>
        <p:spPr>
          <a:xfrm>
            <a:off x="1280160" y="1399032"/>
            <a:ext cx="4480560" cy="292608"/>
          </a:xfrm>
          <a:prstGeom prst="rect">
            <a:avLst/>
          </a:prstGeom>
          <a:noFill/>
          <a:ln/>
        </p:spPr>
        <p:txBody>
          <a:bodyPr wrap="square" rtlCol="0" anchor="ctr"/>
          <a:lstStyle/>
          <a:p>
            <a:pPr marL="0" indent="0">
              <a:buNone/>
            </a:pPr>
            <a:r>
              <a:rPr lang="en-US" sz="1600" b="1" dirty="0">
                <a:solidFill>
                  <a:srgbClr val="16161E"/>
                </a:solidFill>
                <a:latin typeface="Segoe UI" pitchFamily="34" charset="0"/>
                <a:ea typeface="Segoe UI" pitchFamily="34" charset="-122"/>
                <a:cs typeface="Segoe UI" pitchFamily="34" charset="-120"/>
              </a:rPr>
              <a:t>Summary</a:t>
            </a:r>
            <a:endParaRPr lang="en-US" sz="1600" dirty="0"/>
          </a:p>
        </p:txBody>
      </p:sp>
      <p:sp>
        <p:nvSpPr>
          <p:cNvPr id="13" name="Text 10"/>
          <p:cNvSpPr/>
          <p:nvPr/>
        </p:nvSpPr>
        <p:spPr>
          <a:xfrm>
            <a:off x="1280160" y="1673352"/>
            <a:ext cx="4480560" cy="237744"/>
          </a:xfrm>
          <a:prstGeom prst="rect">
            <a:avLst/>
          </a:prstGeom>
          <a:noFill/>
          <a:ln/>
        </p:spPr>
        <p:txBody>
          <a:bodyPr wrap="square" rtlCol="0" anchor="ctr"/>
          <a:lstStyle/>
          <a:p>
            <a:pPr marL="0" indent="0">
              <a:buNone/>
            </a:pPr>
            <a:r>
              <a:rPr lang="en-US" sz="1100" dirty="0">
                <a:solidFill>
                  <a:srgbClr val="6B6B7A"/>
                </a:solidFill>
                <a:latin typeface="Segoe UI" pitchFamily="34" charset="0"/>
                <a:ea typeface="Segoe UI" pitchFamily="34" charset="-122"/>
                <a:cs typeface="Segoe UI" pitchFamily="34" charset="-120"/>
              </a:rPr>
              <a:t>Highlights · Lowlights · Focus</a:t>
            </a:r>
            <a:endParaRPr lang="en-US" sz="1100" dirty="0"/>
          </a:p>
        </p:txBody>
      </p:sp>
      <p:sp>
        <p:nvSpPr>
          <p:cNvPr id="14" name="Shape 11"/>
          <p:cNvSpPr/>
          <p:nvPr/>
        </p:nvSpPr>
        <p:spPr>
          <a:xfrm>
            <a:off x="457200" y="2148840"/>
            <a:ext cx="5577840" cy="777240"/>
          </a:xfrm>
          <a:prstGeom prst="roundRect">
            <a:avLst>
              <a:gd name="adj" fmla="val 9412"/>
            </a:avLst>
          </a:prstGeom>
          <a:solidFill>
            <a:srgbClr val="FFFFFF"/>
          </a:solidFill>
          <a:ln w="12700">
            <a:solidFill>
              <a:srgbClr val="E0E0E6"/>
            </a:solidFill>
            <a:prstDash val="solid"/>
          </a:ln>
          <a:effectLst>
            <a:outerShdw blurRad="63500" dist="12700" dir="16200000" algn="bl" rotWithShape="0">
              <a:srgbClr val="000000">
                <a:alpha val="6000"/>
              </a:srgbClr>
            </a:outerShdw>
          </a:effectLst>
        </p:spPr>
        <p:txBody>
          <a:bodyPr/>
          <a:lstStyle/>
          <a:p>
            <a:endParaRPr lang="fr-FR"/>
          </a:p>
        </p:txBody>
      </p:sp>
      <p:sp>
        <p:nvSpPr>
          <p:cNvPr id="15" name="Shape 12"/>
          <p:cNvSpPr/>
          <p:nvPr/>
        </p:nvSpPr>
        <p:spPr>
          <a:xfrm>
            <a:off x="594360" y="2331720"/>
            <a:ext cx="502920" cy="411480"/>
          </a:xfrm>
          <a:prstGeom prst="roundRect">
            <a:avLst>
              <a:gd name="adj" fmla="val 13333"/>
            </a:avLst>
          </a:prstGeom>
          <a:solidFill>
            <a:srgbClr val="0A0A0A"/>
          </a:solidFill>
          <a:ln w="12700">
            <a:solidFill>
              <a:srgbClr val="0A0A0A"/>
            </a:solidFill>
            <a:prstDash val="solid"/>
          </a:ln>
        </p:spPr>
        <p:txBody>
          <a:bodyPr/>
          <a:lstStyle/>
          <a:p>
            <a:endParaRPr lang="fr-FR"/>
          </a:p>
        </p:txBody>
      </p:sp>
      <p:sp>
        <p:nvSpPr>
          <p:cNvPr id="16" name="Text 13"/>
          <p:cNvSpPr/>
          <p:nvPr/>
        </p:nvSpPr>
        <p:spPr>
          <a:xfrm>
            <a:off x="594360" y="2331720"/>
            <a:ext cx="502920" cy="41148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02</a:t>
            </a:r>
            <a:endParaRPr lang="en-US" sz="1200" dirty="0"/>
          </a:p>
        </p:txBody>
      </p:sp>
      <p:sp>
        <p:nvSpPr>
          <p:cNvPr id="17" name="Text 14"/>
          <p:cNvSpPr/>
          <p:nvPr/>
        </p:nvSpPr>
        <p:spPr>
          <a:xfrm>
            <a:off x="1280160" y="2313432"/>
            <a:ext cx="4480560" cy="292608"/>
          </a:xfrm>
          <a:prstGeom prst="rect">
            <a:avLst/>
          </a:prstGeom>
          <a:noFill/>
          <a:ln/>
        </p:spPr>
        <p:txBody>
          <a:bodyPr wrap="square" rtlCol="0" anchor="ctr"/>
          <a:lstStyle/>
          <a:p>
            <a:pPr marL="0" indent="0">
              <a:buNone/>
            </a:pPr>
            <a:r>
              <a:rPr lang="en-US" sz="1600" b="1" dirty="0">
                <a:solidFill>
                  <a:srgbClr val="16161E"/>
                </a:solidFill>
                <a:latin typeface="Segoe UI" pitchFamily="34" charset="0"/>
                <a:ea typeface="Segoe UI" pitchFamily="34" charset="-122"/>
                <a:cs typeface="Segoe UI" pitchFamily="34" charset="-120"/>
              </a:rPr>
              <a:t>KPI Summary</a:t>
            </a:r>
            <a:endParaRPr lang="en-US" sz="1600" dirty="0"/>
          </a:p>
        </p:txBody>
      </p:sp>
      <p:sp>
        <p:nvSpPr>
          <p:cNvPr id="18" name="Text 15"/>
          <p:cNvSpPr/>
          <p:nvPr/>
        </p:nvSpPr>
        <p:spPr>
          <a:xfrm>
            <a:off x="1280160" y="2587752"/>
            <a:ext cx="4480560" cy="237744"/>
          </a:xfrm>
          <a:prstGeom prst="rect">
            <a:avLst/>
          </a:prstGeom>
          <a:noFill/>
          <a:ln/>
        </p:spPr>
        <p:txBody>
          <a:bodyPr wrap="square" rtlCol="0" anchor="ctr"/>
          <a:lstStyle/>
          <a:p>
            <a:pPr marL="0" indent="0">
              <a:buNone/>
            </a:pPr>
            <a:r>
              <a:rPr lang="en-US" sz="1100" dirty="0">
                <a:solidFill>
                  <a:srgbClr val="6B6B7A"/>
                </a:solidFill>
                <a:latin typeface="Segoe UI" pitchFamily="34" charset="0"/>
                <a:ea typeface="Segoe UI" pitchFamily="34" charset="-122"/>
                <a:cs typeface="Segoe UI" pitchFamily="34" charset="-120"/>
              </a:rPr>
              <a:t>Comparison vs previous month</a:t>
            </a:r>
            <a:endParaRPr lang="en-US" sz="1100" dirty="0"/>
          </a:p>
        </p:txBody>
      </p:sp>
      <p:sp>
        <p:nvSpPr>
          <p:cNvPr id="19" name="Shape 16"/>
          <p:cNvSpPr/>
          <p:nvPr/>
        </p:nvSpPr>
        <p:spPr>
          <a:xfrm>
            <a:off x="457200" y="3063240"/>
            <a:ext cx="5577840" cy="777240"/>
          </a:xfrm>
          <a:prstGeom prst="roundRect">
            <a:avLst>
              <a:gd name="adj" fmla="val 9412"/>
            </a:avLst>
          </a:prstGeom>
          <a:solidFill>
            <a:srgbClr val="FFFFFF"/>
          </a:solidFill>
          <a:ln w="12700">
            <a:solidFill>
              <a:srgbClr val="E0E0E6"/>
            </a:solidFill>
            <a:prstDash val="solid"/>
          </a:ln>
          <a:effectLst>
            <a:outerShdw blurRad="63500" dist="12700" dir="16200000" algn="bl" rotWithShape="0">
              <a:srgbClr val="000000">
                <a:alpha val="6000"/>
              </a:srgbClr>
            </a:outerShdw>
          </a:effectLst>
        </p:spPr>
        <p:txBody>
          <a:bodyPr/>
          <a:lstStyle/>
          <a:p>
            <a:endParaRPr lang="fr-FR"/>
          </a:p>
        </p:txBody>
      </p:sp>
      <p:sp>
        <p:nvSpPr>
          <p:cNvPr id="20" name="Shape 17"/>
          <p:cNvSpPr/>
          <p:nvPr/>
        </p:nvSpPr>
        <p:spPr>
          <a:xfrm>
            <a:off x="594360" y="3246120"/>
            <a:ext cx="502920" cy="411480"/>
          </a:xfrm>
          <a:prstGeom prst="roundRect">
            <a:avLst>
              <a:gd name="adj" fmla="val 13333"/>
            </a:avLst>
          </a:prstGeom>
          <a:solidFill>
            <a:srgbClr val="E30613"/>
          </a:solidFill>
          <a:ln w="12700">
            <a:solidFill>
              <a:srgbClr val="E30613"/>
            </a:solidFill>
            <a:prstDash val="solid"/>
          </a:ln>
        </p:spPr>
        <p:txBody>
          <a:bodyPr/>
          <a:lstStyle/>
          <a:p>
            <a:endParaRPr lang="fr-FR"/>
          </a:p>
        </p:txBody>
      </p:sp>
      <p:sp>
        <p:nvSpPr>
          <p:cNvPr id="21" name="Text 18"/>
          <p:cNvSpPr/>
          <p:nvPr/>
        </p:nvSpPr>
        <p:spPr>
          <a:xfrm>
            <a:off x="594360" y="3246120"/>
            <a:ext cx="502920" cy="41148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03</a:t>
            </a:r>
            <a:endParaRPr lang="en-US" sz="1200" dirty="0"/>
          </a:p>
        </p:txBody>
      </p:sp>
      <p:sp>
        <p:nvSpPr>
          <p:cNvPr id="22" name="Text 19"/>
          <p:cNvSpPr/>
          <p:nvPr/>
        </p:nvSpPr>
        <p:spPr>
          <a:xfrm>
            <a:off x="1280160" y="3227832"/>
            <a:ext cx="4480560" cy="292608"/>
          </a:xfrm>
          <a:prstGeom prst="rect">
            <a:avLst/>
          </a:prstGeom>
          <a:noFill/>
          <a:ln/>
        </p:spPr>
        <p:txBody>
          <a:bodyPr wrap="square" rtlCol="0" anchor="ctr"/>
          <a:lstStyle/>
          <a:p>
            <a:pPr marL="0" indent="0">
              <a:buNone/>
            </a:pPr>
            <a:r>
              <a:rPr lang="en-US" sz="1600" b="1" dirty="0">
                <a:solidFill>
                  <a:srgbClr val="16161E"/>
                </a:solidFill>
                <a:latin typeface="Segoe UI" pitchFamily="34" charset="0"/>
                <a:ea typeface="Segoe UI" pitchFamily="34" charset="-122"/>
                <a:cs typeface="Segoe UI" pitchFamily="34" charset="-120"/>
              </a:rPr>
              <a:t>Trends</a:t>
            </a:r>
            <a:endParaRPr lang="en-US" sz="1600" dirty="0"/>
          </a:p>
        </p:txBody>
      </p:sp>
      <p:sp>
        <p:nvSpPr>
          <p:cNvPr id="23" name="Text 20"/>
          <p:cNvSpPr/>
          <p:nvPr/>
        </p:nvSpPr>
        <p:spPr>
          <a:xfrm>
            <a:off x="1280160" y="3502152"/>
            <a:ext cx="4480560" cy="237744"/>
          </a:xfrm>
          <a:prstGeom prst="rect">
            <a:avLst/>
          </a:prstGeom>
          <a:noFill/>
          <a:ln/>
        </p:spPr>
        <p:txBody>
          <a:bodyPr wrap="square" rtlCol="0" anchor="ctr"/>
          <a:lstStyle/>
          <a:p>
            <a:pPr marL="0" indent="0">
              <a:buNone/>
            </a:pPr>
            <a:r>
              <a:rPr lang="en-US" sz="1100" dirty="0">
                <a:solidFill>
                  <a:srgbClr val="6B6B7A"/>
                </a:solidFill>
                <a:latin typeface="Segoe UI" pitchFamily="34" charset="0"/>
                <a:ea typeface="Segoe UI" pitchFamily="34" charset="-122"/>
                <a:cs typeface="Segoe UI" pitchFamily="34" charset="-120"/>
              </a:rPr>
              <a:t>Financial · Headcount · Gender · Age</a:t>
            </a:r>
            <a:endParaRPr lang="en-US" sz="1100" dirty="0"/>
          </a:p>
        </p:txBody>
      </p:sp>
      <p:sp>
        <p:nvSpPr>
          <p:cNvPr id="24" name="Shape 21"/>
          <p:cNvSpPr/>
          <p:nvPr/>
        </p:nvSpPr>
        <p:spPr>
          <a:xfrm>
            <a:off x="457200" y="3977640"/>
            <a:ext cx="5577840" cy="777240"/>
          </a:xfrm>
          <a:prstGeom prst="roundRect">
            <a:avLst>
              <a:gd name="adj" fmla="val 9412"/>
            </a:avLst>
          </a:prstGeom>
          <a:solidFill>
            <a:srgbClr val="FFFFFF"/>
          </a:solidFill>
          <a:ln w="12700">
            <a:solidFill>
              <a:srgbClr val="E0E0E6"/>
            </a:solidFill>
            <a:prstDash val="solid"/>
          </a:ln>
          <a:effectLst>
            <a:outerShdw blurRad="63500" dist="12700" dir="16200000" algn="bl" rotWithShape="0">
              <a:srgbClr val="000000">
                <a:alpha val="6000"/>
              </a:srgbClr>
            </a:outerShdw>
          </a:effectLst>
        </p:spPr>
        <p:txBody>
          <a:bodyPr/>
          <a:lstStyle/>
          <a:p>
            <a:endParaRPr lang="fr-FR"/>
          </a:p>
        </p:txBody>
      </p:sp>
      <p:sp>
        <p:nvSpPr>
          <p:cNvPr id="25" name="Shape 22"/>
          <p:cNvSpPr/>
          <p:nvPr/>
        </p:nvSpPr>
        <p:spPr>
          <a:xfrm>
            <a:off x="594360" y="4160520"/>
            <a:ext cx="502920" cy="411480"/>
          </a:xfrm>
          <a:prstGeom prst="roundRect">
            <a:avLst>
              <a:gd name="adj" fmla="val 13333"/>
            </a:avLst>
          </a:prstGeom>
          <a:solidFill>
            <a:srgbClr val="0A0A0A"/>
          </a:solidFill>
          <a:ln w="12700">
            <a:solidFill>
              <a:srgbClr val="0A0A0A"/>
            </a:solidFill>
            <a:prstDash val="solid"/>
          </a:ln>
        </p:spPr>
        <p:txBody>
          <a:bodyPr/>
          <a:lstStyle/>
          <a:p>
            <a:endParaRPr lang="fr-FR"/>
          </a:p>
        </p:txBody>
      </p:sp>
      <p:sp>
        <p:nvSpPr>
          <p:cNvPr id="26" name="Text 23"/>
          <p:cNvSpPr/>
          <p:nvPr/>
        </p:nvSpPr>
        <p:spPr>
          <a:xfrm>
            <a:off x="594360" y="4160520"/>
            <a:ext cx="502920" cy="41148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04</a:t>
            </a:r>
            <a:endParaRPr lang="en-US" sz="1200" dirty="0"/>
          </a:p>
        </p:txBody>
      </p:sp>
      <p:sp>
        <p:nvSpPr>
          <p:cNvPr id="27" name="Text 24"/>
          <p:cNvSpPr/>
          <p:nvPr/>
        </p:nvSpPr>
        <p:spPr>
          <a:xfrm>
            <a:off x="1280160" y="4142232"/>
            <a:ext cx="4480560" cy="292608"/>
          </a:xfrm>
          <a:prstGeom prst="rect">
            <a:avLst/>
          </a:prstGeom>
          <a:noFill/>
          <a:ln/>
        </p:spPr>
        <p:txBody>
          <a:bodyPr wrap="square" rtlCol="0" anchor="ctr"/>
          <a:lstStyle/>
          <a:p>
            <a:pPr marL="0" indent="0">
              <a:buNone/>
            </a:pPr>
            <a:r>
              <a:rPr lang="en-US" sz="1600" b="1" dirty="0">
                <a:solidFill>
                  <a:srgbClr val="16161E"/>
                </a:solidFill>
                <a:latin typeface="Segoe UI" pitchFamily="34" charset="0"/>
                <a:ea typeface="Segoe UI" pitchFamily="34" charset="-122"/>
                <a:cs typeface="Segoe UI" pitchFamily="34" charset="-120"/>
              </a:rPr>
              <a:t>Movements</a:t>
            </a:r>
            <a:endParaRPr lang="en-US" sz="1600" dirty="0"/>
          </a:p>
        </p:txBody>
      </p:sp>
      <p:sp>
        <p:nvSpPr>
          <p:cNvPr id="28" name="Text 25"/>
          <p:cNvSpPr/>
          <p:nvPr/>
        </p:nvSpPr>
        <p:spPr>
          <a:xfrm>
            <a:off x="1280160" y="4416552"/>
            <a:ext cx="4480560" cy="237744"/>
          </a:xfrm>
          <a:prstGeom prst="rect">
            <a:avLst/>
          </a:prstGeom>
          <a:noFill/>
          <a:ln/>
        </p:spPr>
        <p:txBody>
          <a:bodyPr wrap="square" rtlCol="0" anchor="ctr"/>
          <a:lstStyle/>
          <a:p>
            <a:pPr marL="0" indent="0">
              <a:buNone/>
            </a:pPr>
            <a:r>
              <a:rPr lang="en-US" sz="1100" dirty="0">
                <a:solidFill>
                  <a:srgbClr val="6B6B7A"/>
                </a:solidFill>
                <a:latin typeface="Segoe UI" pitchFamily="34" charset="0"/>
                <a:ea typeface="Segoe UI" pitchFamily="34" charset="-122"/>
                <a:cs typeface="Segoe UI" pitchFamily="34" charset="-120"/>
              </a:rPr>
              <a:t>Staff movement · Overtime</a:t>
            </a:r>
            <a:endParaRPr lang="en-US" sz="1100" dirty="0"/>
          </a:p>
        </p:txBody>
      </p:sp>
      <p:sp>
        <p:nvSpPr>
          <p:cNvPr id="29" name="Shape 26"/>
          <p:cNvSpPr/>
          <p:nvPr/>
        </p:nvSpPr>
        <p:spPr>
          <a:xfrm>
            <a:off x="457200" y="4892040"/>
            <a:ext cx="5577840" cy="777240"/>
          </a:xfrm>
          <a:prstGeom prst="roundRect">
            <a:avLst>
              <a:gd name="adj" fmla="val 9412"/>
            </a:avLst>
          </a:prstGeom>
          <a:solidFill>
            <a:srgbClr val="FFFFFF"/>
          </a:solidFill>
          <a:ln w="12700">
            <a:solidFill>
              <a:srgbClr val="E0E0E6"/>
            </a:solidFill>
            <a:prstDash val="solid"/>
          </a:ln>
          <a:effectLst>
            <a:outerShdw blurRad="63500" dist="12700" dir="16200000" algn="bl" rotWithShape="0">
              <a:srgbClr val="000000">
                <a:alpha val="6000"/>
              </a:srgbClr>
            </a:outerShdw>
          </a:effectLst>
        </p:spPr>
        <p:txBody>
          <a:bodyPr/>
          <a:lstStyle/>
          <a:p>
            <a:endParaRPr lang="fr-FR"/>
          </a:p>
        </p:txBody>
      </p:sp>
      <p:sp>
        <p:nvSpPr>
          <p:cNvPr id="30" name="Shape 27"/>
          <p:cNvSpPr/>
          <p:nvPr/>
        </p:nvSpPr>
        <p:spPr>
          <a:xfrm>
            <a:off x="594360" y="5074920"/>
            <a:ext cx="502920" cy="411480"/>
          </a:xfrm>
          <a:prstGeom prst="roundRect">
            <a:avLst>
              <a:gd name="adj" fmla="val 13333"/>
            </a:avLst>
          </a:prstGeom>
          <a:solidFill>
            <a:srgbClr val="E30613"/>
          </a:solidFill>
          <a:ln w="12700">
            <a:solidFill>
              <a:srgbClr val="E30613"/>
            </a:solidFill>
            <a:prstDash val="solid"/>
          </a:ln>
        </p:spPr>
        <p:txBody>
          <a:bodyPr/>
          <a:lstStyle/>
          <a:p>
            <a:endParaRPr lang="fr-FR"/>
          </a:p>
        </p:txBody>
      </p:sp>
      <p:sp>
        <p:nvSpPr>
          <p:cNvPr id="31" name="Text 28"/>
          <p:cNvSpPr/>
          <p:nvPr/>
        </p:nvSpPr>
        <p:spPr>
          <a:xfrm>
            <a:off x="594360" y="5074920"/>
            <a:ext cx="502920" cy="41148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05</a:t>
            </a:r>
            <a:endParaRPr lang="en-US" sz="1200" dirty="0"/>
          </a:p>
        </p:txBody>
      </p:sp>
      <p:sp>
        <p:nvSpPr>
          <p:cNvPr id="32" name="Text 29"/>
          <p:cNvSpPr/>
          <p:nvPr/>
        </p:nvSpPr>
        <p:spPr>
          <a:xfrm>
            <a:off x="1280160" y="5056632"/>
            <a:ext cx="4480560" cy="292608"/>
          </a:xfrm>
          <a:prstGeom prst="rect">
            <a:avLst/>
          </a:prstGeom>
          <a:noFill/>
          <a:ln/>
        </p:spPr>
        <p:txBody>
          <a:bodyPr wrap="square" rtlCol="0" anchor="ctr"/>
          <a:lstStyle/>
          <a:p>
            <a:pPr marL="0" indent="0">
              <a:buNone/>
            </a:pPr>
            <a:r>
              <a:rPr lang="en-US" sz="1600" b="1" dirty="0">
                <a:solidFill>
                  <a:srgbClr val="16161E"/>
                </a:solidFill>
                <a:latin typeface="Segoe UI" pitchFamily="34" charset="0"/>
                <a:ea typeface="Segoe UI" pitchFamily="34" charset="-122"/>
                <a:cs typeface="Segoe UI" pitchFamily="34" charset="-120"/>
              </a:rPr>
              <a:t>Overtime</a:t>
            </a:r>
            <a:endParaRPr lang="en-US" sz="1600" dirty="0"/>
          </a:p>
        </p:txBody>
      </p:sp>
      <p:sp>
        <p:nvSpPr>
          <p:cNvPr id="33" name="Text 30"/>
          <p:cNvSpPr/>
          <p:nvPr/>
        </p:nvSpPr>
        <p:spPr>
          <a:xfrm>
            <a:off x="1280160" y="5330952"/>
            <a:ext cx="4480560" cy="237744"/>
          </a:xfrm>
          <a:prstGeom prst="rect">
            <a:avLst/>
          </a:prstGeom>
          <a:noFill/>
          <a:ln/>
        </p:spPr>
        <p:txBody>
          <a:bodyPr wrap="square" rtlCol="0" anchor="ctr"/>
          <a:lstStyle/>
          <a:p>
            <a:pPr marL="0" indent="0">
              <a:buNone/>
            </a:pPr>
            <a:r>
              <a:rPr lang="en-US" sz="1100" dirty="0">
                <a:solidFill>
                  <a:srgbClr val="6B6B7A"/>
                </a:solidFill>
                <a:latin typeface="Segoe UI" pitchFamily="34" charset="0"/>
                <a:ea typeface="Segoe UI" pitchFamily="34" charset="-122"/>
                <a:cs typeface="Segoe UI" pitchFamily="34" charset="-120"/>
              </a:rPr>
              <a:t>Overview · Top 15 OT &amp; Leave</a:t>
            </a:r>
            <a:endParaRPr lang="en-US" sz="1100" dirty="0"/>
          </a:p>
        </p:txBody>
      </p:sp>
      <p:sp>
        <p:nvSpPr>
          <p:cNvPr id="34" name="Shape 31"/>
          <p:cNvSpPr/>
          <p:nvPr/>
        </p:nvSpPr>
        <p:spPr>
          <a:xfrm>
            <a:off x="6309360" y="1234440"/>
            <a:ext cx="5577840" cy="777240"/>
          </a:xfrm>
          <a:prstGeom prst="roundRect">
            <a:avLst>
              <a:gd name="adj" fmla="val 9412"/>
            </a:avLst>
          </a:prstGeom>
          <a:solidFill>
            <a:srgbClr val="FFFFFF"/>
          </a:solidFill>
          <a:ln w="12700">
            <a:solidFill>
              <a:srgbClr val="E0E0E6"/>
            </a:solidFill>
            <a:prstDash val="solid"/>
          </a:ln>
          <a:effectLst>
            <a:outerShdw blurRad="63500" dist="12700" dir="16200000" algn="bl" rotWithShape="0">
              <a:srgbClr val="000000">
                <a:alpha val="6000"/>
              </a:srgbClr>
            </a:outerShdw>
          </a:effectLst>
        </p:spPr>
        <p:txBody>
          <a:bodyPr/>
          <a:lstStyle/>
          <a:p>
            <a:endParaRPr lang="fr-FR"/>
          </a:p>
        </p:txBody>
      </p:sp>
      <p:sp>
        <p:nvSpPr>
          <p:cNvPr id="35" name="Shape 32"/>
          <p:cNvSpPr/>
          <p:nvPr/>
        </p:nvSpPr>
        <p:spPr>
          <a:xfrm>
            <a:off x="6446520" y="1417320"/>
            <a:ext cx="502920" cy="411480"/>
          </a:xfrm>
          <a:prstGeom prst="roundRect">
            <a:avLst>
              <a:gd name="adj" fmla="val 13333"/>
            </a:avLst>
          </a:prstGeom>
          <a:solidFill>
            <a:srgbClr val="0A0A0A"/>
          </a:solidFill>
          <a:ln w="12700">
            <a:solidFill>
              <a:srgbClr val="0A0A0A"/>
            </a:solidFill>
            <a:prstDash val="solid"/>
          </a:ln>
        </p:spPr>
        <p:txBody>
          <a:bodyPr/>
          <a:lstStyle/>
          <a:p>
            <a:endParaRPr lang="fr-FR"/>
          </a:p>
        </p:txBody>
      </p:sp>
      <p:sp>
        <p:nvSpPr>
          <p:cNvPr id="36" name="Text 33"/>
          <p:cNvSpPr/>
          <p:nvPr/>
        </p:nvSpPr>
        <p:spPr>
          <a:xfrm>
            <a:off x="6446520" y="1417320"/>
            <a:ext cx="502920" cy="41148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06</a:t>
            </a:r>
            <a:endParaRPr lang="en-US" sz="1200" dirty="0"/>
          </a:p>
        </p:txBody>
      </p:sp>
      <p:sp>
        <p:nvSpPr>
          <p:cNvPr id="37" name="Text 34"/>
          <p:cNvSpPr/>
          <p:nvPr/>
        </p:nvSpPr>
        <p:spPr>
          <a:xfrm>
            <a:off x="7132320" y="1399032"/>
            <a:ext cx="4480560" cy="292608"/>
          </a:xfrm>
          <a:prstGeom prst="rect">
            <a:avLst/>
          </a:prstGeom>
          <a:noFill/>
          <a:ln/>
        </p:spPr>
        <p:txBody>
          <a:bodyPr wrap="square" rtlCol="0" anchor="ctr"/>
          <a:lstStyle/>
          <a:p>
            <a:pPr marL="0" indent="0">
              <a:buNone/>
            </a:pPr>
            <a:r>
              <a:rPr lang="en-US" sz="1600" b="1" dirty="0">
                <a:solidFill>
                  <a:srgbClr val="16161E"/>
                </a:solidFill>
                <a:latin typeface="Segoe UI" pitchFamily="34" charset="0"/>
                <a:ea typeface="Segoe UI" pitchFamily="34" charset="-122"/>
                <a:cs typeface="Segoe UI" pitchFamily="34" charset="-120"/>
              </a:rPr>
              <a:t>Training</a:t>
            </a:r>
            <a:endParaRPr lang="en-US" sz="1600" dirty="0"/>
          </a:p>
        </p:txBody>
      </p:sp>
      <p:sp>
        <p:nvSpPr>
          <p:cNvPr id="38" name="Text 35"/>
          <p:cNvSpPr/>
          <p:nvPr/>
        </p:nvSpPr>
        <p:spPr>
          <a:xfrm>
            <a:off x="7132320" y="1673352"/>
            <a:ext cx="4480560" cy="237744"/>
          </a:xfrm>
          <a:prstGeom prst="rect">
            <a:avLst/>
          </a:prstGeom>
          <a:noFill/>
          <a:ln/>
        </p:spPr>
        <p:txBody>
          <a:bodyPr wrap="square" rtlCol="0" anchor="ctr"/>
          <a:lstStyle/>
          <a:p>
            <a:pPr marL="0" indent="0">
              <a:buNone/>
            </a:pPr>
            <a:r>
              <a:rPr lang="en-US" sz="1100" dirty="0">
                <a:solidFill>
                  <a:srgbClr val="6B6B7A"/>
                </a:solidFill>
                <a:latin typeface="Segoe UI" pitchFamily="34" charset="0"/>
                <a:ea typeface="Segoe UI" pitchFamily="34" charset="-122"/>
                <a:cs typeface="Segoe UI" pitchFamily="34" charset="-120"/>
              </a:rPr>
              <a:t>Topics · Sessions</a:t>
            </a:r>
            <a:endParaRPr lang="en-US" sz="1100" dirty="0"/>
          </a:p>
        </p:txBody>
      </p:sp>
      <p:sp>
        <p:nvSpPr>
          <p:cNvPr id="39" name="Shape 36"/>
          <p:cNvSpPr/>
          <p:nvPr/>
        </p:nvSpPr>
        <p:spPr>
          <a:xfrm>
            <a:off x="6309360" y="2148840"/>
            <a:ext cx="5577840" cy="777240"/>
          </a:xfrm>
          <a:prstGeom prst="roundRect">
            <a:avLst>
              <a:gd name="adj" fmla="val 9412"/>
            </a:avLst>
          </a:prstGeom>
          <a:solidFill>
            <a:srgbClr val="FFFFFF"/>
          </a:solidFill>
          <a:ln w="12700">
            <a:solidFill>
              <a:srgbClr val="E0E0E6"/>
            </a:solidFill>
            <a:prstDash val="solid"/>
          </a:ln>
          <a:effectLst>
            <a:outerShdw blurRad="63500" dist="12700" dir="16200000" algn="bl" rotWithShape="0">
              <a:srgbClr val="000000">
                <a:alpha val="6000"/>
              </a:srgbClr>
            </a:outerShdw>
          </a:effectLst>
        </p:spPr>
        <p:txBody>
          <a:bodyPr/>
          <a:lstStyle/>
          <a:p>
            <a:endParaRPr lang="fr-FR"/>
          </a:p>
        </p:txBody>
      </p:sp>
      <p:sp>
        <p:nvSpPr>
          <p:cNvPr id="40" name="Shape 37"/>
          <p:cNvSpPr/>
          <p:nvPr/>
        </p:nvSpPr>
        <p:spPr>
          <a:xfrm>
            <a:off x="6446520" y="2331720"/>
            <a:ext cx="502920" cy="411480"/>
          </a:xfrm>
          <a:prstGeom prst="roundRect">
            <a:avLst>
              <a:gd name="adj" fmla="val 13333"/>
            </a:avLst>
          </a:prstGeom>
          <a:solidFill>
            <a:srgbClr val="E30613"/>
          </a:solidFill>
          <a:ln w="12700">
            <a:solidFill>
              <a:srgbClr val="E30613"/>
            </a:solidFill>
            <a:prstDash val="solid"/>
          </a:ln>
        </p:spPr>
        <p:txBody>
          <a:bodyPr/>
          <a:lstStyle/>
          <a:p>
            <a:endParaRPr lang="fr-FR"/>
          </a:p>
        </p:txBody>
      </p:sp>
      <p:sp>
        <p:nvSpPr>
          <p:cNvPr id="41" name="Text 38"/>
          <p:cNvSpPr/>
          <p:nvPr/>
        </p:nvSpPr>
        <p:spPr>
          <a:xfrm>
            <a:off x="6446520" y="2331720"/>
            <a:ext cx="502920" cy="41148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07</a:t>
            </a:r>
            <a:endParaRPr lang="en-US" sz="1200" dirty="0"/>
          </a:p>
        </p:txBody>
      </p:sp>
      <p:sp>
        <p:nvSpPr>
          <p:cNvPr id="42" name="Text 39"/>
          <p:cNvSpPr/>
          <p:nvPr/>
        </p:nvSpPr>
        <p:spPr>
          <a:xfrm>
            <a:off x="7132320" y="2313432"/>
            <a:ext cx="4480560" cy="292608"/>
          </a:xfrm>
          <a:prstGeom prst="rect">
            <a:avLst/>
          </a:prstGeom>
          <a:noFill/>
          <a:ln/>
        </p:spPr>
        <p:txBody>
          <a:bodyPr wrap="square" rtlCol="0" anchor="ctr"/>
          <a:lstStyle/>
          <a:p>
            <a:pPr marL="0" indent="0">
              <a:buNone/>
            </a:pPr>
            <a:r>
              <a:rPr lang="en-US" sz="1600" b="1" dirty="0">
                <a:solidFill>
                  <a:srgbClr val="16161E"/>
                </a:solidFill>
                <a:latin typeface="Segoe UI" pitchFamily="34" charset="0"/>
                <a:ea typeface="Segoe UI" pitchFamily="34" charset="-122"/>
                <a:cs typeface="Segoe UI" pitchFamily="34" charset="-120"/>
              </a:rPr>
              <a:t>CSR / Cahier</a:t>
            </a:r>
            <a:endParaRPr lang="en-US" sz="1600" dirty="0"/>
          </a:p>
        </p:txBody>
      </p:sp>
      <p:sp>
        <p:nvSpPr>
          <p:cNvPr id="43" name="Text 40"/>
          <p:cNvSpPr/>
          <p:nvPr/>
        </p:nvSpPr>
        <p:spPr>
          <a:xfrm>
            <a:off x="7132320" y="2587752"/>
            <a:ext cx="4480560" cy="237744"/>
          </a:xfrm>
          <a:prstGeom prst="rect">
            <a:avLst/>
          </a:prstGeom>
          <a:noFill/>
          <a:ln/>
        </p:spPr>
        <p:txBody>
          <a:bodyPr wrap="square" rtlCol="0" anchor="ctr"/>
          <a:lstStyle/>
          <a:p>
            <a:pPr marL="0" indent="0">
              <a:buNone/>
            </a:pPr>
            <a:r>
              <a:rPr lang="en-US" sz="1100" dirty="0">
                <a:solidFill>
                  <a:srgbClr val="6B6B7A"/>
                </a:solidFill>
                <a:latin typeface="Segoe UI" pitchFamily="34" charset="0"/>
                <a:ea typeface="Segoe UI" pitchFamily="34" charset="-122"/>
                <a:cs typeface="Segoe UI" pitchFamily="34" charset="-120"/>
              </a:rPr>
              <a:t>Secteur · Commentaire · Évolution</a:t>
            </a:r>
            <a:endParaRPr lang="en-US" sz="1100" dirty="0"/>
          </a:p>
        </p:txBody>
      </p:sp>
      <p:sp>
        <p:nvSpPr>
          <p:cNvPr id="44" name="Shape 41"/>
          <p:cNvSpPr/>
          <p:nvPr/>
        </p:nvSpPr>
        <p:spPr>
          <a:xfrm>
            <a:off x="6309360" y="3063240"/>
            <a:ext cx="5577840" cy="777240"/>
          </a:xfrm>
          <a:prstGeom prst="roundRect">
            <a:avLst>
              <a:gd name="adj" fmla="val 9412"/>
            </a:avLst>
          </a:prstGeom>
          <a:solidFill>
            <a:srgbClr val="FFFFFF"/>
          </a:solidFill>
          <a:ln w="12700">
            <a:solidFill>
              <a:srgbClr val="E0E0E6"/>
            </a:solidFill>
            <a:prstDash val="solid"/>
          </a:ln>
          <a:effectLst>
            <a:outerShdw blurRad="63500" dist="12700" dir="16200000" algn="bl" rotWithShape="0">
              <a:srgbClr val="000000">
                <a:alpha val="6000"/>
              </a:srgbClr>
            </a:outerShdw>
          </a:effectLst>
        </p:spPr>
        <p:txBody>
          <a:bodyPr/>
          <a:lstStyle/>
          <a:p>
            <a:endParaRPr lang="fr-FR"/>
          </a:p>
        </p:txBody>
      </p:sp>
      <p:sp>
        <p:nvSpPr>
          <p:cNvPr id="45" name="Shape 42"/>
          <p:cNvSpPr/>
          <p:nvPr/>
        </p:nvSpPr>
        <p:spPr>
          <a:xfrm>
            <a:off x="6446520" y="3246120"/>
            <a:ext cx="502920" cy="411480"/>
          </a:xfrm>
          <a:prstGeom prst="roundRect">
            <a:avLst>
              <a:gd name="adj" fmla="val 13333"/>
            </a:avLst>
          </a:prstGeom>
          <a:solidFill>
            <a:srgbClr val="0A0A0A"/>
          </a:solidFill>
          <a:ln w="12700">
            <a:solidFill>
              <a:srgbClr val="0A0A0A"/>
            </a:solidFill>
            <a:prstDash val="solid"/>
          </a:ln>
        </p:spPr>
        <p:txBody>
          <a:bodyPr/>
          <a:lstStyle/>
          <a:p>
            <a:endParaRPr lang="fr-FR"/>
          </a:p>
        </p:txBody>
      </p:sp>
      <p:sp>
        <p:nvSpPr>
          <p:cNvPr id="46" name="Text 43"/>
          <p:cNvSpPr/>
          <p:nvPr/>
        </p:nvSpPr>
        <p:spPr>
          <a:xfrm>
            <a:off x="6446520" y="3246120"/>
            <a:ext cx="502920" cy="41148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08</a:t>
            </a:r>
            <a:endParaRPr lang="en-US" sz="1200" dirty="0"/>
          </a:p>
        </p:txBody>
      </p:sp>
      <p:sp>
        <p:nvSpPr>
          <p:cNvPr id="47" name="Text 44"/>
          <p:cNvSpPr/>
          <p:nvPr/>
        </p:nvSpPr>
        <p:spPr>
          <a:xfrm>
            <a:off x="7132320" y="3227832"/>
            <a:ext cx="4480560" cy="292608"/>
          </a:xfrm>
          <a:prstGeom prst="rect">
            <a:avLst/>
          </a:prstGeom>
          <a:noFill/>
          <a:ln/>
        </p:spPr>
        <p:txBody>
          <a:bodyPr wrap="square" rtlCol="0" anchor="ctr"/>
          <a:lstStyle/>
          <a:p>
            <a:pPr marL="0" indent="0">
              <a:buNone/>
            </a:pPr>
            <a:r>
              <a:rPr lang="en-US" sz="1600" b="1" dirty="0">
                <a:solidFill>
                  <a:srgbClr val="16161E"/>
                </a:solidFill>
                <a:latin typeface="Segoe UI" pitchFamily="34" charset="0"/>
                <a:ea typeface="Segoe UI" pitchFamily="34" charset="-122"/>
                <a:cs typeface="Segoe UI" pitchFamily="34" charset="-120"/>
              </a:rPr>
              <a:t>Recruitment</a:t>
            </a:r>
            <a:endParaRPr lang="en-US" sz="1600" dirty="0"/>
          </a:p>
        </p:txBody>
      </p:sp>
      <p:sp>
        <p:nvSpPr>
          <p:cNvPr id="48" name="Text 45"/>
          <p:cNvSpPr/>
          <p:nvPr/>
        </p:nvSpPr>
        <p:spPr>
          <a:xfrm>
            <a:off x="7132320" y="3502152"/>
            <a:ext cx="4480560" cy="237744"/>
          </a:xfrm>
          <a:prstGeom prst="rect">
            <a:avLst/>
          </a:prstGeom>
          <a:noFill/>
          <a:ln/>
        </p:spPr>
        <p:txBody>
          <a:bodyPr wrap="square" rtlCol="0" anchor="ctr"/>
          <a:lstStyle/>
          <a:p>
            <a:pPr marL="0" indent="0">
              <a:buNone/>
            </a:pPr>
            <a:r>
              <a:rPr lang="en-US" sz="1100" dirty="0">
                <a:solidFill>
                  <a:srgbClr val="6B6B7A"/>
                </a:solidFill>
                <a:latin typeface="Segoe UI" pitchFamily="34" charset="0"/>
                <a:ea typeface="Segoe UI" pitchFamily="34" charset="-122"/>
                <a:cs typeface="Segoe UI" pitchFamily="34" charset="-120"/>
              </a:rPr>
              <a:t>Replacements · New positions</a:t>
            </a:r>
            <a:endParaRPr lang="en-US" sz="1100" dirty="0"/>
          </a:p>
        </p:txBody>
      </p:sp>
      <p:sp>
        <p:nvSpPr>
          <p:cNvPr id="49" name="Shape 46"/>
          <p:cNvSpPr/>
          <p:nvPr/>
        </p:nvSpPr>
        <p:spPr>
          <a:xfrm>
            <a:off x="6309360" y="3977640"/>
            <a:ext cx="5577840" cy="777240"/>
          </a:xfrm>
          <a:prstGeom prst="roundRect">
            <a:avLst>
              <a:gd name="adj" fmla="val 9412"/>
            </a:avLst>
          </a:prstGeom>
          <a:solidFill>
            <a:srgbClr val="FFFFFF"/>
          </a:solidFill>
          <a:ln w="12700">
            <a:solidFill>
              <a:srgbClr val="E0E0E6"/>
            </a:solidFill>
            <a:prstDash val="solid"/>
          </a:ln>
          <a:effectLst>
            <a:outerShdw blurRad="63500" dist="12700" dir="16200000" algn="bl" rotWithShape="0">
              <a:srgbClr val="000000">
                <a:alpha val="6000"/>
              </a:srgbClr>
            </a:outerShdw>
          </a:effectLst>
        </p:spPr>
        <p:txBody>
          <a:bodyPr/>
          <a:lstStyle/>
          <a:p>
            <a:endParaRPr lang="fr-FR"/>
          </a:p>
        </p:txBody>
      </p:sp>
      <p:sp>
        <p:nvSpPr>
          <p:cNvPr id="50" name="Shape 47"/>
          <p:cNvSpPr/>
          <p:nvPr/>
        </p:nvSpPr>
        <p:spPr>
          <a:xfrm>
            <a:off x="6446520" y="4160520"/>
            <a:ext cx="502920" cy="411480"/>
          </a:xfrm>
          <a:prstGeom prst="roundRect">
            <a:avLst>
              <a:gd name="adj" fmla="val 13333"/>
            </a:avLst>
          </a:prstGeom>
          <a:solidFill>
            <a:srgbClr val="E30613"/>
          </a:solidFill>
          <a:ln w="12700">
            <a:solidFill>
              <a:srgbClr val="E30613"/>
            </a:solidFill>
            <a:prstDash val="solid"/>
          </a:ln>
        </p:spPr>
        <p:txBody>
          <a:bodyPr/>
          <a:lstStyle/>
          <a:p>
            <a:endParaRPr lang="fr-FR"/>
          </a:p>
        </p:txBody>
      </p:sp>
      <p:sp>
        <p:nvSpPr>
          <p:cNvPr id="51" name="Text 48"/>
          <p:cNvSpPr/>
          <p:nvPr/>
        </p:nvSpPr>
        <p:spPr>
          <a:xfrm>
            <a:off x="6446520" y="4160520"/>
            <a:ext cx="502920" cy="41148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09</a:t>
            </a:r>
            <a:endParaRPr lang="en-US" sz="1200" dirty="0"/>
          </a:p>
        </p:txBody>
      </p:sp>
      <p:sp>
        <p:nvSpPr>
          <p:cNvPr id="52" name="Text 49"/>
          <p:cNvSpPr/>
          <p:nvPr/>
        </p:nvSpPr>
        <p:spPr>
          <a:xfrm>
            <a:off x="7132320" y="4142232"/>
            <a:ext cx="4480560" cy="292608"/>
          </a:xfrm>
          <a:prstGeom prst="rect">
            <a:avLst/>
          </a:prstGeom>
          <a:noFill/>
          <a:ln/>
        </p:spPr>
        <p:txBody>
          <a:bodyPr wrap="square" rtlCol="0" anchor="ctr"/>
          <a:lstStyle/>
          <a:p>
            <a:pPr marL="0" indent="0">
              <a:buNone/>
            </a:pPr>
            <a:r>
              <a:rPr lang="en-US" sz="1600" b="1" dirty="0">
                <a:solidFill>
                  <a:srgbClr val="16161E"/>
                </a:solidFill>
                <a:latin typeface="Segoe UI" pitchFamily="34" charset="0"/>
                <a:ea typeface="Segoe UI" pitchFamily="34" charset="-122"/>
                <a:cs typeface="Segoe UI" pitchFamily="34" charset="-120"/>
              </a:rPr>
              <a:t>Governance</a:t>
            </a:r>
            <a:endParaRPr lang="en-US" sz="1600" dirty="0"/>
          </a:p>
        </p:txBody>
      </p:sp>
      <p:sp>
        <p:nvSpPr>
          <p:cNvPr id="53" name="Text 50"/>
          <p:cNvSpPr/>
          <p:nvPr/>
        </p:nvSpPr>
        <p:spPr>
          <a:xfrm>
            <a:off x="7132320" y="4416552"/>
            <a:ext cx="4480560" cy="237744"/>
          </a:xfrm>
          <a:prstGeom prst="rect">
            <a:avLst/>
          </a:prstGeom>
          <a:noFill/>
          <a:ln/>
        </p:spPr>
        <p:txBody>
          <a:bodyPr wrap="square" rtlCol="0" anchor="ctr"/>
          <a:lstStyle/>
          <a:p>
            <a:pPr marL="0" indent="0">
              <a:buNone/>
            </a:pPr>
            <a:r>
              <a:rPr lang="en-US" sz="1100" dirty="0">
                <a:solidFill>
                  <a:srgbClr val="6B6B7A"/>
                </a:solidFill>
                <a:latin typeface="Segoe UI" pitchFamily="34" charset="0"/>
                <a:ea typeface="Segoe UI" pitchFamily="34" charset="-122"/>
                <a:cs typeface="Segoe UI" pitchFamily="34" charset="-120"/>
              </a:rPr>
              <a:t>Audit table · Progression</a:t>
            </a:r>
            <a:endParaRPr lang="en-US" sz="1100" dirty="0"/>
          </a:p>
        </p:txBody>
      </p:sp>
      <p:sp>
        <p:nvSpPr>
          <p:cNvPr id="54" name="Shape 51"/>
          <p:cNvSpPr/>
          <p:nvPr/>
        </p:nvSpPr>
        <p:spPr>
          <a:xfrm>
            <a:off x="6309360" y="4892040"/>
            <a:ext cx="5577840" cy="777240"/>
          </a:xfrm>
          <a:prstGeom prst="roundRect">
            <a:avLst>
              <a:gd name="adj" fmla="val 9412"/>
            </a:avLst>
          </a:prstGeom>
          <a:solidFill>
            <a:srgbClr val="FFFFFF"/>
          </a:solidFill>
          <a:ln w="12700">
            <a:solidFill>
              <a:srgbClr val="E0E0E6"/>
            </a:solidFill>
            <a:prstDash val="solid"/>
          </a:ln>
          <a:effectLst>
            <a:outerShdw blurRad="63500" dist="12700" dir="16200000" algn="bl" rotWithShape="0">
              <a:srgbClr val="000000">
                <a:alpha val="6000"/>
              </a:srgbClr>
            </a:outerShdw>
          </a:effectLst>
        </p:spPr>
        <p:txBody>
          <a:bodyPr/>
          <a:lstStyle/>
          <a:p>
            <a:endParaRPr lang="fr-FR"/>
          </a:p>
        </p:txBody>
      </p:sp>
      <p:sp>
        <p:nvSpPr>
          <p:cNvPr id="55" name="Shape 52"/>
          <p:cNvSpPr/>
          <p:nvPr/>
        </p:nvSpPr>
        <p:spPr>
          <a:xfrm>
            <a:off x="6446520" y="5074920"/>
            <a:ext cx="502920" cy="411480"/>
          </a:xfrm>
          <a:prstGeom prst="roundRect">
            <a:avLst>
              <a:gd name="adj" fmla="val 13333"/>
            </a:avLst>
          </a:prstGeom>
          <a:solidFill>
            <a:srgbClr val="0A0A0A"/>
          </a:solidFill>
          <a:ln w="12700">
            <a:solidFill>
              <a:srgbClr val="0A0A0A"/>
            </a:solidFill>
            <a:prstDash val="solid"/>
          </a:ln>
        </p:spPr>
        <p:txBody>
          <a:bodyPr/>
          <a:lstStyle/>
          <a:p>
            <a:endParaRPr lang="fr-FR"/>
          </a:p>
        </p:txBody>
      </p:sp>
      <p:sp>
        <p:nvSpPr>
          <p:cNvPr id="56" name="Text 53"/>
          <p:cNvSpPr/>
          <p:nvPr/>
        </p:nvSpPr>
        <p:spPr>
          <a:xfrm>
            <a:off x="6446520" y="5074920"/>
            <a:ext cx="502920" cy="41148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a:t>
            </a:r>
            <a:endParaRPr lang="en-US" sz="1200" dirty="0"/>
          </a:p>
        </p:txBody>
      </p:sp>
      <p:sp>
        <p:nvSpPr>
          <p:cNvPr id="57" name="Text 54"/>
          <p:cNvSpPr/>
          <p:nvPr/>
        </p:nvSpPr>
        <p:spPr>
          <a:xfrm>
            <a:off x="7132320" y="5056632"/>
            <a:ext cx="4480560" cy="292608"/>
          </a:xfrm>
          <a:prstGeom prst="rect">
            <a:avLst/>
          </a:prstGeom>
          <a:noFill/>
          <a:ln/>
        </p:spPr>
        <p:txBody>
          <a:bodyPr wrap="square" rtlCol="0" anchor="ctr"/>
          <a:lstStyle/>
          <a:p>
            <a:pPr marL="0" indent="0">
              <a:buNone/>
            </a:pPr>
            <a:r>
              <a:rPr lang="en-US" sz="1600" b="1" dirty="0">
                <a:solidFill>
                  <a:srgbClr val="16161E"/>
                </a:solidFill>
                <a:latin typeface="Segoe UI" pitchFamily="34" charset="0"/>
                <a:ea typeface="Segoe UI" pitchFamily="34" charset="-122"/>
                <a:cs typeface="Segoe UI" pitchFamily="34" charset="-120"/>
              </a:rPr>
              <a:t>Thank You</a:t>
            </a:r>
            <a:endParaRPr lang="en-US" sz="1600" dirty="0"/>
          </a:p>
        </p:txBody>
      </p:sp>
      <p:sp>
        <p:nvSpPr>
          <p:cNvPr id="58" name="Text 55"/>
          <p:cNvSpPr/>
          <p:nvPr/>
        </p:nvSpPr>
        <p:spPr>
          <a:xfrm>
            <a:off x="7132320" y="5330952"/>
            <a:ext cx="4480560" cy="237744"/>
          </a:xfrm>
          <a:prstGeom prst="rect">
            <a:avLst/>
          </a:prstGeom>
          <a:noFill/>
          <a:ln/>
        </p:spPr>
        <p:txBody>
          <a:bodyPr wrap="square" rtlCol="0" anchor="ctr"/>
          <a:lstStyle/>
          <a:p>
            <a:pPr marL="0" indent="0">
              <a:buNone/>
            </a:pPr>
            <a:r>
              <a:rPr lang="en-US" sz="1100" dirty="0">
                <a:solidFill>
                  <a:srgbClr val="6B6B7A"/>
                </a:solidFill>
                <a:latin typeface="Segoe UI" pitchFamily="34" charset="0"/>
                <a:ea typeface="Segoe UI" pitchFamily="34" charset="-122"/>
                <a:cs typeface="Segoe UI" pitchFamily="34" charset="-120"/>
              </a:rPr>
              <a:t>Closing slide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8EC"/>
        </a:solidFill>
        <a:effectLst/>
      </p:bgPr>
    </p:bg>
    <p:spTree>
      <p:nvGrpSpPr>
        <p:cNvPr id="1" name=""/>
        <p:cNvGrpSpPr/>
        <p:nvPr/>
      </p:nvGrpSpPr>
      <p:grpSpPr>
        <a:xfrm>
          <a:off x="0" y="0"/>
          <a:ext cx="0" cy="0"/>
          <a:chOff x="0" y="0"/>
          <a:chExt cx="0" cy="0"/>
        </a:xfrm>
      </p:grpSpPr>
      <p:pic>
        <p:nvPicPr>
          <p:cNvPr id="2" name="Image 0" descr="D:\Apps\hr-rh-app\templates\exco\cover-assets\slide-fade.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4008"/>
          </a:xfrm>
          <a:prstGeom prst="rect">
            <a:avLst/>
          </a:prstGeom>
          <a:solidFill>
            <a:schemeClr val="accent6">
              <a:lumMod val="50000"/>
            </a:schemeClr>
          </a:solidFill>
          <a:ln w="12700">
            <a:noFill/>
            <a:prstDash val="solid"/>
          </a:ln>
        </p:spPr>
        <p:txBody>
          <a:bodyPr/>
          <a:lstStyle/>
          <a:p>
            <a:endParaRPr lang="fr-FR"/>
          </a:p>
        </p:txBody>
      </p:sp>
      <p:sp>
        <p:nvSpPr>
          <p:cNvPr id="4" name="Shape 1"/>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Shape 2"/>
          <p:cNvSpPr/>
          <p:nvPr/>
        </p:nvSpPr>
        <p:spPr>
          <a:xfrm>
            <a:off x="292608" y="146304"/>
            <a:ext cx="365760" cy="365760"/>
          </a:xfrm>
          <a:prstGeom prst="roundRect">
            <a:avLst>
              <a:gd name="adj" fmla="val 15000"/>
            </a:avLst>
          </a:prstGeom>
          <a:solidFill>
            <a:schemeClr val="accent6">
              <a:lumMod val="50000"/>
            </a:schemeClr>
          </a:solidFill>
          <a:ln w="12700">
            <a:noFill/>
            <a:prstDash val="solid"/>
          </a:ln>
        </p:spPr>
        <p:txBody>
          <a:bodyPr/>
          <a:lstStyle/>
          <a:p>
            <a:endParaRPr lang="fr-FR"/>
          </a:p>
        </p:txBody>
      </p:sp>
      <p:sp>
        <p:nvSpPr>
          <p:cNvPr id="6" name="Text 3"/>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01</a:t>
            </a:r>
            <a:endParaRPr lang="en-US" sz="1200" dirty="0"/>
          </a:p>
        </p:txBody>
      </p:sp>
      <p:sp>
        <p:nvSpPr>
          <p:cNvPr id="7" name="Text 4"/>
          <p:cNvSpPr/>
          <p:nvPr/>
        </p:nvSpPr>
        <p:spPr>
          <a:xfrm>
            <a:off x="804672" y="128016"/>
            <a:ext cx="4572000" cy="146304"/>
          </a:xfrm>
          <a:prstGeom prst="rect">
            <a:avLst/>
          </a:prstGeom>
          <a:noFill/>
          <a:ln/>
        </p:spPr>
        <p:txBody>
          <a:bodyPr wrap="square" rtlCol="0" anchor="ctr"/>
          <a:lstStyle/>
          <a:p>
            <a:pPr marL="0" indent="0">
              <a:buNone/>
            </a:pPr>
            <a:r>
              <a:rPr lang="en-US" sz="900" b="1" dirty="0">
                <a:solidFill>
                  <a:schemeClr val="accent6">
                    <a:lumMod val="50000"/>
                  </a:schemeClr>
                </a:solidFill>
                <a:latin typeface="Segoe UI" pitchFamily="34" charset="0"/>
                <a:ea typeface="Segoe UI" pitchFamily="34" charset="-122"/>
                <a:cs typeface="Segoe UI" pitchFamily="34" charset="-120"/>
              </a:rPr>
              <a:t>PPC · HR EXCO</a:t>
            </a:r>
            <a:endParaRPr lang="en-US" sz="900" dirty="0">
              <a:solidFill>
                <a:schemeClr val="accent6">
                  <a:lumMod val="50000"/>
                </a:schemeClr>
              </a:solidFill>
            </a:endParaRPr>
          </a:p>
        </p:txBody>
      </p:sp>
      <p:sp>
        <p:nvSpPr>
          <p:cNvPr id="8" name="Text 5"/>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Highlight</a:t>
            </a:r>
            <a:endParaRPr lang="en-US" sz="1800" dirty="0"/>
          </a:p>
        </p:txBody>
      </p:sp>
      <p:sp>
        <p:nvSpPr>
          <p:cNvPr id="9" name="Text 6"/>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10" name="Shape 7"/>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11" name="Shape 8"/>
          <p:cNvSpPr/>
          <p:nvPr/>
        </p:nvSpPr>
        <p:spPr>
          <a:xfrm>
            <a:off x="365760" y="686942"/>
            <a:ext cx="3749040" cy="6043041"/>
          </a:xfrm>
          <a:prstGeom prst="roundRect">
            <a:avLst>
              <a:gd name="adj" fmla="val 1951"/>
            </a:avLst>
          </a:prstGeom>
          <a:solidFill>
            <a:srgbClr val="FFFFFF"/>
          </a:solidFill>
          <a:ln w="12700">
            <a:solidFill>
              <a:srgbClr val="E0E0E6"/>
            </a:solidFill>
            <a:prstDash val="solid"/>
          </a:ln>
          <a:effectLst>
            <a:outerShdw blurRad="76200" dist="12700" dir="16200000" algn="bl" rotWithShape="0">
              <a:srgbClr val="000000">
                <a:alpha val="6000"/>
              </a:srgbClr>
            </a:outerShdw>
          </a:effectLst>
        </p:spPr>
        <p:txBody>
          <a:bodyPr/>
          <a:lstStyle/>
          <a:p>
            <a:endParaRPr lang="fr-FR"/>
          </a:p>
        </p:txBody>
      </p:sp>
      <p:sp>
        <p:nvSpPr>
          <p:cNvPr id="12" name="Shape 9"/>
          <p:cNvSpPr/>
          <p:nvPr/>
        </p:nvSpPr>
        <p:spPr>
          <a:xfrm>
            <a:off x="530352" y="833247"/>
            <a:ext cx="347472" cy="347472"/>
          </a:xfrm>
          <a:prstGeom prst="ellipse">
            <a:avLst/>
          </a:prstGeom>
          <a:solidFill>
            <a:schemeClr val="accent6">
              <a:lumMod val="50000"/>
            </a:schemeClr>
          </a:solidFill>
          <a:ln w="12700">
            <a:noFill/>
            <a:prstDash val="solid"/>
          </a:ln>
        </p:spPr>
        <p:txBody>
          <a:bodyPr/>
          <a:lstStyle/>
          <a:p>
            <a:endParaRPr lang="fr-FR"/>
          </a:p>
        </p:txBody>
      </p:sp>
      <p:sp>
        <p:nvSpPr>
          <p:cNvPr id="13" name="Text 10"/>
          <p:cNvSpPr/>
          <p:nvPr/>
        </p:nvSpPr>
        <p:spPr>
          <a:xfrm>
            <a:off x="530352" y="833247"/>
            <a:ext cx="347472" cy="34747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P</a:t>
            </a:r>
            <a:endParaRPr lang="en-US" sz="1100" dirty="0"/>
          </a:p>
        </p:txBody>
      </p:sp>
      <p:sp>
        <p:nvSpPr>
          <p:cNvPr id="14" name="Text 11"/>
          <p:cNvSpPr/>
          <p:nvPr/>
        </p:nvSpPr>
        <p:spPr>
          <a:xfrm>
            <a:off x="896112" y="888110"/>
            <a:ext cx="2926080" cy="256032"/>
          </a:xfrm>
          <a:prstGeom prst="rect">
            <a:avLst/>
          </a:prstGeom>
          <a:noFill/>
          <a:ln/>
        </p:spPr>
        <p:txBody>
          <a:bodyPr wrap="square" rtlCol="0" anchor="ctr"/>
          <a:lstStyle/>
          <a:p>
            <a:pPr marL="0" indent="0">
              <a:buNone/>
            </a:pPr>
            <a:r>
              <a:rPr lang="en-US" sz="1300" b="1" u="sng" dirty="0">
                <a:solidFill>
                  <a:schemeClr val="accent6">
                    <a:lumMod val="50000"/>
                  </a:schemeClr>
                </a:solidFill>
                <a:latin typeface="Segoe UI" pitchFamily="34" charset="0"/>
                <a:ea typeface="Segoe UI" pitchFamily="34" charset="-122"/>
                <a:cs typeface="Segoe UI" pitchFamily="34" charset="-120"/>
              </a:rPr>
              <a:t>Plant</a:t>
            </a:r>
            <a:endParaRPr lang="en-US" sz="1300" u="sng" dirty="0">
              <a:solidFill>
                <a:schemeClr val="accent6">
                  <a:lumMod val="50000"/>
                </a:schemeClr>
              </a:solidFill>
            </a:endParaRPr>
          </a:p>
        </p:txBody>
      </p:sp>
      <p:sp>
        <p:nvSpPr>
          <p:cNvPr id="15" name="Text 12"/>
          <p:cNvSpPr/>
          <p:nvPr/>
        </p:nvSpPr>
        <p:spPr>
          <a:xfrm>
            <a:off x="548640" y="1162430"/>
            <a:ext cx="3383280" cy="5421249"/>
          </a:xfrm>
          <a:prstGeom prst="rect">
            <a:avLst/>
          </a:prstGeom>
          <a:noFill/>
          <a:ln/>
        </p:spPr>
        <p:txBody>
          <a:bodyPr wrap="square" rtlCol="0" anchor="t"/>
          <a:lstStyle/>
          <a:p>
            <a:endParaRPr lang="en-US" sz="1050" b="1" noProof="0" dirty="0"/>
          </a:p>
          <a:p>
            <a:endParaRPr lang="en-US" sz="1200" b="1" dirty="0"/>
          </a:p>
          <a:p>
            <a:r>
              <a:rPr lang="en-US" sz="1200" b="1" noProof="0" dirty="0"/>
              <a:t>Housing Arrangements (Zamba):</a:t>
            </a:r>
            <a:br>
              <a:rPr lang="en-US" sz="1200" noProof="0" dirty="0"/>
            </a:br>
            <a:r>
              <a:rPr lang="en-US" sz="1200" noProof="0" dirty="0"/>
              <a:t>Proposed housing arrangements submitted for validation.</a:t>
            </a:r>
          </a:p>
          <a:p>
            <a:endParaRPr lang="en-US" sz="1200" b="1" noProof="0" dirty="0"/>
          </a:p>
          <a:p>
            <a:r>
              <a:rPr lang="en-US" sz="1200" b="1" noProof="0" dirty="0"/>
              <a:t>Health — Chickenpox (Zamba):</a:t>
            </a:r>
            <a:br>
              <a:rPr lang="en-US" sz="1200" noProof="0" dirty="0"/>
            </a:br>
            <a:r>
              <a:rPr lang="en-US" sz="1200" noProof="0" dirty="0"/>
              <a:t>Two cases of chickenpox were recorded among employees (Nemwandjare Pero and Hevey SABI) </a:t>
            </a:r>
          </a:p>
          <a:p>
            <a:pPr algn="just"/>
            <a:r>
              <a:rPr lang="en-US" sz="1200" noProof="0" dirty="0"/>
              <a:t>The employees were transferred to Kinshasa, received medical care and treatment, and were declared fully recovered and </a:t>
            </a:r>
            <a:r>
              <a:rPr lang="en-US" sz="1200" b="1" noProof="0" dirty="0"/>
              <a:t>no more </a:t>
            </a:r>
            <a:r>
              <a:rPr lang="en-US" sz="1200" b="1" noProof="0" dirty="0" err="1"/>
              <a:t>cas</a:t>
            </a:r>
            <a:r>
              <a:rPr lang="en-US" sz="1200" b="1" dirty="0"/>
              <a:t>e recorded since</a:t>
            </a:r>
            <a:r>
              <a:rPr lang="en-US" sz="1200" noProof="0" dirty="0"/>
              <a:t>.</a:t>
            </a:r>
          </a:p>
          <a:p>
            <a:endParaRPr lang="en-US" sz="1200" b="1" noProof="0" dirty="0"/>
          </a:p>
          <a:p>
            <a:r>
              <a:rPr lang="en-US" sz="1200" b="1" dirty="0"/>
              <a:t>Performance Bonus:</a:t>
            </a:r>
            <a:br>
              <a:rPr lang="en-US" sz="1200" dirty="0"/>
            </a:br>
            <a:r>
              <a:rPr lang="en-US" sz="1200" dirty="0"/>
              <a:t>Bonus paid on Friday, August 7 — very well received; satisfaction and motivation strengthened across the sites.</a:t>
            </a:r>
          </a:p>
          <a:p>
            <a:endParaRPr lang="en-US" sz="1200" b="1" dirty="0"/>
          </a:p>
          <a:p>
            <a:r>
              <a:rPr lang="en-US" sz="1200" b="1" dirty="0"/>
              <a:t>Family Day 2026:</a:t>
            </a:r>
          </a:p>
          <a:p>
            <a:pPr algn="just"/>
            <a:r>
              <a:rPr lang="en-US" sz="1200" dirty="0"/>
              <a:t>Held on August 22 in Zamba. School kits were distributed to all employees’ children. At the PM’s initiative, permanent contractors also benefited, in recognition of their contribution to PPC Barnet’s productivity.</a:t>
            </a:r>
          </a:p>
          <a:p>
            <a:br>
              <a:rPr lang="en-US" sz="1200" b="1" noProof="0" dirty="0"/>
            </a:br>
            <a:r>
              <a:rPr lang="en-US" sz="1200" b="1" dirty="0"/>
              <a:t>Recruitment:</a:t>
            </a:r>
            <a:br>
              <a:rPr lang="en-US" sz="1200" dirty="0"/>
            </a:br>
            <a:r>
              <a:rPr lang="en-US" sz="1200" dirty="0"/>
              <a:t>One effective new hire, the Lab Analyst Plant.</a:t>
            </a:r>
            <a:br>
              <a:rPr lang="en-US" sz="1050" dirty="0"/>
            </a:br>
            <a:endParaRPr lang="en-US" sz="1050" b="1" noProof="0" dirty="0"/>
          </a:p>
        </p:txBody>
      </p:sp>
      <p:sp>
        <p:nvSpPr>
          <p:cNvPr id="16" name="Shape 13"/>
          <p:cNvSpPr/>
          <p:nvPr/>
        </p:nvSpPr>
        <p:spPr>
          <a:xfrm>
            <a:off x="4251960" y="686942"/>
            <a:ext cx="3749040" cy="6088761"/>
          </a:xfrm>
          <a:prstGeom prst="roundRect">
            <a:avLst>
              <a:gd name="adj" fmla="val 1951"/>
            </a:avLst>
          </a:prstGeom>
          <a:solidFill>
            <a:srgbClr val="FFFFFF"/>
          </a:solidFill>
          <a:ln w="12700">
            <a:solidFill>
              <a:srgbClr val="E0E0E6"/>
            </a:solidFill>
            <a:prstDash val="solid"/>
          </a:ln>
          <a:effectLst>
            <a:outerShdw blurRad="76200" dist="12700" dir="16200000" algn="bl" rotWithShape="0">
              <a:srgbClr val="000000">
                <a:alpha val="6000"/>
              </a:srgbClr>
            </a:outerShdw>
          </a:effectLst>
        </p:spPr>
        <p:txBody>
          <a:bodyPr/>
          <a:lstStyle/>
          <a:p>
            <a:endParaRPr lang="fr-FR" dirty="0"/>
          </a:p>
          <a:p>
            <a:endParaRPr lang="fr-FR" dirty="0"/>
          </a:p>
          <a:p>
            <a:endParaRPr lang="fr-FR" sz="1200" dirty="0"/>
          </a:p>
          <a:p>
            <a:r>
              <a:rPr lang="en-US" sz="1200" b="1" dirty="0"/>
              <a:t>Recruitment:</a:t>
            </a:r>
            <a:br>
              <a:rPr lang="en-US" sz="1200" dirty="0"/>
            </a:br>
            <a:r>
              <a:rPr lang="en-US" sz="1200" dirty="0"/>
              <a:t>Three effective new hires (CRO ×2, Marketing Officer). Pipeline remains open for several positions; </a:t>
            </a:r>
          </a:p>
          <a:p>
            <a:endParaRPr lang="en-US" sz="1200" dirty="0"/>
          </a:p>
          <a:p>
            <a:r>
              <a:rPr lang="en-US" sz="1200" b="1" dirty="0"/>
              <a:t>MD Services:</a:t>
            </a:r>
            <a:br>
              <a:rPr lang="en-US" sz="1200" dirty="0"/>
            </a:br>
            <a:r>
              <a:rPr lang="en-US" sz="1200" dirty="0"/>
              <a:t>Final adjustments and completion of the transition/handover process.</a:t>
            </a:r>
          </a:p>
          <a:p>
            <a:endParaRPr lang="en-US" sz="1200" b="1" dirty="0"/>
          </a:p>
          <a:p>
            <a:r>
              <a:rPr lang="en-US" sz="1200" b="1" dirty="0"/>
              <a:t>Capital HR:</a:t>
            </a:r>
            <a:br>
              <a:rPr lang="en-US" sz="1200" dirty="0"/>
            </a:br>
            <a:r>
              <a:rPr lang="en-US" sz="1200" dirty="0"/>
              <a:t>Taking over Capital HR — deployment and adoption by the HR team.</a:t>
            </a:r>
          </a:p>
          <a:p>
            <a:endParaRPr lang="en-US" sz="1050" dirty="0"/>
          </a:p>
          <a:p>
            <a:endParaRPr lang="fr-FR" dirty="0"/>
          </a:p>
        </p:txBody>
      </p:sp>
      <p:sp>
        <p:nvSpPr>
          <p:cNvPr id="17" name="Shape 14"/>
          <p:cNvSpPr/>
          <p:nvPr/>
        </p:nvSpPr>
        <p:spPr>
          <a:xfrm>
            <a:off x="4416552" y="833247"/>
            <a:ext cx="347472" cy="347472"/>
          </a:xfrm>
          <a:prstGeom prst="ellipse">
            <a:avLst/>
          </a:prstGeom>
          <a:solidFill>
            <a:schemeClr val="accent6">
              <a:lumMod val="50000"/>
            </a:schemeClr>
          </a:solidFill>
          <a:ln w="12700">
            <a:noFill/>
            <a:prstDash val="solid"/>
          </a:ln>
        </p:spPr>
        <p:txBody>
          <a:bodyPr/>
          <a:lstStyle/>
          <a:p>
            <a:endParaRPr lang="fr-FR"/>
          </a:p>
        </p:txBody>
      </p:sp>
      <p:sp>
        <p:nvSpPr>
          <p:cNvPr id="18" name="Text 15"/>
          <p:cNvSpPr/>
          <p:nvPr/>
        </p:nvSpPr>
        <p:spPr>
          <a:xfrm>
            <a:off x="4416552" y="833247"/>
            <a:ext cx="347472" cy="34747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H</a:t>
            </a:r>
            <a:endParaRPr lang="en-US" sz="1100" dirty="0"/>
          </a:p>
        </p:txBody>
      </p:sp>
      <p:sp>
        <p:nvSpPr>
          <p:cNvPr id="19" name="Text 16"/>
          <p:cNvSpPr/>
          <p:nvPr/>
        </p:nvSpPr>
        <p:spPr>
          <a:xfrm>
            <a:off x="4828032" y="888110"/>
            <a:ext cx="2926080" cy="256032"/>
          </a:xfrm>
          <a:prstGeom prst="rect">
            <a:avLst/>
          </a:prstGeom>
          <a:noFill/>
          <a:ln/>
        </p:spPr>
        <p:txBody>
          <a:bodyPr wrap="square" rtlCol="0" anchor="ctr"/>
          <a:lstStyle/>
          <a:p>
            <a:pPr marL="0" indent="0">
              <a:buNone/>
            </a:pPr>
            <a:r>
              <a:rPr lang="en-US" sz="1300" b="1" u="sng" dirty="0">
                <a:solidFill>
                  <a:schemeClr val="accent6">
                    <a:lumMod val="50000"/>
                  </a:schemeClr>
                </a:solidFill>
                <a:latin typeface="Segoe UI" pitchFamily="34" charset="0"/>
                <a:ea typeface="Segoe UI" pitchFamily="34" charset="-122"/>
                <a:cs typeface="Segoe UI" pitchFamily="34" charset="-120"/>
              </a:rPr>
              <a:t>HQ</a:t>
            </a:r>
            <a:endParaRPr lang="en-US" sz="1300" u="sng" dirty="0">
              <a:solidFill>
                <a:schemeClr val="accent6">
                  <a:lumMod val="50000"/>
                </a:schemeClr>
              </a:solidFill>
            </a:endParaRPr>
          </a:p>
        </p:txBody>
      </p:sp>
      <p:sp>
        <p:nvSpPr>
          <p:cNvPr id="20" name="Text 17"/>
          <p:cNvSpPr/>
          <p:nvPr/>
        </p:nvSpPr>
        <p:spPr>
          <a:xfrm>
            <a:off x="4434840" y="1162430"/>
            <a:ext cx="3383280" cy="5530977"/>
          </a:xfrm>
          <a:prstGeom prst="rect">
            <a:avLst/>
          </a:prstGeom>
          <a:noFill/>
          <a:ln/>
        </p:spPr>
        <p:txBody>
          <a:bodyPr wrap="square" rtlCol="0" anchor="t"/>
          <a:lstStyle/>
          <a:p>
            <a:endParaRPr lang="en-US" sz="900" noProof="0" dirty="0"/>
          </a:p>
        </p:txBody>
      </p:sp>
      <p:sp>
        <p:nvSpPr>
          <p:cNvPr id="21" name="Shape 18"/>
          <p:cNvSpPr/>
          <p:nvPr/>
        </p:nvSpPr>
        <p:spPr>
          <a:xfrm>
            <a:off x="8138160" y="686943"/>
            <a:ext cx="3657600" cy="6088760"/>
          </a:xfrm>
          <a:prstGeom prst="roundRect">
            <a:avLst>
              <a:gd name="adj" fmla="val 2000"/>
            </a:avLst>
          </a:prstGeom>
          <a:solidFill>
            <a:srgbClr val="FFFFFF"/>
          </a:solidFill>
          <a:ln w="12700">
            <a:solidFill>
              <a:srgbClr val="E0E0E6"/>
            </a:solidFill>
            <a:prstDash val="solid"/>
          </a:ln>
          <a:effectLst>
            <a:outerShdw blurRad="76200" dist="12700" dir="16200000" algn="bl" rotWithShape="0">
              <a:srgbClr val="000000">
                <a:alpha val="6000"/>
              </a:srgbClr>
            </a:outerShdw>
          </a:effectLst>
        </p:spPr>
        <p:txBody>
          <a:bodyPr/>
          <a:lstStyle/>
          <a:p>
            <a:endParaRPr lang="fr-FR" sz="1200" dirty="0"/>
          </a:p>
          <a:p>
            <a:endParaRPr lang="fr-FR" sz="1200" dirty="0"/>
          </a:p>
          <a:p>
            <a:endParaRPr lang="fr-FR" sz="1200" dirty="0"/>
          </a:p>
          <a:p>
            <a:endParaRPr lang="fr-FR" sz="800" dirty="0"/>
          </a:p>
          <a:p>
            <a:r>
              <a:rPr lang="fr-FR" sz="1200" b="1" u="sng" dirty="0"/>
              <a:t>Petit Monastère</a:t>
            </a:r>
            <a:endParaRPr lang="fr-FR" sz="1200" u="sng" dirty="0"/>
          </a:p>
          <a:p>
            <a:pPr lvl="0"/>
            <a:endParaRPr lang="fr-FR" sz="200" b="1" dirty="0"/>
          </a:p>
          <a:p>
            <a:pPr lvl="0" algn="just"/>
            <a:r>
              <a:rPr lang="fr-FR" sz="1200" b="1" dirty="0"/>
              <a:t>Room statut:</a:t>
            </a:r>
            <a:r>
              <a:rPr lang="fr-FR" sz="1200" dirty="0"/>
              <a:t> 80% of the </a:t>
            </a:r>
            <a:r>
              <a:rPr lang="fr-FR" sz="1200" dirty="0" err="1"/>
              <a:t>rooms</a:t>
            </a:r>
            <a:r>
              <a:rPr lang="fr-FR" sz="1200" dirty="0"/>
              <a:t> are </a:t>
            </a:r>
            <a:r>
              <a:rPr lang="fr-FR" sz="1200" dirty="0" err="1"/>
              <a:t>already</a:t>
            </a:r>
            <a:r>
              <a:rPr lang="fr-FR" sz="1200" dirty="0"/>
              <a:t> </a:t>
            </a:r>
            <a:r>
              <a:rPr lang="fr-FR" sz="1200" dirty="0" err="1"/>
              <a:t>available</a:t>
            </a:r>
            <a:r>
              <a:rPr lang="fr-FR" sz="1200" dirty="0"/>
              <a:t>, </a:t>
            </a:r>
            <a:r>
              <a:rPr lang="fr-FR" sz="1200" dirty="0" err="1"/>
              <a:t>representing</a:t>
            </a:r>
            <a:r>
              <a:rPr lang="fr-FR" sz="1200" dirty="0"/>
              <a:t> </a:t>
            </a:r>
            <a:r>
              <a:rPr lang="fr-FR" sz="1200" b="1" dirty="0"/>
              <a:t>12 out of 14 </a:t>
            </a:r>
            <a:r>
              <a:rPr lang="fr-FR" sz="1200" b="1" dirty="0" err="1"/>
              <a:t>rooms</a:t>
            </a:r>
            <a:r>
              <a:rPr lang="fr-FR" sz="1200" dirty="0"/>
              <a:t>. </a:t>
            </a:r>
          </a:p>
          <a:p>
            <a:pPr lvl="0" algn="just"/>
            <a:endParaRPr lang="fr-FR" sz="1200" b="1" dirty="0"/>
          </a:p>
          <a:p>
            <a:pPr lvl="0" algn="just"/>
            <a:r>
              <a:rPr lang="fr-FR" sz="1200" b="1" dirty="0"/>
              <a:t>Solar Power:</a:t>
            </a:r>
            <a:r>
              <a:rPr lang="fr-FR" sz="1200" dirty="0"/>
              <a:t> Installation of </a:t>
            </a:r>
            <a:r>
              <a:rPr lang="fr-FR" sz="1200" dirty="0" err="1"/>
              <a:t>solar</a:t>
            </a:r>
            <a:r>
              <a:rPr lang="fr-FR" sz="1200" dirty="0"/>
              <a:t> panels </a:t>
            </a:r>
            <a:r>
              <a:rPr lang="fr-FR" sz="1200" dirty="0" err="1"/>
              <a:t>is</a:t>
            </a:r>
            <a:r>
              <a:rPr lang="fr-FR" sz="1200" dirty="0"/>
              <a:t> </a:t>
            </a:r>
            <a:r>
              <a:rPr lang="fr-FR" sz="1200" dirty="0" err="1"/>
              <a:t>ongoing</a:t>
            </a:r>
            <a:r>
              <a:rPr lang="fr-FR" sz="1200" dirty="0"/>
              <a:t>, </a:t>
            </a:r>
            <a:r>
              <a:rPr lang="fr-FR" sz="1200" dirty="0" err="1"/>
              <a:t>ensuring</a:t>
            </a:r>
            <a:r>
              <a:rPr lang="fr-FR" sz="1200" dirty="0"/>
              <a:t> </a:t>
            </a:r>
            <a:r>
              <a:rPr lang="fr-FR" sz="1200" dirty="0" err="1"/>
              <a:t>continuous</a:t>
            </a:r>
            <a:r>
              <a:rPr lang="fr-FR" sz="1200" dirty="0"/>
              <a:t> power </a:t>
            </a:r>
            <a:r>
              <a:rPr lang="fr-FR" sz="1200" dirty="0" err="1"/>
              <a:t>supply</a:t>
            </a:r>
            <a:r>
              <a:rPr lang="fr-FR" sz="1200" dirty="0"/>
              <a:t> </a:t>
            </a:r>
            <a:r>
              <a:rPr lang="fr-FR" sz="1200" dirty="0" err="1"/>
              <a:t>with</a:t>
            </a:r>
            <a:r>
              <a:rPr lang="fr-FR" sz="1200" dirty="0"/>
              <a:t> no interruptions or </a:t>
            </a:r>
            <a:r>
              <a:rPr lang="fr-FR" sz="1200" dirty="0" err="1"/>
              <a:t>outages</a:t>
            </a:r>
            <a:r>
              <a:rPr lang="fr-FR" sz="1200" dirty="0"/>
              <a:t>. </a:t>
            </a:r>
          </a:p>
          <a:p>
            <a:pPr lvl="0" algn="just"/>
            <a:r>
              <a:rPr lang="fr-FR" sz="1200" dirty="0"/>
              <a:t> </a:t>
            </a:r>
          </a:p>
          <a:p>
            <a:pPr algn="just"/>
            <a:r>
              <a:rPr lang="en-US" sz="1200" b="1" dirty="0"/>
              <a:t>Borehole: </a:t>
            </a:r>
            <a:r>
              <a:rPr lang="en-US" sz="1200" dirty="0"/>
              <a:t>works currently 90% completed. </a:t>
            </a:r>
          </a:p>
          <a:p>
            <a:pPr lvl="0" algn="just"/>
            <a:endParaRPr lang="fr-FR" sz="1200" dirty="0"/>
          </a:p>
          <a:p>
            <a:pPr lvl="0" algn="just"/>
            <a:r>
              <a:rPr lang="fr-FR" sz="1200" b="1" dirty="0"/>
              <a:t>Internet:</a:t>
            </a:r>
            <a:r>
              <a:rPr lang="fr-FR" sz="1200" dirty="0"/>
              <a:t> Internet </a:t>
            </a:r>
            <a:r>
              <a:rPr lang="fr-FR" sz="1200" dirty="0" err="1"/>
              <a:t>coverage</a:t>
            </a:r>
            <a:r>
              <a:rPr lang="fr-FR" sz="1200" dirty="0"/>
              <a:t> </a:t>
            </a:r>
            <a:r>
              <a:rPr lang="fr-FR" sz="1200" dirty="0" err="1"/>
              <a:t>is</a:t>
            </a:r>
            <a:r>
              <a:rPr lang="fr-FR" sz="1200" dirty="0"/>
              <a:t> </a:t>
            </a:r>
            <a:r>
              <a:rPr lang="fr-FR" sz="1200" dirty="0" err="1"/>
              <a:t>currently</a:t>
            </a:r>
            <a:r>
              <a:rPr lang="fr-FR" sz="1200" dirty="0"/>
              <a:t> at </a:t>
            </a:r>
            <a:r>
              <a:rPr lang="fr-FR" sz="1200" b="1" dirty="0"/>
              <a:t>70% </a:t>
            </a:r>
            <a:r>
              <a:rPr lang="fr-FR" sz="1200" b="1" dirty="0" err="1"/>
              <a:t>through</a:t>
            </a:r>
            <a:r>
              <a:rPr lang="fr-FR" sz="1200" b="1" dirty="0"/>
              <a:t> Starlink</a:t>
            </a:r>
            <a:r>
              <a:rPr lang="fr-FR" sz="1200" dirty="0"/>
              <a:t>. </a:t>
            </a:r>
            <a:r>
              <a:rPr lang="fr-FR" sz="1200" dirty="0" err="1"/>
              <a:t>Additional</a:t>
            </a:r>
            <a:r>
              <a:rPr lang="fr-FR" sz="1200" dirty="0"/>
              <a:t> </a:t>
            </a:r>
            <a:r>
              <a:rPr lang="fr-FR" sz="1200" dirty="0" err="1"/>
              <a:t>access</a:t>
            </a:r>
            <a:r>
              <a:rPr lang="fr-FR" sz="1200" dirty="0"/>
              <a:t> points are </a:t>
            </a:r>
            <a:r>
              <a:rPr lang="fr-FR" sz="1200" dirty="0" err="1"/>
              <a:t>still</a:t>
            </a:r>
            <a:r>
              <a:rPr lang="fr-FR" sz="1200" dirty="0"/>
              <a:t> </a:t>
            </a:r>
            <a:r>
              <a:rPr lang="fr-FR" sz="1200" dirty="0" err="1"/>
              <a:t>required</a:t>
            </a:r>
            <a:r>
              <a:rPr lang="fr-FR" sz="1200" dirty="0"/>
              <a:t> to </a:t>
            </a:r>
            <a:r>
              <a:rPr lang="fr-FR" sz="1200" dirty="0" err="1"/>
              <a:t>extend</a:t>
            </a:r>
            <a:r>
              <a:rPr lang="fr-FR" sz="1200" dirty="0"/>
              <a:t> </a:t>
            </a:r>
            <a:r>
              <a:rPr lang="fr-FR" sz="1200" dirty="0" err="1"/>
              <a:t>coverage</a:t>
            </a:r>
            <a:r>
              <a:rPr lang="fr-FR" sz="1200" dirty="0"/>
              <a:t> to certain areas.</a:t>
            </a:r>
          </a:p>
        </p:txBody>
      </p:sp>
      <p:sp>
        <p:nvSpPr>
          <p:cNvPr id="22" name="Shape 19"/>
          <p:cNvSpPr/>
          <p:nvPr/>
        </p:nvSpPr>
        <p:spPr>
          <a:xfrm>
            <a:off x="8302752" y="833247"/>
            <a:ext cx="347472" cy="347472"/>
          </a:xfrm>
          <a:prstGeom prst="ellipse">
            <a:avLst/>
          </a:prstGeom>
          <a:solidFill>
            <a:schemeClr val="accent6">
              <a:lumMod val="50000"/>
            </a:schemeClr>
          </a:solidFill>
          <a:ln w="12700">
            <a:noFill/>
            <a:prstDash val="solid"/>
          </a:ln>
        </p:spPr>
        <p:txBody>
          <a:bodyPr/>
          <a:lstStyle/>
          <a:p>
            <a:endParaRPr lang="fr-FR"/>
          </a:p>
        </p:txBody>
      </p:sp>
      <p:sp>
        <p:nvSpPr>
          <p:cNvPr id="23" name="Text 20"/>
          <p:cNvSpPr/>
          <p:nvPr/>
        </p:nvSpPr>
        <p:spPr>
          <a:xfrm>
            <a:off x="8302752" y="833247"/>
            <a:ext cx="347472" cy="34747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R</a:t>
            </a:r>
            <a:endParaRPr lang="en-US" sz="1100" dirty="0"/>
          </a:p>
        </p:txBody>
      </p:sp>
      <p:sp>
        <p:nvSpPr>
          <p:cNvPr id="24" name="Text 21"/>
          <p:cNvSpPr/>
          <p:nvPr/>
        </p:nvSpPr>
        <p:spPr>
          <a:xfrm>
            <a:off x="8714232" y="890777"/>
            <a:ext cx="2834640" cy="256032"/>
          </a:xfrm>
          <a:prstGeom prst="rect">
            <a:avLst/>
          </a:prstGeom>
          <a:noFill/>
          <a:ln/>
        </p:spPr>
        <p:txBody>
          <a:bodyPr wrap="square" rtlCol="0" anchor="ctr"/>
          <a:lstStyle/>
          <a:p>
            <a:pPr marL="0" indent="0">
              <a:buNone/>
            </a:pPr>
            <a:r>
              <a:rPr lang="en-US" sz="1300" b="1" u="sng" dirty="0">
                <a:solidFill>
                  <a:schemeClr val="accent6">
                    <a:lumMod val="50000"/>
                  </a:schemeClr>
                </a:solidFill>
                <a:latin typeface="Segoe UI" pitchFamily="34" charset="0"/>
                <a:ea typeface="Segoe UI" pitchFamily="34" charset="-122"/>
                <a:cs typeface="Segoe UI" pitchFamily="34" charset="-120"/>
              </a:rPr>
              <a:t>Regions</a:t>
            </a:r>
            <a:endParaRPr lang="en-US" sz="1300" u="sng" dirty="0">
              <a:solidFill>
                <a:schemeClr val="accent6">
                  <a:lumMod val="50000"/>
                </a:schemeClr>
              </a:solidFill>
            </a:endParaRPr>
          </a:p>
        </p:txBody>
      </p:sp>
      <p:sp>
        <p:nvSpPr>
          <p:cNvPr id="25" name="Text 22"/>
          <p:cNvSpPr/>
          <p:nvPr/>
        </p:nvSpPr>
        <p:spPr>
          <a:xfrm>
            <a:off x="8321040" y="1162431"/>
            <a:ext cx="3291840" cy="5530976"/>
          </a:xfrm>
          <a:prstGeom prst="rect">
            <a:avLst/>
          </a:prstGeom>
          <a:noFill/>
          <a:ln/>
        </p:spPr>
        <p:txBody>
          <a:bodyPr wrap="square" rtlCol="0" anchor="t"/>
          <a:lstStyle/>
          <a:p>
            <a:endParaRPr lang="en-US" sz="105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E8EC"/>
        </a:solidFill>
        <a:effectLst/>
      </p:bgPr>
    </p:bg>
    <p:spTree>
      <p:nvGrpSpPr>
        <p:cNvPr id="1" name="">
          <a:extLst>
            <a:ext uri="{FF2B5EF4-FFF2-40B4-BE49-F238E27FC236}">
              <a16:creationId xmlns:a16="http://schemas.microsoft.com/office/drawing/2014/main" id="{9C56B5C5-5D75-27C5-3C7F-C891728B8AF4}"/>
            </a:ext>
          </a:extLst>
        </p:cNvPr>
        <p:cNvGrpSpPr/>
        <p:nvPr/>
      </p:nvGrpSpPr>
      <p:grpSpPr>
        <a:xfrm>
          <a:off x="0" y="0"/>
          <a:ext cx="0" cy="0"/>
          <a:chOff x="0" y="0"/>
          <a:chExt cx="0" cy="0"/>
        </a:xfrm>
      </p:grpSpPr>
      <p:pic>
        <p:nvPicPr>
          <p:cNvPr id="2" name="Image 0" descr="D:\Apps\hr-rh-app\templates\exco\cover-assets\slide-fade.jpg">
            <a:extLst>
              <a:ext uri="{FF2B5EF4-FFF2-40B4-BE49-F238E27FC236}">
                <a16:creationId xmlns:a16="http://schemas.microsoft.com/office/drawing/2014/main" id="{B32DE177-E3AC-3F49-5F31-0359DE589D71}"/>
              </a:ext>
            </a:extLst>
          </p:cNvPr>
          <p:cNvPicPr>
            <a:picLocks noChangeAspect="1"/>
          </p:cNvPicPr>
          <p:nvPr/>
        </p:nvPicPr>
        <p:blipFill>
          <a:blip r:embed="rId3"/>
          <a:srcRect/>
          <a:stretch/>
        </p:blipFill>
        <p:spPr>
          <a:xfrm>
            <a:off x="0" y="0"/>
            <a:ext cx="12191695" cy="6858000"/>
          </a:xfrm>
          <a:prstGeom prst="rect">
            <a:avLst/>
          </a:prstGeom>
        </p:spPr>
      </p:pic>
      <p:sp>
        <p:nvSpPr>
          <p:cNvPr id="3" name="Shape 0">
            <a:extLst>
              <a:ext uri="{FF2B5EF4-FFF2-40B4-BE49-F238E27FC236}">
                <a16:creationId xmlns:a16="http://schemas.microsoft.com/office/drawing/2014/main" id="{B59FE629-1C16-EB90-5BCC-3C7115948880}"/>
              </a:ext>
            </a:extLst>
          </p:cNvPr>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4" name="Shape 1">
            <a:extLst>
              <a:ext uri="{FF2B5EF4-FFF2-40B4-BE49-F238E27FC236}">
                <a16:creationId xmlns:a16="http://schemas.microsoft.com/office/drawing/2014/main" id="{BFC1129E-3782-8D6B-8B93-AFFAB01F9E3A}"/>
              </a:ext>
            </a:extLst>
          </p:cNvPr>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Shape 2">
            <a:extLst>
              <a:ext uri="{FF2B5EF4-FFF2-40B4-BE49-F238E27FC236}">
                <a16:creationId xmlns:a16="http://schemas.microsoft.com/office/drawing/2014/main" id="{B8B2FCDE-14BE-E8EB-AFAE-65A0B9740FA2}"/>
              </a:ext>
            </a:extLst>
          </p:cNvPr>
          <p:cNvSpPr/>
          <p:nvPr/>
        </p:nvSpPr>
        <p:spPr>
          <a:xfrm>
            <a:off x="292608" y="146304"/>
            <a:ext cx="365760" cy="365760"/>
          </a:xfrm>
          <a:prstGeom prst="roundRect">
            <a:avLst>
              <a:gd name="adj" fmla="val 15000"/>
            </a:avLst>
          </a:prstGeom>
          <a:solidFill>
            <a:srgbClr val="E30613"/>
          </a:solidFill>
          <a:ln w="12700">
            <a:solidFill>
              <a:srgbClr val="E30613"/>
            </a:solidFill>
            <a:prstDash val="solid"/>
          </a:ln>
        </p:spPr>
        <p:txBody>
          <a:bodyPr/>
          <a:lstStyle/>
          <a:p>
            <a:endParaRPr lang="fr-FR"/>
          </a:p>
        </p:txBody>
      </p:sp>
      <p:sp>
        <p:nvSpPr>
          <p:cNvPr id="6" name="Text 3">
            <a:extLst>
              <a:ext uri="{FF2B5EF4-FFF2-40B4-BE49-F238E27FC236}">
                <a16:creationId xmlns:a16="http://schemas.microsoft.com/office/drawing/2014/main" id="{C5EFE704-F895-A873-ADEA-B79FC87542E3}"/>
              </a:ext>
            </a:extLst>
          </p:cNvPr>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01</a:t>
            </a:r>
            <a:endParaRPr lang="en-US" sz="1200" dirty="0"/>
          </a:p>
        </p:txBody>
      </p:sp>
      <p:sp>
        <p:nvSpPr>
          <p:cNvPr id="7" name="Text 4">
            <a:extLst>
              <a:ext uri="{FF2B5EF4-FFF2-40B4-BE49-F238E27FC236}">
                <a16:creationId xmlns:a16="http://schemas.microsoft.com/office/drawing/2014/main" id="{22D4822D-0AD1-09F9-4A10-96E5C4C2205F}"/>
              </a:ext>
            </a:extLst>
          </p:cNvPr>
          <p:cNvSpPr/>
          <p:nvPr/>
        </p:nvSpPr>
        <p:spPr>
          <a:xfrm>
            <a:off x="804672" y="128016"/>
            <a:ext cx="4572000" cy="146304"/>
          </a:xfrm>
          <a:prstGeom prst="rect">
            <a:avLst/>
          </a:prstGeom>
          <a:noFill/>
          <a:ln/>
        </p:spPr>
        <p:txBody>
          <a:bodyPr wrap="square" rtlCol="0" anchor="ctr"/>
          <a:lstStyle/>
          <a:p>
            <a:pPr marL="0" indent="0">
              <a:buNone/>
            </a:pPr>
            <a:r>
              <a:rPr lang="en-US" sz="900" b="1" dirty="0">
                <a:solidFill>
                  <a:srgbClr val="E30613"/>
                </a:solidFill>
                <a:latin typeface="Segoe UI" pitchFamily="34" charset="0"/>
                <a:ea typeface="Segoe UI" pitchFamily="34" charset="-122"/>
                <a:cs typeface="Segoe UI" pitchFamily="34" charset="-120"/>
              </a:rPr>
              <a:t>PPC · HR EXCO</a:t>
            </a:r>
            <a:endParaRPr lang="en-US" sz="900" dirty="0"/>
          </a:p>
        </p:txBody>
      </p:sp>
      <p:sp>
        <p:nvSpPr>
          <p:cNvPr id="8" name="Text 5">
            <a:extLst>
              <a:ext uri="{FF2B5EF4-FFF2-40B4-BE49-F238E27FC236}">
                <a16:creationId xmlns:a16="http://schemas.microsoft.com/office/drawing/2014/main" id="{FD418B25-8958-1B6D-2A98-047D1AED4AEE}"/>
              </a:ext>
            </a:extLst>
          </p:cNvPr>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Lowlight</a:t>
            </a:r>
            <a:endParaRPr lang="en-US" sz="1800" dirty="0"/>
          </a:p>
        </p:txBody>
      </p:sp>
      <p:sp>
        <p:nvSpPr>
          <p:cNvPr id="9" name="Text 6">
            <a:extLst>
              <a:ext uri="{FF2B5EF4-FFF2-40B4-BE49-F238E27FC236}">
                <a16:creationId xmlns:a16="http://schemas.microsoft.com/office/drawing/2014/main" id="{E7B7CCE9-0172-C5F2-4E81-8DA9A10F7127}"/>
              </a:ext>
            </a:extLst>
          </p:cNvPr>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10" name="Shape 7">
            <a:extLst>
              <a:ext uri="{FF2B5EF4-FFF2-40B4-BE49-F238E27FC236}">
                <a16:creationId xmlns:a16="http://schemas.microsoft.com/office/drawing/2014/main" id="{91D2B6A9-C872-E9B9-46A9-547D4F917292}"/>
              </a:ext>
            </a:extLst>
          </p:cNvPr>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11" name="Shape 8">
            <a:extLst>
              <a:ext uri="{FF2B5EF4-FFF2-40B4-BE49-F238E27FC236}">
                <a16:creationId xmlns:a16="http://schemas.microsoft.com/office/drawing/2014/main" id="{B58B1354-F76C-BE83-E6E0-080BDE990116}"/>
              </a:ext>
            </a:extLst>
          </p:cNvPr>
          <p:cNvSpPr/>
          <p:nvPr/>
        </p:nvSpPr>
        <p:spPr>
          <a:xfrm>
            <a:off x="365760" y="686942"/>
            <a:ext cx="3749040" cy="6043041"/>
          </a:xfrm>
          <a:prstGeom prst="roundRect">
            <a:avLst>
              <a:gd name="adj" fmla="val 1951"/>
            </a:avLst>
          </a:prstGeom>
          <a:solidFill>
            <a:srgbClr val="FFFFFF"/>
          </a:solidFill>
          <a:ln w="12700">
            <a:solidFill>
              <a:srgbClr val="E0E0E6"/>
            </a:solidFill>
            <a:prstDash val="solid"/>
          </a:ln>
          <a:effectLst>
            <a:outerShdw blurRad="76200" dist="12700" dir="16200000" algn="bl" rotWithShape="0">
              <a:srgbClr val="000000">
                <a:alpha val="6000"/>
              </a:srgbClr>
            </a:outerShdw>
          </a:effectLst>
        </p:spPr>
        <p:txBody>
          <a:bodyPr/>
          <a:lstStyle/>
          <a:p>
            <a:endParaRPr lang="fr-FR"/>
          </a:p>
        </p:txBody>
      </p:sp>
      <p:sp>
        <p:nvSpPr>
          <p:cNvPr id="12" name="Shape 9">
            <a:extLst>
              <a:ext uri="{FF2B5EF4-FFF2-40B4-BE49-F238E27FC236}">
                <a16:creationId xmlns:a16="http://schemas.microsoft.com/office/drawing/2014/main" id="{B17EEEE7-E4F0-1CA3-A0FB-DCC56D34C866}"/>
              </a:ext>
            </a:extLst>
          </p:cNvPr>
          <p:cNvSpPr/>
          <p:nvPr/>
        </p:nvSpPr>
        <p:spPr>
          <a:xfrm>
            <a:off x="530352" y="833247"/>
            <a:ext cx="347472" cy="347472"/>
          </a:xfrm>
          <a:prstGeom prst="ellipse">
            <a:avLst/>
          </a:prstGeom>
          <a:solidFill>
            <a:srgbClr val="E30613"/>
          </a:solidFill>
          <a:ln w="12700">
            <a:solidFill>
              <a:srgbClr val="E30613"/>
            </a:solidFill>
            <a:prstDash val="solid"/>
          </a:ln>
        </p:spPr>
        <p:txBody>
          <a:bodyPr/>
          <a:lstStyle/>
          <a:p>
            <a:endParaRPr lang="fr-FR"/>
          </a:p>
        </p:txBody>
      </p:sp>
      <p:sp>
        <p:nvSpPr>
          <p:cNvPr id="13" name="Text 10">
            <a:extLst>
              <a:ext uri="{FF2B5EF4-FFF2-40B4-BE49-F238E27FC236}">
                <a16:creationId xmlns:a16="http://schemas.microsoft.com/office/drawing/2014/main" id="{61FE14C1-754F-8905-592A-A3FD2A695699}"/>
              </a:ext>
            </a:extLst>
          </p:cNvPr>
          <p:cNvSpPr/>
          <p:nvPr/>
        </p:nvSpPr>
        <p:spPr>
          <a:xfrm>
            <a:off x="530352" y="833247"/>
            <a:ext cx="347472" cy="34747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P</a:t>
            </a:r>
            <a:endParaRPr lang="en-US" sz="1100" dirty="0"/>
          </a:p>
        </p:txBody>
      </p:sp>
      <p:sp>
        <p:nvSpPr>
          <p:cNvPr id="14" name="Text 11">
            <a:extLst>
              <a:ext uri="{FF2B5EF4-FFF2-40B4-BE49-F238E27FC236}">
                <a16:creationId xmlns:a16="http://schemas.microsoft.com/office/drawing/2014/main" id="{7E0A44A2-4625-2DD2-B845-C168DE5C893E}"/>
              </a:ext>
            </a:extLst>
          </p:cNvPr>
          <p:cNvSpPr/>
          <p:nvPr/>
        </p:nvSpPr>
        <p:spPr>
          <a:xfrm>
            <a:off x="929945" y="878967"/>
            <a:ext cx="2926080" cy="256032"/>
          </a:xfrm>
          <a:prstGeom prst="rect">
            <a:avLst/>
          </a:prstGeom>
          <a:noFill/>
          <a:ln/>
        </p:spPr>
        <p:txBody>
          <a:bodyPr wrap="square" rtlCol="0" anchor="ctr"/>
          <a:lstStyle/>
          <a:p>
            <a:pPr marL="0" indent="0">
              <a:buNone/>
            </a:pPr>
            <a:r>
              <a:rPr lang="en-US" sz="1300" b="1" dirty="0">
                <a:solidFill>
                  <a:srgbClr val="E30613"/>
                </a:solidFill>
                <a:latin typeface="Segoe UI" pitchFamily="34" charset="0"/>
                <a:ea typeface="Segoe UI" pitchFamily="34" charset="-122"/>
                <a:cs typeface="Segoe UI" pitchFamily="34" charset="-120"/>
              </a:rPr>
              <a:t>Plant</a:t>
            </a:r>
            <a:endParaRPr lang="en-US" sz="1300" dirty="0"/>
          </a:p>
        </p:txBody>
      </p:sp>
      <p:sp>
        <p:nvSpPr>
          <p:cNvPr id="15" name="Text 12">
            <a:extLst>
              <a:ext uri="{FF2B5EF4-FFF2-40B4-BE49-F238E27FC236}">
                <a16:creationId xmlns:a16="http://schemas.microsoft.com/office/drawing/2014/main" id="{0700EF31-D985-9400-D0D0-ABB286ED9810}"/>
              </a:ext>
            </a:extLst>
          </p:cNvPr>
          <p:cNvSpPr/>
          <p:nvPr/>
        </p:nvSpPr>
        <p:spPr>
          <a:xfrm>
            <a:off x="548640" y="1162431"/>
            <a:ext cx="3383280" cy="4727448"/>
          </a:xfrm>
          <a:prstGeom prst="rect">
            <a:avLst/>
          </a:prstGeom>
          <a:noFill/>
          <a:ln/>
        </p:spPr>
        <p:txBody>
          <a:bodyPr wrap="square" rtlCol="0" anchor="t"/>
          <a:lstStyle/>
          <a:p>
            <a:endParaRPr lang="en-US" sz="1050" b="1" dirty="0"/>
          </a:p>
          <a:p>
            <a:endParaRPr lang="en-US" sz="1200" b="1" dirty="0"/>
          </a:p>
          <a:p>
            <a:r>
              <a:rPr lang="en-US" sz="1200" b="1" dirty="0"/>
              <a:t>End of Contract:</a:t>
            </a:r>
            <a:br>
              <a:rPr lang="en-US" sz="1200" dirty="0"/>
            </a:br>
            <a:r>
              <a:rPr lang="en-US" sz="1200" dirty="0"/>
              <a:t>One fixed-term contract ended — </a:t>
            </a:r>
            <a:r>
              <a:rPr lang="en-US" sz="1200" b="1" dirty="0"/>
              <a:t>Alexandre Mata</a:t>
            </a:r>
            <a:r>
              <a:rPr lang="en-US" sz="1200" dirty="0"/>
              <a:t> (Lab Analyst). Exit effective at the end of August; HR/medical follow-up closed from a contractual perspective.</a:t>
            </a:r>
          </a:p>
          <a:p>
            <a:endParaRPr lang="en-US" sz="1050" b="1" noProof="0" dirty="0"/>
          </a:p>
        </p:txBody>
      </p:sp>
      <p:sp>
        <p:nvSpPr>
          <p:cNvPr id="16" name="Shape 13">
            <a:extLst>
              <a:ext uri="{FF2B5EF4-FFF2-40B4-BE49-F238E27FC236}">
                <a16:creationId xmlns:a16="http://schemas.microsoft.com/office/drawing/2014/main" id="{35B59320-EE1F-7FD4-BF88-4B41B9BE411C}"/>
              </a:ext>
            </a:extLst>
          </p:cNvPr>
          <p:cNvSpPr/>
          <p:nvPr/>
        </p:nvSpPr>
        <p:spPr>
          <a:xfrm>
            <a:off x="4251960" y="686942"/>
            <a:ext cx="3749040" cy="6088761"/>
          </a:xfrm>
          <a:prstGeom prst="roundRect">
            <a:avLst>
              <a:gd name="adj" fmla="val 1951"/>
            </a:avLst>
          </a:prstGeom>
          <a:solidFill>
            <a:srgbClr val="FFFFFF"/>
          </a:solidFill>
          <a:ln w="12700">
            <a:solidFill>
              <a:srgbClr val="E0E0E6"/>
            </a:solidFill>
            <a:prstDash val="solid"/>
          </a:ln>
          <a:effectLst>
            <a:outerShdw blurRad="76200" dist="12700" dir="16200000" algn="bl" rotWithShape="0">
              <a:srgbClr val="000000">
                <a:alpha val="6000"/>
              </a:srgbClr>
            </a:outerShdw>
          </a:effectLst>
        </p:spPr>
        <p:txBody>
          <a:bodyPr/>
          <a:lstStyle/>
          <a:p>
            <a:endParaRPr lang="fr-FR" dirty="0"/>
          </a:p>
          <a:p>
            <a:endParaRPr lang="fr-FR" dirty="0"/>
          </a:p>
          <a:p>
            <a:endParaRPr lang="fr-FR" sz="1200" dirty="0"/>
          </a:p>
          <a:p>
            <a:r>
              <a:rPr lang="en-US" sz="1200" b="1" u="sng" dirty="0"/>
              <a:t>Attrition rate increase( 0.6% </a:t>
            </a:r>
            <a:r>
              <a:rPr lang="en-US" sz="1200" b="1" u="sng" dirty="0" err="1"/>
              <a:t>july</a:t>
            </a:r>
            <a:r>
              <a:rPr lang="en-US" sz="1200" b="1" u="sng" dirty="0"/>
              <a:t> to </a:t>
            </a:r>
            <a:r>
              <a:rPr lang="en-US" sz="1200" b="1" u="sng" dirty="0">
                <a:solidFill>
                  <a:srgbClr val="FF0000"/>
                </a:solidFill>
              </a:rPr>
              <a:t>2.3%</a:t>
            </a:r>
            <a:r>
              <a:rPr lang="en-US" sz="1200" b="1" u="sng" dirty="0"/>
              <a:t> august):</a:t>
            </a:r>
            <a:br>
              <a:rPr lang="en-US" sz="1200" dirty="0"/>
            </a:br>
            <a:r>
              <a:rPr lang="en-US" sz="1200" dirty="0"/>
              <a:t>Three resignations recorded in August — </a:t>
            </a:r>
            <a:r>
              <a:rPr lang="en-US" sz="1200" b="1" dirty="0"/>
              <a:t>Grace Asikandambu</a:t>
            </a:r>
            <a:r>
              <a:rPr lang="en-US" sz="1200" dirty="0"/>
              <a:t> (Internal Auditor), </a:t>
            </a:r>
            <a:r>
              <a:rPr lang="en-US" sz="1200" b="1" dirty="0"/>
              <a:t>Happy Iyanya</a:t>
            </a:r>
            <a:r>
              <a:rPr lang="en-US" sz="1200" dirty="0"/>
              <a:t> (Marketing Officer), and </a:t>
            </a:r>
            <a:r>
              <a:rPr lang="en-US" sz="1200" b="1" dirty="0"/>
              <a:t>Grassinda Nkembi</a:t>
            </a:r>
            <a:r>
              <a:rPr lang="en-US" sz="1200" dirty="0"/>
              <a:t> (Legal Counsel).</a:t>
            </a:r>
          </a:p>
          <a:p>
            <a:endParaRPr lang="fr-FR" dirty="0"/>
          </a:p>
          <a:p>
            <a:endParaRPr lang="fr-FR" dirty="0"/>
          </a:p>
          <a:p>
            <a:endParaRPr lang="fr-FR" dirty="0"/>
          </a:p>
        </p:txBody>
      </p:sp>
      <p:sp>
        <p:nvSpPr>
          <p:cNvPr id="17" name="Shape 14">
            <a:extLst>
              <a:ext uri="{FF2B5EF4-FFF2-40B4-BE49-F238E27FC236}">
                <a16:creationId xmlns:a16="http://schemas.microsoft.com/office/drawing/2014/main" id="{CF5266B4-6D7E-66D9-E5D4-9BF9314C304F}"/>
              </a:ext>
            </a:extLst>
          </p:cNvPr>
          <p:cNvSpPr/>
          <p:nvPr/>
        </p:nvSpPr>
        <p:spPr>
          <a:xfrm>
            <a:off x="4416552" y="833247"/>
            <a:ext cx="347472" cy="347472"/>
          </a:xfrm>
          <a:prstGeom prst="ellipse">
            <a:avLst/>
          </a:prstGeom>
          <a:solidFill>
            <a:srgbClr val="E30613"/>
          </a:solidFill>
          <a:ln w="12700">
            <a:solidFill>
              <a:srgbClr val="E30613"/>
            </a:solidFill>
            <a:prstDash val="solid"/>
          </a:ln>
        </p:spPr>
        <p:txBody>
          <a:bodyPr/>
          <a:lstStyle/>
          <a:p>
            <a:endParaRPr lang="fr-FR"/>
          </a:p>
        </p:txBody>
      </p:sp>
      <p:sp>
        <p:nvSpPr>
          <p:cNvPr id="18" name="Text 15">
            <a:extLst>
              <a:ext uri="{FF2B5EF4-FFF2-40B4-BE49-F238E27FC236}">
                <a16:creationId xmlns:a16="http://schemas.microsoft.com/office/drawing/2014/main" id="{F5F315EC-F0D6-C665-B3DA-4120A5305FF9}"/>
              </a:ext>
            </a:extLst>
          </p:cNvPr>
          <p:cNvSpPr/>
          <p:nvPr/>
        </p:nvSpPr>
        <p:spPr>
          <a:xfrm>
            <a:off x="4416552" y="833247"/>
            <a:ext cx="347472" cy="34747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H</a:t>
            </a:r>
            <a:endParaRPr lang="en-US" sz="1100" dirty="0"/>
          </a:p>
        </p:txBody>
      </p:sp>
      <p:sp>
        <p:nvSpPr>
          <p:cNvPr id="19" name="Text 16">
            <a:extLst>
              <a:ext uri="{FF2B5EF4-FFF2-40B4-BE49-F238E27FC236}">
                <a16:creationId xmlns:a16="http://schemas.microsoft.com/office/drawing/2014/main" id="{86E69E35-629E-20E4-4078-4AAFAE5F0B07}"/>
              </a:ext>
            </a:extLst>
          </p:cNvPr>
          <p:cNvSpPr/>
          <p:nvPr/>
        </p:nvSpPr>
        <p:spPr>
          <a:xfrm>
            <a:off x="4782312" y="878967"/>
            <a:ext cx="2926080" cy="256032"/>
          </a:xfrm>
          <a:prstGeom prst="rect">
            <a:avLst/>
          </a:prstGeom>
          <a:noFill/>
          <a:ln/>
        </p:spPr>
        <p:txBody>
          <a:bodyPr wrap="square" rtlCol="0" anchor="ctr"/>
          <a:lstStyle/>
          <a:p>
            <a:pPr marL="0" indent="0">
              <a:buNone/>
            </a:pPr>
            <a:r>
              <a:rPr lang="en-US" sz="1300" b="1" dirty="0">
                <a:solidFill>
                  <a:srgbClr val="E30613"/>
                </a:solidFill>
                <a:latin typeface="Segoe UI" pitchFamily="34" charset="0"/>
                <a:ea typeface="Segoe UI" pitchFamily="34" charset="-122"/>
                <a:cs typeface="Segoe UI" pitchFamily="34" charset="-120"/>
              </a:rPr>
              <a:t>HQ</a:t>
            </a:r>
            <a:endParaRPr lang="en-US" sz="1300" dirty="0"/>
          </a:p>
        </p:txBody>
      </p:sp>
      <p:sp>
        <p:nvSpPr>
          <p:cNvPr id="20" name="Text 17">
            <a:extLst>
              <a:ext uri="{FF2B5EF4-FFF2-40B4-BE49-F238E27FC236}">
                <a16:creationId xmlns:a16="http://schemas.microsoft.com/office/drawing/2014/main" id="{9A215F41-335E-3F15-14F2-9F097077C1C6}"/>
              </a:ext>
            </a:extLst>
          </p:cNvPr>
          <p:cNvSpPr/>
          <p:nvPr/>
        </p:nvSpPr>
        <p:spPr>
          <a:xfrm>
            <a:off x="4434840" y="1162430"/>
            <a:ext cx="3383280" cy="5530977"/>
          </a:xfrm>
          <a:prstGeom prst="rect">
            <a:avLst/>
          </a:prstGeom>
          <a:noFill/>
          <a:ln/>
        </p:spPr>
        <p:txBody>
          <a:bodyPr wrap="square" rtlCol="0" anchor="t"/>
          <a:lstStyle/>
          <a:p>
            <a:endParaRPr lang="en-US" sz="900" noProof="0" dirty="0"/>
          </a:p>
        </p:txBody>
      </p:sp>
      <p:sp>
        <p:nvSpPr>
          <p:cNvPr id="21" name="Shape 18">
            <a:extLst>
              <a:ext uri="{FF2B5EF4-FFF2-40B4-BE49-F238E27FC236}">
                <a16:creationId xmlns:a16="http://schemas.microsoft.com/office/drawing/2014/main" id="{9EBA04BA-654C-1BA1-B064-A42297C98C61}"/>
              </a:ext>
            </a:extLst>
          </p:cNvPr>
          <p:cNvSpPr/>
          <p:nvPr/>
        </p:nvSpPr>
        <p:spPr>
          <a:xfrm>
            <a:off x="8138160" y="686943"/>
            <a:ext cx="3657600" cy="6088760"/>
          </a:xfrm>
          <a:prstGeom prst="roundRect">
            <a:avLst>
              <a:gd name="adj" fmla="val 2000"/>
            </a:avLst>
          </a:prstGeom>
          <a:solidFill>
            <a:srgbClr val="FFFFFF"/>
          </a:solidFill>
          <a:ln w="12700">
            <a:solidFill>
              <a:srgbClr val="E0E0E6"/>
            </a:solidFill>
            <a:prstDash val="solid"/>
          </a:ln>
          <a:effectLst>
            <a:outerShdw blurRad="76200" dist="12700" dir="16200000" algn="bl" rotWithShape="0">
              <a:srgbClr val="000000">
                <a:alpha val="6000"/>
              </a:srgbClr>
            </a:outerShdw>
          </a:effectLst>
        </p:spPr>
        <p:txBody>
          <a:bodyPr/>
          <a:lstStyle/>
          <a:p>
            <a:endParaRPr lang="fr-FR" sz="1200" dirty="0"/>
          </a:p>
          <a:p>
            <a:endParaRPr lang="fr-FR" sz="1200" dirty="0"/>
          </a:p>
          <a:p>
            <a:endParaRPr lang="fr-FR" sz="1200" dirty="0"/>
          </a:p>
          <a:p>
            <a:endParaRPr lang="fr-FR" sz="1200" dirty="0"/>
          </a:p>
          <a:p>
            <a:r>
              <a:rPr lang="en-US" sz="1200" b="1" dirty="0"/>
              <a:t>Petty Cash Budget — September 2026 (</a:t>
            </a:r>
            <a:r>
              <a:rPr lang="en-US" sz="1200" b="1" dirty="0" err="1"/>
              <a:t>Lubudi</a:t>
            </a:r>
            <a:r>
              <a:rPr lang="en-US" sz="1200" b="1" dirty="0"/>
              <a:t>):</a:t>
            </a:r>
            <a:br>
              <a:rPr lang="en-US" sz="1200" dirty="0"/>
            </a:br>
            <a:r>
              <a:rPr lang="en-US" sz="1200" dirty="0"/>
              <a:t>A 25% increase (from $5000 to $7500) in the petty cash budget is required, considering the activities at the Lubumbashi site and office (covering analyze samples for production, maintenance cost LSHI new office &amp; </a:t>
            </a:r>
            <a:r>
              <a:rPr lang="en-US" sz="1200" dirty="0" err="1"/>
              <a:t>Lubudi</a:t>
            </a:r>
            <a:r>
              <a:rPr lang="en-US" sz="1200" dirty="0"/>
              <a:t> </a:t>
            </a:r>
            <a:r>
              <a:rPr lang="en-US" sz="1200" dirty="0" err="1"/>
              <a:t>etc</a:t>
            </a:r>
            <a:r>
              <a:rPr lang="en-US" sz="1200" dirty="0"/>
              <a:t>…)</a:t>
            </a:r>
          </a:p>
          <a:p>
            <a:endParaRPr lang="en-US" sz="1200" dirty="0"/>
          </a:p>
          <a:p>
            <a:r>
              <a:rPr lang="en-US" sz="1200" b="1" dirty="0"/>
              <a:t>Sky Engineering (</a:t>
            </a:r>
            <a:r>
              <a:rPr lang="en-US" sz="1200" b="1" dirty="0" err="1"/>
              <a:t>Lubudi</a:t>
            </a:r>
            <a:r>
              <a:rPr lang="en-US" sz="1200" b="1" dirty="0"/>
              <a:t>):</a:t>
            </a:r>
            <a:br>
              <a:rPr lang="en-US" sz="1200" b="1" dirty="0"/>
            </a:br>
            <a:r>
              <a:rPr lang="en-US" sz="1200" dirty="0"/>
              <a:t>Contract amendment regarding a 17.11% increase in the budget, pending Procurement approval. Works are currently on hold pending approval of the contract amendment, estimated at $12,000.</a:t>
            </a:r>
          </a:p>
          <a:p>
            <a:endParaRPr lang="en-US" sz="1200" dirty="0"/>
          </a:p>
          <a:p>
            <a:r>
              <a:rPr lang="en-US" sz="1200" b="1" dirty="0"/>
              <a:t>Supplies (</a:t>
            </a:r>
            <a:r>
              <a:rPr lang="en-US" sz="1200" b="1" dirty="0" err="1"/>
              <a:t>Lubudi</a:t>
            </a:r>
            <a:r>
              <a:rPr lang="en-US" sz="1200" b="1" dirty="0"/>
              <a:t>):</a:t>
            </a:r>
            <a:br>
              <a:rPr lang="en-US" sz="1200" b="1" dirty="0"/>
            </a:br>
            <a:r>
              <a:rPr lang="en-US" sz="1200" dirty="0"/>
              <a:t>Gym, games room, Petit </a:t>
            </a:r>
            <a:r>
              <a:rPr lang="en-US" sz="1200" dirty="0" err="1"/>
              <a:t>Monastère</a:t>
            </a:r>
            <a:r>
              <a:rPr lang="en-US" sz="1200" dirty="0"/>
              <a:t> offices, and </a:t>
            </a:r>
            <a:r>
              <a:rPr lang="en-US" sz="1200" dirty="0" err="1"/>
              <a:t>Cimenkat</a:t>
            </a:r>
            <a:r>
              <a:rPr lang="en-US" sz="1200" dirty="0"/>
              <a:t> Guest House furniture list to be submitted to procurement before the end of September.</a:t>
            </a:r>
          </a:p>
          <a:p>
            <a:endParaRPr lang="en-US" sz="1200" dirty="0"/>
          </a:p>
          <a:p>
            <a:r>
              <a:rPr lang="en-US" sz="1200" b="1" dirty="0"/>
              <a:t>ONEM (</a:t>
            </a:r>
            <a:r>
              <a:rPr lang="en-US" sz="1200" b="1" dirty="0" err="1"/>
              <a:t>Lubudi</a:t>
            </a:r>
            <a:r>
              <a:rPr lang="en-US" sz="1200" b="1" dirty="0"/>
              <a:t>):</a:t>
            </a:r>
            <a:br>
              <a:rPr lang="en-US" sz="1200" b="1" dirty="0"/>
            </a:br>
            <a:r>
              <a:rPr lang="en-US" sz="1200" dirty="0"/>
              <a:t>Pending the information form, currently at 50%.</a:t>
            </a:r>
          </a:p>
          <a:p>
            <a:pPr algn="just"/>
            <a:r>
              <a:rPr lang="en-US" sz="1200" dirty="0"/>
              <a:t>A mission to Kolwezi needs to be organized to finalize this matter and obtain the contract approvals/signatures. The mission is scheduled for mid-September.</a:t>
            </a:r>
          </a:p>
          <a:p>
            <a:endParaRPr lang="en-US" sz="1200" dirty="0"/>
          </a:p>
          <a:p>
            <a:r>
              <a:rPr lang="en-US" sz="1200" b="1" dirty="0"/>
              <a:t>Petit </a:t>
            </a:r>
            <a:r>
              <a:rPr lang="en-US" sz="1200" b="1" dirty="0" err="1"/>
              <a:t>Monastère</a:t>
            </a:r>
            <a:r>
              <a:rPr lang="en-US" sz="1200" b="1" dirty="0"/>
              <a:t> (</a:t>
            </a:r>
            <a:r>
              <a:rPr lang="en-US" sz="1200" b="1" dirty="0" err="1"/>
              <a:t>Lubudi</a:t>
            </a:r>
            <a:r>
              <a:rPr lang="en-US" sz="1200" b="1" dirty="0"/>
              <a:t>):</a:t>
            </a:r>
            <a:br>
              <a:rPr lang="en-US" sz="1200" dirty="0"/>
            </a:br>
            <a:r>
              <a:rPr lang="fr-FR" sz="1200" dirty="0" err="1"/>
              <a:t>Awaiting</a:t>
            </a:r>
            <a:r>
              <a:rPr lang="fr-FR" sz="1200" dirty="0"/>
              <a:t> the </a:t>
            </a:r>
            <a:r>
              <a:rPr lang="fr-FR" sz="1200" dirty="0" err="1"/>
              <a:t>gate</a:t>
            </a:r>
            <a:r>
              <a:rPr lang="fr-FR" sz="1200" dirty="0"/>
              <a:t> and </a:t>
            </a:r>
            <a:r>
              <a:rPr lang="fr-FR" sz="1200" dirty="0" err="1"/>
              <a:t>barbed</a:t>
            </a:r>
            <a:r>
              <a:rPr lang="fr-FR" sz="1200" dirty="0"/>
              <a:t> </a:t>
            </a:r>
            <a:r>
              <a:rPr lang="fr-FR" sz="1200" dirty="0" err="1"/>
              <a:t>wire</a:t>
            </a:r>
            <a:br>
              <a:rPr lang="fr-FR" sz="1200" dirty="0"/>
            </a:br>
            <a:r>
              <a:rPr lang="fr-FR" sz="1200" dirty="0"/>
              <a:t>C</a:t>
            </a:r>
            <a:r>
              <a:rPr lang="en-US" sz="1200" dirty="0" err="1"/>
              <a:t>ompletion</a:t>
            </a:r>
            <a:r>
              <a:rPr lang="en-US" sz="1200" dirty="0"/>
              <a:t> — 85%.</a:t>
            </a:r>
          </a:p>
          <a:p>
            <a:endParaRPr lang="en-US" sz="1200" dirty="0"/>
          </a:p>
          <a:p>
            <a:endParaRPr lang="fr-FR" sz="1200" dirty="0"/>
          </a:p>
        </p:txBody>
      </p:sp>
      <p:sp>
        <p:nvSpPr>
          <p:cNvPr id="22" name="Shape 19">
            <a:extLst>
              <a:ext uri="{FF2B5EF4-FFF2-40B4-BE49-F238E27FC236}">
                <a16:creationId xmlns:a16="http://schemas.microsoft.com/office/drawing/2014/main" id="{7A957F82-693D-ABEE-875F-219FA3C87FA2}"/>
              </a:ext>
            </a:extLst>
          </p:cNvPr>
          <p:cNvSpPr/>
          <p:nvPr/>
        </p:nvSpPr>
        <p:spPr>
          <a:xfrm>
            <a:off x="8302752" y="833247"/>
            <a:ext cx="347472" cy="347472"/>
          </a:xfrm>
          <a:prstGeom prst="ellipse">
            <a:avLst/>
          </a:prstGeom>
          <a:solidFill>
            <a:srgbClr val="E30613"/>
          </a:solidFill>
          <a:ln w="12700">
            <a:solidFill>
              <a:srgbClr val="E30613"/>
            </a:solidFill>
            <a:prstDash val="solid"/>
          </a:ln>
        </p:spPr>
        <p:txBody>
          <a:bodyPr/>
          <a:lstStyle/>
          <a:p>
            <a:endParaRPr lang="fr-FR"/>
          </a:p>
        </p:txBody>
      </p:sp>
      <p:sp>
        <p:nvSpPr>
          <p:cNvPr id="23" name="Text 20">
            <a:extLst>
              <a:ext uri="{FF2B5EF4-FFF2-40B4-BE49-F238E27FC236}">
                <a16:creationId xmlns:a16="http://schemas.microsoft.com/office/drawing/2014/main" id="{7586735C-2797-F0BD-E83F-065E3D900DB9}"/>
              </a:ext>
            </a:extLst>
          </p:cNvPr>
          <p:cNvSpPr/>
          <p:nvPr/>
        </p:nvSpPr>
        <p:spPr>
          <a:xfrm>
            <a:off x="8302752" y="833247"/>
            <a:ext cx="347472" cy="34747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R</a:t>
            </a:r>
            <a:endParaRPr lang="en-US" sz="1100" dirty="0"/>
          </a:p>
        </p:txBody>
      </p:sp>
      <p:sp>
        <p:nvSpPr>
          <p:cNvPr id="24" name="Text 21">
            <a:extLst>
              <a:ext uri="{FF2B5EF4-FFF2-40B4-BE49-F238E27FC236}">
                <a16:creationId xmlns:a16="http://schemas.microsoft.com/office/drawing/2014/main" id="{263927CD-A51A-1900-35FD-4DC765CFDD6D}"/>
              </a:ext>
            </a:extLst>
          </p:cNvPr>
          <p:cNvSpPr/>
          <p:nvPr/>
        </p:nvSpPr>
        <p:spPr>
          <a:xfrm>
            <a:off x="8714232" y="878967"/>
            <a:ext cx="2834640" cy="256032"/>
          </a:xfrm>
          <a:prstGeom prst="rect">
            <a:avLst/>
          </a:prstGeom>
          <a:noFill/>
          <a:ln/>
        </p:spPr>
        <p:txBody>
          <a:bodyPr wrap="square" rtlCol="0" anchor="ctr"/>
          <a:lstStyle/>
          <a:p>
            <a:pPr marL="0" indent="0">
              <a:buNone/>
            </a:pPr>
            <a:r>
              <a:rPr lang="en-US" sz="1300" b="1" dirty="0">
                <a:solidFill>
                  <a:srgbClr val="E30613"/>
                </a:solidFill>
                <a:latin typeface="Segoe UI" pitchFamily="34" charset="0"/>
                <a:ea typeface="Segoe UI" pitchFamily="34" charset="-122"/>
                <a:cs typeface="Segoe UI" pitchFamily="34" charset="-120"/>
              </a:rPr>
              <a:t>Regions</a:t>
            </a:r>
            <a:endParaRPr lang="en-US" sz="1300" dirty="0"/>
          </a:p>
        </p:txBody>
      </p:sp>
      <p:sp>
        <p:nvSpPr>
          <p:cNvPr id="25" name="Text 22">
            <a:extLst>
              <a:ext uri="{FF2B5EF4-FFF2-40B4-BE49-F238E27FC236}">
                <a16:creationId xmlns:a16="http://schemas.microsoft.com/office/drawing/2014/main" id="{B708E760-1A51-A467-8F81-5A9168D7BDE3}"/>
              </a:ext>
            </a:extLst>
          </p:cNvPr>
          <p:cNvSpPr/>
          <p:nvPr/>
        </p:nvSpPr>
        <p:spPr>
          <a:xfrm>
            <a:off x="8321040" y="1162431"/>
            <a:ext cx="3291840" cy="5530976"/>
          </a:xfrm>
          <a:prstGeom prst="rect">
            <a:avLst/>
          </a:prstGeom>
          <a:noFill/>
          <a:ln/>
        </p:spPr>
        <p:txBody>
          <a:bodyPr wrap="square" rtlCol="0" anchor="t"/>
          <a:lstStyle/>
          <a:p>
            <a:endParaRPr lang="en-US" sz="1050" noProof="0" dirty="0"/>
          </a:p>
        </p:txBody>
      </p:sp>
    </p:spTree>
    <p:extLst>
      <p:ext uri="{BB962C8B-B14F-4D97-AF65-F5344CB8AC3E}">
        <p14:creationId xmlns:p14="http://schemas.microsoft.com/office/powerpoint/2010/main" val="786787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E8EC"/>
        </a:solidFill>
        <a:effectLst/>
      </p:bgPr>
    </p:bg>
    <p:spTree>
      <p:nvGrpSpPr>
        <p:cNvPr id="1" name="">
          <a:extLst>
            <a:ext uri="{FF2B5EF4-FFF2-40B4-BE49-F238E27FC236}">
              <a16:creationId xmlns:a16="http://schemas.microsoft.com/office/drawing/2014/main" id="{FC5EA84C-C69C-DB2A-561C-BB8BA7FE7625}"/>
            </a:ext>
          </a:extLst>
        </p:cNvPr>
        <p:cNvGrpSpPr/>
        <p:nvPr/>
      </p:nvGrpSpPr>
      <p:grpSpPr>
        <a:xfrm>
          <a:off x="0" y="0"/>
          <a:ext cx="0" cy="0"/>
          <a:chOff x="0" y="0"/>
          <a:chExt cx="0" cy="0"/>
        </a:xfrm>
      </p:grpSpPr>
      <p:pic>
        <p:nvPicPr>
          <p:cNvPr id="2" name="Image 0" descr="D:\Apps\hr-rh-app\templates\exco\cover-assets\slide-fade.jpg">
            <a:extLst>
              <a:ext uri="{FF2B5EF4-FFF2-40B4-BE49-F238E27FC236}">
                <a16:creationId xmlns:a16="http://schemas.microsoft.com/office/drawing/2014/main" id="{FF41BB24-EA03-9B1D-22C5-B513D5C6DB23}"/>
              </a:ext>
            </a:extLst>
          </p:cNvPr>
          <p:cNvPicPr>
            <a:picLocks noChangeAspect="1"/>
          </p:cNvPicPr>
          <p:nvPr/>
        </p:nvPicPr>
        <p:blipFill>
          <a:blip r:embed="rId3"/>
          <a:srcRect/>
          <a:stretch/>
        </p:blipFill>
        <p:spPr>
          <a:xfrm>
            <a:off x="0" y="0"/>
            <a:ext cx="12191695" cy="6858000"/>
          </a:xfrm>
          <a:prstGeom prst="rect">
            <a:avLst/>
          </a:prstGeom>
        </p:spPr>
      </p:pic>
      <p:sp>
        <p:nvSpPr>
          <p:cNvPr id="3" name="Shape 0">
            <a:extLst>
              <a:ext uri="{FF2B5EF4-FFF2-40B4-BE49-F238E27FC236}">
                <a16:creationId xmlns:a16="http://schemas.microsoft.com/office/drawing/2014/main" id="{75CA3A95-458C-E300-76AF-E27AA6C77781}"/>
              </a:ext>
            </a:extLst>
          </p:cNvPr>
          <p:cNvSpPr/>
          <p:nvPr/>
        </p:nvSpPr>
        <p:spPr>
          <a:xfrm>
            <a:off x="0" y="0"/>
            <a:ext cx="12191695" cy="64008"/>
          </a:xfrm>
          <a:prstGeom prst="rect">
            <a:avLst/>
          </a:prstGeom>
          <a:solidFill>
            <a:schemeClr val="accent4"/>
          </a:solidFill>
          <a:ln w="12700">
            <a:noFill/>
            <a:prstDash val="solid"/>
          </a:ln>
        </p:spPr>
        <p:txBody>
          <a:bodyPr/>
          <a:lstStyle/>
          <a:p>
            <a:endParaRPr lang="fr-FR"/>
          </a:p>
        </p:txBody>
      </p:sp>
      <p:sp>
        <p:nvSpPr>
          <p:cNvPr id="4" name="Shape 1">
            <a:extLst>
              <a:ext uri="{FF2B5EF4-FFF2-40B4-BE49-F238E27FC236}">
                <a16:creationId xmlns:a16="http://schemas.microsoft.com/office/drawing/2014/main" id="{546D5C0B-D6EE-4418-6078-DE16FE9E561F}"/>
              </a:ext>
            </a:extLst>
          </p:cNvPr>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Shape 2">
            <a:extLst>
              <a:ext uri="{FF2B5EF4-FFF2-40B4-BE49-F238E27FC236}">
                <a16:creationId xmlns:a16="http://schemas.microsoft.com/office/drawing/2014/main" id="{5BFBD953-AA9C-5145-34B3-9466DE15CD2C}"/>
              </a:ext>
            </a:extLst>
          </p:cNvPr>
          <p:cNvSpPr/>
          <p:nvPr/>
        </p:nvSpPr>
        <p:spPr>
          <a:xfrm>
            <a:off x="292608" y="146304"/>
            <a:ext cx="365760" cy="365760"/>
          </a:xfrm>
          <a:prstGeom prst="roundRect">
            <a:avLst>
              <a:gd name="adj" fmla="val 15000"/>
            </a:avLst>
          </a:prstGeom>
          <a:solidFill>
            <a:schemeClr val="accent4"/>
          </a:solidFill>
          <a:ln w="12700">
            <a:noFill/>
            <a:prstDash val="solid"/>
          </a:ln>
        </p:spPr>
        <p:txBody>
          <a:bodyPr/>
          <a:lstStyle/>
          <a:p>
            <a:endParaRPr lang="fr-FR"/>
          </a:p>
        </p:txBody>
      </p:sp>
      <p:sp>
        <p:nvSpPr>
          <p:cNvPr id="6" name="Text 3">
            <a:extLst>
              <a:ext uri="{FF2B5EF4-FFF2-40B4-BE49-F238E27FC236}">
                <a16:creationId xmlns:a16="http://schemas.microsoft.com/office/drawing/2014/main" id="{5A8B81BD-ABB9-7497-0894-3A3B3B5CB235}"/>
              </a:ext>
            </a:extLst>
          </p:cNvPr>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01</a:t>
            </a:r>
            <a:endParaRPr lang="en-US" sz="1200" dirty="0"/>
          </a:p>
        </p:txBody>
      </p:sp>
      <p:sp>
        <p:nvSpPr>
          <p:cNvPr id="7" name="Text 4">
            <a:extLst>
              <a:ext uri="{FF2B5EF4-FFF2-40B4-BE49-F238E27FC236}">
                <a16:creationId xmlns:a16="http://schemas.microsoft.com/office/drawing/2014/main" id="{F85E85B3-4804-6FDC-AC34-0A09B41FE695}"/>
              </a:ext>
            </a:extLst>
          </p:cNvPr>
          <p:cNvSpPr/>
          <p:nvPr/>
        </p:nvSpPr>
        <p:spPr>
          <a:xfrm>
            <a:off x="804672" y="128016"/>
            <a:ext cx="4572000" cy="146304"/>
          </a:xfrm>
          <a:prstGeom prst="rect">
            <a:avLst/>
          </a:prstGeom>
          <a:noFill/>
          <a:ln/>
        </p:spPr>
        <p:txBody>
          <a:bodyPr wrap="square" rtlCol="0" anchor="ctr"/>
          <a:lstStyle/>
          <a:p>
            <a:pPr marL="0" indent="0">
              <a:buNone/>
            </a:pPr>
            <a:r>
              <a:rPr lang="en-US" sz="900" b="1" dirty="0">
                <a:solidFill>
                  <a:schemeClr val="accent4"/>
                </a:solidFill>
                <a:latin typeface="Segoe UI" pitchFamily="34" charset="0"/>
                <a:ea typeface="Segoe UI" pitchFamily="34" charset="-122"/>
                <a:cs typeface="Segoe UI" pitchFamily="34" charset="-120"/>
              </a:rPr>
              <a:t>PPC · HR EXCO</a:t>
            </a:r>
            <a:endParaRPr lang="en-US" sz="900" dirty="0">
              <a:solidFill>
                <a:schemeClr val="accent4"/>
              </a:solidFill>
            </a:endParaRPr>
          </a:p>
        </p:txBody>
      </p:sp>
      <p:sp>
        <p:nvSpPr>
          <p:cNvPr id="8" name="Text 5">
            <a:extLst>
              <a:ext uri="{FF2B5EF4-FFF2-40B4-BE49-F238E27FC236}">
                <a16:creationId xmlns:a16="http://schemas.microsoft.com/office/drawing/2014/main" id="{9EA3AF39-4BBD-BB70-5ED9-59C3098E407F}"/>
              </a:ext>
            </a:extLst>
          </p:cNvPr>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Focus</a:t>
            </a:r>
            <a:endParaRPr lang="en-US" sz="1800" dirty="0"/>
          </a:p>
        </p:txBody>
      </p:sp>
      <p:sp>
        <p:nvSpPr>
          <p:cNvPr id="9" name="Text 6">
            <a:extLst>
              <a:ext uri="{FF2B5EF4-FFF2-40B4-BE49-F238E27FC236}">
                <a16:creationId xmlns:a16="http://schemas.microsoft.com/office/drawing/2014/main" id="{01298AFE-3710-C0E5-0865-36474AD2EF42}"/>
              </a:ext>
            </a:extLst>
          </p:cNvPr>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10" name="Shape 7">
            <a:extLst>
              <a:ext uri="{FF2B5EF4-FFF2-40B4-BE49-F238E27FC236}">
                <a16:creationId xmlns:a16="http://schemas.microsoft.com/office/drawing/2014/main" id="{833DD89F-E85B-CFE8-C288-8091E65E90C1}"/>
              </a:ext>
            </a:extLst>
          </p:cNvPr>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11" name="Shape 8">
            <a:extLst>
              <a:ext uri="{FF2B5EF4-FFF2-40B4-BE49-F238E27FC236}">
                <a16:creationId xmlns:a16="http://schemas.microsoft.com/office/drawing/2014/main" id="{5F7C34A8-6019-F946-65EE-E8DEC3BED5EC}"/>
              </a:ext>
            </a:extLst>
          </p:cNvPr>
          <p:cNvSpPr/>
          <p:nvPr/>
        </p:nvSpPr>
        <p:spPr>
          <a:xfrm>
            <a:off x="365760" y="686942"/>
            <a:ext cx="3749040" cy="6043041"/>
          </a:xfrm>
          <a:prstGeom prst="roundRect">
            <a:avLst>
              <a:gd name="adj" fmla="val 1951"/>
            </a:avLst>
          </a:prstGeom>
          <a:solidFill>
            <a:srgbClr val="FFFFFF"/>
          </a:solidFill>
          <a:ln w="12700">
            <a:solidFill>
              <a:srgbClr val="E0E0E6"/>
            </a:solidFill>
            <a:prstDash val="solid"/>
          </a:ln>
          <a:effectLst>
            <a:outerShdw blurRad="76200" dist="12700" dir="16200000" algn="bl" rotWithShape="0">
              <a:srgbClr val="000000">
                <a:alpha val="6000"/>
              </a:srgbClr>
            </a:outerShdw>
          </a:effectLst>
        </p:spPr>
        <p:txBody>
          <a:bodyPr/>
          <a:lstStyle/>
          <a:p>
            <a:endParaRPr lang="fr-FR"/>
          </a:p>
        </p:txBody>
      </p:sp>
      <p:sp>
        <p:nvSpPr>
          <p:cNvPr id="12" name="Shape 9">
            <a:extLst>
              <a:ext uri="{FF2B5EF4-FFF2-40B4-BE49-F238E27FC236}">
                <a16:creationId xmlns:a16="http://schemas.microsoft.com/office/drawing/2014/main" id="{8B192001-2219-F78B-489F-3C9D42759461}"/>
              </a:ext>
            </a:extLst>
          </p:cNvPr>
          <p:cNvSpPr/>
          <p:nvPr/>
        </p:nvSpPr>
        <p:spPr>
          <a:xfrm>
            <a:off x="530352" y="833247"/>
            <a:ext cx="347472" cy="347472"/>
          </a:xfrm>
          <a:prstGeom prst="ellipse">
            <a:avLst/>
          </a:prstGeom>
          <a:solidFill>
            <a:schemeClr val="accent4"/>
          </a:solidFill>
          <a:ln w="12700">
            <a:noFill/>
            <a:prstDash val="solid"/>
          </a:ln>
        </p:spPr>
        <p:txBody>
          <a:bodyPr/>
          <a:lstStyle/>
          <a:p>
            <a:endParaRPr lang="fr-FR"/>
          </a:p>
        </p:txBody>
      </p:sp>
      <p:sp>
        <p:nvSpPr>
          <p:cNvPr id="13" name="Text 10">
            <a:extLst>
              <a:ext uri="{FF2B5EF4-FFF2-40B4-BE49-F238E27FC236}">
                <a16:creationId xmlns:a16="http://schemas.microsoft.com/office/drawing/2014/main" id="{4785A196-7807-FF83-7F39-8BBFA0D55826}"/>
              </a:ext>
            </a:extLst>
          </p:cNvPr>
          <p:cNvSpPr/>
          <p:nvPr/>
        </p:nvSpPr>
        <p:spPr>
          <a:xfrm>
            <a:off x="530352" y="833247"/>
            <a:ext cx="347472" cy="34747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P</a:t>
            </a:r>
            <a:endParaRPr lang="en-US" sz="1100" dirty="0"/>
          </a:p>
        </p:txBody>
      </p:sp>
      <p:sp>
        <p:nvSpPr>
          <p:cNvPr id="14" name="Text 11">
            <a:extLst>
              <a:ext uri="{FF2B5EF4-FFF2-40B4-BE49-F238E27FC236}">
                <a16:creationId xmlns:a16="http://schemas.microsoft.com/office/drawing/2014/main" id="{946C1F26-B797-8EE7-3A73-1B68DC006378}"/>
              </a:ext>
            </a:extLst>
          </p:cNvPr>
          <p:cNvSpPr/>
          <p:nvPr/>
        </p:nvSpPr>
        <p:spPr>
          <a:xfrm>
            <a:off x="896112" y="908304"/>
            <a:ext cx="2926080" cy="256032"/>
          </a:xfrm>
          <a:prstGeom prst="rect">
            <a:avLst/>
          </a:prstGeom>
          <a:noFill/>
          <a:ln/>
        </p:spPr>
        <p:txBody>
          <a:bodyPr wrap="square" rtlCol="0" anchor="ctr"/>
          <a:lstStyle/>
          <a:p>
            <a:pPr marL="0" indent="0">
              <a:buNone/>
            </a:pPr>
            <a:r>
              <a:rPr lang="en-US" sz="1300" b="1" u="sng" dirty="0">
                <a:solidFill>
                  <a:schemeClr val="accent4"/>
                </a:solidFill>
                <a:latin typeface="Segoe UI" pitchFamily="34" charset="0"/>
                <a:ea typeface="Segoe UI" pitchFamily="34" charset="-122"/>
                <a:cs typeface="Segoe UI" pitchFamily="34" charset="-120"/>
              </a:rPr>
              <a:t>Plant</a:t>
            </a:r>
            <a:endParaRPr lang="en-US" sz="1300" u="sng" dirty="0">
              <a:solidFill>
                <a:schemeClr val="accent4"/>
              </a:solidFill>
            </a:endParaRPr>
          </a:p>
        </p:txBody>
      </p:sp>
      <p:sp>
        <p:nvSpPr>
          <p:cNvPr id="15" name="Text 12">
            <a:extLst>
              <a:ext uri="{FF2B5EF4-FFF2-40B4-BE49-F238E27FC236}">
                <a16:creationId xmlns:a16="http://schemas.microsoft.com/office/drawing/2014/main" id="{29AEF8A2-A353-2F23-F2BE-C911831A7D44}"/>
              </a:ext>
            </a:extLst>
          </p:cNvPr>
          <p:cNvSpPr/>
          <p:nvPr/>
        </p:nvSpPr>
        <p:spPr>
          <a:xfrm>
            <a:off x="548640" y="1162431"/>
            <a:ext cx="3383280" cy="4727448"/>
          </a:xfrm>
          <a:prstGeom prst="rect">
            <a:avLst/>
          </a:prstGeom>
          <a:noFill/>
          <a:ln/>
        </p:spPr>
        <p:txBody>
          <a:bodyPr wrap="square" rtlCol="0" anchor="t"/>
          <a:lstStyle/>
          <a:p>
            <a:endParaRPr lang="en-US" sz="1050" b="1" dirty="0"/>
          </a:p>
          <a:p>
            <a:endParaRPr lang="en-US" sz="1200" b="1" dirty="0"/>
          </a:p>
          <a:p>
            <a:r>
              <a:rPr lang="en-US" sz="1200" b="1" dirty="0"/>
              <a:t>Personnel Movements:</a:t>
            </a:r>
            <a:r>
              <a:rPr lang="en-US" sz="1200" dirty="0"/>
              <a:t> </a:t>
            </a:r>
          </a:p>
          <a:p>
            <a:r>
              <a:rPr lang="en-US" sz="1200" dirty="0"/>
              <a:t>Retirement — Mr. Charles Pongo </a:t>
            </a:r>
            <a:r>
              <a:rPr lang="en-US" sz="1200" dirty="0" err="1"/>
              <a:t>Pongo</a:t>
            </a:r>
            <a:r>
              <a:rPr lang="en-US" sz="1200" dirty="0"/>
              <a:t> has been informed; effective October 1, 2026. Exit formalities and recruitment/transition of the replacement are ongoing.</a:t>
            </a:r>
          </a:p>
          <a:p>
            <a:endParaRPr lang="en-US" sz="1200" b="1" dirty="0"/>
          </a:p>
          <a:p>
            <a:r>
              <a:rPr lang="fr-FR" sz="1200" b="1" dirty="0"/>
              <a:t>Tender for the Management of the Clubhouse (Zamba):</a:t>
            </a:r>
            <a:br>
              <a:rPr lang="fr-FR" sz="1200" dirty="0"/>
            </a:br>
            <a:r>
              <a:rPr lang="fr-FR" sz="1200" dirty="0"/>
              <a:t>Launch of the process and sharing of the management scope of </a:t>
            </a:r>
            <a:r>
              <a:rPr lang="fr-FR" sz="1200" dirty="0" err="1"/>
              <a:t>work</a:t>
            </a:r>
            <a:r>
              <a:rPr lang="fr-FR" sz="1200" dirty="0"/>
              <a:t>.</a:t>
            </a:r>
          </a:p>
          <a:p>
            <a:endParaRPr lang="en-US" sz="1200" dirty="0"/>
          </a:p>
          <a:p>
            <a:endParaRPr lang="en-US" sz="1200" dirty="0"/>
          </a:p>
          <a:p>
            <a:r>
              <a:rPr lang="en-US" sz="1200" b="1" dirty="0"/>
              <a:t>Village — Assets  (Zamba):</a:t>
            </a:r>
            <a:br>
              <a:rPr lang="en-US" sz="1200" dirty="0"/>
            </a:br>
            <a:r>
              <a:rPr lang="en-US" sz="1200" dirty="0"/>
              <a:t>Coding/labeling of village assets is ongoing.</a:t>
            </a:r>
          </a:p>
          <a:p>
            <a:endParaRPr lang="en-US" sz="1050" dirty="0"/>
          </a:p>
        </p:txBody>
      </p:sp>
      <p:sp>
        <p:nvSpPr>
          <p:cNvPr id="16" name="Shape 13">
            <a:extLst>
              <a:ext uri="{FF2B5EF4-FFF2-40B4-BE49-F238E27FC236}">
                <a16:creationId xmlns:a16="http://schemas.microsoft.com/office/drawing/2014/main" id="{C40B79B1-D813-245E-F114-ACD1E1D4068F}"/>
              </a:ext>
            </a:extLst>
          </p:cNvPr>
          <p:cNvSpPr/>
          <p:nvPr/>
        </p:nvSpPr>
        <p:spPr>
          <a:xfrm>
            <a:off x="4251960" y="686942"/>
            <a:ext cx="3749040" cy="6088761"/>
          </a:xfrm>
          <a:prstGeom prst="roundRect">
            <a:avLst>
              <a:gd name="adj" fmla="val 1951"/>
            </a:avLst>
          </a:prstGeom>
          <a:solidFill>
            <a:srgbClr val="FFFFFF"/>
          </a:solidFill>
          <a:ln w="12700">
            <a:solidFill>
              <a:srgbClr val="E0E0E6"/>
            </a:solidFill>
            <a:prstDash val="solid"/>
          </a:ln>
          <a:effectLst>
            <a:outerShdw blurRad="76200" dist="12700" dir="16200000" algn="bl" rotWithShape="0">
              <a:srgbClr val="000000">
                <a:alpha val="6000"/>
              </a:srgbClr>
            </a:outerShdw>
          </a:effectLst>
        </p:spPr>
        <p:txBody>
          <a:bodyPr/>
          <a:lstStyle/>
          <a:p>
            <a:endParaRPr lang="fr-FR" dirty="0"/>
          </a:p>
          <a:p>
            <a:endParaRPr lang="fr-FR" dirty="0"/>
          </a:p>
          <a:p>
            <a:endParaRPr lang="fr-FR" sz="1200" dirty="0"/>
          </a:p>
          <a:p>
            <a:r>
              <a:rPr lang="en-US" sz="1200" b="1" dirty="0"/>
              <a:t>Defibrillator Training  (Zamba):</a:t>
            </a:r>
            <a:br>
              <a:rPr lang="en-US" sz="1200" dirty="0"/>
            </a:br>
            <a:r>
              <a:rPr lang="en-US" sz="1200" dirty="0"/>
              <a:t>Preparation of training on the use of the defibrillator: compiling the list of contractors and contacting the trainer to obtain a quotation.</a:t>
            </a:r>
          </a:p>
          <a:p>
            <a:endParaRPr lang="fr-FR" dirty="0"/>
          </a:p>
          <a:p>
            <a:endParaRPr lang="fr-FR" dirty="0"/>
          </a:p>
        </p:txBody>
      </p:sp>
      <p:sp>
        <p:nvSpPr>
          <p:cNvPr id="17" name="Shape 14">
            <a:extLst>
              <a:ext uri="{FF2B5EF4-FFF2-40B4-BE49-F238E27FC236}">
                <a16:creationId xmlns:a16="http://schemas.microsoft.com/office/drawing/2014/main" id="{67CBBF4B-09D2-5458-6F43-3B3C7E121D0E}"/>
              </a:ext>
            </a:extLst>
          </p:cNvPr>
          <p:cNvSpPr/>
          <p:nvPr/>
        </p:nvSpPr>
        <p:spPr>
          <a:xfrm>
            <a:off x="4416552" y="833247"/>
            <a:ext cx="347472" cy="347472"/>
          </a:xfrm>
          <a:prstGeom prst="ellipse">
            <a:avLst/>
          </a:prstGeom>
          <a:solidFill>
            <a:schemeClr val="accent4"/>
          </a:solidFill>
          <a:ln w="12700">
            <a:noFill/>
            <a:prstDash val="solid"/>
          </a:ln>
        </p:spPr>
        <p:txBody>
          <a:bodyPr/>
          <a:lstStyle/>
          <a:p>
            <a:endParaRPr lang="fr-FR"/>
          </a:p>
        </p:txBody>
      </p:sp>
      <p:sp>
        <p:nvSpPr>
          <p:cNvPr id="18" name="Text 15">
            <a:extLst>
              <a:ext uri="{FF2B5EF4-FFF2-40B4-BE49-F238E27FC236}">
                <a16:creationId xmlns:a16="http://schemas.microsoft.com/office/drawing/2014/main" id="{EF062DBA-5FC3-97AA-9E1A-6A53ED5AF494}"/>
              </a:ext>
            </a:extLst>
          </p:cNvPr>
          <p:cNvSpPr/>
          <p:nvPr/>
        </p:nvSpPr>
        <p:spPr>
          <a:xfrm>
            <a:off x="4416552" y="833247"/>
            <a:ext cx="347472" cy="34747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H</a:t>
            </a:r>
            <a:endParaRPr lang="en-US" sz="1100" dirty="0"/>
          </a:p>
        </p:txBody>
      </p:sp>
      <p:sp>
        <p:nvSpPr>
          <p:cNvPr id="19" name="Text 16">
            <a:extLst>
              <a:ext uri="{FF2B5EF4-FFF2-40B4-BE49-F238E27FC236}">
                <a16:creationId xmlns:a16="http://schemas.microsoft.com/office/drawing/2014/main" id="{BCADA2B7-74DB-9893-FADA-555CEB8CCB41}"/>
              </a:ext>
            </a:extLst>
          </p:cNvPr>
          <p:cNvSpPr/>
          <p:nvPr/>
        </p:nvSpPr>
        <p:spPr>
          <a:xfrm>
            <a:off x="4764024" y="896112"/>
            <a:ext cx="2926080" cy="256032"/>
          </a:xfrm>
          <a:prstGeom prst="rect">
            <a:avLst/>
          </a:prstGeom>
          <a:noFill/>
          <a:ln/>
        </p:spPr>
        <p:txBody>
          <a:bodyPr wrap="square" rtlCol="0" anchor="ctr"/>
          <a:lstStyle/>
          <a:p>
            <a:pPr marL="0" indent="0">
              <a:buNone/>
            </a:pPr>
            <a:r>
              <a:rPr lang="en-US" sz="1300" b="1" u="sng" dirty="0">
                <a:solidFill>
                  <a:schemeClr val="accent4"/>
                </a:solidFill>
                <a:latin typeface="Segoe UI" pitchFamily="34" charset="0"/>
                <a:ea typeface="Segoe UI" pitchFamily="34" charset="-122"/>
                <a:cs typeface="Segoe UI" pitchFamily="34" charset="-120"/>
              </a:rPr>
              <a:t>HQ</a:t>
            </a:r>
            <a:endParaRPr lang="en-US" sz="1300" u="sng" dirty="0">
              <a:solidFill>
                <a:schemeClr val="accent4"/>
              </a:solidFill>
            </a:endParaRPr>
          </a:p>
        </p:txBody>
      </p:sp>
      <p:sp>
        <p:nvSpPr>
          <p:cNvPr id="20" name="Text 17">
            <a:extLst>
              <a:ext uri="{FF2B5EF4-FFF2-40B4-BE49-F238E27FC236}">
                <a16:creationId xmlns:a16="http://schemas.microsoft.com/office/drawing/2014/main" id="{155C860D-BFB7-02D6-EC0D-ADF286B22F58}"/>
              </a:ext>
            </a:extLst>
          </p:cNvPr>
          <p:cNvSpPr/>
          <p:nvPr/>
        </p:nvSpPr>
        <p:spPr>
          <a:xfrm>
            <a:off x="4434840" y="1162430"/>
            <a:ext cx="3383280" cy="5530977"/>
          </a:xfrm>
          <a:prstGeom prst="rect">
            <a:avLst/>
          </a:prstGeom>
          <a:noFill/>
          <a:ln/>
        </p:spPr>
        <p:txBody>
          <a:bodyPr wrap="square" rtlCol="0" anchor="t"/>
          <a:lstStyle/>
          <a:p>
            <a:endParaRPr lang="en-US" sz="900" noProof="0" dirty="0"/>
          </a:p>
        </p:txBody>
      </p:sp>
      <p:sp>
        <p:nvSpPr>
          <p:cNvPr id="21" name="Shape 18">
            <a:extLst>
              <a:ext uri="{FF2B5EF4-FFF2-40B4-BE49-F238E27FC236}">
                <a16:creationId xmlns:a16="http://schemas.microsoft.com/office/drawing/2014/main" id="{89A2BB6A-9D70-78C5-6082-912DADCA1958}"/>
              </a:ext>
            </a:extLst>
          </p:cNvPr>
          <p:cNvSpPr/>
          <p:nvPr/>
        </p:nvSpPr>
        <p:spPr>
          <a:xfrm>
            <a:off x="8138160" y="686943"/>
            <a:ext cx="3657600" cy="6088760"/>
          </a:xfrm>
          <a:prstGeom prst="roundRect">
            <a:avLst>
              <a:gd name="adj" fmla="val 2000"/>
            </a:avLst>
          </a:prstGeom>
          <a:solidFill>
            <a:srgbClr val="FFFFFF"/>
          </a:solidFill>
          <a:ln w="12700">
            <a:solidFill>
              <a:srgbClr val="E0E0E6"/>
            </a:solidFill>
            <a:prstDash val="solid"/>
          </a:ln>
          <a:effectLst>
            <a:outerShdw blurRad="76200" dist="12700" dir="16200000" algn="bl" rotWithShape="0">
              <a:srgbClr val="000000">
                <a:alpha val="6000"/>
              </a:srgbClr>
            </a:outerShdw>
          </a:effectLst>
        </p:spPr>
        <p:txBody>
          <a:bodyPr/>
          <a:lstStyle/>
          <a:p>
            <a:endParaRPr lang="fr-FR" sz="1200" dirty="0"/>
          </a:p>
          <a:p>
            <a:endParaRPr lang="fr-FR" sz="1200" dirty="0"/>
          </a:p>
          <a:p>
            <a:endParaRPr lang="fr-FR" sz="1200" dirty="0"/>
          </a:p>
          <a:p>
            <a:endParaRPr lang="fr-FR" sz="1200" dirty="0"/>
          </a:p>
          <a:p>
            <a:r>
              <a:rPr lang="en-US" sz="1200" b="1" dirty="0"/>
              <a:t>Supplies (</a:t>
            </a:r>
            <a:r>
              <a:rPr lang="en-US" sz="1200" b="1" dirty="0" err="1"/>
              <a:t>Lubudi</a:t>
            </a:r>
            <a:r>
              <a:rPr lang="en-US" sz="1200" b="1" dirty="0"/>
              <a:t>):</a:t>
            </a:r>
            <a:br>
              <a:rPr lang="en-US" sz="1200" b="1" dirty="0"/>
            </a:br>
            <a:r>
              <a:rPr lang="en-US" sz="1200" dirty="0"/>
              <a:t>Gym, games room, Petit </a:t>
            </a:r>
            <a:r>
              <a:rPr lang="en-US" sz="1200" dirty="0" err="1"/>
              <a:t>Monastère</a:t>
            </a:r>
            <a:r>
              <a:rPr lang="en-US" sz="1200" dirty="0"/>
              <a:t> offices, and </a:t>
            </a:r>
            <a:r>
              <a:rPr lang="en-US" sz="1200" dirty="0" err="1"/>
              <a:t>Cimenkat</a:t>
            </a:r>
            <a:r>
              <a:rPr lang="en-US" sz="1200" dirty="0"/>
              <a:t> Guest House to be submitted before the end of September.</a:t>
            </a:r>
          </a:p>
          <a:p>
            <a:endParaRPr lang="en-US" sz="1200" dirty="0"/>
          </a:p>
          <a:p>
            <a:r>
              <a:rPr lang="en-US" sz="1200" b="1" dirty="0"/>
              <a:t>ONEM (</a:t>
            </a:r>
            <a:r>
              <a:rPr lang="en-US" sz="1200" b="1" dirty="0" err="1"/>
              <a:t>Lubudi</a:t>
            </a:r>
            <a:r>
              <a:rPr lang="en-US" sz="1200" b="1" dirty="0"/>
              <a:t>):</a:t>
            </a:r>
            <a:br>
              <a:rPr lang="en-US" sz="1200" b="1" dirty="0"/>
            </a:br>
            <a:r>
              <a:rPr lang="en-US" sz="1200" dirty="0"/>
              <a:t>Pending the information form, currently at 50%.</a:t>
            </a:r>
          </a:p>
          <a:p>
            <a:r>
              <a:rPr lang="en-US" sz="1200" dirty="0"/>
              <a:t>A mission to Kolwezi needs to be organized to finalize this matter and obtain the contract approvals/signatures. The mission is scheduled for mid-September.</a:t>
            </a:r>
          </a:p>
          <a:p>
            <a:endParaRPr lang="en-US" sz="1200" dirty="0"/>
          </a:p>
          <a:p>
            <a:r>
              <a:rPr lang="en-US" sz="1200" b="1" dirty="0"/>
              <a:t>Security (</a:t>
            </a:r>
            <a:r>
              <a:rPr lang="en-US" sz="1200" b="1" dirty="0" err="1"/>
              <a:t>Lubudi</a:t>
            </a:r>
            <a:r>
              <a:rPr lang="en-US" sz="1200" b="1" dirty="0"/>
              <a:t>):</a:t>
            </a:r>
            <a:br>
              <a:rPr lang="en-US" sz="1200" dirty="0"/>
            </a:br>
            <a:r>
              <a:rPr lang="en-US" sz="1200" dirty="0"/>
              <a:t>GSA needs to strengthen its staff — still in process and awaiting for procurement and legal approval on the </a:t>
            </a:r>
            <a:r>
              <a:rPr lang="en-US" sz="1200" dirty="0" err="1"/>
              <a:t>loxea</a:t>
            </a:r>
            <a:r>
              <a:rPr lang="en-US" sz="1200" dirty="0"/>
              <a:t> draft </a:t>
            </a:r>
            <a:r>
              <a:rPr lang="en-US" sz="1200" dirty="0" err="1"/>
              <a:t>contrat</a:t>
            </a:r>
            <a:r>
              <a:rPr lang="en-US" sz="1200" dirty="0"/>
              <a:t> submitted by </a:t>
            </a:r>
            <a:r>
              <a:rPr lang="en-US" sz="1200" dirty="0" err="1"/>
              <a:t>Lubudi</a:t>
            </a:r>
            <a:r>
              <a:rPr lang="en-US" sz="1200" dirty="0"/>
              <a:t> team</a:t>
            </a:r>
          </a:p>
          <a:p>
            <a:endParaRPr lang="fr-FR" sz="1200" dirty="0"/>
          </a:p>
        </p:txBody>
      </p:sp>
      <p:sp>
        <p:nvSpPr>
          <p:cNvPr id="22" name="Shape 19">
            <a:extLst>
              <a:ext uri="{FF2B5EF4-FFF2-40B4-BE49-F238E27FC236}">
                <a16:creationId xmlns:a16="http://schemas.microsoft.com/office/drawing/2014/main" id="{EA160AA9-954E-7698-8142-93AFE07D2022}"/>
              </a:ext>
            </a:extLst>
          </p:cNvPr>
          <p:cNvSpPr/>
          <p:nvPr/>
        </p:nvSpPr>
        <p:spPr>
          <a:xfrm>
            <a:off x="8302752" y="833247"/>
            <a:ext cx="347472" cy="347472"/>
          </a:xfrm>
          <a:prstGeom prst="ellipse">
            <a:avLst/>
          </a:prstGeom>
          <a:solidFill>
            <a:schemeClr val="accent4"/>
          </a:solidFill>
          <a:ln w="12700">
            <a:noFill/>
            <a:prstDash val="solid"/>
          </a:ln>
        </p:spPr>
        <p:txBody>
          <a:bodyPr/>
          <a:lstStyle/>
          <a:p>
            <a:endParaRPr lang="fr-FR"/>
          </a:p>
        </p:txBody>
      </p:sp>
      <p:sp>
        <p:nvSpPr>
          <p:cNvPr id="23" name="Text 20">
            <a:extLst>
              <a:ext uri="{FF2B5EF4-FFF2-40B4-BE49-F238E27FC236}">
                <a16:creationId xmlns:a16="http://schemas.microsoft.com/office/drawing/2014/main" id="{1CDD73D6-8C64-ABF6-DE63-FDF36921BB47}"/>
              </a:ext>
            </a:extLst>
          </p:cNvPr>
          <p:cNvSpPr/>
          <p:nvPr/>
        </p:nvSpPr>
        <p:spPr>
          <a:xfrm>
            <a:off x="8302752" y="833247"/>
            <a:ext cx="347472" cy="347472"/>
          </a:xfrm>
          <a:prstGeom prst="rect">
            <a:avLst/>
          </a:prstGeom>
          <a:noFill/>
          <a:ln/>
        </p:spPr>
        <p:txBody>
          <a:bodyPr wrap="square"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R</a:t>
            </a:r>
            <a:endParaRPr lang="en-US" sz="1100" dirty="0"/>
          </a:p>
        </p:txBody>
      </p:sp>
      <p:sp>
        <p:nvSpPr>
          <p:cNvPr id="24" name="Text 21">
            <a:extLst>
              <a:ext uri="{FF2B5EF4-FFF2-40B4-BE49-F238E27FC236}">
                <a16:creationId xmlns:a16="http://schemas.microsoft.com/office/drawing/2014/main" id="{30E44DAC-F418-518E-8FB7-EFDC98C8F71E}"/>
              </a:ext>
            </a:extLst>
          </p:cNvPr>
          <p:cNvSpPr/>
          <p:nvPr/>
        </p:nvSpPr>
        <p:spPr>
          <a:xfrm>
            <a:off x="8679027" y="896112"/>
            <a:ext cx="2834640" cy="256032"/>
          </a:xfrm>
          <a:prstGeom prst="rect">
            <a:avLst/>
          </a:prstGeom>
          <a:noFill/>
          <a:ln/>
        </p:spPr>
        <p:txBody>
          <a:bodyPr wrap="square" rtlCol="0" anchor="ctr"/>
          <a:lstStyle/>
          <a:p>
            <a:pPr marL="0" indent="0">
              <a:buNone/>
            </a:pPr>
            <a:r>
              <a:rPr lang="en-US" sz="1300" b="1" u="sng" dirty="0">
                <a:solidFill>
                  <a:schemeClr val="accent4"/>
                </a:solidFill>
                <a:latin typeface="Segoe UI" pitchFamily="34" charset="0"/>
                <a:ea typeface="Segoe UI" pitchFamily="34" charset="-122"/>
                <a:cs typeface="Segoe UI" pitchFamily="34" charset="-120"/>
              </a:rPr>
              <a:t>Regions</a:t>
            </a:r>
            <a:endParaRPr lang="en-US" sz="1300" u="sng" dirty="0">
              <a:solidFill>
                <a:schemeClr val="accent4"/>
              </a:solidFill>
            </a:endParaRPr>
          </a:p>
        </p:txBody>
      </p:sp>
      <p:sp>
        <p:nvSpPr>
          <p:cNvPr id="25" name="Text 22">
            <a:extLst>
              <a:ext uri="{FF2B5EF4-FFF2-40B4-BE49-F238E27FC236}">
                <a16:creationId xmlns:a16="http://schemas.microsoft.com/office/drawing/2014/main" id="{1C45FEB1-A3B0-96E2-8873-7596EE44668A}"/>
              </a:ext>
            </a:extLst>
          </p:cNvPr>
          <p:cNvSpPr/>
          <p:nvPr/>
        </p:nvSpPr>
        <p:spPr>
          <a:xfrm>
            <a:off x="8321040" y="1162431"/>
            <a:ext cx="3291840" cy="5530976"/>
          </a:xfrm>
          <a:prstGeom prst="rect">
            <a:avLst/>
          </a:prstGeom>
          <a:noFill/>
          <a:ln/>
        </p:spPr>
        <p:txBody>
          <a:bodyPr wrap="square" rtlCol="0" anchor="t"/>
          <a:lstStyle/>
          <a:p>
            <a:endParaRPr lang="en-US" sz="1050" noProof="0" dirty="0"/>
          </a:p>
        </p:txBody>
      </p:sp>
    </p:spTree>
    <p:extLst>
      <p:ext uri="{BB962C8B-B14F-4D97-AF65-F5344CB8AC3E}">
        <p14:creationId xmlns:p14="http://schemas.microsoft.com/office/powerpoint/2010/main" val="1134489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E8E8EC"/>
        </a:solidFill>
        <a:effectLst/>
      </p:bgPr>
    </p:bg>
    <p:spTree>
      <p:nvGrpSpPr>
        <p:cNvPr id="1" name=""/>
        <p:cNvGrpSpPr/>
        <p:nvPr/>
      </p:nvGrpSpPr>
      <p:grpSpPr>
        <a:xfrm>
          <a:off x="0" y="0"/>
          <a:ext cx="0" cy="0"/>
          <a:chOff x="0" y="0"/>
          <a:chExt cx="0" cy="0"/>
        </a:xfrm>
      </p:grpSpPr>
      <p:pic>
        <p:nvPicPr>
          <p:cNvPr id="2" name="Image 0" descr="D:\Apps\hr-rh-app\templates\exco\cover-assets\slide-fade.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4" name="Shape 1"/>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Shape 2"/>
          <p:cNvSpPr/>
          <p:nvPr/>
        </p:nvSpPr>
        <p:spPr>
          <a:xfrm>
            <a:off x="292608" y="146304"/>
            <a:ext cx="365760" cy="365760"/>
          </a:xfrm>
          <a:prstGeom prst="roundRect">
            <a:avLst>
              <a:gd name="adj" fmla="val 15000"/>
            </a:avLst>
          </a:prstGeom>
          <a:solidFill>
            <a:srgbClr val="E30613"/>
          </a:solidFill>
          <a:ln w="12700">
            <a:solidFill>
              <a:srgbClr val="E30613"/>
            </a:solidFill>
            <a:prstDash val="solid"/>
          </a:ln>
        </p:spPr>
        <p:txBody>
          <a:bodyPr/>
          <a:lstStyle/>
          <a:p>
            <a:endParaRPr lang="fr-FR"/>
          </a:p>
        </p:txBody>
      </p:sp>
      <p:sp>
        <p:nvSpPr>
          <p:cNvPr id="6" name="Text 3"/>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02</a:t>
            </a:r>
            <a:endParaRPr lang="en-US" sz="1200" dirty="0"/>
          </a:p>
        </p:txBody>
      </p:sp>
      <p:sp>
        <p:nvSpPr>
          <p:cNvPr id="7" name="Text 4"/>
          <p:cNvSpPr/>
          <p:nvPr/>
        </p:nvSpPr>
        <p:spPr>
          <a:xfrm>
            <a:off x="804672" y="128016"/>
            <a:ext cx="4572000" cy="146304"/>
          </a:xfrm>
          <a:prstGeom prst="rect">
            <a:avLst/>
          </a:prstGeom>
          <a:noFill/>
          <a:ln/>
        </p:spPr>
        <p:txBody>
          <a:bodyPr wrap="square" rtlCol="0" anchor="ctr"/>
          <a:lstStyle/>
          <a:p>
            <a:pPr marL="0" indent="0">
              <a:buNone/>
            </a:pPr>
            <a:r>
              <a:rPr lang="en-US" sz="900" b="1" dirty="0">
                <a:solidFill>
                  <a:srgbClr val="E30613"/>
                </a:solidFill>
                <a:latin typeface="Segoe UI" pitchFamily="34" charset="0"/>
                <a:ea typeface="Segoe UI" pitchFamily="34" charset="-122"/>
                <a:cs typeface="Segoe UI" pitchFamily="34" charset="-120"/>
              </a:rPr>
              <a:t>PPC · HR EXCO</a:t>
            </a:r>
            <a:endParaRPr lang="en-US" sz="900" dirty="0"/>
          </a:p>
        </p:txBody>
      </p:sp>
      <p:sp>
        <p:nvSpPr>
          <p:cNvPr id="8" name="Text 5"/>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KPI Summary</a:t>
            </a:r>
            <a:endParaRPr lang="en-US" sz="1800" dirty="0"/>
          </a:p>
        </p:txBody>
      </p:sp>
      <p:sp>
        <p:nvSpPr>
          <p:cNvPr id="9" name="Text 6"/>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10" name="Shape 7"/>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11" name="Shape 8"/>
          <p:cNvSpPr/>
          <p:nvPr/>
        </p:nvSpPr>
        <p:spPr>
          <a:xfrm>
            <a:off x="365760" y="1143000"/>
            <a:ext cx="3840480" cy="9144"/>
          </a:xfrm>
          <a:prstGeom prst="rect">
            <a:avLst/>
          </a:prstGeom>
          <a:solidFill>
            <a:srgbClr val="CFCFD6"/>
          </a:solidFill>
          <a:ln w="12700">
            <a:solidFill>
              <a:srgbClr val="CFCFD6"/>
            </a:solidFill>
            <a:prstDash val="solid"/>
          </a:ln>
        </p:spPr>
        <p:txBody>
          <a:bodyPr/>
          <a:lstStyle/>
          <a:p>
            <a:endParaRPr lang="fr-FR"/>
          </a:p>
        </p:txBody>
      </p:sp>
      <p:sp>
        <p:nvSpPr>
          <p:cNvPr id="12" name="Text 9"/>
          <p:cNvSpPr/>
          <p:nvPr/>
        </p:nvSpPr>
        <p:spPr>
          <a:xfrm>
            <a:off x="4297680" y="1051560"/>
            <a:ext cx="3657600" cy="219456"/>
          </a:xfrm>
          <a:prstGeom prst="rect">
            <a:avLst/>
          </a:prstGeom>
          <a:noFill/>
          <a:ln/>
        </p:spPr>
        <p:txBody>
          <a:bodyPr wrap="square" rtlCol="0" anchor="ctr"/>
          <a:lstStyle/>
          <a:p>
            <a:pPr marL="0" indent="0" algn="ctr">
              <a:buNone/>
            </a:pPr>
            <a:r>
              <a:rPr lang="en-US" sz="1000" b="1" dirty="0">
                <a:solidFill>
                  <a:srgbClr val="6B6B7A"/>
                </a:solidFill>
                <a:latin typeface="Segoe UI" pitchFamily="34" charset="0"/>
                <a:ea typeface="Segoe UI" pitchFamily="34" charset="-122"/>
                <a:cs typeface="Segoe UI" pitchFamily="34" charset="-120"/>
              </a:rPr>
              <a:t>Headcount &amp; profile</a:t>
            </a:r>
            <a:endParaRPr lang="en-US" sz="1000" dirty="0"/>
          </a:p>
        </p:txBody>
      </p:sp>
      <p:sp>
        <p:nvSpPr>
          <p:cNvPr id="13" name="Shape 10"/>
          <p:cNvSpPr/>
          <p:nvPr/>
        </p:nvSpPr>
        <p:spPr>
          <a:xfrm>
            <a:off x="8046720" y="1143000"/>
            <a:ext cx="3749040" cy="9144"/>
          </a:xfrm>
          <a:prstGeom prst="rect">
            <a:avLst/>
          </a:prstGeom>
          <a:solidFill>
            <a:srgbClr val="CFCFD6"/>
          </a:solidFill>
          <a:ln w="12700">
            <a:solidFill>
              <a:srgbClr val="CFCFD6"/>
            </a:solidFill>
            <a:prstDash val="solid"/>
          </a:ln>
        </p:spPr>
        <p:txBody>
          <a:bodyPr/>
          <a:lstStyle/>
          <a:p>
            <a:endParaRPr lang="fr-FR"/>
          </a:p>
        </p:txBody>
      </p:sp>
      <p:sp>
        <p:nvSpPr>
          <p:cNvPr id="14" name="Shape 11"/>
          <p:cNvSpPr/>
          <p:nvPr/>
        </p:nvSpPr>
        <p:spPr>
          <a:xfrm>
            <a:off x="320040" y="1325880"/>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15" name="Shape 12"/>
          <p:cNvSpPr/>
          <p:nvPr/>
        </p:nvSpPr>
        <p:spPr>
          <a:xfrm>
            <a:off x="320040" y="1325880"/>
            <a:ext cx="64008" cy="1024128"/>
          </a:xfrm>
          <a:prstGeom prst="rect">
            <a:avLst/>
          </a:prstGeom>
          <a:solidFill>
            <a:srgbClr val="E30613"/>
          </a:solidFill>
          <a:ln w="12700">
            <a:solidFill>
              <a:srgbClr val="E30613"/>
            </a:solidFill>
            <a:prstDash val="solid"/>
          </a:ln>
        </p:spPr>
        <p:txBody>
          <a:bodyPr/>
          <a:lstStyle/>
          <a:p>
            <a:endParaRPr lang="fr-FR"/>
          </a:p>
        </p:txBody>
      </p:sp>
      <p:sp>
        <p:nvSpPr>
          <p:cNvPr id="16" name="Text 13"/>
          <p:cNvSpPr/>
          <p:nvPr/>
        </p:nvSpPr>
        <p:spPr>
          <a:xfrm>
            <a:off x="502920" y="1453896"/>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Headcount</a:t>
            </a:r>
            <a:endParaRPr lang="en-US" sz="1100" dirty="0"/>
          </a:p>
        </p:txBody>
      </p:sp>
      <p:sp>
        <p:nvSpPr>
          <p:cNvPr id="17" name="Text 14"/>
          <p:cNvSpPr/>
          <p:nvPr/>
        </p:nvSpPr>
        <p:spPr>
          <a:xfrm>
            <a:off x="502920" y="1691640"/>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175</a:t>
            </a:r>
            <a:endParaRPr lang="en-US" sz="1300" dirty="0"/>
          </a:p>
        </p:txBody>
      </p:sp>
      <p:sp>
        <p:nvSpPr>
          <p:cNvPr id="18" name="Text 15"/>
          <p:cNvSpPr/>
          <p:nvPr/>
        </p:nvSpPr>
        <p:spPr>
          <a:xfrm>
            <a:off x="502920" y="2057400"/>
            <a:ext cx="1103132" cy="201168"/>
          </a:xfrm>
          <a:prstGeom prst="rect">
            <a:avLst/>
          </a:prstGeom>
          <a:noFill/>
          <a:ln/>
        </p:spPr>
        <p:txBody>
          <a:bodyPr wrap="square" rtlCol="0" anchor="ctr"/>
          <a:lstStyle/>
          <a:p>
            <a:pPr marL="0" indent="0">
              <a:buNone/>
            </a:pPr>
            <a:r>
              <a:rPr lang="en-US" sz="800" dirty="0">
                <a:solidFill>
                  <a:srgbClr val="6B6B7A"/>
                </a:solidFill>
                <a:latin typeface="Segoe UI" pitchFamily="34" charset="0"/>
                <a:ea typeface="Segoe UI" pitchFamily="34" charset="-122"/>
                <a:cs typeface="Segoe UI" pitchFamily="34" charset="-120"/>
              </a:rPr>
              <a:t>• 0% vs prev.</a:t>
            </a:r>
            <a:endParaRPr lang="en-US" sz="800" dirty="0"/>
          </a:p>
        </p:txBody>
      </p:sp>
      <p:sp>
        <p:nvSpPr>
          <p:cNvPr id="19" name="Text 16"/>
          <p:cNvSpPr/>
          <p:nvPr/>
        </p:nvSpPr>
        <p:spPr>
          <a:xfrm>
            <a:off x="1263701" y="2057400"/>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175</a:t>
            </a:r>
            <a:endParaRPr lang="en-US" sz="800" dirty="0"/>
          </a:p>
        </p:txBody>
      </p:sp>
      <p:sp>
        <p:nvSpPr>
          <p:cNvPr id="20" name="Shape 17"/>
          <p:cNvSpPr/>
          <p:nvPr/>
        </p:nvSpPr>
        <p:spPr>
          <a:xfrm>
            <a:off x="2679192" y="1325880"/>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21" name="Shape 18"/>
          <p:cNvSpPr/>
          <p:nvPr/>
        </p:nvSpPr>
        <p:spPr>
          <a:xfrm>
            <a:off x="2679192" y="1325880"/>
            <a:ext cx="64008" cy="1024128"/>
          </a:xfrm>
          <a:prstGeom prst="rect">
            <a:avLst/>
          </a:prstGeom>
          <a:solidFill>
            <a:srgbClr val="E30613"/>
          </a:solidFill>
          <a:ln w="12700">
            <a:solidFill>
              <a:srgbClr val="E30613"/>
            </a:solidFill>
            <a:prstDash val="solid"/>
          </a:ln>
        </p:spPr>
        <p:txBody>
          <a:bodyPr/>
          <a:lstStyle/>
          <a:p>
            <a:endParaRPr lang="fr-FR"/>
          </a:p>
        </p:txBody>
      </p:sp>
      <p:sp>
        <p:nvSpPr>
          <p:cNvPr id="22" name="Text 19"/>
          <p:cNvSpPr/>
          <p:nvPr/>
        </p:nvSpPr>
        <p:spPr>
          <a:xfrm>
            <a:off x="2862072" y="1453896"/>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Gender Ratio</a:t>
            </a:r>
            <a:endParaRPr lang="en-US" sz="1100" dirty="0"/>
          </a:p>
        </p:txBody>
      </p:sp>
      <p:sp>
        <p:nvSpPr>
          <p:cNvPr id="23" name="Text 20"/>
          <p:cNvSpPr/>
          <p:nvPr/>
        </p:nvSpPr>
        <p:spPr>
          <a:xfrm>
            <a:off x="2862072" y="1691640"/>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84% H / 16% F</a:t>
            </a:r>
            <a:endParaRPr lang="en-US" sz="1300" dirty="0"/>
          </a:p>
        </p:txBody>
      </p:sp>
      <p:sp>
        <p:nvSpPr>
          <p:cNvPr id="25" name="Text 22"/>
          <p:cNvSpPr/>
          <p:nvPr/>
        </p:nvSpPr>
        <p:spPr>
          <a:xfrm>
            <a:off x="3622853" y="2057400"/>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85% H / 15% F</a:t>
            </a:r>
            <a:endParaRPr lang="en-US" sz="800" dirty="0"/>
          </a:p>
        </p:txBody>
      </p:sp>
      <p:sp>
        <p:nvSpPr>
          <p:cNvPr id="26" name="Shape 23"/>
          <p:cNvSpPr/>
          <p:nvPr/>
        </p:nvSpPr>
        <p:spPr>
          <a:xfrm>
            <a:off x="5038344" y="1325880"/>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27" name="Shape 24"/>
          <p:cNvSpPr/>
          <p:nvPr/>
        </p:nvSpPr>
        <p:spPr>
          <a:xfrm>
            <a:off x="5038344" y="1325880"/>
            <a:ext cx="64008" cy="1024128"/>
          </a:xfrm>
          <a:prstGeom prst="rect">
            <a:avLst/>
          </a:prstGeom>
          <a:solidFill>
            <a:srgbClr val="E30613"/>
          </a:solidFill>
          <a:ln w="12700">
            <a:solidFill>
              <a:srgbClr val="E30613"/>
            </a:solidFill>
            <a:prstDash val="solid"/>
          </a:ln>
        </p:spPr>
        <p:txBody>
          <a:bodyPr/>
          <a:lstStyle/>
          <a:p>
            <a:endParaRPr lang="fr-FR"/>
          </a:p>
        </p:txBody>
      </p:sp>
      <p:sp>
        <p:nvSpPr>
          <p:cNvPr id="28" name="Text 25"/>
          <p:cNvSpPr/>
          <p:nvPr/>
        </p:nvSpPr>
        <p:spPr>
          <a:xfrm>
            <a:off x="5221224" y="1453896"/>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Average Age</a:t>
            </a:r>
            <a:endParaRPr lang="en-US" sz="1100" dirty="0"/>
          </a:p>
        </p:txBody>
      </p:sp>
      <p:sp>
        <p:nvSpPr>
          <p:cNvPr id="29" name="Text 26"/>
          <p:cNvSpPr/>
          <p:nvPr/>
        </p:nvSpPr>
        <p:spPr>
          <a:xfrm>
            <a:off x="5221224" y="1691640"/>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40.15 yrs</a:t>
            </a:r>
            <a:endParaRPr lang="en-US" sz="1300" dirty="0"/>
          </a:p>
        </p:txBody>
      </p:sp>
      <p:sp>
        <p:nvSpPr>
          <p:cNvPr id="30" name="Text 27"/>
          <p:cNvSpPr/>
          <p:nvPr/>
        </p:nvSpPr>
        <p:spPr>
          <a:xfrm>
            <a:off x="5221224" y="2057400"/>
            <a:ext cx="1103132" cy="201168"/>
          </a:xfrm>
          <a:prstGeom prst="rect">
            <a:avLst/>
          </a:prstGeom>
          <a:noFill/>
          <a:ln/>
        </p:spPr>
        <p:txBody>
          <a:bodyPr wrap="square" rtlCol="0" anchor="ctr"/>
          <a:lstStyle/>
          <a:p>
            <a:pPr marL="0" indent="0">
              <a:buNone/>
            </a:pPr>
            <a:r>
              <a:rPr lang="en-US" sz="800" dirty="0">
                <a:solidFill>
                  <a:srgbClr val="166534"/>
                </a:solidFill>
                <a:latin typeface="Segoe UI" pitchFamily="34" charset="0"/>
                <a:ea typeface="Segoe UI" pitchFamily="34" charset="-122"/>
                <a:cs typeface="Segoe UI" pitchFamily="34" charset="-120"/>
              </a:rPr>
              <a:t>▲ 0.1% vs prev.</a:t>
            </a:r>
            <a:endParaRPr lang="en-US" sz="800" dirty="0"/>
          </a:p>
        </p:txBody>
      </p:sp>
      <p:sp>
        <p:nvSpPr>
          <p:cNvPr id="31" name="Text 28"/>
          <p:cNvSpPr/>
          <p:nvPr/>
        </p:nvSpPr>
        <p:spPr>
          <a:xfrm>
            <a:off x="5982005" y="2057400"/>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40.10 yrs</a:t>
            </a:r>
            <a:endParaRPr lang="en-US" sz="800" dirty="0"/>
          </a:p>
        </p:txBody>
      </p:sp>
      <p:sp>
        <p:nvSpPr>
          <p:cNvPr id="32" name="Shape 29"/>
          <p:cNvSpPr/>
          <p:nvPr/>
        </p:nvSpPr>
        <p:spPr>
          <a:xfrm>
            <a:off x="7397496" y="1325880"/>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33" name="Shape 30"/>
          <p:cNvSpPr/>
          <p:nvPr/>
        </p:nvSpPr>
        <p:spPr>
          <a:xfrm>
            <a:off x="7397496" y="1325880"/>
            <a:ext cx="64008" cy="1024128"/>
          </a:xfrm>
          <a:prstGeom prst="rect">
            <a:avLst/>
          </a:prstGeom>
          <a:solidFill>
            <a:srgbClr val="E30613"/>
          </a:solidFill>
          <a:ln w="12700">
            <a:solidFill>
              <a:srgbClr val="E30613"/>
            </a:solidFill>
            <a:prstDash val="solid"/>
          </a:ln>
        </p:spPr>
        <p:txBody>
          <a:bodyPr/>
          <a:lstStyle/>
          <a:p>
            <a:endParaRPr lang="fr-FR"/>
          </a:p>
        </p:txBody>
      </p:sp>
      <p:sp>
        <p:nvSpPr>
          <p:cNvPr id="34" name="Text 31"/>
          <p:cNvSpPr/>
          <p:nvPr/>
        </p:nvSpPr>
        <p:spPr>
          <a:xfrm>
            <a:off x="7580376" y="1453896"/>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Length of Service (years)</a:t>
            </a:r>
            <a:endParaRPr lang="en-US" sz="1100" dirty="0"/>
          </a:p>
        </p:txBody>
      </p:sp>
      <p:sp>
        <p:nvSpPr>
          <p:cNvPr id="35" name="Text 32"/>
          <p:cNvSpPr/>
          <p:nvPr/>
        </p:nvSpPr>
        <p:spPr>
          <a:xfrm>
            <a:off x="7580376" y="1691640"/>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6</a:t>
            </a:r>
            <a:endParaRPr lang="en-US" sz="1300" dirty="0"/>
          </a:p>
        </p:txBody>
      </p:sp>
      <p:sp>
        <p:nvSpPr>
          <p:cNvPr id="37" name="Text 34"/>
          <p:cNvSpPr/>
          <p:nvPr/>
        </p:nvSpPr>
        <p:spPr>
          <a:xfrm>
            <a:off x="8341157" y="2057400"/>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6</a:t>
            </a:r>
            <a:endParaRPr lang="en-US" sz="800" dirty="0"/>
          </a:p>
        </p:txBody>
      </p:sp>
      <p:sp>
        <p:nvSpPr>
          <p:cNvPr id="38" name="Shape 35"/>
          <p:cNvSpPr/>
          <p:nvPr/>
        </p:nvSpPr>
        <p:spPr>
          <a:xfrm>
            <a:off x="9756648" y="1325880"/>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39" name="Shape 36"/>
          <p:cNvSpPr/>
          <p:nvPr/>
        </p:nvSpPr>
        <p:spPr>
          <a:xfrm>
            <a:off x="9756648" y="1325880"/>
            <a:ext cx="64008" cy="1024128"/>
          </a:xfrm>
          <a:prstGeom prst="rect">
            <a:avLst/>
          </a:prstGeom>
          <a:solidFill>
            <a:srgbClr val="E30613"/>
          </a:solidFill>
          <a:ln w="12700">
            <a:solidFill>
              <a:srgbClr val="E30613"/>
            </a:solidFill>
            <a:prstDash val="solid"/>
          </a:ln>
        </p:spPr>
        <p:txBody>
          <a:bodyPr/>
          <a:lstStyle/>
          <a:p>
            <a:endParaRPr lang="fr-FR"/>
          </a:p>
        </p:txBody>
      </p:sp>
      <p:sp>
        <p:nvSpPr>
          <p:cNvPr id="40" name="Text 37"/>
          <p:cNvSpPr/>
          <p:nvPr/>
        </p:nvSpPr>
        <p:spPr>
          <a:xfrm>
            <a:off x="9939528" y="1453896"/>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Onboarding Survey</a:t>
            </a:r>
            <a:endParaRPr lang="en-US" sz="1100" dirty="0"/>
          </a:p>
        </p:txBody>
      </p:sp>
      <p:sp>
        <p:nvSpPr>
          <p:cNvPr id="41" name="Text 38"/>
          <p:cNvSpPr/>
          <p:nvPr/>
        </p:nvSpPr>
        <p:spPr>
          <a:xfrm>
            <a:off x="9939528" y="1691640"/>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a:t>
            </a:r>
            <a:endParaRPr lang="en-US" sz="1300" dirty="0"/>
          </a:p>
        </p:txBody>
      </p:sp>
      <p:sp>
        <p:nvSpPr>
          <p:cNvPr id="42" name="Text 39"/>
          <p:cNvSpPr/>
          <p:nvPr/>
        </p:nvSpPr>
        <p:spPr>
          <a:xfrm>
            <a:off x="9939528" y="2057400"/>
            <a:ext cx="1103132" cy="201168"/>
          </a:xfrm>
          <a:prstGeom prst="rect">
            <a:avLst/>
          </a:prstGeom>
          <a:noFill/>
          <a:ln/>
        </p:spPr>
        <p:txBody>
          <a:bodyPr wrap="square" rtlCol="0" anchor="ctr"/>
          <a:lstStyle/>
          <a:p>
            <a:pPr marL="0" indent="0">
              <a:buNone/>
            </a:pPr>
            <a:r>
              <a:rPr lang="en-US" sz="800" dirty="0">
                <a:solidFill>
                  <a:srgbClr val="6B6B7A"/>
                </a:solidFill>
                <a:latin typeface="Segoe UI" pitchFamily="34" charset="0"/>
                <a:ea typeface="Segoe UI" pitchFamily="34" charset="-122"/>
                <a:cs typeface="Segoe UI" pitchFamily="34" charset="-120"/>
              </a:rPr>
              <a:t>vs prev. —</a:t>
            </a:r>
            <a:endParaRPr lang="en-US" sz="800" dirty="0"/>
          </a:p>
        </p:txBody>
      </p:sp>
      <p:sp>
        <p:nvSpPr>
          <p:cNvPr id="43" name="Text 40"/>
          <p:cNvSpPr/>
          <p:nvPr/>
        </p:nvSpPr>
        <p:spPr>
          <a:xfrm>
            <a:off x="10700309" y="2057400"/>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a:t>
            </a:r>
            <a:endParaRPr lang="en-US" sz="800" dirty="0"/>
          </a:p>
        </p:txBody>
      </p:sp>
      <p:sp>
        <p:nvSpPr>
          <p:cNvPr id="44" name="Shape 41"/>
          <p:cNvSpPr/>
          <p:nvPr/>
        </p:nvSpPr>
        <p:spPr>
          <a:xfrm>
            <a:off x="320040" y="2441448"/>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45" name="Shape 42"/>
          <p:cNvSpPr/>
          <p:nvPr/>
        </p:nvSpPr>
        <p:spPr>
          <a:xfrm>
            <a:off x="320040" y="2441448"/>
            <a:ext cx="64008" cy="1024128"/>
          </a:xfrm>
          <a:prstGeom prst="rect">
            <a:avLst/>
          </a:prstGeom>
          <a:solidFill>
            <a:srgbClr val="E30613"/>
          </a:solidFill>
          <a:ln w="12700">
            <a:solidFill>
              <a:srgbClr val="E30613"/>
            </a:solidFill>
            <a:prstDash val="solid"/>
          </a:ln>
        </p:spPr>
        <p:txBody>
          <a:bodyPr/>
          <a:lstStyle/>
          <a:p>
            <a:endParaRPr lang="fr-FR"/>
          </a:p>
        </p:txBody>
      </p:sp>
      <p:sp>
        <p:nvSpPr>
          <p:cNvPr id="46" name="Text 43"/>
          <p:cNvSpPr/>
          <p:nvPr/>
        </p:nvSpPr>
        <p:spPr>
          <a:xfrm>
            <a:off x="502920" y="2569464"/>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Hires</a:t>
            </a:r>
            <a:endParaRPr lang="en-US" sz="1100" dirty="0"/>
          </a:p>
        </p:txBody>
      </p:sp>
      <p:sp>
        <p:nvSpPr>
          <p:cNvPr id="47" name="Text 44"/>
          <p:cNvSpPr/>
          <p:nvPr/>
        </p:nvSpPr>
        <p:spPr>
          <a:xfrm>
            <a:off x="502920" y="2807208"/>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4</a:t>
            </a:r>
            <a:endParaRPr lang="en-US" sz="1300" dirty="0"/>
          </a:p>
        </p:txBody>
      </p:sp>
      <p:sp>
        <p:nvSpPr>
          <p:cNvPr id="48" name="Text 45"/>
          <p:cNvSpPr/>
          <p:nvPr/>
        </p:nvSpPr>
        <p:spPr>
          <a:xfrm>
            <a:off x="502920" y="3172968"/>
            <a:ext cx="1103132" cy="201168"/>
          </a:xfrm>
          <a:prstGeom prst="rect">
            <a:avLst/>
          </a:prstGeom>
          <a:noFill/>
          <a:ln/>
        </p:spPr>
        <p:txBody>
          <a:bodyPr wrap="square" rtlCol="0" anchor="ctr"/>
          <a:lstStyle/>
          <a:p>
            <a:pPr marL="0" indent="0">
              <a:buNone/>
            </a:pPr>
            <a:r>
              <a:rPr lang="en-US" sz="800" dirty="0">
                <a:solidFill>
                  <a:srgbClr val="166534"/>
                </a:solidFill>
                <a:latin typeface="Segoe UI" pitchFamily="34" charset="0"/>
                <a:ea typeface="Segoe UI" pitchFamily="34" charset="-122"/>
                <a:cs typeface="Segoe UI" pitchFamily="34" charset="-120"/>
              </a:rPr>
              <a:t>▲ +4 vs prev.</a:t>
            </a:r>
            <a:endParaRPr lang="en-US" sz="800" dirty="0"/>
          </a:p>
        </p:txBody>
      </p:sp>
      <p:sp>
        <p:nvSpPr>
          <p:cNvPr id="49" name="Text 46"/>
          <p:cNvSpPr/>
          <p:nvPr/>
        </p:nvSpPr>
        <p:spPr>
          <a:xfrm>
            <a:off x="1263701" y="3172968"/>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0</a:t>
            </a:r>
            <a:endParaRPr lang="en-US" sz="800" dirty="0"/>
          </a:p>
        </p:txBody>
      </p:sp>
      <p:sp>
        <p:nvSpPr>
          <p:cNvPr id="50" name="Shape 47"/>
          <p:cNvSpPr/>
          <p:nvPr/>
        </p:nvSpPr>
        <p:spPr>
          <a:xfrm>
            <a:off x="2679192" y="2441448"/>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51" name="Shape 48"/>
          <p:cNvSpPr/>
          <p:nvPr/>
        </p:nvSpPr>
        <p:spPr>
          <a:xfrm>
            <a:off x="2679192" y="2441448"/>
            <a:ext cx="64008" cy="1024128"/>
          </a:xfrm>
          <a:prstGeom prst="rect">
            <a:avLst/>
          </a:prstGeom>
          <a:solidFill>
            <a:srgbClr val="E30613"/>
          </a:solidFill>
          <a:ln w="12700">
            <a:solidFill>
              <a:srgbClr val="E30613"/>
            </a:solidFill>
            <a:prstDash val="solid"/>
          </a:ln>
        </p:spPr>
        <p:txBody>
          <a:bodyPr/>
          <a:lstStyle/>
          <a:p>
            <a:endParaRPr lang="fr-FR"/>
          </a:p>
        </p:txBody>
      </p:sp>
      <p:sp>
        <p:nvSpPr>
          <p:cNvPr id="52" name="Text 49"/>
          <p:cNvSpPr/>
          <p:nvPr/>
        </p:nvSpPr>
        <p:spPr>
          <a:xfrm>
            <a:off x="2862072" y="2569464"/>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Exits</a:t>
            </a:r>
            <a:endParaRPr lang="en-US" sz="1100" dirty="0"/>
          </a:p>
        </p:txBody>
      </p:sp>
      <p:sp>
        <p:nvSpPr>
          <p:cNvPr id="53" name="Text 50"/>
          <p:cNvSpPr/>
          <p:nvPr/>
        </p:nvSpPr>
        <p:spPr>
          <a:xfrm>
            <a:off x="2862072" y="2807208"/>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4</a:t>
            </a:r>
            <a:endParaRPr lang="en-US" sz="1300" dirty="0"/>
          </a:p>
        </p:txBody>
      </p:sp>
      <p:sp>
        <p:nvSpPr>
          <p:cNvPr id="54" name="Text 51"/>
          <p:cNvSpPr/>
          <p:nvPr/>
        </p:nvSpPr>
        <p:spPr>
          <a:xfrm>
            <a:off x="2862072" y="3172968"/>
            <a:ext cx="1103132" cy="201168"/>
          </a:xfrm>
          <a:prstGeom prst="rect">
            <a:avLst/>
          </a:prstGeom>
          <a:noFill/>
          <a:ln/>
        </p:spPr>
        <p:txBody>
          <a:bodyPr wrap="square" rtlCol="0" anchor="ctr"/>
          <a:lstStyle/>
          <a:p>
            <a:pPr marL="0" indent="0">
              <a:buNone/>
            </a:pPr>
            <a:r>
              <a:rPr lang="en-US" sz="800" dirty="0">
                <a:solidFill>
                  <a:srgbClr val="B91C1C"/>
                </a:solidFill>
                <a:latin typeface="Segoe UI" pitchFamily="34" charset="0"/>
                <a:ea typeface="Segoe UI" pitchFamily="34" charset="-122"/>
                <a:cs typeface="Segoe UI" pitchFamily="34" charset="-120"/>
              </a:rPr>
              <a:t>▲ +3 vs prev.</a:t>
            </a:r>
            <a:endParaRPr lang="en-US" sz="800" dirty="0"/>
          </a:p>
        </p:txBody>
      </p:sp>
      <p:sp>
        <p:nvSpPr>
          <p:cNvPr id="55" name="Text 52"/>
          <p:cNvSpPr/>
          <p:nvPr/>
        </p:nvSpPr>
        <p:spPr>
          <a:xfrm>
            <a:off x="3622853" y="3172968"/>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1</a:t>
            </a:r>
            <a:endParaRPr lang="en-US" sz="800" dirty="0"/>
          </a:p>
        </p:txBody>
      </p:sp>
      <p:sp>
        <p:nvSpPr>
          <p:cNvPr id="56" name="Shape 53"/>
          <p:cNvSpPr/>
          <p:nvPr/>
        </p:nvSpPr>
        <p:spPr>
          <a:xfrm>
            <a:off x="5038344" y="2441448"/>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57" name="Shape 54"/>
          <p:cNvSpPr/>
          <p:nvPr/>
        </p:nvSpPr>
        <p:spPr>
          <a:xfrm>
            <a:off x="5038344" y="2441448"/>
            <a:ext cx="64008" cy="1024128"/>
          </a:xfrm>
          <a:prstGeom prst="rect">
            <a:avLst/>
          </a:prstGeom>
          <a:solidFill>
            <a:srgbClr val="E30613"/>
          </a:solidFill>
          <a:ln w="12700">
            <a:solidFill>
              <a:srgbClr val="E30613"/>
            </a:solidFill>
            <a:prstDash val="solid"/>
          </a:ln>
        </p:spPr>
        <p:txBody>
          <a:bodyPr/>
          <a:lstStyle/>
          <a:p>
            <a:endParaRPr lang="fr-FR"/>
          </a:p>
        </p:txBody>
      </p:sp>
      <p:sp>
        <p:nvSpPr>
          <p:cNvPr id="58" name="Text 55"/>
          <p:cNvSpPr/>
          <p:nvPr/>
        </p:nvSpPr>
        <p:spPr>
          <a:xfrm>
            <a:off x="5221224" y="2569464"/>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Turnover %</a:t>
            </a:r>
            <a:endParaRPr lang="en-US" sz="1100" dirty="0"/>
          </a:p>
        </p:txBody>
      </p:sp>
      <p:sp>
        <p:nvSpPr>
          <p:cNvPr id="59" name="Text 56"/>
          <p:cNvSpPr/>
          <p:nvPr/>
        </p:nvSpPr>
        <p:spPr>
          <a:xfrm>
            <a:off x="5221224" y="2807208"/>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2.29%</a:t>
            </a:r>
            <a:endParaRPr lang="en-US" sz="1300" dirty="0"/>
          </a:p>
        </p:txBody>
      </p:sp>
      <p:sp>
        <p:nvSpPr>
          <p:cNvPr id="60" name="Text 57"/>
          <p:cNvSpPr/>
          <p:nvPr/>
        </p:nvSpPr>
        <p:spPr>
          <a:xfrm>
            <a:off x="5221224" y="3172968"/>
            <a:ext cx="1103132" cy="201168"/>
          </a:xfrm>
          <a:prstGeom prst="rect">
            <a:avLst/>
          </a:prstGeom>
          <a:noFill/>
          <a:ln/>
        </p:spPr>
        <p:txBody>
          <a:bodyPr wrap="square" rtlCol="0" anchor="ctr"/>
          <a:lstStyle/>
          <a:p>
            <a:pPr marL="0" indent="0">
              <a:buNone/>
            </a:pPr>
            <a:r>
              <a:rPr lang="en-US" sz="800" dirty="0">
                <a:solidFill>
                  <a:srgbClr val="B91C1C"/>
                </a:solidFill>
                <a:latin typeface="Segoe UI" pitchFamily="34" charset="0"/>
                <a:ea typeface="Segoe UI" pitchFamily="34" charset="-122"/>
                <a:cs typeface="Segoe UI" pitchFamily="34" charset="-120"/>
              </a:rPr>
              <a:t>▲ +2.01 pp vs prev.</a:t>
            </a:r>
            <a:endParaRPr lang="en-US" sz="800" dirty="0"/>
          </a:p>
        </p:txBody>
      </p:sp>
      <p:sp>
        <p:nvSpPr>
          <p:cNvPr id="61" name="Text 58"/>
          <p:cNvSpPr/>
          <p:nvPr/>
        </p:nvSpPr>
        <p:spPr>
          <a:xfrm>
            <a:off x="5982005" y="3172968"/>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0.28%</a:t>
            </a:r>
            <a:endParaRPr lang="en-US" sz="800" dirty="0"/>
          </a:p>
        </p:txBody>
      </p:sp>
      <p:sp>
        <p:nvSpPr>
          <p:cNvPr id="62" name="Shape 59"/>
          <p:cNvSpPr/>
          <p:nvPr/>
        </p:nvSpPr>
        <p:spPr>
          <a:xfrm>
            <a:off x="7397496" y="2441448"/>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63" name="Shape 60"/>
          <p:cNvSpPr/>
          <p:nvPr/>
        </p:nvSpPr>
        <p:spPr>
          <a:xfrm>
            <a:off x="7397496" y="2441448"/>
            <a:ext cx="64008" cy="1024128"/>
          </a:xfrm>
          <a:prstGeom prst="rect">
            <a:avLst/>
          </a:prstGeom>
          <a:solidFill>
            <a:srgbClr val="E30613"/>
          </a:solidFill>
          <a:ln w="12700">
            <a:solidFill>
              <a:srgbClr val="E30613"/>
            </a:solidFill>
            <a:prstDash val="solid"/>
          </a:ln>
        </p:spPr>
        <p:txBody>
          <a:bodyPr/>
          <a:lstStyle/>
          <a:p>
            <a:endParaRPr lang="fr-FR"/>
          </a:p>
        </p:txBody>
      </p:sp>
      <p:sp>
        <p:nvSpPr>
          <p:cNvPr id="64" name="Text 61"/>
          <p:cNvSpPr/>
          <p:nvPr/>
        </p:nvSpPr>
        <p:spPr>
          <a:xfrm>
            <a:off x="7580376" y="2569464"/>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Attrition rate %</a:t>
            </a:r>
            <a:endParaRPr lang="en-US" sz="1100" dirty="0"/>
          </a:p>
        </p:txBody>
      </p:sp>
      <p:sp>
        <p:nvSpPr>
          <p:cNvPr id="65" name="Text 62"/>
          <p:cNvSpPr/>
          <p:nvPr/>
        </p:nvSpPr>
        <p:spPr>
          <a:xfrm>
            <a:off x="7580376" y="2807208"/>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2.29%</a:t>
            </a:r>
            <a:endParaRPr lang="en-US" sz="1300" dirty="0"/>
          </a:p>
        </p:txBody>
      </p:sp>
      <p:sp>
        <p:nvSpPr>
          <p:cNvPr id="66" name="Text 63"/>
          <p:cNvSpPr/>
          <p:nvPr/>
        </p:nvSpPr>
        <p:spPr>
          <a:xfrm>
            <a:off x="7580376" y="3172968"/>
            <a:ext cx="1103132" cy="201168"/>
          </a:xfrm>
          <a:prstGeom prst="rect">
            <a:avLst/>
          </a:prstGeom>
          <a:noFill/>
          <a:ln/>
        </p:spPr>
        <p:txBody>
          <a:bodyPr wrap="square" rtlCol="0" anchor="ctr"/>
          <a:lstStyle/>
          <a:p>
            <a:pPr marL="0" indent="0">
              <a:buNone/>
            </a:pPr>
            <a:r>
              <a:rPr lang="en-US" sz="800" dirty="0">
                <a:solidFill>
                  <a:srgbClr val="B91C1C"/>
                </a:solidFill>
                <a:latin typeface="Segoe UI" pitchFamily="34" charset="0"/>
                <a:ea typeface="Segoe UI" pitchFamily="34" charset="-122"/>
                <a:cs typeface="Segoe UI" pitchFamily="34" charset="-120"/>
              </a:rPr>
              <a:t>▲ +1.72 pp vs prev.</a:t>
            </a:r>
            <a:endParaRPr lang="en-US" sz="800" dirty="0"/>
          </a:p>
        </p:txBody>
      </p:sp>
      <p:sp>
        <p:nvSpPr>
          <p:cNvPr id="67" name="Text 64"/>
          <p:cNvSpPr/>
          <p:nvPr/>
        </p:nvSpPr>
        <p:spPr>
          <a:xfrm>
            <a:off x="8341157" y="3172968"/>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0.57%</a:t>
            </a:r>
            <a:endParaRPr lang="en-US" sz="800" dirty="0"/>
          </a:p>
        </p:txBody>
      </p:sp>
      <p:sp>
        <p:nvSpPr>
          <p:cNvPr id="68" name="Shape 65"/>
          <p:cNvSpPr/>
          <p:nvPr/>
        </p:nvSpPr>
        <p:spPr>
          <a:xfrm>
            <a:off x="9756648" y="2441448"/>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69" name="Shape 66"/>
          <p:cNvSpPr/>
          <p:nvPr/>
        </p:nvSpPr>
        <p:spPr>
          <a:xfrm>
            <a:off x="9756648" y="2441448"/>
            <a:ext cx="64008" cy="1024128"/>
          </a:xfrm>
          <a:prstGeom prst="rect">
            <a:avLst/>
          </a:prstGeom>
          <a:solidFill>
            <a:srgbClr val="E30613"/>
          </a:solidFill>
          <a:ln w="12700">
            <a:solidFill>
              <a:srgbClr val="E30613"/>
            </a:solidFill>
            <a:prstDash val="solid"/>
          </a:ln>
        </p:spPr>
        <p:txBody>
          <a:bodyPr/>
          <a:lstStyle/>
          <a:p>
            <a:endParaRPr lang="fr-FR"/>
          </a:p>
        </p:txBody>
      </p:sp>
      <p:sp>
        <p:nvSpPr>
          <p:cNvPr id="70" name="Text 67"/>
          <p:cNvSpPr/>
          <p:nvPr/>
        </p:nvSpPr>
        <p:spPr>
          <a:xfrm>
            <a:off x="9939528" y="2569464"/>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Succession Coverage</a:t>
            </a:r>
            <a:endParaRPr lang="en-US" sz="1100" dirty="0"/>
          </a:p>
        </p:txBody>
      </p:sp>
      <p:sp>
        <p:nvSpPr>
          <p:cNvPr id="71" name="Text 68"/>
          <p:cNvSpPr/>
          <p:nvPr/>
        </p:nvSpPr>
        <p:spPr>
          <a:xfrm>
            <a:off x="9939528" y="2807208"/>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a:t>
            </a:r>
            <a:endParaRPr lang="en-US" sz="1300" dirty="0"/>
          </a:p>
        </p:txBody>
      </p:sp>
      <p:sp>
        <p:nvSpPr>
          <p:cNvPr id="72" name="Text 69"/>
          <p:cNvSpPr/>
          <p:nvPr/>
        </p:nvSpPr>
        <p:spPr>
          <a:xfrm>
            <a:off x="9939528" y="3172968"/>
            <a:ext cx="1103132" cy="201168"/>
          </a:xfrm>
          <a:prstGeom prst="rect">
            <a:avLst/>
          </a:prstGeom>
          <a:noFill/>
          <a:ln/>
        </p:spPr>
        <p:txBody>
          <a:bodyPr wrap="square" rtlCol="0" anchor="ctr"/>
          <a:lstStyle/>
          <a:p>
            <a:pPr marL="0" indent="0">
              <a:buNone/>
            </a:pPr>
            <a:r>
              <a:rPr lang="en-US" sz="800" dirty="0">
                <a:solidFill>
                  <a:srgbClr val="6B6B7A"/>
                </a:solidFill>
                <a:latin typeface="Segoe UI" pitchFamily="34" charset="0"/>
                <a:ea typeface="Segoe UI" pitchFamily="34" charset="-122"/>
                <a:cs typeface="Segoe UI" pitchFamily="34" charset="-120"/>
              </a:rPr>
              <a:t>vs prev. —</a:t>
            </a:r>
            <a:endParaRPr lang="en-US" sz="800" dirty="0"/>
          </a:p>
        </p:txBody>
      </p:sp>
      <p:sp>
        <p:nvSpPr>
          <p:cNvPr id="73" name="Text 70"/>
          <p:cNvSpPr/>
          <p:nvPr/>
        </p:nvSpPr>
        <p:spPr>
          <a:xfrm>
            <a:off x="10700309" y="3172968"/>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a:t>
            </a:r>
            <a:endParaRPr lang="en-US" sz="800" dirty="0"/>
          </a:p>
        </p:txBody>
      </p:sp>
      <p:sp>
        <p:nvSpPr>
          <p:cNvPr id="74" name="Shape 71"/>
          <p:cNvSpPr/>
          <p:nvPr/>
        </p:nvSpPr>
        <p:spPr>
          <a:xfrm>
            <a:off x="365760" y="3749040"/>
            <a:ext cx="3840480" cy="9144"/>
          </a:xfrm>
          <a:prstGeom prst="rect">
            <a:avLst/>
          </a:prstGeom>
          <a:solidFill>
            <a:srgbClr val="CFCFD6"/>
          </a:solidFill>
          <a:ln w="12700">
            <a:solidFill>
              <a:srgbClr val="CFCFD6"/>
            </a:solidFill>
            <a:prstDash val="solid"/>
          </a:ln>
        </p:spPr>
        <p:txBody>
          <a:bodyPr/>
          <a:lstStyle/>
          <a:p>
            <a:endParaRPr lang="fr-FR"/>
          </a:p>
        </p:txBody>
      </p:sp>
      <p:sp>
        <p:nvSpPr>
          <p:cNvPr id="75" name="Text 72"/>
          <p:cNvSpPr/>
          <p:nvPr/>
        </p:nvSpPr>
        <p:spPr>
          <a:xfrm>
            <a:off x="4297680" y="3657600"/>
            <a:ext cx="3657600" cy="219456"/>
          </a:xfrm>
          <a:prstGeom prst="rect">
            <a:avLst/>
          </a:prstGeom>
          <a:noFill/>
          <a:ln/>
        </p:spPr>
        <p:txBody>
          <a:bodyPr wrap="square" rtlCol="0" anchor="ctr"/>
          <a:lstStyle/>
          <a:p>
            <a:pPr marL="0" indent="0" algn="ctr">
              <a:buNone/>
            </a:pPr>
            <a:r>
              <a:rPr lang="en-US" sz="1000" b="1" dirty="0">
                <a:solidFill>
                  <a:srgbClr val="6B6B7A"/>
                </a:solidFill>
                <a:latin typeface="Segoe UI" pitchFamily="34" charset="0"/>
                <a:ea typeface="Segoe UI" pitchFamily="34" charset="-122"/>
                <a:cs typeface="Segoe UI" pitchFamily="34" charset="-120"/>
              </a:rPr>
              <a:t>Cost, productivity &amp; development</a:t>
            </a:r>
            <a:endParaRPr lang="en-US" sz="1000" dirty="0"/>
          </a:p>
        </p:txBody>
      </p:sp>
      <p:sp>
        <p:nvSpPr>
          <p:cNvPr id="76" name="Shape 73"/>
          <p:cNvSpPr/>
          <p:nvPr/>
        </p:nvSpPr>
        <p:spPr>
          <a:xfrm>
            <a:off x="8046720" y="3749040"/>
            <a:ext cx="3749040" cy="9144"/>
          </a:xfrm>
          <a:prstGeom prst="rect">
            <a:avLst/>
          </a:prstGeom>
          <a:solidFill>
            <a:srgbClr val="CFCFD6"/>
          </a:solidFill>
          <a:ln w="12700">
            <a:solidFill>
              <a:srgbClr val="CFCFD6"/>
            </a:solidFill>
            <a:prstDash val="solid"/>
          </a:ln>
        </p:spPr>
        <p:txBody>
          <a:bodyPr/>
          <a:lstStyle/>
          <a:p>
            <a:endParaRPr lang="fr-FR"/>
          </a:p>
        </p:txBody>
      </p:sp>
      <p:sp>
        <p:nvSpPr>
          <p:cNvPr id="77" name="Shape 74"/>
          <p:cNvSpPr/>
          <p:nvPr/>
        </p:nvSpPr>
        <p:spPr>
          <a:xfrm>
            <a:off x="320040" y="3931920"/>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78" name="Shape 75"/>
          <p:cNvSpPr/>
          <p:nvPr/>
        </p:nvSpPr>
        <p:spPr>
          <a:xfrm>
            <a:off x="320040" y="3931920"/>
            <a:ext cx="64008" cy="1024128"/>
          </a:xfrm>
          <a:prstGeom prst="rect">
            <a:avLst/>
          </a:prstGeom>
          <a:solidFill>
            <a:srgbClr val="E30613"/>
          </a:solidFill>
          <a:ln w="12700">
            <a:solidFill>
              <a:srgbClr val="E30613"/>
            </a:solidFill>
            <a:prstDash val="solid"/>
          </a:ln>
        </p:spPr>
        <p:txBody>
          <a:bodyPr/>
          <a:lstStyle/>
          <a:p>
            <a:endParaRPr lang="fr-FR"/>
          </a:p>
        </p:txBody>
      </p:sp>
      <p:sp>
        <p:nvSpPr>
          <p:cNvPr id="79" name="Text 76"/>
          <p:cNvSpPr/>
          <p:nvPr/>
        </p:nvSpPr>
        <p:spPr>
          <a:xfrm>
            <a:off x="502920" y="4059936"/>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Leave Balance (avg days)</a:t>
            </a:r>
            <a:endParaRPr lang="en-US" sz="1100" dirty="0"/>
          </a:p>
        </p:txBody>
      </p:sp>
      <p:sp>
        <p:nvSpPr>
          <p:cNvPr id="80" name="Text 77"/>
          <p:cNvSpPr/>
          <p:nvPr/>
        </p:nvSpPr>
        <p:spPr>
          <a:xfrm>
            <a:off x="502920" y="4297680"/>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18 days</a:t>
            </a:r>
            <a:endParaRPr lang="en-US" sz="1300" dirty="0"/>
          </a:p>
        </p:txBody>
      </p:sp>
      <p:sp>
        <p:nvSpPr>
          <p:cNvPr id="81" name="Text 78"/>
          <p:cNvSpPr/>
          <p:nvPr/>
        </p:nvSpPr>
        <p:spPr>
          <a:xfrm>
            <a:off x="502920" y="4663440"/>
            <a:ext cx="1103132" cy="201168"/>
          </a:xfrm>
          <a:prstGeom prst="rect">
            <a:avLst/>
          </a:prstGeom>
          <a:noFill/>
          <a:ln/>
        </p:spPr>
        <p:txBody>
          <a:bodyPr wrap="square" rtlCol="0" anchor="ctr"/>
          <a:lstStyle/>
          <a:p>
            <a:pPr marL="0" indent="0">
              <a:buNone/>
            </a:pPr>
            <a:r>
              <a:rPr lang="en-US" sz="800" dirty="0">
                <a:solidFill>
                  <a:srgbClr val="B91C1C"/>
                </a:solidFill>
                <a:latin typeface="Segoe UI" pitchFamily="34" charset="0"/>
                <a:ea typeface="Segoe UI" pitchFamily="34" charset="-122"/>
                <a:cs typeface="Segoe UI" pitchFamily="34" charset="-120"/>
              </a:rPr>
              <a:t>▼ 3.3% vs prev.</a:t>
            </a:r>
            <a:endParaRPr lang="en-US" sz="800" dirty="0"/>
          </a:p>
        </p:txBody>
      </p:sp>
      <p:sp>
        <p:nvSpPr>
          <p:cNvPr id="82" name="Text 79"/>
          <p:cNvSpPr/>
          <p:nvPr/>
        </p:nvSpPr>
        <p:spPr>
          <a:xfrm>
            <a:off x="1263701" y="4663440"/>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19 days</a:t>
            </a:r>
            <a:endParaRPr lang="en-US" sz="800" dirty="0"/>
          </a:p>
        </p:txBody>
      </p:sp>
      <p:sp>
        <p:nvSpPr>
          <p:cNvPr id="83" name="Shape 80"/>
          <p:cNvSpPr/>
          <p:nvPr/>
        </p:nvSpPr>
        <p:spPr>
          <a:xfrm>
            <a:off x="2679192" y="3931920"/>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84" name="Shape 81"/>
          <p:cNvSpPr/>
          <p:nvPr/>
        </p:nvSpPr>
        <p:spPr>
          <a:xfrm>
            <a:off x="2679192" y="3931920"/>
            <a:ext cx="64008" cy="1024128"/>
          </a:xfrm>
          <a:prstGeom prst="rect">
            <a:avLst/>
          </a:prstGeom>
          <a:solidFill>
            <a:srgbClr val="E30613"/>
          </a:solidFill>
          <a:ln w="12700">
            <a:solidFill>
              <a:srgbClr val="E30613"/>
            </a:solidFill>
            <a:prstDash val="solid"/>
          </a:ln>
        </p:spPr>
        <p:txBody>
          <a:bodyPr/>
          <a:lstStyle/>
          <a:p>
            <a:endParaRPr lang="fr-FR"/>
          </a:p>
        </p:txBody>
      </p:sp>
      <p:sp>
        <p:nvSpPr>
          <p:cNvPr id="85" name="Text 82"/>
          <p:cNvSpPr/>
          <p:nvPr/>
        </p:nvSpPr>
        <p:spPr>
          <a:xfrm>
            <a:off x="2862072" y="4059936"/>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Leave COST</a:t>
            </a:r>
            <a:endParaRPr lang="en-US" sz="1100" dirty="0"/>
          </a:p>
        </p:txBody>
      </p:sp>
      <p:sp>
        <p:nvSpPr>
          <p:cNvPr id="86" name="Text 83"/>
          <p:cNvSpPr/>
          <p:nvPr/>
        </p:nvSpPr>
        <p:spPr>
          <a:xfrm>
            <a:off x="2862072" y="4297680"/>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$375,942.47</a:t>
            </a:r>
            <a:endParaRPr lang="en-US" sz="1300" dirty="0"/>
          </a:p>
        </p:txBody>
      </p:sp>
      <p:sp>
        <p:nvSpPr>
          <p:cNvPr id="87" name="Text 84"/>
          <p:cNvSpPr/>
          <p:nvPr/>
        </p:nvSpPr>
        <p:spPr>
          <a:xfrm>
            <a:off x="2862072" y="4663440"/>
            <a:ext cx="1103132" cy="201168"/>
          </a:xfrm>
          <a:prstGeom prst="rect">
            <a:avLst/>
          </a:prstGeom>
          <a:noFill/>
          <a:ln/>
        </p:spPr>
        <p:txBody>
          <a:bodyPr wrap="square" rtlCol="0" anchor="ctr"/>
          <a:lstStyle/>
          <a:p>
            <a:pPr marL="0" indent="0">
              <a:buNone/>
            </a:pPr>
            <a:r>
              <a:rPr lang="en-US" sz="800" dirty="0">
                <a:solidFill>
                  <a:srgbClr val="166534"/>
                </a:solidFill>
                <a:latin typeface="Segoe UI" pitchFamily="34" charset="0"/>
                <a:ea typeface="Segoe UI" pitchFamily="34" charset="-122"/>
                <a:cs typeface="Segoe UI" pitchFamily="34" charset="-120"/>
              </a:rPr>
              <a:t>▼ 10.5% vs prev.</a:t>
            </a:r>
            <a:endParaRPr lang="en-US" sz="800" dirty="0"/>
          </a:p>
        </p:txBody>
      </p:sp>
      <p:sp>
        <p:nvSpPr>
          <p:cNvPr id="88" name="Text 85"/>
          <p:cNvSpPr/>
          <p:nvPr/>
        </p:nvSpPr>
        <p:spPr>
          <a:xfrm>
            <a:off x="3622853" y="4663440"/>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$419,886.82</a:t>
            </a:r>
            <a:endParaRPr lang="en-US" sz="800" dirty="0"/>
          </a:p>
        </p:txBody>
      </p:sp>
      <p:sp>
        <p:nvSpPr>
          <p:cNvPr id="89" name="Shape 86"/>
          <p:cNvSpPr/>
          <p:nvPr/>
        </p:nvSpPr>
        <p:spPr>
          <a:xfrm>
            <a:off x="5038344" y="3931920"/>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90" name="Shape 87"/>
          <p:cNvSpPr/>
          <p:nvPr/>
        </p:nvSpPr>
        <p:spPr>
          <a:xfrm>
            <a:off x="5038344" y="3931920"/>
            <a:ext cx="64008" cy="1024128"/>
          </a:xfrm>
          <a:prstGeom prst="rect">
            <a:avLst/>
          </a:prstGeom>
          <a:solidFill>
            <a:srgbClr val="E30613"/>
          </a:solidFill>
          <a:ln w="12700">
            <a:solidFill>
              <a:srgbClr val="E30613"/>
            </a:solidFill>
            <a:prstDash val="solid"/>
          </a:ln>
        </p:spPr>
        <p:txBody>
          <a:bodyPr/>
          <a:lstStyle/>
          <a:p>
            <a:endParaRPr lang="fr-FR"/>
          </a:p>
        </p:txBody>
      </p:sp>
      <p:sp>
        <p:nvSpPr>
          <p:cNvPr id="91" name="Text 88"/>
          <p:cNvSpPr/>
          <p:nvPr/>
        </p:nvSpPr>
        <p:spPr>
          <a:xfrm>
            <a:off x="5221224" y="4059936"/>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Staff cost</a:t>
            </a:r>
            <a:endParaRPr lang="en-US" sz="1100" dirty="0"/>
          </a:p>
        </p:txBody>
      </p:sp>
      <p:sp>
        <p:nvSpPr>
          <p:cNvPr id="92" name="Text 89"/>
          <p:cNvSpPr/>
          <p:nvPr/>
        </p:nvSpPr>
        <p:spPr>
          <a:xfrm>
            <a:off x="5221224" y="4297680"/>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$861,928</a:t>
            </a:r>
            <a:endParaRPr lang="en-US" sz="1300" dirty="0"/>
          </a:p>
        </p:txBody>
      </p:sp>
      <p:sp>
        <p:nvSpPr>
          <p:cNvPr id="93" name="Text 90"/>
          <p:cNvSpPr/>
          <p:nvPr/>
        </p:nvSpPr>
        <p:spPr>
          <a:xfrm>
            <a:off x="5221224" y="4663440"/>
            <a:ext cx="1103132" cy="201168"/>
          </a:xfrm>
          <a:prstGeom prst="rect">
            <a:avLst/>
          </a:prstGeom>
          <a:noFill/>
          <a:ln/>
        </p:spPr>
        <p:txBody>
          <a:bodyPr wrap="square" rtlCol="0" anchor="ctr"/>
          <a:lstStyle/>
          <a:p>
            <a:pPr marL="0" indent="0">
              <a:buNone/>
            </a:pPr>
            <a:r>
              <a:rPr lang="en-US" sz="800" dirty="0">
                <a:solidFill>
                  <a:srgbClr val="166534"/>
                </a:solidFill>
                <a:latin typeface="Segoe UI" pitchFamily="34" charset="0"/>
                <a:ea typeface="Segoe UI" pitchFamily="34" charset="-122"/>
                <a:cs typeface="Segoe UI" pitchFamily="34" charset="-120"/>
              </a:rPr>
              <a:t>▼ 73.3% vs prev.</a:t>
            </a:r>
            <a:endParaRPr lang="en-US" sz="800" dirty="0"/>
          </a:p>
        </p:txBody>
      </p:sp>
      <p:sp>
        <p:nvSpPr>
          <p:cNvPr id="94" name="Text 91"/>
          <p:cNvSpPr/>
          <p:nvPr/>
        </p:nvSpPr>
        <p:spPr>
          <a:xfrm>
            <a:off x="5982005" y="4663440"/>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$3,228,979</a:t>
            </a:r>
            <a:endParaRPr lang="en-US" sz="800" dirty="0"/>
          </a:p>
        </p:txBody>
      </p:sp>
      <p:sp>
        <p:nvSpPr>
          <p:cNvPr id="95" name="Shape 92"/>
          <p:cNvSpPr/>
          <p:nvPr/>
        </p:nvSpPr>
        <p:spPr>
          <a:xfrm>
            <a:off x="7397496" y="3931920"/>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96" name="Shape 93"/>
          <p:cNvSpPr/>
          <p:nvPr/>
        </p:nvSpPr>
        <p:spPr>
          <a:xfrm>
            <a:off x="7397496" y="3931920"/>
            <a:ext cx="64008" cy="1024128"/>
          </a:xfrm>
          <a:prstGeom prst="rect">
            <a:avLst/>
          </a:prstGeom>
          <a:solidFill>
            <a:srgbClr val="E30613"/>
          </a:solidFill>
          <a:ln w="12700">
            <a:solidFill>
              <a:srgbClr val="E30613"/>
            </a:solidFill>
            <a:prstDash val="solid"/>
          </a:ln>
        </p:spPr>
        <p:txBody>
          <a:bodyPr/>
          <a:lstStyle/>
          <a:p>
            <a:endParaRPr lang="fr-FR"/>
          </a:p>
        </p:txBody>
      </p:sp>
      <p:sp>
        <p:nvSpPr>
          <p:cNvPr id="97" name="Text 94"/>
          <p:cNvSpPr/>
          <p:nvPr/>
        </p:nvSpPr>
        <p:spPr>
          <a:xfrm>
            <a:off x="7580376" y="4059936"/>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Overtime cost</a:t>
            </a:r>
            <a:endParaRPr lang="en-US" sz="1100" dirty="0"/>
          </a:p>
        </p:txBody>
      </p:sp>
      <p:sp>
        <p:nvSpPr>
          <p:cNvPr id="98" name="Text 95"/>
          <p:cNvSpPr/>
          <p:nvPr/>
        </p:nvSpPr>
        <p:spPr>
          <a:xfrm>
            <a:off x="7580376" y="4297680"/>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$9,335</a:t>
            </a:r>
            <a:endParaRPr lang="en-US" sz="1300" dirty="0"/>
          </a:p>
        </p:txBody>
      </p:sp>
      <p:sp>
        <p:nvSpPr>
          <p:cNvPr id="99" name="Text 96"/>
          <p:cNvSpPr/>
          <p:nvPr/>
        </p:nvSpPr>
        <p:spPr>
          <a:xfrm>
            <a:off x="7580376" y="4663440"/>
            <a:ext cx="1103132" cy="201168"/>
          </a:xfrm>
          <a:prstGeom prst="rect">
            <a:avLst/>
          </a:prstGeom>
          <a:noFill/>
          <a:ln/>
        </p:spPr>
        <p:txBody>
          <a:bodyPr wrap="square" rtlCol="0" anchor="ctr"/>
          <a:lstStyle/>
          <a:p>
            <a:pPr marL="0" indent="0">
              <a:buNone/>
            </a:pPr>
            <a:r>
              <a:rPr lang="en-US" sz="800" dirty="0">
                <a:solidFill>
                  <a:srgbClr val="166534"/>
                </a:solidFill>
                <a:latin typeface="Segoe UI" pitchFamily="34" charset="0"/>
                <a:ea typeface="Segoe UI" pitchFamily="34" charset="-122"/>
                <a:cs typeface="Segoe UI" pitchFamily="34" charset="-120"/>
              </a:rPr>
              <a:t>▼ 23.6% vs prev.</a:t>
            </a:r>
            <a:endParaRPr lang="en-US" sz="800" dirty="0"/>
          </a:p>
        </p:txBody>
      </p:sp>
      <p:sp>
        <p:nvSpPr>
          <p:cNvPr id="100" name="Text 97"/>
          <p:cNvSpPr/>
          <p:nvPr/>
        </p:nvSpPr>
        <p:spPr>
          <a:xfrm>
            <a:off x="8341157" y="4663440"/>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$12,223</a:t>
            </a:r>
            <a:endParaRPr lang="en-US" sz="800" dirty="0"/>
          </a:p>
        </p:txBody>
      </p:sp>
      <p:sp>
        <p:nvSpPr>
          <p:cNvPr id="101" name="Shape 98"/>
          <p:cNvSpPr/>
          <p:nvPr/>
        </p:nvSpPr>
        <p:spPr>
          <a:xfrm>
            <a:off x="9756648" y="3931920"/>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102" name="Shape 99"/>
          <p:cNvSpPr/>
          <p:nvPr/>
        </p:nvSpPr>
        <p:spPr>
          <a:xfrm>
            <a:off x="9756648" y="3931920"/>
            <a:ext cx="64008" cy="1024128"/>
          </a:xfrm>
          <a:prstGeom prst="rect">
            <a:avLst/>
          </a:prstGeom>
          <a:solidFill>
            <a:srgbClr val="E30613"/>
          </a:solidFill>
          <a:ln w="12700">
            <a:solidFill>
              <a:srgbClr val="E30613"/>
            </a:solidFill>
            <a:prstDash val="solid"/>
          </a:ln>
        </p:spPr>
        <p:txBody>
          <a:bodyPr/>
          <a:lstStyle/>
          <a:p>
            <a:endParaRPr lang="fr-FR"/>
          </a:p>
        </p:txBody>
      </p:sp>
      <p:sp>
        <p:nvSpPr>
          <p:cNvPr id="103" name="Text 100"/>
          <p:cNvSpPr/>
          <p:nvPr/>
        </p:nvSpPr>
        <p:spPr>
          <a:xfrm>
            <a:off x="9939528" y="4059936"/>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Revenue / emp</a:t>
            </a:r>
            <a:endParaRPr lang="en-US" sz="1100" dirty="0"/>
          </a:p>
        </p:txBody>
      </p:sp>
      <p:sp>
        <p:nvSpPr>
          <p:cNvPr id="104" name="Text 101"/>
          <p:cNvSpPr/>
          <p:nvPr/>
        </p:nvSpPr>
        <p:spPr>
          <a:xfrm>
            <a:off x="9939528" y="4297680"/>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$66,220</a:t>
            </a:r>
            <a:endParaRPr lang="en-US" sz="1300" dirty="0"/>
          </a:p>
        </p:txBody>
      </p:sp>
      <p:sp>
        <p:nvSpPr>
          <p:cNvPr id="105" name="Text 102"/>
          <p:cNvSpPr/>
          <p:nvPr/>
        </p:nvSpPr>
        <p:spPr>
          <a:xfrm>
            <a:off x="9939528" y="4663440"/>
            <a:ext cx="1103132" cy="201168"/>
          </a:xfrm>
          <a:prstGeom prst="rect">
            <a:avLst/>
          </a:prstGeom>
          <a:noFill/>
          <a:ln/>
        </p:spPr>
        <p:txBody>
          <a:bodyPr wrap="square" rtlCol="0" anchor="ctr"/>
          <a:lstStyle/>
          <a:p>
            <a:pPr marL="0" indent="0">
              <a:buNone/>
            </a:pPr>
            <a:r>
              <a:rPr lang="en-US" sz="800" dirty="0">
                <a:solidFill>
                  <a:srgbClr val="B91C1C"/>
                </a:solidFill>
                <a:latin typeface="Segoe UI" pitchFamily="34" charset="0"/>
                <a:ea typeface="Segoe UI" pitchFamily="34" charset="-122"/>
                <a:cs typeface="Segoe UI" pitchFamily="34" charset="-120"/>
              </a:rPr>
              <a:t>▼ 67.3% vs prev.</a:t>
            </a:r>
            <a:endParaRPr lang="en-US" sz="800" dirty="0"/>
          </a:p>
        </p:txBody>
      </p:sp>
      <p:sp>
        <p:nvSpPr>
          <p:cNvPr id="106" name="Text 103"/>
          <p:cNvSpPr/>
          <p:nvPr/>
        </p:nvSpPr>
        <p:spPr>
          <a:xfrm>
            <a:off x="10700309" y="4663440"/>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$202,404</a:t>
            </a:r>
            <a:endParaRPr lang="en-US" sz="800" dirty="0"/>
          </a:p>
        </p:txBody>
      </p:sp>
      <p:sp>
        <p:nvSpPr>
          <p:cNvPr id="107" name="Shape 104"/>
          <p:cNvSpPr/>
          <p:nvPr/>
        </p:nvSpPr>
        <p:spPr>
          <a:xfrm>
            <a:off x="320040" y="5047488"/>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108" name="Shape 105"/>
          <p:cNvSpPr/>
          <p:nvPr/>
        </p:nvSpPr>
        <p:spPr>
          <a:xfrm>
            <a:off x="320040" y="5047488"/>
            <a:ext cx="64008" cy="1024128"/>
          </a:xfrm>
          <a:prstGeom prst="rect">
            <a:avLst/>
          </a:prstGeom>
          <a:solidFill>
            <a:srgbClr val="E30613"/>
          </a:solidFill>
          <a:ln w="12700">
            <a:solidFill>
              <a:srgbClr val="E30613"/>
            </a:solidFill>
            <a:prstDash val="solid"/>
          </a:ln>
        </p:spPr>
        <p:txBody>
          <a:bodyPr/>
          <a:lstStyle/>
          <a:p>
            <a:endParaRPr lang="fr-FR"/>
          </a:p>
        </p:txBody>
      </p:sp>
      <p:sp>
        <p:nvSpPr>
          <p:cNvPr id="109" name="Text 106"/>
          <p:cNvSpPr/>
          <p:nvPr/>
        </p:nvSpPr>
        <p:spPr>
          <a:xfrm>
            <a:off x="502920" y="5175504"/>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Volume / emp</a:t>
            </a:r>
            <a:endParaRPr lang="en-US" sz="1100" dirty="0"/>
          </a:p>
        </p:txBody>
      </p:sp>
      <p:sp>
        <p:nvSpPr>
          <p:cNvPr id="110" name="Text 107"/>
          <p:cNvSpPr/>
          <p:nvPr/>
        </p:nvSpPr>
        <p:spPr>
          <a:xfrm>
            <a:off x="502920" y="5413248"/>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425</a:t>
            </a:r>
            <a:endParaRPr lang="en-US" sz="1300" dirty="0"/>
          </a:p>
        </p:txBody>
      </p:sp>
      <p:sp>
        <p:nvSpPr>
          <p:cNvPr id="111" name="Text 108"/>
          <p:cNvSpPr/>
          <p:nvPr/>
        </p:nvSpPr>
        <p:spPr>
          <a:xfrm>
            <a:off x="502920" y="5779008"/>
            <a:ext cx="1103132" cy="201168"/>
          </a:xfrm>
          <a:prstGeom prst="rect">
            <a:avLst/>
          </a:prstGeom>
          <a:noFill/>
          <a:ln/>
        </p:spPr>
        <p:txBody>
          <a:bodyPr wrap="square" rtlCol="0" anchor="ctr"/>
          <a:lstStyle/>
          <a:p>
            <a:pPr marL="0" indent="0">
              <a:buNone/>
            </a:pPr>
            <a:r>
              <a:rPr lang="en-US" sz="800" dirty="0">
                <a:solidFill>
                  <a:srgbClr val="B91C1C"/>
                </a:solidFill>
                <a:latin typeface="Segoe UI" pitchFamily="34" charset="0"/>
                <a:ea typeface="Segoe UI" pitchFamily="34" charset="-122"/>
                <a:cs typeface="Segoe UI" pitchFamily="34" charset="-120"/>
              </a:rPr>
              <a:t>▼ 66.8% vs prev.</a:t>
            </a:r>
            <a:endParaRPr lang="en-US" sz="800" dirty="0"/>
          </a:p>
        </p:txBody>
      </p:sp>
      <p:sp>
        <p:nvSpPr>
          <p:cNvPr id="112" name="Text 109"/>
          <p:cNvSpPr/>
          <p:nvPr/>
        </p:nvSpPr>
        <p:spPr>
          <a:xfrm>
            <a:off x="1263701" y="5779008"/>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1,279</a:t>
            </a:r>
            <a:endParaRPr lang="en-US" sz="800" dirty="0"/>
          </a:p>
        </p:txBody>
      </p:sp>
      <p:sp>
        <p:nvSpPr>
          <p:cNvPr id="113" name="Shape 110"/>
          <p:cNvSpPr/>
          <p:nvPr/>
        </p:nvSpPr>
        <p:spPr>
          <a:xfrm>
            <a:off x="2679192" y="5047488"/>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114" name="Shape 111"/>
          <p:cNvSpPr/>
          <p:nvPr/>
        </p:nvSpPr>
        <p:spPr>
          <a:xfrm>
            <a:off x="2679192" y="5047488"/>
            <a:ext cx="64008" cy="1024128"/>
          </a:xfrm>
          <a:prstGeom prst="rect">
            <a:avLst/>
          </a:prstGeom>
          <a:solidFill>
            <a:srgbClr val="E30613"/>
          </a:solidFill>
          <a:ln w="12700">
            <a:solidFill>
              <a:srgbClr val="E30613"/>
            </a:solidFill>
            <a:prstDash val="solid"/>
          </a:ln>
        </p:spPr>
        <p:txBody>
          <a:bodyPr/>
          <a:lstStyle/>
          <a:p>
            <a:endParaRPr lang="fr-FR"/>
          </a:p>
        </p:txBody>
      </p:sp>
      <p:sp>
        <p:nvSpPr>
          <p:cNvPr id="115" name="Text 112"/>
          <p:cNvSpPr/>
          <p:nvPr/>
        </p:nvSpPr>
        <p:spPr>
          <a:xfrm>
            <a:off x="2862072" y="5175504"/>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Training Cost</a:t>
            </a:r>
            <a:endParaRPr lang="en-US" sz="1100" dirty="0"/>
          </a:p>
        </p:txBody>
      </p:sp>
      <p:sp>
        <p:nvSpPr>
          <p:cNvPr id="116" name="Text 113"/>
          <p:cNvSpPr/>
          <p:nvPr/>
        </p:nvSpPr>
        <p:spPr>
          <a:xfrm>
            <a:off x="2862072" y="5413248"/>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a:t>
            </a:r>
            <a:endParaRPr lang="en-US" sz="1300" dirty="0"/>
          </a:p>
        </p:txBody>
      </p:sp>
      <p:sp>
        <p:nvSpPr>
          <p:cNvPr id="117" name="Text 114"/>
          <p:cNvSpPr/>
          <p:nvPr/>
        </p:nvSpPr>
        <p:spPr>
          <a:xfrm>
            <a:off x="2862072" y="5779008"/>
            <a:ext cx="1103132" cy="201168"/>
          </a:xfrm>
          <a:prstGeom prst="rect">
            <a:avLst/>
          </a:prstGeom>
          <a:noFill/>
          <a:ln/>
        </p:spPr>
        <p:txBody>
          <a:bodyPr wrap="square" rtlCol="0" anchor="ctr"/>
          <a:lstStyle/>
          <a:p>
            <a:pPr marL="0" indent="0">
              <a:buNone/>
            </a:pPr>
            <a:r>
              <a:rPr lang="en-US" sz="800" dirty="0">
                <a:solidFill>
                  <a:srgbClr val="6B6B7A"/>
                </a:solidFill>
                <a:latin typeface="Segoe UI" pitchFamily="34" charset="0"/>
                <a:ea typeface="Segoe UI" pitchFamily="34" charset="-122"/>
                <a:cs typeface="Segoe UI" pitchFamily="34" charset="-120"/>
              </a:rPr>
              <a:t>vs prev. —</a:t>
            </a:r>
            <a:endParaRPr lang="en-US" sz="800" dirty="0"/>
          </a:p>
        </p:txBody>
      </p:sp>
      <p:sp>
        <p:nvSpPr>
          <p:cNvPr id="118" name="Text 115"/>
          <p:cNvSpPr/>
          <p:nvPr/>
        </p:nvSpPr>
        <p:spPr>
          <a:xfrm>
            <a:off x="3622853" y="5779008"/>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a:t>
            </a:r>
            <a:endParaRPr lang="en-US" sz="800" dirty="0"/>
          </a:p>
        </p:txBody>
      </p:sp>
      <p:sp>
        <p:nvSpPr>
          <p:cNvPr id="119" name="Shape 116"/>
          <p:cNvSpPr/>
          <p:nvPr/>
        </p:nvSpPr>
        <p:spPr>
          <a:xfrm>
            <a:off x="5038344" y="5047488"/>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120" name="Shape 117"/>
          <p:cNvSpPr/>
          <p:nvPr/>
        </p:nvSpPr>
        <p:spPr>
          <a:xfrm>
            <a:off x="5038344" y="5047488"/>
            <a:ext cx="64008" cy="1024128"/>
          </a:xfrm>
          <a:prstGeom prst="rect">
            <a:avLst/>
          </a:prstGeom>
          <a:solidFill>
            <a:srgbClr val="E30613"/>
          </a:solidFill>
          <a:ln w="12700">
            <a:solidFill>
              <a:srgbClr val="E30613"/>
            </a:solidFill>
            <a:prstDash val="solid"/>
          </a:ln>
        </p:spPr>
        <p:txBody>
          <a:bodyPr/>
          <a:lstStyle/>
          <a:p>
            <a:endParaRPr lang="fr-FR"/>
          </a:p>
        </p:txBody>
      </p:sp>
      <p:sp>
        <p:nvSpPr>
          <p:cNvPr id="121" name="Text 118"/>
          <p:cNvSpPr/>
          <p:nvPr/>
        </p:nvSpPr>
        <p:spPr>
          <a:xfrm>
            <a:off x="5221224" y="5175504"/>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Training Hours</a:t>
            </a:r>
            <a:endParaRPr lang="en-US" sz="1100" dirty="0"/>
          </a:p>
        </p:txBody>
      </p:sp>
      <p:sp>
        <p:nvSpPr>
          <p:cNvPr id="122" name="Text 119"/>
          <p:cNvSpPr/>
          <p:nvPr/>
        </p:nvSpPr>
        <p:spPr>
          <a:xfrm>
            <a:off x="5221224" y="5413248"/>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a:t>
            </a:r>
            <a:endParaRPr lang="en-US" sz="1300" dirty="0"/>
          </a:p>
        </p:txBody>
      </p:sp>
      <p:sp>
        <p:nvSpPr>
          <p:cNvPr id="123" name="Text 120"/>
          <p:cNvSpPr/>
          <p:nvPr/>
        </p:nvSpPr>
        <p:spPr>
          <a:xfrm>
            <a:off x="5221224" y="5779008"/>
            <a:ext cx="1103132" cy="201168"/>
          </a:xfrm>
          <a:prstGeom prst="rect">
            <a:avLst/>
          </a:prstGeom>
          <a:noFill/>
          <a:ln/>
        </p:spPr>
        <p:txBody>
          <a:bodyPr wrap="square" rtlCol="0" anchor="ctr"/>
          <a:lstStyle/>
          <a:p>
            <a:pPr marL="0" indent="0">
              <a:buNone/>
            </a:pPr>
            <a:r>
              <a:rPr lang="en-US" sz="800" dirty="0">
                <a:solidFill>
                  <a:srgbClr val="6B6B7A"/>
                </a:solidFill>
                <a:latin typeface="Segoe UI" pitchFamily="34" charset="0"/>
                <a:ea typeface="Segoe UI" pitchFamily="34" charset="-122"/>
                <a:cs typeface="Segoe UI" pitchFamily="34" charset="-120"/>
              </a:rPr>
              <a:t>vs prev. —</a:t>
            </a:r>
            <a:endParaRPr lang="en-US" sz="800" dirty="0"/>
          </a:p>
        </p:txBody>
      </p:sp>
      <p:sp>
        <p:nvSpPr>
          <p:cNvPr id="124" name="Text 121"/>
          <p:cNvSpPr/>
          <p:nvPr/>
        </p:nvSpPr>
        <p:spPr>
          <a:xfrm>
            <a:off x="5982005" y="5779008"/>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a:t>
            </a:r>
            <a:endParaRPr lang="en-US" sz="800" dirty="0"/>
          </a:p>
        </p:txBody>
      </p:sp>
      <p:sp>
        <p:nvSpPr>
          <p:cNvPr id="125" name="Shape 122"/>
          <p:cNvSpPr/>
          <p:nvPr/>
        </p:nvSpPr>
        <p:spPr>
          <a:xfrm>
            <a:off x="7397496" y="5047488"/>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126" name="Shape 123"/>
          <p:cNvSpPr/>
          <p:nvPr/>
        </p:nvSpPr>
        <p:spPr>
          <a:xfrm>
            <a:off x="7397496" y="5047488"/>
            <a:ext cx="64008" cy="1024128"/>
          </a:xfrm>
          <a:prstGeom prst="rect">
            <a:avLst/>
          </a:prstGeom>
          <a:solidFill>
            <a:srgbClr val="E30613"/>
          </a:solidFill>
          <a:ln w="12700">
            <a:solidFill>
              <a:srgbClr val="E30613"/>
            </a:solidFill>
            <a:prstDash val="solid"/>
          </a:ln>
        </p:spPr>
        <p:txBody>
          <a:bodyPr/>
          <a:lstStyle/>
          <a:p>
            <a:endParaRPr lang="fr-FR"/>
          </a:p>
        </p:txBody>
      </p:sp>
      <p:sp>
        <p:nvSpPr>
          <p:cNvPr id="127" name="Text 124"/>
          <p:cNvSpPr/>
          <p:nvPr/>
        </p:nvSpPr>
        <p:spPr>
          <a:xfrm>
            <a:off x="7580376" y="5175504"/>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Employee Engagement</a:t>
            </a:r>
            <a:endParaRPr lang="en-US" sz="1100" dirty="0"/>
          </a:p>
        </p:txBody>
      </p:sp>
      <p:sp>
        <p:nvSpPr>
          <p:cNvPr id="128" name="Text 125"/>
          <p:cNvSpPr/>
          <p:nvPr/>
        </p:nvSpPr>
        <p:spPr>
          <a:xfrm>
            <a:off x="7580376" y="5413248"/>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a:t>
            </a:r>
            <a:endParaRPr lang="en-US" sz="1300" dirty="0"/>
          </a:p>
        </p:txBody>
      </p:sp>
      <p:sp>
        <p:nvSpPr>
          <p:cNvPr id="129" name="Text 126"/>
          <p:cNvSpPr/>
          <p:nvPr/>
        </p:nvSpPr>
        <p:spPr>
          <a:xfrm>
            <a:off x="7580376" y="5779008"/>
            <a:ext cx="1103132" cy="201168"/>
          </a:xfrm>
          <a:prstGeom prst="rect">
            <a:avLst/>
          </a:prstGeom>
          <a:noFill/>
          <a:ln/>
        </p:spPr>
        <p:txBody>
          <a:bodyPr wrap="square" rtlCol="0" anchor="ctr"/>
          <a:lstStyle/>
          <a:p>
            <a:pPr marL="0" indent="0">
              <a:buNone/>
            </a:pPr>
            <a:r>
              <a:rPr lang="en-US" sz="800" dirty="0">
                <a:solidFill>
                  <a:srgbClr val="6B6B7A"/>
                </a:solidFill>
                <a:latin typeface="Segoe UI" pitchFamily="34" charset="0"/>
                <a:ea typeface="Segoe UI" pitchFamily="34" charset="-122"/>
                <a:cs typeface="Segoe UI" pitchFamily="34" charset="-120"/>
              </a:rPr>
              <a:t>vs prev. —</a:t>
            </a:r>
            <a:endParaRPr lang="en-US" sz="800" dirty="0"/>
          </a:p>
        </p:txBody>
      </p:sp>
      <p:sp>
        <p:nvSpPr>
          <p:cNvPr id="130" name="Text 127"/>
          <p:cNvSpPr/>
          <p:nvPr/>
        </p:nvSpPr>
        <p:spPr>
          <a:xfrm>
            <a:off x="8341157" y="5779008"/>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a:t>
            </a:r>
            <a:endParaRPr lang="en-US" sz="800" dirty="0"/>
          </a:p>
        </p:txBody>
      </p:sp>
      <p:sp>
        <p:nvSpPr>
          <p:cNvPr id="131" name="Shape 128"/>
          <p:cNvSpPr/>
          <p:nvPr/>
        </p:nvSpPr>
        <p:spPr>
          <a:xfrm>
            <a:off x="9756648" y="5047488"/>
            <a:ext cx="2267712" cy="1024128"/>
          </a:xfrm>
          <a:prstGeom prst="roundRect">
            <a:avLst>
              <a:gd name="adj" fmla="val 7143"/>
            </a:avLst>
          </a:prstGeom>
          <a:solidFill>
            <a:srgbClr val="FFFFFF"/>
          </a:solidFill>
          <a:ln w="12700">
            <a:solidFill>
              <a:srgbClr val="E0E0E6"/>
            </a:solidFill>
            <a:prstDash val="solid"/>
          </a:ln>
          <a:effectLst>
            <a:outerShdw blurRad="76200" dist="12700" dir="16200000" algn="bl" rotWithShape="0">
              <a:srgbClr val="000000">
                <a:alpha val="7000"/>
              </a:srgbClr>
            </a:outerShdw>
          </a:effectLst>
        </p:spPr>
        <p:txBody>
          <a:bodyPr/>
          <a:lstStyle/>
          <a:p>
            <a:endParaRPr lang="fr-FR"/>
          </a:p>
        </p:txBody>
      </p:sp>
      <p:sp>
        <p:nvSpPr>
          <p:cNvPr id="132" name="Shape 129"/>
          <p:cNvSpPr/>
          <p:nvPr/>
        </p:nvSpPr>
        <p:spPr>
          <a:xfrm>
            <a:off x="9756648" y="5047488"/>
            <a:ext cx="64008" cy="1024128"/>
          </a:xfrm>
          <a:prstGeom prst="rect">
            <a:avLst/>
          </a:prstGeom>
          <a:solidFill>
            <a:srgbClr val="E30613"/>
          </a:solidFill>
          <a:ln w="12700">
            <a:solidFill>
              <a:srgbClr val="E30613"/>
            </a:solidFill>
            <a:prstDash val="solid"/>
          </a:ln>
        </p:spPr>
        <p:txBody>
          <a:bodyPr/>
          <a:lstStyle/>
          <a:p>
            <a:endParaRPr lang="fr-FR"/>
          </a:p>
        </p:txBody>
      </p:sp>
      <p:sp>
        <p:nvSpPr>
          <p:cNvPr id="133" name="Text 130"/>
          <p:cNvSpPr/>
          <p:nvPr/>
        </p:nvSpPr>
        <p:spPr>
          <a:xfrm>
            <a:off x="9939528" y="5175504"/>
            <a:ext cx="1947672" cy="237744"/>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Competencies Gap Coverage</a:t>
            </a:r>
            <a:endParaRPr lang="en-US" sz="1100" dirty="0"/>
          </a:p>
        </p:txBody>
      </p:sp>
      <p:sp>
        <p:nvSpPr>
          <p:cNvPr id="134" name="Text 131"/>
          <p:cNvSpPr/>
          <p:nvPr/>
        </p:nvSpPr>
        <p:spPr>
          <a:xfrm>
            <a:off x="9939528" y="5413248"/>
            <a:ext cx="1947672" cy="329184"/>
          </a:xfrm>
          <a:prstGeom prst="rect">
            <a:avLst/>
          </a:prstGeom>
          <a:noFill/>
          <a:ln/>
        </p:spPr>
        <p:txBody>
          <a:bodyPr wrap="square" rtlCol="0" anchor="ctr"/>
          <a:lstStyle/>
          <a:p>
            <a:pPr marL="0" indent="0" algn="l">
              <a:buNone/>
            </a:pPr>
            <a:r>
              <a:rPr lang="en-US" sz="1300" b="1" dirty="0">
                <a:solidFill>
                  <a:srgbClr val="16161E"/>
                </a:solidFill>
                <a:latin typeface="Segoe UI" pitchFamily="34" charset="0"/>
                <a:ea typeface="Segoe UI" pitchFamily="34" charset="-122"/>
                <a:cs typeface="Segoe UI" pitchFamily="34" charset="-120"/>
              </a:rPr>
              <a:t>—</a:t>
            </a:r>
            <a:endParaRPr lang="en-US" sz="1300" dirty="0"/>
          </a:p>
        </p:txBody>
      </p:sp>
      <p:sp>
        <p:nvSpPr>
          <p:cNvPr id="135" name="Text 132"/>
          <p:cNvSpPr/>
          <p:nvPr/>
        </p:nvSpPr>
        <p:spPr>
          <a:xfrm>
            <a:off x="9939528" y="5779008"/>
            <a:ext cx="1103132" cy="201168"/>
          </a:xfrm>
          <a:prstGeom prst="rect">
            <a:avLst/>
          </a:prstGeom>
          <a:noFill/>
          <a:ln/>
        </p:spPr>
        <p:txBody>
          <a:bodyPr wrap="square" rtlCol="0" anchor="ctr"/>
          <a:lstStyle/>
          <a:p>
            <a:pPr marL="0" indent="0">
              <a:buNone/>
            </a:pPr>
            <a:r>
              <a:rPr lang="en-US" sz="800" dirty="0">
                <a:solidFill>
                  <a:srgbClr val="6B6B7A"/>
                </a:solidFill>
                <a:latin typeface="Segoe UI" pitchFamily="34" charset="0"/>
                <a:ea typeface="Segoe UI" pitchFamily="34" charset="-122"/>
                <a:cs typeface="Segoe UI" pitchFamily="34" charset="-120"/>
              </a:rPr>
              <a:t>vs prev. —</a:t>
            </a:r>
            <a:endParaRPr lang="en-US" sz="800" dirty="0"/>
          </a:p>
        </p:txBody>
      </p:sp>
      <p:sp>
        <p:nvSpPr>
          <p:cNvPr id="136" name="Text 133"/>
          <p:cNvSpPr/>
          <p:nvPr/>
        </p:nvSpPr>
        <p:spPr>
          <a:xfrm>
            <a:off x="10700309" y="5779008"/>
            <a:ext cx="1141171" cy="201168"/>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a:t>
            </a:r>
            <a:endParaRPr lang="en-US" sz="800" dirty="0"/>
          </a:p>
        </p:txBody>
      </p:sp>
      <p:sp>
        <p:nvSpPr>
          <p:cNvPr id="138" name="Text 15">
            <a:extLst>
              <a:ext uri="{FF2B5EF4-FFF2-40B4-BE49-F238E27FC236}">
                <a16:creationId xmlns:a16="http://schemas.microsoft.com/office/drawing/2014/main" id="{F9637D71-6EA4-5109-90B2-E73D34991B4F}"/>
              </a:ext>
            </a:extLst>
          </p:cNvPr>
          <p:cNvSpPr/>
          <p:nvPr/>
        </p:nvSpPr>
        <p:spPr>
          <a:xfrm>
            <a:off x="2863642" y="2056257"/>
            <a:ext cx="1103132" cy="201168"/>
          </a:xfrm>
          <a:prstGeom prst="rect">
            <a:avLst/>
          </a:prstGeom>
          <a:noFill/>
          <a:ln/>
        </p:spPr>
        <p:txBody>
          <a:bodyPr wrap="square" rtlCol="0" anchor="ctr"/>
          <a:lstStyle/>
          <a:p>
            <a:pPr marL="0" indent="0">
              <a:buNone/>
            </a:pPr>
            <a:r>
              <a:rPr lang="en-US" sz="800" dirty="0">
                <a:solidFill>
                  <a:srgbClr val="6B6B7A"/>
                </a:solidFill>
                <a:latin typeface="Segoe UI" pitchFamily="34" charset="0"/>
                <a:ea typeface="Segoe UI" pitchFamily="34" charset="-122"/>
                <a:cs typeface="Segoe UI" pitchFamily="34" charset="-120"/>
              </a:rPr>
              <a:t>vs prev.</a:t>
            </a:r>
            <a:endParaRPr lang="en-US" sz="800" dirty="0"/>
          </a:p>
        </p:txBody>
      </p:sp>
      <p:sp>
        <p:nvSpPr>
          <p:cNvPr id="140" name="Text 15">
            <a:extLst>
              <a:ext uri="{FF2B5EF4-FFF2-40B4-BE49-F238E27FC236}">
                <a16:creationId xmlns:a16="http://schemas.microsoft.com/office/drawing/2014/main" id="{F9021D29-A4F8-D392-7641-80E2FDFAC444}"/>
              </a:ext>
            </a:extLst>
          </p:cNvPr>
          <p:cNvSpPr/>
          <p:nvPr/>
        </p:nvSpPr>
        <p:spPr>
          <a:xfrm>
            <a:off x="7560945" y="2057400"/>
            <a:ext cx="1103132" cy="201168"/>
          </a:xfrm>
          <a:prstGeom prst="rect">
            <a:avLst/>
          </a:prstGeom>
          <a:noFill/>
          <a:ln/>
        </p:spPr>
        <p:txBody>
          <a:bodyPr wrap="square" rtlCol="0" anchor="ctr"/>
          <a:lstStyle/>
          <a:p>
            <a:pPr marL="0" indent="0">
              <a:buNone/>
            </a:pPr>
            <a:r>
              <a:rPr lang="en-US" sz="800" dirty="0">
                <a:solidFill>
                  <a:srgbClr val="6B6B7A"/>
                </a:solidFill>
                <a:latin typeface="Segoe UI" pitchFamily="34" charset="0"/>
                <a:ea typeface="Segoe UI" pitchFamily="34" charset="-122"/>
                <a:cs typeface="Segoe UI" pitchFamily="34" charset="-120"/>
              </a:rPr>
              <a:t>• 0% vs prev.</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E8E8EC"/>
        </a:solidFill>
        <a:effectLst/>
      </p:bgPr>
    </p:bg>
    <p:spTree>
      <p:nvGrpSpPr>
        <p:cNvPr id="1" name=""/>
        <p:cNvGrpSpPr/>
        <p:nvPr/>
      </p:nvGrpSpPr>
      <p:grpSpPr>
        <a:xfrm>
          <a:off x="0" y="0"/>
          <a:ext cx="0" cy="0"/>
          <a:chOff x="0" y="0"/>
          <a:chExt cx="0" cy="0"/>
        </a:xfrm>
      </p:grpSpPr>
      <p:pic>
        <p:nvPicPr>
          <p:cNvPr id="2" name="Image 0" descr="D:\Apps\hr-rh-app\templates\exco\cover-assets\slide-fade.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4" name="Shape 1"/>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Shape 2"/>
          <p:cNvSpPr/>
          <p:nvPr/>
        </p:nvSpPr>
        <p:spPr>
          <a:xfrm>
            <a:off x="292608" y="146304"/>
            <a:ext cx="365760" cy="365760"/>
          </a:xfrm>
          <a:prstGeom prst="roundRect">
            <a:avLst>
              <a:gd name="adj" fmla="val 15000"/>
            </a:avLst>
          </a:prstGeom>
          <a:solidFill>
            <a:srgbClr val="E30613"/>
          </a:solidFill>
          <a:ln w="12700">
            <a:solidFill>
              <a:srgbClr val="E30613"/>
            </a:solidFill>
            <a:prstDash val="solid"/>
          </a:ln>
        </p:spPr>
        <p:txBody>
          <a:bodyPr/>
          <a:lstStyle/>
          <a:p>
            <a:endParaRPr lang="fr-FR"/>
          </a:p>
        </p:txBody>
      </p:sp>
      <p:sp>
        <p:nvSpPr>
          <p:cNvPr id="6" name="Text 3"/>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03</a:t>
            </a:r>
            <a:endParaRPr lang="en-US" sz="1200" dirty="0"/>
          </a:p>
        </p:txBody>
      </p:sp>
      <p:sp>
        <p:nvSpPr>
          <p:cNvPr id="7" name="Text 4"/>
          <p:cNvSpPr/>
          <p:nvPr/>
        </p:nvSpPr>
        <p:spPr>
          <a:xfrm>
            <a:off x="804672" y="128016"/>
            <a:ext cx="4572000" cy="146304"/>
          </a:xfrm>
          <a:prstGeom prst="rect">
            <a:avLst/>
          </a:prstGeom>
          <a:noFill/>
          <a:ln/>
        </p:spPr>
        <p:txBody>
          <a:bodyPr wrap="square" rtlCol="0" anchor="ctr"/>
          <a:lstStyle/>
          <a:p>
            <a:pPr marL="0" indent="0">
              <a:buNone/>
            </a:pPr>
            <a:r>
              <a:rPr lang="en-US" sz="900" b="1" dirty="0">
                <a:solidFill>
                  <a:srgbClr val="E30613"/>
                </a:solidFill>
                <a:latin typeface="Segoe UI" pitchFamily="34" charset="0"/>
                <a:ea typeface="Segoe UI" pitchFamily="34" charset="-122"/>
                <a:cs typeface="Segoe UI" pitchFamily="34" charset="-120"/>
              </a:rPr>
              <a:t>PPC · HR EXCO</a:t>
            </a:r>
            <a:endParaRPr lang="en-US" sz="900" dirty="0"/>
          </a:p>
        </p:txBody>
      </p:sp>
      <p:sp>
        <p:nvSpPr>
          <p:cNvPr id="8" name="Text 5"/>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HR KPI — Trends</a:t>
            </a:r>
            <a:endParaRPr lang="en-US" sz="1800" dirty="0"/>
          </a:p>
        </p:txBody>
      </p:sp>
      <p:sp>
        <p:nvSpPr>
          <p:cNvPr id="9" name="Text 6"/>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10" name="Shape 7"/>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11" name="Shape 8"/>
          <p:cNvSpPr/>
          <p:nvPr/>
        </p:nvSpPr>
        <p:spPr>
          <a:xfrm>
            <a:off x="256032" y="841248"/>
            <a:ext cx="11658600" cy="5760720"/>
          </a:xfrm>
          <a:prstGeom prst="roundRect">
            <a:avLst>
              <a:gd name="adj" fmla="val 1270"/>
            </a:avLst>
          </a:prstGeom>
          <a:solidFill>
            <a:srgbClr val="FFFFFF"/>
          </a:solidFill>
          <a:ln w="12700">
            <a:solidFill>
              <a:srgbClr val="E0E0E6"/>
            </a:solidFill>
            <a:prstDash val="solid"/>
          </a:ln>
        </p:spPr>
        <p:txBody>
          <a:bodyPr/>
          <a:lstStyle/>
          <a:p>
            <a:endParaRPr lang="fr-FR"/>
          </a:p>
        </p:txBody>
      </p:sp>
      <p:sp>
        <p:nvSpPr>
          <p:cNvPr id="12" name="Text 9"/>
          <p:cNvSpPr/>
          <p:nvPr/>
        </p:nvSpPr>
        <p:spPr>
          <a:xfrm>
            <a:off x="502920" y="960120"/>
            <a:ext cx="11155680" cy="274320"/>
          </a:xfrm>
          <a:prstGeom prst="rect">
            <a:avLst/>
          </a:prstGeom>
          <a:noFill/>
          <a:ln/>
        </p:spPr>
        <p:txBody>
          <a:bodyPr wrap="square" rtlCol="0" anchor="ctr"/>
          <a:lstStyle/>
          <a:p>
            <a:pPr marL="0" indent="0">
              <a:buNone/>
            </a:pPr>
            <a:r>
              <a:rPr lang="en-US" sz="1300" b="1" dirty="0">
                <a:solidFill>
                  <a:srgbClr val="16161E"/>
                </a:solidFill>
                <a:latin typeface="Segoe UI" pitchFamily="34" charset="0"/>
                <a:ea typeface="Segoe UI" pitchFamily="34" charset="-122"/>
                <a:cs typeface="Segoe UI" pitchFamily="34" charset="-120"/>
              </a:rPr>
              <a:t>1. Financial KPIs</a:t>
            </a:r>
            <a:endParaRPr lang="en-US" sz="1300" dirty="0"/>
          </a:p>
        </p:txBody>
      </p:sp>
      <p:sp>
        <p:nvSpPr>
          <p:cNvPr id="13" name="Shape 10"/>
          <p:cNvSpPr/>
          <p:nvPr/>
        </p:nvSpPr>
        <p:spPr>
          <a:xfrm>
            <a:off x="502920" y="1234440"/>
            <a:ext cx="11155680" cy="16459"/>
          </a:xfrm>
          <a:prstGeom prst="rect">
            <a:avLst/>
          </a:prstGeom>
          <a:solidFill>
            <a:srgbClr val="E30613"/>
          </a:solidFill>
          <a:ln w="12700">
            <a:solidFill>
              <a:srgbClr val="E30613"/>
            </a:solidFill>
            <a:prstDash val="solid"/>
          </a:ln>
        </p:spPr>
        <p:txBody>
          <a:bodyPr/>
          <a:lstStyle/>
          <a:p>
            <a:endParaRPr lang="fr-FR"/>
          </a:p>
        </p:txBody>
      </p:sp>
      <p:graphicFrame>
        <p:nvGraphicFramePr>
          <p:cNvPr id="14" name="Table 0"/>
          <p:cNvGraphicFramePr>
            <a:graphicFrameLocks noGrp="1"/>
          </p:cNvGraphicFramePr>
          <p:nvPr>
            <p:extLst>
              <p:ext uri="{D42A27DB-BD31-4B8C-83A1-F6EECF244321}">
                <p14:modId xmlns:p14="http://schemas.microsoft.com/office/powerpoint/2010/main" val="2690986512"/>
              </p:ext>
            </p:extLst>
          </p:nvPr>
        </p:nvGraphicFramePr>
        <p:xfrm>
          <a:off x="502920" y="1325880"/>
          <a:ext cx="11155688" cy="1719072"/>
        </p:xfrm>
        <a:graphic>
          <a:graphicData uri="http://schemas.openxmlformats.org/drawingml/2006/table">
            <a:tbl>
              <a:tblPr/>
              <a:tblGrid>
                <a:gridCol w="1691640">
                  <a:extLst>
                    <a:ext uri="{9D8B030D-6E8A-4147-A177-3AD203B41FA5}">
                      <a16:colId xmlns:a16="http://schemas.microsoft.com/office/drawing/2014/main" val="20000"/>
                    </a:ext>
                  </a:extLst>
                </a:gridCol>
                <a:gridCol w="591503">
                  <a:extLst>
                    <a:ext uri="{9D8B030D-6E8A-4147-A177-3AD203B41FA5}">
                      <a16:colId xmlns:a16="http://schemas.microsoft.com/office/drawing/2014/main" val="20001"/>
                    </a:ext>
                  </a:extLst>
                </a:gridCol>
                <a:gridCol w="624649">
                  <a:extLst>
                    <a:ext uri="{9D8B030D-6E8A-4147-A177-3AD203B41FA5}">
                      <a16:colId xmlns:a16="http://schemas.microsoft.com/office/drawing/2014/main" val="20002"/>
                    </a:ext>
                  </a:extLst>
                </a:gridCol>
                <a:gridCol w="630936">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704088">
                  <a:extLst>
                    <a:ext uri="{9D8B030D-6E8A-4147-A177-3AD203B41FA5}">
                      <a16:colId xmlns:a16="http://schemas.microsoft.com/office/drawing/2014/main" val="20005"/>
                    </a:ext>
                  </a:extLst>
                </a:gridCol>
                <a:gridCol w="658368">
                  <a:extLst>
                    <a:ext uri="{9D8B030D-6E8A-4147-A177-3AD203B41FA5}">
                      <a16:colId xmlns:a16="http://schemas.microsoft.com/office/drawing/2014/main" val="20006"/>
                    </a:ext>
                  </a:extLst>
                </a:gridCol>
                <a:gridCol w="411480">
                  <a:extLst>
                    <a:ext uri="{9D8B030D-6E8A-4147-A177-3AD203B41FA5}">
                      <a16:colId xmlns:a16="http://schemas.microsoft.com/office/drawing/2014/main" val="20007"/>
                    </a:ext>
                  </a:extLst>
                </a:gridCol>
                <a:gridCol w="512064">
                  <a:extLst>
                    <a:ext uri="{9D8B030D-6E8A-4147-A177-3AD203B41FA5}">
                      <a16:colId xmlns:a16="http://schemas.microsoft.com/office/drawing/2014/main" val="20008"/>
                    </a:ext>
                  </a:extLst>
                </a:gridCol>
                <a:gridCol w="429768">
                  <a:extLst>
                    <a:ext uri="{9D8B030D-6E8A-4147-A177-3AD203B41FA5}">
                      <a16:colId xmlns:a16="http://schemas.microsoft.com/office/drawing/2014/main" val="20009"/>
                    </a:ext>
                  </a:extLst>
                </a:gridCol>
                <a:gridCol w="475488">
                  <a:extLst>
                    <a:ext uri="{9D8B030D-6E8A-4147-A177-3AD203B41FA5}">
                      <a16:colId xmlns:a16="http://schemas.microsoft.com/office/drawing/2014/main" val="20010"/>
                    </a:ext>
                  </a:extLst>
                </a:gridCol>
                <a:gridCol w="402336">
                  <a:extLst>
                    <a:ext uri="{9D8B030D-6E8A-4147-A177-3AD203B41FA5}">
                      <a16:colId xmlns:a16="http://schemas.microsoft.com/office/drawing/2014/main" val="20011"/>
                    </a:ext>
                  </a:extLst>
                </a:gridCol>
                <a:gridCol w="440188">
                  <a:extLst>
                    <a:ext uri="{9D8B030D-6E8A-4147-A177-3AD203B41FA5}">
                      <a16:colId xmlns:a16="http://schemas.microsoft.com/office/drawing/2014/main" val="20012"/>
                    </a:ext>
                  </a:extLst>
                </a:gridCol>
                <a:gridCol w="446567">
                  <a:extLst>
                    <a:ext uri="{9D8B030D-6E8A-4147-A177-3AD203B41FA5}">
                      <a16:colId xmlns:a16="http://schemas.microsoft.com/office/drawing/2014/main" val="20013"/>
                    </a:ext>
                  </a:extLst>
                </a:gridCol>
                <a:gridCol w="946298">
                  <a:extLst>
                    <a:ext uri="{9D8B030D-6E8A-4147-A177-3AD203B41FA5}">
                      <a16:colId xmlns:a16="http://schemas.microsoft.com/office/drawing/2014/main" val="20014"/>
                    </a:ext>
                  </a:extLst>
                </a:gridCol>
                <a:gridCol w="913012">
                  <a:extLst>
                    <a:ext uri="{9D8B030D-6E8A-4147-A177-3AD203B41FA5}">
                      <a16:colId xmlns:a16="http://schemas.microsoft.com/office/drawing/2014/main" val="20015"/>
                    </a:ext>
                  </a:extLst>
                </a:gridCol>
                <a:gridCol w="591503">
                  <a:extLst>
                    <a:ext uri="{9D8B030D-6E8A-4147-A177-3AD203B41FA5}">
                      <a16:colId xmlns:a16="http://schemas.microsoft.com/office/drawing/2014/main" val="20016"/>
                    </a:ext>
                  </a:extLst>
                </a:gridCol>
              </a:tblGrid>
              <a:tr h="429768">
                <a:tc>
                  <a:txBody>
                    <a:bodyPr/>
                    <a:lstStyle/>
                    <a:p>
                      <a:pPr marL="0" indent="0" algn="l">
                        <a:buNone/>
                      </a:pPr>
                      <a:r>
                        <a:rPr lang="en-US" sz="800" b="1" dirty="0">
                          <a:solidFill>
                            <a:srgbClr val="FFFFFF"/>
                          </a:solidFill>
                          <a:latin typeface="Segoe UI" pitchFamily="34" charset="0"/>
                          <a:ea typeface="Segoe UI" pitchFamily="34" charset="-122"/>
                          <a:cs typeface="Segoe UI" pitchFamily="34" charset="-120"/>
                        </a:rPr>
                        <a:t>Metric</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MAR 26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APR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MAY</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JUN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JUL</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AUG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SEP</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OCT</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NOV</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DEC</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JAN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FEB</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YTD</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BUDGET</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429768">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Staff Cost (000 USD)</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898.10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798.14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941.26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3,228.98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861.93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6,728.40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7,453.89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90.27%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Ton per Employee</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187.30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362.68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327.53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1,279.03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424.79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2,571.96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547,437.00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90%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2"/>
                  </a:ext>
                </a:extLst>
              </a:tr>
              <a:tr h="429768">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Revenue per Employee</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31,530.69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59,536.15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51,800.29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202,404.45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66,220.49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409,939.79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90,423,897.00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87%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5" name="Text 11"/>
          <p:cNvSpPr/>
          <p:nvPr/>
        </p:nvSpPr>
        <p:spPr>
          <a:xfrm>
            <a:off x="502920" y="3300984"/>
            <a:ext cx="11155680" cy="274320"/>
          </a:xfrm>
          <a:prstGeom prst="rect">
            <a:avLst/>
          </a:prstGeom>
          <a:noFill/>
          <a:ln/>
        </p:spPr>
        <p:txBody>
          <a:bodyPr wrap="square" rtlCol="0" anchor="ctr"/>
          <a:lstStyle/>
          <a:p>
            <a:pPr marL="0" indent="0">
              <a:buNone/>
            </a:pPr>
            <a:r>
              <a:rPr lang="en-US" sz="1300" b="1" dirty="0">
                <a:solidFill>
                  <a:srgbClr val="16161E"/>
                </a:solidFill>
                <a:latin typeface="Segoe UI" pitchFamily="34" charset="0"/>
                <a:ea typeface="Segoe UI" pitchFamily="34" charset="-122"/>
                <a:cs typeface="Segoe UI" pitchFamily="34" charset="-120"/>
              </a:rPr>
              <a:t>2. Headcount</a:t>
            </a:r>
            <a:endParaRPr lang="en-US" sz="1300" dirty="0"/>
          </a:p>
        </p:txBody>
      </p:sp>
      <p:sp>
        <p:nvSpPr>
          <p:cNvPr id="16" name="Shape 12"/>
          <p:cNvSpPr/>
          <p:nvPr/>
        </p:nvSpPr>
        <p:spPr>
          <a:xfrm>
            <a:off x="502920" y="3575304"/>
            <a:ext cx="11155680" cy="16459"/>
          </a:xfrm>
          <a:prstGeom prst="rect">
            <a:avLst/>
          </a:prstGeom>
          <a:solidFill>
            <a:srgbClr val="E30613"/>
          </a:solidFill>
          <a:ln w="12700">
            <a:solidFill>
              <a:srgbClr val="E30613"/>
            </a:solidFill>
            <a:prstDash val="solid"/>
          </a:ln>
        </p:spPr>
        <p:txBody>
          <a:bodyPr/>
          <a:lstStyle/>
          <a:p>
            <a:endParaRPr lang="fr-FR"/>
          </a:p>
        </p:txBody>
      </p:sp>
      <p:graphicFrame>
        <p:nvGraphicFramePr>
          <p:cNvPr id="17" name="Table 1"/>
          <p:cNvGraphicFramePr>
            <a:graphicFrameLocks noGrp="1"/>
          </p:cNvGraphicFramePr>
          <p:nvPr>
            <p:extLst>
              <p:ext uri="{D42A27DB-BD31-4B8C-83A1-F6EECF244321}">
                <p14:modId xmlns:p14="http://schemas.microsoft.com/office/powerpoint/2010/main" val="2781943100"/>
              </p:ext>
            </p:extLst>
          </p:nvPr>
        </p:nvGraphicFramePr>
        <p:xfrm>
          <a:off x="502920" y="3666744"/>
          <a:ext cx="11155680" cy="2578608"/>
        </p:xfrm>
        <a:graphic>
          <a:graphicData uri="http://schemas.openxmlformats.org/drawingml/2006/table">
            <a:tbl>
              <a:tblPr/>
              <a:tblGrid>
                <a:gridCol w="1691640">
                  <a:extLst>
                    <a:ext uri="{9D8B030D-6E8A-4147-A177-3AD203B41FA5}">
                      <a16:colId xmlns:a16="http://schemas.microsoft.com/office/drawing/2014/main" val="20000"/>
                    </a:ext>
                  </a:extLst>
                </a:gridCol>
                <a:gridCol w="630936">
                  <a:extLst>
                    <a:ext uri="{9D8B030D-6E8A-4147-A177-3AD203B41FA5}">
                      <a16:colId xmlns:a16="http://schemas.microsoft.com/office/drawing/2014/main" val="20001"/>
                    </a:ext>
                  </a:extLst>
                </a:gridCol>
                <a:gridCol w="630936">
                  <a:extLst>
                    <a:ext uri="{9D8B030D-6E8A-4147-A177-3AD203B41FA5}">
                      <a16:colId xmlns:a16="http://schemas.microsoft.com/office/drawing/2014/main" val="20002"/>
                    </a:ext>
                  </a:extLst>
                </a:gridCol>
                <a:gridCol w="630936">
                  <a:extLst>
                    <a:ext uri="{9D8B030D-6E8A-4147-A177-3AD203B41FA5}">
                      <a16:colId xmlns:a16="http://schemas.microsoft.com/office/drawing/2014/main" val="20003"/>
                    </a:ext>
                  </a:extLst>
                </a:gridCol>
                <a:gridCol w="630936">
                  <a:extLst>
                    <a:ext uri="{9D8B030D-6E8A-4147-A177-3AD203B41FA5}">
                      <a16:colId xmlns:a16="http://schemas.microsoft.com/office/drawing/2014/main" val="20004"/>
                    </a:ext>
                  </a:extLst>
                </a:gridCol>
                <a:gridCol w="630936">
                  <a:extLst>
                    <a:ext uri="{9D8B030D-6E8A-4147-A177-3AD203B41FA5}">
                      <a16:colId xmlns:a16="http://schemas.microsoft.com/office/drawing/2014/main" val="20005"/>
                    </a:ext>
                  </a:extLst>
                </a:gridCol>
                <a:gridCol w="630936">
                  <a:extLst>
                    <a:ext uri="{9D8B030D-6E8A-4147-A177-3AD203B41FA5}">
                      <a16:colId xmlns:a16="http://schemas.microsoft.com/office/drawing/2014/main" val="20006"/>
                    </a:ext>
                  </a:extLst>
                </a:gridCol>
                <a:gridCol w="630936">
                  <a:extLst>
                    <a:ext uri="{9D8B030D-6E8A-4147-A177-3AD203B41FA5}">
                      <a16:colId xmlns:a16="http://schemas.microsoft.com/office/drawing/2014/main" val="20007"/>
                    </a:ext>
                  </a:extLst>
                </a:gridCol>
                <a:gridCol w="630936">
                  <a:extLst>
                    <a:ext uri="{9D8B030D-6E8A-4147-A177-3AD203B41FA5}">
                      <a16:colId xmlns:a16="http://schemas.microsoft.com/office/drawing/2014/main" val="20008"/>
                    </a:ext>
                  </a:extLst>
                </a:gridCol>
                <a:gridCol w="630936">
                  <a:extLst>
                    <a:ext uri="{9D8B030D-6E8A-4147-A177-3AD203B41FA5}">
                      <a16:colId xmlns:a16="http://schemas.microsoft.com/office/drawing/2014/main" val="20009"/>
                    </a:ext>
                  </a:extLst>
                </a:gridCol>
                <a:gridCol w="630936">
                  <a:extLst>
                    <a:ext uri="{9D8B030D-6E8A-4147-A177-3AD203B41FA5}">
                      <a16:colId xmlns:a16="http://schemas.microsoft.com/office/drawing/2014/main" val="20010"/>
                    </a:ext>
                  </a:extLst>
                </a:gridCol>
                <a:gridCol w="630936">
                  <a:extLst>
                    <a:ext uri="{9D8B030D-6E8A-4147-A177-3AD203B41FA5}">
                      <a16:colId xmlns:a16="http://schemas.microsoft.com/office/drawing/2014/main" val="20011"/>
                    </a:ext>
                  </a:extLst>
                </a:gridCol>
                <a:gridCol w="630936">
                  <a:extLst>
                    <a:ext uri="{9D8B030D-6E8A-4147-A177-3AD203B41FA5}">
                      <a16:colId xmlns:a16="http://schemas.microsoft.com/office/drawing/2014/main" val="20012"/>
                    </a:ext>
                  </a:extLst>
                </a:gridCol>
                <a:gridCol w="630936">
                  <a:extLst>
                    <a:ext uri="{9D8B030D-6E8A-4147-A177-3AD203B41FA5}">
                      <a16:colId xmlns:a16="http://schemas.microsoft.com/office/drawing/2014/main" val="20013"/>
                    </a:ext>
                  </a:extLst>
                </a:gridCol>
                <a:gridCol w="630936">
                  <a:extLst>
                    <a:ext uri="{9D8B030D-6E8A-4147-A177-3AD203B41FA5}">
                      <a16:colId xmlns:a16="http://schemas.microsoft.com/office/drawing/2014/main" val="20014"/>
                    </a:ext>
                  </a:extLst>
                </a:gridCol>
                <a:gridCol w="630936">
                  <a:extLst>
                    <a:ext uri="{9D8B030D-6E8A-4147-A177-3AD203B41FA5}">
                      <a16:colId xmlns:a16="http://schemas.microsoft.com/office/drawing/2014/main" val="20015"/>
                    </a:ext>
                  </a:extLst>
                </a:gridCol>
              </a:tblGrid>
              <a:tr h="429768">
                <a:tc>
                  <a:txBody>
                    <a:bodyPr/>
                    <a:lstStyle/>
                    <a:p>
                      <a:pPr marL="0" indent="0" algn="l">
                        <a:buNone/>
                      </a:pPr>
                      <a:r>
                        <a:rPr lang="en-US" sz="800" b="1" dirty="0">
                          <a:solidFill>
                            <a:srgbClr val="FFFFFF"/>
                          </a:solidFill>
                          <a:latin typeface="Segoe UI" pitchFamily="34" charset="0"/>
                          <a:ea typeface="Segoe UI" pitchFamily="34" charset="-122"/>
                          <a:cs typeface="Segoe UI" pitchFamily="34" charset="-120"/>
                        </a:rPr>
                        <a:t>Sites</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MAR 26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APR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MAY</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JUN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JUL</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AUG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SEP</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OCT</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NOV</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DEC</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JAN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FEB</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Jul-26 → Aug-26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YTD</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429768">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Plant</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101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103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105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105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On track</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HQ and Regions</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66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66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65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66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62</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61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On track</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2"/>
                  </a:ext>
                </a:extLst>
              </a:tr>
              <a:tr h="429768">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Lubudi</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On track</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Graduates</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On track</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4"/>
                  </a:ext>
                </a:extLst>
              </a:tr>
              <a:tr h="429768">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Total</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175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173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173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176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175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175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On track</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E8E8EC"/>
        </a:solidFill>
        <a:effectLst/>
      </p:bgPr>
    </p:bg>
    <p:spTree>
      <p:nvGrpSpPr>
        <p:cNvPr id="1" name=""/>
        <p:cNvGrpSpPr/>
        <p:nvPr/>
      </p:nvGrpSpPr>
      <p:grpSpPr>
        <a:xfrm>
          <a:off x="0" y="0"/>
          <a:ext cx="0" cy="0"/>
          <a:chOff x="0" y="0"/>
          <a:chExt cx="0" cy="0"/>
        </a:xfrm>
      </p:grpSpPr>
      <p:pic>
        <p:nvPicPr>
          <p:cNvPr id="2" name="Image 0" descr="D:\Apps\hr-rh-app\templates\exco\cover-assets\slide-fade.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4" name="Shape 1"/>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Shape 2"/>
          <p:cNvSpPr/>
          <p:nvPr/>
        </p:nvSpPr>
        <p:spPr>
          <a:xfrm>
            <a:off x="292608" y="146304"/>
            <a:ext cx="365760" cy="365760"/>
          </a:xfrm>
          <a:prstGeom prst="roundRect">
            <a:avLst>
              <a:gd name="adj" fmla="val 15000"/>
            </a:avLst>
          </a:prstGeom>
          <a:solidFill>
            <a:srgbClr val="E30613"/>
          </a:solidFill>
          <a:ln w="12700">
            <a:solidFill>
              <a:srgbClr val="E30613"/>
            </a:solidFill>
            <a:prstDash val="solid"/>
          </a:ln>
        </p:spPr>
        <p:txBody>
          <a:bodyPr/>
          <a:lstStyle/>
          <a:p>
            <a:endParaRPr lang="fr-FR"/>
          </a:p>
        </p:txBody>
      </p:sp>
      <p:sp>
        <p:nvSpPr>
          <p:cNvPr id="6" name="Text 3"/>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03</a:t>
            </a:r>
            <a:endParaRPr lang="en-US" sz="1200" dirty="0"/>
          </a:p>
        </p:txBody>
      </p:sp>
      <p:sp>
        <p:nvSpPr>
          <p:cNvPr id="7" name="Text 4"/>
          <p:cNvSpPr/>
          <p:nvPr/>
        </p:nvSpPr>
        <p:spPr>
          <a:xfrm>
            <a:off x="804672" y="128016"/>
            <a:ext cx="4572000" cy="146304"/>
          </a:xfrm>
          <a:prstGeom prst="rect">
            <a:avLst/>
          </a:prstGeom>
          <a:noFill/>
          <a:ln/>
        </p:spPr>
        <p:txBody>
          <a:bodyPr wrap="square" rtlCol="0" anchor="ctr"/>
          <a:lstStyle/>
          <a:p>
            <a:pPr marL="0" indent="0">
              <a:buNone/>
            </a:pPr>
            <a:r>
              <a:rPr lang="en-US" sz="900" b="1" dirty="0">
                <a:solidFill>
                  <a:srgbClr val="E30613"/>
                </a:solidFill>
                <a:latin typeface="Segoe UI" pitchFamily="34" charset="0"/>
                <a:ea typeface="Segoe UI" pitchFamily="34" charset="-122"/>
                <a:cs typeface="Segoe UI" pitchFamily="34" charset="-120"/>
              </a:rPr>
              <a:t>PPC · HR EXCO</a:t>
            </a:r>
            <a:endParaRPr lang="en-US" sz="900" dirty="0"/>
          </a:p>
        </p:txBody>
      </p:sp>
      <p:sp>
        <p:nvSpPr>
          <p:cNvPr id="8" name="Text 5"/>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HR KPI — Trends</a:t>
            </a:r>
            <a:endParaRPr lang="en-US" sz="1800" dirty="0"/>
          </a:p>
        </p:txBody>
      </p:sp>
      <p:sp>
        <p:nvSpPr>
          <p:cNvPr id="9" name="Text 6"/>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10" name="Shape 7"/>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11" name="Shape 8"/>
          <p:cNvSpPr/>
          <p:nvPr/>
        </p:nvSpPr>
        <p:spPr>
          <a:xfrm>
            <a:off x="256032" y="841248"/>
            <a:ext cx="11658600" cy="5760720"/>
          </a:xfrm>
          <a:prstGeom prst="roundRect">
            <a:avLst>
              <a:gd name="adj" fmla="val 1270"/>
            </a:avLst>
          </a:prstGeom>
          <a:solidFill>
            <a:srgbClr val="FFFFFF"/>
          </a:solidFill>
          <a:ln w="12700">
            <a:solidFill>
              <a:srgbClr val="E0E0E6"/>
            </a:solidFill>
            <a:prstDash val="solid"/>
          </a:ln>
        </p:spPr>
        <p:txBody>
          <a:bodyPr/>
          <a:lstStyle/>
          <a:p>
            <a:endParaRPr lang="fr-FR"/>
          </a:p>
        </p:txBody>
      </p:sp>
      <p:sp>
        <p:nvSpPr>
          <p:cNvPr id="12" name="Text 9"/>
          <p:cNvSpPr/>
          <p:nvPr/>
        </p:nvSpPr>
        <p:spPr>
          <a:xfrm>
            <a:off x="502920" y="960120"/>
            <a:ext cx="11155680" cy="274320"/>
          </a:xfrm>
          <a:prstGeom prst="rect">
            <a:avLst/>
          </a:prstGeom>
          <a:noFill/>
          <a:ln/>
        </p:spPr>
        <p:txBody>
          <a:bodyPr wrap="square" rtlCol="0" anchor="ctr"/>
          <a:lstStyle/>
          <a:p>
            <a:pPr marL="0" indent="0">
              <a:buNone/>
            </a:pPr>
            <a:r>
              <a:rPr lang="en-US" sz="1300" b="1" dirty="0">
                <a:solidFill>
                  <a:srgbClr val="16161E"/>
                </a:solidFill>
                <a:latin typeface="Segoe UI" pitchFamily="34" charset="0"/>
                <a:ea typeface="Segoe UI" pitchFamily="34" charset="-122"/>
                <a:cs typeface="Segoe UI" pitchFamily="34" charset="-120"/>
              </a:rPr>
              <a:t>3. Gender RATIO</a:t>
            </a:r>
            <a:endParaRPr lang="en-US" sz="1300" dirty="0"/>
          </a:p>
        </p:txBody>
      </p:sp>
      <p:sp>
        <p:nvSpPr>
          <p:cNvPr id="13" name="Shape 10"/>
          <p:cNvSpPr/>
          <p:nvPr/>
        </p:nvSpPr>
        <p:spPr>
          <a:xfrm>
            <a:off x="502920" y="1234440"/>
            <a:ext cx="11155680" cy="16459"/>
          </a:xfrm>
          <a:prstGeom prst="rect">
            <a:avLst/>
          </a:prstGeom>
          <a:solidFill>
            <a:srgbClr val="E30613"/>
          </a:solidFill>
          <a:ln w="12700">
            <a:solidFill>
              <a:srgbClr val="E30613"/>
            </a:solidFill>
            <a:prstDash val="solid"/>
          </a:ln>
        </p:spPr>
        <p:txBody>
          <a:bodyPr/>
          <a:lstStyle/>
          <a:p>
            <a:endParaRPr lang="fr-FR"/>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55680" cy="1508760"/>
        </p:xfrm>
        <a:graphic>
          <a:graphicData uri="http://schemas.openxmlformats.org/drawingml/2006/table">
            <a:tbl>
              <a:tblPr/>
              <a:tblGrid>
                <a:gridCol w="1691640">
                  <a:extLst>
                    <a:ext uri="{9D8B030D-6E8A-4147-A177-3AD203B41FA5}">
                      <a16:colId xmlns:a16="http://schemas.microsoft.com/office/drawing/2014/main" val="20000"/>
                    </a:ext>
                  </a:extLst>
                </a:gridCol>
                <a:gridCol w="630936">
                  <a:extLst>
                    <a:ext uri="{9D8B030D-6E8A-4147-A177-3AD203B41FA5}">
                      <a16:colId xmlns:a16="http://schemas.microsoft.com/office/drawing/2014/main" val="20001"/>
                    </a:ext>
                  </a:extLst>
                </a:gridCol>
                <a:gridCol w="630936">
                  <a:extLst>
                    <a:ext uri="{9D8B030D-6E8A-4147-A177-3AD203B41FA5}">
                      <a16:colId xmlns:a16="http://schemas.microsoft.com/office/drawing/2014/main" val="20002"/>
                    </a:ext>
                  </a:extLst>
                </a:gridCol>
                <a:gridCol w="630936">
                  <a:extLst>
                    <a:ext uri="{9D8B030D-6E8A-4147-A177-3AD203B41FA5}">
                      <a16:colId xmlns:a16="http://schemas.microsoft.com/office/drawing/2014/main" val="20003"/>
                    </a:ext>
                  </a:extLst>
                </a:gridCol>
                <a:gridCol w="630936">
                  <a:extLst>
                    <a:ext uri="{9D8B030D-6E8A-4147-A177-3AD203B41FA5}">
                      <a16:colId xmlns:a16="http://schemas.microsoft.com/office/drawing/2014/main" val="20004"/>
                    </a:ext>
                  </a:extLst>
                </a:gridCol>
                <a:gridCol w="630936">
                  <a:extLst>
                    <a:ext uri="{9D8B030D-6E8A-4147-A177-3AD203B41FA5}">
                      <a16:colId xmlns:a16="http://schemas.microsoft.com/office/drawing/2014/main" val="20005"/>
                    </a:ext>
                  </a:extLst>
                </a:gridCol>
                <a:gridCol w="630936">
                  <a:extLst>
                    <a:ext uri="{9D8B030D-6E8A-4147-A177-3AD203B41FA5}">
                      <a16:colId xmlns:a16="http://schemas.microsoft.com/office/drawing/2014/main" val="20006"/>
                    </a:ext>
                  </a:extLst>
                </a:gridCol>
                <a:gridCol w="630936">
                  <a:extLst>
                    <a:ext uri="{9D8B030D-6E8A-4147-A177-3AD203B41FA5}">
                      <a16:colId xmlns:a16="http://schemas.microsoft.com/office/drawing/2014/main" val="20007"/>
                    </a:ext>
                  </a:extLst>
                </a:gridCol>
                <a:gridCol w="630936">
                  <a:extLst>
                    <a:ext uri="{9D8B030D-6E8A-4147-A177-3AD203B41FA5}">
                      <a16:colId xmlns:a16="http://schemas.microsoft.com/office/drawing/2014/main" val="20008"/>
                    </a:ext>
                  </a:extLst>
                </a:gridCol>
                <a:gridCol w="630936">
                  <a:extLst>
                    <a:ext uri="{9D8B030D-6E8A-4147-A177-3AD203B41FA5}">
                      <a16:colId xmlns:a16="http://schemas.microsoft.com/office/drawing/2014/main" val="20009"/>
                    </a:ext>
                  </a:extLst>
                </a:gridCol>
                <a:gridCol w="630936">
                  <a:extLst>
                    <a:ext uri="{9D8B030D-6E8A-4147-A177-3AD203B41FA5}">
                      <a16:colId xmlns:a16="http://schemas.microsoft.com/office/drawing/2014/main" val="20010"/>
                    </a:ext>
                  </a:extLst>
                </a:gridCol>
                <a:gridCol w="630936">
                  <a:extLst>
                    <a:ext uri="{9D8B030D-6E8A-4147-A177-3AD203B41FA5}">
                      <a16:colId xmlns:a16="http://schemas.microsoft.com/office/drawing/2014/main" val="20011"/>
                    </a:ext>
                  </a:extLst>
                </a:gridCol>
                <a:gridCol w="630936">
                  <a:extLst>
                    <a:ext uri="{9D8B030D-6E8A-4147-A177-3AD203B41FA5}">
                      <a16:colId xmlns:a16="http://schemas.microsoft.com/office/drawing/2014/main" val="20012"/>
                    </a:ext>
                  </a:extLst>
                </a:gridCol>
                <a:gridCol w="630936">
                  <a:extLst>
                    <a:ext uri="{9D8B030D-6E8A-4147-A177-3AD203B41FA5}">
                      <a16:colId xmlns:a16="http://schemas.microsoft.com/office/drawing/2014/main" val="20013"/>
                    </a:ext>
                  </a:extLst>
                </a:gridCol>
                <a:gridCol w="630936">
                  <a:extLst>
                    <a:ext uri="{9D8B030D-6E8A-4147-A177-3AD203B41FA5}">
                      <a16:colId xmlns:a16="http://schemas.microsoft.com/office/drawing/2014/main" val="20014"/>
                    </a:ext>
                  </a:extLst>
                </a:gridCol>
                <a:gridCol w="630936">
                  <a:extLst>
                    <a:ext uri="{9D8B030D-6E8A-4147-A177-3AD203B41FA5}">
                      <a16:colId xmlns:a16="http://schemas.microsoft.com/office/drawing/2014/main" val="20015"/>
                    </a:ext>
                  </a:extLst>
                </a:gridCol>
              </a:tblGrid>
              <a:tr h="502920">
                <a:tc>
                  <a:txBody>
                    <a:bodyPr/>
                    <a:lstStyle/>
                    <a:p>
                      <a:pPr marL="0" indent="0" algn="l">
                        <a:buNone/>
                      </a:pPr>
                      <a:r>
                        <a:rPr lang="en-US" sz="800" b="1" dirty="0">
                          <a:solidFill>
                            <a:srgbClr val="FFFFFF"/>
                          </a:solidFill>
                          <a:latin typeface="Segoe UI" pitchFamily="34" charset="0"/>
                          <a:ea typeface="Segoe UI" pitchFamily="34" charset="-122"/>
                          <a:cs typeface="Segoe UI" pitchFamily="34" charset="-120"/>
                        </a:rPr>
                        <a:t>Gender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MAR 26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APR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MAY</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JUN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JUL</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AUG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SEP</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OCT</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NOV</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DEC</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JAN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FEB</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Aug-26 — Sites</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Aug-26 — HO</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502920">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Male</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84.00%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84.00%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84.00%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85.00%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84.57%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84.00%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92.66%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69.70%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Female</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16.00%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16.00%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16.00%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15.00%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15.43%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16.00%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7.34%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30.30%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2"/>
                  </a:ext>
                </a:extLst>
              </a:tr>
            </a:tbl>
          </a:graphicData>
        </a:graphic>
      </p:graphicFrame>
      <p:sp>
        <p:nvSpPr>
          <p:cNvPr id="15" name="Text 11"/>
          <p:cNvSpPr/>
          <p:nvPr/>
        </p:nvSpPr>
        <p:spPr>
          <a:xfrm>
            <a:off x="502920" y="3090672"/>
            <a:ext cx="11155680" cy="274320"/>
          </a:xfrm>
          <a:prstGeom prst="rect">
            <a:avLst/>
          </a:prstGeom>
          <a:noFill/>
          <a:ln/>
        </p:spPr>
        <p:txBody>
          <a:bodyPr wrap="square" rtlCol="0" anchor="ctr"/>
          <a:lstStyle/>
          <a:p>
            <a:pPr marL="0" indent="0">
              <a:buNone/>
            </a:pPr>
            <a:r>
              <a:rPr lang="en-US" sz="1300" b="1" dirty="0">
                <a:solidFill>
                  <a:srgbClr val="16161E"/>
                </a:solidFill>
                <a:latin typeface="Segoe UI" pitchFamily="34" charset="0"/>
                <a:ea typeface="Segoe UI" pitchFamily="34" charset="-122"/>
                <a:cs typeface="Segoe UI" pitchFamily="34" charset="-120"/>
              </a:rPr>
              <a:t>4. AGE</a:t>
            </a:r>
            <a:endParaRPr lang="en-US" sz="1300" dirty="0"/>
          </a:p>
        </p:txBody>
      </p:sp>
      <p:sp>
        <p:nvSpPr>
          <p:cNvPr id="16" name="Shape 12"/>
          <p:cNvSpPr/>
          <p:nvPr/>
        </p:nvSpPr>
        <p:spPr>
          <a:xfrm>
            <a:off x="502920" y="3364992"/>
            <a:ext cx="11155680" cy="16459"/>
          </a:xfrm>
          <a:prstGeom prst="rect">
            <a:avLst/>
          </a:prstGeom>
          <a:solidFill>
            <a:srgbClr val="E30613"/>
          </a:solidFill>
          <a:ln w="12700">
            <a:solidFill>
              <a:srgbClr val="E30613"/>
            </a:solidFill>
            <a:prstDash val="solid"/>
          </a:ln>
        </p:spPr>
        <p:txBody>
          <a:bodyPr/>
          <a:lstStyle/>
          <a:p>
            <a:endParaRPr lang="fr-FR"/>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502920" y="3456432"/>
          <a:ext cx="11155682" cy="2011680"/>
        </p:xfrm>
        <a:graphic>
          <a:graphicData uri="http://schemas.openxmlformats.org/drawingml/2006/table">
            <a:tbl>
              <a:tblPr/>
              <a:tblGrid>
                <a:gridCol w="1691640">
                  <a:extLst>
                    <a:ext uri="{9D8B030D-6E8A-4147-A177-3AD203B41FA5}">
                      <a16:colId xmlns:a16="http://schemas.microsoft.com/office/drawing/2014/main" val="20000"/>
                    </a:ext>
                  </a:extLst>
                </a:gridCol>
                <a:gridCol w="676003">
                  <a:extLst>
                    <a:ext uri="{9D8B030D-6E8A-4147-A177-3AD203B41FA5}">
                      <a16:colId xmlns:a16="http://schemas.microsoft.com/office/drawing/2014/main" val="20001"/>
                    </a:ext>
                  </a:extLst>
                </a:gridCol>
                <a:gridCol w="676003">
                  <a:extLst>
                    <a:ext uri="{9D8B030D-6E8A-4147-A177-3AD203B41FA5}">
                      <a16:colId xmlns:a16="http://schemas.microsoft.com/office/drawing/2014/main" val="20002"/>
                    </a:ext>
                  </a:extLst>
                </a:gridCol>
                <a:gridCol w="676003">
                  <a:extLst>
                    <a:ext uri="{9D8B030D-6E8A-4147-A177-3AD203B41FA5}">
                      <a16:colId xmlns:a16="http://schemas.microsoft.com/office/drawing/2014/main" val="20003"/>
                    </a:ext>
                  </a:extLst>
                </a:gridCol>
                <a:gridCol w="676003">
                  <a:extLst>
                    <a:ext uri="{9D8B030D-6E8A-4147-A177-3AD203B41FA5}">
                      <a16:colId xmlns:a16="http://schemas.microsoft.com/office/drawing/2014/main" val="20004"/>
                    </a:ext>
                  </a:extLst>
                </a:gridCol>
                <a:gridCol w="676003">
                  <a:extLst>
                    <a:ext uri="{9D8B030D-6E8A-4147-A177-3AD203B41FA5}">
                      <a16:colId xmlns:a16="http://schemas.microsoft.com/office/drawing/2014/main" val="20005"/>
                    </a:ext>
                  </a:extLst>
                </a:gridCol>
                <a:gridCol w="676003">
                  <a:extLst>
                    <a:ext uri="{9D8B030D-6E8A-4147-A177-3AD203B41FA5}">
                      <a16:colId xmlns:a16="http://schemas.microsoft.com/office/drawing/2014/main" val="20006"/>
                    </a:ext>
                  </a:extLst>
                </a:gridCol>
                <a:gridCol w="676003">
                  <a:extLst>
                    <a:ext uri="{9D8B030D-6E8A-4147-A177-3AD203B41FA5}">
                      <a16:colId xmlns:a16="http://schemas.microsoft.com/office/drawing/2014/main" val="20007"/>
                    </a:ext>
                  </a:extLst>
                </a:gridCol>
                <a:gridCol w="676003">
                  <a:extLst>
                    <a:ext uri="{9D8B030D-6E8A-4147-A177-3AD203B41FA5}">
                      <a16:colId xmlns:a16="http://schemas.microsoft.com/office/drawing/2014/main" val="20008"/>
                    </a:ext>
                  </a:extLst>
                </a:gridCol>
                <a:gridCol w="676003">
                  <a:extLst>
                    <a:ext uri="{9D8B030D-6E8A-4147-A177-3AD203B41FA5}">
                      <a16:colId xmlns:a16="http://schemas.microsoft.com/office/drawing/2014/main" val="20009"/>
                    </a:ext>
                  </a:extLst>
                </a:gridCol>
                <a:gridCol w="676003">
                  <a:extLst>
                    <a:ext uri="{9D8B030D-6E8A-4147-A177-3AD203B41FA5}">
                      <a16:colId xmlns:a16="http://schemas.microsoft.com/office/drawing/2014/main" val="20010"/>
                    </a:ext>
                  </a:extLst>
                </a:gridCol>
                <a:gridCol w="676003">
                  <a:extLst>
                    <a:ext uri="{9D8B030D-6E8A-4147-A177-3AD203B41FA5}">
                      <a16:colId xmlns:a16="http://schemas.microsoft.com/office/drawing/2014/main" val="20011"/>
                    </a:ext>
                  </a:extLst>
                </a:gridCol>
                <a:gridCol w="676003">
                  <a:extLst>
                    <a:ext uri="{9D8B030D-6E8A-4147-A177-3AD203B41FA5}">
                      <a16:colId xmlns:a16="http://schemas.microsoft.com/office/drawing/2014/main" val="20012"/>
                    </a:ext>
                  </a:extLst>
                </a:gridCol>
                <a:gridCol w="676003">
                  <a:extLst>
                    <a:ext uri="{9D8B030D-6E8A-4147-A177-3AD203B41FA5}">
                      <a16:colId xmlns:a16="http://schemas.microsoft.com/office/drawing/2014/main" val="20013"/>
                    </a:ext>
                  </a:extLst>
                </a:gridCol>
                <a:gridCol w="676003">
                  <a:extLst>
                    <a:ext uri="{9D8B030D-6E8A-4147-A177-3AD203B41FA5}">
                      <a16:colId xmlns:a16="http://schemas.microsoft.com/office/drawing/2014/main" val="20014"/>
                    </a:ext>
                  </a:extLst>
                </a:gridCol>
              </a:tblGrid>
              <a:tr h="502920">
                <a:tc>
                  <a:txBody>
                    <a:bodyPr/>
                    <a:lstStyle/>
                    <a:p>
                      <a:pPr marL="0" indent="0" algn="l">
                        <a:buNone/>
                      </a:pPr>
                      <a:r>
                        <a:rPr lang="en-US" sz="800" b="1" dirty="0">
                          <a:solidFill>
                            <a:srgbClr val="FFFFFF"/>
                          </a:solidFill>
                          <a:latin typeface="Segoe UI" pitchFamily="34" charset="0"/>
                          <a:ea typeface="Segoe UI" pitchFamily="34" charset="-122"/>
                          <a:cs typeface="Segoe UI" pitchFamily="34" charset="-120"/>
                        </a:rPr>
                        <a:t>Metric</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MAR 26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APR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MAY</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JUN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JUL</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AUG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SEP</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OCT</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NOV</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DEC</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JAN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FEB</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Jul-26 → Aug-26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502920">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Average Age</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39.8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39.9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40.0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39.9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40.1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40.2</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+0.1 (+0.21%)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Male Average Age</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40.4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40.5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40.6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40.5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40.7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40.9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+0.2 (+0.44%)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2"/>
                  </a:ext>
                </a:extLst>
              </a:tr>
              <a:tr h="502920">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Female Average Age</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36.3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36.4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36.5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36.7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36.7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36.4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-0.3 (-0.84%)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E8E8EC"/>
        </a:solidFill>
        <a:effectLst/>
      </p:bgPr>
    </p:bg>
    <p:spTree>
      <p:nvGrpSpPr>
        <p:cNvPr id="1" name=""/>
        <p:cNvGrpSpPr/>
        <p:nvPr/>
      </p:nvGrpSpPr>
      <p:grpSpPr>
        <a:xfrm>
          <a:off x="0" y="0"/>
          <a:ext cx="0" cy="0"/>
          <a:chOff x="0" y="0"/>
          <a:chExt cx="0" cy="0"/>
        </a:xfrm>
      </p:grpSpPr>
      <p:pic>
        <p:nvPicPr>
          <p:cNvPr id="2" name="Image 0" descr="D:\Apps\hr-rh-app\templates\exco\cover-assets\slide-fade.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4" name="Shape 1"/>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Shape 2"/>
          <p:cNvSpPr/>
          <p:nvPr/>
        </p:nvSpPr>
        <p:spPr>
          <a:xfrm>
            <a:off x="292608" y="146304"/>
            <a:ext cx="365760" cy="365760"/>
          </a:xfrm>
          <a:prstGeom prst="roundRect">
            <a:avLst>
              <a:gd name="adj" fmla="val 15000"/>
            </a:avLst>
          </a:prstGeom>
          <a:solidFill>
            <a:srgbClr val="E30613"/>
          </a:solidFill>
          <a:ln w="12700">
            <a:solidFill>
              <a:srgbClr val="E30613"/>
            </a:solidFill>
            <a:prstDash val="solid"/>
          </a:ln>
        </p:spPr>
        <p:txBody>
          <a:bodyPr/>
          <a:lstStyle/>
          <a:p>
            <a:endParaRPr lang="fr-FR"/>
          </a:p>
        </p:txBody>
      </p:sp>
      <p:sp>
        <p:nvSpPr>
          <p:cNvPr id="6" name="Text 3"/>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04</a:t>
            </a:r>
            <a:endParaRPr lang="en-US" sz="1200" dirty="0"/>
          </a:p>
        </p:txBody>
      </p:sp>
      <p:sp>
        <p:nvSpPr>
          <p:cNvPr id="7" name="Text 4"/>
          <p:cNvSpPr/>
          <p:nvPr/>
        </p:nvSpPr>
        <p:spPr>
          <a:xfrm>
            <a:off x="804672" y="128016"/>
            <a:ext cx="4572000" cy="146304"/>
          </a:xfrm>
          <a:prstGeom prst="rect">
            <a:avLst/>
          </a:prstGeom>
          <a:noFill/>
          <a:ln/>
        </p:spPr>
        <p:txBody>
          <a:bodyPr wrap="square" rtlCol="0" anchor="ctr"/>
          <a:lstStyle/>
          <a:p>
            <a:pPr marL="0" indent="0">
              <a:buNone/>
            </a:pPr>
            <a:r>
              <a:rPr lang="en-US" sz="900" b="1" dirty="0">
                <a:solidFill>
                  <a:srgbClr val="E30613"/>
                </a:solidFill>
                <a:latin typeface="Segoe UI" pitchFamily="34" charset="0"/>
                <a:ea typeface="Segoe UI" pitchFamily="34" charset="-122"/>
                <a:cs typeface="Segoe UI" pitchFamily="34" charset="-120"/>
              </a:rPr>
              <a:t>PPC · HR EXCO</a:t>
            </a:r>
            <a:endParaRPr lang="en-US" sz="900" dirty="0"/>
          </a:p>
        </p:txBody>
      </p:sp>
      <p:sp>
        <p:nvSpPr>
          <p:cNvPr id="8" name="Text 5"/>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HR KPI AND DIVERSITY</a:t>
            </a:r>
            <a:endParaRPr lang="en-US" sz="1800" dirty="0"/>
          </a:p>
        </p:txBody>
      </p:sp>
      <p:sp>
        <p:nvSpPr>
          <p:cNvPr id="9" name="Text 6"/>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10" name="Shape 7"/>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11" name="Shape 8"/>
          <p:cNvSpPr/>
          <p:nvPr/>
        </p:nvSpPr>
        <p:spPr>
          <a:xfrm>
            <a:off x="256032" y="841248"/>
            <a:ext cx="11658600" cy="5760720"/>
          </a:xfrm>
          <a:prstGeom prst="roundRect">
            <a:avLst>
              <a:gd name="adj" fmla="val 1270"/>
            </a:avLst>
          </a:prstGeom>
          <a:solidFill>
            <a:srgbClr val="FFFFFF"/>
          </a:solidFill>
          <a:ln w="12700">
            <a:solidFill>
              <a:srgbClr val="E0E0E6"/>
            </a:solidFill>
            <a:prstDash val="solid"/>
          </a:ln>
        </p:spPr>
        <p:txBody>
          <a:bodyPr/>
          <a:lstStyle/>
          <a:p>
            <a:endParaRPr lang="fr-FR"/>
          </a:p>
        </p:txBody>
      </p:sp>
      <p:sp>
        <p:nvSpPr>
          <p:cNvPr id="12" name="Text 9"/>
          <p:cNvSpPr/>
          <p:nvPr/>
        </p:nvSpPr>
        <p:spPr>
          <a:xfrm>
            <a:off x="502920" y="914400"/>
            <a:ext cx="11155680" cy="274320"/>
          </a:xfrm>
          <a:prstGeom prst="rect">
            <a:avLst/>
          </a:prstGeom>
          <a:noFill/>
          <a:ln/>
        </p:spPr>
        <p:txBody>
          <a:bodyPr wrap="square" rtlCol="0" anchor="ctr"/>
          <a:lstStyle/>
          <a:p>
            <a:pPr marL="0" indent="0">
              <a:buNone/>
            </a:pPr>
            <a:r>
              <a:rPr lang="en-US" sz="1300" b="1" dirty="0">
                <a:solidFill>
                  <a:srgbClr val="16161E"/>
                </a:solidFill>
                <a:latin typeface="Segoe UI" pitchFamily="34" charset="0"/>
                <a:ea typeface="Segoe UI" pitchFamily="34" charset="-122"/>
                <a:cs typeface="Segoe UI" pitchFamily="34" charset="-120"/>
              </a:rPr>
              <a:t>5. Staff Movement — IN / OUT YTD</a:t>
            </a:r>
            <a:endParaRPr lang="en-US" sz="1300" dirty="0"/>
          </a:p>
        </p:txBody>
      </p:sp>
      <p:sp>
        <p:nvSpPr>
          <p:cNvPr id="13" name="Shape 10"/>
          <p:cNvSpPr/>
          <p:nvPr/>
        </p:nvSpPr>
        <p:spPr>
          <a:xfrm>
            <a:off x="502920" y="1188720"/>
            <a:ext cx="11155680" cy="16459"/>
          </a:xfrm>
          <a:prstGeom prst="rect">
            <a:avLst/>
          </a:prstGeom>
          <a:solidFill>
            <a:srgbClr val="E30613"/>
          </a:solidFill>
          <a:ln w="12700">
            <a:solidFill>
              <a:srgbClr val="E30613"/>
            </a:solidFill>
            <a:prstDash val="solid"/>
          </a:ln>
        </p:spPr>
        <p:txBody>
          <a:bodyPr/>
          <a:lstStyle/>
          <a:p>
            <a:endParaRPr lang="fr-FR"/>
          </a:p>
        </p:txBody>
      </p:sp>
      <p:graphicFrame>
        <p:nvGraphicFramePr>
          <p:cNvPr id="14" name="Table 0"/>
          <p:cNvGraphicFramePr>
            <a:graphicFrameLocks noGrp="1"/>
          </p:cNvGraphicFramePr>
          <p:nvPr>
            <p:extLst>
              <p:ext uri="{D42A27DB-BD31-4B8C-83A1-F6EECF244321}">
                <p14:modId xmlns:p14="http://schemas.microsoft.com/office/powerpoint/2010/main" val="4084779212"/>
              </p:ext>
            </p:extLst>
          </p:nvPr>
        </p:nvGraphicFramePr>
        <p:xfrm>
          <a:off x="502920" y="1233980"/>
          <a:ext cx="11155682" cy="1975104"/>
        </p:xfrm>
        <a:graphic>
          <a:graphicData uri="http://schemas.openxmlformats.org/drawingml/2006/table">
            <a:tbl>
              <a:tblPr/>
              <a:tblGrid>
                <a:gridCol w="1691640">
                  <a:extLst>
                    <a:ext uri="{9D8B030D-6E8A-4147-A177-3AD203B41FA5}">
                      <a16:colId xmlns:a16="http://schemas.microsoft.com/office/drawing/2014/main" val="20000"/>
                    </a:ext>
                  </a:extLst>
                </a:gridCol>
                <a:gridCol w="676003">
                  <a:extLst>
                    <a:ext uri="{9D8B030D-6E8A-4147-A177-3AD203B41FA5}">
                      <a16:colId xmlns:a16="http://schemas.microsoft.com/office/drawing/2014/main" val="20001"/>
                    </a:ext>
                  </a:extLst>
                </a:gridCol>
                <a:gridCol w="676003">
                  <a:extLst>
                    <a:ext uri="{9D8B030D-6E8A-4147-A177-3AD203B41FA5}">
                      <a16:colId xmlns:a16="http://schemas.microsoft.com/office/drawing/2014/main" val="20002"/>
                    </a:ext>
                  </a:extLst>
                </a:gridCol>
                <a:gridCol w="676003">
                  <a:extLst>
                    <a:ext uri="{9D8B030D-6E8A-4147-A177-3AD203B41FA5}">
                      <a16:colId xmlns:a16="http://schemas.microsoft.com/office/drawing/2014/main" val="20003"/>
                    </a:ext>
                  </a:extLst>
                </a:gridCol>
                <a:gridCol w="676003">
                  <a:extLst>
                    <a:ext uri="{9D8B030D-6E8A-4147-A177-3AD203B41FA5}">
                      <a16:colId xmlns:a16="http://schemas.microsoft.com/office/drawing/2014/main" val="20004"/>
                    </a:ext>
                  </a:extLst>
                </a:gridCol>
                <a:gridCol w="676003">
                  <a:extLst>
                    <a:ext uri="{9D8B030D-6E8A-4147-A177-3AD203B41FA5}">
                      <a16:colId xmlns:a16="http://schemas.microsoft.com/office/drawing/2014/main" val="20005"/>
                    </a:ext>
                  </a:extLst>
                </a:gridCol>
                <a:gridCol w="676003">
                  <a:extLst>
                    <a:ext uri="{9D8B030D-6E8A-4147-A177-3AD203B41FA5}">
                      <a16:colId xmlns:a16="http://schemas.microsoft.com/office/drawing/2014/main" val="20006"/>
                    </a:ext>
                  </a:extLst>
                </a:gridCol>
                <a:gridCol w="676003">
                  <a:extLst>
                    <a:ext uri="{9D8B030D-6E8A-4147-A177-3AD203B41FA5}">
                      <a16:colId xmlns:a16="http://schemas.microsoft.com/office/drawing/2014/main" val="20007"/>
                    </a:ext>
                  </a:extLst>
                </a:gridCol>
                <a:gridCol w="676003">
                  <a:extLst>
                    <a:ext uri="{9D8B030D-6E8A-4147-A177-3AD203B41FA5}">
                      <a16:colId xmlns:a16="http://schemas.microsoft.com/office/drawing/2014/main" val="20008"/>
                    </a:ext>
                  </a:extLst>
                </a:gridCol>
                <a:gridCol w="676003">
                  <a:extLst>
                    <a:ext uri="{9D8B030D-6E8A-4147-A177-3AD203B41FA5}">
                      <a16:colId xmlns:a16="http://schemas.microsoft.com/office/drawing/2014/main" val="20009"/>
                    </a:ext>
                  </a:extLst>
                </a:gridCol>
                <a:gridCol w="676003">
                  <a:extLst>
                    <a:ext uri="{9D8B030D-6E8A-4147-A177-3AD203B41FA5}">
                      <a16:colId xmlns:a16="http://schemas.microsoft.com/office/drawing/2014/main" val="20010"/>
                    </a:ext>
                  </a:extLst>
                </a:gridCol>
                <a:gridCol w="676003">
                  <a:extLst>
                    <a:ext uri="{9D8B030D-6E8A-4147-A177-3AD203B41FA5}">
                      <a16:colId xmlns:a16="http://schemas.microsoft.com/office/drawing/2014/main" val="20011"/>
                    </a:ext>
                  </a:extLst>
                </a:gridCol>
                <a:gridCol w="676003">
                  <a:extLst>
                    <a:ext uri="{9D8B030D-6E8A-4147-A177-3AD203B41FA5}">
                      <a16:colId xmlns:a16="http://schemas.microsoft.com/office/drawing/2014/main" val="20012"/>
                    </a:ext>
                  </a:extLst>
                </a:gridCol>
                <a:gridCol w="676003">
                  <a:extLst>
                    <a:ext uri="{9D8B030D-6E8A-4147-A177-3AD203B41FA5}">
                      <a16:colId xmlns:a16="http://schemas.microsoft.com/office/drawing/2014/main" val="20013"/>
                    </a:ext>
                  </a:extLst>
                </a:gridCol>
                <a:gridCol w="676003">
                  <a:extLst>
                    <a:ext uri="{9D8B030D-6E8A-4147-A177-3AD203B41FA5}">
                      <a16:colId xmlns:a16="http://schemas.microsoft.com/office/drawing/2014/main" val="20014"/>
                    </a:ext>
                  </a:extLst>
                </a:gridCol>
              </a:tblGrid>
              <a:tr h="329184">
                <a:tc>
                  <a:txBody>
                    <a:bodyPr/>
                    <a:lstStyle/>
                    <a:p>
                      <a:pPr marL="0" indent="0" algn="l">
                        <a:buNone/>
                      </a:pPr>
                      <a:r>
                        <a:rPr lang="en-US" sz="800" b="1" dirty="0">
                          <a:solidFill>
                            <a:srgbClr val="FFFFFF"/>
                          </a:solidFill>
                          <a:latin typeface="Segoe UI" pitchFamily="34" charset="0"/>
                          <a:ea typeface="Segoe UI" pitchFamily="34" charset="-122"/>
                          <a:cs typeface="Segoe UI" pitchFamily="34" charset="-120"/>
                        </a:rPr>
                        <a:t>IN — OUT YTD</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MAR 26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APR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MAY</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JUN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JUL</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AUG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SEP</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OCT</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NOV</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DEC</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JAN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FEB</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MAR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FY26 YTD</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329184">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IN</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4 ▲</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Out</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4 ▲</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2"/>
                  </a:ext>
                </a:extLst>
              </a:tr>
              <a:tr h="329184">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Attrition Rate (%)</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2.3 ▲</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Turnover (%)</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0.3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2.3 ▲</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4"/>
                  </a:ext>
                </a:extLst>
              </a:tr>
              <a:tr h="329184">
                <a:tc>
                  <a:txBody>
                    <a:bodyPr/>
                    <a:lstStyle/>
                    <a:p>
                      <a:pPr marL="0" indent="0">
                        <a:buNone/>
                      </a:pPr>
                      <a:r>
                        <a:rPr lang="en-US" sz="900" b="1" dirty="0">
                          <a:solidFill>
                            <a:srgbClr val="16161E"/>
                          </a:solidFill>
                          <a:latin typeface="Segoe UI" pitchFamily="34" charset="0"/>
                          <a:ea typeface="Segoe UI" pitchFamily="34" charset="-122"/>
                          <a:cs typeface="Segoe UI" pitchFamily="34" charset="-120"/>
                        </a:rPr>
                        <a:t>Total Headcount</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175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173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173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176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175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E30613"/>
                          </a:solidFill>
                          <a:latin typeface="Segoe UI" pitchFamily="34" charset="0"/>
                          <a:ea typeface="Segoe UI" pitchFamily="34" charset="-122"/>
                          <a:cs typeface="Segoe UI" pitchFamily="34" charset="-120"/>
                        </a:rPr>
                        <a:t>175 •</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CE8E9"/>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800" dirty="0">
                          <a:solidFill>
                            <a:srgbClr val="16161E"/>
                          </a:solidFill>
                          <a:latin typeface="Segoe UI" pitchFamily="34" charset="0"/>
                          <a:ea typeface="Segoe UI" pitchFamily="34" charset="-122"/>
                          <a:cs typeface="Segoe UI" pitchFamily="34" charset="-120"/>
                        </a:rPr>
                        <a:t>175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Shape 11"/>
          <p:cNvSpPr/>
          <p:nvPr/>
        </p:nvSpPr>
        <p:spPr>
          <a:xfrm>
            <a:off x="320040" y="3246120"/>
            <a:ext cx="3657600" cy="3200400"/>
          </a:xfrm>
          <a:prstGeom prst="roundRect">
            <a:avLst>
              <a:gd name="adj" fmla="val 1714"/>
            </a:avLst>
          </a:prstGeom>
          <a:solidFill>
            <a:srgbClr val="FFFFFF"/>
          </a:solidFill>
          <a:ln w="12700">
            <a:solidFill>
              <a:srgbClr val="E0E0E6"/>
            </a:solidFill>
            <a:prstDash val="solid"/>
          </a:ln>
        </p:spPr>
        <p:txBody>
          <a:bodyPr/>
          <a:lstStyle/>
          <a:p>
            <a:endParaRPr lang="fr-FR"/>
          </a:p>
        </p:txBody>
      </p:sp>
      <p:sp>
        <p:nvSpPr>
          <p:cNvPr id="16" name="Shape 12"/>
          <p:cNvSpPr/>
          <p:nvPr/>
        </p:nvSpPr>
        <p:spPr>
          <a:xfrm>
            <a:off x="320040" y="3246120"/>
            <a:ext cx="3657600" cy="384048"/>
          </a:xfrm>
          <a:prstGeom prst="rect">
            <a:avLst/>
          </a:prstGeom>
          <a:solidFill>
            <a:srgbClr val="E30613"/>
          </a:solidFill>
          <a:ln w="12700">
            <a:solidFill>
              <a:srgbClr val="E30613"/>
            </a:solidFill>
            <a:prstDash val="solid"/>
          </a:ln>
        </p:spPr>
        <p:txBody>
          <a:bodyPr/>
          <a:lstStyle/>
          <a:p>
            <a:endParaRPr lang="fr-FR"/>
          </a:p>
        </p:txBody>
      </p:sp>
      <p:sp>
        <p:nvSpPr>
          <p:cNvPr id="17" name="Text 13"/>
          <p:cNvSpPr/>
          <p:nvPr/>
        </p:nvSpPr>
        <p:spPr>
          <a:xfrm>
            <a:off x="411480" y="3264408"/>
            <a:ext cx="3474720" cy="201168"/>
          </a:xfrm>
          <a:prstGeom prst="rect">
            <a:avLst/>
          </a:prstGeom>
          <a:noFill/>
          <a:ln/>
        </p:spPr>
        <p:txBody>
          <a:bodyPr wrap="square" rtlCol="0" anchor="ctr"/>
          <a:lstStyle/>
          <a:p>
            <a:pPr marL="0" indent="0">
              <a:buNone/>
            </a:pPr>
            <a:r>
              <a:rPr lang="en-US" sz="1000" b="1" dirty="0">
                <a:solidFill>
                  <a:srgbClr val="FFFFFF"/>
                </a:solidFill>
                <a:latin typeface="Segoe UI" pitchFamily="34" charset="0"/>
                <a:ea typeface="Segoe UI" pitchFamily="34" charset="-122"/>
                <a:cs typeface="Segoe UI" pitchFamily="34" charset="-120"/>
              </a:rPr>
              <a:t>Age Distribution</a:t>
            </a:r>
            <a:endParaRPr lang="en-US" sz="1000" dirty="0"/>
          </a:p>
        </p:txBody>
      </p:sp>
      <p:sp>
        <p:nvSpPr>
          <p:cNvPr id="18" name="Text 14"/>
          <p:cNvSpPr/>
          <p:nvPr/>
        </p:nvSpPr>
        <p:spPr>
          <a:xfrm>
            <a:off x="411480" y="3429000"/>
            <a:ext cx="3474720" cy="164592"/>
          </a:xfrm>
          <a:prstGeom prst="rect">
            <a:avLst/>
          </a:prstGeom>
          <a:noFill/>
          <a:ln/>
        </p:spPr>
        <p:txBody>
          <a:bodyPr wrap="square" rtlCol="0" anchor="ctr"/>
          <a:lstStyle/>
          <a:p>
            <a:pPr marL="0" indent="0">
              <a:buNone/>
            </a:pPr>
            <a:r>
              <a:rPr lang="en-US" sz="800" dirty="0">
                <a:solidFill>
                  <a:srgbClr val="F5E6A8"/>
                </a:solidFill>
                <a:latin typeface="Segoe UI" pitchFamily="34" charset="0"/>
                <a:ea typeface="Segoe UI" pitchFamily="34" charset="-122"/>
                <a:cs typeface="Segoe UI" pitchFamily="34" charset="-120"/>
              </a:rPr>
              <a:t>40.2 years old</a:t>
            </a:r>
            <a:endParaRPr lang="en-US" sz="800" dirty="0"/>
          </a:p>
        </p:txBody>
      </p:sp>
      <p:graphicFrame>
        <p:nvGraphicFramePr>
          <p:cNvPr id="19" name="Chart 0"/>
          <p:cNvGraphicFramePr/>
          <p:nvPr/>
        </p:nvGraphicFramePr>
        <p:xfrm>
          <a:off x="411480" y="3703320"/>
          <a:ext cx="347472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20" name="Shape 15"/>
          <p:cNvSpPr/>
          <p:nvPr/>
        </p:nvSpPr>
        <p:spPr>
          <a:xfrm>
            <a:off x="4160520" y="3246120"/>
            <a:ext cx="3657600" cy="3200400"/>
          </a:xfrm>
          <a:prstGeom prst="roundRect">
            <a:avLst>
              <a:gd name="adj" fmla="val 1714"/>
            </a:avLst>
          </a:prstGeom>
          <a:solidFill>
            <a:srgbClr val="FFFFFF"/>
          </a:solidFill>
          <a:ln w="12700">
            <a:solidFill>
              <a:srgbClr val="E0E0E6"/>
            </a:solidFill>
            <a:prstDash val="solid"/>
          </a:ln>
        </p:spPr>
        <p:txBody>
          <a:bodyPr/>
          <a:lstStyle/>
          <a:p>
            <a:endParaRPr lang="fr-FR"/>
          </a:p>
        </p:txBody>
      </p:sp>
      <p:sp>
        <p:nvSpPr>
          <p:cNvPr id="21" name="Shape 16"/>
          <p:cNvSpPr/>
          <p:nvPr/>
        </p:nvSpPr>
        <p:spPr>
          <a:xfrm>
            <a:off x="4160520" y="3246120"/>
            <a:ext cx="3657600" cy="384048"/>
          </a:xfrm>
          <a:prstGeom prst="rect">
            <a:avLst/>
          </a:prstGeom>
          <a:solidFill>
            <a:srgbClr val="0A0A0A"/>
          </a:solidFill>
          <a:ln w="12700">
            <a:solidFill>
              <a:srgbClr val="0A0A0A"/>
            </a:solidFill>
            <a:prstDash val="solid"/>
          </a:ln>
        </p:spPr>
        <p:txBody>
          <a:bodyPr/>
          <a:lstStyle/>
          <a:p>
            <a:endParaRPr lang="fr-FR"/>
          </a:p>
        </p:txBody>
      </p:sp>
      <p:sp>
        <p:nvSpPr>
          <p:cNvPr id="22" name="Text 17"/>
          <p:cNvSpPr/>
          <p:nvPr/>
        </p:nvSpPr>
        <p:spPr>
          <a:xfrm>
            <a:off x="4251960" y="3264408"/>
            <a:ext cx="3474720" cy="201168"/>
          </a:xfrm>
          <a:prstGeom prst="rect">
            <a:avLst/>
          </a:prstGeom>
          <a:noFill/>
          <a:ln/>
        </p:spPr>
        <p:txBody>
          <a:bodyPr wrap="square" rtlCol="0" anchor="ctr"/>
          <a:lstStyle/>
          <a:p>
            <a:pPr marL="0" indent="0">
              <a:buNone/>
            </a:pPr>
            <a:r>
              <a:rPr lang="en-US" sz="1000" b="1" dirty="0">
                <a:solidFill>
                  <a:srgbClr val="FFFFFF"/>
                </a:solidFill>
                <a:latin typeface="Segoe UI" pitchFamily="34" charset="0"/>
                <a:ea typeface="Segoe UI" pitchFamily="34" charset="-122"/>
                <a:cs typeface="Segoe UI" pitchFamily="34" charset="-120"/>
              </a:rPr>
              <a:t>Length of Service</a:t>
            </a:r>
            <a:endParaRPr lang="en-US" sz="1000" dirty="0"/>
          </a:p>
        </p:txBody>
      </p:sp>
      <p:sp>
        <p:nvSpPr>
          <p:cNvPr id="23" name="Text 18"/>
          <p:cNvSpPr/>
          <p:nvPr/>
        </p:nvSpPr>
        <p:spPr>
          <a:xfrm>
            <a:off x="4251960" y="3429000"/>
            <a:ext cx="3474720" cy="164592"/>
          </a:xfrm>
          <a:prstGeom prst="rect">
            <a:avLst/>
          </a:prstGeom>
          <a:noFill/>
          <a:ln/>
        </p:spPr>
        <p:txBody>
          <a:bodyPr wrap="square" rtlCol="0" anchor="ctr"/>
          <a:lstStyle/>
          <a:p>
            <a:pPr marL="0" indent="0">
              <a:buNone/>
            </a:pPr>
            <a:r>
              <a:rPr lang="en-US" sz="800" dirty="0">
                <a:solidFill>
                  <a:srgbClr val="F5E6A8"/>
                </a:solidFill>
                <a:latin typeface="Segoe UI" pitchFamily="34" charset="0"/>
                <a:ea typeface="Segoe UI" pitchFamily="34" charset="-122"/>
                <a:cs typeface="Segoe UI" pitchFamily="34" charset="-120"/>
              </a:rPr>
              <a:t>5.81 years</a:t>
            </a:r>
            <a:endParaRPr lang="en-US" sz="800" dirty="0"/>
          </a:p>
        </p:txBody>
      </p:sp>
      <p:graphicFrame>
        <p:nvGraphicFramePr>
          <p:cNvPr id="24" name="Chart 1"/>
          <p:cNvGraphicFramePr/>
          <p:nvPr/>
        </p:nvGraphicFramePr>
        <p:xfrm>
          <a:off x="4251960" y="3703320"/>
          <a:ext cx="3474720" cy="2606040"/>
        </p:xfrm>
        <a:graphic>
          <a:graphicData uri="http://schemas.openxmlformats.org/drawingml/2006/chart">
            <c:chart xmlns:c="http://schemas.openxmlformats.org/drawingml/2006/chart" xmlns:r="http://schemas.openxmlformats.org/officeDocument/2006/relationships" r:id="rId5"/>
          </a:graphicData>
        </a:graphic>
      </p:graphicFrame>
      <p:sp>
        <p:nvSpPr>
          <p:cNvPr id="25" name="Shape 19"/>
          <p:cNvSpPr/>
          <p:nvPr/>
        </p:nvSpPr>
        <p:spPr>
          <a:xfrm>
            <a:off x="8001000" y="3246120"/>
            <a:ext cx="3657600" cy="3200400"/>
          </a:xfrm>
          <a:prstGeom prst="roundRect">
            <a:avLst>
              <a:gd name="adj" fmla="val 1714"/>
            </a:avLst>
          </a:prstGeom>
          <a:solidFill>
            <a:srgbClr val="FFFFFF"/>
          </a:solidFill>
          <a:ln w="12700">
            <a:solidFill>
              <a:srgbClr val="E0E0E6"/>
            </a:solidFill>
            <a:prstDash val="solid"/>
          </a:ln>
        </p:spPr>
        <p:txBody>
          <a:bodyPr/>
          <a:lstStyle/>
          <a:p>
            <a:endParaRPr lang="fr-FR"/>
          </a:p>
        </p:txBody>
      </p:sp>
      <p:sp>
        <p:nvSpPr>
          <p:cNvPr id="26" name="Shape 20"/>
          <p:cNvSpPr/>
          <p:nvPr/>
        </p:nvSpPr>
        <p:spPr>
          <a:xfrm>
            <a:off x="8001000" y="3246120"/>
            <a:ext cx="3657600" cy="384048"/>
          </a:xfrm>
          <a:prstGeom prst="rect">
            <a:avLst/>
          </a:prstGeom>
          <a:solidFill>
            <a:srgbClr val="B0050F"/>
          </a:solidFill>
          <a:ln w="12700">
            <a:solidFill>
              <a:srgbClr val="B0050F"/>
            </a:solidFill>
            <a:prstDash val="solid"/>
          </a:ln>
        </p:spPr>
        <p:txBody>
          <a:bodyPr/>
          <a:lstStyle/>
          <a:p>
            <a:endParaRPr lang="fr-FR"/>
          </a:p>
        </p:txBody>
      </p:sp>
      <p:sp>
        <p:nvSpPr>
          <p:cNvPr id="27" name="Text 21"/>
          <p:cNvSpPr/>
          <p:nvPr/>
        </p:nvSpPr>
        <p:spPr>
          <a:xfrm>
            <a:off x="8092440" y="3264408"/>
            <a:ext cx="3474720" cy="201168"/>
          </a:xfrm>
          <a:prstGeom prst="rect">
            <a:avLst/>
          </a:prstGeom>
          <a:noFill/>
          <a:ln/>
        </p:spPr>
        <p:txBody>
          <a:bodyPr wrap="square" rtlCol="0" anchor="ctr"/>
          <a:lstStyle/>
          <a:p>
            <a:pPr marL="0" indent="0">
              <a:buNone/>
            </a:pPr>
            <a:r>
              <a:rPr lang="en-US" sz="1000" b="1" dirty="0">
                <a:solidFill>
                  <a:srgbClr val="FFFFFF"/>
                </a:solidFill>
                <a:latin typeface="Segoe UI" pitchFamily="34" charset="0"/>
                <a:ea typeface="Segoe UI" pitchFamily="34" charset="-122"/>
                <a:cs typeface="Segoe UI" pitchFamily="34" charset="-120"/>
              </a:rPr>
              <a:t>Departure and Termination</a:t>
            </a:r>
            <a:endParaRPr lang="en-US" sz="1000" dirty="0"/>
          </a:p>
        </p:txBody>
      </p:sp>
      <p:sp>
        <p:nvSpPr>
          <p:cNvPr id="28" name="Text 22"/>
          <p:cNvSpPr/>
          <p:nvPr/>
        </p:nvSpPr>
        <p:spPr>
          <a:xfrm>
            <a:off x="8092440" y="3429000"/>
            <a:ext cx="3474720" cy="164592"/>
          </a:xfrm>
          <a:prstGeom prst="rect">
            <a:avLst/>
          </a:prstGeom>
          <a:noFill/>
          <a:ln/>
        </p:spPr>
        <p:txBody>
          <a:bodyPr wrap="square" rtlCol="0" anchor="ctr"/>
          <a:lstStyle/>
          <a:p>
            <a:pPr marL="0" indent="0">
              <a:buNone/>
            </a:pPr>
            <a:r>
              <a:rPr lang="en-US" sz="800" dirty="0">
                <a:solidFill>
                  <a:srgbClr val="F5E6A8"/>
                </a:solidFill>
                <a:latin typeface="Segoe UI" pitchFamily="34" charset="0"/>
                <a:ea typeface="Segoe UI" pitchFamily="34" charset="-122"/>
                <a:cs typeface="Segoe UI" pitchFamily="34" charset="-120"/>
              </a:rPr>
              <a:t>4 Out this month · HC 175</a:t>
            </a:r>
            <a:endParaRPr lang="en-US" sz="800" dirty="0"/>
          </a:p>
        </p:txBody>
      </p:sp>
      <p:sp>
        <p:nvSpPr>
          <p:cNvPr id="29" name="Text 23"/>
          <p:cNvSpPr/>
          <p:nvPr/>
        </p:nvSpPr>
        <p:spPr>
          <a:xfrm>
            <a:off x="8110728" y="3749040"/>
            <a:ext cx="1051560" cy="201168"/>
          </a:xfrm>
          <a:prstGeom prst="rect">
            <a:avLst/>
          </a:prstGeom>
          <a:noFill/>
          <a:ln/>
        </p:spPr>
        <p:txBody>
          <a:bodyPr wrap="square" rtlCol="0" anchor="ctr"/>
          <a:lstStyle/>
          <a:p>
            <a:pPr marL="0" indent="0">
              <a:buNone/>
            </a:pPr>
            <a:r>
              <a:rPr lang="en-US" sz="900" b="1" dirty="0">
                <a:solidFill>
                  <a:srgbClr val="16161E"/>
                </a:solidFill>
                <a:latin typeface="Segoe UI" pitchFamily="34" charset="0"/>
                <a:ea typeface="Segoe UI" pitchFamily="34" charset="-122"/>
                <a:cs typeface="Segoe UI" pitchFamily="34" charset="-120"/>
              </a:rPr>
              <a:t>Amicable Separation</a:t>
            </a:r>
            <a:endParaRPr lang="en-US" sz="900" dirty="0"/>
          </a:p>
        </p:txBody>
      </p:sp>
      <p:sp>
        <p:nvSpPr>
          <p:cNvPr id="30" name="Shape 24"/>
          <p:cNvSpPr/>
          <p:nvPr/>
        </p:nvSpPr>
        <p:spPr>
          <a:xfrm>
            <a:off x="9189720" y="3794760"/>
            <a:ext cx="1417320" cy="128016"/>
          </a:xfrm>
          <a:prstGeom prst="rect">
            <a:avLst/>
          </a:prstGeom>
          <a:solidFill>
            <a:srgbClr val="F7F7FA"/>
          </a:solidFill>
          <a:ln w="12700">
            <a:solidFill>
              <a:srgbClr val="F7F7FA"/>
            </a:solidFill>
            <a:prstDash val="solid"/>
          </a:ln>
        </p:spPr>
        <p:txBody>
          <a:bodyPr/>
          <a:lstStyle/>
          <a:p>
            <a:endParaRPr lang="fr-FR"/>
          </a:p>
        </p:txBody>
      </p:sp>
      <p:sp>
        <p:nvSpPr>
          <p:cNvPr id="31" name="Text 25"/>
          <p:cNvSpPr/>
          <p:nvPr/>
        </p:nvSpPr>
        <p:spPr>
          <a:xfrm>
            <a:off x="10652760" y="3749040"/>
            <a:ext cx="256032" cy="201168"/>
          </a:xfrm>
          <a:prstGeom prst="rect">
            <a:avLst/>
          </a:prstGeom>
          <a:noFill/>
          <a:ln/>
        </p:spPr>
        <p:txBody>
          <a:bodyPr wrap="square" rtlCol="0" anchor="ctr"/>
          <a:lstStyle/>
          <a:p>
            <a:pPr marL="0" indent="0" algn="ctr">
              <a:buNone/>
            </a:pPr>
            <a:r>
              <a:rPr lang="en-US" sz="1100" b="1" dirty="0">
                <a:solidFill>
                  <a:srgbClr val="6B6B7A"/>
                </a:solidFill>
                <a:latin typeface="Segoe UI" pitchFamily="34" charset="0"/>
                <a:ea typeface="Segoe UI" pitchFamily="34" charset="-122"/>
                <a:cs typeface="Segoe UI" pitchFamily="34" charset="-120"/>
              </a:rPr>
              <a:t>•</a:t>
            </a:r>
            <a:endParaRPr lang="en-US" sz="1100" dirty="0"/>
          </a:p>
        </p:txBody>
      </p:sp>
      <p:sp>
        <p:nvSpPr>
          <p:cNvPr id="32" name="Text 26"/>
          <p:cNvSpPr/>
          <p:nvPr/>
        </p:nvSpPr>
        <p:spPr>
          <a:xfrm>
            <a:off x="10881360" y="3749040"/>
            <a:ext cx="640080" cy="201168"/>
          </a:xfrm>
          <a:prstGeom prst="rect">
            <a:avLst/>
          </a:prstGeom>
          <a:noFill/>
          <a:ln/>
        </p:spPr>
        <p:txBody>
          <a:bodyPr wrap="square" rtlCol="0" anchor="ctr"/>
          <a:lstStyle/>
          <a:p>
            <a:pPr marL="0" indent="0" algn="r">
              <a:buNone/>
            </a:pPr>
            <a:r>
              <a:rPr lang="en-US" sz="1000" b="1" dirty="0">
                <a:solidFill>
                  <a:srgbClr val="16161E"/>
                </a:solidFill>
                <a:latin typeface="Segoe UI" pitchFamily="34" charset="0"/>
                <a:ea typeface="Segoe UI" pitchFamily="34" charset="-122"/>
                <a:cs typeface="Segoe UI" pitchFamily="34" charset="-120"/>
              </a:rPr>
              <a:t>0.00%</a:t>
            </a:r>
            <a:endParaRPr lang="en-US" sz="1000" dirty="0"/>
          </a:p>
        </p:txBody>
      </p:sp>
      <p:sp>
        <p:nvSpPr>
          <p:cNvPr id="33" name="Text 27"/>
          <p:cNvSpPr/>
          <p:nvPr/>
        </p:nvSpPr>
        <p:spPr>
          <a:xfrm>
            <a:off x="8110728" y="3986784"/>
            <a:ext cx="3429000" cy="182880"/>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0/175</a:t>
            </a:r>
            <a:endParaRPr lang="en-US" sz="800" dirty="0"/>
          </a:p>
        </p:txBody>
      </p:sp>
      <p:sp>
        <p:nvSpPr>
          <p:cNvPr id="34" name="Text 28"/>
          <p:cNvSpPr/>
          <p:nvPr/>
        </p:nvSpPr>
        <p:spPr>
          <a:xfrm>
            <a:off x="8110728" y="4279392"/>
            <a:ext cx="1051560" cy="201168"/>
          </a:xfrm>
          <a:prstGeom prst="rect">
            <a:avLst/>
          </a:prstGeom>
          <a:noFill/>
          <a:ln/>
        </p:spPr>
        <p:txBody>
          <a:bodyPr wrap="square" rtlCol="0" anchor="ctr"/>
          <a:lstStyle/>
          <a:p>
            <a:pPr marL="0" indent="0">
              <a:buNone/>
            </a:pPr>
            <a:r>
              <a:rPr lang="en-US" sz="900" b="1" dirty="0">
                <a:solidFill>
                  <a:srgbClr val="16161E"/>
                </a:solidFill>
                <a:latin typeface="Segoe UI" pitchFamily="34" charset="0"/>
                <a:ea typeface="Segoe UI" pitchFamily="34" charset="-122"/>
                <a:cs typeface="Segoe UI" pitchFamily="34" charset="-120"/>
              </a:rPr>
              <a:t>Dismisal</a:t>
            </a:r>
            <a:endParaRPr lang="en-US" sz="900" dirty="0"/>
          </a:p>
        </p:txBody>
      </p:sp>
      <p:sp>
        <p:nvSpPr>
          <p:cNvPr id="35" name="Shape 29"/>
          <p:cNvSpPr/>
          <p:nvPr/>
        </p:nvSpPr>
        <p:spPr>
          <a:xfrm>
            <a:off x="9189720" y="4325112"/>
            <a:ext cx="1417320" cy="128016"/>
          </a:xfrm>
          <a:prstGeom prst="rect">
            <a:avLst/>
          </a:prstGeom>
          <a:solidFill>
            <a:srgbClr val="F7F7FA"/>
          </a:solidFill>
          <a:ln w="12700">
            <a:solidFill>
              <a:srgbClr val="F7F7FA"/>
            </a:solidFill>
            <a:prstDash val="solid"/>
          </a:ln>
        </p:spPr>
        <p:txBody>
          <a:bodyPr/>
          <a:lstStyle/>
          <a:p>
            <a:endParaRPr lang="fr-FR"/>
          </a:p>
        </p:txBody>
      </p:sp>
      <p:sp>
        <p:nvSpPr>
          <p:cNvPr id="36" name="Shape 30"/>
          <p:cNvSpPr/>
          <p:nvPr/>
        </p:nvSpPr>
        <p:spPr>
          <a:xfrm>
            <a:off x="9189720" y="4325112"/>
            <a:ext cx="1417320" cy="128016"/>
          </a:xfrm>
          <a:prstGeom prst="rect">
            <a:avLst/>
          </a:prstGeom>
          <a:solidFill>
            <a:srgbClr val="E30613"/>
          </a:solidFill>
          <a:ln w="12700">
            <a:solidFill>
              <a:srgbClr val="E30613"/>
            </a:solidFill>
            <a:prstDash val="solid"/>
          </a:ln>
        </p:spPr>
        <p:txBody>
          <a:bodyPr/>
          <a:lstStyle/>
          <a:p>
            <a:endParaRPr lang="fr-FR"/>
          </a:p>
        </p:txBody>
      </p:sp>
      <p:sp>
        <p:nvSpPr>
          <p:cNvPr id="37" name="Text 31"/>
          <p:cNvSpPr/>
          <p:nvPr/>
        </p:nvSpPr>
        <p:spPr>
          <a:xfrm>
            <a:off x="10652760" y="4279392"/>
            <a:ext cx="256032" cy="201168"/>
          </a:xfrm>
          <a:prstGeom prst="rect">
            <a:avLst/>
          </a:prstGeom>
          <a:noFill/>
          <a:ln/>
        </p:spPr>
        <p:txBody>
          <a:bodyPr wrap="square" rtlCol="0" anchor="ctr"/>
          <a:lstStyle/>
          <a:p>
            <a:pPr marL="0" indent="0" algn="ctr">
              <a:buNone/>
            </a:pPr>
            <a:r>
              <a:rPr lang="en-US" sz="1100" b="1" dirty="0">
                <a:solidFill>
                  <a:srgbClr val="B91C1C"/>
                </a:solidFill>
                <a:latin typeface="Segoe UI" pitchFamily="34" charset="0"/>
                <a:ea typeface="Segoe UI" pitchFamily="34" charset="-122"/>
                <a:cs typeface="Segoe UI" pitchFamily="34" charset="-120"/>
              </a:rPr>
              <a:t>▲</a:t>
            </a:r>
            <a:endParaRPr lang="en-US" sz="1100" dirty="0"/>
          </a:p>
        </p:txBody>
      </p:sp>
      <p:sp>
        <p:nvSpPr>
          <p:cNvPr id="38" name="Text 32"/>
          <p:cNvSpPr/>
          <p:nvPr/>
        </p:nvSpPr>
        <p:spPr>
          <a:xfrm>
            <a:off x="10881360" y="4279392"/>
            <a:ext cx="640080" cy="201168"/>
          </a:xfrm>
          <a:prstGeom prst="rect">
            <a:avLst/>
          </a:prstGeom>
          <a:noFill/>
          <a:ln/>
        </p:spPr>
        <p:txBody>
          <a:bodyPr wrap="square" rtlCol="0" anchor="ctr"/>
          <a:lstStyle/>
          <a:p>
            <a:pPr marL="0" indent="0" algn="r">
              <a:buNone/>
            </a:pPr>
            <a:r>
              <a:rPr lang="en-US" sz="1000" b="1" dirty="0">
                <a:solidFill>
                  <a:srgbClr val="16161E"/>
                </a:solidFill>
                <a:latin typeface="Segoe UI" pitchFamily="34" charset="0"/>
                <a:ea typeface="Segoe UI" pitchFamily="34" charset="-122"/>
                <a:cs typeface="Segoe UI" pitchFamily="34" charset="-120"/>
              </a:rPr>
              <a:t>1.71%</a:t>
            </a:r>
            <a:endParaRPr lang="en-US" sz="1000" dirty="0"/>
          </a:p>
        </p:txBody>
      </p:sp>
      <p:sp>
        <p:nvSpPr>
          <p:cNvPr id="39" name="Text 33"/>
          <p:cNvSpPr/>
          <p:nvPr/>
        </p:nvSpPr>
        <p:spPr>
          <a:xfrm>
            <a:off x="8110728" y="4517136"/>
            <a:ext cx="3429000" cy="182880"/>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3/175</a:t>
            </a:r>
            <a:endParaRPr lang="en-US" sz="800" dirty="0"/>
          </a:p>
        </p:txBody>
      </p:sp>
      <p:sp>
        <p:nvSpPr>
          <p:cNvPr id="40" name="Text 34"/>
          <p:cNvSpPr/>
          <p:nvPr/>
        </p:nvSpPr>
        <p:spPr>
          <a:xfrm>
            <a:off x="8110728" y="4809744"/>
            <a:ext cx="1051560" cy="201168"/>
          </a:xfrm>
          <a:prstGeom prst="rect">
            <a:avLst/>
          </a:prstGeom>
          <a:noFill/>
          <a:ln/>
        </p:spPr>
        <p:txBody>
          <a:bodyPr wrap="square" rtlCol="0" anchor="ctr"/>
          <a:lstStyle/>
          <a:p>
            <a:pPr marL="0" indent="0">
              <a:buNone/>
            </a:pPr>
            <a:r>
              <a:rPr lang="en-US" sz="900" b="1" dirty="0">
                <a:solidFill>
                  <a:srgbClr val="16161E"/>
                </a:solidFill>
                <a:latin typeface="Segoe UI" pitchFamily="34" charset="0"/>
                <a:ea typeface="Segoe UI" pitchFamily="34" charset="-122"/>
                <a:cs typeface="Segoe UI" pitchFamily="34" charset="-120"/>
              </a:rPr>
              <a:t>Resignation</a:t>
            </a:r>
            <a:endParaRPr lang="en-US" sz="900" dirty="0"/>
          </a:p>
        </p:txBody>
      </p:sp>
      <p:sp>
        <p:nvSpPr>
          <p:cNvPr id="41" name="Shape 35"/>
          <p:cNvSpPr/>
          <p:nvPr/>
        </p:nvSpPr>
        <p:spPr>
          <a:xfrm>
            <a:off x="9189720" y="4855464"/>
            <a:ext cx="1417320" cy="128016"/>
          </a:xfrm>
          <a:prstGeom prst="rect">
            <a:avLst/>
          </a:prstGeom>
          <a:solidFill>
            <a:srgbClr val="F7F7FA"/>
          </a:solidFill>
          <a:ln w="12700">
            <a:solidFill>
              <a:srgbClr val="F7F7FA"/>
            </a:solidFill>
            <a:prstDash val="solid"/>
          </a:ln>
        </p:spPr>
        <p:txBody>
          <a:bodyPr/>
          <a:lstStyle/>
          <a:p>
            <a:endParaRPr lang="fr-FR"/>
          </a:p>
        </p:txBody>
      </p:sp>
      <p:sp>
        <p:nvSpPr>
          <p:cNvPr id="42" name="Text 36"/>
          <p:cNvSpPr/>
          <p:nvPr/>
        </p:nvSpPr>
        <p:spPr>
          <a:xfrm>
            <a:off x="10652760" y="4809744"/>
            <a:ext cx="256032" cy="201168"/>
          </a:xfrm>
          <a:prstGeom prst="rect">
            <a:avLst/>
          </a:prstGeom>
          <a:noFill/>
          <a:ln/>
        </p:spPr>
        <p:txBody>
          <a:bodyPr wrap="square" rtlCol="0" anchor="ctr"/>
          <a:lstStyle/>
          <a:p>
            <a:pPr marL="0" indent="0" algn="ctr">
              <a:buNone/>
            </a:pPr>
            <a:r>
              <a:rPr lang="en-US" sz="1100" b="1" dirty="0">
                <a:solidFill>
                  <a:srgbClr val="6B6B7A"/>
                </a:solidFill>
                <a:latin typeface="Segoe UI" pitchFamily="34" charset="0"/>
                <a:ea typeface="Segoe UI" pitchFamily="34" charset="-122"/>
                <a:cs typeface="Segoe UI" pitchFamily="34" charset="-120"/>
              </a:rPr>
              <a:t>•</a:t>
            </a:r>
            <a:endParaRPr lang="en-US" sz="1100" dirty="0"/>
          </a:p>
        </p:txBody>
      </p:sp>
      <p:sp>
        <p:nvSpPr>
          <p:cNvPr id="43" name="Text 37"/>
          <p:cNvSpPr/>
          <p:nvPr/>
        </p:nvSpPr>
        <p:spPr>
          <a:xfrm>
            <a:off x="10881360" y="4809744"/>
            <a:ext cx="640080" cy="201168"/>
          </a:xfrm>
          <a:prstGeom prst="rect">
            <a:avLst/>
          </a:prstGeom>
          <a:noFill/>
          <a:ln/>
        </p:spPr>
        <p:txBody>
          <a:bodyPr wrap="square" rtlCol="0" anchor="ctr"/>
          <a:lstStyle/>
          <a:p>
            <a:pPr marL="0" indent="0" algn="r">
              <a:buNone/>
            </a:pPr>
            <a:r>
              <a:rPr lang="en-US" sz="1000" b="1" dirty="0">
                <a:solidFill>
                  <a:srgbClr val="16161E"/>
                </a:solidFill>
                <a:latin typeface="Segoe UI" pitchFamily="34" charset="0"/>
                <a:ea typeface="Segoe UI" pitchFamily="34" charset="-122"/>
                <a:cs typeface="Segoe UI" pitchFamily="34" charset="-120"/>
              </a:rPr>
              <a:t>0.00%</a:t>
            </a:r>
            <a:endParaRPr lang="en-US" sz="1000" dirty="0"/>
          </a:p>
        </p:txBody>
      </p:sp>
      <p:sp>
        <p:nvSpPr>
          <p:cNvPr id="44" name="Text 38"/>
          <p:cNvSpPr/>
          <p:nvPr/>
        </p:nvSpPr>
        <p:spPr>
          <a:xfrm>
            <a:off x="8110728" y="5047488"/>
            <a:ext cx="3429000" cy="182880"/>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0/175</a:t>
            </a:r>
            <a:endParaRPr lang="en-US" sz="800" dirty="0"/>
          </a:p>
        </p:txBody>
      </p:sp>
      <p:sp>
        <p:nvSpPr>
          <p:cNvPr id="45" name="Text 39"/>
          <p:cNvSpPr/>
          <p:nvPr/>
        </p:nvSpPr>
        <p:spPr>
          <a:xfrm>
            <a:off x="8110728" y="5340096"/>
            <a:ext cx="1051560" cy="201168"/>
          </a:xfrm>
          <a:prstGeom prst="rect">
            <a:avLst/>
          </a:prstGeom>
          <a:noFill/>
          <a:ln/>
        </p:spPr>
        <p:txBody>
          <a:bodyPr wrap="square" rtlCol="0" anchor="ctr"/>
          <a:lstStyle/>
          <a:p>
            <a:pPr marL="0" indent="0">
              <a:buNone/>
            </a:pPr>
            <a:r>
              <a:rPr lang="en-US" sz="900" b="1" dirty="0">
                <a:solidFill>
                  <a:srgbClr val="16161E"/>
                </a:solidFill>
                <a:latin typeface="Segoe UI" pitchFamily="34" charset="0"/>
                <a:ea typeface="Segoe UI" pitchFamily="34" charset="-122"/>
                <a:cs typeface="Segoe UI" pitchFamily="34" charset="-120"/>
              </a:rPr>
              <a:t>Contract Expired</a:t>
            </a:r>
            <a:endParaRPr lang="en-US" sz="900" dirty="0"/>
          </a:p>
        </p:txBody>
      </p:sp>
      <p:sp>
        <p:nvSpPr>
          <p:cNvPr id="46" name="Shape 40"/>
          <p:cNvSpPr/>
          <p:nvPr/>
        </p:nvSpPr>
        <p:spPr>
          <a:xfrm>
            <a:off x="9189720" y="5385816"/>
            <a:ext cx="1417320" cy="128016"/>
          </a:xfrm>
          <a:prstGeom prst="rect">
            <a:avLst/>
          </a:prstGeom>
          <a:solidFill>
            <a:srgbClr val="F7F7FA"/>
          </a:solidFill>
          <a:ln w="12700">
            <a:solidFill>
              <a:srgbClr val="F7F7FA"/>
            </a:solidFill>
            <a:prstDash val="solid"/>
          </a:ln>
        </p:spPr>
        <p:txBody>
          <a:bodyPr/>
          <a:lstStyle/>
          <a:p>
            <a:endParaRPr lang="fr-FR"/>
          </a:p>
        </p:txBody>
      </p:sp>
      <p:sp>
        <p:nvSpPr>
          <p:cNvPr id="47" name="Shape 41"/>
          <p:cNvSpPr/>
          <p:nvPr/>
        </p:nvSpPr>
        <p:spPr>
          <a:xfrm>
            <a:off x="9189720" y="5385816"/>
            <a:ext cx="472440" cy="128016"/>
          </a:xfrm>
          <a:prstGeom prst="rect">
            <a:avLst/>
          </a:prstGeom>
          <a:solidFill>
            <a:srgbClr val="E30613"/>
          </a:solidFill>
          <a:ln w="12700">
            <a:solidFill>
              <a:srgbClr val="E30613"/>
            </a:solidFill>
            <a:prstDash val="solid"/>
          </a:ln>
        </p:spPr>
        <p:txBody>
          <a:bodyPr/>
          <a:lstStyle/>
          <a:p>
            <a:endParaRPr lang="fr-FR"/>
          </a:p>
        </p:txBody>
      </p:sp>
      <p:sp>
        <p:nvSpPr>
          <p:cNvPr id="48" name="Text 42"/>
          <p:cNvSpPr/>
          <p:nvPr/>
        </p:nvSpPr>
        <p:spPr>
          <a:xfrm>
            <a:off x="10652760" y="5340096"/>
            <a:ext cx="256032" cy="201168"/>
          </a:xfrm>
          <a:prstGeom prst="rect">
            <a:avLst/>
          </a:prstGeom>
          <a:noFill/>
          <a:ln/>
        </p:spPr>
        <p:txBody>
          <a:bodyPr wrap="square" rtlCol="0" anchor="ctr"/>
          <a:lstStyle/>
          <a:p>
            <a:pPr marL="0" indent="0" algn="ctr">
              <a:buNone/>
            </a:pPr>
            <a:r>
              <a:rPr lang="en-US" sz="1100" b="1" dirty="0">
                <a:solidFill>
                  <a:srgbClr val="B91C1C"/>
                </a:solidFill>
                <a:latin typeface="Segoe UI" pitchFamily="34" charset="0"/>
                <a:ea typeface="Segoe UI" pitchFamily="34" charset="-122"/>
                <a:cs typeface="Segoe UI" pitchFamily="34" charset="-120"/>
              </a:rPr>
              <a:t>▲</a:t>
            </a:r>
            <a:endParaRPr lang="en-US" sz="1100" dirty="0"/>
          </a:p>
        </p:txBody>
      </p:sp>
      <p:sp>
        <p:nvSpPr>
          <p:cNvPr id="49" name="Text 43"/>
          <p:cNvSpPr/>
          <p:nvPr/>
        </p:nvSpPr>
        <p:spPr>
          <a:xfrm>
            <a:off x="10881360" y="5340096"/>
            <a:ext cx="640080" cy="201168"/>
          </a:xfrm>
          <a:prstGeom prst="rect">
            <a:avLst/>
          </a:prstGeom>
          <a:noFill/>
          <a:ln/>
        </p:spPr>
        <p:txBody>
          <a:bodyPr wrap="square" rtlCol="0" anchor="ctr"/>
          <a:lstStyle/>
          <a:p>
            <a:pPr marL="0" indent="0" algn="r">
              <a:buNone/>
            </a:pPr>
            <a:r>
              <a:rPr lang="en-US" sz="1000" b="1" dirty="0">
                <a:solidFill>
                  <a:srgbClr val="16161E"/>
                </a:solidFill>
                <a:latin typeface="Segoe UI" pitchFamily="34" charset="0"/>
                <a:ea typeface="Segoe UI" pitchFamily="34" charset="-122"/>
                <a:cs typeface="Segoe UI" pitchFamily="34" charset="-120"/>
              </a:rPr>
              <a:t>0.57%</a:t>
            </a:r>
            <a:endParaRPr lang="en-US" sz="1000" dirty="0"/>
          </a:p>
        </p:txBody>
      </p:sp>
      <p:sp>
        <p:nvSpPr>
          <p:cNvPr id="50" name="Text 44"/>
          <p:cNvSpPr/>
          <p:nvPr/>
        </p:nvSpPr>
        <p:spPr>
          <a:xfrm>
            <a:off x="8110728" y="5577840"/>
            <a:ext cx="3429000" cy="182880"/>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1/175</a:t>
            </a:r>
            <a:endParaRPr lang="en-US" sz="800" dirty="0"/>
          </a:p>
        </p:txBody>
      </p:sp>
      <p:sp>
        <p:nvSpPr>
          <p:cNvPr id="51" name="Text 45"/>
          <p:cNvSpPr/>
          <p:nvPr/>
        </p:nvSpPr>
        <p:spPr>
          <a:xfrm>
            <a:off x="8110728" y="5870448"/>
            <a:ext cx="1051560" cy="201168"/>
          </a:xfrm>
          <a:prstGeom prst="rect">
            <a:avLst/>
          </a:prstGeom>
          <a:noFill/>
          <a:ln/>
        </p:spPr>
        <p:txBody>
          <a:bodyPr wrap="square" rtlCol="0" anchor="ctr"/>
          <a:lstStyle/>
          <a:p>
            <a:pPr marL="0" indent="0">
              <a:buNone/>
            </a:pPr>
            <a:r>
              <a:rPr lang="en-US" sz="900" b="1" dirty="0">
                <a:solidFill>
                  <a:srgbClr val="16161E"/>
                </a:solidFill>
                <a:latin typeface="Segoe UI" pitchFamily="34" charset="0"/>
                <a:ea typeface="Segoe UI" pitchFamily="34" charset="-122"/>
                <a:cs typeface="Segoe UI" pitchFamily="34" charset="-120"/>
              </a:rPr>
              <a:t>Retirement</a:t>
            </a:r>
            <a:endParaRPr lang="en-US" sz="900" dirty="0"/>
          </a:p>
        </p:txBody>
      </p:sp>
      <p:sp>
        <p:nvSpPr>
          <p:cNvPr id="52" name="Shape 46"/>
          <p:cNvSpPr/>
          <p:nvPr/>
        </p:nvSpPr>
        <p:spPr>
          <a:xfrm>
            <a:off x="9189720" y="5916168"/>
            <a:ext cx="1417320" cy="128016"/>
          </a:xfrm>
          <a:prstGeom prst="rect">
            <a:avLst/>
          </a:prstGeom>
          <a:solidFill>
            <a:srgbClr val="F7F7FA"/>
          </a:solidFill>
          <a:ln w="12700">
            <a:solidFill>
              <a:srgbClr val="F7F7FA"/>
            </a:solidFill>
            <a:prstDash val="solid"/>
          </a:ln>
        </p:spPr>
        <p:txBody>
          <a:bodyPr/>
          <a:lstStyle/>
          <a:p>
            <a:endParaRPr lang="fr-FR"/>
          </a:p>
        </p:txBody>
      </p:sp>
      <p:sp>
        <p:nvSpPr>
          <p:cNvPr id="53" name="Text 47"/>
          <p:cNvSpPr/>
          <p:nvPr/>
        </p:nvSpPr>
        <p:spPr>
          <a:xfrm>
            <a:off x="10652760" y="5870448"/>
            <a:ext cx="256032" cy="201168"/>
          </a:xfrm>
          <a:prstGeom prst="rect">
            <a:avLst/>
          </a:prstGeom>
          <a:noFill/>
          <a:ln/>
        </p:spPr>
        <p:txBody>
          <a:bodyPr wrap="square" rtlCol="0" anchor="ctr"/>
          <a:lstStyle/>
          <a:p>
            <a:pPr marL="0" indent="0" algn="ctr">
              <a:buNone/>
            </a:pPr>
            <a:r>
              <a:rPr lang="en-US" sz="1100" b="1" dirty="0">
                <a:solidFill>
                  <a:srgbClr val="6B6B7A"/>
                </a:solidFill>
                <a:latin typeface="Segoe UI" pitchFamily="34" charset="0"/>
                <a:ea typeface="Segoe UI" pitchFamily="34" charset="-122"/>
                <a:cs typeface="Segoe UI" pitchFamily="34" charset="-120"/>
              </a:rPr>
              <a:t>•</a:t>
            </a:r>
            <a:endParaRPr lang="en-US" sz="1100" dirty="0"/>
          </a:p>
        </p:txBody>
      </p:sp>
      <p:sp>
        <p:nvSpPr>
          <p:cNvPr id="54" name="Text 48"/>
          <p:cNvSpPr/>
          <p:nvPr/>
        </p:nvSpPr>
        <p:spPr>
          <a:xfrm>
            <a:off x="10881360" y="5870448"/>
            <a:ext cx="640080" cy="201168"/>
          </a:xfrm>
          <a:prstGeom prst="rect">
            <a:avLst/>
          </a:prstGeom>
          <a:noFill/>
          <a:ln/>
        </p:spPr>
        <p:txBody>
          <a:bodyPr wrap="square" rtlCol="0" anchor="ctr"/>
          <a:lstStyle/>
          <a:p>
            <a:pPr marL="0" indent="0" algn="r">
              <a:buNone/>
            </a:pPr>
            <a:r>
              <a:rPr lang="en-US" sz="1000" b="1" dirty="0">
                <a:solidFill>
                  <a:srgbClr val="16161E"/>
                </a:solidFill>
                <a:latin typeface="Segoe UI" pitchFamily="34" charset="0"/>
                <a:ea typeface="Segoe UI" pitchFamily="34" charset="-122"/>
                <a:cs typeface="Segoe UI" pitchFamily="34" charset="-120"/>
              </a:rPr>
              <a:t>0.00%</a:t>
            </a:r>
            <a:endParaRPr lang="en-US" sz="1000" dirty="0"/>
          </a:p>
        </p:txBody>
      </p:sp>
      <p:sp>
        <p:nvSpPr>
          <p:cNvPr id="55" name="Text 49"/>
          <p:cNvSpPr/>
          <p:nvPr/>
        </p:nvSpPr>
        <p:spPr>
          <a:xfrm>
            <a:off x="8110728" y="6108192"/>
            <a:ext cx="3429000" cy="182880"/>
          </a:xfrm>
          <a:prstGeom prst="rect">
            <a:avLst/>
          </a:prstGeom>
          <a:noFill/>
          <a:ln/>
        </p:spPr>
        <p:txBody>
          <a:bodyPr wrap="square" rtlCol="0" anchor="ctr"/>
          <a:lstStyle/>
          <a:p>
            <a:pPr marL="0" indent="0" algn="r">
              <a:buNone/>
            </a:pPr>
            <a:r>
              <a:rPr lang="en-US" sz="800" dirty="0">
                <a:solidFill>
                  <a:srgbClr val="6B6B7A"/>
                </a:solidFill>
                <a:latin typeface="Segoe UI" pitchFamily="34" charset="0"/>
                <a:ea typeface="Segoe UI" pitchFamily="34" charset="-122"/>
                <a:cs typeface="Segoe UI" pitchFamily="34" charset="-120"/>
              </a:rPr>
              <a:t>0/175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E8E8EC"/>
        </a:solidFill>
        <a:effectLst/>
      </p:bgPr>
    </p:bg>
    <p:spTree>
      <p:nvGrpSpPr>
        <p:cNvPr id="1" name=""/>
        <p:cNvGrpSpPr/>
        <p:nvPr/>
      </p:nvGrpSpPr>
      <p:grpSpPr>
        <a:xfrm>
          <a:off x="0" y="0"/>
          <a:ext cx="0" cy="0"/>
          <a:chOff x="0" y="0"/>
          <a:chExt cx="0" cy="0"/>
        </a:xfrm>
      </p:grpSpPr>
      <p:pic>
        <p:nvPicPr>
          <p:cNvPr id="2" name="Image 0" descr="D:\Apps\hr-rh-app\templates\exco\cover-assets\slide-fade.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4" name="Shape 1"/>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Shape 2"/>
          <p:cNvSpPr/>
          <p:nvPr/>
        </p:nvSpPr>
        <p:spPr>
          <a:xfrm>
            <a:off x="292608" y="146304"/>
            <a:ext cx="365760" cy="365760"/>
          </a:xfrm>
          <a:prstGeom prst="roundRect">
            <a:avLst>
              <a:gd name="adj" fmla="val 15000"/>
            </a:avLst>
          </a:prstGeom>
          <a:solidFill>
            <a:srgbClr val="E30613"/>
          </a:solidFill>
          <a:ln w="12700">
            <a:solidFill>
              <a:srgbClr val="E30613"/>
            </a:solidFill>
            <a:prstDash val="solid"/>
          </a:ln>
        </p:spPr>
        <p:txBody>
          <a:bodyPr/>
          <a:lstStyle/>
          <a:p>
            <a:endParaRPr lang="fr-FR"/>
          </a:p>
        </p:txBody>
      </p:sp>
      <p:sp>
        <p:nvSpPr>
          <p:cNvPr id="6" name="Text 3"/>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04</a:t>
            </a:r>
            <a:endParaRPr lang="en-US" sz="1200" dirty="0"/>
          </a:p>
        </p:txBody>
      </p:sp>
      <p:sp>
        <p:nvSpPr>
          <p:cNvPr id="7" name="Text 4"/>
          <p:cNvSpPr/>
          <p:nvPr/>
        </p:nvSpPr>
        <p:spPr>
          <a:xfrm>
            <a:off x="804672" y="128016"/>
            <a:ext cx="4572000" cy="146304"/>
          </a:xfrm>
          <a:prstGeom prst="rect">
            <a:avLst/>
          </a:prstGeom>
          <a:noFill/>
          <a:ln/>
        </p:spPr>
        <p:txBody>
          <a:bodyPr wrap="square" rtlCol="0" anchor="ctr"/>
          <a:lstStyle/>
          <a:p>
            <a:pPr marL="0" indent="0">
              <a:buNone/>
            </a:pPr>
            <a:r>
              <a:rPr lang="en-US" sz="900" b="1" dirty="0">
                <a:solidFill>
                  <a:srgbClr val="E30613"/>
                </a:solidFill>
                <a:latin typeface="Segoe UI" pitchFamily="34" charset="0"/>
                <a:ea typeface="Segoe UI" pitchFamily="34" charset="-122"/>
                <a:cs typeface="Segoe UI" pitchFamily="34" charset="-120"/>
              </a:rPr>
              <a:t>PPC · HR EXCO</a:t>
            </a:r>
            <a:endParaRPr lang="en-US" sz="900" dirty="0"/>
          </a:p>
        </p:txBody>
      </p:sp>
      <p:sp>
        <p:nvSpPr>
          <p:cNvPr id="8" name="Text 5"/>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OVERTIME — Hours</a:t>
            </a:r>
            <a:endParaRPr lang="en-US" sz="1800" dirty="0"/>
          </a:p>
        </p:txBody>
      </p:sp>
      <p:sp>
        <p:nvSpPr>
          <p:cNvPr id="9" name="Text 6"/>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10" name="Shape 7"/>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11" name="Shape 8"/>
          <p:cNvSpPr/>
          <p:nvPr/>
        </p:nvSpPr>
        <p:spPr>
          <a:xfrm>
            <a:off x="320040" y="804672"/>
            <a:ext cx="4892040" cy="5806440"/>
          </a:xfrm>
          <a:prstGeom prst="roundRect">
            <a:avLst>
              <a:gd name="adj" fmla="val 1495"/>
            </a:avLst>
          </a:prstGeom>
          <a:solidFill>
            <a:srgbClr val="FFFFFF"/>
          </a:solidFill>
          <a:ln w="12700">
            <a:solidFill>
              <a:srgbClr val="E0E0E6"/>
            </a:solidFill>
            <a:prstDash val="solid"/>
          </a:ln>
        </p:spPr>
        <p:txBody>
          <a:bodyPr/>
          <a:lstStyle/>
          <a:p>
            <a:endParaRPr lang="fr-FR"/>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93192" y="896112"/>
          <a:ext cx="4572000" cy="5605272"/>
        </p:xfrm>
        <a:graphic>
          <a:graphicData uri="http://schemas.openxmlformats.org/drawingml/2006/table">
            <a:tbl>
              <a:tblPr/>
              <a:tblGrid>
                <a:gridCol w="20116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tblGrid>
              <a:tr h="311404">
                <a:tc>
                  <a:txBody>
                    <a:bodyPr/>
                    <a:lstStyle/>
                    <a:p>
                      <a:pPr marL="0" indent="0" algn="l">
                        <a:buNone/>
                      </a:pPr>
                      <a:r>
                        <a:rPr lang="en-US" sz="1100" b="1" dirty="0">
                          <a:solidFill>
                            <a:srgbClr val="FFFFFF"/>
                          </a:solidFill>
                          <a:latin typeface="Segoe UI" pitchFamily="34" charset="0"/>
                          <a:ea typeface="Segoe UI" pitchFamily="34" charset="-122"/>
                          <a:cs typeface="Segoe UI" pitchFamily="34" charset="-120"/>
                        </a:rPr>
                        <a:t>Department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r">
                        <a:buNone/>
                      </a:pPr>
                      <a:r>
                        <a:rPr lang="en-US" sz="1100" b="1" dirty="0">
                          <a:solidFill>
                            <a:srgbClr val="FFFFFF"/>
                          </a:solidFill>
                          <a:latin typeface="Segoe UI" pitchFamily="34" charset="0"/>
                          <a:ea typeface="Segoe UI" pitchFamily="34" charset="-122"/>
                          <a:cs typeface="Segoe UI" pitchFamily="34" charset="-120"/>
                        </a:rPr>
                        <a:t>JUL</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6B6B7A"/>
                    </a:solidFill>
                  </a:tcPr>
                </a:tc>
                <a:tc>
                  <a:txBody>
                    <a:bodyPr/>
                    <a:lstStyle/>
                    <a:p>
                      <a:pPr marL="0" indent="0" algn="r">
                        <a:buNone/>
                      </a:pPr>
                      <a:r>
                        <a:rPr lang="en-US" sz="1100" b="1" dirty="0">
                          <a:solidFill>
                            <a:srgbClr val="FFFFFF"/>
                          </a:solidFill>
                          <a:latin typeface="Segoe UI" pitchFamily="34" charset="0"/>
                          <a:ea typeface="Segoe UI" pitchFamily="34" charset="-122"/>
                          <a:cs typeface="Segoe UI" pitchFamily="34" charset="-120"/>
                        </a:rPr>
                        <a:t>AUG</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ctr">
                        <a:buNone/>
                      </a:pPr>
                      <a:r>
                        <a:rPr lang="en-US" sz="1100" b="1" dirty="0">
                          <a:solidFill>
                            <a:srgbClr val="FFFFFF"/>
                          </a:solidFill>
                          <a:latin typeface="Segoe UI" pitchFamily="34" charset="0"/>
                          <a:ea typeface="Segoe UI" pitchFamily="34" charset="-122"/>
                          <a:cs typeface="Segoe UI" pitchFamily="34" charset="-120"/>
                        </a:rPr>
                        <a:t>Δ</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extLst>
                  <a:ext uri="{0D108BD9-81ED-4DB2-BD59-A6C34878D82A}">
                    <a16:rowId xmlns:a16="http://schemas.microsoft.com/office/drawing/2014/main" val="10000"/>
                  </a:ext>
                </a:extLst>
              </a:tr>
              <a:tr h="311404">
                <a:tc>
                  <a:txBody>
                    <a:bodyPr/>
                    <a:lstStyle/>
                    <a:p>
                      <a:pPr marL="0" indent="0" algn="l">
                        <a:buNone/>
                      </a:pPr>
                      <a:r>
                        <a:rPr lang="en-US" sz="1100" dirty="0">
                          <a:solidFill>
                            <a:srgbClr val="16161E"/>
                          </a:solidFill>
                          <a:latin typeface="Segoe UI" pitchFamily="34" charset="0"/>
                          <a:ea typeface="Segoe UI" pitchFamily="34" charset="-122"/>
                          <a:cs typeface="Segoe UI" pitchFamily="34" charset="-120"/>
                        </a:rPr>
                        <a:t>Audit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6B6B7A"/>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1404">
                <a:tc>
                  <a:txBody>
                    <a:bodyPr/>
                    <a:lstStyle/>
                    <a:p>
                      <a:pPr marL="0" indent="0" algn="l">
                        <a:buNone/>
                      </a:pPr>
                      <a:r>
                        <a:rPr lang="en-US" sz="1100" b="1" dirty="0">
                          <a:solidFill>
                            <a:srgbClr val="16161E"/>
                          </a:solidFill>
                          <a:latin typeface="Segoe UI" pitchFamily="34" charset="0"/>
                          <a:ea typeface="Segoe UI" pitchFamily="34" charset="-122"/>
                          <a:cs typeface="Segoe UI" pitchFamily="34" charset="-120"/>
                        </a:rPr>
                        <a:t>Engineering</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b="1" dirty="0">
                          <a:solidFill>
                            <a:srgbClr val="16161E"/>
                          </a:solidFill>
                          <a:latin typeface="Segoe UI" pitchFamily="34" charset="0"/>
                          <a:ea typeface="Segoe UI" pitchFamily="34" charset="-122"/>
                          <a:cs typeface="Segoe UI" pitchFamily="34" charset="-120"/>
                        </a:rPr>
                        <a:t>639.19</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b="1" dirty="0">
                          <a:solidFill>
                            <a:srgbClr val="16161E"/>
                          </a:solidFill>
                          <a:latin typeface="Segoe UI" pitchFamily="34" charset="0"/>
                          <a:ea typeface="Segoe UI" pitchFamily="34" charset="-122"/>
                          <a:cs typeface="Segoe UI" pitchFamily="34" charset="-120"/>
                        </a:rPr>
                        <a:t>441.67</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1200" b="1" dirty="0">
                          <a:solidFill>
                            <a:srgbClr val="166534"/>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2"/>
                  </a:ext>
                </a:extLst>
              </a:tr>
              <a:tr h="311404">
                <a:tc>
                  <a:txBody>
                    <a:bodyPr/>
                    <a:lstStyle/>
                    <a:p>
                      <a:pPr marL="0" indent="0" algn="l">
                        <a:buNone/>
                      </a:pPr>
                      <a:r>
                        <a:rPr lang="en-US" sz="1100" dirty="0">
                          <a:solidFill>
                            <a:srgbClr val="16161E"/>
                          </a:solidFill>
                          <a:latin typeface="Segoe UI" pitchFamily="34" charset="0"/>
                          <a:ea typeface="Segoe UI" pitchFamily="34" charset="-122"/>
                          <a:cs typeface="Segoe UI" pitchFamily="34" charset="-120"/>
                        </a:rPr>
                        <a:t>Finance</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6B6B7A"/>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1404">
                <a:tc>
                  <a:txBody>
                    <a:bodyPr/>
                    <a:lstStyle/>
                    <a:p>
                      <a:pPr marL="0" indent="0" algn="l">
                        <a:buNone/>
                      </a:pPr>
                      <a:r>
                        <a:rPr lang="en-US" sz="1100" dirty="0">
                          <a:solidFill>
                            <a:srgbClr val="16161E"/>
                          </a:solidFill>
                          <a:latin typeface="Segoe UI" pitchFamily="34" charset="0"/>
                          <a:ea typeface="Segoe UI" pitchFamily="34" charset="-122"/>
                          <a:cs typeface="Segoe UI" pitchFamily="34" charset="-120"/>
                        </a:rPr>
                        <a:t>Human Resources</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1200" b="1" dirty="0">
                          <a:solidFill>
                            <a:srgbClr val="6B6B7A"/>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4"/>
                  </a:ext>
                </a:extLst>
              </a:tr>
              <a:tr h="311404">
                <a:tc>
                  <a:txBody>
                    <a:bodyPr/>
                    <a:lstStyle/>
                    <a:p>
                      <a:pPr marL="0" indent="0" algn="l">
                        <a:buNone/>
                      </a:pPr>
                      <a:r>
                        <a:rPr lang="en-US" sz="1100" dirty="0">
                          <a:solidFill>
                            <a:srgbClr val="16161E"/>
                          </a:solidFill>
                          <a:latin typeface="Segoe UI" pitchFamily="34" charset="0"/>
                          <a:ea typeface="Segoe UI" pitchFamily="34" charset="-122"/>
                          <a:cs typeface="Segoe UI" pitchFamily="34" charset="-120"/>
                        </a:rPr>
                        <a:t>Legal</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6B6B7A"/>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1404">
                <a:tc>
                  <a:txBody>
                    <a:bodyPr/>
                    <a:lstStyle/>
                    <a:p>
                      <a:pPr marL="0" indent="0" algn="l">
                        <a:buNone/>
                      </a:pPr>
                      <a:r>
                        <a:rPr lang="en-US" sz="1100" b="1" dirty="0">
                          <a:solidFill>
                            <a:srgbClr val="16161E"/>
                          </a:solidFill>
                          <a:latin typeface="Segoe UI" pitchFamily="34" charset="0"/>
                          <a:ea typeface="Segoe UI" pitchFamily="34" charset="-122"/>
                          <a:cs typeface="Segoe UI" pitchFamily="34" charset="-120"/>
                        </a:rPr>
                        <a:t>Logistic</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b="1"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b="1" dirty="0">
                          <a:solidFill>
                            <a:srgbClr val="16161E"/>
                          </a:solidFill>
                          <a:latin typeface="Segoe UI" pitchFamily="34" charset="0"/>
                          <a:ea typeface="Segoe UI" pitchFamily="34" charset="-122"/>
                          <a:cs typeface="Segoe UI" pitchFamily="34" charset="-120"/>
                        </a:rPr>
                        <a:t>44.63</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1200" b="1" dirty="0">
                          <a:solidFill>
                            <a:srgbClr val="B91C1C"/>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6"/>
                  </a:ext>
                </a:extLst>
              </a:tr>
              <a:tr h="311404">
                <a:tc>
                  <a:txBody>
                    <a:bodyPr/>
                    <a:lstStyle/>
                    <a:p>
                      <a:pPr marL="0" indent="0" algn="l">
                        <a:buNone/>
                      </a:pPr>
                      <a:r>
                        <a:rPr lang="en-US" sz="1100" dirty="0">
                          <a:solidFill>
                            <a:srgbClr val="16161E"/>
                          </a:solidFill>
                          <a:latin typeface="Segoe UI" pitchFamily="34" charset="0"/>
                          <a:ea typeface="Segoe UI" pitchFamily="34" charset="-122"/>
                          <a:cs typeface="Segoe UI" pitchFamily="34" charset="-120"/>
                        </a:rPr>
                        <a:t>MD Office</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6B6B7A"/>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1404">
                <a:tc>
                  <a:txBody>
                    <a:bodyPr/>
                    <a:lstStyle/>
                    <a:p>
                      <a:pPr marL="0" indent="0" algn="l">
                        <a:buNone/>
                      </a:pPr>
                      <a:r>
                        <a:rPr lang="en-US" sz="1100" dirty="0">
                          <a:solidFill>
                            <a:srgbClr val="16161E"/>
                          </a:solidFill>
                          <a:latin typeface="Segoe UI" pitchFamily="34" charset="0"/>
                          <a:ea typeface="Segoe UI" pitchFamily="34" charset="-122"/>
                          <a:cs typeface="Segoe UI" pitchFamily="34" charset="-120"/>
                        </a:rPr>
                        <a:t>Mining</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107.60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1200" b="1" dirty="0">
                          <a:solidFill>
                            <a:srgbClr val="166534"/>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8"/>
                  </a:ext>
                </a:extLst>
              </a:tr>
              <a:tr h="311404">
                <a:tc>
                  <a:txBody>
                    <a:bodyPr/>
                    <a:lstStyle/>
                    <a:p>
                      <a:pPr marL="0" indent="0" algn="l">
                        <a:buNone/>
                      </a:pPr>
                      <a:r>
                        <a:rPr lang="en-US" sz="1100" dirty="0">
                          <a:solidFill>
                            <a:srgbClr val="16161E"/>
                          </a:solidFill>
                          <a:latin typeface="Segoe UI" pitchFamily="34" charset="0"/>
                          <a:ea typeface="Segoe UI" pitchFamily="34" charset="-122"/>
                          <a:cs typeface="Segoe UI" pitchFamily="34" charset="-120"/>
                        </a:rPr>
                        <a:t>Optimization</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6B6B7A"/>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1404">
                <a:tc>
                  <a:txBody>
                    <a:bodyPr/>
                    <a:lstStyle/>
                    <a:p>
                      <a:pPr marL="0" indent="0" algn="l">
                        <a:buNone/>
                      </a:pPr>
                      <a:r>
                        <a:rPr lang="en-US" sz="1100" dirty="0">
                          <a:solidFill>
                            <a:srgbClr val="16161E"/>
                          </a:solidFill>
                          <a:latin typeface="Segoe UI" pitchFamily="34" charset="0"/>
                          <a:ea typeface="Segoe UI" pitchFamily="34" charset="-122"/>
                          <a:cs typeface="Segoe UI" pitchFamily="34" charset="-120"/>
                        </a:rPr>
                        <a:t>Procurement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1200" b="1" dirty="0">
                          <a:solidFill>
                            <a:srgbClr val="6B6B7A"/>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10"/>
                  </a:ext>
                </a:extLst>
              </a:tr>
              <a:tr h="311404">
                <a:tc>
                  <a:txBody>
                    <a:bodyPr/>
                    <a:lstStyle/>
                    <a:p>
                      <a:pPr marL="0" indent="0" algn="l">
                        <a:buNone/>
                      </a:pPr>
                      <a:r>
                        <a:rPr lang="en-US" sz="1100" b="1" dirty="0">
                          <a:solidFill>
                            <a:srgbClr val="16161E"/>
                          </a:solidFill>
                          <a:latin typeface="Segoe UI" pitchFamily="34" charset="0"/>
                          <a:ea typeface="Segoe UI" pitchFamily="34" charset="-122"/>
                          <a:cs typeface="Segoe UI" pitchFamily="34" charset="-120"/>
                        </a:rPr>
                        <a:t>Production</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6161E"/>
                          </a:solidFill>
                          <a:latin typeface="Segoe UI" pitchFamily="34" charset="0"/>
                          <a:ea typeface="Segoe UI" pitchFamily="34" charset="-122"/>
                          <a:cs typeface="Segoe UI" pitchFamily="34" charset="-120"/>
                        </a:rPr>
                        <a:t>378.92</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b="1" dirty="0">
                          <a:solidFill>
                            <a:srgbClr val="16161E"/>
                          </a:solidFill>
                          <a:latin typeface="Segoe UI" pitchFamily="34" charset="0"/>
                          <a:ea typeface="Segoe UI" pitchFamily="34" charset="-122"/>
                          <a:cs typeface="Segoe UI" pitchFamily="34" charset="-120"/>
                        </a:rPr>
                        <a:t>439.72</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B91C1C"/>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11404">
                <a:tc>
                  <a:txBody>
                    <a:bodyPr/>
                    <a:lstStyle/>
                    <a:p>
                      <a:pPr marL="0" indent="0" algn="l">
                        <a:buNone/>
                      </a:pPr>
                      <a:r>
                        <a:rPr lang="en-US" sz="1100" b="1" dirty="0">
                          <a:solidFill>
                            <a:srgbClr val="16161E"/>
                          </a:solidFill>
                          <a:latin typeface="Segoe UI" pitchFamily="34" charset="0"/>
                          <a:ea typeface="Segoe UI" pitchFamily="34" charset="-122"/>
                          <a:cs typeface="Segoe UI" pitchFamily="34" charset="-120"/>
                        </a:rPr>
                        <a:t>Quality Assurance</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b="1" dirty="0">
                          <a:solidFill>
                            <a:srgbClr val="16161E"/>
                          </a:solidFill>
                          <a:latin typeface="Segoe UI" pitchFamily="34" charset="0"/>
                          <a:ea typeface="Segoe UI" pitchFamily="34" charset="-122"/>
                          <a:cs typeface="Segoe UI" pitchFamily="34" charset="-120"/>
                        </a:rPr>
                        <a:t>111.00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b="1" dirty="0">
                          <a:solidFill>
                            <a:srgbClr val="16161E"/>
                          </a:solidFill>
                          <a:latin typeface="Segoe UI" pitchFamily="34" charset="0"/>
                          <a:ea typeface="Segoe UI" pitchFamily="34" charset="-122"/>
                          <a:cs typeface="Segoe UI" pitchFamily="34" charset="-120"/>
                        </a:rPr>
                        <a:t>108.00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1200" b="1" dirty="0">
                          <a:solidFill>
                            <a:srgbClr val="166534"/>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12"/>
                  </a:ext>
                </a:extLst>
              </a:tr>
              <a:tr h="311404">
                <a:tc>
                  <a:txBody>
                    <a:bodyPr/>
                    <a:lstStyle/>
                    <a:p>
                      <a:pPr marL="0" indent="0" algn="l">
                        <a:buNone/>
                      </a:pPr>
                      <a:r>
                        <a:rPr lang="en-US" sz="1100" dirty="0">
                          <a:solidFill>
                            <a:srgbClr val="16161E"/>
                          </a:solidFill>
                          <a:latin typeface="Segoe UI" pitchFamily="34" charset="0"/>
                          <a:ea typeface="Segoe UI" pitchFamily="34" charset="-122"/>
                          <a:cs typeface="Segoe UI" pitchFamily="34" charset="-120"/>
                        </a:rPr>
                        <a:t>Sales and Marketing</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6B6B7A"/>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311404">
                <a:tc>
                  <a:txBody>
                    <a:bodyPr/>
                    <a:lstStyle/>
                    <a:p>
                      <a:pPr marL="0" indent="0" algn="l">
                        <a:buNone/>
                      </a:pPr>
                      <a:r>
                        <a:rPr lang="en-US" sz="1100" dirty="0">
                          <a:solidFill>
                            <a:srgbClr val="16161E"/>
                          </a:solidFill>
                          <a:latin typeface="Segoe UI" pitchFamily="34" charset="0"/>
                          <a:ea typeface="Segoe UI" pitchFamily="34" charset="-122"/>
                          <a:cs typeface="Segoe UI" pitchFamily="34" charset="-120"/>
                        </a:rPr>
                        <a:t>SHE</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1200" b="1" dirty="0">
                          <a:solidFill>
                            <a:srgbClr val="6B6B7A"/>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14"/>
                  </a:ext>
                </a:extLst>
              </a:tr>
              <a:tr h="311404">
                <a:tc>
                  <a:txBody>
                    <a:bodyPr/>
                    <a:lstStyle/>
                    <a:p>
                      <a:pPr marL="0" indent="0" algn="l">
                        <a:buNone/>
                      </a:pPr>
                      <a:r>
                        <a:rPr lang="en-US" sz="1100" dirty="0">
                          <a:solidFill>
                            <a:srgbClr val="16161E"/>
                          </a:solidFill>
                          <a:latin typeface="Segoe UI" pitchFamily="34" charset="0"/>
                          <a:ea typeface="Segoe UI" pitchFamily="34" charset="-122"/>
                          <a:cs typeface="Segoe UI" pitchFamily="34" charset="-120"/>
                        </a:rPr>
                        <a:t>Transport and Transit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6B6B7A"/>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311404">
                <a:tc>
                  <a:txBody>
                    <a:bodyPr/>
                    <a:lstStyle/>
                    <a:p>
                      <a:pPr marL="0" indent="0" algn="l">
                        <a:buNone/>
                      </a:pPr>
                      <a:r>
                        <a:rPr lang="en-US" sz="1100" dirty="0">
                          <a:solidFill>
                            <a:srgbClr val="16161E"/>
                          </a:solidFill>
                          <a:latin typeface="Segoe UI" pitchFamily="34" charset="0"/>
                          <a:ea typeface="Segoe UI" pitchFamily="34" charset="-122"/>
                          <a:cs typeface="Segoe UI" pitchFamily="34" charset="-120"/>
                        </a:rPr>
                        <a:t>Supply Chain</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65.57</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16161E"/>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ctr">
                        <a:buNone/>
                      </a:pPr>
                      <a:r>
                        <a:rPr lang="en-US" sz="1200" b="1" dirty="0">
                          <a:solidFill>
                            <a:srgbClr val="166534"/>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16"/>
                  </a:ext>
                </a:extLst>
              </a:tr>
              <a:tr h="311404">
                <a:tc>
                  <a:txBody>
                    <a:bodyPr/>
                    <a:lstStyle/>
                    <a:p>
                      <a:pPr marL="0" indent="0" algn="l">
                        <a:buNone/>
                      </a:pPr>
                      <a:r>
                        <a:rPr lang="en-US" sz="1200" b="1" dirty="0">
                          <a:solidFill>
                            <a:srgbClr val="FFFFFF"/>
                          </a:solidFill>
                          <a:latin typeface="Segoe UI" pitchFamily="34" charset="0"/>
                          <a:ea typeface="Segoe UI" pitchFamily="34" charset="-122"/>
                          <a:cs typeface="Segoe UI" pitchFamily="34" charset="-120"/>
                        </a:rPr>
                        <a:t>Total</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r">
                        <a:buNone/>
                      </a:pPr>
                      <a:r>
                        <a:rPr lang="en-US" sz="1200" b="1" dirty="0">
                          <a:solidFill>
                            <a:srgbClr val="FFFFFF"/>
                          </a:solidFill>
                          <a:latin typeface="Segoe UI" pitchFamily="34" charset="0"/>
                          <a:ea typeface="Segoe UI" pitchFamily="34" charset="-122"/>
                          <a:cs typeface="Segoe UI" pitchFamily="34" charset="-120"/>
                        </a:rPr>
                        <a:t>1,302.28</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r">
                        <a:buNone/>
                      </a:pPr>
                      <a:r>
                        <a:rPr lang="en-US" sz="1200" b="1" dirty="0">
                          <a:solidFill>
                            <a:srgbClr val="FFFFFF"/>
                          </a:solidFill>
                          <a:latin typeface="Segoe UI" pitchFamily="34" charset="0"/>
                          <a:ea typeface="Segoe UI" pitchFamily="34" charset="-122"/>
                          <a:cs typeface="Segoe UI" pitchFamily="34" charset="-120"/>
                        </a:rPr>
                        <a:t>1,034.02</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tc>
                  <a:txBody>
                    <a:bodyPr/>
                    <a:lstStyle/>
                    <a:p>
                      <a:pPr marL="0" indent="0" algn="ctr">
                        <a:buNone/>
                      </a:pPr>
                      <a:r>
                        <a:rPr lang="en-US" sz="1200" b="1" dirty="0">
                          <a:solidFill>
                            <a:srgbClr val="FFFFFF"/>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0A0A0A"/>
                    </a:solidFill>
                  </a:tcPr>
                </a:tc>
                <a:extLst>
                  <a:ext uri="{0D108BD9-81ED-4DB2-BD59-A6C34878D82A}">
                    <a16:rowId xmlns:a16="http://schemas.microsoft.com/office/drawing/2014/main" val="10017"/>
                  </a:ext>
                </a:extLst>
              </a:tr>
            </a:tbl>
          </a:graphicData>
        </a:graphic>
      </p:graphicFrame>
      <p:sp>
        <p:nvSpPr>
          <p:cNvPr id="13" name="Shape 9"/>
          <p:cNvSpPr/>
          <p:nvPr/>
        </p:nvSpPr>
        <p:spPr>
          <a:xfrm>
            <a:off x="5394960" y="804672"/>
            <a:ext cx="6355080" cy="5806440"/>
          </a:xfrm>
          <a:prstGeom prst="roundRect">
            <a:avLst>
              <a:gd name="adj" fmla="val 1260"/>
            </a:avLst>
          </a:prstGeom>
          <a:solidFill>
            <a:srgbClr val="FFFFFF"/>
          </a:solidFill>
          <a:ln w="12700">
            <a:solidFill>
              <a:srgbClr val="E0E0E6"/>
            </a:solidFill>
            <a:prstDash val="solid"/>
          </a:ln>
        </p:spPr>
        <p:txBody>
          <a:bodyPr/>
          <a:lstStyle/>
          <a:p>
            <a:endParaRPr lang="fr-FR"/>
          </a:p>
        </p:txBody>
      </p:sp>
      <p:sp>
        <p:nvSpPr>
          <p:cNvPr id="14" name="Shape 10"/>
          <p:cNvSpPr/>
          <p:nvPr/>
        </p:nvSpPr>
        <p:spPr>
          <a:xfrm>
            <a:off x="5394960" y="804672"/>
            <a:ext cx="6355080" cy="384048"/>
          </a:xfrm>
          <a:prstGeom prst="rect">
            <a:avLst/>
          </a:prstGeom>
          <a:solidFill>
            <a:srgbClr val="0A0A0A"/>
          </a:solidFill>
          <a:ln w="12700">
            <a:solidFill>
              <a:srgbClr val="0A0A0A"/>
            </a:solidFill>
            <a:prstDash val="solid"/>
          </a:ln>
        </p:spPr>
        <p:txBody>
          <a:bodyPr/>
          <a:lstStyle/>
          <a:p>
            <a:endParaRPr lang="fr-FR"/>
          </a:p>
        </p:txBody>
      </p:sp>
      <p:sp>
        <p:nvSpPr>
          <p:cNvPr id="15" name="Text 11"/>
          <p:cNvSpPr/>
          <p:nvPr/>
        </p:nvSpPr>
        <p:spPr>
          <a:xfrm>
            <a:off x="5486400" y="850392"/>
            <a:ext cx="6172200" cy="292608"/>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Overtime — AUG hours per Department</a:t>
            </a:r>
            <a:endParaRPr lang="en-US" sz="1200" dirty="0"/>
          </a:p>
        </p:txBody>
      </p:sp>
      <p:sp>
        <p:nvSpPr>
          <p:cNvPr id="16" name="Text 12"/>
          <p:cNvSpPr/>
          <p:nvPr/>
        </p:nvSpPr>
        <p:spPr>
          <a:xfrm>
            <a:off x="5468112" y="5779008"/>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0</a:t>
            </a:r>
            <a:endParaRPr lang="en-US" sz="800" dirty="0"/>
          </a:p>
        </p:txBody>
      </p:sp>
      <p:sp>
        <p:nvSpPr>
          <p:cNvPr id="17" name="Shape 13"/>
          <p:cNvSpPr/>
          <p:nvPr/>
        </p:nvSpPr>
        <p:spPr>
          <a:xfrm>
            <a:off x="5495544" y="5998464"/>
            <a:ext cx="333756" cy="45720"/>
          </a:xfrm>
          <a:prstGeom prst="rect">
            <a:avLst/>
          </a:prstGeom>
          <a:solidFill>
            <a:srgbClr val="5A5A66"/>
          </a:solidFill>
          <a:ln w="12700">
            <a:solidFill>
              <a:srgbClr val="5A5A66"/>
            </a:solidFill>
            <a:prstDash val="solid"/>
          </a:ln>
        </p:spPr>
        <p:txBody>
          <a:bodyPr/>
          <a:lstStyle/>
          <a:p>
            <a:endParaRPr lang="fr-FR"/>
          </a:p>
        </p:txBody>
      </p:sp>
      <p:sp>
        <p:nvSpPr>
          <p:cNvPr id="18" name="Text 14"/>
          <p:cNvSpPr/>
          <p:nvPr/>
        </p:nvSpPr>
        <p:spPr>
          <a:xfrm>
            <a:off x="5468112" y="6117336"/>
            <a:ext cx="388620" cy="365760"/>
          </a:xfrm>
          <a:prstGeom prst="rect">
            <a:avLst/>
          </a:prstGeom>
          <a:noFill/>
          <a:ln/>
        </p:spPr>
        <p:txBody>
          <a:bodyPr wrap="none" rtlCol="0" anchor="t"/>
          <a:lstStyle/>
          <a:p>
            <a:pPr marL="0" indent="0" algn="ctr">
              <a:buNone/>
            </a:pPr>
            <a:r>
              <a:rPr lang="en-US" sz="800" dirty="0">
                <a:solidFill>
                  <a:srgbClr val="16161E"/>
                </a:solidFill>
                <a:latin typeface="Segoe UI" pitchFamily="34" charset="0"/>
                <a:ea typeface="Segoe UI" pitchFamily="34" charset="-122"/>
                <a:cs typeface="Segoe UI" pitchFamily="34" charset="-120"/>
              </a:rPr>
              <a:t>Audit</a:t>
            </a:r>
            <a:endParaRPr lang="en-US" sz="800" dirty="0"/>
          </a:p>
        </p:txBody>
      </p:sp>
      <p:sp>
        <p:nvSpPr>
          <p:cNvPr id="19" name="Text 15"/>
          <p:cNvSpPr/>
          <p:nvPr/>
        </p:nvSpPr>
        <p:spPr>
          <a:xfrm>
            <a:off x="5856732" y="1261872"/>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441.7</a:t>
            </a:r>
            <a:endParaRPr lang="en-US" sz="800" dirty="0"/>
          </a:p>
        </p:txBody>
      </p:sp>
      <p:sp>
        <p:nvSpPr>
          <p:cNvPr id="20" name="Shape 16"/>
          <p:cNvSpPr/>
          <p:nvPr/>
        </p:nvSpPr>
        <p:spPr>
          <a:xfrm>
            <a:off x="5884164" y="1481328"/>
            <a:ext cx="333756" cy="4562856"/>
          </a:xfrm>
          <a:prstGeom prst="rect">
            <a:avLst/>
          </a:prstGeom>
          <a:solidFill>
            <a:srgbClr val="5A5A66"/>
          </a:solidFill>
          <a:ln w="12700">
            <a:solidFill>
              <a:srgbClr val="5A5A66"/>
            </a:solidFill>
            <a:prstDash val="solid"/>
          </a:ln>
        </p:spPr>
        <p:txBody>
          <a:bodyPr/>
          <a:lstStyle/>
          <a:p>
            <a:endParaRPr lang="fr-FR"/>
          </a:p>
        </p:txBody>
      </p:sp>
      <p:sp>
        <p:nvSpPr>
          <p:cNvPr id="21" name="Text 17"/>
          <p:cNvSpPr/>
          <p:nvPr/>
        </p:nvSpPr>
        <p:spPr>
          <a:xfrm>
            <a:off x="5856732" y="6117336"/>
            <a:ext cx="388620" cy="365760"/>
          </a:xfrm>
          <a:prstGeom prst="rect">
            <a:avLst/>
          </a:prstGeom>
          <a:noFill/>
          <a:ln/>
        </p:spPr>
        <p:txBody>
          <a:bodyPr wrap="none" rtlCol="0" anchor="t"/>
          <a:lstStyle/>
          <a:p>
            <a:pPr marL="0" indent="0" algn="ctr">
              <a:buNone/>
            </a:pPr>
            <a:r>
              <a:rPr lang="en-US" sz="800" b="1" dirty="0">
                <a:solidFill>
                  <a:srgbClr val="16161E"/>
                </a:solidFill>
                <a:latin typeface="Segoe UI" pitchFamily="34" charset="0"/>
                <a:ea typeface="Segoe UI" pitchFamily="34" charset="-122"/>
                <a:cs typeface="Segoe UI" pitchFamily="34" charset="-120"/>
              </a:rPr>
              <a:t>Eng.</a:t>
            </a:r>
            <a:endParaRPr lang="en-US" sz="800" dirty="0"/>
          </a:p>
        </p:txBody>
      </p:sp>
      <p:sp>
        <p:nvSpPr>
          <p:cNvPr id="22" name="Text 18"/>
          <p:cNvSpPr/>
          <p:nvPr/>
        </p:nvSpPr>
        <p:spPr>
          <a:xfrm>
            <a:off x="6245352" y="5779008"/>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0</a:t>
            </a:r>
            <a:endParaRPr lang="en-US" sz="800" dirty="0"/>
          </a:p>
        </p:txBody>
      </p:sp>
      <p:sp>
        <p:nvSpPr>
          <p:cNvPr id="23" name="Shape 19"/>
          <p:cNvSpPr/>
          <p:nvPr/>
        </p:nvSpPr>
        <p:spPr>
          <a:xfrm>
            <a:off x="6272784" y="5998464"/>
            <a:ext cx="333756" cy="45720"/>
          </a:xfrm>
          <a:prstGeom prst="rect">
            <a:avLst/>
          </a:prstGeom>
          <a:solidFill>
            <a:srgbClr val="5A5A66"/>
          </a:solidFill>
          <a:ln w="12700">
            <a:solidFill>
              <a:srgbClr val="5A5A66"/>
            </a:solidFill>
            <a:prstDash val="solid"/>
          </a:ln>
        </p:spPr>
        <p:txBody>
          <a:bodyPr/>
          <a:lstStyle/>
          <a:p>
            <a:endParaRPr lang="fr-FR"/>
          </a:p>
        </p:txBody>
      </p:sp>
      <p:sp>
        <p:nvSpPr>
          <p:cNvPr id="24" name="Text 20"/>
          <p:cNvSpPr/>
          <p:nvPr/>
        </p:nvSpPr>
        <p:spPr>
          <a:xfrm>
            <a:off x="6245352" y="6117336"/>
            <a:ext cx="388620" cy="365760"/>
          </a:xfrm>
          <a:prstGeom prst="rect">
            <a:avLst/>
          </a:prstGeom>
          <a:noFill/>
          <a:ln/>
        </p:spPr>
        <p:txBody>
          <a:bodyPr wrap="none" rtlCol="0" anchor="t"/>
          <a:lstStyle/>
          <a:p>
            <a:pPr marL="0" indent="0" algn="ctr">
              <a:buNone/>
            </a:pPr>
            <a:r>
              <a:rPr lang="en-US" sz="800" dirty="0">
                <a:solidFill>
                  <a:srgbClr val="16161E"/>
                </a:solidFill>
                <a:latin typeface="Segoe UI" pitchFamily="34" charset="0"/>
                <a:ea typeface="Segoe UI" pitchFamily="34" charset="-122"/>
                <a:cs typeface="Segoe UI" pitchFamily="34" charset="-120"/>
              </a:rPr>
              <a:t>Fin.</a:t>
            </a:r>
            <a:endParaRPr lang="en-US" sz="800" dirty="0"/>
          </a:p>
        </p:txBody>
      </p:sp>
      <p:sp>
        <p:nvSpPr>
          <p:cNvPr id="25" name="Text 21"/>
          <p:cNvSpPr/>
          <p:nvPr/>
        </p:nvSpPr>
        <p:spPr>
          <a:xfrm>
            <a:off x="6633972" y="5779008"/>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0</a:t>
            </a:r>
            <a:endParaRPr lang="en-US" sz="800" dirty="0"/>
          </a:p>
        </p:txBody>
      </p:sp>
      <p:sp>
        <p:nvSpPr>
          <p:cNvPr id="26" name="Shape 22"/>
          <p:cNvSpPr/>
          <p:nvPr/>
        </p:nvSpPr>
        <p:spPr>
          <a:xfrm>
            <a:off x="6661404" y="5998464"/>
            <a:ext cx="333756" cy="45720"/>
          </a:xfrm>
          <a:prstGeom prst="rect">
            <a:avLst/>
          </a:prstGeom>
          <a:solidFill>
            <a:srgbClr val="5A5A66"/>
          </a:solidFill>
          <a:ln w="12700">
            <a:solidFill>
              <a:srgbClr val="5A5A66"/>
            </a:solidFill>
            <a:prstDash val="solid"/>
          </a:ln>
        </p:spPr>
        <p:txBody>
          <a:bodyPr/>
          <a:lstStyle/>
          <a:p>
            <a:endParaRPr lang="fr-FR"/>
          </a:p>
        </p:txBody>
      </p:sp>
      <p:sp>
        <p:nvSpPr>
          <p:cNvPr id="27" name="Text 23"/>
          <p:cNvSpPr/>
          <p:nvPr/>
        </p:nvSpPr>
        <p:spPr>
          <a:xfrm>
            <a:off x="6633972" y="6117336"/>
            <a:ext cx="388620" cy="365760"/>
          </a:xfrm>
          <a:prstGeom prst="rect">
            <a:avLst/>
          </a:prstGeom>
          <a:noFill/>
          <a:ln/>
        </p:spPr>
        <p:txBody>
          <a:bodyPr wrap="none" rtlCol="0" anchor="t"/>
          <a:lstStyle/>
          <a:p>
            <a:pPr marL="0" indent="0" algn="ctr">
              <a:buNone/>
            </a:pPr>
            <a:r>
              <a:rPr lang="en-US" sz="800" dirty="0">
                <a:solidFill>
                  <a:srgbClr val="16161E"/>
                </a:solidFill>
                <a:latin typeface="Segoe UI" pitchFamily="34" charset="0"/>
                <a:ea typeface="Segoe UI" pitchFamily="34" charset="-122"/>
                <a:cs typeface="Segoe UI" pitchFamily="34" charset="-120"/>
              </a:rPr>
              <a:t>HR</a:t>
            </a:r>
            <a:endParaRPr lang="en-US" sz="800" dirty="0"/>
          </a:p>
        </p:txBody>
      </p:sp>
      <p:sp>
        <p:nvSpPr>
          <p:cNvPr id="28" name="Text 24"/>
          <p:cNvSpPr/>
          <p:nvPr/>
        </p:nvSpPr>
        <p:spPr>
          <a:xfrm>
            <a:off x="7022592" y="5779008"/>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0</a:t>
            </a:r>
            <a:endParaRPr lang="en-US" sz="800" dirty="0"/>
          </a:p>
        </p:txBody>
      </p:sp>
      <p:sp>
        <p:nvSpPr>
          <p:cNvPr id="29" name="Shape 25"/>
          <p:cNvSpPr/>
          <p:nvPr/>
        </p:nvSpPr>
        <p:spPr>
          <a:xfrm>
            <a:off x="7050024" y="5998464"/>
            <a:ext cx="333756" cy="45720"/>
          </a:xfrm>
          <a:prstGeom prst="rect">
            <a:avLst/>
          </a:prstGeom>
          <a:solidFill>
            <a:srgbClr val="5A5A66"/>
          </a:solidFill>
          <a:ln w="12700">
            <a:solidFill>
              <a:srgbClr val="5A5A66"/>
            </a:solidFill>
            <a:prstDash val="solid"/>
          </a:ln>
        </p:spPr>
        <p:txBody>
          <a:bodyPr/>
          <a:lstStyle/>
          <a:p>
            <a:endParaRPr lang="fr-FR"/>
          </a:p>
        </p:txBody>
      </p:sp>
      <p:sp>
        <p:nvSpPr>
          <p:cNvPr id="30" name="Text 26"/>
          <p:cNvSpPr/>
          <p:nvPr/>
        </p:nvSpPr>
        <p:spPr>
          <a:xfrm>
            <a:off x="7022592" y="6117336"/>
            <a:ext cx="388620" cy="365760"/>
          </a:xfrm>
          <a:prstGeom prst="rect">
            <a:avLst/>
          </a:prstGeom>
          <a:noFill/>
          <a:ln/>
        </p:spPr>
        <p:txBody>
          <a:bodyPr wrap="none" rtlCol="0" anchor="t"/>
          <a:lstStyle/>
          <a:p>
            <a:pPr marL="0" indent="0" algn="ctr">
              <a:buNone/>
            </a:pPr>
            <a:r>
              <a:rPr lang="en-US" sz="800" dirty="0">
                <a:solidFill>
                  <a:srgbClr val="16161E"/>
                </a:solidFill>
                <a:latin typeface="Segoe UI" pitchFamily="34" charset="0"/>
                <a:ea typeface="Segoe UI" pitchFamily="34" charset="-122"/>
                <a:cs typeface="Segoe UI" pitchFamily="34" charset="-120"/>
              </a:rPr>
              <a:t>Legal</a:t>
            </a:r>
            <a:endParaRPr lang="en-US" sz="800" dirty="0"/>
          </a:p>
        </p:txBody>
      </p:sp>
      <p:sp>
        <p:nvSpPr>
          <p:cNvPr id="31" name="Text 27"/>
          <p:cNvSpPr/>
          <p:nvPr/>
        </p:nvSpPr>
        <p:spPr>
          <a:xfrm>
            <a:off x="7411212" y="5363659"/>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44.6</a:t>
            </a:r>
            <a:endParaRPr lang="en-US" sz="800" dirty="0"/>
          </a:p>
        </p:txBody>
      </p:sp>
      <p:sp>
        <p:nvSpPr>
          <p:cNvPr id="32" name="Shape 28"/>
          <p:cNvSpPr/>
          <p:nvPr/>
        </p:nvSpPr>
        <p:spPr>
          <a:xfrm>
            <a:off x="7438644" y="5583115"/>
            <a:ext cx="333756" cy="461069"/>
          </a:xfrm>
          <a:prstGeom prst="rect">
            <a:avLst/>
          </a:prstGeom>
          <a:solidFill>
            <a:srgbClr val="5A5A66"/>
          </a:solidFill>
          <a:ln w="12700">
            <a:solidFill>
              <a:srgbClr val="5A5A66"/>
            </a:solidFill>
            <a:prstDash val="solid"/>
          </a:ln>
        </p:spPr>
        <p:txBody>
          <a:bodyPr/>
          <a:lstStyle/>
          <a:p>
            <a:endParaRPr lang="fr-FR"/>
          </a:p>
        </p:txBody>
      </p:sp>
      <p:sp>
        <p:nvSpPr>
          <p:cNvPr id="33" name="Text 29"/>
          <p:cNvSpPr/>
          <p:nvPr/>
        </p:nvSpPr>
        <p:spPr>
          <a:xfrm>
            <a:off x="7411212" y="6117336"/>
            <a:ext cx="388620" cy="365760"/>
          </a:xfrm>
          <a:prstGeom prst="rect">
            <a:avLst/>
          </a:prstGeom>
          <a:noFill/>
          <a:ln/>
        </p:spPr>
        <p:txBody>
          <a:bodyPr wrap="none" rtlCol="0" anchor="t"/>
          <a:lstStyle/>
          <a:p>
            <a:pPr marL="0" indent="0" algn="ctr">
              <a:buNone/>
            </a:pPr>
            <a:r>
              <a:rPr lang="en-US" sz="800" b="1" dirty="0">
                <a:solidFill>
                  <a:srgbClr val="16161E"/>
                </a:solidFill>
                <a:latin typeface="Segoe UI" pitchFamily="34" charset="0"/>
                <a:ea typeface="Segoe UI" pitchFamily="34" charset="-122"/>
                <a:cs typeface="Segoe UI" pitchFamily="34" charset="-120"/>
              </a:rPr>
              <a:t>Log.</a:t>
            </a:r>
            <a:endParaRPr lang="en-US" sz="800" dirty="0"/>
          </a:p>
        </p:txBody>
      </p:sp>
      <p:sp>
        <p:nvSpPr>
          <p:cNvPr id="34" name="Text 30"/>
          <p:cNvSpPr/>
          <p:nvPr/>
        </p:nvSpPr>
        <p:spPr>
          <a:xfrm>
            <a:off x="7799832" y="5779008"/>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0</a:t>
            </a:r>
            <a:endParaRPr lang="en-US" sz="800" dirty="0"/>
          </a:p>
        </p:txBody>
      </p:sp>
      <p:sp>
        <p:nvSpPr>
          <p:cNvPr id="35" name="Shape 31"/>
          <p:cNvSpPr/>
          <p:nvPr/>
        </p:nvSpPr>
        <p:spPr>
          <a:xfrm>
            <a:off x="7827264" y="5998464"/>
            <a:ext cx="333756" cy="45720"/>
          </a:xfrm>
          <a:prstGeom prst="rect">
            <a:avLst/>
          </a:prstGeom>
          <a:solidFill>
            <a:srgbClr val="5A5A66"/>
          </a:solidFill>
          <a:ln w="12700">
            <a:solidFill>
              <a:srgbClr val="5A5A66"/>
            </a:solidFill>
            <a:prstDash val="solid"/>
          </a:ln>
        </p:spPr>
        <p:txBody>
          <a:bodyPr/>
          <a:lstStyle/>
          <a:p>
            <a:endParaRPr lang="fr-FR"/>
          </a:p>
        </p:txBody>
      </p:sp>
      <p:sp>
        <p:nvSpPr>
          <p:cNvPr id="36" name="Text 32"/>
          <p:cNvSpPr/>
          <p:nvPr/>
        </p:nvSpPr>
        <p:spPr>
          <a:xfrm>
            <a:off x="7799832" y="6117336"/>
            <a:ext cx="388620" cy="365760"/>
          </a:xfrm>
          <a:prstGeom prst="rect">
            <a:avLst/>
          </a:prstGeom>
          <a:noFill/>
          <a:ln/>
        </p:spPr>
        <p:txBody>
          <a:bodyPr wrap="none" rtlCol="0" anchor="t"/>
          <a:lstStyle/>
          <a:p>
            <a:pPr marL="0" indent="0" algn="ctr">
              <a:buNone/>
            </a:pPr>
            <a:r>
              <a:rPr lang="en-US" sz="800" dirty="0">
                <a:solidFill>
                  <a:srgbClr val="16161E"/>
                </a:solidFill>
                <a:latin typeface="Segoe UI" pitchFamily="34" charset="0"/>
                <a:ea typeface="Segoe UI" pitchFamily="34" charset="-122"/>
                <a:cs typeface="Segoe UI" pitchFamily="34" charset="-120"/>
              </a:rPr>
              <a:t>MD Off…</a:t>
            </a:r>
            <a:endParaRPr lang="en-US" sz="800" dirty="0"/>
          </a:p>
        </p:txBody>
      </p:sp>
      <p:sp>
        <p:nvSpPr>
          <p:cNvPr id="37" name="Text 33"/>
          <p:cNvSpPr/>
          <p:nvPr/>
        </p:nvSpPr>
        <p:spPr>
          <a:xfrm>
            <a:off x="8188452" y="5779008"/>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0</a:t>
            </a:r>
            <a:endParaRPr lang="en-US" sz="800" dirty="0"/>
          </a:p>
        </p:txBody>
      </p:sp>
      <p:sp>
        <p:nvSpPr>
          <p:cNvPr id="38" name="Shape 34"/>
          <p:cNvSpPr/>
          <p:nvPr/>
        </p:nvSpPr>
        <p:spPr>
          <a:xfrm>
            <a:off x="8215884" y="5998464"/>
            <a:ext cx="333756" cy="45720"/>
          </a:xfrm>
          <a:prstGeom prst="rect">
            <a:avLst/>
          </a:prstGeom>
          <a:solidFill>
            <a:srgbClr val="5A5A66"/>
          </a:solidFill>
          <a:ln w="12700">
            <a:solidFill>
              <a:srgbClr val="5A5A66"/>
            </a:solidFill>
            <a:prstDash val="solid"/>
          </a:ln>
        </p:spPr>
        <p:txBody>
          <a:bodyPr/>
          <a:lstStyle/>
          <a:p>
            <a:endParaRPr lang="fr-FR"/>
          </a:p>
        </p:txBody>
      </p:sp>
      <p:sp>
        <p:nvSpPr>
          <p:cNvPr id="39" name="Text 35"/>
          <p:cNvSpPr/>
          <p:nvPr/>
        </p:nvSpPr>
        <p:spPr>
          <a:xfrm>
            <a:off x="8188452" y="6117336"/>
            <a:ext cx="388620" cy="365760"/>
          </a:xfrm>
          <a:prstGeom prst="rect">
            <a:avLst/>
          </a:prstGeom>
          <a:noFill/>
          <a:ln/>
        </p:spPr>
        <p:txBody>
          <a:bodyPr wrap="none" rtlCol="0" anchor="t"/>
          <a:lstStyle/>
          <a:p>
            <a:pPr marL="0" indent="0" algn="ctr">
              <a:buNone/>
            </a:pPr>
            <a:r>
              <a:rPr lang="en-US" sz="800" dirty="0">
                <a:solidFill>
                  <a:srgbClr val="16161E"/>
                </a:solidFill>
                <a:latin typeface="Segoe UI" pitchFamily="34" charset="0"/>
                <a:ea typeface="Segoe UI" pitchFamily="34" charset="-122"/>
                <a:cs typeface="Segoe UI" pitchFamily="34" charset="-120"/>
              </a:rPr>
              <a:t>Mining</a:t>
            </a:r>
            <a:endParaRPr lang="en-US" sz="800" dirty="0"/>
          </a:p>
        </p:txBody>
      </p:sp>
      <p:sp>
        <p:nvSpPr>
          <p:cNvPr id="40" name="Text 36"/>
          <p:cNvSpPr/>
          <p:nvPr/>
        </p:nvSpPr>
        <p:spPr>
          <a:xfrm>
            <a:off x="8577072" y="5779008"/>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0</a:t>
            </a:r>
            <a:endParaRPr lang="en-US" sz="800" dirty="0"/>
          </a:p>
        </p:txBody>
      </p:sp>
      <p:sp>
        <p:nvSpPr>
          <p:cNvPr id="41" name="Shape 37"/>
          <p:cNvSpPr/>
          <p:nvPr/>
        </p:nvSpPr>
        <p:spPr>
          <a:xfrm>
            <a:off x="8604504" y="5998464"/>
            <a:ext cx="333756" cy="45720"/>
          </a:xfrm>
          <a:prstGeom prst="rect">
            <a:avLst/>
          </a:prstGeom>
          <a:solidFill>
            <a:srgbClr val="5A5A66"/>
          </a:solidFill>
          <a:ln w="12700">
            <a:solidFill>
              <a:srgbClr val="5A5A66"/>
            </a:solidFill>
            <a:prstDash val="solid"/>
          </a:ln>
        </p:spPr>
        <p:txBody>
          <a:bodyPr/>
          <a:lstStyle/>
          <a:p>
            <a:endParaRPr lang="fr-FR"/>
          </a:p>
        </p:txBody>
      </p:sp>
      <p:sp>
        <p:nvSpPr>
          <p:cNvPr id="42" name="Text 38"/>
          <p:cNvSpPr/>
          <p:nvPr/>
        </p:nvSpPr>
        <p:spPr>
          <a:xfrm>
            <a:off x="8577072" y="6117336"/>
            <a:ext cx="388620" cy="365760"/>
          </a:xfrm>
          <a:prstGeom prst="rect">
            <a:avLst/>
          </a:prstGeom>
          <a:noFill/>
          <a:ln/>
        </p:spPr>
        <p:txBody>
          <a:bodyPr wrap="none" rtlCol="0" anchor="t"/>
          <a:lstStyle/>
          <a:p>
            <a:pPr marL="0" indent="0" algn="ctr">
              <a:buNone/>
            </a:pPr>
            <a:r>
              <a:rPr lang="en-US" sz="800" dirty="0">
                <a:solidFill>
                  <a:srgbClr val="16161E"/>
                </a:solidFill>
                <a:latin typeface="Segoe UI" pitchFamily="34" charset="0"/>
                <a:ea typeface="Segoe UI" pitchFamily="34" charset="-122"/>
                <a:cs typeface="Segoe UI" pitchFamily="34" charset="-120"/>
              </a:rPr>
              <a:t>Optimi…</a:t>
            </a:r>
            <a:endParaRPr lang="en-US" sz="800" dirty="0"/>
          </a:p>
        </p:txBody>
      </p:sp>
      <p:sp>
        <p:nvSpPr>
          <p:cNvPr id="43" name="Text 39"/>
          <p:cNvSpPr/>
          <p:nvPr/>
        </p:nvSpPr>
        <p:spPr>
          <a:xfrm>
            <a:off x="8965692" y="5779008"/>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0</a:t>
            </a:r>
            <a:endParaRPr lang="en-US" sz="800" dirty="0"/>
          </a:p>
        </p:txBody>
      </p:sp>
      <p:sp>
        <p:nvSpPr>
          <p:cNvPr id="44" name="Shape 40"/>
          <p:cNvSpPr/>
          <p:nvPr/>
        </p:nvSpPr>
        <p:spPr>
          <a:xfrm>
            <a:off x="8993124" y="5998464"/>
            <a:ext cx="333756" cy="45720"/>
          </a:xfrm>
          <a:prstGeom prst="rect">
            <a:avLst/>
          </a:prstGeom>
          <a:solidFill>
            <a:srgbClr val="5A5A66"/>
          </a:solidFill>
          <a:ln w="12700">
            <a:solidFill>
              <a:srgbClr val="5A5A66"/>
            </a:solidFill>
            <a:prstDash val="solid"/>
          </a:ln>
        </p:spPr>
        <p:txBody>
          <a:bodyPr/>
          <a:lstStyle/>
          <a:p>
            <a:endParaRPr lang="fr-FR"/>
          </a:p>
        </p:txBody>
      </p:sp>
      <p:sp>
        <p:nvSpPr>
          <p:cNvPr id="45" name="Text 41"/>
          <p:cNvSpPr/>
          <p:nvPr/>
        </p:nvSpPr>
        <p:spPr>
          <a:xfrm>
            <a:off x="8965692" y="6117336"/>
            <a:ext cx="388620" cy="365760"/>
          </a:xfrm>
          <a:prstGeom prst="rect">
            <a:avLst/>
          </a:prstGeom>
          <a:noFill/>
          <a:ln/>
        </p:spPr>
        <p:txBody>
          <a:bodyPr wrap="none" rtlCol="0" anchor="t"/>
          <a:lstStyle/>
          <a:p>
            <a:pPr marL="0" indent="0" algn="ctr">
              <a:buNone/>
            </a:pPr>
            <a:r>
              <a:rPr lang="en-US" sz="800" dirty="0">
                <a:solidFill>
                  <a:srgbClr val="16161E"/>
                </a:solidFill>
                <a:latin typeface="Segoe UI" pitchFamily="34" charset="0"/>
                <a:ea typeface="Segoe UI" pitchFamily="34" charset="-122"/>
                <a:cs typeface="Segoe UI" pitchFamily="34" charset="-120"/>
              </a:rPr>
              <a:t>Procur…</a:t>
            </a:r>
            <a:endParaRPr lang="en-US" sz="800" dirty="0"/>
          </a:p>
        </p:txBody>
      </p:sp>
      <p:sp>
        <p:nvSpPr>
          <p:cNvPr id="46" name="Text 42"/>
          <p:cNvSpPr/>
          <p:nvPr/>
        </p:nvSpPr>
        <p:spPr>
          <a:xfrm>
            <a:off x="9354312" y="1282017"/>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439.7</a:t>
            </a:r>
            <a:endParaRPr lang="en-US" sz="800" dirty="0"/>
          </a:p>
        </p:txBody>
      </p:sp>
      <p:sp>
        <p:nvSpPr>
          <p:cNvPr id="47" name="Shape 43"/>
          <p:cNvSpPr/>
          <p:nvPr/>
        </p:nvSpPr>
        <p:spPr>
          <a:xfrm>
            <a:off x="9381744" y="1501473"/>
            <a:ext cx="333756" cy="4542711"/>
          </a:xfrm>
          <a:prstGeom prst="rect">
            <a:avLst/>
          </a:prstGeom>
          <a:solidFill>
            <a:srgbClr val="5A5A66"/>
          </a:solidFill>
          <a:ln w="12700">
            <a:solidFill>
              <a:srgbClr val="5A5A66"/>
            </a:solidFill>
            <a:prstDash val="solid"/>
          </a:ln>
        </p:spPr>
        <p:txBody>
          <a:bodyPr/>
          <a:lstStyle/>
          <a:p>
            <a:endParaRPr lang="fr-FR"/>
          </a:p>
        </p:txBody>
      </p:sp>
      <p:sp>
        <p:nvSpPr>
          <p:cNvPr id="48" name="Text 44"/>
          <p:cNvSpPr/>
          <p:nvPr/>
        </p:nvSpPr>
        <p:spPr>
          <a:xfrm>
            <a:off x="9354312" y="6117336"/>
            <a:ext cx="388620" cy="365760"/>
          </a:xfrm>
          <a:prstGeom prst="rect">
            <a:avLst/>
          </a:prstGeom>
          <a:noFill/>
          <a:ln/>
        </p:spPr>
        <p:txBody>
          <a:bodyPr wrap="none" rtlCol="0" anchor="t"/>
          <a:lstStyle/>
          <a:p>
            <a:pPr marL="0" indent="0" algn="ctr">
              <a:buNone/>
            </a:pPr>
            <a:r>
              <a:rPr lang="en-US" sz="800" b="1" dirty="0">
                <a:solidFill>
                  <a:srgbClr val="16161E"/>
                </a:solidFill>
                <a:latin typeface="Segoe UI" pitchFamily="34" charset="0"/>
                <a:ea typeface="Segoe UI" pitchFamily="34" charset="-122"/>
                <a:cs typeface="Segoe UI" pitchFamily="34" charset="-120"/>
              </a:rPr>
              <a:t>Prod.</a:t>
            </a:r>
            <a:endParaRPr lang="en-US" sz="800" dirty="0"/>
          </a:p>
        </p:txBody>
      </p:sp>
      <p:sp>
        <p:nvSpPr>
          <p:cNvPr id="49" name="Text 45"/>
          <p:cNvSpPr/>
          <p:nvPr/>
        </p:nvSpPr>
        <p:spPr>
          <a:xfrm>
            <a:off x="9742932" y="4708989"/>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108</a:t>
            </a:r>
            <a:endParaRPr lang="en-US" sz="800" dirty="0"/>
          </a:p>
        </p:txBody>
      </p:sp>
      <p:sp>
        <p:nvSpPr>
          <p:cNvPr id="50" name="Shape 46"/>
          <p:cNvSpPr/>
          <p:nvPr/>
        </p:nvSpPr>
        <p:spPr>
          <a:xfrm>
            <a:off x="9770364" y="4928445"/>
            <a:ext cx="333756" cy="1115739"/>
          </a:xfrm>
          <a:prstGeom prst="rect">
            <a:avLst/>
          </a:prstGeom>
          <a:solidFill>
            <a:srgbClr val="5A5A66"/>
          </a:solidFill>
          <a:ln w="12700">
            <a:solidFill>
              <a:srgbClr val="5A5A66"/>
            </a:solidFill>
            <a:prstDash val="solid"/>
          </a:ln>
        </p:spPr>
        <p:txBody>
          <a:bodyPr/>
          <a:lstStyle/>
          <a:p>
            <a:endParaRPr lang="fr-FR"/>
          </a:p>
        </p:txBody>
      </p:sp>
      <p:sp>
        <p:nvSpPr>
          <p:cNvPr id="51" name="Text 47"/>
          <p:cNvSpPr/>
          <p:nvPr/>
        </p:nvSpPr>
        <p:spPr>
          <a:xfrm>
            <a:off x="9742932" y="6117336"/>
            <a:ext cx="388620" cy="365760"/>
          </a:xfrm>
          <a:prstGeom prst="rect">
            <a:avLst/>
          </a:prstGeom>
          <a:noFill/>
          <a:ln/>
        </p:spPr>
        <p:txBody>
          <a:bodyPr wrap="none" rtlCol="0" anchor="t"/>
          <a:lstStyle/>
          <a:p>
            <a:pPr marL="0" indent="0" algn="ctr">
              <a:buNone/>
            </a:pPr>
            <a:r>
              <a:rPr lang="en-US" sz="800" b="1" dirty="0">
                <a:solidFill>
                  <a:srgbClr val="16161E"/>
                </a:solidFill>
                <a:latin typeface="Segoe UI" pitchFamily="34" charset="0"/>
                <a:ea typeface="Segoe UI" pitchFamily="34" charset="-122"/>
                <a:cs typeface="Segoe UI" pitchFamily="34" charset="-120"/>
              </a:rPr>
              <a:t>QA</a:t>
            </a:r>
            <a:endParaRPr lang="en-US" sz="800" dirty="0"/>
          </a:p>
        </p:txBody>
      </p:sp>
      <p:sp>
        <p:nvSpPr>
          <p:cNvPr id="52" name="Text 48"/>
          <p:cNvSpPr/>
          <p:nvPr/>
        </p:nvSpPr>
        <p:spPr>
          <a:xfrm>
            <a:off x="10131552" y="5779008"/>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0</a:t>
            </a:r>
            <a:endParaRPr lang="en-US" sz="800" dirty="0"/>
          </a:p>
        </p:txBody>
      </p:sp>
      <p:sp>
        <p:nvSpPr>
          <p:cNvPr id="53" name="Shape 49"/>
          <p:cNvSpPr/>
          <p:nvPr/>
        </p:nvSpPr>
        <p:spPr>
          <a:xfrm>
            <a:off x="10158984" y="5998464"/>
            <a:ext cx="333756" cy="45720"/>
          </a:xfrm>
          <a:prstGeom prst="rect">
            <a:avLst/>
          </a:prstGeom>
          <a:solidFill>
            <a:srgbClr val="5A5A66"/>
          </a:solidFill>
          <a:ln w="12700">
            <a:solidFill>
              <a:srgbClr val="5A5A66"/>
            </a:solidFill>
            <a:prstDash val="solid"/>
          </a:ln>
        </p:spPr>
        <p:txBody>
          <a:bodyPr/>
          <a:lstStyle/>
          <a:p>
            <a:endParaRPr lang="fr-FR"/>
          </a:p>
        </p:txBody>
      </p:sp>
      <p:sp>
        <p:nvSpPr>
          <p:cNvPr id="54" name="Text 50"/>
          <p:cNvSpPr/>
          <p:nvPr/>
        </p:nvSpPr>
        <p:spPr>
          <a:xfrm>
            <a:off x="10131552" y="6117336"/>
            <a:ext cx="388620" cy="365760"/>
          </a:xfrm>
          <a:prstGeom prst="rect">
            <a:avLst/>
          </a:prstGeom>
          <a:noFill/>
          <a:ln/>
        </p:spPr>
        <p:txBody>
          <a:bodyPr wrap="none" rtlCol="0" anchor="t"/>
          <a:lstStyle/>
          <a:p>
            <a:pPr marL="0" indent="0" algn="ctr">
              <a:buNone/>
            </a:pPr>
            <a:r>
              <a:rPr lang="en-US" sz="800" dirty="0">
                <a:solidFill>
                  <a:srgbClr val="16161E"/>
                </a:solidFill>
                <a:latin typeface="Segoe UI" pitchFamily="34" charset="0"/>
                <a:ea typeface="Segoe UI" pitchFamily="34" charset="-122"/>
                <a:cs typeface="Segoe UI" pitchFamily="34" charset="-120"/>
              </a:rPr>
              <a:t>Sales …</a:t>
            </a:r>
            <a:endParaRPr lang="en-US" sz="800" dirty="0"/>
          </a:p>
        </p:txBody>
      </p:sp>
      <p:sp>
        <p:nvSpPr>
          <p:cNvPr id="55" name="Text 51"/>
          <p:cNvSpPr/>
          <p:nvPr/>
        </p:nvSpPr>
        <p:spPr>
          <a:xfrm>
            <a:off x="10520172" y="5779008"/>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0</a:t>
            </a:r>
            <a:endParaRPr lang="en-US" sz="800" dirty="0"/>
          </a:p>
        </p:txBody>
      </p:sp>
      <p:sp>
        <p:nvSpPr>
          <p:cNvPr id="56" name="Shape 52"/>
          <p:cNvSpPr/>
          <p:nvPr/>
        </p:nvSpPr>
        <p:spPr>
          <a:xfrm>
            <a:off x="10547604" y="5998464"/>
            <a:ext cx="333756" cy="45720"/>
          </a:xfrm>
          <a:prstGeom prst="rect">
            <a:avLst/>
          </a:prstGeom>
          <a:solidFill>
            <a:srgbClr val="5A5A66"/>
          </a:solidFill>
          <a:ln w="12700">
            <a:solidFill>
              <a:srgbClr val="5A5A66"/>
            </a:solidFill>
            <a:prstDash val="solid"/>
          </a:ln>
        </p:spPr>
        <p:txBody>
          <a:bodyPr/>
          <a:lstStyle/>
          <a:p>
            <a:endParaRPr lang="fr-FR"/>
          </a:p>
        </p:txBody>
      </p:sp>
      <p:sp>
        <p:nvSpPr>
          <p:cNvPr id="57" name="Text 53"/>
          <p:cNvSpPr/>
          <p:nvPr/>
        </p:nvSpPr>
        <p:spPr>
          <a:xfrm>
            <a:off x="10520172" y="6117336"/>
            <a:ext cx="388620" cy="365760"/>
          </a:xfrm>
          <a:prstGeom prst="rect">
            <a:avLst/>
          </a:prstGeom>
          <a:noFill/>
          <a:ln/>
        </p:spPr>
        <p:txBody>
          <a:bodyPr wrap="none" rtlCol="0" anchor="t"/>
          <a:lstStyle/>
          <a:p>
            <a:pPr marL="0" indent="0" algn="ctr">
              <a:buNone/>
            </a:pPr>
            <a:r>
              <a:rPr lang="en-US" sz="800" dirty="0">
                <a:solidFill>
                  <a:srgbClr val="16161E"/>
                </a:solidFill>
                <a:latin typeface="Segoe UI" pitchFamily="34" charset="0"/>
                <a:ea typeface="Segoe UI" pitchFamily="34" charset="-122"/>
                <a:cs typeface="Segoe UI" pitchFamily="34" charset="-120"/>
              </a:rPr>
              <a:t>SHE</a:t>
            </a:r>
            <a:endParaRPr lang="en-US" sz="800" dirty="0"/>
          </a:p>
        </p:txBody>
      </p:sp>
      <p:sp>
        <p:nvSpPr>
          <p:cNvPr id="58" name="Text 54"/>
          <p:cNvSpPr/>
          <p:nvPr/>
        </p:nvSpPr>
        <p:spPr>
          <a:xfrm>
            <a:off x="10908792" y="5779008"/>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0</a:t>
            </a:r>
            <a:endParaRPr lang="en-US" sz="800" dirty="0"/>
          </a:p>
        </p:txBody>
      </p:sp>
      <p:sp>
        <p:nvSpPr>
          <p:cNvPr id="59" name="Shape 55"/>
          <p:cNvSpPr/>
          <p:nvPr/>
        </p:nvSpPr>
        <p:spPr>
          <a:xfrm>
            <a:off x="10936224" y="5998464"/>
            <a:ext cx="333756" cy="45720"/>
          </a:xfrm>
          <a:prstGeom prst="rect">
            <a:avLst/>
          </a:prstGeom>
          <a:solidFill>
            <a:srgbClr val="5A5A66"/>
          </a:solidFill>
          <a:ln w="12700">
            <a:solidFill>
              <a:srgbClr val="5A5A66"/>
            </a:solidFill>
            <a:prstDash val="solid"/>
          </a:ln>
        </p:spPr>
        <p:txBody>
          <a:bodyPr/>
          <a:lstStyle/>
          <a:p>
            <a:endParaRPr lang="fr-FR"/>
          </a:p>
        </p:txBody>
      </p:sp>
      <p:sp>
        <p:nvSpPr>
          <p:cNvPr id="60" name="Text 56"/>
          <p:cNvSpPr/>
          <p:nvPr/>
        </p:nvSpPr>
        <p:spPr>
          <a:xfrm>
            <a:off x="10908792" y="6117336"/>
            <a:ext cx="388620" cy="365760"/>
          </a:xfrm>
          <a:prstGeom prst="rect">
            <a:avLst/>
          </a:prstGeom>
          <a:noFill/>
          <a:ln/>
        </p:spPr>
        <p:txBody>
          <a:bodyPr wrap="none" rtlCol="0" anchor="t"/>
          <a:lstStyle/>
          <a:p>
            <a:pPr marL="0" indent="0" algn="ctr">
              <a:buNone/>
            </a:pPr>
            <a:r>
              <a:rPr lang="en-US" sz="800" dirty="0">
                <a:solidFill>
                  <a:srgbClr val="16161E"/>
                </a:solidFill>
                <a:latin typeface="Segoe UI" pitchFamily="34" charset="0"/>
                <a:ea typeface="Segoe UI" pitchFamily="34" charset="-122"/>
                <a:cs typeface="Segoe UI" pitchFamily="34" charset="-120"/>
              </a:rPr>
              <a:t>Transp…</a:t>
            </a:r>
            <a:endParaRPr lang="en-US" sz="800" dirty="0"/>
          </a:p>
        </p:txBody>
      </p:sp>
      <p:sp>
        <p:nvSpPr>
          <p:cNvPr id="61" name="Text 57"/>
          <p:cNvSpPr/>
          <p:nvPr/>
        </p:nvSpPr>
        <p:spPr>
          <a:xfrm>
            <a:off x="11297412" y="5779008"/>
            <a:ext cx="388620" cy="201168"/>
          </a:xfrm>
          <a:prstGeom prst="rect">
            <a:avLst/>
          </a:prstGeom>
          <a:noFill/>
          <a:ln/>
        </p:spPr>
        <p:txBody>
          <a:bodyPr wrap="none" rtlCol="0" anchor="ctr"/>
          <a:lstStyle/>
          <a:p>
            <a:pPr marL="0" indent="0" algn="ctr">
              <a:buNone/>
            </a:pPr>
            <a:r>
              <a:rPr lang="en-US" sz="800" b="1" dirty="0">
                <a:solidFill>
                  <a:srgbClr val="16161E"/>
                </a:solidFill>
                <a:latin typeface="Segoe UI" pitchFamily="34" charset="0"/>
                <a:ea typeface="Segoe UI" pitchFamily="34" charset="-122"/>
                <a:cs typeface="Segoe UI" pitchFamily="34" charset="-120"/>
              </a:rPr>
              <a:t>0</a:t>
            </a:r>
            <a:endParaRPr lang="en-US" sz="800" dirty="0"/>
          </a:p>
        </p:txBody>
      </p:sp>
      <p:sp>
        <p:nvSpPr>
          <p:cNvPr id="62" name="Shape 58"/>
          <p:cNvSpPr/>
          <p:nvPr/>
        </p:nvSpPr>
        <p:spPr>
          <a:xfrm>
            <a:off x="11324844" y="5998464"/>
            <a:ext cx="333756" cy="45720"/>
          </a:xfrm>
          <a:prstGeom prst="rect">
            <a:avLst/>
          </a:prstGeom>
          <a:solidFill>
            <a:srgbClr val="5A5A66"/>
          </a:solidFill>
          <a:ln w="12700">
            <a:solidFill>
              <a:srgbClr val="5A5A66"/>
            </a:solidFill>
            <a:prstDash val="solid"/>
          </a:ln>
        </p:spPr>
        <p:txBody>
          <a:bodyPr/>
          <a:lstStyle/>
          <a:p>
            <a:endParaRPr lang="fr-FR"/>
          </a:p>
        </p:txBody>
      </p:sp>
      <p:sp>
        <p:nvSpPr>
          <p:cNvPr id="63" name="Text 59"/>
          <p:cNvSpPr/>
          <p:nvPr/>
        </p:nvSpPr>
        <p:spPr>
          <a:xfrm>
            <a:off x="11297412" y="6117336"/>
            <a:ext cx="388620" cy="365760"/>
          </a:xfrm>
          <a:prstGeom prst="rect">
            <a:avLst/>
          </a:prstGeom>
          <a:noFill/>
          <a:ln/>
        </p:spPr>
        <p:txBody>
          <a:bodyPr wrap="none" rtlCol="0" anchor="t"/>
          <a:lstStyle/>
          <a:p>
            <a:pPr marL="0" indent="0" algn="ctr">
              <a:buNone/>
            </a:pPr>
            <a:r>
              <a:rPr lang="en-US" sz="800" dirty="0">
                <a:solidFill>
                  <a:srgbClr val="16161E"/>
                </a:solidFill>
                <a:latin typeface="Segoe UI" pitchFamily="34" charset="0"/>
                <a:ea typeface="Segoe UI" pitchFamily="34" charset="-122"/>
                <a:cs typeface="Segoe UI" pitchFamily="34" charset="-120"/>
              </a:rPr>
              <a:t>Supply</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E8E8EC"/>
        </a:solidFill>
        <a:effectLst/>
      </p:bgPr>
    </p:bg>
    <p:spTree>
      <p:nvGrpSpPr>
        <p:cNvPr id="1" name=""/>
        <p:cNvGrpSpPr/>
        <p:nvPr/>
      </p:nvGrpSpPr>
      <p:grpSpPr>
        <a:xfrm>
          <a:off x="0" y="0"/>
          <a:ext cx="0" cy="0"/>
          <a:chOff x="0" y="0"/>
          <a:chExt cx="0" cy="0"/>
        </a:xfrm>
      </p:grpSpPr>
      <p:pic>
        <p:nvPicPr>
          <p:cNvPr id="2" name="Image 0" descr="D:\Apps\hr-rh-app\templates\exco\cover-assets\slide-fade.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4" name="Shape 1"/>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Shape 2"/>
          <p:cNvSpPr/>
          <p:nvPr/>
        </p:nvSpPr>
        <p:spPr>
          <a:xfrm>
            <a:off x="292608" y="146304"/>
            <a:ext cx="365760" cy="365760"/>
          </a:xfrm>
          <a:prstGeom prst="roundRect">
            <a:avLst>
              <a:gd name="adj" fmla="val 15000"/>
            </a:avLst>
          </a:prstGeom>
          <a:solidFill>
            <a:srgbClr val="E30613"/>
          </a:solidFill>
          <a:ln w="12700">
            <a:solidFill>
              <a:srgbClr val="E30613"/>
            </a:solidFill>
            <a:prstDash val="solid"/>
          </a:ln>
        </p:spPr>
        <p:txBody>
          <a:bodyPr/>
          <a:lstStyle/>
          <a:p>
            <a:endParaRPr lang="fr-FR"/>
          </a:p>
        </p:txBody>
      </p:sp>
      <p:sp>
        <p:nvSpPr>
          <p:cNvPr id="6" name="Text 3"/>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05</a:t>
            </a:r>
            <a:endParaRPr lang="en-US" sz="1200" dirty="0"/>
          </a:p>
        </p:txBody>
      </p:sp>
      <p:sp>
        <p:nvSpPr>
          <p:cNvPr id="7" name="Text 4"/>
          <p:cNvSpPr/>
          <p:nvPr/>
        </p:nvSpPr>
        <p:spPr>
          <a:xfrm>
            <a:off x="804672" y="128016"/>
            <a:ext cx="4572000" cy="146304"/>
          </a:xfrm>
          <a:prstGeom prst="rect">
            <a:avLst/>
          </a:prstGeom>
          <a:noFill/>
          <a:ln/>
        </p:spPr>
        <p:txBody>
          <a:bodyPr wrap="square" rtlCol="0" anchor="ctr"/>
          <a:lstStyle/>
          <a:p>
            <a:pPr marL="0" indent="0">
              <a:buNone/>
            </a:pPr>
            <a:r>
              <a:rPr lang="en-US" sz="900" b="1" dirty="0">
                <a:solidFill>
                  <a:srgbClr val="E30613"/>
                </a:solidFill>
                <a:latin typeface="Segoe UI" pitchFamily="34" charset="0"/>
                <a:ea typeface="Segoe UI" pitchFamily="34" charset="-122"/>
                <a:cs typeface="Segoe UI" pitchFamily="34" charset="-120"/>
              </a:rPr>
              <a:t>PPC · HR EXCO</a:t>
            </a:r>
            <a:endParaRPr lang="en-US" sz="900" dirty="0"/>
          </a:p>
        </p:txBody>
      </p:sp>
      <p:sp>
        <p:nvSpPr>
          <p:cNvPr id="8" name="Text 5"/>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Overtime vs Leave Balance</a:t>
            </a:r>
            <a:endParaRPr lang="en-US" sz="1800" dirty="0"/>
          </a:p>
        </p:txBody>
      </p:sp>
      <p:sp>
        <p:nvSpPr>
          <p:cNvPr id="9" name="Text 6"/>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10" name="Shape 7"/>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11" name="Shape 8"/>
          <p:cNvSpPr/>
          <p:nvPr/>
        </p:nvSpPr>
        <p:spPr>
          <a:xfrm>
            <a:off x="256032" y="804672"/>
            <a:ext cx="11658600" cy="5806440"/>
          </a:xfrm>
          <a:prstGeom prst="roundRect">
            <a:avLst>
              <a:gd name="adj" fmla="val 1260"/>
            </a:avLst>
          </a:prstGeom>
          <a:solidFill>
            <a:srgbClr val="FFFFFF"/>
          </a:solidFill>
          <a:ln w="12700">
            <a:solidFill>
              <a:srgbClr val="E0E0E6"/>
            </a:solidFill>
            <a:prstDash val="solid"/>
          </a:ln>
        </p:spPr>
        <p:txBody>
          <a:bodyPr/>
          <a:lstStyle/>
          <a:p>
            <a:endParaRPr lang="fr-FR"/>
          </a:p>
        </p:txBody>
      </p:sp>
      <p:sp>
        <p:nvSpPr>
          <p:cNvPr id="12" name="Text 9"/>
          <p:cNvSpPr/>
          <p:nvPr/>
        </p:nvSpPr>
        <p:spPr>
          <a:xfrm>
            <a:off x="6358128" y="1149096"/>
            <a:ext cx="5577840" cy="256032"/>
          </a:xfrm>
          <a:prstGeom prst="rect">
            <a:avLst/>
          </a:prstGeom>
          <a:noFill/>
          <a:ln/>
        </p:spPr>
        <p:txBody>
          <a:bodyPr wrap="square" rtlCol="0" anchor="ctr"/>
          <a:lstStyle/>
          <a:p>
            <a:pPr marL="0" indent="0">
              <a:buNone/>
            </a:pPr>
            <a:r>
              <a:rPr lang="en-US" sz="1300" b="1" dirty="0">
                <a:solidFill>
                  <a:srgbClr val="E30613"/>
                </a:solidFill>
                <a:latin typeface="Segoe UI" pitchFamily="34" charset="0"/>
                <a:ea typeface="Segoe UI" pitchFamily="34" charset="-122"/>
                <a:cs typeface="Segoe UI" pitchFamily="34" charset="-120"/>
              </a:rPr>
              <a:t>General Overview — Aug-26</a:t>
            </a:r>
            <a:endParaRPr lang="en-US" sz="1300" dirty="0"/>
          </a:p>
        </p:txBody>
      </p:sp>
      <p:sp>
        <p:nvSpPr>
          <p:cNvPr id="15" name="Text 11"/>
          <p:cNvSpPr/>
          <p:nvPr/>
        </p:nvSpPr>
        <p:spPr>
          <a:xfrm>
            <a:off x="6336792" y="1514856"/>
            <a:ext cx="5458968" cy="2468880"/>
          </a:xfrm>
          <a:prstGeom prst="rect">
            <a:avLst/>
          </a:prstGeom>
          <a:noFill/>
          <a:ln/>
        </p:spPr>
        <p:txBody>
          <a:bodyPr wrap="square" rtlCol="0" anchor="t"/>
          <a:lstStyle/>
          <a:p>
            <a:pPr marL="0" indent="0">
              <a:buNone/>
            </a:pPr>
            <a:r>
              <a:rPr lang="en-US" sz="1600" b="1" dirty="0">
                <a:solidFill>
                  <a:srgbClr val="16161E"/>
                </a:solidFill>
                <a:latin typeface="Segoe UI" pitchFamily="34" charset="0"/>
                <a:ea typeface="Segoe UI" pitchFamily="34" charset="-122"/>
                <a:cs typeface="Segoe UI" pitchFamily="34" charset="-120"/>
              </a:rPr>
              <a:t>47 </a:t>
            </a:r>
            <a:r>
              <a:rPr lang="en-US" sz="1600" dirty="0">
                <a:solidFill>
                  <a:srgbClr val="16161E"/>
                </a:solidFill>
                <a:latin typeface="Segoe UI" pitchFamily="34" charset="0"/>
                <a:ea typeface="Segoe UI" pitchFamily="34" charset="-122"/>
                <a:cs typeface="Segoe UI" pitchFamily="34" charset="-120"/>
              </a:rPr>
              <a:t>of </a:t>
            </a:r>
            <a:r>
              <a:rPr lang="en-US" sz="1600" b="1" dirty="0">
                <a:solidFill>
                  <a:srgbClr val="16161E"/>
                </a:solidFill>
                <a:latin typeface="Segoe UI" pitchFamily="34" charset="0"/>
                <a:ea typeface="Segoe UI" pitchFamily="34" charset="-122"/>
                <a:cs typeface="Segoe UI" pitchFamily="34" charset="-120"/>
              </a:rPr>
              <a:t>175</a:t>
            </a:r>
            <a:r>
              <a:rPr lang="en-US" sz="1600" dirty="0">
                <a:solidFill>
                  <a:srgbClr val="16161E"/>
                </a:solidFill>
                <a:latin typeface="Segoe UI" pitchFamily="34" charset="0"/>
                <a:ea typeface="Segoe UI" pitchFamily="34" charset="-122"/>
                <a:cs typeface="Segoe UI" pitchFamily="34" charset="-120"/>
              </a:rPr>
              <a:t> employees (</a:t>
            </a:r>
            <a:r>
              <a:rPr lang="en-US" sz="1600" b="1" dirty="0">
                <a:solidFill>
                  <a:srgbClr val="FF0000"/>
                </a:solidFill>
                <a:latin typeface="Segoe UI" pitchFamily="34" charset="0"/>
                <a:ea typeface="Segoe UI" pitchFamily="34" charset="-122"/>
                <a:cs typeface="Segoe UI" pitchFamily="34" charset="-120"/>
              </a:rPr>
              <a:t>27%</a:t>
            </a:r>
            <a:r>
              <a:rPr lang="en-US" sz="1600" dirty="0">
                <a:solidFill>
                  <a:srgbClr val="16161E"/>
                </a:solidFill>
                <a:latin typeface="Segoe UI" pitchFamily="34" charset="0"/>
                <a:ea typeface="Segoe UI" pitchFamily="34" charset="-122"/>
                <a:cs typeface="Segoe UI" pitchFamily="34" charset="-120"/>
              </a:rPr>
              <a:t>) recorded overtime. </a:t>
            </a:r>
          </a:p>
          <a:p>
            <a:pPr marL="0" indent="0">
              <a:buNone/>
            </a:pPr>
            <a:endParaRPr lang="en-US" sz="1600" dirty="0">
              <a:solidFill>
                <a:srgbClr val="16161E"/>
              </a:solidFill>
              <a:latin typeface="Segoe UI" pitchFamily="34" charset="0"/>
              <a:ea typeface="Segoe UI" pitchFamily="34" charset="-122"/>
              <a:cs typeface="Segoe UI" pitchFamily="34" charset="-120"/>
            </a:endParaRPr>
          </a:p>
          <a:p>
            <a:pPr marL="0" indent="0">
              <a:buNone/>
            </a:pPr>
            <a:r>
              <a:rPr lang="en-US" sz="1600" dirty="0">
                <a:solidFill>
                  <a:srgbClr val="16161E"/>
                </a:solidFill>
                <a:latin typeface="Segoe UI" pitchFamily="34" charset="0"/>
                <a:ea typeface="Segoe UI" pitchFamily="34" charset="-122"/>
                <a:cs typeface="Segoe UI" pitchFamily="34" charset="-120"/>
              </a:rPr>
              <a:t>Total overtime: </a:t>
            </a:r>
            <a:r>
              <a:rPr lang="en-US" sz="1600" b="1" dirty="0">
                <a:solidFill>
                  <a:srgbClr val="16161E"/>
                </a:solidFill>
                <a:latin typeface="Segoe UI" pitchFamily="34" charset="0"/>
                <a:ea typeface="Segoe UI" pitchFamily="34" charset="-122"/>
                <a:cs typeface="Segoe UI" pitchFamily="34" charset="-120"/>
              </a:rPr>
              <a:t>1,034.02 hours</a:t>
            </a:r>
            <a:r>
              <a:rPr lang="en-US" sz="1600" dirty="0">
                <a:solidFill>
                  <a:srgbClr val="16161E"/>
                </a:solidFill>
                <a:latin typeface="Segoe UI" pitchFamily="34" charset="0"/>
                <a:ea typeface="Segoe UI" pitchFamily="34" charset="-122"/>
                <a:cs typeface="Segoe UI" pitchFamily="34" charset="-120"/>
              </a:rPr>
              <a:t> (average 22.00 h). </a:t>
            </a:r>
          </a:p>
          <a:p>
            <a:pPr marL="0" indent="0">
              <a:buNone/>
            </a:pPr>
            <a:endParaRPr lang="en-US" sz="1600" dirty="0">
              <a:solidFill>
                <a:srgbClr val="16161E"/>
              </a:solidFill>
              <a:latin typeface="Segoe UI" pitchFamily="34" charset="0"/>
              <a:ea typeface="Segoe UI" pitchFamily="34" charset="-122"/>
              <a:cs typeface="Segoe UI" pitchFamily="34" charset="-120"/>
            </a:endParaRPr>
          </a:p>
          <a:p>
            <a:pPr marL="0" indent="0">
              <a:buNone/>
            </a:pPr>
            <a:r>
              <a:rPr lang="en-US" sz="1600" dirty="0">
                <a:solidFill>
                  <a:srgbClr val="16161E"/>
                </a:solidFill>
                <a:latin typeface="Segoe UI" pitchFamily="34" charset="0"/>
                <a:ea typeface="Segoe UI" pitchFamily="34" charset="-122"/>
                <a:cs typeface="Segoe UI" pitchFamily="34" charset="-120"/>
              </a:rPr>
              <a:t>Total cost: </a:t>
            </a:r>
            <a:r>
              <a:rPr lang="en-US" sz="1600" b="1" dirty="0">
                <a:solidFill>
                  <a:srgbClr val="16161E"/>
                </a:solidFill>
                <a:latin typeface="Segoe UI" pitchFamily="34" charset="0"/>
                <a:ea typeface="Segoe UI" pitchFamily="34" charset="-122"/>
                <a:cs typeface="Segoe UI" pitchFamily="34" charset="-120"/>
              </a:rPr>
              <a:t>$9,335 </a:t>
            </a:r>
            <a:r>
              <a:rPr lang="en-US" sz="1600" dirty="0">
                <a:solidFill>
                  <a:srgbClr val="16161E"/>
                </a:solidFill>
                <a:latin typeface="Segoe UI" pitchFamily="34" charset="0"/>
                <a:ea typeface="Segoe UI" pitchFamily="34" charset="-122"/>
                <a:cs typeface="Segoe UI" pitchFamily="34" charset="-120"/>
              </a:rPr>
              <a:t>(</a:t>
            </a:r>
            <a:r>
              <a:rPr lang="en-US" sz="1600" b="1" dirty="0">
                <a:solidFill>
                  <a:srgbClr val="16161E"/>
                </a:solidFill>
                <a:latin typeface="Segoe UI" pitchFamily="34" charset="0"/>
                <a:ea typeface="Segoe UI" pitchFamily="34" charset="-122"/>
                <a:cs typeface="Segoe UI" pitchFamily="34" charset="-120"/>
              </a:rPr>
              <a:t>$199 average per employee with OT</a:t>
            </a:r>
            <a:r>
              <a:rPr lang="en-US" sz="1600" dirty="0">
                <a:solidFill>
                  <a:srgbClr val="16161E"/>
                </a:solidFill>
                <a:latin typeface="Segoe UI" pitchFamily="34" charset="0"/>
                <a:ea typeface="Segoe UI" pitchFamily="34" charset="-122"/>
                <a:cs typeface="Segoe UI" pitchFamily="34" charset="-120"/>
              </a:rPr>
              <a:t>). </a:t>
            </a:r>
          </a:p>
          <a:p>
            <a:pPr marL="0" indent="0">
              <a:buNone/>
            </a:pPr>
            <a:endParaRPr lang="en-US" sz="1600" dirty="0">
              <a:solidFill>
                <a:srgbClr val="16161E"/>
              </a:solidFill>
              <a:latin typeface="Segoe UI" pitchFamily="34" charset="0"/>
              <a:ea typeface="Segoe UI" pitchFamily="34" charset="-122"/>
              <a:cs typeface="Segoe UI" pitchFamily="34" charset="-120"/>
            </a:endParaRPr>
          </a:p>
          <a:p>
            <a:pPr marL="0" indent="0">
              <a:buNone/>
            </a:pPr>
            <a:r>
              <a:rPr lang="en-US" sz="1600" dirty="0">
                <a:solidFill>
                  <a:srgbClr val="16161E"/>
                </a:solidFill>
                <a:latin typeface="Segoe UI" pitchFamily="34" charset="0"/>
                <a:ea typeface="Segoe UI" pitchFamily="34" charset="-122"/>
                <a:cs typeface="Segoe UI" pitchFamily="34" charset="-120"/>
              </a:rPr>
              <a:t>Overtime represents 1.08% of staff cost. </a:t>
            </a:r>
          </a:p>
          <a:p>
            <a:pPr marL="0" indent="0">
              <a:buNone/>
            </a:pPr>
            <a:endParaRPr lang="en-US" sz="1600" dirty="0">
              <a:solidFill>
                <a:srgbClr val="16161E"/>
              </a:solidFill>
              <a:latin typeface="Segoe UI" pitchFamily="34" charset="0"/>
              <a:ea typeface="Segoe UI" pitchFamily="34" charset="-122"/>
              <a:cs typeface="Segoe UI" pitchFamily="34" charset="-120"/>
            </a:endParaRPr>
          </a:p>
          <a:p>
            <a:pPr marL="0" indent="0">
              <a:buNone/>
            </a:pPr>
            <a:r>
              <a:rPr lang="en-US" sz="1600" dirty="0">
                <a:solidFill>
                  <a:srgbClr val="16161E"/>
                </a:solidFill>
                <a:latin typeface="Segoe UI" pitchFamily="34" charset="0"/>
                <a:ea typeface="Segoe UI" pitchFamily="34" charset="-122"/>
                <a:cs typeface="Segoe UI" pitchFamily="34" charset="-120"/>
              </a:rPr>
              <a:t>Average remaining leave among employees with OT: </a:t>
            </a:r>
            <a:r>
              <a:rPr lang="en-US" sz="1600" b="1" dirty="0">
                <a:solidFill>
                  <a:srgbClr val="16161E"/>
                </a:solidFill>
                <a:latin typeface="Segoe UI" pitchFamily="34" charset="0"/>
                <a:ea typeface="Segoe UI" pitchFamily="34" charset="-122"/>
                <a:cs typeface="Segoe UI" pitchFamily="34" charset="-120"/>
              </a:rPr>
              <a:t>15.69 days.</a:t>
            </a:r>
            <a:r>
              <a:rPr lang="en-US" sz="1600" dirty="0">
                <a:solidFill>
                  <a:srgbClr val="16161E"/>
                </a:solidFill>
                <a:latin typeface="Segoe UI" pitchFamily="34" charset="0"/>
                <a:ea typeface="Segoe UI" pitchFamily="34" charset="-122"/>
                <a:cs typeface="Segoe UI" pitchFamily="34" charset="-120"/>
              </a:rPr>
              <a:t> </a:t>
            </a:r>
          </a:p>
        </p:txBody>
      </p:sp>
      <p:sp>
        <p:nvSpPr>
          <p:cNvPr id="16" name="Text 12"/>
          <p:cNvSpPr/>
          <p:nvPr/>
        </p:nvSpPr>
        <p:spPr>
          <a:xfrm>
            <a:off x="411480" y="1149096"/>
            <a:ext cx="5577840" cy="256032"/>
          </a:xfrm>
          <a:prstGeom prst="rect">
            <a:avLst/>
          </a:prstGeom>
          <a:noFill/>
          <a:ln/>
        </p:spPr>
        <p:txBody>
          <a:bodyPr wrap="square" rtlCol="0" anchor="ctr"/>
          <a:lstStyle/>
          <a:p>
            <a:pPr marL="0" indent="0">
              <a:buNone/>
            </a:pPr>
            <a:r>
              <a:rPr lang="en-US" sz="1300" b="1" dirty="0">
                <a:solidFill>
                  <a:srgbClr val="E30613"/>
                </a:solidFill>
                <a:latin typeface="Segoe UI" pitchFamily="34" charset="0"/>
                <a:ea typeface="Segoe UI" pitchFamily="34" charset="-122"/>
                <a:cs typeface="Segoe UI" pitchFamily="34" charset="-120"/>
              </a:rPr>
              <a:t>Overtime vs Leave Balance per DEPT</a:t>
            </a:r>
            <a:endParaRPr lang="en-US" sz="1300" dirty="0"/>
          </a:p>
        </p:txBody>
      </p:sp>
      <p:graphicFrame>
        <p:nvGraphicFramePr>
          <p:cNvPr id="19" name="Table 1"/>
          <p:cNvGraphicFramePr>
            <a:graphicFrameLocks noGrp="1"/>
          </p:cNvGraphicFramePr>
          <p:nvPr>
            <p:extLst>
              <p:ext uri="{D42A27DB-BD31-4B8C-83A1-F6EECF244321}">
                <p14:modId xmlns:p14="http://schemas.microsoft.com/office/powerpoint/2010/main" val="2139382744"/>
              </p:ext>
            </p:extLst>
          </p:nvPr>
        </p:nvGraphicFramePr>
        <p:xfrm>
          <a:off x="475488" y="1557528"/>
          <a:ext cx="5577840" cy="4373880"/>
        </p:xfrm>
        <a:graphic>
          <a:graphicData uri="http://schemas.openxmlformats.org/drawingml/2006/table">
            <a:tbl>
              <a:tblPr/>
              <a:tblGrid>
                <a:gridCol w="23774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0">
                <a:tc>
                  <a:txBody>
                    <a:bodyPr/>
                    <a:lstStyle/>
                    <a:p>
                      <a:pPr marL="0" indent="0" algn="l">
                        <a:buNone/>
                      </a:pPr>
                      <a:r>
                        <a:rPr lang="en-US" sz="900" b="1" dirty="0">
                          <a:solidFill>
                            <a:srgbClr val="FFFFFF"/>
                          </a:solidFill>
                          <a:latin typeface="Segoe UI" pitchFamily="34" charset="0"/>
                          <a:ea typeface="Segoe UI" pitchFamily="34" charset="-122"/>
                          <a:cs typeface="Segoe UI" pitchFamily="34" charset="-120"/>
                        </a:rPr>
                        <a:t>DPT</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r">
                        <a:buNone/>
                      </a:pPr>
                      <a:r>
                        <a:rPr lang="en-US" sz="900" b="1" dirty="0">
                          <a:solidFill>
                            <a:srgbClr val="FFFFFF"/>
                          </a:solidFill>
                          <a:latin typeface="Segoe UI" pitchFamily="34" charset="0"/>
                          <a:ea typeface="Segoe UI" pitchFamily="34" charset="-122"/>
                          <a:cs typeface="Segoe UI" pitchFamily="34" charset="-120"/>
                        </a:rPr>
                        <a:t>Hours</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r">
                        <a:buNone/>
                      </a:pPr>
                      <a:r>
                        <a:rPr lang="en-US" sz="900" b="1" dirty="0">
                          <a:solidFill>
                            <a:srgbClr val="FFFFFF"/>
                          </a:solidFill>
                          <a:latin typeface="Segoe UI" pitchFamily="34" charset="0"/>
                          <a:ea typeface="Segoe UI" pitchFamily="34" charset="-122"/>
                          <a:cs typeface="Segoe UI" pitchFamily="34" charset="-120"/>
                        </a:rPr>
                        <a:t>Cost</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r">
                        <a:buNone/>
                      </a:pPr>
                      <a:r>
                        <a:rPr lang="en-US" sz="900" b="1" dirty="0">
                          <a:solidFill>
                            <a:srgbClr val="FFFFFF"/>
                          </a:solidFill>
                          <a:latin typeface="Segoe UI" pitchFamily="34" charset="0"/>
                          <a:ea typeface="Segoe UI" pitchFamily="34" charset="-122"/>
                          <a:cs typeface="Segoe UI" pitchFamily="34" charset="-120"/>
                        </a:rPr>
                        <a:t>Leave</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Audit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Engineering</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441.67</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$4,151</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15.51</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Finance</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Human Resources</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Legal</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Logistic</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6"/>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MD Office</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Mining</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08"/>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Optimization</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Procurement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10"/>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Production</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439.72</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$3,872</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17.06</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Quality Assurance</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108.00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$859</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11.19</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12"/>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Sales and Marketing</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SHE</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14"/>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Transport and Transit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0.00</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0">
                <a:tc>
                  <a:txBody>
                    <a:bodyPr/>
                    <a:lstStyle/>
                    <a:p>
                      <a:pPr marL="0" indent="0">
                        <a:buNone/>
                      </a:pPr>
                      <a:r>
                        <a:rPr lang="en-US" sz="1100" dirty="0">
                          <a:solidFill>
                            <a:srgbClr val="000000"/>
                          </a:solidFill>
                          <a:latin typeface="Segoe UI" pitchFamily="34" charset="0"/>
                          <a:ea typeface="Segoe UI" pitchFamily="34" charset="-122"/>
                          <a:cs typeface="Segoe UI" pitchFamily="34" charset="-120"/>
                        </a:rPr>
                        <a:t>Supply Chain</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44.63</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$453</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1100" dirty="0">
                          <a:solidFill>
                            <a:srgbClr val="000000"/>
                          </a:solidFill>
                          <a:latin typeface="Segoe UI" pitchFamily="34" charset="0"/>
                          <a:ea typeface="Segoe UI" pitchFamily="34" charset="-122"/>
                          <a:cs typeface="Segoe UI" pitchFamily="34" charset="-120"/>
                        </a:rPr>
                        <a:t>21.59</a:t>
                      </a:r>
                      <a:endParaRPr lang="en-US" sz="11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E8E8EC"/>
        </a:solidFill>
        <a:effectLst/>
      </p:bgPr>
    </p:bg>
    <p:spTree>
      <p:nvGrpSpPr>
        <p:cNvPr id="1" name=""/>
        <p:cNvGrpSpPr/>
        <p:nvPr/>
      </p:nvGrpSpPr>
      <p:grpSpPr>
        <a:xfrm>
          <a:off x="0" y="0"/>
          <a:ext cx="0" cy="0"/>
          <a:chOff x="0" y="0"/>
          <a:chExt cx="0" cy="0"/>
        </a:xfrm>
      </p:grpSpPr>
      <p:pic>
        <p:nvPicPr>
          <p:cNvPr id="2" name="Image 0" descr="D:\Apps\hr-rh-app\templates\exco\cover-assets\slide-fade.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4" name="Shape 1"/>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Shape 2"/>
          <p:cNvSpPr/>
          <p:nvPr/>
        </p:nvSpPr>
        <p:spPr>
          <a:xfrm>
            <a:off x="292608" y="146304"/>
            <a:ext cx="365760" cy="365760"/>
          </a:xfrm>
          <a:prstGeom prst="roundRect">
            <a:avLst>
              <a:gd name="adj" fmla="val 15000"/>
            </a:avLst>
          </a:prstGeom>
          <a:solidFill>
            <a:srgbClr val="E30613"/>
          </a:solidFill>
          <a:ln w="12700">
            <a:solidFill>
              <a:srgbClr val="E30613"/>
            </a:solidFill>
            <a:prstDash val="solid"/>
          </a:ln>
        </p:spPr>
        <p:txBody>
          <a:bodyPr/>
          <a:lstStyle/>
          <a:p>
            <a:endParaRPr lang="fr-FR"/>
          </a:p>
        </p:txBody>
      </p:sp>
      <p:sp>
        <p:nvSpPr>
          <p:cNvPr id="6" name="Text 3"/>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05</a:t>
            </a:r>
            <a:endParaRPr lang="en-US" sz="1200" dirty="0"/>
          </a:p>
        </p:txBody>
      </p:sp>
      <p:sp>
        <p:nvSpPr>
          <p:cNvPr id="7" name="Text 4"/>
          <p:cNvSpPr/>
          <p:nvPr/>
        </p:nvSpPr>
        <p:spPr>
          <a:xfrm>
            <a:off x="804672" y="128016"/>
            <a:ext cx="4572000" cy="146304"/>
          </a:xfrm>
          <a:prstGeom prst="rect">
            <a:avLst/>
          </a:prstGeom>
          <a:noFill/>
          <a:ln/>
        </p:spPr>
        <p:txBody>
          <a:bodyPr wrap="square" rtlCol="0" anchor="ctr"/>
          <a:lstStyle/>
          <a:p>
            <a:pPr marL="0" indent="0">
              <a:buNone/>
            </a:pPr>
            <a:r>
              <a:rPr lang="en-US" sz="900" b="1" dirty="0">
                <a:solidFill>
                  <a:srgbClr val="E30613"/>
                </a:solidFill>
                <a:latin typeface="Segoe UI" pitchFamily="34" charset="0"/>
                <a:ea typeface="Segoe UI" pitchFamily="34" charset="-122"/>
                <a:cs typeface="Segoe UI" pitchFamily="34" charset="-120"/>
              </a:rPr>
              <a:t>PPC · HR EXCO</a:t>
            </a:r>
            <a:endParaRPr lang="en-US" sz="900" dirty="0"/>
          </a:p>
        </p:txBody>
      </p:sp>
      <p:sp>
        <p:nvSpPr>
          <p:cNvPr id="8" name="Text 5"/>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Top 15 — OT &amp; Leave</a:t>
            </a:r>
            <a:endParaRPr lang="en-US" sz="1800" dirty="0"/>
          </a:p>
        </p:txBody>
      </p:sp>
      <p:sp>
        <p:nvSpPr>
          <p:cNvPr id="9" name="Text 6"/>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10" name="Shape 7"/>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11" name="Shape 8"/>
          <p:cNvSpPr/>
          <p:nvPr/>
        </p:nvSpPr>
        <p:spPr>
          <a:xfrm>
            <a:off x="256032" y="804672"/>
            <a:ext cx="11658600" cy="5806440"/>
          </a:xfrm>
          <a:prstGeom prst="roundRect">
            <a:avLst>
              <a:gd name="adj" fmla="val 1260"/>
            </a:avLst>
          </a:prstGeom>
          <a:solidFill>
            <a:srgbClr val="FFFFFF"/>
          </a:solidFill>
          <a:ln w="12700">
            <a:solidFill>
              <a:srgbClr val="E0E0E6"/>
            </a:solidFill>
            <a:prstDash val="solid"/>
          </a:ln>
        </p:spPr>
        <p:txBody>
          <a:bodyPr/>
          <a:lstStyle/>
          <a:p>
            <a:endParaRPr lang="fr-FR"/>
          </a:p>
        </p:txBody>
      </p:sp>
      <p:sp>
        <p:nvSpPr>
          <p:cNvPr id="13" name="Text 10"/>
          <p:cNvSpPr/>
          <p:nvPr/>
        </p:nvSpPr>
        <p:spPr>
          <a:xfrm>
            <a:off x="411480" y="1170432"/>
            <a:ext cx="5669280" cy="219456"/>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Overtime – Top 15 (Top 10 in red)</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075851502"/>
              </p:ext>
            </p:extLst>
          </p:nvPr>
        </p:nvGraphicFramePr>
        <p:xfrm>
          <a:off x="411480" y="1417320"/>
          <a:ext cx="5623560" cy="5050155"/>
        </p:xfrm>
        <a:graphic>
          <a:graphicData uri="http://schemas.openxmlformats.org/drawingml/2006/table">
            <a:tbl>
              <a:tblPr/>
              <a:tblGrid>
                <a:gridCol w="749808">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566928">
                  <a:extLst>
                    <a:ext uri="{9D8B030D-6E8A-4147-A177-3AD203B41FA5}">
                      <a16:colId xmlns:a16="http://schemas.microsoft.com/office/drawing/2014/main" val="20002"/>
                    </a:ext>
                  </a:extLst>
                </a:gridCol>
                <a:gridCol w="713232">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850392">
                  <a:extLst>
                    <a:ext uri="{9D8B030D-6E8A-4147-A177-3AD203B41FA5}">
                      <a16:colId xmlns:a16="http://schemas.microsoft.com/office/drawing/2014/main" val="20005"/>
                    </a:ext>
                  </a:extLst>
                </a:gridCol>
              </a:tblGrid>
              <a:tr h="314325">
                <a:tc>
                  <a:txBody>
                    <a:bodyPr/>
                    <a:lstStyle/>
                    <a:p>
                      <a:pPr marL="0" indent="0" algn="l">
                        <a:buNone/>
                      </a:pPr>
                      <a:r>
                        <a:rPr lang="en-US" sz="900" b="1" dirty="0">
                          <a:solidFill>
                            <a:srgbClr val="FFFFFF"/>
                          </a:solidFill>
                          <a:latin typeface="Segoe UI" pitchFamily="34" charset="0"/>
                          <a:ea typeface="Segoe UI" pitchFamily="34" charset="-122"/>
                          <a:cs typeface="Segoe UI" pitchFamily="34" charset="-120"/>
                        </a:rPr>
                        <a:t>ID</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l">
                        <a:buNone/>
                      </a:pPr>
                      <a:r>
                        <a:rPr lang="en-US" sz="900" b="1" dirty="0">
                          <a:solidFill>
                            <a:srgbClr val="FFFFFF"/>
                          </a:solidFill>
                          <a:latin typeface="Segoe UI" pitchFamily="34" charset="0"/>
                          <a:ea typeface="Segoe UI" pitchFamily="34" charset="-122"/>
                          <a:cs typeface="Segoe UI" pitchFamily="34" charset="-120"/>
                        </a:rPr>
                        <a:t>Names</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r">
                        <a:buNone/>
                      </a:pPr>
                      <a:r>
                        <a:rPr lang="en-US" sz="900" b="1" dirty="0">
                          <a:solidFill>
                            <a:srgbClr val="FFFFFF"/>
                          </a:solidFill>
                          <a:latin typeface="Segoe UI" pitchFamily="34" charset="0"/>
                          <a:ea typeface="Segoe UI" pitchFamily="34" charset="-122"/>
                          <a:cs typeface="Segoe UI" pitchFamily="34" charset="-120"/>
                        </a:rPr>
                        <a:t>Hrs</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r">
                        <a:buNone/>
                      </a:pPr>
                      <a:r>
                        <a:rPr lang="en-US" sz="900" b="1" dirty="0">
                          <a:solidFill>
                            <a:srgbClr val="FFFFFF"/>
                          </a:solidFill>
                          <a:latin typeface="Segoe UI" pitchFamily="34" charset="0"/>
                          <a:ea typeface="Segoe UI" pitchFamily="34" charset="-122"/>
                          <a:cs typeface="Segoe UI" pitchFamily="34" charset="-120"/>
                        </a:rPr>
                        <a:t>Cost</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r">
                        <a:buNone/>
                      </a:pPr>
                      <a:r>
                        <a:rPr lang="en-US" sz="900" b="1" dirty="0">
                          <a:solidFill>
                            <a:srgbClr val="FFFFFF"/>
                          </a:solidFill>
                          <a:latin typeface="Segoe UI" pitchFamily="34" charset="0"/>
                          <a:ea typeface="Segoe UI" pitchFamily="34" charset="-122"/>
                          <a:cs typeface="Segoe UI" pitchFamily="34" charset="-120"/>
                        </a:rPr>
                        <a:t>Leave</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l">
                        <a:buNone/>
                      </a:pPr>
                      <a:r>
                        <a:rPr lang="en-US" sz="900" b="1" dirty="0">
                          <a:solidFill>
                            <a:srgbClr val="FFFFFF"/>
                          </a:solidFill>
                          <a:latin typeface="Segoe UI" pitchFamily="34" charset="0"/>
                          <a:ea typeface="Segoe UI" pitchFamily="34" charset="-122"/>
                          <a:cs typeface="Segoe UI" pitchFamily="34" charset="-120"/>
                        </a:rPr>
                        <a:t>DPT</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extLst>
                  <a:ext uri="{0D108BD9-81ED-4DB2-BD59-A6C34878D82A}">
                    <a16:rowId xmlns:a16="http://schemas.microsoft.com/office/drawing/2014/main" val="10000"/>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70000015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LUZOLO NSEMBOLO THOMAS</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60.61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$688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22.93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1"/>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70000283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NGIMBI NSILULU DECLAIRK</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59.37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$209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8.71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2"/>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70000309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NLANDU TSHIBAMBA JUNIOR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52.90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$362</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5.07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3"/>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70000211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TOKO MATONDO JOEL</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51.51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$319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27.41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Production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4"/>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70000116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NZUNGU ANTOINE BONHEUR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46.53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$504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5"/>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70000244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BADIBANGA MUTSHIPAYI Leon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44.77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$281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24.58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Production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6"/>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70000216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MANSIAMINA DIANLEMVO PATIENCE</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41.54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$469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24.33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7"/>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70000104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NGOMA NALOLO DIEU</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40.89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$468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28.25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8"/>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70000072</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NDONGA NGANGULA NOEL</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40.59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$514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17.58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Production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9"/>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70000276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MAWETE NSOTA EMMANUEL</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37.95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$214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16.89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Quality Assurance</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10"/>
                  </a:ext>
                </a:extLst>
              </a:tr>
              <a:tr h="314325">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70000242</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TSHILOLO MWABILA Willy</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36.12</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$233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24.58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Production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14325">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70000058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TULENGI KASIAMA REAGAN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35.70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$388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15.66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12"/>
                  </a:ext>
                </a:extLst>
              </a:tr>
              <a:tr h="314325">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70000212</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VANGU VANGU ALBERT</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35.56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$139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20.42</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Production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314325">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70000243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MUKONKOLE KABELE Christian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35.14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$232</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9.58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Production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14"/>
                  </a:ext>
                </a:extLst>
              </a:tr>
              <a:tr h="314325">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70000115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ONOSAMBA LUNDI LUNDI</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34.69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$344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25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15" name="Text 11"/>
          <p:cNvSpPr/>
          <p:nvPr/>
        </p:nvSpPr>
        <p:spPr>
          <a:xfrm>
            <a:off x="6217920" y="1170432"/>
            <a:ext cx="5669280" cy="219456"/>
          </a:xfrm>
          <a:prstGeom prst="rect">
            <a:avLst/>
          </a:prstGeom>
          <a:noFill/>
          <a:ln/>
        </p:spPr>
        <p:txBody>
          <a:bodyPr wrap="square" rtlCol="0" anchor="ctr"/>
          <a:lstStyle/>
          <a:p>
            <a:pPr marL="0" indent="0">
              <a:buNone/>
            </a:pPr>
            <a:r>
              <a:rPr lang="en-US" sz="1100" b="1" dirty="0">
                <a:solidFill>
                  <a:srgbClr val="E30613"/>
                </a:solidFill>
                <a:latin typeface="Segoe UI" pitchFamily="34" charset="0"/>
                <a:ea typeface="Segoe UI" pitchFamily="34" charset="-122"/>
                <a:cs typeface="Segoe UI" pitchFamily="34" charset="-120"/>
              </a:rPr>
              <a:t>Leave Balance – Top 15 (Top 10 in red)</a:t>
            </a:r>
            <a:endParaRPr lang="en-US" sz="1100" dirty="0"/>
          </a:p>
        </p:txBody>
      </p:sp>
      <p:graphicFrame>
        <p:nvGraphicFramePr>
          <p:cNvPr id="21" name="Table 1"/>
          <p:cNvGraphicFramePr>
            <a:graphicFrameLocks noGrp="1"/>
          </p:cNvGraphicFramePr>
          <p:nvPr>
            <p:extLst>
              <p:ext uri="{D42A27DB-BD31-4B8C-83A1-F6EECF244321}">
                <p14:modId xmlns:p14="http://schemas.microsoft.com/office/powerpoint/2010/main" val="893979650"/>
              </p:ext>
            </p:extLst>
          </p:nvPr>
        </p:nvGraphicFramePr>
        <p:xfrm>
          <a:off x="6217920" y="1417320"/>
          <a:ext cx="5623560" cy="5029200"/>
        </p:xfrm>
        <a:graphic>
          <a:graphicData uri="http://schemas.openxmlformats.org/drawingml/2006/table">
            <a:tbl>
              <a:tblPr/>
              <a:tblGrid>
                <a:gridCol w="749808">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566928">
                  <a:extLst>
                    <a:ext uri="{9D8B030D-6E8A-4147-A177-3AD203B41FA5}">
                      <a16:colId xmlns:a16="http://schemas.microsoft.com/office/drawing/2014/main" val="20002"/>
                    </a:ext>
                  </a:extLst>
                </a:gridCol>
                <a:gridCol w="713232">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850392">
                  <a:extLst>
                    <a:ext uri="{9D8B030D-6E8A-4147-A177-3AD203B41FA5}">
                      <a16:colId xmlns:a16="http://schemas.microsoft.com/office/drawing/2014/main" val="20005"/>
                    </a:ext>
                  </a:extLst>
                </a:gridCol>
              </a:tblGrid>
              <a:tr h="314325">
                <a:tc>
                  <a:txBody>
                    <a:bodyPr/>
                    <a:lstStyle/>
                    <a:p>
                      <a:pPr marL="0" indent="0" algn="l">
                        <a:buNone/>
                      </a:pPr>
                      <a:r>
                        <a:rPr lang="en-US" sz="900" b="1" dirty="0">
                          <a:solidFill>
                            <a:srgbClr val="FFFFFF"/>
                          </a:solidFill>
                          <a:latin typeface="Segoe UI" pitchFamily="34" charset="0"/>
                          <a:ea typeface="Segoe UI" pitchFamily="34" charset="-122"/>
                          <a:cs typeface="Segoe UI" pitchFamily="34" charset="-120"/>
                        </a:rPr>
                        <a:t>ID</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l">
                        <a:buNone/>
                      </a:pPr>
                      <a:r>
                        <a:rPr lang="en-US" sz="900" b="1" dirty="0">
                          <a:solidFill>
                            <a:srgbClr val="FFFFFF"/>
                          </a:solidFill>
                          <a:latin typeface="Segoe UI" pitchFamily="34" charset="0"/>
                          <a:ea typeface="Segoe UI" pitchFamily="34" charset="-122"/>
                          <a:cs typeface="Segoe UI" pitchFamily="34" charset="-120"/>
                        </a:rPr>
                        <a:t>Names</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r">
                        <a:buNone/>
                      </a:pPr>
                      <a:r>
                        <a:rPr lang="en-US" sz="900" b="1" dirty="0">
                          <a:solidFill>
                            <a:srgbClr val="FFFFFF"/>
                          </a:solidFill>
                          <a:latin typeface="Segoe UI" pitchFamily="34" charset="0"/>
                          <a:ea typeface="Segoe UI" pitchFamily="34" charset="-122"/>
                          <a:cs typeface="Segoe UI" pitchFamily="34" charset="-120"/>
                        </a:rPr>
                        <a:t>Hrs</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r">
                        <a:buNone/>
                      </a:pPr>
                      <a:r>
                        <a:rPr lang="en-US" sz="900" b="1" dirty="0">
                          <a:solidFill>
                            <a:srgbClr val="FFFFFF"/>
                          </a:solidFill>
                          <a:latin typeface="Segoe UI" pitchFamily="34" charset="0"/>
                          <a:ea typeface="Segoe UI" pitchFamily="34" charset="-122"/>
                          <a:cs typeface="Segoe UI" pitchFamily="34" charset="-120"/>
                        </a:rPr>
                        <a:t>Cost</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r">
                        <a:buNone/>
                      </a:pPr>
                      <a:r>
                        <a:rPr lang="en-US" sz="900" b="1" dirty="0">
                          <a:solidFill>
                            <a:srgbClr val="FFFFFF"/>
                          </a:solidFill>
                          <a:latin typeface="Segoe UI" pitchFamily="34" charset="0"/>
                          <a:ea typeface="Segoe UI" pitchFamily="34" charset="-122"/>
                          <a:cs typeface="Segoe UI" pitchFamily="34" charset="-120"/>
                        </a:rPr>
                        <a:t>Leave</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tc>
                  <a:txBody>
                    <a:bodyPr/>
                    <a:lstStyle/>
                    <a:p>
                      <a:pPr marL="0" indent="0" algn="l">
                        <a:buNone/>
                      </a:pPr>
                      <a:r>
                        <a:rPr lang="en-US" sz="900" b="1" dirty="0">
                          <a:solidFill>
                            <a:srgbClr val="FFFFFF"/>
                          </a:solidFill>
                          <a:latin typeface="Segoe UI" pitchFamily="34" charset="0"/>
                          <a:ea typeface="Segoe UI" pitchFamily="34" charset="-122"/>
                          <a:cs typeface="Segoe UI" pitchFamily="34" charset="-120"/>
                        </a:rPr>
                        <a:t>DPT</a:t>
                      </a:r>
                      <a:endParaRPr lang="en-US" sz="9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E30613"/>
                    </a:solidFill>
                  </a:tcPr>
                </a:tc>
                <a:extLst>
                  <a:ext uri="{0D108BD9-81ED-4DB2-BD59-A6C34878D82A}">
                    <a16:rowId xmlns:a16="http://schemas.microsoft.com/office/drawing/2014/main" val="10000"/>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70000026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KABANGU MUTAMBAYI CHARLIE</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26.90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$479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30.75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Production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1"/>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70000070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BITUTU NDUNGU EDER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8.04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30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Production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2"/>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70000232</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LUCIO DA CONCEICAO</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3.79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$52</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29.38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3"/>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70000104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NGOMA NALOLO DIEU</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40.89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$468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28.25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4"/>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70000211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TOKO MATONDO JOEL</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51.51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$319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27.41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Production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5"/>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70000241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BIAWILA JEAN ROSTAND</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32.18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$290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26.25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Supply Chain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6"/>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70000061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NZUZI TABILA JOEL</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16.00</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$159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25.08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Production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7"/>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70000115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ONOSAMBA LUNDI LUNDI</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34.69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$344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8"/>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70000244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BADIBANGA MUTSHIPAYI Leon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44.77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$281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24.58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Production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09"/>
                  </a:ext>
                </a:extLst>
              </a:tr>
              <a:tr h="314325">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70000242</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TSHILOLO MWABILA Willy</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36.12</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$233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r">
                        <a:buNone/>
                      </a:pPr>
                      <a:r>
                        <a:rPr lang="en-US" sz="800" b="1" dirty="0">
                          <a:solidFill>
                            <a:srgbClr val="B0050F"/>
                          </a:solidFill>
                          <a:latin typeface="Segoe UI" pitchFamily="34" charset="0"/>
                          <a:ea typeface="Segoe UI" pitchFamily="34" charset="-122"/>
                          <a:cs typeface="Segoe UI" pitchFamily="34" charset="-120"/>
                        </a:rPr>
                        <a:t>24.58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tc>
                  <a:txBody>
                    <a:bodyPr/>
                    <a:lstStyle/>
                    <a:p>
                      <a:pPr marL="0" indent="0" algn="l">
                        <a:buNone/>
                      </a:pPr>
                      <a:r>
                        <a:rPr lang="en-US" sz="800" b="1" dirty="0">
                          <a:solidFill>
                            <a:srgbClr val="B0050F"/>
                          </a:solidFill>
                          <a:latin typeface="Segoe UI" pitchFamily="34" charset="0"/>
                          <a:ea typeface="Segoe UI" pitchFamily="34" charset="-122"/>
                          <a:cs typeface="Segoe UI" pitchFamily="34" charset="-120"/>
                        </a:rPr>
                        <a:t>Production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8D0D3"/>
                    </a:solidFill>
                  </a:tcPr>
                </a:tc>
                <a:extLst>
                  <a:ext uri="{0D108BD9-81ED-4DB2-BD59-A6C34878D82A}">
                    <a16:rowId xmlns:a16="http://schemas.microsoft.com/office/drawing/2014/main" val="10010"/>
                  </a:ext>
                </a:extLst>
              </a:tr>
              <a:tr h="314325">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70000216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MANSIAMINA DIANLEMVO PATIENCE</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41.54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$469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24.33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14325">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70000116</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NZUNGU ANTOINE BONHEUR</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46.53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$504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23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12"/>
                  </a:ext>
                </a:extLst>
              </a:tr>
              <a:tr h="314325">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70000015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LUZOLO NSEMBOLO THOMAS</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60.61</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$688</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22.93</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314325">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70000029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MAPHASI VANGU PHILIPPE</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29.44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$625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22.75</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Production</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7F7FA"/>
                    </a:solidFill>
                  </a:tcPr>
                </a:tc>
                <a:extLst>
                  <a:ext uri="{0D108BD9-81ED-4DB2-BD59-A6C34878D82A}">
                    <a16:rowId xmlns:a16="http://schemas.microsoft.com/office/drawing/2014/main" val="10014"/>
                  </a:ext>
                </a:extLst>
              </a:tr>
              <a:tr h="314325">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70000079</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DINANDI MVUMBI PHILIPPE</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10.84</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$117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r">
                        <a:buNone/>
                      </a:pPr>
                      <a:r>
                        <a:rPr lang="en-US" sz="800" dirty="0">
                          <a:solidFill>
                            <a:srgbClr val="16161E"/>
                          </a:solidFill>
                          <a:latin typeface="Segoe UI" pitchFamily="34" charset="0"/>
                          <a:ea typeface="Segoe UI" pitchFamily="34" charset="-122"/>
                          <a:cs typeface="Segoe UI" pitchFamily="34" charset="-120"/>
                        </a:rPr>
                        <a:t>22.17</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tc>
                  <a:txBody>
                    <a:bodyPr/>
                    <a:lstStyle/>
                    <a:p>
                      <a:pPr marL="0" indent="0" algn="l">
                        <a:buNone/>
                      </a:pPr>
                      <a:r>
                        <a:rPr lang="en-US" sz="800" dirty="0">
                          <a:solidFill>
                            <a:srgbClr val="16161E"/>
                          </a:solidFill>
                          <a:latin typeface="Segoe UI" pitchFamily="34" charset="0"/>
                          <a:ea typeface="Segoe UI" pitchFamily="34" charset="-122"/>
                          <a:cs typeface="Segoe UI" pitchFamily="34" charset="-120"/>
                        </a:rPr>
                        <a:t>Engineering</a:t>
                      </a:r>
                      <a:endParaRPr lang="en-US" sz="800" dirty="0">
                        <a:latin typeface="Segoe UI" charset="0"/>
                        <a:ea typeface="Segoe UI" charset="0"/>
                        <a:cs typeface="Segoe UI" charset="0"/>
                      </a:endParaRPr>
                    </a:p>
                  </a:txBody>
                  <a:tcPr anchor="ctr">
                    <a:lnL w="5080" cap="flat" cmpd="sng" algn="ctr">
                      <a:solidFill>
                        <a:srgbClr val="E0E0E6"/>
                      </a:solidFill>
                      <a:prstDash val="solid"/>
                      <a:round/>
                      <a:headEnd type="none" w="med" len="med"/>
                      <a:tailEnd type="none" w="med" len="med"/>
                    </a:lnL>
                    <a:lnR w="5080" cap="flat" cmpd="sng" algn="ctr">
                      <a:solidFill>
                        <a:srgbClr val="E0E0E6"/>
                      </a:solidFill>
                      <a:prstDash val="solid"/>
                      <a:round/>
                      <a:headEnd type="none" w="med" len="med"/>
                      <a:tailEnd type="none" w="med" len="med"/>
                    </a:lnR>
                    <a:lnT w="5080" cap="flat" cmpd="sng" algn="ctr">
                      <a:solidFill>
                        <a:srgbClr val="E0E0E6"/>
                      </a:solidFill>
                      <a:prstDash val="solid"/>
                      <a:round/>
                      <a:headEnd type="none" w="med" len="med"/>
                      <a:tailEnd type="none" w="med" len="med"/>
                    </a:lnT>
                    <a:lnB w="5080" cap="flat" cmpd="sng" algn="ctr">
                      <a:solidFill>
                        <a:srgbClr val="E0E0E6"/>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E8EC"/>
        </a:solidFill>
        <a:effectLst/>
      </p:bgPr>
    </p:bg>
    <p:spTree>
      <p:nvGrpSpPr>
        <p:cNvPr id="1" name="">
          <a:extLst>
            <a:ext uri="{FF2B5EF4-FFF2-40B4-BE49-F238E27FC236}">
              <a16:creationId xmlns:a16="http://schemas.microsoft.com/office/drawing/2014/main" id="{9706943B-45AD-BA9F-3887-ACFC2815AA22}"/>
            </a:ext>
          </a:extLst>
        </p:cNvPr>
        <p:cNvGrpSpPr/>
        <p:nvPr/>
      </p:nvGrpSpPr>
      <p:grpSpPr>
        <a:xfrm>
          <a:off x="0" y="0"/>
          <a:ext cx="0" cy="0"/>
          <a:chOff x="0" y="0"/>
          <a:chExt cx="0" cy="0"/>
        </a:xfrm>
      </p:grpSpPr>
      <p:pic>
        <p:nvPicPr>
          <p:cNvPr id="2" name="Image 0" descr="D:\Apps\hr-rh-app\templates\exco\cover-assets\slide-fade.jpg">
            <a:extLst>
              <a:ext uri="{FF2B5EF4-FFF2-40B4-BE49-F238E27FC236}">
                <a16:creationId xmlns:a16="http://schemas.microsoft.com/office/drawing/2014/main" id="{56EB4EC0-81C9-9A3E-65AD-728321348BE9}"/>
              </a:ext>
            </a:extLst>
          </p:cNvPr>
          <p:cNvPicPr>
            <a:picLocks noChangeAspect="1"/>
          </p:cNvPicPr>
          <p:nvPr/>
        </p:nvPicPr>
        <p:blipFill>
          <a:blip r:embed="rId3"/>
          <a:srcRect/>
          <a:stretch/>
        </p:blipFill>
        <p:spPr>
          <a:xfrm>
            <a:off x="0" y="0"/>
            <a:ext cx="12191695" cy="6858000"/>
          </a:xfrm>
          <a:prstGeom prst="rect">
            <a:avLst/>
          </a:prstGeom>
        </p:spPr>
      </p:pic>
      <p:sp>
        <p:nvSpPr>
          <p:cNvPr id="3" name="Shape 0">
            <a:extLst>
              <a:ext uri="{FF2B5EF4-FFF2-40B4-BE49-F238E27FC236}">
                <a16:creationId xmlns:a16="http://schemas.microsoft.com/office/drawing/2014/main" id="{CE57C026-E88F-9098-076A-227A12DCC70E}"/>
              </a:ext>
            </a:extLst>
          </p:cNvPr>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4" name="Shape 1">
            <a:extLst>
              <a:ext uri="{FF2B5EF4-FFF2-40B4-BE49-F238E27FC236}">
                <a16:creationId xmlns:a16="http://schemas.microsoft.com/office/drawing/2014/main" id="{B8D63A80-C52C-8E47-5E05-136894F597A7}"/>
              </a:ext>
            </a:extLst>
          </p:cNvPr>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Shape 2">
            <a:extLst>
              <a:ext uri="{FF2B5EF4-FFF2-40B4-BE49-F238E27FC236}">
                <a16:creationId xmlns:a16="http://schemas.microsoft.com/office/drawing/2014/main" id="{4041934C-25B2-8167-EA36-3322E80E62D1}"/>
              </a:ext>
            </a:extLst>
          </p:cNvPr>
          <p:cNvSpPr/>
          <p:nvPr/>
        </p:nvSpPr>
        <p:spPr>
          <a:xfrm>
            <a:off x="292608" y="146304"/>
            <a:ext cx="365760" cy="365760"/>
          </a:xfrm>
          <a:prstGeom prst="roundRect">
            <a:avLst>
              <a:gd name="adj" fmla="val 15000"/>
            </a:avLst>
          </a:prstGeom>
          <a:solidFill>
            <a:srgbClr val="E30613"/>
          </a:solidFill>
          <a:ln w="12700">
            <a:solidFill>
              <a:srgbClr val="E30613"/>
            </a:solidFill>
            <a:prstDash val="solid"/>
          </a:ln>
        </p:spPr>
        <p:txBody>
          <a:bodyPr/>
          <a:lstStyle/>
          <a:p>
            <a:endParaRPr lang="fr-FR"/>
          </a:p>
        </p:txBody>
      </p:sp>
      <p:sp>
        <p:nvSpPr>
          <p:cNvPr id="6" name="Text 3">
            <a:extLst>
              <a:ext uri="{FF2B5EF4-FFF2-40B4-BE49-F238E27FC236}">
                <a16:creationId xmlns:a16="http://schemas.microsoft.com/office/drawing/2014/main" id="{02CF7397-61FD-6687-659C-B2DD79F50D8C}"/>
              </a:ext>
            </a:extLst>
          </p:cNvPr>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05</a:t>
            </a:r>
            <a:endParaRPr lang="en-US" sz="1200" dirty="0"/>
          </a:p>
        </p:txBody>
      </p:sp>
      <p:sp>
        <p:nvSpPr>
          <p:cNvPr id="7" name="Text 4">
            <a:extLst>
              <a:ext uri="{FF2B5EF4-FFF2-40B4-BE49-F238E27FC236}">
                <a16:creationId xmlns:a16="http://schemas.microsoft.com/office/drawing/2014/main" id="{5E7828C1-4B2C-572E-2709-7D903A3BEB1B}"/>
              </a:ext>
            </a:extLst>
          </p:cNvPr>
          <p:cNvSpPr/>
          <p:nvPr/>
        </p:nvSpPr>
        <p:spPr>
          <a:xfrm>
            <a:off x="804672" y="128016"/>
            <a:ext cx="4572000" cy="146304"/>
          </a:xfrm>
          <a:prstGeom prst="rect">
            <a:avLst/>
          </a:prstGeom>
          <a:noFill/>
          <a:ln/>
        </p:spPr>
        <p:txBody>
          <a:bodyPr wrap="square" rtlCol="0" anchor="ctr"/>
          <a:lstStyle/>
          <a:p>
            <a:pPr marL="0" indent="0">
              <a:buNone/>
            </a:pPr>
            <a:r>
              <a:rPr lang="en-US" sz="900" b="1" dirty="0">
                <a:solidFill>
                  <a:srgbClr val="E30613"/>
                </a:solidFill>
                <a:latin typeface="Segoe UI" pitchFamily="34" charset="0"/>
                <a:ea typeface="Segoe UI" pitchFamily="34" charset="-122"/>
                <a:cs typeface="Segoe UI" pitchFamily="34" charset="-120"/>
              </a:rPr>
              <a:t>PPC · HR EXCO</a:t>
            </a:r>
            <a:endParaRPr lang="en-US" sz="900" dirty="0"/>
          </a:p>
        </p:txBody>
      </p:sp>
      <p:sp>
        <p:nvSpPr>
          <p:cNvPr id="8" name="Text 5">
            <a:extLst>
              <a:ext uri="{FF2B5EF4-FFF2-40B4-BE49-F238E27FC236}">
                <a16:creationId xmlns:a16="http://schemas.microsoft.com/office/drawing/2014/main" id="{20FA015B-BCAE-3FCE-3215-8E86119B1468}"/>
              </a:ext>
            </a:extLst>
          </p:cNvPr>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Training Dashboard</a:t>
            </a:r>
            <a:endParaRPr lang="en-US" sz="1800" dirty="0"/>
          </a:p>
        </p:txBody>
      </p:sp>
      <p:sp>
        <p:nvSpPr>
          <p:cNvPr id="9" name="Text 6">
            <a:extLst>
              <a:ext uri="{FF2B5EF4-FFF2-40B4-BE49-F238E27FC236}">
                <a16:creationId xmlns:a16="http://schemas.microsoft.com/office/drawing/2014/main" id="{D3077A6E-508B-8A90-51F4-F2ED3DBB4C27}"/>
              </a:ext>
            </a:extLst>
          </p:cNvPr>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10" name="Shape 7">
            <a:extLst>
              <a:ext uri="{FF2B5EF4-FFF2-40B4-BE49-F238E27FC236}">
                <a16:creationId xmlns:a16="http://schemas.microsoft.com/office/drawing/2014/main" id="{56AEA08E-4269-1CD4-D0ED-9F94D64CB246}"/>
              </a:ext>
            </a:extLst>
          </p:cNvPr>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11" name="Shape 8">
            <a:extLst>
              <a:ext uri="{FF2B5EF4-FFF2-40B4-BE49-F238E27FC236}">
                <a16:creationId xmlns:a16="http://schemas.microsoft.com/office/drawing/2014/main" id="{C30D6BE3-A6C6-D946-1B39-DC2E53DCC40D}"/>
              </a:ext>
            </a:extLst>
          </p:cNvPr>
          <p:cNvSpPr/>
          <p:nvPr/>
        </p:nvSpPr>
        <p:spPr>
          <a:xfrm>
            <a:off x="276382" y="810796"/>
            <a:ext cx="11658600" cy="5806440"/>
          </a:xfrm>
          <a:prstGeom prst="roundRect">
            <a:avLst>
              <a:gd name="adj" fmla="val 1260"/>
            </a:avLst>
          </a:prstGeom>
          <a:solidFill>
            <a:srgbClr val="FFFFFF"/>
          </a:solidFill>
          <a:ln w="12700">
            <a:solidFill>
              <a:srgbClr val="E0E0E6"/>
            </a:solidFill>
            <a:prstDash val="solid"/>
          </a:ln>
        </p:spPr>
        <p:txBody>
          <a:bodyPr/>
          <a:lstStyle/>
          <a:p>
            <a:endParaRPr lang="fr-FR"/>
          </a:p>
        </p:txBody>
      </p:sp>
      <p:graphicFrame>
        <p:nvGraphicFramePr>
          <p:cNvPr id="29" name="Chart 28">
            <a:extLst>
              <a:ext uri="{FF2B5EF4-FFF2-40B4-BE49-F238E27FC236}">
                <a16:creationId xmlns:a16="http://schemas.microsoft.com/office/drawing/2014/main" id="{1FBD71C8-FBA0-BAC5-F8F4-58A443120E05}"/>
              </a:ext>
            </a:extLst>
          </p:cNvPr>
          <p:cNvGraphicFramePr>
            <a:graphicFrameLocks/>
          </p:cNvGraphicFramePr>
          <p:nvPr>
            <p:extLst>
              <p:ext uri="{D42A27DB-BD31-4B8C-83A1-F6EECF244321}">
                <p14:modId xmlns:p14="http://schemas.microsoft.com/office/powerpoint/2010/main" val="3822122869"/>
              </p:ext>
            </p:extLst>
          </p:nvPr>
        </p:nvGraphicFramePr>
        <p:xfrm>
          <a:off x="299675" y="3055663"/>
          <a:ext cx="7272682" cy="2316163"/>
        </p:xfrm>
        <a:graphic>
          <a:graphicData uri="http://schemas.openxmlformats.org/drawingml/2006/chart">
            <c:chart xmlns:c="http://schemas.openxmlformats.org/drawingml/2006/chart" xmlns:r="http://schemas.openxmlformats.org/officeDocument/2006/relationships" r:id="rId4"/>
          </a:graphicData>
        </a:graphic>
      </p:graphicFrame>
      <p:grpSp>
        <p:nvGrpSpPr>
          <p:cNvPr id="30" name="Group 29">
            <a:extLst>
              <a:ext uri="{FF2B5EF4-FFF2-40B4-BE49-F238E27FC236}">
                <a16:creationId xmlns:a16="http://schemas.microsoft.com/office/drawing/2014/main" id="{6106C6F8-6161-7018-CAF1-0DEB5840BF7C}"/>
              </a:ext>
            </a:extLst>
          </p:cNvPr>
          <p:cNvGrpSpPr/>
          <p:nvPr/>
        </p:nvGrpSpPr>
        <p:grpSpPr>
          <a:xfrm>
            <a:off x="323060" y="5418971"/>
            <a:ext cx="7309039" cy="1166283"/>
            <a:chOff x="267766" y="5436244"/>
            <a:chExt cx="7211184" cy="1166283"/>
          </a:xfrm>
        </p:grpSpPr>
        <p:sp>
          <p:nvSpPr>
            <p:cNvPr id="31" name="TextBox 30">
              <a:extLst>
                <a:ext uri="{FF2B5EF4-FFF2-40B4-BE49-F238E27FC236}">
                  <a16:creationId xmlns:a16="http://schemas.microsoft.com/office/drawing/2014/main" id="{04EE1468-8FEE-2A9C-3D10-DEF6236AEA3C}"/>
                </a:ext>
              </a:extLst>
            </p:cNvPr>
            <p:cNvSpPr txBox="1"/>
            <p:nvPr/>
          </p:nvSpPr>
          <p:spPr>
            <a:xfrm>
              <a:off x="270372" y="5436244"/>
              <a:ext cx="7208578" cy="369332"/>
            </a:xfrm>
            <a:prstGeom prst="rect">
              <a:avLst/>
            </a:prstGeom>
            <a:solidFill>
              <a:schemeClr val="bg1">
                <a:lumMod val="65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fontAlgn="b"/>
              <a:r>
                <a:rPr lang="en-US" b="1" dirty="0">
                  <a:solidFill>
                    <a:schemeClr val="tx1"/>
                  </a:solidFill>
                </a:rPr>
                <a:t>Upcoming Training Sessions</a:t>
              </a:r>
              <a:endParaRPr lang="en-US" sz="1800" b="1" kern="1200" dirty="0">
                <a:solidFill>
                  <a:schemeClr val="tx1"/>
                </a:solidFill>
                <a:latin typeface="+mn-lt"/>
                <a:ea typeface="+mn-ea"/>
                <a:cs typeface="+mn-cs"/>
              </a:endParaRPr>
            </a:p>
          </p:txBody>
        </p:sp>
        <p:sp>
          <p:nvSpPr>
            <p:cNvPr id="32" name="Rectangle 31">
              <a:extLst>
                <a:ext uri="{FF2B5EF4-FFF2-40B4-BE49-F238E27FC236}">
                  <a16:creationId xmlns:a16="http://schemas.microsoft.com/office/drawing/2014/main" id="{9EC4BD00-7BE2-B5AF-56D2-6A3FC7495AFF}"/>
                </a:ext>
              </a:extLst>
            </p:cNvPr>
            <p:cNvSpPr/>
            <p:nvPr/>
          </p:nvSpPr>
          <p:spPr>
            <a:xfrm>
              <a:off x="267766" y="5805576"/>
              <a:ext cx="7194932" cy="796951"/>
            </a:xfrm>
            <a:prstGeom prst="rect">
              <a:avLst/>
            </a:prstGeom>
            <a:solidFill>
              <a:schemeClr val="bg1"/>
            </a:solidFill>
            <a:ln/>
            <a:effectLst/>
          </p:spPr>
          <p:style>
            <a:lnRef idx="0">
              <a:schemeClr val="accent5"/>
            </a:lnRef>
            <a:fillRef idx="3">
              <a:schemeClr val="accent5"/>
            </a:fillRef>
            <a:effectRef idx="3">
              <a:schemeClr val="accent5"/>
            </a:effectRef>
            <a:fontRef idx="minor">
              <a:schemeClr val="lt1"/>
            </a:fontRef>
          </p:style>
          <p:txBody>
            <a:bodyPr rtlCol="0" anchor="ctr"/>
            <a:lstStyle/>
            <a:p>
              <a:pPr marL="285750" indent="-285750">
                <a:buFontTx/>
                <a:buChar char="-"/>
              </a:pPr>
              <a:r>
                <a:rPr lang="en-US" sz="1000" dirty="0">
                  <a:solidFill>
                    <a:schemeClr val="tx1"/>
                  </a:solidFill>
                </a:rPr>
                <a:t>AI</a:t>
              </a:r>
            </a:p>
            <a:p>
              <a:pPr marL="285750" indent="-285750">
                <a:buFontTx/>
                <a:buChar char="-"/>
              </a:pPr>
              <a:r>
                <a:rPr lang="en-US" sz="1000" dirty="0">
                  <a:solidFill>
                    <a:schemeClr val="tx1"/>
                  </a:solidFill>
                </a:rPr>
                <a:t>Retirement preparation</a:t>
              </a:r>
            </a:p>
          </p:txBody>
        </p:sp>
      </p:grpSp>
      <p:graphicFrame>
        <p:nvGraphicFramePr>
          <p:cNvPr id="33" name="Table 32">
            <a:extLst>
              <a:ext uri="{FF2B5EF4-FFF2-40B4-BE49-F238E27FC236}">
                <a16:creationId xmlns:a16="http://schemas.microsoft.com/office/drawing/2014/main" id="{B2F07383-9FD8-AAFE-CD45-DBAC54EF33F9}"/>
              </a:ext>
            </a:extLst>
          </p:cNvPr>
          <p:cNvGraphicFramePr>
            <a:graphicFrameLocks noGrp="1"/>
          </p:cNvGraphicFramePr>
          <p:nvPr>
            <p:extLst>
              <p:ext uri="{D42A27DB-BD31-4B8C-83A1-F6EECF244321}">
                <p14:modId xmlns:p14="http://schemas.microsoft.com/office/powerpoint/2010/main" val="2808490100"/>
              </p:ext>
            </p:extLst>
          </p:nvPr>
        </p:nvGraphicFramePr>
        <p:xfrm>
          <a:off x="7896966" y="2156643"/>
          <a:ext cx="3507134" cy="4427035"/>
        </p:xfrm>
        <a:graphic>
          <a:graphicData uri="http://schemas.openxmlformats.org/drawingml/2006/table">
            <a:tbl>
              <a:tblPr>
                <a:tableStyleId>{9D7B26C5-4107-4FEC-AEDC-1716B250A1EF}</a:tableStyleId>
              </a:tblPr>
              <a:tblGrid>
                <a:gridCol w="362769">
                  <a:extLst>
                    <a:ext uri="{9D8B030D-6E8A-4147-A177-3AD203B41FA5}">
                      <a16:colId xmlns:a16="http://schemas.microsoft.com/office/drawing/2014/main" val="1929200906"/>
                    </a:ext>
                  </a:extLst>
                </a:gridCol>
                <a:gridCol w="3144365">
                  <a:extLst>
                    <a:ext uri="{9D8B030D-6E8A-4147-A177-3AD203B41FA5}">
                      <a16:colId xmlns:a16="http://schemas.microsoft.com/office/drawing/2014/main" val="317043201"/>
                    </a:ext>
                  </a:extLst>
                </a:gridCol>
              </a:tblGrid>
              <a:tr h="497546">
                <a:tc gridSpan="2">
                  <a:txBody>
                    <a:bodyPr/>
                    <a:lstStyle/>
                    <a:p>
                      <a:pPr algn="ctr" fontAlgn="b"/>
                      <a:r>
                        <a:rPr lang="en-US" sz="1400" b="1" kern="1200" dirty="0">
                          <a:solidFill>
                            <a:schemeClr val="tx1"/>
                          </a:solidFill>
                        </a:rPr>
                        <a:t>List of Training Covered</a:t>
                      </a:r>
                      <a:endParaRPr lang="en-US" sz="1400" b="1" kern="1200" dirty="0">
                        <a:solidFill>
                          <a:schemeClr val="tx1"/>
                        </a:solidFill>
                        <a:latin typeface="+mn-lt"/>
                        <a:ea typeface="+mn-ea"/>
                        <a:cs typeface="+mn-cs"/>
                      </a:endParaRPr>
                    </a:p>
                  </a:txBody>
                  <a:tcPr marL="3086" marR="3086" marT="3086" marB="0" anchor="ctr">
                    <a:solidFill>
                      <a:schemeClr val="bg1">
                        <a:lumMod val="65000"/>
                      </a:schemeClr>
                    </a:solidFill>
                  </a:tcPr>
                </a:tc>
                <a:tc hMerge="1">
                  <a:txBody>
                    <a:bodyPr/>
                    <a:lstStyle/>
                    <a:p>
                      <a:pPr algn="l" fontAlgn="b"/>
                      <a:endParaRPr lang="en-US" sz="1200" kern="1200" dirty="0">
                        <a:solidFill>
                          <a:schemeClr val="bg1"/>
                        </a:solidFill>
                        <a:latin typeface="+mn-lt"/>
                        <a:ea typeface="+mn-ea"/>
                        <a:cs typeface="+mn-cs"/>
                      </a:endParaRPr>
                    </a:p>
                  </a:txBody>
                  <a:tcPr marL="3086" marR="3086" marT="3086" marB="0" anchor="b">
                    <a:solidFill>
                      <a:schemeClr val="accent6">
                        <a:lumMod val="20000"/>
                        <a:lumOff val="80000"/>
                      </a:schemeClr>
                    </a:solidFill>
                  </a:tcPr>
                </a:tc>
                <a:extLst>
                  <a:ext uri="{0D108BD9-81ED-4DB2-BD59-A6C34878D82A}">
                    <a16:rowId xmlns:a16="http://schemas.microsoft.com/office/drawing/2014/main" val="11705445"/>
                  </a:ext>
                </a:extLst>
              </a:tr>
              <a:tr h="259632">
                <a:tc>
                  <a:txBody>
                    <a:bodyPr/>
                    <a:lstStyle/>
                    <a:p>
                      <a:pPr algn="ctr" fontAlgn="b"/>
                      <a:r>
                        <a:rPr lang="en-US" sz="1100" b="1" kern="1200" dirty="0">
                          <a:solidFill>
                            <a:schemeClr val="tx1"/>
                          </a:solidFill>
                        </a:rPr>
                        <a:t>1</a:t>
                      </a:r>
                      <a:endParaRPr lang="en-US" sz="1100" b="1" kern="1200" dirty="0">
                        <a:solidFill>
                          <a:schemeClr val="tx1"/>
                        </a:solidFill>
                        <a:latin typeface="+mn-lt"/>
                        <a:ea typeface="+mn-ea"/>
                        <a:cs typeface="+mn-cs"/>
                      </a:endParaRPr>
                    </a:p>
                  </a:txBody>
                  <a:tcPr marL="3086" marR="3086" marT="3086" marB="0" anchor="ctr">
                    <a:lnB w="12700" cap="flat" cmpd="sng" algn="ctr">
                      <a:solidFill>
                        <a:schemeClr val="tx1"/>
                      </a:solidFill>
                      <a:prstDash val="solid"/>
                      <a:round/>
                      <a:headEnd type="none" w="med" len="med"/>
                      <a:tailEnd type="none" w="med" len="med"/>
                    </a:lnB>
                  </a:tcPr>
                </a:tc>
                <a:tc>
                  <a:txBody>
                    <a:bodyPr/>
                    <a:lstStyle/>
                    <a:p>
                      <a:pPr algn="l" fontAlgn="b">
                        <a:buNone/>
                      </a:pPr>
                      <a:r>
                        <a:rPr lang="fr-FR" sz="1100" b="0" i="0" u="none" strike="noStrike">
                          <a:solidFill>
                            <a:srgbClr val="000000"/>
                          </a:solidFill>
                          <a:effectLst/>
                          <a:latin typeface="Aptos Narrow" panose="020B0004020202020204" pitchFamily="34" charset="0"/>
                        </a:rPr>
                        <a:t>Trainee Pevid Luambo</a:t>
                      </a:r>
                    </a:p>
                  </a:txBody>
                  <a:tcPr marL="6350" marR="6350" marT="6350"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0361082"/>
                  </a:ext>
                </a:extLst>
              </a:tr>
              <a:tr h="259632">
                <a:tc>
                  <a:txBody>
                    <a:bodyPr/>
                    <a:lstStyle/>
                    <a:p>
                      <a:pPr algn="ctr" fontAlgn="b"/>
                      <a:r>
                        <a:rPr lang="en-US" sz="1100" b="1" kern="1200" dirty="0">
                          <a:solidFill>
                            <a:schemeClr val="tx1"/>
                          </a:solidFill>
                        </a:rPr>
                        <a:t>2</a:t>
                      </a:r>
                      <a:endParaRPr lang="en-US" sz="1100" b="1" kern="1200" dirty="0">
                        <a:solidFill>
                          <a:schemeClr val="tx1"/>
                        </a:solidFill>
                        <a:latin typeface="+mn-lt"/>
                        <a:ea typeface="+mn-ea"/>
                        <a:cs typeface="+mn-cs"/>
                      </a:endParaRPr>
                    </a:p>
                  </a:txBody>
                  <a:tcPr marL="3086" marR="3086" marT="3086"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fr-FR" sz="1100" b="0" i="0" u="none" strike="noStrike">
                          <a:solidFill>
                            <a:srgbClr val="000000"/>
                          </a:solidFill>
                          <a:effectLst/>
                          <a:latin typeface="Aptos Narrow" panose="020B0004020202020204" pitchFamily="34" charset="0"/>
                        </a:rPr>
                        <a:t>Trainee Kutu Medina</a:t>
                      </a: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31021310"/>
                  </a:ext>
                </a:extLst>
              </a:tr>
              <a:tr h="294641">
                <a:tc>
                  <a:txBody>
                    <a:bodyPr/>
                    <a:lstStyle/>
                    <a:p>
                      <a:pPr algn="ctr" fontAlgn="b"/>
                      <a:r>
                        <a:rPr lang="en-US" sz="1100" b="1" kern="1200" dirty="0">
                          <a:solidFill>
                            <a:schemeClr val="tx1"/>
                          </a:solidFill>
                        </a:rPr>
                        <a:t>3</a:t>
                      </a:r>
                      <a:endParaRPr lang="en-US" sz="1100" b="1" kern="1200" dirty="0">
                        <a:solidFill>
                          <a:schemeClr val="tx1"/>
                        </a:solidFill>
                        <a:latin typeface="+mn-lt"/>
                        <a:ea typeface="+mn-ea"/>
                        <a:cs typeface="+mn-cs"/>
                      </a:endParaRPr>
                    </a:p>
                  </a:txBody>
                  <a:tcPr marL="3086" marR="3086" marT="3086"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fr-FR" sz="1100" b="0" i="0" u="none" strike="noStrike">
                          <a:solidFill>
                            <a:srgbClr val="000000"/>
                          </a:solidFill>
                          <a:effectLst/>
                          <a:latin typeface="Aptos Narrow" panose="020B0004020202020204" pitchFamily="34" charset="0"/>
                        </a:rPr>
                        <a:t>Chartered management accountant training</a:t>
                      </a: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1974123"/>
                  </a:ext>
                </a:extLst>
              </a:tr>
              <a:tr h="259632">
                <a:tc>
                  <a:txBody>
                    <a:bodyPr/>
                    <a:lstStyle/>
                    <a:p>
                      <a:pPr algn="ctr" fontAlgn="b"/>
                      <a:r>
                        <a:rPr lang="en-US" sz="1100" b="1" kern="1200" dirty="0">
                          <a:solidFill>
                            <a:schemeClr val="tx1"/>
                          </a:solidFill>
                        </a:rPr>
                        <a:t>4</a:t>
                      </a:r>
                      <a:endParaRPr lang="en-US" sz="1100" b="1" kern="1200" dirty="0">
                        <a:solidFill>
                          <a:schemeClr val="tx1"/>
                        </a:solidFill>
                        <a:latin typeface="+mn-lt"/>
                        <a:ea typeface="+mn-ea"/>
                        <a:cs typeface="+mn-cs"/>
                      </a:endParaRPr>
                    </a:p>
                  </a:txBody>
                  <a:tcPr marL="3086" marR="3086" marT="3086"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fr-FR" sz="1100" b="0" i="0" u="none" strike="noStrike">
                          <a:solidFill>
                            <a:srgbClr val="000000"/>
                          </a:solidFill>
                          <a:effectLst/>
                          <a:latin typeface="Aptos Narrow" panose="020B0004020202020204" pitchFamily="34" charset="0"/>
                        </a:rPr>
                        <a:t>C.N.P.R.ITRAINING COURSE FEES</a:t>
                      </a: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8045861"/>
                  </a:ext>
                </a:extLst>
              </a:tr>
              <a:tr h="259632">
                <a:tc>
                  <a:txBody>
                    <a:bodyPr/>
                    <a:lstStyle/>
                    <a:p>
                      <a:pPr algn="ctr" fontAlgn="b"/>
                      <a:r>
                        <a:rPr lang="en-US" sz="1100" b="1" kern="1200" dirty="0">
                          <a:solidFill>
                            <a:schemeClr val="tx1"/>
                          </a:solidFill>
                        </a:rPr>
                        <a:t>5</a:t>
                      </a:r>
                      <a:endParaRPr lang="en-US" sz="1100" b="1" kern="1200" dirty="0">
                        <a:solidFill>
                          <a:schemeClr val="tx1"/>
                        </a:solidFill>
                        <a:latin typeface="+mn-lt"/>
                        <a:ea typeface="+mn-ea"/>
                        <a:cs typeface="+mn-cs"/>
                      </a:endParaRPr>
                    </a:p>
                  </a:txBody>
                  <a:tcPr marL="3086" marR="3086" marT="3086"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fr-FR" sz="1100" b="0" i="0" u="none" strike="noStrike">
                          <a:solidFill>
                            <a:srgbClr val="000000"/>
                          </a:solidFill>
                          <a:effectLst/>
                          <a:latin typeface="Aptos Narrow" panose="020B0004020202020204" pitchFamily="34" charset="0"/>
                        </a:rPr>
                        <a:t>Trainee Pevid Luambo</a:t>
                      </a: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97581017"/>
                  </a:ext>
                </a:extLst>
              </a:tr>
              <a:tr h="259632">
                <a:tc>
                  <a:txBody>
                    <a:bodyPr/>
                    <a:lstStyle/>
                    <a:p>
                      <a:pPr algn="ctr" fontAlgn="b"/>
                      <a:r>
                        <a:rPr lang="en-US" sz="1100" b="1" kern="1200" dirty="0">
                          <a:solidFill>
                            <a:schemeClr val="tx1"/>
                          </a:solidFill>
                        </a:rPr>
                        <a:t>6</a:t>
                      </a:r>
                      <a:endParaRPr lang="en-US" sz="1100" b="1" kern="1200" dirty="0">
                        <a:solidFill>
                          <a:schemeClr val="tx1"/>
                        </a:solidFill>
                        <a:latin typeface="+mn-lt"/>
                        <a:ea typeface="+mn-ea"/>
                        <a:cs typeface="+mn-cs"/>
                      </a:endParaRPr>
                    </a:p>
                  </a:txBody>
                  <a:tcPr marL="3086" marR="3086" marT="3086"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fr-FR" sz="1100" b="0" i="0" u="none" strike="noStrike" dirty="0" err="1">
                          <a:solidFill>
                            <a:srgbClr val="000000"/>
                          </a:solidFill>
                          <a:effectLst/>
                          <a:latin typeface="Aptos Narrow" panose="020B0004020202020204" pitchFamily="34" charset="0"/>
                        </a:rPr>
                        <a:t>Trainee</a:t>
                      </a:r>
                      <a:r>
                        <a:rPr lang="fr-FR" sz="1100" b="0" i="0" u="none" strike="noStrike" dirty="0">
                          <a:solidFill>
                            <a:srgbClr val="000000"/>
                          </a:solidFill>
                          <a:effectLst/>
                          <a:latin typeface="Aptos Narrow" panose="020B0004020202020204" pitchFamily="34" charset="0"/>
                        </a:rPr>
                        <a:t> Kutu Medina</a:t>
                      </a: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0723811"/>
                  </a:ext>
                </a:extLst>
              </a:tr>
              <a:tr h="259632">
                <a:tc>
                  <a:txBody>
                    <a:bodyPr/>
                    <a:lstStyle/>
                    <a:p>
                      <a:pPr algn="ctr" fontAlgn="b"/>
                      <a:r>
                        <a:rPr lang="en-US" sz="1100" b="1" kern="1200" dirty="0">
                          <a:solidFill>
                            <a:schemeClr val="tx1"/>
                          </a:solidFill>
                        </a:rPr>
                        <a:t>7</a:t>
                      </a:r>
                      <a:endParaRPr lang="en-US" sz="1100" b="1" kern="1200" dirty="0">
                        <a:solidFill>
                          <a:schemeClr val="tx1"/>
                        </a:solidFill>
                        <a:latin typeface="+mn-lt"/>
                        <a:ea typeface="+mn-ea"/>
                        <a:cs typeface="+mn-cs"/>
                      </a:endParaRPr>
                    </a:p>
                  </a:txBody>
                  <a:tcPr marL="3086" marR="3086" marT="3086"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23766872"/>
                  </a:ext>
                </a:extLst>
              </a:tr>
              <a:tr h="259632">
                <a:tc>
                  <a:txBody>
                    <a:bodyPr/>
                    <a:lstStyle/>
                    <a:p>
                      <a:pPr algn="ctr" fontAlgn="b"/>
                      <a:r>
                        <a:rPr lang="en-US" sz="1100" b="1" kern="1200" dirty="0">
                          <a:solidFill>
                            <a:schemeClr val="tx1"/>
                          </a:solidFill>
                        </a:rPr>
                        <a:t>8</a:t>
                      </a:r>
                      <a:endParaRPr lang="en-US" sz="1100" b="1" kern="1200" dirty="0">
                        <a:solidFill>
                          <a:schemeClr val="tx1"/>
                        </a:solidFill>
                        <a:latin typeface="+mn-lt"/>
                        <a:ea typeface="+mn-ea"/>
                        <a:cs typeface="+mn-cs"/>
                      </a:endParaRPr>
                    </a:p>
                  </a:txBody>
                  <a:tcPr marL="3086" marR="3086" marT="3086"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5889626"/>
                  </a:ext>
                </a:extLst>
              </a:tr>
              <a:tr h="259632">
                <a:tc>
                  <a:txBody>
                    <a:bodyPr/>
                    <a:lstStyle/>
                    <a:p>
                      <a:pPr algn="ctr" fontAlgn="b"/>
                      <a:r>
                        <a:rPr lang="en-US" sz="1100" b="1" kern="1200" dirty="0">
                          <a:solidFill>
                            <a:schemeClr val="tx1"/>
                          </a:solidFill>
                        </a:rPr>
                        <a:t>9</a:t>
                      </a:r>
                      <a:endParaRPr lang="en-US" sz="1100" b="1" kern="1200" dirty="0">
                        <a:solidFill>
                          <a:schemeClr val="tx1"/>
                        </a:solidFill>
                        <a:latin typeface="+mn-lt"/>
                        <a:ea typeface="+mn-ea"/>
                        <a:cs typeface="+mn-cs"/>
                      </a:endParaRPr>
                    </a:p>
                  </a:txBody>
                  <a:tcPr marL="3086" marR="3086" marT="3086"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9560203"/>
                  </a:ext>
                </a:extLst>
              </a:tr>
              <a:tr h="259632">
                <a:tc>
                  <a:txBody>
                    <a:bodyPr/>
                    <a:lstStyle/>
                    <a:p>
                      <a:pPr algn="ctr" fontAlgn="b"/>
                      <a:r>
                        <a:rPr lang="en-US" sz="1100" b="1" kern="1200" dirty="0">
                          <a:solidFill>
                            <a:schemeClr val="tx1"/>
                          </a:solidFill>
                        </a:rPr>
                        <a:t>10</a:t>
                      </a:r>
                      <a:endParaRPr lang="en-US" sz="1100" b="1" kern="1200" dirty="0">
                        <a:solidFill>
                          <a:schemeClr val="tx1"/>
                        </a:solidFill>
                        <a:latin typeface="+mn-lt"/>
                        <a:ea typeface="+mn-ea"/>
                        <a:cs typeface="+mn-cs"/>
                      </a:endParaRPr>
                    </a:p>
                  </a:txBody>
                  <a:tcPr marL="3086" marR="3086" marT="3086"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7882726"/>
                  </a:ext>
                </a:extLst>
              </a:tr>
              <a:tr h="259632">
                <a:tc>
                  <a:txBody>
                    <a:bodyPr/>
                    <a:lstStyle/>
                    <a:p>
                      <a:pPr algn="ctr" fontAlgn="b"/>
                      <a:r>
                        <a:rPr lang="en-US" sz="1100" b="1" kern="1200" dirty="0">
                          <a:solidFill>
                            <a:schemeClr val="tx1"/>
                          </a:solidFill>
                        </a:rPr>
                        <a:t>11</a:t>
                      </a:r>
                      <a:endParaRPr lang="en-US" sz="1100" b="1" kern="1200" dirty="0">
                        <a:solidFill>
                          <a:schemeClr val="tx1"/>
                        </a:solidFill>
                        <a:latin typeface="+mn-lt"/>
                        <a:ea typeface="+mn-ea"/>
                        <a:cs typeface="+mn-cs"/>
                      </a:endParaRPr>
                    </a:p>
                  </a:txBody>
                  <a:tcPr marL="3086" marR="3086" marT="3086"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1465464"/>
                  </a:ext>
                </a:extLst>
              </a:tr>
              <a:tr h="259632">
                <a:tc>
                  <a:txBody>
                    <a:bodyPr/>
                    <a:lstStyle/>
                    <a:p>
                      <a:pPr algn="ctr" fontAlgn="b"/>
                      <a:r>
                        <a:rPr lang="en-US" sz="1100" b="1" kern="1200" dirty="0">
                          <a:solidFill>
                            <a:schemeClr val="tx1"/>
                          </a:solidFill>
                        </a:rPr>
                        <a:t>12</a:t>
                      </a:r>
                      <a:endParaRPr lang="en-US" sz="1100" b="1" kern="1200" dirty="0">
                        <a:solidFill>
                          <a:schemeClr val="tx1"/>
                        </a:solidFill>
                        <a:latin typeface="+mn-lt"/>
                        <a:ea typeface="+mn-ea"/>
                        <a:cs typeface="+mn-cs"/>
                      </a:endParaRPr>
                    </a:p>
                  </a:txBody>
                  <a:tcPr marL="3086" marR="3086" marT="3086"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0312465"/>
                  </a:ext>
                </a:extLst>
              </a:tr>
              <a:tr h="259632">
                <a:tc>
                  <a:txBody>
                    <a:bodyPr/>
                    <a:lstStyle/>
                    <a:p>
                      <a:pPr algn="ctr" fontAlgn="b"/>
                      <a:r>
                        <a:rPr lang="en-US" sz="1100" b="1" kern="1200" dirty="0">
                          <a:solidFill>
                            <a:schemeClr val="tx1"/>
                          </a:solidFill>
                        </a:rPr>
                        <a:t>13</a:t>
                      </a:r>
                      <a:endParaRPr lang="en-US" sz="1100" b="1" kern="1200" dirty="0">
                        <a:solidFill>
                          <a:schemeClr val="tx1"/>
                        </a:solidFill>
                        <a:latin typeface="+mn-lt"/>
                        <a:ea typeface="+mn-ea"/>
                        <a:cs typeface="+mn-cs"/>
                      </a:endParaRPr>
                    </a:p>
                  </a:txBody>
                  <a:tcPr marL="3086" marR="3086" marT="3086"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2917813"/>
                  </a:ext>
                </a:extLst>
              </a:tr>
              <a:tr h="259632">
                <a:tc>
                  <a:txBody>
                    <a:bodyPr/>
                    <a:lstStyle/>
                    <a:p>
                      <a:pPr algn="ctr" fontAlgn="b"/>
                      <a:r>
                        <a:rPr lang="en-US" sz="1100" b="1" kern="1200" dirty="0">
                          <a:solidFill>
                            <a:schemeClr val="tx1"/>
                          </a:solidFill>
                        </a:rPr>
                        <a:t>14</a:t>
                      </a:r>
                      <a:endParaRPr lang="en-US" sz="1100" b="1" kern="1200" dirty="0">
                        <a:solidFill>
                          <a:schemeClr val="tx1"/>
                        </a:solidFill>
                        <a:latin typeface="+mn-lt"/>
                        <a:ea typeface="+mn-ea"/>
                        <a:cs typeface="+mn-cs"/>
                      </a:endParaRPr>
                    </a:p>
                  </a:txBody>
                  <a:tcPr marL="3086" marR="3086" marT="3086"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t">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9799814"/>
                  </a:ext>
                </a:extLst>
              </a:tr>
              <a:tr h="259632">
                <a:tc>
                  <a:txBody>
                    <a:bodyPr/>
                    <a:lstStyle/>
                    <a:p>
                      <a:pPr algn="ctr" fontAlgn="b"/>
                      <a:r>
                        <a:rPr lang="en-US" sz="1100" b="1" kern="1200" dirty="0">
                          <a:solidFill>
                            <a:schemeClr val="tx1"/>
                          </a:solidFill>
                        </a:rPr>
                        <a:t>15</a:t>
                      </a:r>
                      <a:endParaRPr lang="en-US" sz="1100" b="1" kern="1200" dirty="0">
                        <a:solidFill>
                          <a:schemeClr val="tx1"/>
                        </a:solidFill>
                        <a:latin typeface="+mn-lt"/>
                        <a:ea typeface="+mn-ea"/>
                        <a:cs typeface="+mn-cs"/>
                      </a:endParaRPr>
                    </a:p>
                  </a:txBody>
                  <a:tcPr marL="3086" marR="3086" marT="3086" marB="0" anchor="ctr">
                    <a:lnT w="12700" cap="flat" cmpd="sng" algn="ctr">
                      <a:solidFill>
                        <a:schemeClr val="tx1"/>
                      </a:solidFill>
                      <a:prstDash val="solid"/>
                      <a:round/>
                      <a:headEnd type="none" w="med" len="med"/>
                      <a:tailEnd type="none" w="med" len="med"/>
                    </a:lnT>
                  </a:tcPr>
                </a:tc>
                <a:tc>
                  <a:txBody>
                    <a:bodyPr/>
                    <a:lstStyle/>
                    <a:p>
                      <a:pPr algn="l" fontAlgn="t">
                        <a:buNone/>
                      </a:pPr>
                      <a:endParaRPr lang="en-US" sz="1100" b="0" i="0" u="none" strike="noStrike" dirty="0">
                        <a:solidFill>
                          <a:srgbClr val="000000"/>
                        </a:solidFill>
                        <a:effectLst/>
                        <a:latin typeface="Aptos Narrow" panose="020B0004020202020204" pitchFamily="34" charset="0"/>
                      </a:endParaRPr>
                    </a:p>
                  </a:txBody>
                  <a:tcPr marL="6350" marR="6350" marT="635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53056371"/>
                  </a:ext>
                </a:extLst>
              </a:tr>
            </a:tbl>
          </a:graphicData>
        </a:graphic>
      </p:graphicFrame>
      <p:grpSp>
        <p:nvGrpSpPr>
          <p:cNvPr id="34" name="Group 33">
            <a:extLst>
              <a:ext uri="{FF2B5EF4-FFF2-40B4-BE49-F238E27FC236}">
                <a16:creationId xmlns:a16="http://schemas.microsoft.com/office/drawing/2014/main" id="{B2C9881E-B13C-224F-523C-F43F32F4D451}"/>
              </a:ext>
            </a:extLst>
          </p:cNvPr>
          <p:cNvGrpSpPr/>
          <p:nvPr/>
        </p:nvGrpSpPr>
        <p:grpSpPr>
          <a:xfrm>
            <a:off x="7985079" y="519887"/>
            <a:ext cx="3424676" cy="1541081"/>
            <a:chOff x="7896966" y="264146"/>
            <a:chExt cx="3424676" cy="1541081"/>
          </a:xfrm>
        </p:grpSpPr>
        <p:sp>
          <p:nvSpPr>
            <p:cNvPr id="35" name="Rectangle 34">
              <a:extLst>
                <a:ext uri="{FF2B5EF4-FFF2-40B4-BE49-F238E27FC236}">
                  <a16:creationId xmlns:a16="http://schemas.microsoft.com/office/drawing/2014/main" id="{30A29919-9D1E-49BD-D86B-89308C0526E8}"/>
                </a:ext>
              </a:extLst>
            </p:cNvPr>
            <p:cNvSpPr/>
            <p:nvPr/>
          </p:nvSpPr>
          <p:spPr>
            <a:xfrm>
              <a:off x="7896966" y="609866"/>
              <a:ext cx="3419021" cy="302554"/>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en-US" sz="2400" dirty="0">
                  <a:solidFill>
                    <a:schemeClr val="bg1"/>
                  </a:solidFill>
                </a:rPr>
                <a:t>Topics </a:t>
              </a:r>
              <a:r>
                <a:rPr lang="en-US" dirty="0">
                  <a:solidFill>
                    <a:schemeClr val="bg1"/>
                  </a:solidFill>
                </a:rPr>
                <a:t>Covered</a:t>
              </a:r>
            </a:p>
          </p:txBody>
        </p:sp>
        <p:sp>
          <p:nvSpPr>
            <p:cNvPr id="36" name="Rectangle 35">
              <a:extLst>
                <a:ext uri="{FF2B5EF4-FFF2-40B4-BE49-F238E27FC236}">
                  <a16:creationId xmlns:a16="http://schemas.microsoft.com/office/drawing/2014/main" id="{A6626709-F9E7-5149-3F17-A4BC6DC3FEFC}"/>
                </a:ext>
              </a:extLst>
            </p:cNvPr>
            <p:cNvSpPr/>
            <p:nvPr/>
          </p:nvSpPr>
          <p:spPr>
            <a:xfrm>
              <a:off x="7896966" y="1196764"/>
              <a:ext cx="3419021" cy="26116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Soft Skills  (Hours) </a:t>
              </a:r>
            </a:p>
          </p:txBody>
        </p:sp>
        <p:sp>
          <p:nvSpPr>
            <p:cNvPr id="37" name="Rectangle 36">
              <a:extLst>
                <a:ext uri="{FF2B5EF4-FFF2-40B4-BE49-F238E27FC236}">
                  <a16:creationId xmlns:a16="http://schemas.microsoft.com/office/drawing/2014/main" id="{DC769E91-B1B0-7DAF-B6F7-4A810A4BF300}"/>
                </a:ext>
              </a:extLst>
            </p:cNvPr>
            <p:cNvSpPr/>
            <p:nvPr/>
          </p:nvSpPr>
          <p:spPr>
            <a:xfrm>
              <a:off x="7896966" y="935960"/>
              <a:ext cx="3419021" cy="245231"/>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bg1"/>
                  </a:solidFill>
                </a:rPr>
                <a:t>Technical Skills (Hours) </a:t>
              </a:r>
            </a:p>
          </p:txBody>
        </p:sp>
        <p:sp>
          <p:nvSpPr>
            <p:cNvPr id="38" name="Oval 37">
              <a:extLst>
                <a:ext uri="{FF2B5EF4-FFF2-40B4-BE49-F238E27FC236}">
                  <a16:creationId xmlns:a16="http://schemas.microsoft.com/office/drawing/2014/main" id="{FDE95E64-F698-E37F-B5EF-E4C2E8E38947}"/>
                </a:ext>
                <a:ext uri="{C183D7F6-B498-43B3-948B-1728B52AA6E4}">
                  <adec:decorative xmlns:adec="http://schemas.microsoft.com/office/drawing/2017/decorative" val="1"/>
                </a:ext>
              </a:extLst>
            </p:cNvPr>
            <p:cNvSpPr/>
            <p:nvPr/>
          </p:nvSpPr>
          <p:spPr>
            <a:xfrm>
              <a:off x="9545270" y="264146"/>
              <a:ext cx="545277" cy="551869"/>
            </a:xfrm>
            <a:prstGeom prst="ellipse">
              <a:avLst/>
            </a:prstGeom>
            <a:solidFill>
              <a:schemeClr val="tx1"/>
            </a:solidFill>
            <a:ln w="28575">
              <a:solidFill>
                <a:schemeClr val="tx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9" name="Rectangle 38">
              <a:extLst>
                <a:ext uri="{FF2B5EF4-FFF2-40B4-BE49-F238E27FC236}">
                  <a16:creationId xmlns:a16="http://schemas.microsoft.com/office/drawing/2014/main" id="{BAE7D445-9350-A595-9880-47CCE6C1BBF9}"/>
                </a:ext>
              </a:extLst>
            </p:cNvPr>
            <p:cNvSpPr/>
            <p:nvPr/>
          </p:nvSpPr>
          <p:spPr>
            <a:xfrm>
              <a:off x="10760324" y="579909"/>
              <a:ext cx="495650" cy="307777"/>
            </a:xfrm>
            <a:prstGeom prst="rect">
              <a:avLst/>
            </a:prstGeom>
          </p:spPr>
          <p:txBody>
            <a:bodyPr wrap="square" anchor="ctr">
              <a:spAutoFit/>
            </a:bodyPr>
            <a:lstStyle/>
            <a:p>
              <a:pPr algn="r">
                <a:spcBef>
                  <a:spcPts val="600"/>
                </a:spcBef>
              </a:pPr>
              <a:r>
                <a:rPr lang="en-US" sz="1400" dirty="0">
                  <a:solidFill>
                    <a:schemeClr val="bg1"/>
                  </a:solidFill>
                </a:rPr>
                <a:t>6</a:t>
              </a:r>
            </a:p>
          </p:txBody>
        </p:sp>
        <p:sp>
          <p:nvSpPr>
            <p:cNvPr id="40" name="Rectangle 39">
              <a:extLst>
                <a:ext uri="{FF2B5EF4-FFF2-40B4-BE49-F238E27FC236}">
                  <a16:creationId xmlns:a16="http://schemas.microsoft.com/office/drawing/2014/main" id="{EAEE87B7-78E9-D68F-FD5E-C82045B56E0C}"/>
                </a:ext>
              </a:extLst>
            </p:cNvPr>
            <p:cNvSpPr/>
            <p:nvPr/>
          </p:nvSpPr>
          <p:spPr>
            <a:xfrm>
              <a:off x="10315004" y="885442"/>
              <a:ext cx="914400" cy="338554"/>
            </a:xfrm>
            <a:prstGeom prst="rect">
              <a:avLst/>
            </a:prstGeom>
          </p:spPr>
          <p:txBody>
            <a:bodyPr wrap="none" anchor="ctr">
              <a:normAutofit/>
            </a:bodyPr>
            <a:lstStyle/>
            <a:p>
              <a:pPr algn="r">
                <a:spcBef>
                  <a:spcPts val="600"/>
                </a:spcBef>
              </a:pPr>
              <a:r>
                <a:rPr lang="en-US" sz="1200" dirty="0">
                  <a:solidFill>
                    <a:schemeClr val="bg1"/>
                  </a:solidFill>
                </a:rPr>
                <a:t>0%</a:t>
              </a:r>
            </a:p>
          </p:txBody>
        </p:sp>
        <p:sp>
          <p:nvSpPr>
            <p:cNvPr id="41" name="Rectangle 40">
              <a:extLst>
                <a:ext uri="{FF2B5EF4-FFF2-40B4-BE49-F238E27FC236}">
                  <a16:creationId xmlns:a16="http://schemas.microsoft.com/office/drawing/2014/main" id="{EA8CD8B5-3E1F-346F-4BE4-4AF21C41B3B3}"/>
                </a:ext>
              </a:extLst>
            </p:cNvPr>
            <p:cNvSpPr/>
            <p:nvPr/>
          </p:nvSpPr>
          <p:spPr>
            <a:xfrm>
              <a:off x="10315004" y="1169896"/>
              <a:ext cx="914400" cy="338554"/>
            </a:xfrm>
            <a:prstGeom prst="rect">
              <a:avLst/>
            </a:prstGeom>
          </p:spPr>
          <p:txBody>
            <a:bodyPr wrap="none" anchor="ctr">
              <a:normAutofit/>
            </a:bodyPr>
            <a:lstStyle/>
            <a:p>
              <a:pPr algn="r">
                <a:spcBef>
                  <a:spcPts val="600"/>
                </a:spcBef>
              </a:pPr>
              <a:r>
                <a:rPr lang="en-US" sz="1200" dirty="0">
                  <a:solidFill>
                    <a:schemeClr val="bg1"/>
                  </a:solidFill>
                </a:rPr>
                <a:t>67%</a:t>
              </a:r>
            </a:p>
          </p:txBody>
        </p:sp>
        <p:pic>
          <p:nvPicPr>
            <p:cNvPr id="48" name="Picture 47" descr="Icon&#10;&#10;Description automatically generated">
              <a:extLst>
                <a:ext uri="{FF2B5EF4-FFF2-40B4-BE49-F238E27FC236}">
                  <a16:creationId xmlns:a16="http://schemas.microsoft.com/office/drawing/2014/main" id="{DD1C9F32-9703-D418-8024-2F0FAB1DC43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627395" y="341095"/>
              <a:ext cx="385516" cy="385516"/>
            </a:xfrm>
            <a:prstGeom prst="rect">
              <a:avLst/>
            </a:prstGeom>
          </p:spPr>
        </p:pic>
        <p:sp>
          <p:nvSpPr>
            <p:cNvPr id="43" name="Rectangle 42">
              <a:extLst>
                <a:ext uri="{FF2B5EF4-FFF2-40B4-BE49-F238E27FC236}">
                  <a16:creationId xmlns:a16="http://schemas.microsoft.com/office/drawing/2014/main" id="{1605C597-97A1-7732-D2D7-0A2BC3703244}"/>
                </a:ext>
              </a:extLst>
            </p:cNvPr>
            <p:cNvSpPr/>
            <p:nvPr/>
          </p:nvSpPr>
          <p:spPr>
            <a:xfrm>
              <a:off x="7902621" y="1479993"/>
              <a:ext cx="3419021" cy="302554"/>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a:solidFill>
                    <a:schemeClr val="tx1"/>
                  </a:solidFill>
                </a:rPr>
                <a:t>Safety Topics (Hours) </a:t>
              </a:r>
            </a:p>
          </p:txBody>
        </p:sp>
        <p:sp>
          <p:nvSpPr>
            <p:cNvPr id="44" name="Rectangle 43">
              <a:extLst>
                <a:ext uri="{FF2B5EF4-FFF2-40B4-BE49-F238E27FC236}">
                  <a16:creationId xmlns:a16="http://schemas.microsoft.com/office/drawing/2014/main" id="{327C2B8F-5DBB-AEEB-1ECB-C723A7229924}"/>
                </a:ext>
              </a:extLst>
            </p:cNvPr>
            <p:cNvSpPr/>
            <p:nvPr/>
          </p:nvSpPr>
          <p:spPr>
            <a:xfrm>
              <a:off x="10341574" y="1466673"/>
              <a:ext cx="914400" cy="338554"/>
            </a:xfrm>
            <a:prstGeom prst="rect">
              <a:avLst/>
            </a:prstGeom>
          </p:spPr>
          <p:txBody>
            <a:bodyPr wrap="none" anchor="ctr">
              <a:normAutofit/>
            </a:bodyPr>
            <a:lstStyle/>
            <a:p>
              <a:pPr algn="r">
                <a:spcBef>
                  <a:spcPts val="600"/>
                </a:spcBef>
              </a:pPr>
              <a:r>
                <a:rPr lang="en-US" sz="1200" dirty="0"/>
                <a:t>33 %</a:t>
              </a:r>
            </a:p>
          </p:txBody>
        </p:sp>
      </p:grpSp>
      <p:grpSp>
        <p:nvGrpSpPr>
          <p:cNvPr id="49" name="Group 48">
            <a:extLst>
              <a:ext uri="{FF2B5EF4-FFF2-40B4-BE49-F238E27FC236}">
                <a16:creationId xmlns:a16="http://schemas.microsoft.com/office/drawing/2014/main" id="{33D9FD6D-94F1-5F24-41D1-C837397BE3AE}"/>
              </a:ext>
            </a:extLst>
          </p:cNvPr>
          <p:cNvGrpSpPr/>
          <p:nvPr/>
        </p:nvGrpSpPr>
        <p:grpSpPr>
          <a:xfrm>
            <a:off x="323061" y="520950"/>
            <a:ext cx="7309038" cy="2567512"/>
            <a:chOff x="323061" y="520950"/>
            <a:chExt cx="7309038" cy="2567512"/>
          </a:xfrm>
        </p:grpSpPr>
        <p:grpSp>
          <p:nvGrpSpPr>
            <p:cNvPr id="12" name="Group 11">
              <a:extLst>
                <a:ext uri="{FF2B5EF4-FFF2-40B4-BE49-F238E27FC236}">
                  <a16:creationId xmlns:a16="http://schemas.microsoft.com/office/drawing/2014/main" id="{662411DF-15D3-DD42-FB34-1B175DFE9B7B}"/>
                </a:ext>
              </a:extLst>
            </p:cNvPr>
            <p:cNvGrpSpPr/>
            <p:nvPr/>
          </p:nvGrpSpPr>
          <p:grpSpPr>
            <a:xfrm>
              <a:off x="323061" y="520950"/>
              <a:ext cx="7309038" cy="2567512"/>
              <a:chOff x="189015" y="237486"/>
              <a:chExt cx="7309038" cy="2567512"/>
            </a:xfrm>
          </p:grpSpPr>
          <p:grpSp>
            <p:nvGrpSpPr>
              <p:cNvPr id="16" name="Group 15">
                <a:extLst>
                  <a:ext uri="{FF2B5EF4-FFF2-40B4-BE49-F238E27FC236}">
                    <a16:creationId xmlns:a16="http://schemas.microsoft.com/office/drawing/2014/main" id="{91F3FDED-AE9D-D39C-0372-3947460825D9}"/>
                  </a:ext>
                  <a:ext uri="{C183D7F6-B498-43B3-948B-1728B52AA6E4}">
                    <adec:decorative xmlns:adec="http://schemas.microsoft.com/office/drawing/2017/decorative" val="1"/>
                  </a:ext>
                </a:extLst>
              </p:cNvPr>
              <p:cNvGrpSpPr/>
              <p:nvPr/>
            </p:nvGrpSpPr>
            <p:grpSpPr>
              <a:xfrm>
                <a:off x="4079032" y="590410"/>
                <a:ext cx="3419021" cy="2214588"/>
                <a:chOff x="304800" y="1577182"/>
                <a:chExt cx="3419021" cy="2214588"/>
              </a:xfrm>
              <a:effectLst>
                <a:outerShdw blurRad="50800" dist="38100" dir="5400000" algn="t" rotWithShape="0">
                  <a:prstClr val="black">
                    <a:alpha val="20000"/>
                  </a:prstClr>
                </a:outerShdw>
              </a:effectLst>
            </p:grpSpPr>
            <p:sp>
              <p:nvSpPr>
                <p:cNvPr id="26" name="Rectangle 25">
                  <a:extLst>
                    <a:ext uri="{FF2B5EF4-FFF2-40B4-BE49-F238E27FC236}">
                      <a16:creationId xmlns:a16="http://schemas.microsoft.com/office/drawing/2014/main" id="{F30CDEA1-D983-EEFD-19C0-8D7DDAA4B04D}"/>
                    </a:ext>
                  </a:extLst>
                </p:cNvPr>
                <p:cNvSpPr/>
                <p:nvPr/>
              </p:nvSpPr>
              <p:spPr>
                <a:xfrm>
                  <a:off x="304800" y="1577182"/>
                  <a:ext cx="3419021" cy="1795488"/>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2400" b="1" dirty="0">
                      <a:latin typeface="+mj-lt"/>
                    </a:rPr>
                    <a:t>1,728 Hours YTD </a:t>
                  </a:r>
                </a:p>
              </p:txBody>
            </p:sp>
            <p:sp>
              <p:nvSpPr>
                <p:cNvPr id="27" name="Rectangle 26">
                  <a:extLst>
                    <a:ext uri="{FF2B5EF4-FFF2-40B4-BE49-F238E27FC236}">
                      <a16:creationId xmlns:a16="http://schemas.microsoft.com/office/drawing/2014/main" id="{D25D7A0C-EAA0-A881-0C3E-1FC69AFD58ED}"/>
                    </a:ext>
                  </a:extLst>
                </p:cNvPr>
                <p:cNvSpPr/>
                <p:nvPr/>
              </p:nvSpPr>
              <p:spPr>
                <a:xfrm>
                  <a:off x="304801" y="3372670"/>
                  <a:ext cx="3419020"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lumMod val="75000"/>
                          <a:lumOff val="25000"/>
                        </a:schemeClr>
                      </a:solidFill>
                    </a:rPr>
                    <a:t>Average per Employee: 10 Hours</a:t>
                  </a:r>
                </a:p>
              </p:txBody>
            </p:sp>
          </p:grpSp>
          <p:sp>
            <p:nvSpPr>
              <p:cNvPr id="17" name="Oval 16">
                <a:extLst>
                  <a:ext uri="{FF2B5EF4-FFF2-40B4-BE49-F238E27FC236}">
                    <a16:creationId xmlns:a16="http://schemas.microsoft.com/office/drawing/2014/main" id="{24ADDF99-C93D-B746-E1B4-25661C0BF1E3}"/>
                  </a:ext>
                  <a:ext uri="{C183D7F6-B498-43B3-948B-1728B52AA6E4}">
                    <adec:decorative xmlns:adec="http://schemas.microsoft.com/office/drawing/2017/decorative" val="1"/>
                  </a:ext>
                </a:extLst>
              </p:cNvPr>
              <p:cNvSpPr/>
              <p:nvPr/>
            </p:nvSpPr>
            <p:spPr>
              <a:xfrm>
                <a:off x="5433201" y="255473"/>
                <a:ext cx="657225" cy="657225"/>
              </a:xfrm>
              <a:prstGeom prst="ellipse">
                <a:avLst/>
              </a:prstGeom>
              <a:solidFill>
                <a:schemeClr val="bg1"/>
              </a:solidFill>
              <a:ln w="28575">
                <a:solidFill>
                  <a:schemeClr val="accent3">
                    <a:lumMod val="50000"/>
                  </a:scheme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Group 17">
                <a:extLst>
                  <a:ext uri="{FF2B5EF4-FFF2-40B4-BE49-F238E27FC236}">
                    <a16:creationId xmlns:a16="http://schemas.microsoft.com/office/drawing/2014/main" id="{D7AA0982-52C7-EA49-AAC5-22819AAB584F}"/>
                  </a:ext>
                  <a:ext uri="{C183D7F6-B498-43B3-948B-1728B52AA6E4}">
                    <adec:decorative xmlns:adec="http://schemas.microsoft.com/office/drawing/2017/decorative" val="1"/>
                  </a:ext>
                </a:extLst>
              </p:cNvPr>
              <p:cNvGrpSpPr/>
              <p:nvPr/>
            </p:nvGrpSpPr>
            <p:grpSpPr>
              <a:xfrm>
                <a:off x="189015" y="572423"/>
                <a:ext cx="3419021" cy="2214588"/>
                <a:chOff x="304800" y="1577182"/>
                <a:chExt cx="3419021" cy="2214588"/>
              </a:xfrm>
              <a:effectLst>
                <a:outerShdw blurRad="50800" dist="38100" dir="5400000" algn="t" rotWithShape="0">
                  <a:prstClr val="black">
                    <a:alpha val="20000"/>
                  </a:prstClr>
                </a:outerShdw>
              </a:effectLst>
            </p:grpSpPr>
            <p:sp>
              <p:nvSpPr>
                <p:cNvPr id="24" name="Rectangle 23">
                  <a:extLst>
                    <a:ext uri="{FF2B5EF4-FFF2-40B4-BE49-F238E27FC236}">
                      <a16:creationId xmlns:a16="http://schemas.microsoft.com/office/drawing/2014/main" id="{A1B46DF1-DACE-431B-58AD-3BD7B6D61257}"/>
                    </a:ext>
                  </a:extLst>
                </p:cNvPr>
                <p:cNvSpPr/>
                <p:nvPr/>
              </p:nvSpPr>
              <p:spPr>
                <a:xfrm>
                  <a:off x="304800" y="1577182"/>
                  <a:ext cx="3419021" cy="179548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en-US" sz="3600" b="1" dirty="0">
                      <a:latin typeface="+mj-lt"/>
                    </a:rPr>
                    <a:t>$ 507,500</a:t>
                  </a:r>
                </a:p>
              </p:txBody>
            </p:sp>
            <p:sp>
              <p:nvSpPr>
                <p:cNvPr id="25" name="Rectangle 24">
                  <a:extLst>
                    <a:ext uri="{FF2B5EF4-FFF2-40B4-BE49-F238E27FC236}">
                      <a16:creationId xmlns:a16="http://schemas.microsoft.com/office/drawing/2014/main" id="{50F1303E-15E3-7F72-31F0-ACE1A958C904}"/>
                    </a:ext>
                  </a:extLst>
                </p:cNvPr>
                <p:cNvSpPr/>
                <p:nvPr/>
              </p:nvSpPr>
              <p:spPr>
                <a:xfrm>
                  <a:off x="322053" y="3372670"/>
                  <a:ext cx="3401768" cy="419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75000"/>
                          <a:lumOff val="25000"/>
                        </a:schemeClr>
                      </a:solidFill>
                    </a:rPr>
                    <a:t>Actual: </a:t>
                  </a:r>
                  <a:r>
                    <a:rPr lang="en-US" b="1" dirty="0">
                      <a:solidFill>
                        <a:schemeClr val="accent1"/>
                      </a:solidFill>
                    </a:rPr>
                    <a:t>35,462.00 $</a:t>
                  </a:r>
                </a:p>
              </p:txBody>
            </p:sp>
          </p:grpSp>
          <p:sp>
            <p:nvSpPr>
              <p:cNvPr id="19" name="Oval 18">
                <a:extLst>
                  <a:ext uri="{FF2B5EF4-FFF2-40B4-BE49-F238E27FC236}">
                    <a16:creationId xmlns:a16="http://schemas.microsoft.com/office/drawing/2014/main" id="{AAD7C834-04ED-602B-346C-5EC90EF40EA2}"/>
                  </a:ext>
                  <a:ext uri="{C183D7F6-B498-43B3-948B-1728B52AA6E4}">
                    <adec:decorative xmlns:adec="http://schemas.microsoft.com/office/drawing/2017/decorative" val="1"/>
                  </a:ext>
                </a:extLst>
              </p:cNvPr>
              <p:cNvSpPr/>
              <p:nvPr/>
            </p:nvSpPr>
            <p:spPr>
              <a:xfrm>
                <a:off x="1569913" y="237486"/>
                <a:ext cx="657225" cy="657225"/>
              </a:xfrm>
              <a:prstGeom prst="ellipse">
                <a:avLst/>
              </a:prstGeom>
              <a:solidFill>
                <a:schemeClr val="bg1"/>
              </a:solidFill>
              <a:ln w="28575">
                <a:solidFill>
                  <a:schemeClr val="tx1"/>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88CF1C22-DBBD-3E9C-920F-BBC3DCFB74F7}"/>
                  </a:ext>
                </a:extLst>
              </p:cNvPr>
              <p:cNvSpPr/>
              <p:nvPr/>
            </p:nvSpPr>
            <p:spPr>
              <a:xfrm>
                <a:off x="5091705" y="934898"/>
                <a:ext cx="1265603" cy="307777"/>
              </a:xfrm>
              <a:prstGeom prst="rect">
                <a:avLst/>
              </a:prstGeom>
            </p:spPr>
            <p:txBody>
              <a:bodyPr wrap="none">
                <a:spAutoFit/>
              </a:bodyPr>
              <a:lstStyle/>
              <a:p>
                <a:pPr algn="ctr">
                  <a:spcBef>
                    <a:spcPts val="600"/>
                  </a:spcBef>
                </a:pPr>
                <a:r>
                  <a:rPr lang="en-US" sz="1400" dirty="0">
                    <a:solidFill>
                      <a:schemeClr val="bg1"/>
                    </a:solidFill>
                  </a:rPr>
                  <a:t>Training Hours</a:t>
                </a:r>
              </a:p>
            </p:txBody>
          </p:sp>
          <p:sp>
            <p:nvSpPr>
              <p:cNvPr id="42" name="Rectangle 41">
                <a:extLst>
                  <a:ext uri="{FF2B5EF4-FFF2-40B4-BE49-F238E27FC236}">
                    <a16:creationId xmlns:a16="http://schemas.microsoft.com/office/drawing/2014/main" id="{198FE7CA-2D9E-50D8-9C57-C210B1F49D7C}"/>
                  </a:ext>
                </a:extLst>
              </p:cNvPr>
              <p:cNvSpPr/>
              <p:nvPr/>
            </p:nvSpPr>
            <p:spPr>
              <a:xfrm>
                <a:off x="1121040" y="897117"/>
                <a:ext cx="1324786" cy="307777"/>
              </a:xfrm>
              <a:prstGeom prst="rect">
                <a:avLst/>
              </a:prstGeom>
            </p:spPr>
            <p:txBody>
              <a:bodyPr wrap="none">
                <a:spAutoFit/>
              </a:bodyPr>
              <a:lstStyle/>
              <a:p>
                <a:pPr algn="ctr">
                  <a:spcBef>
                    <a:spcPts val="600"/>
                  </a:spcBef>
                </a:pPr>
                <a:r>
                  <a:rPr lang="en-US" sz="1400" dirty="0">
                    <a:solidFill>
                      <a:schemeClr val="bg1"/>
                    </a:solidFill>
                  </a:rPr>
                  <a:t>Training Budget</a:t>
                </a:r>
              </a:p>
            </p:txBody>
          </p:sp>
          <p:pic>
            <p:nvPicPr>
              <p:cNvPr id="47" name="Picture 46" descr="Icon&#10;&#10;Description automatically generated">
                <a:extLst>
                  <a:ext uri="{FF2B5EF4-FFF2-40B4-BE49-F238E27FC236}">
                    <a16:creationId xmlns:a16="http://schemas.microsoft.com/office/drawing/2014/main" id="{547626AD-9AC0-7840-96D7-0BA4DF4689D7}"/>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67379" y="431657"/>
                <a:ext cx="462294" cy="316508"/>
              </a:xfrm>
              <a:prstGeom prst="rect">
                <a:avLst/>
              </a:prstGeom>
            </p:spPr>
          </p:pic>
          <p:sp>
            <p:nvSpPr>
              <p:cNvPr id="22" name="Rectangle 21">
                <a:extLst>
                  <a:ext uri="{FF2B5EF4-FFF2-40B4-BE49-F238E27FC236}">
                    <a16:creationId xmlns:a16="http://schemas.microsoft.com/office/drawing/2014/main" id="{D15C8A52-A62D-9F81-DF44-709A8424E54C}"/>
                  </a:ext>
                </a:extLst>
              </p:cNvPr>
              <p:cNvSpPr/>
              <p:nvPr/>
            </p:nvSpPr>
            <p:spPr>
              <a:xfrm>
                <a:off x="4139680" y="1707355"/>
                <a:ext cx="2819400" cy="600164"/>
              </a:xfrm>
              <a:prstGeom prst="rect">
                <a:avLst/>
              </a:prstGeom>
            </p:spPr>
            <p:txBody>
              <a:bodyPr wrap="square">
                <a:spAutoFit/>
              </a:bodyPr>
              <a:lstStyle/>
              <a:p>
                <a:pPr marL="174625" indent="-174625">
                  <a:spcBef>
                    <a:spcPts val="600"/>
                  </a:spcBef>
                  <a:buFont typeface="Segoe UI Light" panose="020B0502040204020203" pitchFamily="34" charset="0"/>
                  <a:buChar char="›"/>
                </a:pPr>
                <a:r>
                  <a:rPr lang="en-US" sz="1400" dirty="0">
                    <a:solidFill>
                      <a:schemeClr val="bg1"/>
                    </a:solidFill>
                  </a:rPr>
                  <a:t>50% % Plant</a:t>
                </a:r>
              </a:p>
              <a:p>
                <a:pPr marL="174625" indent="-174625">
                  <a:spcBef>
                    <a:spcPts val="600"/>
                  </a:spcBef>
                  <a:buFont typeface="Segoe UI Light" panose="020B0502040204020203" pitchFamily="34" charset="0"/>
                  <a:buChar char="›"/>
                </a:pPr>
                <a:r>
                  <a:rPr lang="en-US" sz="1400" dirty="0">
                    <a:solidFill>
                      <a:schemeClr val="bg1"/>
                    </a:solidFill>
                  </a:rPr>
                  <a:t>50% HQ </a:t>
                </a:r>
              </a:p>
            </p:txBody>
          </p:sp>
          <p:sp>
            <p:nvSpPr>
              <p:cNvPr id="23" name="Rectangle 22">
                <a:extLst>
                  <a:ext uri="{FF2B5EF4-FFF2-40B4-BE49-F238E27FC236}">
                    <a16:creationId xmlns:a16="http://schemas.microsoft.com/office/drawing/2014/main" id="{B976EBB5-190C-0BB0-D220-8296F54C558D}"/>
                  </a:ext>
                </a:extLst>
              </p:cNvPr>
              <p:cNvSpPr/>
              <p:nvPr/>
            </p:nvSpPr>
            <p:spPr>
              <a:xfrm>
                <a:off x="876013" y="1728560"/>
                <a:ext cx="2819400" cy="600164"/>
              </a:xfrm>
              <a:prstGeom prst="rect">
                <a:avLst/>
              </a:prstGeom>
            </p:spPr>
            <p:txBody>
              <a:bodyPr wrap="square">
                <a:spAutoFit/>
              </a:bodyPr>
              <a:lstStyle/>
              <a:p>
                <a:pPr marL="174625" indent="-174625">
                  <a:spcBef>
                    <a:spcPts val="600"/>
                  </a:spcBef>
                  <a:buFont typeface="Segoe UI Light" panose="020B0502040204020203" pitchFamily="34" charset="0"/>
                  <a:buChar char="›"/>
                </a:pPr>
                <a:r>
                  <a:rPr lang="en-US" sz="1400" dirty="0">
                    <a:solidFill>
                      <a:schemeClr val="bg1"/>
                    </a:solidFill>
                  </a:rPr>
                  <a:t>65 % Plant</a:t>
                </a:r>
              </a:p>
              <a:p>
                <a:pPr marL="174625" indent="-174625">
                  <a:spcBef>
                    <a:spcPts val="600"/>
                  </a:spcBef>
                  <a:buFont typeface="Segoe UI Light" panose="020B0502040204020203" pitchFamily="34" charset="0"/>
                  <a:buChar char="›"/>
                </a:pPr>
                <a:r>
                  <a:rPr lang="en-US" sz="1400" dirty="0">
                    <a:solidFill>
                      <a:schemeClr val="bg1"/>
                    </a:solidFill>
                  </a:rPr>
                  <a:t>35 % HQ </a:t>
                </a:r>
              </a:p>
            </p:txBody>
          </p:sp>
        </p:grpSp>
        <p:pic>
          <p:nvPicPr>
            <p:cNvPr id="46" name="Picture 45">
              <a:extLst>
                <a:ext uri="{FF2B5EF4-FFF2-40B4-BE49-F238E27FC236}">
                  <a16:creationId xmlns:a16="http://schemas.microsoft.com/office/drawing/2014/main" id="{1395F205-FD5B-1832-358F-EE93D758350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684055" y="633751"/>
              <a:ext cx="421627" cy="421627"/>
            </a:xfrm>
            <a:prstGeom prst="rect">
              <a:avLst/>
            </a:prstGeom>
          </p:spPr>
        </p:pic>
      </p:grpSp>
    </p:spTree>
    <p:extLst>
      <p:ext uri="{BB962C8B-B14F-4D97-AF65-F5344CB8AC3E}">
        <p14:creationId xmlns:p14="http://schemas.microsoft.com/office/powerpoint/2010/main" val="7480620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A5A18D0C-8FDD-91A7-75AE-76344C21FAD0}"/>
              </a:ext>
            </a:extLst>
          </p:cNvPr>
          <p:cNvSpPr txBox="1"/>
          <p:nvPr/>
        </p:nvSpPr>
        <p:spPr>
          <a:xfrm>
            <a:off x="7481674" y="685825"/>
            <a:ext cx="3757837" cy="246221"/>
          </a:xfrm>
          <a:prstGeom prst="rect">
            <a:avLst/>
          </a:prstGeom>
          <a:noFill/>
          <a:ln w="6350">
            <a:noFill/>
            <a:prstDash val="dash"/>
          </a:ln>
        </p:spPr>
        <p:txBody>
          <a:bodyPr wrap="square" lIns="0" tIns="0" rIns="0" bIns="0" rtlCol="0">
            <a:spAutoFit/>
          </a:bodyPr>
          <a:lstStyle/>
          <a:p>
            <a:r>
              <a:rPr lang="fr" sz="1600" b="1">
                <a:solidFill>
                  <a:schemeClr val="accent1">
                    <a:lumMod val="50000"/>
                  </a:schemeClr>
                </a:solidFill>
              </a:rPr>
              <a:t>Agriculture -</a:t>
            </a:r>
          </a:p>
        </p:txBody>
      </p:sp>
      <p:graphicFrame>
        <p:nvGraphicFramePr>
          <p:cNvPr id="13" name="Chart 12">
            <a:extLst>
              <a:ext uri="{FF2B5EF4-FFF2-40B4-BE49-F238E27FC236}">
                <a16:creationId xmlns:a16="http://schemas.microsoft.com/office/drawing/2014/main" id="{DB044F4B-BBE0-7CBB-F003-4EAAB3EF5F2B}"/>
              </a:ext>
            </a:extLst>
          </p:cNvPr>
          <p:cNvGraphicFramePr/>
          <p:nvPr/>
        </p:nvGraphicFramePr>
        <p:xfrm>
          <a:off x="5990415" y="581350"/>
          <a:ext cx="1664752" cy="1388100"/>
        </p:xfrm>
        <a:graphic>
          <a:graphicData uri="http://schemas.openxmlformats.org/drawingml/2006/chart">
            <c:chart xmlns:c="http://schemas.openxmlformats.org/drawingml/2006/chart" xmlns:r="http://schemas.openxmlformats.org/officeDocument/2006/relationships" r:id="rId2"/>
          </a:graphicData>
        </a:graphic>
      </p:graphicFrame>
      <p:sp>
        <p:nvSpPr>
          <p:cNvPr id="14" name="Oval 13">
            <a:extLst>
              <a:ext uri="{FF2B5EF4-FFF2-40B4-BE49-F238E27FC236}">
                <a16:creationId xmlns:a16="http://schemas.microsoft.com/office/drawing/2014/main" id="{0EB2F74C-B960-4637-C730-06B43E3F4C46}"/>
              </a:ext>
            </a:extLst>
          </p:cNvPr>
          <p:cNvSpPr/>
          <p:nvPr/>
        </p:nvSpPr>
        <p:spPr>
          <a:xfrm>
            <a:off x="6370285" y="844595"/>
            <a:ext cx="861613" cy="86161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D3926323-656F-DCDB-6A35-153889D35BCD}"/>
              </a:ext>
            </a:extLst>
          </p:cNvPr>
          <p:cNvGrpSpPr/>
          <p:nvPr/>
        </p:nvGrpSpPr>
        <p:grpSpPr>
          <a:xfrm>
            <a:off x="7478449" y="2312488"/>
            <a:ext cx="4469575" cy="1487530"/>
            <a:chOff x="7456443" y="5306550"/>
            <a:chExt cx="5037249" cy="1487530"/>
          </a:xfrm>
        </p:grpSpPr>
        <p:sp>
          <p:nvSpPr>
            <p:cNvPr id="16" name="TextBox 15">
              <a:extLst>
                <a:ext uri="{FF2B5EF4-FFF2-40B4-BE49-F238E27FC236}">
                  <a16:creationId xmlns:a16="http://schemas.microsoft.com/office/drawing/2014/main" id="{ECFB290F-5F0A-AA68-645A-4710E8FB0B4B}"/>
                </a:ext>
              </a:extLst>
            </p:cNvPr>
            <p:cNvSpPr txBox="1"/>
            <p:nvPr/>
          </p:nvSpPr>
          <p:spPr>
            <a:xfrm>
              <a:off x="7456443" y="5609140"/>
              <a:ext cx="4734893" cy="1184940"/>
            </a:xfrm>
            <a:prstGeom prst="rect">
              <a:avLst/>
            </a:prstGeom>
            <a:noFill/>
            <a:ln w="6350">
              <a:noFill/>
              <a:prstDash val="dash"/>
            </a:ln>
          </p:spPr>
          <p:txBody>
            <a:bodyPr wrap="square" lIns="0" tIns="0" rIns="0" bIns="0" rtlCol="0">
              <a:spAutoFit/>
            </a:bodyPr>
            <a:lstStyle>
              <a:defPPr>
                <a:defRPr lang="en-US"/>
              </a:defPPr>
              <a:lvl1pPr algn="just">
                <a:defRPr sz="1400"/>
              </a:lvl1pPr>
            </a:lstStyle>
            <a:p>
              <a:pPr marL="171450" indent="-171450">
                <a:buFont typeface="Arial" panose="020B0604020202020204" pitchFamily="34" charset="0"/>
                <a:buChar char="•"/>
                <a:defRPr sz="1100"/>
              </a:pPr>
              <a:r>
                <a:rPr lang="fr-FR" b="1" dirty="0"/>
                <a:t>Malanga Cité and Nkumba</a:t>
              </a:r>
              <a:r>
                <a:rPr lang="fr-FR" dirty="0"/>
                <a:t>: </a:t>
              </a:r>
              <a:r>
                <a:rPr lang="fr-FR" dirty="0" err="1"/>
                <a:t>measures</a:t>
              </a:r>
              <a:r>
                <a:rPr lang="fr-FR" dirty="0"/>
                <a:t> </a:t>
              </a:r>
              <a:r>
                <a:rPr lang="fr-FR" dirty="0" err="1"/>
                <a:t>being</a:t>
              </a:r>
              <a:r>
                <a:rPr lang="fr-FR" dirty="0"/>
                <a:t> </a:t>
              </a:r>
              <a:r>
                <a:rPr lang="fr-FR" dirty="0" err="1"/>
                <a:t>taken</a:t>
              </a:r>
              <a:r>
                <a:rPr lang="fr-FR" dirty="0"/>
                <a:t> to </a:t>
              </a:r>
              <a:r>
                <a:rPr lang="fr-FR" dirty="0" err="1"/>
                <a:t>rehabilitate</a:t>
              </a:r>
              <a:r>
                <a:rPr lang="fr-FR" dirty="0"/>
                <a:t> the football </a:t>
              </a:r>
              <a:r>
                <a:rPr lang="fr-FR" dirty="0" err="1"/>
                <a:t>field</a:t>
              </a:r>
              <a:r>
                <a:rPr lang="fr-FR" dirty="0"/>
                <a:t>. </a:t>
              </a:r>
            </a:p>
            <a:p>
              <a:pPr marL="171450" indent="-171450">
                <a:buFont typeface="Arial" panose="020B0604020202020204" pitchFamily="34" charset="0"/>
                <a:buChar char="•"/>
                <a:defRPr sz="1100"/>
              </a:pPr>
              <a:endParaRPr lang="fr-FR" dirty="0"/>
            </a:p>
            <a:p>
              <a:pPr marL="171450" indent="-171450">
                <a:buFont typeface="Arial" panose="020B0604020202020204" pitchFamily="34" charset="0"/>
                <a:buChar char="•"/>
                <a:defRPr sz="1100"/>
              </a:pPr>
              <a:r>
                <a:rPr lang="fr-FR" b="1" dirty="0"/>
                <a:t>Quotation </a:t>
              </a:r>
              <a:r>
                <a:rPr lang="fr-FR" b="1" dirty="0" err="1"/>
                <a:t>received</a:t>
              </a:r>
              <a:r>
                <a:rPr lang="fr-FR" b="1" dirty="0"/>
                <a:t> and </a:t>
              </a:r>
              <a:r>
                <a:rPr lang="fr-FR" b="1" dirty="0" err="1"/>
                <a:t>submitted</a:t>
              </a:r>
              <a:r>
                <a:rPr lang="fr-FR" b="1" dirty="0"/>
                <a:t> for </a:t>
              </a:r>
              <a:r>
                <a:rPr lang="fr-FR" b="1" dirty="0" err="1"/>
                <a:t>review</a:t>
              </a:r>
              <a:r>
                <a:rPr lang="fr-FR" b="1" dirty="0"/>
                <a:t> and validation.</a:t>
              </a:r>
            </a:p>
            <a:p>
              <a:pPr marL="171450" indent="-171450">
                <a:buFont typeface="Arial" panose="020B0604020202020204" pitchFamily="34" charset="0"/>
                <a:buChar char="•"/>
                <a:defRPr sz="1100"/>
              </a:pPr>
              <a:endParaRPr lang="fr-FR" dirty="0"/>
            </a:p>
            <a:p>
              <a:pPr marL="171450" indent="-171450">
                <a:buFont typeface="Arial" panose="020B0604020202020204" pitchFamily="34" charset="0"/>
                <a:buChar char="•"/>
                <a:defRPr sz="1100"/>
              </a:pPr>
              <a:r>
                <a:rPr lang="fr-FR" b="1" dirty="0"/>
                <a:t>Malanga Gare:</a:t>
              </a:r>
              <a:r>
                <a:rPr lang="fr-FR" dirty="0"/>
                <a:t> A land dispute has </a:t>
              </a:r>
              <a:r>
                <a:rPr lang="fr-FR" dirty="0" err="1"/>
                <a:t>arisen</a:t>
              </a:r>
              <a:r>
                <a:rPr lang="fr-FR" dirty="0"/>
                <a:t> </a:t>
              </a:r>
              <a:r>
                <a:rPr lang="fr-FR" dirty="0" err="1"/>
                <a:t>with</a:t>
              </a:r>
              <a:r>
                <a:rPr lang="fr-FR" dirty="0"/>
                <a:t> the KUZI </a:t>
              </a:r>
              <a:r>
                <a:rPr lang="fr-FR" dirty="0" err="1"/>
                <a:t>community</a:t>
              </a:r>
              <a:r>
                <a:rPr lang="fr-FR" dirty="0"/>
                <a:t>, </a:t>
              </a:r>
              <a:r>
                <a:rPr lang="fr-FR" dirty="0" err="1"/>
                <a:t>which</a:t>
              </a:r>
              <a:r>
                <a:rPr lang="fr-FR" dirty="0"/>
                <a:t> claims to </a:t>
              </a:r>
              <a:r>
                <a:rPr lang="fr-FR" dirty="0" err="1"/>
                <a:t>be</a:t>
              </a:r>
              <a:r>
                <a:rPr lang="fr-FR" dirty="0"/>
                <a:t> the </a:t>
              </a:r>
              <a:r>
                <a:rPr lang="fr-FR" dirty="0" err="1"/>
                <a:t>rightful</a:t>
              </a:r>
              <a:r>
                <a:rPr lang="fr-FR" dirty="0"/>
                <a:t> </a:t>
              </a:r>
              <a:r>
                <a:rPr lang="fr-FR" dirty="0" err="1"/>
                <a:t>landowners</a:t>
              </a:r>
              <a:r>
                <a:rPr lang="fr-FR" dirty="0"/>
                <a:t>.</a:t>
              </a:r>
              <a:endParaRPr lang="en-US" dirty="0"/>
            </a:p>
          </p:txBody>
        </p:sp>
        <p:sp>
          <p:nvSpPr>
            <p:cNvPr id="17" name="TextBox 16">
              <a:extLst>
                <a:ext uri="{FF2B5EF4-FFF2-40B4-BE49-F238E27FC236}">
                  <a16:creationId xmlns:a16="http://schemas.microsoft.com/office/drawing/2014/main" id="{033D6BF9-E171-5972-8099-974ABE2780A5}"/>
                </a:ext>
              </a:extLst>
            </p:cNvPr>
            <p:cNvSpPr txBox="1"/>
            <p:nvPr/>
          </p:nvSpPr>
          <p:spPr>
            <a:xfrm>
              <a:off x="7456444" y="5306550"/>
              <a:ext cx="5037248" cy="246221"/>
            </a:xfrm>
            <a:prstGeom prst="rect">
              <a:avLst/>
            </a:prstGeom>
            <a:noFill/>
            <a:ln w="6350">
              <a:noFill/>
              <a:prstDash val="dash"/>
            </a:ln>
          </p:spPr>
          <p:txBody>
            <a:bodyPr wrap="square" lIns="0" tIns="0" rIns="0" bIns="0" rtlCol="0">
              <a:spAutoFit/>
            </a:bodyPr>
            <a:lstStyle/>
            <a:p>
              <a:r>
                <a:rPr lang="fr-FR" sz="1600" b="1" dirty="0">
                  <a:solidFill>
                    <a:schemeClr val="accent1">
                      <a:lumMod val="50000"/>
                    </a:schemeClr>
                  </a:solidFill>
                </a:rPr>
                <a:t>Leisure</a:t>
              </a:r>
              <a:endParaRPr lang="fr" sz="1600" b="1" dirty="0">
                <a:solidFill>
                  <a:schemeClr val="accent1">
                    <a:lumMod val="50000"/>
                  </a:schemeClr>
                </a:solidFill>
              </a:endParaRPr>
            </a:p>
          </p:txBody>
        </p:sp>
      </p:grpSp>
      <p:graphicFrame>
        <p:nvGraphicFramePr>
          <p:cNvPr id="18" name="Chart 17">
            <a:extLst>
              <a:ext uri="{FF2B5EF4-FFF2-40B4-BE49-F238E27FC236}">
                <a16:creationId xmlns:a16="http://schemas.microsoft.com/office/drawing/2014/main" id="{62E0E890-2D36-5123-877C-12E49F7D7F36}"/>
              </a:ext>
            </a:extLst>
          </p:cNvPr>
          <p:cNvGraphicFramePr/>
          <p:nvPr/>
        </p:nvGraphicFramePr>
        <p:xfrm>
          <a:off x="5978989" y="2112468"/>
          <a:ext cx="1664752" cy="1388100"/>
        </p:xfrm>
        <a:graphic>
          <a:graphicData uri="http://schemas.openxmlformats.org/drawingml/2006/chart">
            <c:chart xmlns:c="http://schemas.openxmlformats.org/drawingml/2006/chart" xmlns:r="http://schemas.openxmlformats.org/officeDocument/2006/relationships" r:id="rId3"/>
          </a:graphicData>
        </a:graphic>
      </p:graphicFrame>
      <p:sp>
        <p:nvSpPr>
          <p:cNvPr id="19" name="Oval 18">
            <a:extLst>
              <a:ext uri="{FF2B5EF4-FFF2-40B4-BE49-F238E27FC236}">
                <a16:creationId xmlns:a16="http://schemas.microsoft.com/office/drawing/2014/main" id="{40D70F94-F2E1-690D-F21D-B3CF4CE3D9B4}"/>
              </a:ext>
            </a:extLst>
          </p:cNvPr>
          <p:cNvSpPr/>
          <p:nvPr/>
        </p:nvSpPr>
        <p:spPr>
          <a:xfrm>
            <a:off x="6380559" y="2375711"/>
            <a:ext cx="861613" cy="86161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39513C98-A132-3720-B489-EFF48AD8E98D}"/>
              </a:ext>
            </a:extLst>
          </p:cNvPr>
          <p:cNvCxnSpPr/>
          <p:nvPr/>
        </p:nvCxnSpPr>
        <p:spPr>
          <a:xfrm>
            <a:off x="6370285" y="1642035"/>
            <a:ext cx="491245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953A438-66B3-41EF-2C72-E915AD7AF94A}"/>
              </a:ext>
            </a:extLst>
          </p:cNvPr>
          <p:cNvCxnSpPr/>
          <p:nvPr/>
        </p:nvCxnSpPr>
        <p:spPr>
          <a:xfrm>
            <a:off x="6360011" y="-781650"/>
            <a:ext cx="4912459" cy="0"/>
          </a:xfrm>
          <a:prstGeom prst="line">
            <a:avLst/>
          </a:prstGeom>
          <a:ln>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9" name="Freeform 3886">
            <a:extLst>
              <a:ext uri="{FF2B5EF4-FFF2-40B4-BE49-F238E27FC236}">
                <a16:creationId xmlns:a16="http://schemas.microsoft.com/office/drawing/2014/main" id="{FCE67B8E-8514-39B5-210E-F2CE15D74407}"/>
              </a:ext>
            </a:extLst>
          </p:cNvPr>
          <p:cNvSpPr>
            <a:spLocks noEditPoints="1"/>
          </p:cNvSpPr>
          <p:nvPr/>
        </p:nvSpPr>
        <p:spPr bwMode="auto">
          <a:xfrm>
            <a:off x="1979627" y="1983722"/>
            <a:ext cx="486284" cy="483596"/>
          </a:xfrm>
          <a:custGeom>
            <a:avLst/>
            <a:gdLst>
              <a:gd name="T0" fmla="*/ 268 w 902"/>
              <a:gd name="T1" fmla="*/ 575 h 901"/>
              <a:gd name="T2" fmla="*/ 207 w 902"/>
              <a:gd name="T3" fmla="*/ 555 h 901"/>
              <a:gd name="T4" fmla="*/ 155 w 902"/>
              <a:gd name="T5" fmla="*/ 520 h 901"/>
              <a:gd name="T6" fmla="*/ 112 w 902"/>
              <a:gd name="T7" fmla="*/ 475 h 901"/>
              <a:gd name="T8" fmla="*/ 81 w 902"/>
              <a:gd name="T9" fmla="*/ 422 h 901"/>
              <a:gd name="T10" fmla="*/ 64 w 902"/>
              <a:gd name="T11" fmla="*/ 360 h 901"/>
              <a:gd name="T12" fmla="*/ 61 w 902"/>
              <a:gd name="T13" fmla="*/ 294 h 901"/>
              <a:gd name="T14" fmla="*/ 76 w 902"/>
              <a:gd name="T15" fmla="*/ 231 h 901"/>
              <a:gd name="T16" fmla="*/ 104 w 902"/>
              <a:gd name="T17" fmla="*/ 175 h 901"/>
              <a:gd name="T18" fmla="*/ 145 w 902"/>
              <a:gd name="T19" fmla="*/ 128 h 901"/>
              <a:gd name="T20" fmla="*/ 197 w 902"/>
              <a:gd name="T21" fmla="*/ 92 h 901"/>
              <a:gd name="T22" fmla="*/ 256 w 902"/>
              <a:gd name="T23" fmla="*/ 69 h 901"/>
              <a:gd name="T24" fmla="*/ 320 w 902"/>
              <a:gd name="T25" fmla="*/ 60 h 901"/>
              <a:gd name="T26" fmla="*/ 385 w 902"/>
              <a:gd name="T27" fmla="*/ 69 h 901"/>
              <a:gd name="T28" fmla="*/ 444 w 902"/>
              <a:gd name="T29" fmla="*/ 92 h 901"/>
              <a:gd name="T30" fmla="*/ 495 w 902"/>
              <a:gd name="T31" fmla="*/ 128 h 901"/>
              <a:gd name="T32" fmla="*/ 537 w 902"/>
              <a:gd name="T33" fmla="*/ 175 h 901"/>
              <a:gd name="T34" fmla="*/ 564 w 902"/>
              <a:gd name="T35" fmla="*/ 231 h 901"/>
              <a:gd name="T36" fmla="*/ 579 w 902"/>
              <a:gd name="T37" fmla="*/ 294 h 901"/>
              <a:gd name="T38" fmla="*/ 577 w 902"/>
              <a:gd name="T39" fmla="*/ 360 h 901"/>
              <a:gd name="T40" fmla="*/ 560 w 902"/>
              <a:gd name="T41" fmla="*/ 422 h 901"/>
              <a:gd name="T42" fmla="*/ 529 w 902"/>
              <a:gd name="T43" fmla="*/ 475 h 901"/>
              <a:gd name="T44" fmla="*/ 486 w 902"/>
              <a:gd name="T45" fmla="*/ 520 h 901"/>
              <a:gd name="T46" fmla="*/ 432 w 902"/>
              <a:gd name="T47" fmla="*/ 555 h 901"/>
              <a:gd name="T48" fmla="*/ 372 w 902"/>
              <a:gd name="T49" fmla="*/ 575 h 901"/>
              <a:gd name="T50" fmla="*/ 320 w 902"/>
              <a:gd name="T51" fmla="*/ 580 h 901"/>
              <a:gd name="T52" fmla="*/ 591 w 902"/>
              <a:gd name="T53" fmla="*/ 491 h 901"/>
              <a:gd name="T54" fmla="*/ 621 w 902"/>
              <a:gd name="T55" fmla="*/ 430 h 901"/>
              <a:gd name="T56" fmla="*/ 637 w 902"/>
              <a:gd name="T57" fmla="*/ 363 h 901"/>
              <a:gd name="T58" fmla="*/ 638 w 902"/>
              <a:gd name="T59" fmla="*/ 288 h 901"/>
              <a:gd name="T60" fmla="*/ 621 w 902"/>
              <a:gd name="T61" fmla="*/ 211 h 901"/>
              <a:gd name="T62" fmla="*/ 586 w 902"/>
              <a:gd name="T63" fmla="*/ 142 h 901"/>
              <a:gd name="T64" fmla="*/ 535 w 902"/>
              <a:gd name="T65" fmla="*/ 83 h 901"/>
              <a:gd name="T66" fmla="*/ 473 w 902"/>
              <a:gd name="T67" fmla="*/ 39 h 901"/>
              <a:gd name="T68" fmla="*/ 400 w 902"/>
              <a:gd name="T69" fmla="*/ 10 h 901"/>
              <a:gd name="T70" fmla="*/ 320 w 902"/>
              <a:gd name="T71" fmla="*/ 0 h 901"/>
              <a:gd name="T72" fmla="*/ 241 w 902"/>
              <a:gd name="T73" fmla="*/ 10 h 901"/>
              <a:gd name="T74" fmla="*/ 168 w 902"/>
              <a:gd name="T75" fmla="*/ 39 h 901"/>
              <a:gd name="T76" fmla="*/ 105 w 902"/>
              <a:gd name="T77" fmla="*/ 83 h 901"/>
              <a:gd name="T78" fmla="*/ 55 w 902"/>
              <a:gd name="T79" fmla="*/ 142 h 901"/>
              <a:gd name="T80" fmla="*/ 20 w 902"/>
              <a:gd name="T81" fmla="*/ 211 h 901"/>
              <a:gd name="T82" fmla="*/ 1 w 902"/>
              <a:gd name="T83" fmla="*/ 288 h 901"/>
              <a:gd name="T84" fmla="*/ 3 w 902"/>
              <a:gd name="T85" fmla="*/ 369 h 901"/>
              <a:gd name="T86" fmla="*/ 25 w 902"/>
              <a:gd name="T87" fmla="*/ 445 h 901"/>
              <a:gd name="T88" fmla="*/ 64 w 902"/>
              <a:gd name="T89" fmla="*/ 512 h 901"/>
              <a:gd name="T90" fmla="*/ 117 w 902"/>
              <a:gd name="T91" fmla="*/ 568 h 901"/>
              <a:gd name="T92" fmla="*/ 182 w 902"/>
              <a:gd name="T93" fmla="*/ 608 h 901"/>
              <a:gd name="T94" fmla="*/ 256 w 902"/>
              <a:gd name="T95" fmla="*/ 634 h 901"/>
              <a:gd name="T96" fmla="*/ 335 w 902"/>
              <a:gd name="T97" fmla="*/ 641 h 901"/>
              <a:gd name="T98" fmla="*/ 405 w 902"/>
              <a:gd name="T99" fmla="*/ 630 h 901"/>
              <a:gd name="T100" fmla="*/ 468 w 902"/>
              <a:gd name="T101" fmla="*/ 604 h 901"/>
              <a:gd name="T102" fmla="*/ 525 w 902"/>
              <a:gd name="T103" fmla="*/ 567 h 901"/>
              <a:gd name="T104" fmla="*/ 871 w 902"/>
              <a:gd name="T105" fmla="*/ 901 h 901"/>
              <a:gd name="T106" fmla="*/ 897 w 902"/>
              <a:gd name="T107" fmla="*/ 888 h 901"/>
              <a:gd name="T108" fmla="*/ 899 w 902"/>
              <a:gd name="T109" fmla="*/ 860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02" h="901">
                <a:moveTo>
                  <a:pt x="320" y="580"/>
                </a:moveTo>
                <a:lnTo>
                  <a:pt x="307" y="580"/>
                </a:lnTo>
                <a:lnTo>
                  <a:pt x="294" y="579"/>
                </a:lnTo>
                <a:lnTo>
                  <a:pt x="281" y="577"/>
                </a:lnTo>
                <a:lnTo>
                  <a:pt x="268" y="575"/>
                </a:lnTo>
                <a:lnTo>
                  <a:pt x="256" y="572"/>
                </a:lnTo>
                <a:lnTo>
                  <a:pt x="243" y="569"/>
                </a:lnTo>
                <a:lnTo>
                  <a:pt x="231" y="564"/>
                </a:lnTo>
                <a:lnTo>
                  <a:pt x="219" y="560"/>
                </a:lnTo>
                <a:lnTo>
                  <a:pt x="207" y="555"/>
                </a:lnTo>
                <a:lnTo>
                  <a:pt x="197" y="549"/>
                </a:lnTo>
                <a:lnTo>
                  <a:pt x="186" y="543"/>
                </a:lnTo>
                <a:lnTo>
                  <a:pt x="175" y="535"/>
                </a:lnTo>
                <a:lnTo>
                  <a:pt x="164" y="529"/>
                </a:lnTo>
                <a:lnTo>
                  <a:pt x="155" y="520"/>
                </a:lnTo>
                <a:lnTo>
                  <a:pt x="145" y="513"/>
                </a:lnTo>
                <a:lnTo>
                  <a:pt x="136" y="504"/>
                </a:lnTo>
                <a:lnTo>
                  <a:pt x="128" y="495"/>
                </a:lnTo>
                <a:lnTo>
                  <a:pt x="119" y="486"/>
                </a:lnTo>
                <a:lnTo>
                  <a:pt x="112" y="475"/>
                </a:lnTo>
                <a:lnTo>
                  <a:pt x="104" y="466"/>
                </a:lnTo>
                <a:lnTo>
                  <a:pt x="98" y="455"/>
                </a:lnTo>
                <a:lnTo>
                  <a:pt x="91" y="444"/>
                </a:lnTo>
                <a:lnTo>
                  <a:pt x="86" y="432"/>
                </a:lnTo>
                <a:lnTo>
                  <a:pt x="81" y="422"/>
                </a:lnTo>
                <a:lnTo>
                  <a:pt x="76" y="410"/>
                </a:lnTo>
                <a:lnTo>
                  <a:pt x="72" y="397"/>
                </a:lnTo>
                <a:lnTo>
                  <a:pt x="69" y="385"/>
                </a:lnTo>
                <a:lnTo>
                  <a:pt x="66" y="372"/>
                </a:lnTo>
                <a:lnTo>
                  <a:pt x="64" y="360"/>
                </a:lnTo>
                <a:lnTo>
                  <a:pt x="61" y="347"/>
                </a:lnTo>
                <a:lnTo>
                  <a:pt x="60" y="334"/>
                </a:lnTo>
                <a:lnTo>
                  <a:pt x="60" y="320"/>
                </a:lnTo>
                <a:lnTo>
                  <a:pt x="60" y="307"/>
                </a:lnTo>
                <a:lnTo>
                  <a:pt x="61" y="294"/>
                </a:lnTo>
                <a:lnTo>
                  <a:pt x="64" y="281"/>
                </a:lnTo>
                <a:lnTo>
                  <a:pt x="66" y="268"/>
                </a:lnTo>
                <a:lnTo>
                  <a:pt x="69" y="256"/>
                </a:lnTo>
                <a:lnTo>
                  <a:pt x="72" y="243"/>
                </a:lnTo>
                <a:lnTo>
                  <a:pt x="76" y="231"/>
                </a:lnTo>
                <a:lnTo>
                  <a:pt x="81" y="219"/>
                </a:lnTo>
                <a:lnTo>
                  <a:pt x="86" y="207"/>
                </a:lnTo>
                <a:lnTo>
                  <a:pt x="91" y="197"/>
                </a:lnTo>
                <a:lnTo>
                  <a:pt x="98" y="186"/>
                </a:lnTo>
                <a:lnTo>
                  <a:pt x="104" y="175"/>
                </a:lnTo>
                <a:lnTo>
                  <a:pt x="112" y="164"/>
                </a:lnTo>
                <a:lnTo>
                  <a:pt x="119" y="155"/>
                </a:lnTo>
                <a:lnTo>
                  <a:pt x="128" y="145"/>
                </a:lnTo>
                <a:lnTo>
                  <a:pt x="136" y="137"/>
                </a:lnTo>
                <a:lnTo>
                  <a:pt x="145" y="128"/>
                </a:lnTo>
                <a:lnTo>
                  <a:pt x="155" y="119"/>
                </a:lnTo>
                <a:lnTo>
                  <a:pt x="164" y="112"/>
                </a:lnTo>
                <a:lnTo>
                  <a:pt x="175" y="104"/>
                </a:lnTo>
                <a:lnTo>
                  <a:pt x="186" y="98"/>
                </a:lnTo>
                <a:lnTo>
                  <a:pt x="197" y="92"/>
                </a:lnTo>
                <a:lnTo>
                  <a:pt x="207" y="86"/>
                </a:lnTo>
                <a:lnTo>
                  <a:pt x="219" y="81"/>
                </a:lnTo>
                <a:lnTo>
                  <a:pt x="231" y="77"/>
                </a:lnTo>
                <a:lnTo>
                  <a:pt x="243" y="72"/>
                </a:lnTo>
                <a:lnTo>
                  <a:pt x="256" y="69"/>
                </a:lnTo>
                <a:lnTo>
                  <a:pt x="268" y="66"/>
                </a:lnTo>
                <a:lnTo>
                  <a:pt x="281" y="64"/>
                </a:lnTo>
                <a:lnTo>
                  <a:pt x="294" y="61"/>
                </a:lnTo>
                <a:lnTo>
                  <a:pt x="307" y="60"/>
                </a:lnTo>
                <a:lnTo>
                  <a:pt x="320" y="60"/>
                </a:lnTo>
                <a:lnTo>
                  <a:pt x="334" y="60"/>
                </a:lnTo>
                <a:lnTo>
                  <a:pt x="347" y="61"/>
                </a:lnTo>
                <a:lnTo>
                  <a:pt x="360" y="64"/>
                </a:lnTo>
                <a:lnTo>
                  <a:pt x="372" y="66"/>
                </a:lnTo>
                <a:lnTo>
                  <a:pt x="385" y="69"/>
                </a:lnTo>
                <a:lnTo>
                  <a:pt x="397" y="72"/>
                </a:lnTo>
                <a:lnTo>
                  <a:pt x="410" y="77"/>
                </a:lnTo>
                <a:lnTo>
                  <a:pt x="422" y="81"/>
                </a:lnTo>
                <a:lnTo>
                  <a:pt x="432" y="86"/>
                </a:lnTo>
                <a:lnTo>
                  <a:pt x="444" y="92"/>
                </a:lnTo>
                <a:lnTo>
                  <a:pt x="455" y="98"/>
                </a:lnTo>
                <a:lnTo>
                  <a:pt x="466" y="104"/>
                </a:lnTo>
                <a:lnTo>
                  <a:pt x="475" y="112"/>
                </a:lnTo>
                <a:lnTo>
                  <a:pt x="486" y="119"/>
                </a:lnTo>
                <a:lnTo>
                  <a:pt x="495" y="128"/>
                </a:lnTo>
                <a:lnTo>
                  <a:pt x="504" y="137"/>
                </a:lnTo>
                <a:lnTo>
                  <a:pt x="513" y="145"/>
                </a:lnTo>
                <a:lnTo>
                  <a:pt x="522" y="155"/>
                </a:lnTo>
                <a:lnTo>
                  <a:pt x="529" y="164"/>
                </a:lnTo>
                <a:lnTo>
                  <a:pt x="537" y="175"/>
                </a:lnTo>
                <a:lnTo>
                  <a:pt x="543" y="186"/>
                </a:lnTo>
                <a:lnTo>
                  <a:pt x="549" y="197"/>
                </a:lnTo>
                <a:lnTo>
                  <a:pt x="555" y="207"/>
                </a:lnTo>
                <a:lnTo>
                  <a:pt x="560" y="219"/>
                </a:lnTo>
                <a:lnTo>
                  <a:pt x="564" y="231"/>
                </a:lnTo>
                <a:lnTo>
                  <a:pt x="569" y="243"/>
                </a:lnTo>
                <a:lnTo>
                  <a:pt x="572" y="256"/>
                </a:lnTo>
                <a:lnTo>
                  <a:pt x="575" y="268"/>
                </a:lnTo>
                <a:lnTo>
                  <a:pt x="577" y="281"/>
                </a:lnTo>
                <a:lnTo>
                  <a:pt x="579" y="294"/>
                </a:lnTo>
                <a:lnTo>
                  <a:pt x="580" y="307"/>
                </a:lnTo>
                <a:lnTo>
                  <a:pt x="580" y="320"/>
                </a:lnTo>
                <a:lnTo>
                  <a:pt x="580" y="334"/>
                </a:lnTo>
                <a:lnTo>
                  <a:pt x="579" y="347"/>
                </a:lnTo>
                <a:lnTo>
                  <a:pt x="577" y="360"/>
                </a:lnTo>
                <a:lnTo>
                  <a:pt x="575" y="372"/>
                </a:lnTo>
                <a:lnTo>
                  <a:pt x="572" y="385"/>
                </a:lnTo>
                <a:lnTo>
                  <a:pt x="569" y="397"/>
                </a:lnTo>
                <a:lnTo>
                  <a:pt x="564" y="410"/>
                </a:lnTo>
                <a:lnTo>
                  <a:pt x="560" y="422"/>
                </a:lnTo>
                <a:lnTo>
                  <a:pt x="555" y="432"/>
                </a:lnTo>
                <a:lnTo>
                  <a:pt x="549" y="444"/>
                </a:lnTo>
                <a:lnTo>
                  <a:pt x="543" y="455"/>
                </a:lnTo>
                <a:lnTo>
                  <a:pt x="537" y="466"/>
                </a:lnTo>
                <a:lnTo>
                  <a:pt x="529" y="475"/>
                </a:lnTo>
                <a:lnTo>
                  <a:pt x="522" y="486"/>
                </a:lnTo>
                <a:lnTo>
                  <a:pt x="513" y="495"/>
                </a:lnTo>
                <a:lnTo>
                  <a:pt x="504" y="504"/>
                </a:lnTo>
                <a:lnTo>
                  <a:pt x="495" y="513"/>
                </a:lnTo>
                <a:lnTo>
                  <a:pt x="486" y="520"/>
                </a:lnTo>
                <a:lnTo>
                  <a:pt x="475" y="529"/>
                </a:lnTo>
                <a:lnTo>
                  <a:pt x="466" y="535"/>
                </a:lnTo>
                <a:lnTo>
                  <a:pt x="455" y="543"/>
                </a:lnTo>
                <a:lnTo>
                  <a:pt x="444" y="549"/>
                </a:lnTo>
                <a:lnTo>
                  <a:pt x="432" y="555"/>
                </a:lnTo>
                <a:lnTo>
                  <a:pt x="422" y="560"/>
                </a:lnTo>
                <a:lnTo>
                  <a:pt x="410" y="564"/>
                </a:lnTo>
                <a:lnTo>
                  <a:pt x="397" y="569"/>
                </a:lnTo>
                <a:lnTo>
                  <a:pt x="385" y="572"/>
                </a:lnTo>
                <a:lnTo>
                  <a:pt x="372" y="575"/>
                </a:lnTo>
                <a:lnTo>
                  <a:pt x="360" y="577"/>
                </a:lnTo>
                <a:lnTo>
                  <a:pt x="347" y="579"/>
                </a:lnTo>
                <a:lnTo>
                  <a:pt x="334" y="580"/>
                </a:lnTo>
                <a:lnTo>
                  <a:pt x="320" y="580"/>
                </a:lnTo>
                <a:lnTo>
                  <a:pt x="320" y="580"/>
                </a:lnTo>
                <a:close/>
                <a:moveTo>
                  <a:pt x="893" y="851"/>
                </a:moveTo>
                <a:lnTo>
                  <a:pt x="567" y="525"/>
                </a:lnTo>
                <a:lnTo>
                  <a:pt x="575" y="514"/>
                </a:lnTo>
                <a:lnTo>
                  <a:pt x="584" y="503"/>
                </a:lnTo>
                <a:lnTo>
                  <a:pt x="591" y="491"/>
                </a:lnTo>
                <a:lnTo>
                  <a:pt x="598" y="480"/>
                </a:lnTo>
                <a:lnTo>
                  <a:pt x="604" y="468"/>
                </a:lnTo>
                <a:lnTo>
                  <a:pt x="611" y="456"/>
                </a:lnTo>
                <a:lnTo>
                  <a:pt x="616" y="443"/>
                </a:lnTo>
                <a:lnTo>
                  <a:pt x="621" y="430"/>
                </a:lnTo>
                <a:lnTo>
                  <a:pt x="626" y="417"/>
                </a:lnTo>
                <a:lnTo>
                  <a:pt x="630" y="405"/>
                </a:lnTo>
                <a:lnTo>
                  <a:pt x="633" y="391"/>
                </a:lnTo>
                <a:lnTo>
                  <a:pt x="635" y="377"/>
                </a:lnTo>
                <a:lnTo>
                  <a:pt x="637" y="363"/>
                </a:lnTo>
                <a:lnTo>
                  <a:pt x="639" y="349"/>
                </a:lnTo>
                <a:lnTo>
                  <a:pt x="641" y="335"/>
                </a:lnTo>
                <a:lnTo>
                  <a:pt x="641" y="320"/>
                </a:lnTo>
                <a:lnTo>
                  <a:pt x="641" y="304"/>
                </a:lnTo>
                <a:lnTo>
                  <a:pt x="638" y="288"/>
                </a:lnTo>
                <a:lnTo>
                  <a:pt x="637" y="272"/>
                </a:lnTo>
                <a:lnTo>
                  <a:pt x="634" y="256"/>
                </a:lnTo>
                <a:lnTo>
                  <a:pt x="631" y="241"/>
                </a:lnTo>
                <a:lnTo>
                  <a:pt x="627" y="226"/>
                </a:lnTo>
                <a:lnTo>
                  <a:pt x="621" y="211"/>
                </a:lnTo>
                <a:lnTo>
                  <a:pt x="616" y="196"/>
                </a:lnTo>
                <a:lnTo>
                  <a:pt x="609" y="182"/>
                </a:lnTo>
                <a:lnTo>
                  <a:pt x="602" y="168"/>
                </a:lnTo>
                <a:lnTo>
                  <a:pt x="594" y="155"/>
                </a:lnTo>
                <a:lnTo>
                  <a:pt x="586" y="142"/>
                </a:lnTo>
                <a:lnTo>
                  <a:pt x="577" y="129"/>
                </a:lnTo>
                <a:lnTo>
                  <a:pt x="568" y="117"/>
                </a:lnTo>
                <a:lnTo>
                  <a:pt x="557" y="105"/>
                </a:lnTo>
                <a:lnTo>
                  <a:pt x="546" y="94"/>
                </a:lnTo>
                <a:lnTo>
                  <a:pt x="535" y="83"/>
                </a:lnTo>
                <a:lnTo>
                  <a:pt x="524" y="73"/>
                </a:lnTo>
                <a:lnTo>
                  <a:pt x="512" y="64"/>
                </a:lnTo>
                <a:lnTo>
                  <a:pt x="499" y="55"/>
                </a:lnTo>
                <a:lnTo>
                  <a:pt x="486" y="46"/>
                </a:lnTo>
                <a:lnTo>
                  <a:pt x="473" y="39"/>
                </a:lnTo>
                <a:lnTo>
                  <a:pt x="459" y="31"/>
                </a:lnTo>
                <a:lnTo>
                  <a:pt x="445" y="25"/>
                </a:lnTo>
                <a:lnTo>
                  <a:pt x="430" y="20"/>
                </a:lnTo>
                <a:lnTo>
                  <a:pt x="415" y="14"/>
                </a:lnTo>
                <a:lnTo>
                  <a:pt x="400" y="10"/>
                </a:lnTo>
                <a:lnTo>
                  <a:pt x="385" y="7"/>
                </a:lnTo>
                <a:lnTo>
                  <a:pt x="369" y="4"/>
                </a:lnTo>
                <a:lnTo>
                  <a:pt x="353" y="1"/>
                </a:lnTo>
                <a:lnTo>
                  <a:pt x="337" y="0"/>
                </a:lnTo>
                <a:lnTo>
                  <a:pt x="320" y="0"/>
                </a:lnTo>
                <a:lnTo>
                  <a:pt x="304" y="0"/>
                </a:lnTo>
                <a:lnTo>
                  <a:pt x="288" y="1"/>
                </a:lnTo>
                <a:lnTo>
                  <a:pt x="272" y="4"/>
                </a:lnTo>
                <a:lnTo>
                  <a:pt x="256" y="7"/>
                </a:lnTo>
                <a:lnTo>
                  <a:pt x="241" y="10"/>
                </a:lnTo>
                <a:lnTo>
                  <a:pt x="225" y="14"/>
                </a:lnTo>
                <a:lnTo>
                  <a:pt x="210" y="20"/>
                </a:lnTo>
                <a:lnTo>
                  <a:pt x="195" y="25"/>
                </a:lnTo>
                <a:lnTo>
                  <a:pt x="182" y="31"/>
                </a:lnTo>
                <a:lnTo>
                  <a:pt x="168" y="39"/>
                </a:lnTo>
                <a:lnTo>
                  <a:pt x="155" y="46"/>
                </a:lnTo>
                <a:lnTo>
                  <a:pt x="142" y="55"/>
                </a:lnTo>
                <a:lnTo>
                  <a:pt x="129" y="64"/>
                </a:lnTo>
                <a:lnTo>
                  <a:pt x="117" y="73"/>
                </a:lnTo>
                <a:lnTo>
                  <a:pt x="105" y="83"/>
                </a:lnTo>
                <a:lnTo>
                  <a:pt x="94" y="94"/>
                </a:lnTo>
                <a:lnTo>
                  <a:pt x="84" y="105"/>
                </a:lnTo>
                <a:lnTo>
                  <a:pt x="73" y="117"/>
                </a:lnTo>
                <a:lnTo>
                  <a:pt x="64" y="129"/>
                </a:lnTo>
                <a:lnTo>
                  <a:pt x="55" y="142"/>
                </a:lnTo>
                <a:lnTo>
                  <a:pt x="46" y="155"/>
                </a:lnTo>
                <a:lnTo>
                  <a:pt x="39" y="168"/>
                </a:lnTo>
                <a:lnTo>
                  <a:pt x="31" y="182"/>
                </a:lnTo>
                <a:lnTo>
                  <a:pt x="25" y="196"/>
                </a:lnTo>
                <a:lnTo>
                  <a:pt x="20" y="211"/>
                </a:lnTo>
                <a:lnTo>
                  <a:pt x="14" y="226"/>
                </a:lnTo>
                <a:lnTo>
                  <a:pt x="10" y="241"/>
                </a:lnTo>
                <a:lnTo>
                  <a:pt x="7" y="256"/>
                </a:lnTo>
                <a:lnTo>
                  <a:pt x="3" y="272"/>
                </a:lnTo>
                <a:lnTo>
                  <a:pt x="1" y="288"/>
                </a:lnTo>
                <a:lnTo>
                  <a:pt x="0" y="304"/>
                </a:lnTo>
                <a:lnTo>
                  <a:pt x="0" y="320"/>
                </a:lnTo>
                <a:lnTo>
                  <a:pt x="0" y="337"/>
                </a:lnTo>
                <a:lnTo>
                  <a:pt x="1" y="353"/>
                </a:lnTo>
                <a:lnTo>
                  <a:pt x="3" y="369"/>
                </a:lnTo>
                <a:lnTo>
                  <a:pt x="7" y="385"/>
                </a:lnTo>
                <a:lnTo>
                  <a:pt x="10" y="400"/>
                </a:lnTo>
                <a:lnTo>
                  <a:pt x="14" y="415"/>
                </a:lnTo>
                <a:lnTo>
                  <a:pt x="20" y="430"/>
                </a:lnTo>
                <a:lnTo>
                  <a:pt x="25" y="445"/>
                </a:lnTo>
                <a:lnTo>
                  <a:pt x="31" y="459"/>
                </a:lnTo>
                <a:lnTo>
                  <a:pt x="39" y="473"/>
                </a:lnTo>
                <a:lnTo>
                  <a:pt x="46" y="486"/>
                </a:lnTo>
                <a:lnTo>
                  <a:pt x="55" y="499"/>
                </a:lnTo>
                <a:lnTo>
                  <a:pt x="64" y="512"/>
                </a:lnTo>
                <a:lnTo>
                  <a:pt x="73" y="524"/>
                </a:lnTo>
                <a:lnTo>
                  <a:pt x="84" y="535"/>
                </a:lnTo>
                <a:lnTo>
                  <a:pt x="94" y="546"/>
                </a:lnTo>
                <a:lnTo>
                  <a:pt x="105" y="557"/>
                </a:lnTo>
                <a:lnTo>
                  <a:pt x="117" y="568"/>
                </a:lnTo>
                <a:lnTo>
                  <a:pt x="129" y="577"/>
                </a:lnTo>
                <a:lnTo>
                  <a:pt x="142" y="586"/>
                </a:lnTo>
                <a:lnTo>
                  <a:pt x="155" y="594"/>
                </a:lnTo>
                <a:lnTo>
                  <a:pt x="168" y="602"/>
                </a:lnTo>
                <a:lnTo>
                  <a:pt x="182" y="608"/>
                </a:lnTo>
                <a:lnTo>
                  <a:pt x="195" y="615"/>
                </a:lnTo>
                <a:lnTo>
                  <a:pt x="210" y="621"/>
                </a:lnTo>
                <a:lnTo>
                  <a:pt x="225" y="627"/>
                </a:lnTo>
                <a:lnTo>
                  <a:pt x="241" y="631"/>
                </a:lnTo>
                <a:lnTo>
                  <a:pt x="256" y="634"/>
                </a:lnTo>
                <a:lnTo>
                  <a:pt x="272" y="637"/>
                </a:lnTo>
                <a:lnTo>
                  <a:pt x="288" y="638"/>
                </a:lnTo>
                <a:lnTo>
                  <a:pt x="304" y="641"/>
                </a:lnTo>
                <a:lnTo>
                  <a:pt x="320" y="641"/>
                </a:lnTo>
                <a:lnTo>
                  <a:pt x="335" y="641"/>
                </a:lnTo>
                <a:lnTo>
                  <a:pt x="349" y="639"/>
                </a:lnTo>
                <a:lnTo>
                  <a:pt x="363" y="637"/>
                </a:lnTo>
                <a:lnTo>
                  <a:pt x="377" y="635"/>
                </a:lnTo>
                <a:lnTo>
                  <a:pt x="391" y="633"/>
                </a:lnTo>
                <a:lnTo>
                  <a:pt x="405" y="630"/>
                </a:lnTo>
                <a:lnTo>
                  <a:pt x="417" y="625"/>
                </a:lnTo>
                <a:lnTo>
                  <a:pt x="430" y="621"/>
                </a:lnTo>
                <a:lnTo>
                  <a:pt x="443" y="616"/>
                </a:lnTo>
                <a:lnTo>
                  <a:pt x="456" y="610"/>
                </a:lnTo>
                <a:lnTo>
                  <a:pt x="468" y="604"/>
                </a:lnTo>
                <a:lnTo>
                  <a:pt x="480" y="598"/>
                </a:lnTo>
                <a:lnTo>
                  <a:pt x="491" y="591"/>
                </a:lnTo>
                <a:lnTo>
                  <a:pt x="503" y="584"/>
                </a:lnTo>
                <a:lnTo>
                  <a:pt x="514" y="575"/>
                </a:lnTo>
                <a:lnTo>
                  <a:pt x="525" y="567"/>
                </a:lnTo>
                <a:lnTo>
                  <a:pt x="851" y="892"/>
                </a:lnTo>
                <a:lnTo>
                  <a:pt x="855" y="897"/>
                </a:lnTo>
                <a:lnTo>
                  <a:pt x="860" y="899"/>
                </a:lnTo>
                <a:lnTo>
                  <a:pt x="866" y="901"/>
                </a:lnTo>
                <a:lnTo>
                  <a:pt x="871" y="901"/>
                </a:lnTo>
                <a:lnTo>
                  <a:pt x="878" y="901"/>
                </a:lnTo>
                <a:lnTo>
                  <a:pt x="883" y="899"/>
                </a:lnTo>
                <a:lnTo>
                  <a:pt x="888" y="897"/>
                </a:lnTo>
                <a:lnTo>
                  <a:pt x="893" y="892"/>
                </a:lnTo>
                <a:lnTo>
                  <a:pt x="897" y="888"/>
                </a:lnTo>
                <a:lnTo>
                  <a:pt x="899" y="883"/>
                </a:lnTo>
                <a:lnTo>
                  <a:pt x="901" y="877"/>
                </a:lnTo>
                <a:lnTo>
                  <a:pt x="902" y="871"/>
                </a:lnTo>
                <a:lnTo>
                  <a:pt x="901" y="866"/>
                </a:lnTo>
                <a:lnTo>
                  <a:pt x="899" y="860"/>
                </a:lnTo>
                <a:lnTo>
                  <a:pt x="897" y="855"/>
                </a:lnTo>
                <a:lnTo>
                  <a:pt x="893" y="85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Oval 37">
            <a:extLst>
              <a:ext uri="{FF2B5EF4-FFF2-40B4-BE49-F238E27FC236}">
                <a16:creationId xmlns:a16="http://schemas.microsoft.com/office/drawing/2014/main" id="{CE048B17-BCA1-9FF1-4DE5-A941B4199E97}"/>
              </a:ext>
            </a:extLst>
          </p:cNvPr>
          <p:cNvSpPr/>
          <p:nvPr/>
        </p:nvSpPr>
        <p:spPr>
          <a:xfrm>
            <a:off x="6396591" y="4197067"/>
            <a:ext cx="861613" cy="86161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descr="Un logo de champs de blé et de feuilles&#10;&#10;Le contenu généré par l'IA peut être incorrect.">
            <a:extLst>
              <a:ext uri="{FF2B5EF4-FFF2-40B4-BE49-F238E27FC236}">
                <a16:creationId xmlns:a16="http://schemas.microsoft.com/office/drawing/2014/main" id="{7BEF85BF-313F-9FB2-CC38-48DCB84ACD2B}"/>
              </a:ext>
            </a:extLst>
          </p:cNvPr>
          <p:cNvPicPr>
            <a:picLocks noChangeAspect="1"/>
          </p:cNvPicPr>
          <p:nvPr/>
        </p:nvPicPr>
        <p:blipFill>
          <a:blip r:embed="rId4">
            <a:extLst>
              <a:ext uri="{28A0092B-C50C-407E-A947-70E740481C1C}">
                <a14:useLocalDpi xmlns:a14="http://schemas.microsoft.com/office/drawing/2010/main" val="0"/>
              </a:ext>
            </a:extLst>
          </a:blip>
          <a:srcRect l="14819" t="9743" r="14948" b="23339"/>
          <a:stretch/>
        </p:blipFill>
        <p:spPr>
          <a:xfrm>
            <a:off x="6542298" y="1019844"/>
            <a:ext cx="517585" cy="527240"/>
          </a:xfrm>
          <a:prstGeom prst="rect">
            <a:avLst/>
          </a:prstGeom>
        </p:spPr>
      </p:pic>
      <p:pic>
        <p:nvPicPr>
          <p:cNvPr id="41" name="Picture 40" descr="Un logo d'un ballon de football&#10;&#10;Le contenu généré par l'IA peut être incorrect.">
            <a:extLst>
              <a:ext uri="{FF2B5EF4-FFF2-40B4-BE49-F238E27FC236}">
                <a16:creationId xmlns:a16="http://schemas.microsoft.com/office/drawing/2014/main" id="{ACA9F13B-2F80-AEEE-7F85-2AEE3507FA0A}"/>
              </a:ext>
            </a:extLst>
          </p:cNvPr>
          <p:cNvPicPr>
            <a:picLocks noChangeAspect="1"/>
          </p:cNvPicPr>
          <p:nvPr/>
        </p:nvPicPr>
        <p:blipFill>
          <a:blip r:embed="rId5">
            <a:extLst>
              <a:ext uri="{28A0092B-C50C-407E-A947-70E740481C1C}">
                <a14:useLocalDpi xmlns:a14="http://schemas.microsoft.com/office/drawing/2010/main" val="0"/>
              </a:ext>
            </a:extLst>
          </a:blip>
          <a:srcRect l="13505" t="6790" r="13237" b="19073"/>
          <a:stretch/>
        </p:blipFill>
        <p:spPr>
          <a:xfrm>
            <a:off x="6552572" y="2541789"/>
            <a:ext cx="517585" cy="523797"/>
          </a:xfrm>
          <a:prstGeom prst="rect">
            <a:avLst/>
          </a:prstGeom>
        </p:spPr>
      </p:pic>
      <p:cxnSp>
        <p:nvCxnSpPr>
          <p:cNvPr id="43" name="Straight Connector 42">
            <a:extLst>
              <a:ext uri="{FF2B5EF4-FFF2-40B4-BE49-F238E27FC236}">
                <a16:creationId xmlns:a16="http://schemas.microsoft.com/office/drawing/2014/main" id="{8803C9D3-E675-B64A-E459-AF12C9972EC2}"/>
              </a:ext>
            </a:extLst>
          </p:cNvPr>
          <p:cNvCxnSpPr/>
          <p:nvPr/>
        </p:nvCxnSpPr>
        <p:spPr>
          <a:xfrm>
            <a:off x="6096000" y="108820"/>
            <a:ext cx="0" cy="6583704"/>
          </a:xfrm>
          <a:prstGeom prst="line">
            <a:avLst/>
          </a:prstGeom>
        </p:spPr>
        <p:style>
          <a:lnRef idx="3">
            <a:schemeClr val="dk1"/>
          </a:lnRef>
          <a:fillRef idx="0">
            <a:schemeClr val="dk1"/>
          </a:fillRef>
          <a:effectRef idx="2">
            <a:schemeClr val="dk1"/>
          </a:effectRef>
          <a:fontRef idx="minor">
            <a:schemeClr val="tx1"/>
          </a:fontRef>
        </p:style>
      </p:cxnSp>
      <p:graphicFrame>
        <p:nvGraphicFramePr>
          <p:cNvPr id="45" name="Table 44">
            <a:extLst>
              <a:ext uri="{FF2B5EF4-FFF2-40B4-BE49-F238E27FC236}">
                <a16:creationId xmlns:a16="http://schemas.microsoft.com/office/drawing/2014/main" id="{02C80838-813E-F5A8-E6EB-4BFD6844F9EE}"/>
              </a:ext>
            </a:extLst>
          </p:cNvPr>
          <p:cNvGraphicFramePr>
            <a:graphicFrameLocks noGrp="1"/>
          </p:cNvGraphicFramePr>
          <p:nvPr>
            <p:extLst>
              <p:ext uri="{D42A27DB-BD31-4B8C-83A1-F6EECF244321}">
                <p14:modId xmlns:p14="http://schemas.microsoft.com/office/powerpoint/2010/main" val="460968430"/>
              </p:ext>
            </p:extLst>
          </p:nvPr>
        </p:nvGraphicFramePr>
        <p:xfrm>
          <a:off x="264524" y="906234"/>
          <a:ext cx="5693916" cy="2781357"/>
        </p:xfrm>
        <a:graphic>
          <a:graphicData uri="http://schemas.openxmlformats.org/drawingml/2006/table">
            <a:tbl>
              <a:tblPr/>
              <a:tblGrid>
                <a:gridCol w="1033448">
                  <a:extLst>
                    <a:ext uri="{9D8B030D-6E8A-4147-A177-3AD203B41FA5}">
                      <a16:colId xmlns:a16="http://schemas.microsoft.com/office/drawing/2014/main" val="654555522"/>
                    </a:ext>
                  </a:extLst>
                </a:gridCol>
                <a:gridCol w="1834894">
                  <a:extLst>
                    <a:ext uri="{9D8B030D-6E8A-4147-A177-3AD203B41FA5}">
                      <a16:colId xmlns:a16="http://schemas.microsoft.com/office/drawing/2014/main" val="892046714"/>
                    </a:ext>
                  </a:extLst>
                </a:gridCol>
                <a:gridCol w="1452912">
                  <a:extLst>
                    <a:ext uri="{9D8B030D-6E8A-4147-A177-3AD203B41FA5}">
                      <a16:colId xmlns:a16="http://schemas.microsoft.com/office/drawing/2014/main" val="1135689393"/>
                    </a:ext>
                  </a:extLst>
                </a:gridCol>
                <a:gridCol w="1372662">
                  <a:extLst>
                    <a:ext uri="{9D8B030D-6E8A-4147-A177-3AD203B41FA5}">
                      <a16:colId xmlns:a16="http://schemas.microsoft.com/office/drawing/2014/main" val="653857506"/>
                    </a:ext>
                  </a:extLst>
                </a:gridCol>
              </a:tblGrid>
              <a:tr h="296251">
                <a:tc>
                  <a:txBody>
                    <a:bodyPr/>
                    <a:lstStyle/>
                    <a:p>
                      <a:pPr algn="ctr">
                        <a:buNone/>
                      </a:pPr>
                      <a:r>
                        <a:rPr lang="fr" sz="1000" b="1" dirty="0">
                          <a:solidFill>
                            <a:schemeClr val="bg1"/>
                          </a:solidFill>
                        </a:rPr>
                        <a:t>Projet / Initiative</a:t>
                      </a: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buNone/>
                      </a:pPr>
                      <a:r>
                        <a:rPr lang="fr" sz="1000" b="1" dirty="0">
                          <a:solidFill>
                            <a:schemeClr val="bg1"/>
                          </a:solidFill>
                        </a:rPr>
                        <a:t>Objectif</a:t>
                      </a: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buNone/>
                      </a:pPr>
                      <a:r>
                        <a:rPr lang="fr" sz="1000" b="1">
                          <a:solidFill>
                            <a:schemeClr val="bg1"/>
                          </a:solidFill>
                        </a:rPr>
                        <a:t>Situation actuelle</a:t>
                      </a: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algn="ctr">
                        <a:buNone/>
                      </a:pPr>
                      <a:r>
                        <a:rPr lang="fr" sz="1000" b="1" dirty="0">
                          <a:solidFill>
                            <a:schemeClr val="bg1"/>
                          </a:solidFill>
                        </a:rPr>
                        <a:t>Prochaines étapes (à court terme)</a:t>
                      </a: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3767999425"/>
                  </a:ext>
                </a:extLst>
              </a:tr>
              <a:tr h="946723">
                <a:tc>
                  <a:txBody>
                    <a:bodyPr/>
                    <a:lstStyle/>
                    <a:p>
                      <a:pPr>
                        <a:buNone/>
                      </a:pPr>
                      <a:r>
                        <a:rPr lang="fr-FR" sz="1000" b="1" dirty="0"/>
                        <a:t>Zamba</a:t>
                      </a:r>
                      <a:br>
                        <a:rPr lang="fr-FR" sz="1000" b="1" dirty="0"/>
                      </a:br>
                      <a:r>
                        <a:rPr lang="fr-FR" sz="1000" b="0" dirty="0"/>
                        <a:t>Water Tank</a:t>
                      </a:r>
                      <a:endParaRPr lang="fr" sz="1000" b="0" dirty="0"/>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t>Replacement Plan of the </a:t>
                      </a:r>
                      <a:r>
                        <a:rPr lang="fr-FR" sz="1000" dirty="0" err="1"/>
                        <a:t>defective</a:t>
                      </a:r>
                      <a:r>
                        <a:rPr lang="fr-FR" sz="1000" dirty="0"/>
                        <a:t> tank by a new one, </a:t>
                      </a:r>
                      <a:r>
                        <a:rPr lang="fr-FR" sz="1000" dirty="0" err="1"/>
                        <a:t>which</a:t>
                      </a:r>
                      <a:r>
                        <a:rPr lang="fr-FR" sz="1000" dirty="0"/>
                        <a:t> </a:t>
                      </a:r>
                      <a:r>
                        <a:rPr lang="fr-FR" sz="1000" dirty="0" err="1"/>
                        <a:t>is</a:t>
                      </a:r>
                      <a:r>
                        <a:rPr lang="fr-FR" sz="1000" dirty="0"/>
                        <a:t> </a:t>
                      </a:r>
                      <a:r>
                        <a:rPr lang="fr-FR" sz="1000" dirty="0" err="1"/>
                        <a:t>already</a:t>
                      </a:r>
                      <a:r>
                        <a:rPr lang="fr-FR" sz="1000" dirty="0"/>
                        <a:t> </a:t>
                      </a:r>
                      <a:r>
                        <a:rPr lang="fr-FR" sz="1000" dirty="0" err="1"/>
                        <a:t>available</a:t>
                      </a:r>
                      <a:r>
                        <a:rPr lang="fr-FR" sz="1000" dirty="0"/>
                        <a:t>.</a:t>
                      </a:r>
                      <a:endParaRPr lang="en-US" sz="1000" kern="1200" dirty="0">
                        <a:solidFill>
                          <a:schemeClr val="tx1"/>
                        </a:solidFill>
                        <a:latin typeface="+mn-lt"/>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a:t>The village has </a:t>
                      </a:r>
                      <a:r>
                        <a:rPr lang="fr-FR" sz="1000" dirty="0" err="1"/>
                        <a:t>agreed</a:t>
                      </a:r>
                      <a:r>
                        <a:rPr lang="fr-FR" sz="1000" dirty="0"/>
                        <a:t> on the new location of the tank.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err="1"/>
                        <a:t>Relocate</a:t>
                      </a:r>
                      <a:r>
                        <a:rPr lang="fr-FR" sz="1000" dirty="0"/>
                        <a:t> </a:t>
                      </a:r>
                      <a:r>
                        <a:rPr lang="fr-FR" sz="1000" dirty="0" err="1"/>
                        <a:t>it</a:t>
                      </a:r>
                      <a:r>
                        <a:rPr lang="fr-FR" sz="1000" dirty="0"/>
                        <a:t> to </a:t>
                      </a:r>
                      <a:r>
                        <a:rPr lang="fr-FR" sz="1000" dirty="0" err="1"/>
                        <a:t>maintain</a:t>
                      </a:r>
                      <a:r>
                        <a:rPr lang="fr-FR" sz="1000" dirty="0"/>
                        <a:t> a </a:t>
                      </a:r>
                      <a:r>
                        <a:rPr lang="fr-FR" sz="1000" dirty="0" err="1"/>
                        <a:t>safe</a:t>
                      </a:r>
                      <a:r>
                        <a:rPr lang="fr-FR" sz="1000" dirty="0"/>
                        <a:t> distance </a:t>
                      </a:r>
                      <a:r>
                        <a:rPr lang="fr-FR" sz="1000" dirty="0" err="1"/>
                        <a:t>from</a:t>
                      </a:r>
                      <a:r>
                        <a:rPr lang="fr-FR" sz="1000" dirty="0"/>
                        <a:t> the </a:t>
                      </a:r>
                      <a:r>
                        <a:rPr lang="fr-FR" sz="1000" dirty="0" err="1"/>
                        <a:t>electrical</a:t>
                      </a:r>
                      <a:r>
                        <a:rPr lang="fr-FR" sz="1000" dirty="0"/>
                        <a:t> </a:t>
                      </a:r>
                      <a:r>
                        <a:rPr lang="fr-FR" sz="1000" dirty="0" err="1"/>
                        <a:t>wiring</a:t>
                      </a:r>
                      <a:r>
                        <a:rPr lang="fr-FR" sz="1000" dirty="0"/>
                        <a:t>.</a:t>
                      </a:r>
                      <a:endParaRPr lang="fr" sz="1000" kern="1200" dirty="0">
                        <a:solidFill>
                          <a:schemeClr val="tx1"/>
                        </a:solidFill>
                        <a:latin typeface="+mn-lt"/>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fr-FR" sz="1000" dirty="0"/>
                        <a:t>The scope of </a:t>
                      </a:r>
                      <a:r>
                        <a:rPr lang="fr-FR" sz="1000" dirty="0" err="1"/>
                        <a:t>work</a:t>
                      </a:r>
                      <a:r>
                        <a:rPr lang="fr-FR" sz="1000" dirty="0"/>
                        <a:t> </a:t>
                      </a:r>
                      <a:r>
                        <a:rPr lang="fr-FR" sz="1000" dirty="0" err="1"/>
                        <a:t>was</a:t>
                      </a:r>
                      <a:r>
                        <a:rPr lang="fr-FR" sz="1000" dirty="0"/>
                        <a:t> sent to the </a:t>
                      </a:r>
                      <a:r>
                        <a:rPr lang="fr-FR" sz="1000" dirty="0" err="1"/>
                        <a:t>procurement</a:t>
                      </a:r>
                      <a:r>
                        <a:rPr lang="fr-FR" sz="1000" dirty="0"/>
                        <a:t>.</a:t>
                      </a:r>
                    </a:p>
                    <a:p>
                      <a:pPr marL="171450" indent="-171450">
                        <a:buFont typeface="Arial" panose="020B0604020202020204" pitchFamily="34" charset="0"/>
                        <a:buChar char="•"/>
                      </a:pPr>
                      <a:r>
                        <a:rPr lang="fr-FR" sz="1000" dirty="0" err="1"/>
                        <a:t>Awaiting</a:t>
                      </a:r>
                      <a:r>
                        <a:rPr lang="fr-FR" sz="1000" dirty="0"/>
                        <a:t> the launch of the tender process.</a:t>
                      </a:r>
                      <a:endParaRPr lang="en-US" sz="1000" kern="1200" dirty="0">
                        <a:solidFill>
                          <a:schemeClr val="tx1"/>
                        </a:solidFill>
                        <a:latin typeface="+mn-lt"/>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8267973"/>
                  </a:ext>
                </a:extLst>
              </a:tr>
              <a:tr h="931018">
                <a:tc>
                  <a:txBody>
                    <a:bodyPr/>
                    <a:lstStyle/>
                    <a:p>
                      <a:pPr>
                        <a:buNone/>
                      </a:pPr>
                      <a:r>
                        <a:rPr lang="fr-FR" sz="1000" b="1" dirty="0" err="1"/>
                        <a:t>Mwinda</a:t>
                      </a:r>
                      <a:endParaRPr lang="fr-FR" sz="1000" b="1" dirty="0"/>
                    </a:p>
                    <a:p>
                      <a:pPr>
                        <a:buNone/>
                      </a:pPr>
                      <a:r>
                        <a:rPr lang="fr-FR" sz="1000" b="0" dirty="0"/>
                        <a:t>Local EPI Partnership</a:t>
                      </a:r>
                      <a:endParaRPr lang="en-US" sz="1000" b="0" dirty="0"/>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1000" dirty="0"/>
                        <a:t>Train and </a:t>
                      </a:r>
                      <a:r>
                        <a:rPr lang="fr-FR" sz="1000" dirty="0" err="1"/>
                        <a:t>professionally</a:t>
                      </a:r>
                      <a:r>
                        <a:rPr lang="fr-FR" sz="1000" dirty="0"/>
                        <a:t> </a:t>
                      </a:r>
                      <a:r>
                        <a:rPr lang="fr-FR" sz="1000" dirty="0" err="1"/>
                        <a:t>integrate</a:t>
                      </a:r>
                      <a:r>
                        <a:rPr lang="fr-FR" sz="1000" dirty="0"/>
                        <a:t> </a:t>
                      </a:r>
                      <a:r>
                        <a:rPr lang="fr-FR" sz="1000" dirty="0" err="1"/>
                        <a:t>young</a:t>
                      </a:r>
                      <a:r>
                        <a:rPr lang="fr-FR" sz="1000" dirty="0"/>
                        <a:t> </a:t>
                      </a:r>
                      <a:r>
                        <a:rPr lang="fr-FR" sz="1000" dirty="0" err="1"/>
                        <a:t>women</a:t>
                      </a:r>
                      <a:r>
                        <a:rPr lang="fr-FR" sz="1000" dirty="0"/>
                        <a:t> + </a:t>
                      </a:r>
                      <a:r>
                        <a:rPr lang="fr-FR" sz="1000" dirty="0" err="1"/>
                        <a:t>produce</a:t>
                      </a:r>
                      <a:r>
                        <a:rPr lang="fr-FR" sz="1000" dirty="0"/>
                        <a:t> PPE </a:t>
                      </a:r>
                      <a:r>
                        <a:rPr lang="fr-FR" sz="1000" dirty="0" err="1"/>
                        <a:t>locally</a:t>
                      </a:r>
                      <a:r>
                        <a:rPr lang="fr-FR" sz="1000" dirty="0"/>
                        <a:t> to </a:t>
                      </a:r>
                      <a:r>
                        <a:rPr lang="fr-FR" sz="1000" dirty="0" err="1"/>
                        <a:t>reduce</a:t>
                      </a:r>
                      <a:r>
                        <a:rPr lang="fr-FR" sz="1000" dirty="0"/>
                        <a:t> imports and </a:t>
                      </a:r>
                      <a:r>
                        <a:rPr lang="fr-FR" sz="1000" dirty="0" err="1"/>
                        <a:t>delays</a:t>
                      </a:r>
                      <a:r>
                        <a:rPr lang="fr-FR" sz="1000" dirty="0"/>
                        <a:t>.</a:t>
                      </a:r>
                      <a:endParaRPr lang="fr" sz="1000" dirty="0"/>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dirty="0" err="1"/>
                        <a:t>Preparation</a:t>
                      </a:r>
                      <a:r>
                        <a:rPr lang="fr-FR" sz="1000" dirty="0"/>
                        <a:t> of the PR for the </a:t>
                      </a:r>
                      <a:r>
                        <a:rPr lang="fr-FR" sz="1000" dirty="0" err="1"/>
                        <a:t>renovation</a:t>
                      </a:r>
                      <a:r>
                        <a:rPr lang="fr-FR" sz="1000" dirty="0"/>
                        <a:t> </a:t>
                      </a:r>
                      <a:r>
                        <a:rPr lang="fr-FR" sz="1000" dirty="0" err="1"/>
                        <a:t>works</a:t>
                      </a:r>
                      <a:r>
                        <a:rPr lang="fr-FR" sz="1000" dirty="0"/>
                        <a:t>.</a:t>
                      </a:r>
                      <a:endParaRPr lang="fr" sz="1000" dirty="0"/>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000" dirty="0"/>
                        <a:t>PO for </a:t>
                      </a:r>
                      <a:r>
                        <a:rPr lang="fr-FR" sz="1000" dirty="0" err="1"/>
                        <a:t>Procurement</a:t>
                      </a:r>
                      <a:r>
                        <a:rPr lang="fr-FR" sz="1000" dirty="0"/>
                        <a:t>.</a:t>
                      </a:r>
                      <a:endParaRPr lang="fr-FR" sz="1000" b="0" dirty="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000" b="0" dirty="0" err="1"/>
                        <a:t>Awaiting</a:t>
                      </a:r>
                      <a:r>
                        <a:rPr lang="fr-FR" sz="1000" b="0" dirty="0"/>
                        <a:t> guidance </a:t>
                      </a:r>
                      <a:r>
                        <a:rPr lang="fr-FR" sz="1000" b="0" dirty="0" err="1"/>
                        <a:t>from</a:t>
                      </a:r>
                      <a:r>
                        <a:rPr lang="fr-FR" sz="1000" b="0" dirty="0"/>
                        <a:t> </a:t>
                      </a:r>
                      <a:r>
                        <a:rPr lang="fr-FR" sz="1000" b="0" dirty="0" err="1"/>
                        <a:t>ExCo</a:t>
                      </a:r>
                      <a:r>
                        <a:rPr lang="fr-FR" sz="1000" b="0" dirty="0"/>
                        <a:t> on how to encourage </a:t>
                      </a:r>
                      <a:r>
                        <a:rPr lang="fr-FR" sz="1000" b="0" dirty="0" err="1"/>
                        <a:t>our</a:t>
                      </a:r>
                      <a:r>
                        <a:rPr lang="fr-FR" sz="1000" b="0" dirty="0"/>
                        <a:t> </a:t>
                      </a:r>
                      <a:r>
                        <a:rPr lang="fr-FR" sz="1000" b="0" dirty="0" err="1"/>
                        <a:t>partners</a:t>
                      </a:r>
                      <a:r>
                        <a:rPr lang="fr-FR" sz="1000" b="0" dirty="0"/>
                        <a:t> to place </a:t>
                      </a:r>
                      <a:r>
                        <a:rPr lang="fr-FR" sz="1000" b="0" dirty="0" err="1"/>
                        <a:t>their</a:t>
                      </a:r>
                      <a:r>
                        <a:rPr lang="fr-FR" sz="1000" b="0" dirty="0"/>
                        <a:t> </a:t>
                      </a:r>
                      <a:r>
                        <a:rPr lang="fr-FR" sz="1000" b="0" dirty="0" err="1"/>
                        <a:t>orders</a:t>
                      </a:r>
                      <a:r>
                        <a:rPr lang="fr-FR" sz="1000" b="0" dirty="0"/>
                        <a:t> </a:t>
                      </a:r>
                      <a:r>
                        <a:rPr lang="fr-FR" sz="1000" b="0" dirty="0" err="1"/>
                        <a:t>with</a:t>
                      </a:r>
                      <a:r>
                        <a:rPr lang="fr-FR" sz="1000" b="0" dirty="0"/>
                        <a:t> </a:t>
                      </a:r>
                      <a:r>
                        <a:rPr lang="fr-FR" sz="1000" b="0" dirty="0" err="1"/>
                        <a:t>Mwinda</a:t>
                      </a:r>
                      <a:r>
                        <a:rPr lang="fr-FR" sz="1000" b="0" dirty="0"/>
                        <a:t>.</a:t>
                      </a:r>
                      <a:endParaRPr lang="en-US" sz="1000" b="0" dirty="0"/>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4842144"/>
                  </a:ext>
                </a:extLst>
              </a:tr>
              <a:tr h="3686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1" dirty="0"/>
                        <a:t>PPC School</a:t>
                      </a:r>
                      <a:endParaRPr lang="en-US" sz="1000" dirty="0"/>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rPr>
                        <a:t>Finalize the legal status of the school.</a:t>
                      </a:r>
                      <a:endParaRPr lang="fr" sz="1000" dirty="0">
                        <a:solidFill>
                          <a:schemeClr val="tx1"/>
                        </a:solidFill>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rPr>
                        <a:t>Contract signed by the MD.</a:t>
                      </a:r>
                      <a:endParaRPr lang="fr" sz="1000" dirty="0">
                        <a:solidFill>
                          <a:schemeClr val="tx1"/>
                        </a:solidFill>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rPr>
                        <a:t>Awaiting signature from the congregation.</a:t>
                      </a:r>
                      <a:endParaRPr lang="fr" sz="1000" dirty="0">
                        <a:solidFill>
                          <a:schemeClr val="tx1"/>
                        </a:solidFill>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25015444"/>
                  </a:ext>
                </a:extLst>
              </a:tr>
            </a:tbl>
          </a:graphicData>
        </a:graphic>
      </p:graphicFrame>
      <p:sp>
        <p:nvSpPr>
          <p:cNvPr id="3" name="TextBox 2">
            <a:extLst>
              <a:ext uri="{FF2B5EF4-FFF2-40B4-BE49-F238E27FC236}">
                <a16:creationId xmlns:a16="http://schemas.microsoft.com/office/drawing/2014/main" id="{451D5454-AA3F-4A18-2FDE-256FDD212C12}"/>
              </a:ext>
            </a:extLst>
          </p:cNvPr>
          <p:cNvSpPr txBox="1"/>
          <p:nvPr/>
        </p:nvSpPr>
        <p:spPr>
          <a:xfrm>
            <a:off x="7379403" y="975204"/>
            <a:ext cx="4590639" cy="938719"/>
          </a:xfrm>
          <a:prstGeom prst="rect">
            <a:avLst/>
          </a:prstGeom>
          <a:noFill/>
        </p:spPr>
        <p:txBody>
          <a:bodyPr wrap="square" rtlCol="0">
            <a:spAutoFit/>
          </a:bodyPr>
          <a:lstStyle/>
          <a:p>
            <a:pPr algn="just"/>
            <a:r>
              <a:rPr lang="fr-FR" sz="1100" dirty="0" err="1"/>
              <a:t>Resumption</a:t>
            </a:r>
            <a:r>
              <a:rPr lang="fr-FR" sz="1100" dirty="0"/>
              <a:t> of agricultural </a:t>
            </a:r>
            <a:r>
              <a:rPr lang="fr-FR" sz="1100" dirty="0" err="1"/>
              <a:t>activities</a:t>
            </a:r>
            <a:r>
              <a:rPr lang="fr-FR" sz="1100" dirty="0"/>
              <a:t> for the </a:t>
            </a:r>
            <a:r>
              <a:rPr lang="fr-FR" sz="1100" dirty="0" err="1"/>
              <a:t>communities</a:t>
            </a:r>
            <a:r>
              <a:rPr lang="fr-FR" sz="1100" dirty="0"/>
              <a:t> of Nkumba and Malanga Cité </a:t>
            </a:r>
            <a:r>
              <a:rPr lang="fr-FR" sz="1100" dirty="0" err="1"/>
              <a:t>planned</a:t>
            </a:r>
            <a:r>
              <a:rPr lang="fr-FR" sz="1100" dirty="0"/>
              <a:t> for September 2026.</a:t>
            </a:r>
          </a:p>
          <a:p>
            <a:pPr lvl="0"/>
            <a:r>
              <a:rPr lang="fr-FR" sz="1100" dirty="0" err="1"/>
              <a:t>Finalization</a:t>
            </a:r>
            <a:r>
              <a:rPr lang="fr-FR" sz="1100" dirty="0"/>
              <a:t> of the </a:t>
            </a:r>
            <a:r>
              <a:rPr lang="fr-FR" sz="1100" b="1" dirty="0" err="1"/>
              <a:t>ploughing</a:t>
            </a:r>
            <a:r>
              <a:rPr lang="fr-FR" sz="1100" b="1" dirty="0"/>
              <a:t> </a:t>
            </a:r>
            <a:r>
              <a:rPr lang="fr-FR" sz="1100" b="1" dirty="0" err="1"/>
              <a:t>operation</a:t>
            </a:r>
            <a:r>
              <a:rPr lang="fr-FR" sz="1100" dirty="0"/>
              <a:t> for the 10 hectares </a:t>
            </a:r>
            <a:r>
              <a:rPr lang="fr-FR" sz="1100" dirty="0" err="1"/>
              <a:t>planned</a:t>
            </a:r>
            <a:r>
              <a:rPr lang="fr-FR" sz="1100" dirty="0"/>
              <a:t> for </a:t>
            </a:r>
            <a:r>
              <a:rPr lang="fr-FR" sz="1100" dirty="0" err="1"/>
              <a:t>this</a:t>
            </a:r>
            <a:r>
              <a:rPr lang="fr-FR" sz="1100" dirty="0"/>
              <a:t> </a:t>
            </a:r>
            <a:r>
              <a:rPr lang="fr-FR" sz="1100" dirty="0" err="1"/>
              <a:t>week</a:t>
            </a:r>
            <a:r>
              <a:rPr lang="fr-FR" sz="1100" dirty="0"/>
              <a:t>. </a:t>
            </a:r>
          </a:p>
          <a:p>
            <a:pPr lvl="0"/>
            <a:r>
              <a:rPr lang="fr-FR" sz="1100" b="1" dirty="0"/>
              <a:t>The </a:t>
            </a:r>
            <a:r>
              <a:rPr lang="fr-FR" sz="1100" b="1" dirty="0" err="1"/>
              <a:t>harrowing</a:t>
            </a:r>
            <a:r>
              <a:rPr lang="fr-FR" sz="1100" b="1" dirty="0"/>
              <a:t> </a:t>
            </a:r>
            <a:r>
              <a:rPr lang="fr-FR" sz="1100" b="1" dirty="0" err="1"/>
              <a:t>operation</a:t>
            </a:r>
            <a:r>
              <a:rPr lang="fr-FR" sz="1100" dirty="0"/>
              <a:t> </a:t>
            </a:r>
            <a:r>
              <a:rPr lang="fr-FR" sz="1100" dirty="0" err="1"/>
              <a:t>is</a:t>
            </a:r>
            <a:r>
              <a:rPr lang="fr-FR" sz="1100" dirty="0"/>
              <a:t> </a:t>
            </a:r>
            <a:r>
              <a:rPr lang="fr-FR" sz="1100" dirty="0" err="1"/>
              <a:t>scheduled</a:t>
            </a:r>
            <a:r>
              <a:rPr lang="fr-FR" sz="1100" dirty="0"/>
              <a:t> to </a:t>
            </a:r>
            <a:r>
              <a:rPr lang="fr-FR" sz="1100" dirty="0" err="1"/>
              <a:t>begin</a:t>
            </a:r>
            <a:r>
              <a:rPr lang="fr-FR" sz="1100" dirty="0"/>
              <a:t> once the </a:t>
            </a:r>
            <a:r>
              <a:rPr lang="fr-FR" sz="1100" dirty="0" err="1"/>
              <a:t>rains</a:t>
            </a:r>
            <a:r>
              <a:rPr lang="fr-FR" sz="1100" dirty="0"/>
              <a:t> </a:t>
            </a:r>
            <a:r>
              <a:rPr lang="fr-FR" sz="1100" dirty="0" err="1"/>
              <a:t>resume</a:t>
            </a:r>
            <a:r>
              <a:rPr lang="fr-FR" sz="1100" dirty="0"/>
              <a:t>.</a:t>
            </a:r>
          </a:p>
        </p:txBody>
      </p:sp>
      <p:sp>
        <p:nvSpPr>
          <p:cNvPr id="11" name="Oval 10">
            <a:extLst>
              <a:ext uri="{FF2B5EF4-FFF2-40B4-BE49-F238E27FC236}">
                <a16:creationId xmlns:a16="http://schemas.microsoft.com/office/drawing/2014/main" id="{7EE8CCEA-5011-448D-659B-97DB8FB3D384}"/>
              </a:ext>
            </a:extLst>
          </p:cNvPr>
          <p:cNvSpPr/>
          <p:nvPr/>
        </p:nvSpPr>
        <p:spPr>
          <a:xfrm>
            <a:off x="6377247" y="4253079"/>
            <a:ext cx="861613" cy="86161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399FA44-B7E9-0996-18BE-BBC32E74ED84}"/>
              </a:ext>
            </a:extLst>
          </p:cNvPr>
          <p:cNvSpPr txBox="1"/>
          <p:nvPr/>
        </p:nvSpPr>
        <p:spPr>
          <a:xfrm>
            <a:off x="7478449" y="4075241"/>
            <a:ext cx="4479849" cy="2062103"/>
          </a:xfrm>
          <a:prstGeom prst="rect">
            <a:avLst/>
          </a:prstGeom>
          <a:noFill/>
          <a:ln w="6350">
            <a:noFill/>
            <a:prstDash val="dash"/>
          </a:ln>
        </p:spPr>
        <p:txBody>
          <a:bodyPr wrap="square" lIns="0" tIns="0" rIns="0" bIns="0" rtlCol="0">
            <a:spAutoFit/>
          </a:bodyPr>
          <a:lstStyle/>
          <a:p>
            <a:r>
              <a:rPr lang="fr-FR" sz="1600" b="1" dirty="0" err="1">
                <a:solidFill>
                  <a:schemeClr val="accent1">
                    <a:lumMod val="50000"/>
                  </a:schemeClr>
                </a:solidFill>
              </a:rPr>
              <a:t>Electricity</a:t>
            </a:r>
            <a:endParaRPr lang="fr" sz="1600" b="1" dirty="0">
              <a:solidFill>
                <a:schemeClr val="accent1">
                  <a:lumMod val="50000"/>
                </a:schemeClr>
              </a:solidFill>
            </a:endParaRPr>
          </a:p>
          <a:p>
            <a:endParaRPr lang="en-US" sz="800" b="1" dirty="0">
              <a:solidFill>
                <a:schemeClr val="accent1">
                  <a:lumMod val="50000"/>
                </a:schemeClr>
              </a:solidFill>
            </a:endParaRPr>
          </a:p>
          <a:p>
            <a:r>
              <a:rPr lang="fr-FR" sz="1100" b="1" dirty="0" err="1"/>
              <a:t>Completion</a:t>
            </a:r>
            <a:r>
              <a:rPr lang="fr-FR" sz="1100" b="1" dirty="0"/>
              <a:t>: 80%</a:t>
            </a:r>
            <a:r>
              <a:rPr lang="fr-FR" sz="1100" dirty="0"/>
              <a:t> (Materials 100%, Financing 80%, </a:t>
            </a:r>
            <a:r>
              <a:rPr lang="fr-FR" sz="1100" dirty="0" err="1"/>
              <a:t>technical</a:t>
            </a:r>
            <a:r>
              <a:rPr lang="fr-FR" sz="1100" dirty="0"/>
              <a:t> 60%)</a:t>
            </a:r>
          </a:p>
          <a:p>
            <a:endParaRPr lang="fr-FR" sz="1100" b="1" dirty="0"/>
          </a:p>
          <a:p>
            <a:r>
              <a:rPr lang="fr-FR" sz="1100" b="1" dirty="0" err="1"/>
              <a:t>Ongoing</a:t>
            </a:r>
            <a:r>
              <a:rPr lang="fr-FR" sz="1100" b="1" dirty="0"/>
              <a:t> </a:t>
            </a:r>
            <a:r>
              <a:rPr lang="fr-FR" sz="1100" b="1" dirty="0" err="1"/>
              <a:t>works</a:t>
            </a:r>
            <a:r>
              <a:rPr lang="fr-FR" sz="1100" b="1" dirty="0"/>
              <a:t>:</a:t>
            </a:r>
            <a:endParaRPr lang="fr-FR" sz="1100" dirty="0"/>
          </a:p>
          <a:p>
            <a:pPr lvl="0"/>
            <a:r>
              <a:rPr lang="fr-FR" sz="1100" dirty="0" err="1"/>
              <a:t>Improvement</a:t>
            </a:r>
            <a:r>
              <a:rPr lang="fr-FR" sz="1100" dirty="0"/>
              <a:t> of the </a:t>
            </a:r>
            <a:r>
              <a:rPr lang="fr-FR" sz="1100" dirty="0" err="1"/>
              <a:t>grounding</a:t>
            </a:r>
            <a:r>
              <a:rPr lang="fr-FR" sz="1100" dirty="0"/>
              <a:t> </a:t>
            </a:r>
            <a:r>
              <a:rPr lang="fr-FR" sz="1100" dirty="0" err="1"/>
              <a:t>systems</a:t>
            </a:r>
            <a:r>
              <a:rPr lang="fr-FR" sz="1100" dirty="0"/>
              <a:t> </a:t>
            </a:r>
          </a:p>
          <a:p>
            <a:pPr lvl="0"/>
            <a:r>
              <a:rPr lang="fr-FR" sz="1100" dirty="0"/>
              <a:t>Expansion of the control room to </a:t>
            </a:r>
            <a:r>
              <a:rPr lang="fr-FR" sz="1100" dirty="0" err="1"/>
              <a:t>allow</a:t>
            </a:r>
            <a:r>
              <a:rPr lang="fr-FR" sz="1100" dirty="0"/>
              <a:t> </a:t>
            </a:r>
            <a:r>
              <a:rPr lang="fr-FR" sz="1100" dirty="0" err="1"/>
              <a:t>access</a:t>
            </a:r>
            <a:r>
              <a:rPr lang="fr-FR" sz="1100" dirty="0"/>
              <a:t> to the </a:t>
            </a:r>
            <a:r>
              <a:rPr lang="fr-FR" sz="1100" dirty="0" err="1"/>
              <a:t>acquired</a:t>
            </a:r>
            <a:r>
              <a:rPr lang="fr-FR" sz="1100" dirty="0"/>
              <a:t> </a:t>
            </a:r>
            <a:r>
              <a:rPr lang="fr-FR" sz="1100" dirty="0" err="1"/>
              <a:t>cells</a:t>
            </a:r>
            <a:r>
              <a:rPr lang="fr-FR" sz="1100" dirty="0"/>
              <a:t>. </a:t>
            </a:r>
          </a:p>
          <a:p>
            <a:endParaRPr lang="fr-FR" sz="1100" b="1" dirty="0"/>
          </a:p>
          <a:p>
            <a:r>
              <a:rPr lang="fr-FR" sz="1100" b="1" dirty="0"/>
              <a:t>Progress </a:t>
            </a:r>
            <a:r>
              <a:rPr lang="fr-FR" sz="1100" b="1" dirty="0" err="1"/>
              <a:t>status</a:t>
            </a:r>
            <a:r>
              <a:rPr lang="fr-FR" sz="1100" b="1" dirty="0"/>
              <a:t>:</a:t>
            </a:r>
            <a:endParaRPr lang="fr-FR" sz="1100" dirty="0"/>
          </a:p>
          <a:p>
            <a:pPr lvl="0"/>
            <a:r>
              <a:rPr lang="fr-FR" sz="1100" dirty="0"/>
              <a:t>Zamba 1: </a:t>
            </a:r>
            <a:r>
              <a:rPr lang="fr-FR" sz="1100" dirty="0" err="1"/>
              <a:t>two</a:t>
            </a:r>
            <a:r>
              <a:rPr lang="fr-FR" sz="1100" dirty="0"/>
              <a:t> </a:t>
            </a:r>
            <a:r>
              <a:rPr lang="fr-FR" sz="1100" dirty="0" err="1"/>
              <a:t>cabins</a:t>
            </a:r>
            <a:r>
              <a:rPr lang="fr-FR" sz="1100" dirty="0"/>
              <a:t> </a:t>
            </a:r>
            <a:r>
              <a:rPr lang="fr-FR" sz="1100" dirty="0" err="1"/>
              <a:t>installed</a:t>
            </a:r>
            <a:r>
              <a:rPr lang="fr-FR" sz="1100" dirty="0"/>
              <a:t>; </a:t>
            </a:r>
          </a:p>
          <a:p>
            <a:pPr lvl="0"/>
            <a:r>
              <a:rPr lang="fr-FR" sz="1100" dirty="0"/>
              <a:t>Malanga Cité: a </a:t>
            </a:r>
            <a:r>
              <a:rPr lang="fr-FR" sz="1100" dirty="0" err="1"/>
              <a:t>letter</a:t>
            </a:r>
            <a:r>
              <a:rPr lang="fr-FR" sz="1100" dirty="0"/>
              <a:t> </a:t>
            </a:r>
            <a:r>
              <a:rPr lang="fr-FR" sz="1100" dirty="0" err="1"/>
              <a:t>was</a:t>
            </a:r>
            <a:r>
              <a:rPr lang="fr-FR" sz="1100" dirty="0"/>
              <a:t> sent to the </a:t>
            </a:r>
            <a:r>
              <a:rPr lang="fr-FR" sz="1100" dirty="0" err="1"/>
              <a:t>Sonogololo</a:t>
            </a:r>
            <a:r>
              <a:rPr lang="fr-FR" sz="1100" dirty="0"/>
              <a:t> AT for the </a:t>
            </a:r>
            <a:r>
              <a:rPr lang="fr-FR" sz="1100" dirty="0" err="1"/>
              <a:t>formalities</a:t>
            </a:r>
            <a:r>
              <a:rPr lang="fr-FR" sz="1100" dirty="0"/>
              <a:t> </a:t>
            </a:r>
            <a:r>
              <a:rPr lang="fr-FR" sz="1100" dirty="0" err="1"/>
              <a:t>related</a:t>
            </a:r>
            <a:r>
              <a:rPr lang="fr-FR" sz="1100" dirty="0"/>
              <a:t> to the new transformer site, </a:t>
            </a:r>
            <a:r>
              <a:rPr lang="fr-FR" sz="1100" dirty="0" err="1"/>
              <a:t>pending</a:t>
            </a:r>
            <a:r>
              <a:rPr lang="fr-FR" sz="1100" dirty="0"/>
              <a:t> for </a:t>
            </a:r>
            <a:r>
              <a:rPr lang="fr-FR" sz="1100" dirty="0" err="1"/>
              <a:t>his</a:t>
            </a:r>
            <a:r>
              <a:rPr lang="fr-FR" sz="1100" dirty="0"/>
              <a:t> feedback</a:t>
            </a:r>
          </a:p>
        </p:txBody>
      </p:sp>
      <p:graphicFrame>
        <p:nvGraphicFramePr>
          <p:cNvPr id="42" name="Chart 41">
            <a:extLst>
              <a:ext uri="{FF2B5EF4-FFF2-40B4-BE49-F238E27FC236}">
                <a16:creationId xmlns:a16="http://schemas.microsoft.com/office/drawing/2014/main" id="{7BD704D7-0DF5-44A0-5031-677089E16B52}"/>
              </a:ext>
            </a:extLst>
          </p:cNvPr>
          <p:cNvGraphicFramePr/>
          <p:nvPr/>
        </p:nvGraphicFramePr>
        <p:xfrm>
          <a:off x="5958439" y="3752951"/>
          <a:ext cx="1685299" cy="1388100"/>
        </p:xfrm>
        <a:graphic>
          <a:graphicData uri="http://schemas.openxmlformats.org/drawingml/2006/chart">
            <c:chart xmlns:c="http://schemas.openxmlformats.org/drawingml/2006/chart" xmlns:r="http://schemas.openxmlformats.org/officeDocument/2006/relationships" r:id="rId6"/>
          </a:graphicData>
        </a:graphic>
      </p:graphicFrame>
      <p:sp>
        <p:nvSpPr>
          <p:cNvPr id="47" name="Oval 46">
            <a:extLst>
              <a:ext uri="{FF2B5EF4-FFF2-40B4-BE49-F238E27FC236}">
                <a16:creationId xmlns:a16="http://schemas.microsoft.com/office/drawing/2014/main" id="{E3B8D1E9-1323-99ED-5C60-C86BA808BC49}"/>
              </a:ext>
            </a:extLst>
          </p:cNvPr>
          <p:cNvSpPr/>
          <p:nvPr/>
        </p:nvSpPr>
        <p:spPr>
          <a:xfrm>
            <a:off x="6360010" y="4007568"/>
            <a:ext cx="861613" cy="861614"/>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descr="Une ampoule avec un éclair&#10;&#10;Le contenu généré par l'IA peut être incorrect.">
            <a:extLst>
              <a:ext uri="{FF2B5EF4-FFF2-40B4-BE49-F238E27FC236}">
                <a16:creationId xmlns:a16="http://schemas.microsoft.com/office/drawing/2014/main" id="{CD8EF82D-88F5-F3AF-79C6-DFF29011B81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82433" y="4199003"/>
            <a:ext cx="456115" cy="456115"/>
          </a:xfrm>
          <a:prstGeom prst="rect">
            <a:avLst/>
          </a:prstGeom>
        </p:spPr>
      </p:pic>
      <p:sp>
        <p:nvSpPr>
          <p:cNvPr id="4" name="Shape 0">
            <a:extLst>
              <a:ext uri="{FF2B5EF4-FFF2-40B4-BE49-F238E27FC236}">
                <a16:creationId xmlns:a16="http://schemas.microsoft.com/office/drawing/2014/main" id="{5743531D-107F-6F7E-BFB4-BECFED160123}"/>
              </a:ext>
            </a:extLst>
          </p:cNvPr>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6" name="Shape 1">
            <a:extLst>
              <a:ext uri="{FF2B5EF4-FFF2-40B4-BE49-F238E27FC236}">
                <a16:creationId xmlns:a16="http://schemas.microsoft.com/office/drawing/2014/main" id="{7639254F-0A00-EF20-E5FA-E0F5BDD49AFD}"/>
              </a:ext>
            </a:extLst>
          </p:cNvPr>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8" name="Shape 2">
            <a:extLst>
              <a:ext uri="{FF2B5EF4-FFF2-40B4-BE49-F238E27FC236}">
                <a16:creationId xmlns:a16="http://schemas.microsoft.com/office/drawing/2014/main" id="{F4561A6B-8CF4-9ECD-3535-79649DD4E4B8}"/>
              </a:ext>
            </a:extLst>
          </p:cNvPr>
          <p:cNvSpPr/>
          <p:nvPr/>
        </p:nvSpPr>
        <p:spPr>
          <a:xfrm>
            <a:off x="292608" y="146304"/>
            <a:ext cx="365760" cy="365760"/>
          </a:xfrm>
          <a:prstGeom prst="roundRect">
            <a:avLst>
              <a:gd name="adj" fmla="val 15000"/>
            </a:avLst>
          </a:prstGeom>
          <a:solidFill>
            <a:srgbClr val="E30613"/>
          </a:solidFill>
          <a:ln w="12700">
            <a:solidFill>
              <a:srgbClr val="E30613"/>
            </a:solidFill>
            <a:prstDash val="solid"/>
          </a:ln>
        </p:spPr>
        <p:txBody>
          <a:bodyPr/>
          <a:lstStyle/>
          <a:p>
            <a:endParaRPr lang="fr-FR"/>
          </a:p>
        </p:txBody>
      </p:sp>
      <p:sp>
        <p:nvSpPr>
          <p:cNvPr id="10" name="Text 3">
            <a:extLst>
              <a:ext uri="{FF2B5EF4-FFF2-40B4-BE49-F238E27FC236}">
                <a16:creationId xmlns:a16="http://schemas.microsoft.com/office/drawing/2014/main" id="{9BC6DBC3-2A8F-00EF-CA52-BD83F0007438}"/>
              </a:ext>
            </a:extLst>
          </p:cNvPr>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07</a:t>
            </a:r>
            <a:endParaRPr lang="en-US" sz="1200" dirty="0"/>
          </a:p>
        </p:txBody>
      </p:sp>
      <p:sp>
        <p:nvSpPr>
          <p:cNvPr id="22" name="Text 4">
            <a:extLst>
              <a:ext uri="{FF2B5EF4-FFF2-40B4-BE49-F238E27FC236}">
                <a16:creationId xmlns:a16="http://schemas.microsoft.com/office/drawing/2014/main" id="{A9D301C8-40BC-4BD4-E07D-1FFEB005621F}"/>
              </a:ext>
            </a:extLst>
          </p:cNvPr>
          <p:cNvSpPr/>
          <p:nvPr/>
        </p:nvSpPr>
        <p:spPr>
          <a:xfrm>
            <a:off x="804672" y="128016"/>
            <a:ext cx="4572000" cy="146304"/>
          </a:xfrm>
          <a:prstGeom prst="rect">
            <a:avLst/>
          </a:prstGeom>
          <a:noFill/>
          <a:ln/>
        </p:spPr>
        <p:txBody>
          <a:bodyPr wrap="square" rtlCol="0" anchor="ctr"/>
          <a:lstStyle/>
          <a:p>
            <a:pPr marL="0" indent="0">
              <a:buNone/>
            </a:pPr>
            <a:r>
              <a:rPr lang="en-US" sz="900" b="1" dirty="0">
                <a:solidFill>
                  <a:srgbClr val="E30613"/>
                </a:solidFill>
                <a:latin typeface="Segoe UI" pitchFamily="34" charset="0"/>
                <a:ea typeface="Segoe UI" pitchFamily="34" charset="-122"/>
                <a:cs typeface="Segoe UI" pitchFamily="34" charset="-120"/>
              </a:rPr>
              <a:t>PPC · HR EXCO</a:t>
            </a:r>
            <a:endParaRPr lang="en-US" sz="900" dirty="0"/>
          </a:p>
        </p:txBody>
      </p:sp>
      <p:sp>
        <p:nvSpPr>
          <p:cNvPr id="24" name="Text 5">
            <a:extLst>
              <a:ext uri="{FF2B5EF4-FFF2-40B4-BE49-F238E27FC236}">
                <a16:creationId xmlns:a16="http://schemas.microsoft.com/office/drawing/2014/main" id="{C7282174-E393-2D49-345E-4324097C097F}"/>
              </a:ext>
            </a:extLst>
          </p:cNvPr>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CSR _ Cahier des Charges</a:t>
            </a:r>
            <a:endParaRPr lang="en-US" sz="1800" dirty="0"/>
          </a:p>
        </p:txBody>
      </p:sp>
      <p:sp>
        <p:nvSpPr>
          <p:cNvPr id="26" name="Text 6">
            <a:extLst>
              <a:ext uri="{FF2B5EF4-FFF2-40B4-BE49-F238E27FC236}">
                <a16:creationId xmlns:a16="http://schemas.microsoft.com/office/drawing/2014/main" id="{3ED9F399-6CFA-4385-4FA7-AEC6B537B70F}"/>
              </a:ext>
            </a:extLst>
          </p:cNvPr>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pic>
        <p:nvPicPr>
          <p:cNvPr id="5" name="Picture 4">
            <a:extLst>
              <a:ext uri="{FF2B5EF4-FFF2-40B4-BE49-F238E27FC236}">
                <a16:creationId xmlns:a16="http://schemas.microsoft.com/office/drawing/2014/main" id="{AC228E7E-2CEC-5186-2E06-411D7A4DA160}"/>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contrast="20000"/>
                    </a14:imgEffect>
                  </a14:imgLayer>
                </a14:imgProps>
              </a:ext>
            </a:extLst>
          </a:blip>
          <a:srcRect l="12298" t="1208" r="8438" b="27561"/>
          <a:stretch>
            <a:fillRect/>
          </a:stretch>
        </p:blipFill>
        <p:spPr>
          <a:xfrm>
            <a:off x="3290019" y="3809645"/>
            <a:ext cx="2631839" cy="2984347"/>
          </a:xfrm>
          <a:prstGeom prst="rect">
            <a:avLst/>
          </a:prstGeom>
        </p:spPr>
      </p:pic>
      <p:sp>
        <p:nvSpPr>
          <p:cNvPr id="9" name="TextBox 8">
            <a:extLst>
              <a:ext uri="{FF2B5EF4-FFF2-40B4-BE49-F238E27FC236}">
                <a16:creationId xmlns:a16="http://schemas.microsoft.com/office/drawing/2014/main" id="{CBFEDFF4-96EF-A657-85C7-1EFE099D7141}"/>
              </a:ext>
            </a:extLst>
          </p:cNvPr>
          <p:cNvSpPr txBox="1"/>
          <p:nvPr/>
        </p:nvSpPr>
        <p:spPr>
          <a:xfrm>
            <a:off x="3791567" y="3852969"/>
            <a:ext cx="1490533" cy="261610"/>
          </a:xfrm>
          <a:prstGeom prst="rect">
            <a:avLst/>
          </a:prstGeom>
          <a:solidFill>
            <a:schemeClr val="bg1"/>
          </a:solidFill>
        </p:spPr>
        <p:txBody>
          <a:bodyPr wrap="square">
            <a:spAutoFit/>
          </a:bodyPr>
          <a:lstStyle/>
          <a:p>
            <a:pPr algn="ctr">
              <a:buNone/>
            </a:pPr>
            <a:r>
              <a:rPr lang="fr-FR" sz="1100" b="1" dirty="0"/>
              <a:t>Zamba : Water Tank</a:t>
            </a:r>
            <a:endParaRPr lang="fr" sz="1100" b="1" dirty="0"/>
          </a:p>
        </p:txBody>
      </p:sp>
    </p:spTree>
    <p:extLst>
      <p:ext uri="{BB962C8B-B14F-4D97-AF65-F5344CB8AC3E}">
        <p14:creationId xmlns:p14="http://schemas.microsoft.com/office/powerpoint/2010/main" val="3208364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E8E8EC"/>
        </a:solidFill>
        <a:effectLst/>
      </p:bgPr>
    </p:bg>
    <p:spTree>
      <p:nvGrpSpPr>
        <p:cNvPr id="1" name=""/>
        <p:cNvGrpSpPr/>
        <p:nvPr/>
      </p:nvGrpSpPr>
      <p:grpSpPr>
        <a:xfrm>
          <a:off x="0" y="0"/>
          <a:ext cx="0" cy="0"/>
          <a:chOff x="0" y="0"/>
          <a:chExt cx="0" cy="0"/>
        </a:xfrm>
      </p:grpSpPr>
      <p:pic>
        <p:nvPicPr>
          <p:cNvPr id="2" name="Image 0" descr="D:\Apps\hr-rh-app\templates\exco\cover-assets\slide-fade.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4" name="Shape 1"/>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Shape 2"/>
          <p:cNvSpPr/>
          <p:nvPr/>
        </p:nvSpPr>
        <p:spPr>
          <a:xfrm>
            <a:off x="292608" y="146304"/>
            <a:ext cx="365760" cy="365760"/>
          </a:xfrm>
          <a:prstGeom prst="roundRect">
            <a:avLst>
              <a:gd name="adj" fmla="val 15000"/>
            </a:avLst>
          </a:prstGeom>
          <a:solidFill>
            <a:srgbClr val="E30613"/>
          </a:solidFill>
          <a:ln w="12700">
            <a:solidFill>
              <a:srgbClr val="E30613"/>
            </a:solidFill>
            <a:prstDash val="solid"/>
          </a:ln>
        </p:spPr>
        <p:txBody>
          <a:bodyPr/>
          <a:lstStyle/>
          <a:p>
            <a:endParaRPr lang="fr-FR"/>
          </a:p>
        </p:txBody>
      </p:sp>
      <p:sp>
        <p:nvSpPr>
          <p:cNvPr id="6" name="Text 3"/>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08</a:t>
            </a:r>
            <a:endParaRPr lang="en-US" sz="1200" dirty="0"/>
          </a:p>
        </p:txBody>
      </p:sp>
      <p:sp>
        <p:nvSpPr>
          <p:cNvPr id="7" name="Text 4"/>
          <p:cNvSpPr/>
          <p:nvPr/>
        </p:nvSpPr>
        <p:spPr>
          <a:xfrm>
            <a:off x="804672" y="128016"/>
            <a:ext cx="4572000" cy="146304"/>
          </a:xfrm>
          <a:prstGeom prst="rect">
            <a:avLst/>
          </a:prstGeom>
          <a:noFill/>
          <a:ln/>
        </p:spPr>
        <p:txBody>
          <a:bodyPr wrap="square" rtlCol="0" anchor="ctr"/>
          <a:lstStyle/>
          <a:p>
            <a:pPr marL="0" indent="0">
              <a:buNone/>
            </a:pPr>
            <a:r>
              <a:rPr lang="en-US" sz="900" b="1" dirty="0">
                <a:solidFill>
                  <a:srgbClr val="E30613"/>
                </a:solidFill>
                <a:latin typeface="Segoe UI" pitchFamily="34" charset="0"/>
                <a:ea typeface="Segoe UI" pitchFamily="34" charset="-122"/>
                <a:cs typeface="Segoe UI" pitchFamily="34" charset="-120"/>
              </a:rPr>
              <a:t>PPC · HR EXCO</a:t>
            </a:r>
            <a:endParaRPr lang="en-US" sz="900" dirty="0"/>
          </a:p>
        </p:txBody>
      </p:sp>
      <p:sp>
        <p:nvSpPr>
          <p:cNvPr id="8" name="Text 5"/>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Recruitment – FY27</a:t>
            </a:r>
            <a:endParaRPr lang="en-US" sz="1800" dirty="0"/>
          </a:p>
        </p:txBody>
      </p:sp>
      <p:sp>
        <p:nvSpPr>
          <p:cNvPr id="9" name="Text 6"/>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10" name="Shape 7"/>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11" name="Shape 8"/>
          <p:cNvSpPr/>
          <p:nvPr/>
        </p:nvSpPr>
        <p:spPr>
          <a:xfrm>
            <a:off x="256032" y="649224"/>
            <a:ext cx="11658600" cy="5952744"/>
          </a:xfrm>
          <a:prstGeom prst="roundRect">
            <a:avLst>
              <a:gd name="adj" fmla="val 1270"/>
            </a:avLst>
          </a:prstGeom>
          <a:solidFill>
            <a:srgbClr val="FFFFFF"/>
          </a:solidFill>
          <a:ln w="12700">
            <a:solidFill>
              <a:srgbClr val="E0E0E6"/>
            </a:solidFill>
            <a:prstDash val="solid"/>
          </a:ln>
        </p:spPr>
        <p:txBody>
          <a:bodyPr/>
          <a:lstStyle/>
          <a:p>
            <a:endParaRPr lang="fr-FR"/>
          </a:p>
        </p:txBody>
      </p:sp>
      <p:sp>
        <p:nvSpPr>
          <p:cNvPr id="13" name="Text 10"/>
          <p:cNvSpPr/>
          <p:nvPr/>
        </p:nvSpPr>
        <p:spPr>
          <a:xfrm>
            <a:off x="365760" y="677799"/>
            <a:ext cx="7315200" cy="182880"/>
          </a:xfrm>
          <a:prstGeom prst="rect">
            <a:avLst/>
          </a:prstGeom>
          <a:noFill/>
          <a:ln/>
        </p:spPr>
        <p:txBody>
          <a:bodyPr wrap="square" rtlCol="0" anchor="ctr"/>
          <a:lstStyle/>
          <a:p>
            <a:pPr marL="0" indent="0">
              <a:buNone/>
            </a:pPr>
            <a:r>
              <a:rPr lang="en-US" sz="1200" b="1" dirty="0">
                <a:solidFill>
                  <a:srgbClr val="E30613"/>
                </a:solidFill>
                <a:latin typeface="Segoe UI" pitchFamily="34" charset="0"/>
                <a:ea typeface="Segoe UI" pitchFamily="34" charset="-122"/>
                <a:cs typeface="Segoe UI" pitchFamily="34" charset="-120"/>
              </a:rPr>
              <a:t>1. Replacements</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3849054086"/>
              </p:ext>
            </p:extLst>
          </p:nvPr>
        </p:nvGraphicFramePr>
        <p:xfrm>
          <a:off x="329184" y="908304"/>
          <a:ext cx="10972798" cy="2460244"/>
        </p:xfrm>
        <a:graphic>
          <a:graphicData uri="http://schemas.openxmlformats.org/drawingml/2006/table">
            <a:tbl>
              <a:tblPr/>
              <a:tblGrid>
                <a:gridCol w="169164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3063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1417319">
                  <a:extLst>
                    <a:ext uri="{9D8B030D-6E8A-4147-A177-3AD203B41FA5}">
                      <a16:colId xmlns:a16="http://schemas.microsoft.com/office/drawing/2014/main" val="20005"/>
                    </a:ext>
                  </a:extLst>
                </a:gridCol>
                <a:gridCol w="1417319">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187452">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Position</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Grades</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Status</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Comments</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Budgeted</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Department</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Location</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Contract type</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extLst>
                  <a:ext uri="{0D108BD9-81ED-4DB2-BD59-A6C34878D82A}">
                    <a16:rowId xmlns:a16="http://schemas.microsoft.com/office/drawing/2014/main" val="10000"/>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Sales and Marketing Head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D5</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Done</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1200" dirty="0">
                          <a:solidFill>
                            <a:srgbClr val="000000"/>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Sales and Marketing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HQ</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Logistic superintendent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D1</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Cancelled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EE2E2"/>
                    </a:solidFill>
                  </a:tcPr>
                </a:tc>
                <a:tc>
                  <a:txBody>
                    <a:bodyPr/>
                    <a:lstStyle/>
                    <a:p>
                      <a:pPr marL="0" indent="0" algn="l">
                        <a:buNone/>
                      </a:pPr>
                      <a:r>
                        <a:rPr lang="en-US" sz="1200" dirty="0">
                          <a:solidFill>
                            <a:srgbClr val="000000"/>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Supply Chain</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HQ</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Internal Auditor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Started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EE2E2"/>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Awaiting shortlist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Audit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HQ</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688905203"/>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Legal Counsel</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C4</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Started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EE2E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dirty="0">
                          <a:solidFill>
                            <a:srgbClr val="16161E"/>
                          </a:solidFill>
                          <a:latin typeface="Segoe UI" pitchFamily="34" charset="0"/>
                          <a:ea typeface="Segoe UI" pitchFamily="34" charset="-122"/>
                          <a:cs typeface="Segoe UI" pitchFamily="34" charset="-120"/>
                        </a:rPr>
                        <a:t>Awaiting shortlist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Legal</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HQ</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934968638"/>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Warehouse Officer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C2</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Done</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EE2E2"/>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Notification letter awaiting signature</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Supply Chain</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Kisangani</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Outsourced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4072805278"/>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Instrumentation Foreman</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C4</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Started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BEAFE"/>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Interviews to be planned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Engineering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Plant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Lab Analyst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B5</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Done</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1200" dirty="0">
                          <a:solidFill>
                            <a:srgbClr val="000000"/>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QA</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Plant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QA Manager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D2</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Started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BEAFE"/>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Interviews </a:t>
                      </a:r>
                      <a:r>
                        <a:rPr lang="en-US" sz="700" dirty="0" err="1">
                          <a:solidFill>
                            <a:srgbClr val="16161E"/>
                          </a:solidFill>
                          <a:latin typeface="Segoe UI" pitchFamily="34" charset="0"/>
                          <a:ea typeface="Segoe UI" pitchFamily="34" charset="-122"/>
                          <a:cs typeface="Segoe UI" pitchFamily="34" charset="-120"/>
                        </a:rPr>
                        <a:t>ongiong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QA</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Plant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Fitter (Plumber)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C2</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Ongoing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BEAFE"/>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Awaiting for shortlist from the manager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Engineering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Plant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693572191"/>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Process Operator (2)</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C1</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Ongoing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BEAFE"/>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Offers to be sent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Production</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Plant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290924971"/>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Shift Supervisor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C3</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Ongoing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BEAFE"/>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Awaiting for shortlist from the manager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Production</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Plant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926714698"/>
                  </a:ext>
                </a:extLst>
              </a:tr>
            </a:tbl>
          </a:graphicData>
        </a:graphic>
      </p:graphicFrame>
      <p:sp>
        <p:nvSpPr>
          <p:cNvPr id="14" name="Text 11"/>
          <p:cNvSpPr/>
          <p:nvPr/>
        </p:nvSpPr>
        <p:spPr>
          <a:xfrm>
            <a:off x="365760" y="3383280"/>
            <a:ext cx="7315200" cy="182880"/>
          </a:xfrm>
          <a:prstGeom prst="rect">
            <a:avLst/>
          </a:prstGeom>
          <a:noFill/>
          <a:ln/>
        </p:spPr>
        <p:txBody>
          <a:bodyPr wrap="square" rtlCol="0" anchor="ctr"/>
          <a:lstStyle/>
          <a:p>
            <a:pPr marL="0" indent="0">
              <a:buNone/>
            </a:pPr>
            <a:r>
              <a:rPr lang="en-US" sz="1200" b="1" dirty="0">
                <a:solidFill>
                  <a:srgbClr val="E30613"/>
                </a:solidFill>
                <a:latin typeface="Segoe UI" pitchFamily="34" charset="0"/>
                <a:ea typeface="Segoe UI" pitchFamily="34" charset="-122"/>
                <a:cs typeface="Segoe UI" pitchFamily="34" charset="-120"/>
              </a:rPr>
              <a:t>2. New positions</a:t>
            </a:r>
            <a:endParaRPr lang="en-US" sz="1200" dirty="0"/>
          </a:p>
        </p:txBody>
      </p:sp>
      <p:graphicFrame>
        <p:nvGraphicFramePr>
          <p:cNvPr id="29" name="Table 1"/>
          <p:cNvGraphicFramePr>
            <a:graphicFrameLocks noGrp="1"/>
          </p:cNvGraphicFramePr>
          <p:nvPr>
            <p:extLst>
              <p:ext uri="{D42A27DB-BD31-4B8C-83A1-F6EECF244321}">
                <p14:modId xmlns:p14="http://schemas.microsoft.com/office/powerpoint/2010/main" val="3423584406"/>
              </p:ext>
            </p:extLst>
          </p:nvPr>
        </p:nvGraphicFramePr>
        <p:xfrm>
          <a:off x="329184" y="3566160"/>
          <a:ext cx="10972800" cy="3161284"/>
        </p:xfrm>
        <a:graphic>
          <a:graphicData uri="http://schemas.openxmlformats.org/drawingml/2006/table">
            <a:tbl>
              <a:tblPr/>
              <a:tblGrid>
                <a:gridCol w="169164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3063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141732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187452">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Position</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Grades</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Status</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Comments</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Budgeted</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Department</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Location</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Contract type</a:t>
                      </a:r>
                      <a:endParaRPr lang="en-US" sz="800" dirty="0">
                        <a:latin typeface="Segoe UI" charset="0"/>
                        <a:ea typeface="Segoe UI" charset="0"/>
                        <a:cs typeface="Segoe UI" charset="0"/>
                      </a:endParaRPr>
                    </a:p>
                  </a:txBody>
                  <a:tcPr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9B1B24"/>
                    </a:solidFill>
                  </a:tcPr>
                </a:tc>
                <a:extLst>
                  <a:ext uri="{0D108BD9-81ED-4DB2-BD59-A6C34878D82A}">
                    <a16:rowId xmlns:a16="http://schemas.microsoft.com/office/drawing/2014/main" val="10000"/>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Maintenance Planner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C2</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Ongoing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EDD5"/>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Offer to be sent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Engineering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Plant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Mechanical foreman</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C4</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Started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BEAFE"/>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Awaiting for shortlist from the manager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EE2E2"/>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Engineering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Plant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Talent and development Manager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D2</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Ongoing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EDD5"/>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Interviews completed; awaiting the panel’s evaluations.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EE2E2"/>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HR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Plant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CPME Officer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C4</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Not started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4F5"/>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Vacancy to be advertised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CPME</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Plant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Lab Analyst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B5</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1200" dirty="0">
                          <a:solidFill>
                            <a:srgbClr val="000000"/>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4F5"/>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Candidate did not accept the offer, vacancy to be advertised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QA</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Plant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Outsourced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4223026525"/>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Buyer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C2</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Ongoing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EDD5"/>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Awaiting for shortlist from the manager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EE2E2"/>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Supply chain</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HQ</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Logistics and Customs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Started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EDD5"/>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Through Capital HR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EE2E2"/>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Supply Chain</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HQ</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Outsourced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827706700"/>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CRO (2)</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C2</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Done</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1200" dirty="0">
                          <a:solidFill>
                            <a:srgbClr val="000000"/>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Yes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Sales and Marketing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l">
                        <a:buNone/>
                      </a:pPr>
                      <a:r>
                        <a:rPr lang="en-US" sz="1200" dirty="0">
                          <a:solidFill>
                            <a:srgbClr val="000000"/>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1200" dirty="0">
                          <a:solidFill>
                            <a:srgbClr val="000000"/>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Sales Consultant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C2</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Ongoing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EDD5"/>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Interviews completed; Offer to be sent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EE2E2"/>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Sales and Marketing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Kindu</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Warehouse operator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C2</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Ongoing</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EDD5"/>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Offer to be sent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EE2E2"/>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Supply chain</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Kindu</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Permanent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Lab Analyst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1200" dirty="0">
                          <a:solidFill>
                            <a:srgbClr val="000000"/>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Not started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4F5"/>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Through Capital HR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EE2E2"/>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Albatros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Lubudi – Grand Katanga</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Outsourced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Community Liaison Assistant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Not started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4F5"/>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Through Capital HR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EE2E2"/>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Albatros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Lubudi – Grand Katanga</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Outsourced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Accountant – pettycash</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1200" dirty="0">
                          <a:solidFill>
                            <a:srgbClr val="000000"/>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Not started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4F5"/>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Through Capital HR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EE2E2"/>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Albatros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Lubudi – Grand Katanga</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Outsourced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12"/>
                  </a:ext>
                </a:extLst>
              </a:tr>
              <a:tr h="187452">
                <a:tc>
                  <a:txBody>
                    <a:bodyPr/>
                    <a:lstStyle/>
                    <a:p>
                      <a:pPr marL="0" indent="0" algn="l">
                        <a:buNone/>
                      </a:pPr>
                      <a:r>
                        <a:rPr lang="en-US" sz="700" b="1" dirty="0">
                          <a:solidFill>
                            <a:srgbClr val="16161E"/>
                          </a:solidFill>
                          <a:latin typeface="Segoe UI" pitchFamily="34" charset="0"/>
                          <a:ea typeface="Segoe UI" pitchFamily="34" charset="-122"/>
                          <a:cs typeface="Segoe UI" pitchFamily="34" charset="-120"/>
                        </a:rPr>
                        <a:t>Warehouse Assistant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1200" dirty="0">
                          <a:solidFill>
                            <a:srgbClr val="000000"/>
                          </a:solidFill>
                          <a:latin typeface="Segoe UI" pitchFamily="34" charset="0"/>
                          <a:ea typeface="Segoe UI" pitchFamily="34" charset="-122"/>
                          <a:cs typeface="Segoe UI" pitchFamily="34" charset="-120"/>
                        </a:rPr>
                        <a:t>—</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Not started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4F5"/>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Through Capital HR</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No</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EE2E2"/>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Albatros</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Lubudi – Grand Katanga</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rgbClr val="F4F6F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Outsourced</a:t>
                      </a:r>
                      <a:endParaRPr lang="en-US" sz="1200" dirty="0">
                        <a:latin typeface="Segoe UI" charset="0"/>
                        <a:ea typeface="Segoe UI" charset="0"/>
                        <a:cs typeface="Segoe UI" charset="0"/>
                      </a:endParaRPr>
                    </a:p>
                  </a:txBody>
                  <a:tcPr marL="38100" marR="38100" marT="25400" marB="25400" anchor="ctr">
                    <a:lnL w="3810" cap="flat" cmpd="sng" algn="ctr">
                      <a:solidFill>
                        <a:srgbClr val="FFFFFF"/>
                      </a:solidFill>
                      <a:prstDash val="solid"/>
                      <a:round/>
                      <a:headEnd type="none" w="med" len="med"/>
                      <a:tailEnd type="none" w="med" len="med"/>
                    </a:lnL>
                    <a:lnR w="3810" cap="flat" cmpd="sng" algn="ctr">
                      <a:solidFill>
                        <a:srgbClr val="FFFFFF"/>
                      </a:solidFill>
                      <a:prstDash val="solid"/>
                      <a:round/>
                      <a:headEnd type="none" w="med" len="med"/>
                      <a:tailEnd type="none" w="med" len="med"/>
                    </a:lnR>
                    <a:lnT w="3810" cap="flat" cmpd="sng" algn="ctr">
                      <a:solidFill>
                        <a:srgbClr val="FFFFFF"/>
                      </a:solidFill>
                      <a:prstDash val="solid"/>
                      <a:round/>
                      <a:headEnd type="none" w="med" len="med"/>
                      <a:tailEnd type="none" w="med" len="med"/>
                    </a:lnT>
                    <a:lnB w="381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5">
    <p:bg>
      <p:bgPr>
        <a:solidFill>
          <a:srgbClr val="E8E8EC"/>
        </a:solidFill>
        <a:effectLst/>
      </p:bgPr>
    </p:bg>
    <p:spTree>
      <p:nvGrpSpPr>
        <p:cNvPr id="1" name=""/>
        <p:cNvGrpSpPr/>
        <p:nvPr/>
      </p:nvGrpSpPr>
      <p:grpSpPr>
        <a:xfrm>
          <a:off x="0" y="0"/>
          <a:ext cx="0" cy="0"/>
          <a:chOff x="0" y="0"/>
          <a:chExt cx="0" cy="0"/>
        </a:xfrm>
      </p:grpSpPr>
      <p:pic>
        <p:nvPicPr>
          <p:cNvPr id="2" name="Image 0" descr="D:\Apps\hr-rh-app\templates\exco\cover-assets\slide-fade.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4" name="Shape 1"/>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Shape 2"/>
          <p:cNvSpPr/>
          <p:nvPr/>
        </p:nvSpPr>
        <p:spPr>
          <a:xfrm>
            <a:off x="292608" y="146304"/>
            <a:ext cx="365760" cy="365760"/>
          </a:xfrm>
          <a:prstGeom prst="roundRect">
            <a:avLst>
              <a:gd name="adj" fmla="val 15000"/>
            </a:avLst>
          </a:prstGeom>
          <a:solidFill>
            <a:srgbClr val="E30613"/>
          </a:solidFill>
          <a:ln w="12700">
            <a:solidFill>
              <a:srgbClr val="E30613"/>
            </a:solidFill>
            <a:prstDash val="solid"/>
          </a:ln>
        </p:spPr>
        <p:txBody>
          <a:bodyPr/>
          <a:lstStyle/>
          <a:p>
            <a:endParaRPr lang="fr-FR"/>
          </a:p>
        </p:txBody>
      </p:sp>
      <p:sp>
        <p:nvSpPr>
          <p:cNvPr id="6" name="Text 3"/>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09</a:t>
            </a:r>
            <a:endParaRPr lang="en-US" sz="1200" dirty="0"/>
          </a:p>
        </p:txBody>
      </p:sp>
      <p:sp>
        <p:nvSpPr>
          <p:cNvPr id="7" name="Text 4"/>
          <p:cNvSpPr/>
          <p:nvPr/>
        </p:nvSpPr>
        <p:spPr>
          <a:xfrm>
            <a:off x="804672" y="128016"/>
            <a:ext cx="4572000" cy="146304"/>
          </a:xfrm>
          <a:prstGeom prst="rect">
            <a:avLst/>
          </a:prstGeom>
          <a:noFill/>
          <a:ln/>
        </p:spPr>
        <p:txBody>
          <a:bodyPr wrap="square" rtlCol="0" anchor="ctr"/>
          <a:lstStyle/>
          <a:p>
            <a:pPr marL="0" indent="0">
              <a:buNone/>
            </a:pPr>
            <a:r>
              <a:rPr lang="en-US" sz="900" b="1" dirty="0">
                <a:solidFill>
                  <a:srgbClr val="E30613"/>
                </a:solidFill>
                <a:latin typeface="Segoe UI" pitchFamily="34" charset="0"/>
                <a:ea typeface="Segoe UI" pitchFamily="34" charset="-122"/>
                <a:cs typeface="Segoe UI" pitchFamily="34" charset="-120"/>
              </a:rPr>
              <a:t>PPC · HR EXCO</a:t>
            </a:r>
            <a:endParaRPr lang="en-US" sz="900" dirty="0"/>
          </a:p>
        </p:txBody>
      </p:sp>
      <p:sp>
        <p:nvSpPr>
          <p:cNvPr id="8" name="Text 5"/>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Internal AUDIT</a:t>
            </a:r>
            <a:endParaRPr lang="en-US" sz="1800" dirty="0"/>
          </a:p>
        </p:txBody>
      </p:sp>
      <p:sp>
        <p:nvSpPr>
          <p:cNvPr id="9" name="Text 6"/>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10" name="Shape 7"/>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11" name="Shape 8"/>
          <p:cNvSpPr/>
          <p:nvPr/>
        </p:nvSpPr>
        <p:spPr>
          <a:xfrm>
            <a:off x="256032" y="841248"/>
            <a:ext cx="11658600" cy="5760720"/>
          </a:xfrm>
          <a:prstGeom prst="roundRect">
            <a:avLst>
              <a:gd name="adj" fmla="val 1270"/>
            </a:avLst>
          </a:prstGeom>
          <a:solidFill>
            <a:srgbClr val="FFFFFF"/>
          </a:solidFill>
          <a:ln w="12700">
            <a:solidFill>
              <a:srgbClr val="E0E0E6"/>
            </a:solidFill>
            <a:prstDash val="solid"/>
          </a:ln>
        </p:spPr>
        <p:txBody>
          <a:bodyPr/>
          <a:lstStyle/>
          <a:p>
            <a:endParaRPr lang="fr-FR"/>
          </a:p>
        </p:txBody>
      </p:sp>
      <p:sp>
        <p:nvSpPr>
          <p:cNvPr id="12" name="Text 9"/>
          <p:cNvSpPr/>
          <p:nvPr/>
        </p:nvSpPr>
        <p:spPr>
          <a:xfrm>
            <a:off x="365760" y="896112"/>
            <a:ext cx="1463040" cy="329184"/>
          </a:xfrm>
          <a:prstGeom prst="rect">
            <a:avLst/>
          </a:prstGeom>
          <a:noFill/>
          <a:ln/>
        </p:spPr>
        <p:txBody>
          <a:bodyPr wrap="square" rtlCol="0" anchor="ctr"/>
          <a:lstStyle/>
          <a:p>
            <a:pPr marL="0" indent="0">
              <a:buNone/>
            </a:pPr>
            <a:r>
              <a:rPr lang="en-US" sz="2200" b="1" dirty="0">
                <a:solidFill>
                  <a:srgbClr val="E30613"/>
                </a:solidFill>
                <a:latin typeface="Segoe UI" pitchFamily="34" charset="0"/>
                <a:ea typeface="Segoe UI" pitchFamily="34" charset="-122"/>
                <a:cs typeface="Segoe UI" pitchFamily="34" charset="-120"/>
              </a:rPr>
              <a:t>54.55%</a:t>
            </a:r>
            <a:endParaRPr lang="en-US" sz="2200" dirty="0"/>
          </a:p>
        </p:txBody>
      </p:sp>
      <p:sp>
        <p:nvSpPr>
          <p:cNvPr id="13" name="Text 10"/>
          <p:cNvSpPr/>
          <p:nvPr/>
        </p:nvSpPr>
        <p:spPr>
          <a:xfrm>
            <a:off x="365760" y="1207008"/>
            <a:ext cx="1463040" cy="164592"/>
          </a:xfrm>
          <a:prstGeom prst="rect">
            <a:avLst/>
          </a:prstGeom>
          <a:noFill/>
          <a:ln/>
        </p:spPr>
        <p:txBody>
          <a:bodyPr wrap="square" rtlCol="0" anchor="ctr"/>
          <a:lstStyle/>
          <a:p>
            <a:pPr marL="0" indent="0">
              <a:buNone/>
            </a:pPr>
            <a:r>
              <a:rPr lang="en-US" sz="900" dirty="0">
                <a:solidFill>
                  <a:srgbClr val="6B6B7A"/>
                </a:solidFill>
                <a:latin typeface="Segoe UI" pitchFamily="34" charset="0"/>
                <a:ea typeface="Segoe UI" pitchFamily="34" charset="-122"/>
                <a:cs typeface="Segoe UI" pitchFamily="34" charset="-120"/>
              </a:rPr>
              <a:t>Closed</a:t>
            </a:r>
            <a:endParaRPr lang="en-US" sz="900" dirty="0"/>
          </a:p>
        </p:txBody>
      </p:sp>
      <p:sp>
        <p:nvSpPr>
          <p:cNvPr id="14" name="Text 11"/>
          <p:cNvSpPr/>
          <p:nvPr/>
        </p:nvSpPr>
        <p:spPr>
          <a:xfrm>
            <a:off x="1920240" y="987552"/>
            <a:ext cx="9692640" cy="256032"/>
          </a:xfrm>
          <a:prstGeom prst="rect">
            <a:avLst/>
          </a:prstGeom>
          <a:noFill/>
          <a:ln/>
        </p:spPr>
        <p:txBody>
          <a:bodyPr wrap="square" rtlCol="0" anchor="ctr"/>
          <a:lstStyle/>
          <a:p>
            <a:pPr marL="0" indent="0">
              <a:buNone/>
            </a:pPr>
            <a:r>
              <a:rPr lang="en-US" sz="1100" dirty="0">
                <a:solidFill>
                  <a:srgbClr val="16161E"/>
                </a:solidFill>
                <a:latin typeface="Segoe UI" pitchFamily="34" charset="0"/>
                <a:ea typeface="Segoe UI" pitchFamily="34" charset="-122"/>
                <a:cs typeface="Segoe UI" pitchFamily="34" charset="-120"/>
              </a:rPr>
              <a:t>12/22 points  ·  Overdue 9  ·  On going 1</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9184" y="1417320"/>
          <a:ext cx="11503152" cy="4876800"/>
        </p:xfrm>
        <a:graphic>
          <a:graphicData uri="http://schemas.openxmlformats.org/drawingml/2006/table">
            <a:tbl>
              <a:tblPr/>
              <a:tblGrid>
                <a:gridCol w="45720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2331720">
                  <a:extLst>
                    <a:ext uri="{9D8B030D-6E8A-4147-A177-3AD203B41FA5}">
                      <a16:colId xmlns:a16="http://schemas.microsoft.com/office/drawing/2014/main" val="20004"/>
                    </a:ext>
                  </a:extLst>
                </a:gridCol>
                <a:gridCol w="1353312">
                  <a:extLst>
                    <a:ext uri="{9D8B030D-6E8A-4147-A177-3AD203B41FA5}">
                      <a16:colId xmlns:a16="http://schemas.microsoft.com/office/drawing/2014/main" val="20005"/>
                    </a:ext>
                  </a:extLst>
                </a:gridCol>
              </a:tblGrid>
              <a:tr h="0">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ID</a:t>
                      </a:r>
                      <a:endParaRPr lang="en-US" sz="800" dirty="0">
                        <a:latin typeface="Segoe UI" charset="0"/>
                        <a:ea typeface="Segoe UI" charset="0"/>
                        <a:cs typeface="Segoe UI" charset="0"/>
                      </a:endParaRPr>
                    </a:p>
                  </a:txBody>
                  <a:tcPr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Findings</a:t>
                      </a:r>
                      <a:endParaRPr lang="en-US" sz="800" dirty="0">
                        <a:latin typeface="Segoe UI" charset="0"/>
                        <a:ea typeface="Segoe UI" charset="0"/>
                        <a:cs typeface="Segoe UI" charset="0"/>
                      </a:endParaRPr>
                    </a:p>
                  </a:txBody>
                  <a:tcPr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Severity</a:t>
                      </a:r>
                      <a:endParaRPr lang="en-US" sz="800" dirty="0">
                        <a:latin typeface="Segoe UI" charset="0"/>
                        <a:ea typeface="Segoe UI" charset="0"/>
                        <a:cs typeface="Segoe UI" charset="0"/>
                      </a:endParaRPr>
                    </a:p>
                  </a:txBody>
                  <a:tcPr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Status</a:t>
                      </a:r>
                      <a:endParaRPr lang="en-US" sz="800" dirty="0">
                        <a:latin typeface="Segoe UI" charset="0"/>
                        <a:ea typeface="Segoe UI" charset="0"/>
                        <a:cs typeface="Segoe UI" charset="0"/>
                      </a:endParaRPr>
                    </a:p>
                  </a:txBody>
                  <a:tcPr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Comments</a:t>
                      </a:r>
                      <a:endParaRPr lang="en-US" sz="800" dirty="0">
                        <a:latin typeface="Segoe UI" charset="0"/>
                        <a:ea typeface="Segoe UI" charset="0"/>
                        <a:cs typeface="Segoe UI" charset="0"/>
                      </a:endParaRPr>
                    </a:p>
                  </a:txBody>
                  <a:tcPr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9B1B24"/>
                    </a:solidFill>
                  </a:tcPr>
                </a:tc>
                <a:tc>
                  <a:txBody>
                    <a:bodyPr/>
                    <a:lstStyle/>
                    <a:p>
                      <a:pPr marL="0" indent="0" algn="ctr">
                        <a:buNone/>
                      </a:pPr>
                      <a:r>
                        <a:rPr lang="en-US" sz="800" b="1" dirty="0">
                          <a:solidFill>
                            <a:srgbClr val="FFFFFF"/>
                          </a:solidFill>
                          <a:latin typeface="Segoe UI" pitchFamily="34" charset="0"/>
                          <a:ea typeface="Segoe UI" pitchFamily="34" charset="-122"/>
                          <a:cs typeface="Segoe UI" pitchFamily="34" charset="-120"/>
                        </a:rPr>
                        <a:t>Due Date</a:t>
                      </a:r>
                      <a:endParaRPr lang="en-US" sz="800" dirty="0">
                        <a:latin typeface="Segoe UI" charset="0"/>
                        <a:ea typeface="Segoe UI" charset="0"/>
                        <a:cs typeface="Segoe UI" charset="0"/>
                      </a:endParaRPr>
                    </a:p>
                  </a:txBody>
                  <a:tcPr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9B1B24"/>
                    </a:solidFill>
                  </a:tcPr>
                </a:tc>
                <a:extLst>
                  <a:ext uri="{0D108BD9-81ED-4DB2-BD59-A6C34878D82A}">
                    <a16:rowId xmlns:a16="http://schemas.microsoft.com/office/drawing/2014/main" val="10000"/>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01</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Establish a formal procedure for conducting surveys, including confidentiality requirements and formal  agreements with providers</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High</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66534"/>
                          </a:solidFill>
                          <a:latin typeface="Segoe UI" pitchFamily="34" charset="0"/>
                          <a:ea typeface="Segoe UI" pitchFamily="34" charset="-122"/>
                          <a:cs typeface="Segoe UI" pitchFamily="34" charset="-120"/>
                        </a:rPr>
                        <a:t>Closed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Done et Confirmé</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extLst>
                  <a:ext uri="{0D108BD9-81ED-4DB2-BD59-A6C34878D82A}">
                    <a16:rowId xmlns:a16="http://schemas.microsoft.com/office/drawing/2014/main" val="10001"/>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02</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3F4F6"/>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Implement an automatic recuitment System</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3F4F6"/>
                    </a:solidFill>
                  </a:tcPr>
                </a:tc>
                <a:tc>
                  <a:txBody>
                    <a:bodyPr/>
                    <a:lstStyle/>
                    <a:p>
                      <a:pPr marL="0" indent="0" algn="ctr">
                        <a:buNone/>
                      </a:pPr>
                      <a:r>
                        <a:rPr lang="en-US" sz="700" b="1" dirty="0">
                          <a:solidFill>
                            <a:srgbClr val="C2410C"/>
                          </a:solidFill>
                          <a:latin typeface="Segoe UI" pitchFamily="34" charset="0"/>
                          <a:ea typeface="Segoe UI" pitchFamily="34" charset="-122"/>
                          <a:cs typeface="Segoe UI" pitchFamily="34" charset="-120"/>
                        </a:rPr>
                        <a:t>Medium</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3F4F6"/>
                    </a:solidFill>
                  </a:tcPr>
                </a:tc>
                <a:tc>
                  <a:txBody>
                    <a:bodyPr/>
                    <a:lstStyle/>
                    <a:p>
                      <a:pPr marL="0" indent="0" algn="ctr">
                        <a:buNone/>
                      </a:pPr>
                      <a:r>
                        <a:rPr lang="en-US" sz="700" b="1" dirty="0">
                          <a:solidFill>
                            <a:srgbClr val="0A0A0A"/>
                          </a:solidFill>
                          <a:latin typeface="Segoe UI" pitchFamily="34" charset="0"/>
                          <a:ea typeface="Segoe UI" pitchFamily="34" charset="-122"/>
                          <a:cs typeface="Segoe UI" pitchFamily="34" charset="-120"/>
                        </a:rPr>
                        <a:t>On going</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3F4F6"/>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En cours</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3F4F6"/>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3/31/2027</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3F4F6"/>
                    </a:solidFill>
                  </a:tcPr>
                </a:tc>
                <a:extLst>
                  <a:ext uri="{0D108BD9-81ED-4DB2-BD59-A6C34878D82A}">
                    <a16:rowId xmlns:a16="http://schemas.microsoft.com/office/drawing/2014/main" val="10002"/>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03</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Introduce a KPI related to proper documentation filing within the  recruitment process in the Recruitment Officer scorecard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C2410C"/>
                          </a:solidFill>
                          <a:latin typeface="Segoe UI" pitchFamily="34" charset="0"/>
                          <a:ea typeface="Segoe UI" pitchFamily="34" charset="-122"/>
                          <a:cs typeface="Segoe UI" pitchFamily="34" charset="-120"/>
                        </a:rPr>
                        <a:t>Medium</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Overdue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à cloturer lors la prochaine evaluation Mars 2027</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extLst>
                  <a:ext uri="{0D108BD9-81ED-4DB2-BD59-A6C34878D82A}">
                    <a16:rowId xmlns:a16="http://schemas.microsoft.com/office/drawing/2014/main" val="10003"/>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04</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Issue a decision note to formalize interview outcomes</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C2410C"/>
                          </a:solidFill>
                          <a:latin typeface="Segoe UI" pitchFamily="34" charset="0"/>
                          <a:ea typeface="Segoe UI" pitchFamily="34" charset="-122"/>
                          <a:cs typeface="Segoe UI" pitchFamily="34" charset="-120"/>
                        </a:rPr>
                        <a:t>Medium</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Overdue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Soumis à madame Carine E pour validation</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extLst>
                  <a:ext uri="{0D108BD9-81ED-4DB2-BD59-A6C34878D82A}">
                    <a16:rowId xmlns:a16="http://schemas.microsoft.com/office/drawing/2014/main" val="10004"/>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05</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Organize focus group sessions (plant and head  office) to gather additional insigh</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High</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Overdue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Proposer un format sur le type de groupage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extLst>
                  <a:ext uri="{0D108BD9-81ED-4DB2-BD59-A6C34878D82A}">
                    <a16:rowId xmlns:a16="http://schemas.microsoft.com/office/drawing/2014/main" val="10005"/>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06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Publish an updated and comprehensive training plan  FY27, including clear objectives and cost tracking</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High</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Overdue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 soumettre d'ici vendredi</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extLst>
                  <a:ext uri="{0D108BD9-81ED-4DB2-BD59-A6C34878D82A}">
                    <a16:rowId xmlns:a16="http://schemas.microsoft.com/office/drawing/2014/main" val="10006"/>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07</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Send Training Plan FY26 asap</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High</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66534"/>
                          </a:solidFill>
                          <a:latin typeface="Segoe UI" pitchFamily="34" charset="0"/>
                          <a:ea typeface="Segoe UI" pitchFamily="34" charset="-122"/>
                          <a:cs typeface="Segoe UI" pitchFamily="34" charset="-120"/>
                        </a:rPr>
                        <a:t>Closed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Done  et confirmé</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extLst>
                  <a:ext uri="{0D108BD9-81ED-4DB2-BD59-A6C34878D82A}">
                    <a16:rowId xmlns:a16="http://schemas.microsoft.com/office/drawing/2014/main" val="10007"/>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08</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Organize an alignment session between Human Resources  and Legal to clarify requirements and define the appropriate  framework documentation.</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5803D"/>
                          </a:solidFill>
                          <a:latin typeface="Segoe UI" pitchFamily="34" charset="0"/>
                          <a:ea typeface="Segoe UI" pitchFamily="34" charset="-122"/>
                          <a:cs typeface="Segoe UI" pitchFamily="34" charset="-120"/>
                        </a:rPr>
                        <a:t>Low</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66534"/>
                          </a:solidFill>
                          <a:latin typeface="Segoe UI" pitchFamily="34" charset="0"/>
                          <a:ea typeface="Segoe UI" pitchFamily="34" charset="-122"/>
                          <a:cs typeface="Segoe UI" pitchFamily="34" charset="-120"/>
                        </a:rPr>
                        <a:t>Closed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Done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extLst>
                  <a:ext uri="{0D108BD9-81ED-4DB2-BD59-A6C34878D82A}">
                    <a16:rowId xmlns:a16="http://schemas.microsoft.com/office/drawing/2014/main" val="10008"/>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09</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Ensure all FY26 training records are properly  documented and closed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High</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Overdue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Faire valider le form à reviser</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extLst>
                  <a:ext uri="{0D108BD9-81ED-4DB2-BD59-A6C34878D82A}">
                    <a16:rowId xmlns:a16="http://schemas.microsoft.com/office/drawing/2014/main" val="10009"/>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10</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Ensure all induction plan are properly documented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C2410C"/>
                          </a:solidFill>
                          <a:latin typeface="Segoe UI" pitchFamily="34" charset="0"/>
                          <a:ea typeface="Segoe UI" pitchFamily="34" charset="-122"/>
                          <a:cs typeface="Segoe UI" pitchFamily="34" charset="-120"/>
                        </a:rPr>
                        <a:t>Medium</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66534"/>
                          </a:solidFill>
                          <a:latin typeface="Segoe UI" pitchFamily="34" charset="0"/>
                          <a:ea typeface="Segoe UI" pitchFamily="34" charset="-122"/>
                          <a:cs typeface="Segoe UI" pitchFamily="34" charset="-120"/>
                        </a:rPr>
                        <a:t>Closed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Done  et confirmé</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extLst>
                  <a:ext uri="{0D108BD9-81ED-4DB2-BD59-A6C34878D82A}">
                    <a16:rowId xmlns:a16="http://schemas.microsoft.com/office/drawing/2014/main" val="10010"/>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11</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Finalize and standardize reference checks</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C2410C"/>
                          </a:solidFill>
                          <a:latin typeface="Segoe UI" pitchFamily="34" charset="0"/>
                          <a:ea typeface="Segoe UI" pitchFamily="34" charset="-122"/>
                          <a:cs typeface="Segoe UI" pitchFamily="34" charset="-120"/>
                        </a:rPr>
                        <a:t>Medium</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66534"/>
                          </a:solidFill>
                          <a:latin typeface="Segoe UI" pitchFamily="34" charset="0"/>
                          <a:ea typeface="Segoe UI" pitchFamily="34" charset="-122"/>
                          <a:cs typeface="Segoe UI" pitchFamily="34" charset="-120"/>
                        </a:rPr>
                        <a:t>Closed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Done et Confirmé</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extLst>
                  <a:ext uri="{0D108BD9-81ED-4DB2-BD59-A6C34878D82A}">
                    <a16:rowId xmlns:a16="http://schemas.microsoft.com/office/drawing/2014/main" val="10011"/>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12</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Implement a formal action plan and ensure proper  closure tracking</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High</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Overdue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s'accorder avec Benny</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extLst>
                  <a:ext uri="{0D108BD9-81ED-4DB2-BD59-A6C34878D82A}">
                    <a16:rowId xmlns:a16="http://schemas.microsoft.com/office/drawing/2014/main" val="10012"/>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13</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Send regret letters to all unsuccessful candidates</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C2410C"/>
                          </a:solidFill>
                          <a:latin typeface="Segoe UI" pitchFamily="34" charset="0"/>
                          <a:ea typeface="Segoe UI" pitchFamily="34" charset="-122"/>
                          <a:cs typeface="Segoe UI" pitchFamily="34" charset="-120"/>
                        </a:rPr>
                        <a:t>Medium</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66534"/>
                          </a:solidFill>
                          <a:latin typeface="Segoe UI" pitchFamily="34" charset="0"/>
                          <a:ea typeface="Segoe UI" pitchFamily="34" charset="-122"/>
                          <a:cs typeface="Segoe UI" pitchFamily="34" charset="-120"/>
                        </a:rPr>
                        <a:t>Closed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Done  et confirmé</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extLst>
                  <a:ext uri="{0D108BD9-81ED-4DB2-BD59-A6C34878D82A}">
                    <a16:rowId xmlns:a16="http://schemas.microsoft.com/office/drawing/2014/main" val="10013"/>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14</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Ensure that all required employee data is  systematically shared with Finance on an annual  basis, no later than end of april</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5803D"/>
                          </a:solidFill>
                          <a:latin typeface="Segoe UI" pitchFamily="34" charset="0"/>
                          <a:ea typeface="Segoe UI" pitchFamily="34" charset="-122"/>
                          <a:cs typeface="Segoe UI" pitchFamily="34" charset="-120"/>
                        </a:rPr>
                        <a:t>Low</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66534"/>
                          </a:solidFill>
                          <a:latin typeface="Segoe UI" pitchFamily="34" charset="0"/>
                          <a:ea typeface="Segoe UI" pitchFamily="34" charset="-122"/>
                          <a:cs typeface="Segoe UI" pitchFamily="34" charset="-120"/>
                        </a:rPr>
                        <a:t>Closed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Done avec confirmation de l'audit</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extLst>
                  <a:ext uri="{0D108BD9-81ED-4DB2-BD59-A6C34878D82A}">
                    <a16:rowId xmlns:a16="http://schemas.microsoft.com/office/drawing/2014/main" val="10014"/>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15</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Establish a formal procedure defining roles and  responsibilities between HR and Finance, including  timelines and data requirements</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5803D"/>
                          </a:solidFill>
                          <a:latin typeface="Segoe UI" pitchFamily="34" charset="0"/>
                          <a:ea typeface="Segoe UI" pitchFamily="34" charset="-122"/>
                          <a:cs typeface="Segoe UI" pitchFamily="34" charset="-120"/>
                        </a:rPr>
                        <a:t>Low</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66534"/>
                          </a:solidFill>
                          <a:latin typeface="Segoe UI" pitchFamily="34" charset="0"/>
                          <a:ea typeface="Segoe UI" pitchFamily="34" charset="-122"/>
                          <a:cs typeface="Segoe UI" pitchFamily="34" charset="-120"/>
                        </a:rPr>
                        <a:t>Closed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Done avec confirmation de l'audit</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extLst>
                  <a:ext uri="{0D108BD9-81ED-4DB2-BD59-A6C34878D82A}">
                    <a16:rowId xmlns:a16="http://schemas.microsoft.com/office/drawing/2014/main" val="10015"/>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16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Include a mandatory handover/ tracking file within  the clearance process (Update the clearance from)</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High</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66534"/>
                          </a:solidFill>
                          <a:latin typeface="Segoe UI" pitchFamily="34" charset="0"/>
                          <a:ea typeface="Segoe UI" pitchFamily="34" charset="-122"/>
                          <a:cs typeface="Segoe UI" pitchFamily="34" charset="-120"/>
                        </a:rPr>
                        <a:t>Closed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 tester avec plus d'échantillon (Envoyer le mail pour la prochaine date)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extLst>
                  <a:ext uri="{0D108BD9-81ED-4DB2-BD59-A6C34878D82A}">
                    <a16:rowId xmlns:a16="http://schemas.microsoft.com/office/drawing/2014/main" val="10016"/>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17</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Notify all pending candidates of their probation status</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C2410C"/>
                          </a:solidFill>
                          <a:latin typeface="Segoe UI" pitchFamily="34" charset="0"/>
                          <a:ea typeface="Segoe UI" pitchFamily="34" charset="-122"/>
                          <a:cs typeface="Segoe UI" pitchFamily="34" charset="-120"/>
                        </a:rPr>
                        <a:t>Medium</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Overdue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Transfert des éléments à l'audit et attente de la confirmation d'ici la fin de la journée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extLst>
                  <a:ext uri="{0D108BD9-81ED-4DB2-BD59-A6C34878D82A}">
                    <a16:rowId xmlns:a16="http://schemas.microsoft.com/office/drawing/2014/main" val="10017"/>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18</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Update the procedure or policy to include a clear  requirement for timely clearance and final payment  processing (48H hours before the last)</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C2410C"/>
                          </a:solidFill>
                          <a:latin typeface="Segoe UI" pitchFamily="34" charset="0"/>
                          <a:ea typeface="Segoe UI" pitchFamily="34" charset="-122"/>
                          <a:cs typeface="Segoe UI" pitchFamily="34" charset="-120"/>
                        </a:rPr>
                        <a:t>Medium</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66534"/>
                          </a:solidFill>
                          <a:latin typeface="Segoe UI" pitchFamily="34" charset="0"/>
                          <a:ea typeface="Segoe UI" pitchFamily="34" charset="-122"/>
                          <a:cs typeface="Segoe UI" pitchFamily="34" charset="-120"/>
                        </a:rPr>
                        <a:t>Closed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 tester avec plus d'échantillon (Envoyer le mail pour la prochaine date)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extLst>
                  <a:ext uri="{0D108BD9-81ED-4DB2-BD59-A6C34878D82A}">
                    <a16:rowId xmlns:a16="http://schemas.microsoft.com/office/drawing/2014/main" val="10018"/>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19</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Complete all missing documents in employee files</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C2410C"/>
                          </a:solidFill>
                          <a:latin typeface="Segoe UI" pitchFamily="34" charset="0"/>
                          <a:ea typeface="Segoe UI" pitchFamily="34" charset="-122"/>
                          <a:cs typeface="Segoe UI" pitchFamily="34" charset="-120"/>
                        </a:rPr>
                        <a:t>Medium</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Overdue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extLst>
                  <a:ext uri="{0D108BD9-81ED-4DB2-BD59-A6C34878D82A}">
                    <a16:rowId xmlns:a16="http://schemas.microsoft.com/office/drawing/2014/main" val="10019"/>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20</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Conduct an annual internal audit of employee files to ensure  compliance and completeness and close the Gap (85%  compliance rate)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C2410C"/>
                          </a:solidFill>
                          <a:latin typeface="Segoe UI" pitchFamily="34" charset="0"/>
                          <a:ea typeface="Segoe UI" pitchFamily="34" charset="-122"/>
                          <a:cs typeface="Segoe UI" pitchFamily="34" charset="-120"/>
                        </a:rPr>
                        <a:t>Medium</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66534"/>
                          </a:solidFill>
                          <a:latin typeface="Segoe UI" pitchFamily="34" charset="0"/>
                          <a:ea typeface="Segoe UI" pitchFamily="34" charset="-122"/>
                          <a:cs typeface="Segoe UI" pitchFamily="34" charset="-120"/>
                        </a:rPr>
                        <a:t>Closed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Done avec confirmation de l'audit</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extLst>
                  <a:ext uri="{0D108BD9-81ED-4DB2-BD59-A6C34878D82A}">
                    <a16:rowId xmlns:a16="http://schemas.microsoft.com/office/drawing/2014/main" val="10020"/>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21</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Employee files update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High</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b="1" dirty="0">
                          <a:solidFill>
                            <a:srgbClr val="166534"/>
                          </a:solidFill>
                          <a:latin typeface="Segoe UI" pitchFamily="34" charset="0"/>
                          <a:ea typeface="Segoe UI" pitchFamily="34" charset="-122"/>
                          <a:cs typeface="Segoe UI" pitchFamily="34" charset="-120"/>
                        </a:rPr>
                        <a:t>Closed</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Done avec confirmation de l'audit</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9/30/2025</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DCFCE7"/>
                    </a:solidFill>
                  </a:tcPr>
                </a:tc>
                <a:extLst>
                  <a:ext uri="{0D108BD9-81ED-4DB2-BD59-A6C34878D82A}">
                    <a16:rowId xmlns:a16="http://schemas.microsoft.com/office/drawing/2014/main" val="10021"/>
                  </a:ext>
                </a:extLst>
              </a:tr>
              <a:tr h="0">
                <a:tc>
                  <a:txBody>
                    <a:bodyPr/>
                    <a:lstStyle/>
                    <a:p>
                      <a:pPr marL="0" indent="0" algn="ctr">
                        <a:buNone/>
                      </a:pPr>
                      <a:r>
                        <a:rPr lang="en-US" sz="700" b="1" dirty="0">
                          <a:solidFill>
                            <a:srgbClr val="16161E"/>
                          </a:solidFill>
                          <a:latin typeface="Segoe UI" pitchFamily="34" charset="0"/>
                          <a:ea typeface="Segoe UI" pitchFamily="34" charset="-122"/>
                          <a:cs typeface="Segoe UI" pitchFamily="34" charset="-120"/>
                        </a:rPr>
                        <a:t>22</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Introduce a KPI on proper filing and document completeness in  employee records</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C2410C"/>
                          </a:solidFill>
                          <a:latin typeface="Segoe UI" pitchFamily="34" charset="0"/>
                          <a:ea typeface="Segoe UI" pitchFamily="34" charset="-122"/>
                          <a:cs typeface="Segoe UI" pitchFamily="34" charset="-120"/>
                        </a:rPr>
                        <a:t>Medium</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b="1" dirty="0">
                          <a:solidFill>
                            <a:srgbClr val="B91C1C"/>
                          </a:solidFill>
                          <a:latin typeface="Segoe UI" pitchFamily="34" charset="0"/>
                          <a:ea typeface="Segoe UI" pitchFamily="34" charset="-122"/>
                          <a:cs typeface="Segoe UI" pitchFamily="34" charset="-120"/>
                        </a:rPr>
                        <a:t>Overdue</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l">
                        <a:buNone/>
                      </a:pPr>
                      <a:r>
                        <a:rPr lang="en-US" sz="700" dirty="0">
                          <a:solidFill>
                            <a:srgbClr val="16161E"/>
                          </a:solidFill>
                          <a:latin typeface="Segoe UI" pitchFamily="34" charset="0"/>
                          <a:ea typeface="Segoe UI" pitchFamily="34" charset="-122"/>
                          <a:cs typeface="Segoe UI" pitchFamily="34" charset="-120"/>
                        </a:rPr>
                        <a:t>—</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tc>
                  <a:txBody>
                    <a:bodyPr/>
                    <a:lstStyle/>
                    <a:p>
                      <a:pPr marL="0" indent="0" algn="ctr">
                        <a:buNone/>
                      </a:pPr>
                      <a:r>
                        <a:rPr lang="en-US" sz="700" dirty="0">
                          <a:solidFill>
                            <a:srgbClr val="16161E"/>
                          </a:solidFill>
                          <a:latin typeface="Segoe UI" pitchFamily="34" charset="0"/>
                          <a:ea typeface="Segoe UI" pitchFamily="34" charset="-122"/>
                          <a:cs typeface="Segoe UI" pitchFamily="34" charset="-120"/>
                        </a:rPr>
                        <a:t>6/30/2026</a:t>
                      </a:r>
                      <a:endParaRPr lang="en-US" sz="700" dirty="0">
                        <a:latin typeface="Segoe UI" charset="0"/>
                        <a:ea typeface="Segoe UI" charset="0"/>
                        <a:cs typeface="Segoe UI" charset="0"/>
                      </a:endParaRPr>
                    </a:p>
                  </a:txBody>
                  <a:tcPr marL="38100" marR="38100" marT="38100" marB="38100" anchor="ctr">
                    <a:lnL w="5080" cap="flat" cmpd="sng" algn="ctr">
                      <a:solidFill>
                        <a:srgbClr val="FFFFFF"/>
                      </a:solidFill>
                      <a:prstDash val="solid"/>
                      <a:round/>
                      <a:headEnd type="none" w="med" len="med"/>
                      <a:tailEnd type="none" w="med" len="med"/>
                    </a:lnL>
                    <a:lnR w="5080" cap="flat" cmpd="sng" algn="ctr">
                      <a:solidFill>
                        <a:srgbClr val="FFFFFF"/>
                      </a:solidFill>
                      <a:prstDash val="solid"/>
                      <a:round/>
                      <a:headEnd type="none" w="med" len="med"/>
                      <a:tailEnd type="none" w="med" len="med"/>
                    </a:lnR>
                    <a:lnT w="5080" cap="flat" cmpd="sng" algn="ctr">
                      <a:solidFill>
                        <a:srgbClr val="FFFFFF"/>
                      </a:solidFill>
                      <a:prstDash val="solid"/>
                      <a:round/>
                      <a:headEnd type="none" w="med" len="med"/>
                      <a:tailEnd type="none" w="med" len="med"/>
                    </a:lnT>
                    <a:lnB w="5080" cap="flat" cmpd="sng" algn="ctr">
                      <a:solidFill>
                        <a:srgbClr val="FFFFFF"/>
                      </a:solidFill>
                      <a:prstDash val="solid"/>
                      <a:round/>
                      <a:headEnd type="none" w="med" len="med"/>
                      <a:tailEnd type="none" w="med" len="med"/>
                    </a:lnB>
                    <a:solidFill>
                      <a:srgbClr val="FECACA"/>
                    </a:solidFill>
                  </a:tcPr>
                </a:tc>
                <a:extLst>
                  <a:ext uri="{0D108BD9-81ED-4DB2-BD59-A6C34878D82A}">
                    <a16:rowId xmlns:a16="http://schemas.microsoft.com/office/drawing/2014/main" val="10022"/>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6">
    <p:bg>
      <p:bgPr>
        <a:solidFill>
          <a:srgbClr val="E8E8EC"/>
        </a:solidFill>
        <a:effectLst/>
      </p:bgPr>
    </p:bg>
    <p:spTree>
      <p:nvGrpSpPr>
        <p:cNvPr id="1" name=""/>
        <p:cNvGrpSpPr/>
        <p:nvPr/>
      </p:nvGrpSpPr>
      <p:grpSpPr>
        <a:xfrm>
          <a:off x="0" y="0"/>
          <a:ext cx="0" cy="0"/>
          <a:chOff x="0" y="0"/>
          <a:chExt cx="0" cy="0"/>
        </a:xfrm>
      </p:grpSpPr>
      <p:pic>
        <p:nvPicPr>
          <p:cNvPr id="2" name="Image 0" descr="D:\Apps\hr-rh-app\templates\exco\cover-assets\slide-fade.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4" name="Shape 1"/>
          <p:cNvSpPr/>
          <p:nvPr/>
        </p:nvSpPr>
        <p:spPr>
          <a:xfrm>
            <a:off x="0" y="64008"/>
            <a:ext cx="12191695" cy="566928"/>
          </a:xfrm>
          <a:prstGeom prst="rect">
            <a:avLst/>
          </a:prstGeom>
          <a:solidFill>
            <a:srgbClr val="FFFFFF"/>
          </a:solidFill>
          <a:ln w="12700">
            <a:solidFill>
              <a:srgbClr val="FFFFFF"/>
            </a:solidFill>
            <a:prstDash val="solid"/>
          </a:ln>
        </p:spPr>
        <p:txBody>
          <a:bodyPr/>
          <a:lstStyle/>
          <a:p>
            <a:endParaRPr lang="fr-FR"/>
          </a:p>
        </p:txBody>
      </p:sp>
      <p:sp>
        <p:nvSpPr>
          <p:cNvPr id="5" name="Shape 2"/>
          <p:cNvSpPr/>
          <p:nvPr/>
        </p:nvSpPr>
        <p:spPr>
          <a:xfrm>
            <a:off x="292608" y="146304"/>
            <a:ext cx="365760" cy="365760"/>
          </a:xfrm>
          <a:prstGeom prst="roundRect">
            <a:avLst>
              <a:gd name="adj" fmla="val 15000"/>
            </a:avLst>
          </a:prstGeom>
          <a:solidFill>
            <a:srgbClr val="E30613"/>
          </a:solidFill>
          <a:ln w="12700">
            <a:solidFill>
              <a:srgbClr val="E30613"/>
            </a:solidFill>
            <a:prstDash val="solid"/>
          </a:ln>
        </p:spPr>
        <p:txBody>
          <a:bodyPr/>
          <a:lstStyle/>
          <a:p>
            <a:endParaRPr lang="fr-FR"/>
          </a:p>
        </p:txBody>
      </p:sp>
      <p:sp>
        <p:nvSpPr>
          <p:cNvPr id="6" name="Text 3"/>
          <p:cNvSpPr/>
          <p:nvPr/>
        </p:nvSpPr>
        <p:spPr>
          <a:xfrm>
            <a:off x="292608" y="146304"/>
            <a:ext cx="365760" cy="36576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09</a:t>
            </a:r>
            <a:endParaRPr lang="en-US" sz="1200" dirty="0"/>
          </a:p>
        </p:txBody>
      </p:sp>
      <p:sp>
        <p:nvSpPr>
          <p:cNvPr id="7" name="Text 4"/>
          <p:cNvSpPr/>
          <p:nvPr/>
        </p:nvSpPr>
        <p:spPr>
          <a:xfrm>
            <a:off x="804672" y="128016"/>
            <a:ext cx="4572000" cy="146304"/>
          </a:xfrm>
          <a:prstGeom prst="rect">
            <a:avLst/>
          </a:prstGeom>
          <a:noFill/>
          <a:ln/>
        </p:spPr>
        <p:txBody>
          <a:bodyPr wrap="square" rtlCol="0" anchor="ctr"/>
          <a:lstStyle/>
          <a:p>
            <a:pPr marL="0" indent="0">
              <a:buNone/>
            </a:pPr>
            <a:r>
              <a:rPr lang="en-US" sz="900" b="1" dirty="0">
                <a:solidFill>
                  <a:srgbClr val="E30613"/>
                </a:solidFill>
                <a:latin typeface="Segoe UI" pitchFamily="34" charset="0"/>
                <a:ea typeface="Segoe UI" pitchFamily="34" charset="-122"/>
                <a:cs typeface="Segoe UI" pitchFamily="34" charset="-120"/>
              </a:rPr>
              <a:t>PPC · HR EXCO</a:t>
            </a:r>
            <a:endParaRPr lang="en-US" sz="900" dirty="0"/>
          </a:p>
        </p:txBody>
      </p:sp>
      <p:sp>
        <p:nvSpPr>
          <p:cNvPr id="8" name="Text 5"/>
          <p:cNvSpPr/>
          <p:nvPr/>
        </p:nvSpPr>
        <p:spPr>
          <a:xfrm>
            <a:off x="804672" y="274320"/>
            <a:ext cx="7498080" cy="274320"/>
          </a:xfrm>
          <a:prstGeom prst="rect">
            <a:avLst/>
          </a:prstGeom>
          <a:noFill/>
          <a:ln/>
        </p:spPr>
        <p:txBody>
          <a:bodyPr wrap="square" rtlCol="0" anchor="ctr"/>
          <a:lstStyle/>
          <a:p>
            <a:pPr marL="0" indent="0">
              <a:buNone/>
            </a:pPr>
            <a:r>
              <a:rPr lang="en-US" sz="1800" b="1" dirty="0">
                <a:solidFill>
                  <a:srgbClr val="16161E"/>
                </a:solidFill>
                <a:latin typeface="Segoe UI" pitchFamily="34" charset="0"/>
                <a:ea typeface="Segoe UI" pitchFamily="34" charset="-122"/>
                <a:cs typeface="Segoe UI" pitchFamily="34" charset="-120"/>
              </a:rPr>
              <a:t>Governance — Audit</a:t>
            </a:r>
            <a:endParaRPr lang="en-US" sz="1800" dirty="0"/>
          </a:p>
        </p:txBody>
      </p:sp>
      <p:sp>
        <p:nvSpPr>
          <p:cNvPr id="9" name="Text 6"/>
          <p:cNvSpPr/>
          <p:nvPr/>
        </p:nvSpPr>
        <p:spPr>
          <a:xfrm>
            <a:off x="8595360" y="201168"/>
            <a:ext cx="3200400" cy="274320"/>
          </a:xfrm>
          <a:prstGeom prst="rect">
            <a:avLst/>
          </a:prstGeom>
          <a:noFill/>
          <a:ln/>
        </p:spPr>
        <p:txBody>
          <a:bodyPr wrap="square" rtlCol="0" anchor="ctr"/>
          <a:lstStyle/>
          <a:p>
            <a:pPr marL="0" indent="0" algn="r">
              <a:buNone/>
            </a:pPr>
            <a:r>
              <a:rPr lang="en-US" sz="1200" dirty="0">
                <a:solidFill>
                  <a:srgbClr val="6B6B7A"/>
                </a:solidFill>
                <a:latin typeface="Segoe UI" pitchFamily="34" charset="0"/>
                <a:ea typeface="Segoe UI" pitchFamily="34" charset="-122"/>
                <a:cs typeface="Segoe UI" pitchFamily="34" charset="-120"/>
              </a:rPr>
              <a:t>Aug-26</a:t>
            </a:r>
            <a:endParaRPr lang="en-US" sz="1200" dirty="0"/>
          </a:p>
        </p:txBody>
      </p:sp>
      <p:sp>
        <p:nvSpPr>
          <p:cNvPr id="10" name="Shape 7"/>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11" name="Shape 8"/>
          <p:cNvSpPr/>
          <p:nvPr/>
        </p:nvSpPr>
        <p:spPr>
          <a:xfrm>
            <a:off x="274320" y="868680"/>
            <a:ext cx="7635240" cy="5440680"/>
          </a:xfrm>
          <a:prstGeom prst="roundRect">
            <a:avLst>
              <a:gd name="adj" fmla="val 1681"/>
            </a:avLst>
          </a:prstGeom>
          <a:solidFill>
            <a:srgbClr val="FFFFFF"/>
          </a:solidFill>
          <a:ln w="12700">
            <a:solidFill>
              <a:srgbClr val="E0E0E6"/>
            </a:solidFill>
            <a:prstDash val="solid"/>
          </a:ln>
        </p:spPr>
        <p:txBody>
          <a:bodyPr/>
          <a:lstStyle/>
          <a:p>
            <a:endParaRPr lang="fr-FR"/>
          </a:p>
        </p:txBody>
      </p:sp>
      <p:sp>
        <p:nvSpPr>
          <p:cNvPr id="12" name="Text 9"/>
          <p:cNvSpPr/>
          <p:nvPr/>
        </p:nvSpPr>
        <p:spPr>
          <a:xfrm>
            <a:off x="457200" y="1005840"/>
            <a:ext cx="7223760" cy="320040"/>
          </a:xfrm>
          <a:prstGeom prst="rect">
            <a:avLst/>
          </a:prstGeom>
          <a:noFill/>
          <a:ln/>
        </p:spPr>
        <p:txBody>
          <a:bodyPr wrap="square" rtlCol="0" anchor="ctr"/>
          <a:lstStyle/>
          <a:p>
            <a:pPr marL="0" indent="0">
              <a:buNone/>
            </a:pPr>
            <a:r>
              <a:rPr lang="en-US" sz="1500" b="1" dirty="0">
                <a:solidFill>
                  <a:srgbClr val="16161E"/>
                </a:solidFill>
                <a:latin typeface="Segoe UI" pitchFamily="34" charset="0"/>
                <a:ea typeface="Segoe UI" pitchFamily="34" charset="-122"/>
                <a:cs typeface="Segoe UI" pitchFamily="34" charset="-120"/>
              </a:rPr>
              <a:t>Progression cumulative % Closed</a:t>
            </a:r>
            <a:endParaRPr lang="en-US" sz="1500" dirty="0"/>
          </a:p>
        </p:txBody>
      </p:sp>
      <p:sp>
        <p:nvSpPr>
          <p:cNvPr id="13" name="Shape 10"/>
          <p:cNvSpPr/>
          <p:nvPr/>
        </p:nvSpPr>
        <p:spPr>
          <a:xfrm>
            <a:off x="640080" y="5760720"/>
            <a:ext cx="7040880" cy="0"/>
          </a:xfrm>
          <a:prstGeom prst="line">
            <a:avLst/>
          </a:prstGeom>
          <a:noFill/>
          <a:ln w="12700">
            <a:solidFill>
              <a:srgbClr val="E0E0E6"/>
            </a:solidFill>
            <a:prstDash val="dash"/>
          </a:ln>
        </p:spPr>
        <p:txBody>
          <a:bodyPr/>
          <a:lstStyle/>
          <a:p>
            <a:endParaRPr lang="fr-FR"/>
          </a:p>
        </p:txBody>
      </p:sp>
      <p:sp>
        <p:nvSpPr>
          <p:cNvPr id="14" name="Text 11"/>
          <p:cNvSpPr/>
          <p:nvPr/>
        </p:nvSpPr>
        <p:spPr>
          <a:xfrm>
            <a:off x="256032" y="5669280"/>
            <a:ext cx="365760" cy="182880"/>
          </a:xfrm>
          <a:prstGeom prst="rect">
            <a:avLst/>
          </a:prstGeom>
          <a:noFill/>
          <a:ln/>
        </p:spPr>
        <p:txBody>
          <a:bodyPr wrap="square" rtlCol="0" anchor="ctr"/>
          <a:lstStyle/>
          <a:p>
            <a:pPr marL="0" indent="0" algn="r">
              <a:buNone/>
            </a:pPr>
            <a:r>
              <a:rPr lang="en-US" sz="900" dirty="0">
                <a:solidFill>
                  <a:srgbClr val="6B6B7A"/>
                </a:solidFill>
                <a:latin typeface="Segoe UI" pitchFamily="34" charset="0"/>
                <a:ea typeface="Segoe UI" pitchFamily="34" charset="-122"/>
                <a:cs typeface="Segoe UI" pitchFamily="34" charset="-120"/>
              </a:rPr>
              <a:t>0%</a:t>
            </a:r>
            <a:endParaRPr lang="en-US" sz="900" dirty="0"/>
          </a:p>
        </p:txBody>
      </p:sp>
      <p:sp>
        <p:nvSpPr>
          <p:cNvPr id="15" name="Shape 12"/>
          <p:cNvSpPr/>
          <p:nvPr/>
        </p:nvSpPr>
        <p:spPr>
          <a:xfrm>
            <a:off x="640080" y="4686300"/>
            <a:ext cx="7040880" cy="0"/>
          </a:xfrm>
          <a:prstGeom prst="line">
            <a:avLst/>
          </a:prstGeom>
          <a:noFill/>
          <a:ln w="12700">
            <a:solidFill>
              <a:srgbClr val="E0E0E6"/>
            </a:solidFill>
            <a:prstDash val="dash"/>
          </a:ln>
        </p:spPr>
        <p:txBody>
          <a:bodyPr/>
          <a:lstStyle/>
          <a:p>
            <a:endParaRPr lang="fr-FR"/>
          </a:p>
        </p:txBody>
      </p:sp>
      <p:sp>
        <p:nvSpPr>
          <p:cNvPr id="16" name="Text 13"/>
          <p:cNvSpPr/>
          <p:nvPr/>
        </p:nvSpPr>
        <p:spPr>
          <a:xfrm>
            <a:off x="256032" y="4594860"/>
            <a:ext cx="365760" cy="182880"/>
          </a:xfrm>
          <a:prstGeom prst="rect">
            <a:avLst/>
          </a:prstGeom>
          <a:noFill/>
          <a:ln/>
        </p:spPr>
        <p:txBody>
          <a:bodyPr wrap="square" rtlCol="0" anchor="ctr"/>
          <a:lstStyle/>
          <a:p>
            <a:pPr marL="0" indent="0" algn="r">
              <a:buNone/>
            </a:pPr>
            <a:r>
              <a:rPr lang="en-US" sz="900" dirty="0">
                <a:solidFill>
                  <a:srgbClr val="6B6B7A"/>
                </a:solidFill>
                <a:latin typeface="Segoe UI" pitchFamily="34" charset="0"/>
                <a:ea typeface="Segoe UI" pitchFamily="34" charset="-122"/>
                <a:cs typeface="Segoe UI" pitchFamily="34" charset="-120"/>
              </a:rPr>
              <a:t>25%</a:t>
            </a:r>
            <a:endParaRPr lang="en-US" sz="900" dirty="0"/>
          </a:p>
        </p:txBody>
      </p:sp>
      <p:sp>
        <p:nvSpPr>
          <p:cNvPr id="17" name="Shape 14"/>
          <p:cNvSpPr/>
          <p:nvPr/>
        </p:nvSpPr>
        <p:spPr>
          <a:xfrm>
            <a:off x="640080" y="3611880"/>
            <a:ext cx="7040880" cy="0"/>
          </a:xfrm>
          <a:prstGeom prst="line">
            <a:avLst/>
          </a:prstGeom>
          <a:noFill/>
          <a:ln w="12700">
            <a:solidFill>
              <a:srgbClr val="E0E0E6"/>
            </a:solidFill>
            <a:prstDash val="dash"/>
          </a:ln>
        </p:spPr>
        <p:txBody>
          <a:bodyPr/>
          <a:lstStyle/>
          <a:p>
            <a:endParaRPr lang="fr-FR"/>
          </a:p>
        </p:txBody>
      </p:sp>
      <p:sp>
        <p:nvSpPr>
          <p:cNvPr id="18" name="Text 15"/>
          <p:cNvSpPr/>
          <p:nvPr/>
        </p:nvSpPr>
        <p:spPr>
          <a:xfrm>
            <a:off x="256032" y="3520440"/>
            <a:ext cx="365760" cy="182880"/>
          </a:xfrm>
          <a:prstGeom prst="rect">
            <a:avLst/>
          </a:prstGeom>
          <a:noFill/>
          <a:ln/>
        </p:spPr>
        <p:txBody>
          <a:bodyPr wrap="square" rtlCol="0" anchor="ctr"/>
          <a:lstStyle/>
          <a:p>
            <a:pPr marL="0" indent="0" algn="r">
              <a:buNone/>
            </a:pPr>
            <a:r>
              <a:rPr lang="en-US" sz="900" dirty="0">
                <a:solidFill>
                  <a:srgbClr val="6B6B7A"/>
                </a:solidFill>
                <a:latin typeface="Segoe UI" pitchFamily="34" charset="0"/>
                <a:ea typeface="Segoe UI" pitchFamily="34" charset="-122"/>
                <a:cs typeface="Segoe UI" pitchFamily="34" charset="-120"/>
              </a:rPr>
              <a:t>50%</a:t>
            </a:r>
            <a:endParaRPr lang="en-US" sz="900" dirty="0"/>
          </a:p>
        </p:txBody>
      </p:sp>
      <p:sp>
        <p:nvSpPr>
          <p:cNvPr id="19" name="Shape 16"/>
          <p:cNvSpPr/>
          <p:nvPr/>
        </p:nvSpPr>
        <p:spPr>
          <a:xfrm>
            <a:off x="640080" y="2537460"/>
            <a:ext cx="7040880" cy="0"/>
          </a:xfrm>
          <a:prstGeom prst="line">
            <a:avLst/>
          </a:prstGeom>
          <a:noFill/>
          <a:ln w="12700">
            <a:solidFill>
              <a:srgbClr val="E0E0E6"/>
            </a:solidFill>
            <a:prstDash val="dash"/>
          </a:ln>
        </p:spPr>
        <p:txBody>
          <a:bodyPr/>
          <a:lstStyle/>
          <a:p>
            <a:endParaRPr lang="fr-FR"/>
          </a:p>
        </p:txBody>
      </p:sp>
      <p:sp>
        <p:nvSpPr>
          <p:cNvPr id="20" name="Text 17"/>
          <p:cNvSpPr/>
          <p:nvPr/>
        </p:nvSpPr>
        <p:spPr>
          <a:xfrm>
            <a:off x="256032" y="2446020"/>
            <a:ext cx="365760" cy="182880"/>
          </a:xfrm>
          <a:prstGeom prst="rect">
            <a:avLst/>
          </a:prstGeom>
          <a:noFill/>
          <a:ln/>
        </p:spPr>
        <p:txBody>
          <a:bodyPr wrap="square" rtlCol="0" anchor="ctr"/>
          <a:lstStyle/>
          <a:p>
            <a:pPr marL="0" indent="0" algn="r">
              <a:buNone/>
            </a:pPr>
            <a:r>
              <a:rPr lang="en-US" sz="900" dirty="0">
                <a:solidFill>
                  <a:srgbClr val="6B6B7A"/>
                </a:solidFill>
                <a:latin typeface="Segoe UI" pitchFamily="34" charset="0"/>
                <a:ea typeface="Segoe UI" pitchFamily="34" charset="-122"/>
                <a:cs typeface="Segoe UI" pitchFamily="34" charset="-120"/>
              </a:rPr>
              <a:t>75%</a:t>
            </a:r>
            <a:endParaRPr lang="en-US" sz="900" dirty="0"/>
          </a:p>
        </p:txBody>
      </p:sp>
      <p:sp>
        <p:nvSpPr>
          <p:cNvPr id="21" name="Shape 18"/>
          <p:cNvSpPr/>
          <p:nvPr/>
        </p:nvSpPr>
        <p:spPr>
          <a:xfrm>
            <a:off x="640080" y="1463040"/>
            <a:ext cx="7040880" cy="0"/>
          </a:xfrm>
          <a:prstGeom prst="line">
            <a:avLst/>
          </a:prstGeom>
          <a:noFill/>
          <a:ln w="12700">
            <a:solidFill>
              <a:srgbClr val="E0E0E6"/>
            </a:solidFill>
            <a:prstDash val="dash"/>
          </a:ln>
        </p:spPr>
        <p:txBody>
          <a:bodyPr/>
          <a:lstStyle/>
          <a:p>
            <a:endParaRPr lang="fr-FR"/>
          </a:p>
        </p:txBody>
      </p:sp>
      <p:sp>
        <p:nvSpPr>
          <p:cNvPr id="22" name="Text 19"/>
          <p:cNvSpPr/>
          <p:nvPr/>
        </p:nvSpPr>
        <p:spPr>
          <a:xfrm>
            <a:off x="256032" y="1371600"/>
            <a:ext cx="365760" cy="182880"/>
          </a:xfrm>
          <a:prstGeom prst="rect">
            <a:avLst/>
          </a:prstGeom>
          <a:noFill/>
          <a:ln/>
        </p:spPr>
        <p:txBody>
          <a:bodyPr wrap="square" rtlCol="0" anchor="ctr"/>
          <a:lstStyle/>
          <a:p>
            <a:pPr marL="0" indent="0" algn="r">
              <a:buNone/>
            </a:pPr>
            <a:r>
              <a:rPr lang="en-US" sz="900" dirty="0">
                <a:solidFill>
                  <a:srgbClr val="6B6B7A"/>
                </a:solidFill>
                <a:latin typeface="Segoe UI" pitchFamily="34" charset="0"/>
                <a:ea typeface="Segoe UI" pitchFamily="34" charset="-122"/>
                <a:cs typeface="Segoe UI" pitchFamily="34" charset="-120"/>
              </a:rPr>
              <a:t>100%</a:t>
            </a:r>
            <a:endParaRPr lang="en-US" sz="900" dirty="0"/>
          </a:p>
        </p:txBody>
      </p:sp>
      <p:sp>
        <p:nvSpPr>
          <p:cNvPr id="23" name="Text 20"/>
          <p:cNvSpPr/>
          <p:nvPr/>
        </p:nvSpPr>
        <p:spPr>
          <a:xfrm>
            <a:off x="640080" y="5541264"/>
            <a:ext cx="586740" cy="201168"/>
          </a:xfrm>
          <a:prstGeom prst="rect">
            <a:avLst/>
          </a:prstGeom>
          <a:noFill/>
          <a:ln/>
        </p:spPr>
        <p:txBody>
          <a:bodyPr wrap="square" rtlCol="0" anchor="ctr"/>
          <a:lstStyle/>
          <a:p>
            <a:pPr marL="0" indent="0" algn="ctr">
              <a:buNone/>
            </a:pPr>
            <a:r>
              <a:rPr lang="en-US" sz="1000" b="1" dirty="0">
                <a:solidFill>
                  <a:srgbClr val="16161E"/>
                </a:solidFill>
                <a:latin typeface="Segoe UI" pitchFamily="34" charset="0"/>
                <a:ea typeface="Segoe UI" pitchFamily="34" charset="-122"/>
                <a:cs typeface="Segoe UI" pitchFamily="34" charset="-120"/>
              </a:rPr>
              <a:t>0.00%</a:t>
            </a:r>
            <a:endParaRPr lang="en-US" sz="1000" dirty="0"/>
          </a:p>
        </p:txBody>
      </p:sp>
      <p:sp>
        <p:nvSpPr>
          <p:cNvPr id="24" name="Text 21"/>
          <p:cNvSpPr/>
          <p:nvPr/>
        </p:nvSpPr>
        <p:spPr>
          <a:xfrm>
            <a:off x="640080" y="5815584"/>
            <a:ext cx="586740" cy="219456"/>
          </a:xfrm>
          <a:prstGeom prst="rect">
            <a:avLst/>
          </a:prstGeom>
          <a:noFill/>
          <a:ln/>
        </p:spPr>
        <p:txBody>
          <a:bodyPr wrap="square" rtlCol="0" anchor="ctr"/>
          <a:lstStyle/>
          <a:p>
            <a:pPr marL="0" indent="0" algn="ctr">
              <a:buNone/>
            </a:pPr>
            <a:r>
              <a:rPr lang="en-US" sz="1000" dirty="0">
                <a:solidFill>
                  <a:srgbClr val="6B6B7A"/>
                </a:solidFill>
                <a:latin typeface="Segoe UI" pitchFamily="34" charset="0"/>
                <a:ea typeface="Segoe UI" pitchFamily="34" charset="-122"/>
                <a:cs typeface="Segoe UI" pitchFamily="34" charset="-120"/>
              </a:rPr>
              <a:t>Jan</a:t>
            </a:r>
            <a:endParaRPr lang="en-US" sz="1000" dirty="0"/>
          </a:p>
        </p:txBody>
      </p:sp>
      <p:sp>
        <p:nvSpPr>
          <p:cNvPr id="25" name="Text 22"/>
          <p:cNvSpPr/>
          <p:nvPr/>
        </p:nvSpPr>
        <p:spPr>
          <a:xfrm>
            <a:off x="1226820" y="5541264"/>
            <a:ext cx="586740" cy="201168"/>
          </a:xfrm>
          <a:prstGeom prst="rect">
            <a:avLst/>
          </a:prstGeom>
          <a:noFill/>
          <a:ln/>
        </p:spPr>
        <p:txBody>
          <a:bodyPr wrap="square" rtlCol="0" anchor="ctr"/>
          <a:lstStyle/>
          <a:p>
            <a:pPr marL="0" indent="0" algn="ctr">
              <a:buNone/>
            </a:pPr>
            <a:r>
              <a:rPr lang="en-US" sz="1000" b="1" dirty="0">
                <a:solidFill>
                  <a:srgbClr val="16161E"/>
                </a:solidFill>
                <a:latin typeface="Segoe UI" pitchFamily="34" charset="0"/>
                <a:ea typeface="Segoe UI" pitchFamily="34" charset="-122"/>
                <a:cs typeface="Segoe UI" pitchFamily="34" charset="-120"/>
              </a:rPr>
              <a:t>0.00%</a:t>
            </a:r>
            <a:endParaRPr lang="en-US" sz="1000" dirty="0"/>
          </a:p>
        </p:txBody>
      </p:sp>
      <p:sp>
        <p:nvSpPr>
          <p:cNvPr id="26" name="Text 23"/>
          <p:cNvSpPr/>
          <p:nvPr/>
        </p:nvSpPr>
        <p:spPr>
          <a:xfrm>
            <a:off x="1226820" y="5815584"/>
            <a:ext cx="586740" cy="219456"/>
          </a:xfrm>
          <a:prstGeom prst="rect">
            <a:avLst/>
          </a:prstGeom>
          <a:noFill/>
          <a:ln/>
        </p:spPr>
        <p:txBody>
          <a:bodyPr wrap="square" rtlCol="0" anchor="ctr"/>
          <a:lstStyle/>
          <a:p>
            <a:pPr marL="0" indent="0" algn="ctr">
              <a:buNone/>
            </a:pPr>
            <a:r>
              <a:rPr lang="en-US" sz="1000" dirty="0">
                <a:solidFill>
                  <a:srgbClr val="6B6B7A"/>
                </a:solidFill>
                <a:latin typeface="Segoe UI" pitchFamily="34" charset="0"/>
                <a:ea typeface="Segoe UI" pitchFamily="34" charset="-122"/>
                <a:cs typeface="Segoe UI" pitchFamily="34" charset="-120"/>
              </a:rPr>
              <a:t>Feb</a:t>
            </a:r>
            <a:endParaRPr lang="en-US" sz="1000" dirty="0"/>
          </a:p>
        </p:txBody>
      </p:sp>
      <p:sp>
        <p:nvSpPr>
          <p:cNvPr id="27" name="Text 24"/>
          <p:cNvSpPr/>
          <p:nvPr/>
        </p:nvSpPr>
        <p:spPr>
          <a:xfrm>
            <a:off x="1813560" y="5541264"/>
            <a:ext cx="586740" cy="201168"/>
          </a:xfrm>
          <a:prstGeom prst="rect">
            <a:avLst/>
          </a:prstGeom>
          <a:noFill/>
          <a:ln/>
        </p:spPr>
        <p:txBody>
          <a:bodyPr wrap="square" rtlCol="0" anchor="ctr"/>
          <a:lstStyle/>
          <a:p>
            <a:pPr marL="0" indent="0" algn="ctr">
              <a:buNone/>
            </a:pPr>
            <a:r>
              <a:rPr lang="en-US" sz="1000" b="1" dirty="0">
                <a:solidFill>
                  <a:srgbClr val="16161E"/>
                </a:solidFill>
                <a:latin typeface="Segoe UI" pitchFamily="34" charset="0"/>
                <a:ea typeface="Segoe UI" pitchFamily="34" charset="-122"/>
                <a:cs typeface="Segoe UI" pitchFamily="34" charset="-120"/>
              </a:rPr>
              <a:t>0.00%</a:t>
            </a:r>
            <a:endParaRPr lang="en-US" sz="1000" dirty="0"/>
          </a:p>
        </p:txBody>
      </p:sp>
      <p:sp>
        <p:nvSpPr>
          <p:cNvPr id="28" name="Text 25"/>
          <p:cNvSpPr/>
          <p:nvPr/>
        </p:nvSpPr>
        <p:spPr>
          <a:xfrm>
            <a:off x="1813560" y="5815584"/>
            <a:ext cx="586740" cy="219456"/>
          </a:xfrm>
          <a:prstGeom prst="rect">
            <a:avLst/>
          </a:prstGeom>
          <a:noFill/>
          <a:ln/>
        </p:spPr>
        <p:txBody>
          <a:bodyPr wrap="square" rtlCol="0" anchor="ctr"/>
          <a:lstStyle/>
          <a:p>
            <a:pPr marL="0" indent="0" algn="ctr">
              <a:buNone/>
            </a:pPr>
            <a:r>
              <a:rPr lang="en-US" sz="1000" dirty="0">
                <a:solidFill>
                  <a:srgbClr val="6B6B7A"/>
                </a:solidFill>
                <a:latin typeface="Segoe UI" pitchFamily="34" charset="0"/>
                <a:ea typeface="Segoe UI" pitchFamily="34" charset="-122"/>
                <a:cs typeface="Segoe UI" pitchFamily="34" charset="-120"/>
              </a:rPr>
              <a:t>Mar</a:t>
            </a:r>
            <a:endParaRPr lang="en-US" sz="1000" dirty="0"/>
          </a:p>
        </p:txBody>
      </p:sp>
      <p:sp>
        <p:nvSpPr>
          <p:cNvPr id="29" name="Text 26"/>
          <p:cNvSpPr/>
          <p:nvPr/>
        </p:nvSpPr>
        <p:spPr>
          <a:xfrm>
            <a:off x="2400300" y="5541264"/>
            <a:ext cx="586740" cy="201168"/>
          </a:xfrm>
          <a:prstGeom prst="rect">
            <a:avLst/>
          </a:prstGeom>
          <a:noFill/>
          <a:ln/>
        </p:spPr>
        <p:txBody>
          <a:bodyPr wrap="square" rtlCol="0" anchor="ctr"/>
          <a:lstStyle/>
          <a:p>
            <a:pPr marL="0" indent="0" algn="ctr">
              <a:buNone/>
            </a:pPr>
            <a:r>
              <a:rPr lang="en-US" sz="1000" b="1" dirty="0">
                <a:solidFill>
                  <a:srgbClr val="16161E"/>
                </a:solidFill>
                <a:latin typeface="Segoe UI" pitchFamily="34" charset="0"/>
                <a:ea typeface="Segoe UI" pitchFamily="34" charset="-122"/>
                <a:cs typeface="Segoe UI" pitchFamily="34" charset="-120"/>
              </a:rPr>
              <a:t>0.00%</a:t>
            </a:r>
            <a:endParaRPr lang="en-US" sz="1000" dirty="0"/>
          </a:p>
        </p:txBody>
      </p:sp>
      <p:sp>
        <p:nvSpPr>
          <p:cNvPr id="30" name="Text 27"/>
          <p:cNvSpPr/>
          <p:nvPr/>
        </p:nvSpPr>
        <p:spPr>
          <a:xfrm>
            <a:off x="2400300" y="5815584"/>
            <a:ext cx="586740" cy="219456"/>
          </a:xfrm>
          <a:prstGeom prst="rect">
            <a:avLst/>
          </a:prstGeom>
          <a:noFill/>
          <a:ln/>
        </p:spPr>
        <p:txBody>
          <a:bodyPr wrap="square" rtlCol="0" anchor="ctr"/>
          <a:lstStyle/>
          <a:p>
            <a:pPr marL="0" indent="0" algn="ctr">
              <a:buNone/>
            </a:pPr>
            <a:r>
              <a:rPr lang="en-US" sz="1000" dirty="0">
                <a:solidFill>
                  <a:srgbClr val="6B6B7A"/>
                </a:solidFill>
                <a:latin typeface="Segoe UI" pitchFamily="34" charset="0"/>
                <a:ea typeface="Segoe UI" pitchFamily="34" charset="-122"/>
                <a:cs typeface="Segoe UI" pitchFamily="34" charset="-120"/>
              </a:rPr>
              <a:t>Apr</a:t>
            </a:r>
            <a:endParaRPr lang="en-US" sz="1000" dirty="0"/>
          </a:p>
        </p:txBody>
      </p:sp>
      <p:sp>
        <p:nvSpPr>
          <p:cNvPr id="31" name="Shape 28"/>
          <p:cNvSpPr/>
          <p:nvPr/>
        </p:nvSpPr>
        <p:spPr>
          <a:xfrm>
            <a:off x="3039847" y="5545836"/>
            <a:ext cx="481127" cy="214884"/>
          </a:xfrm>
          <a:prstGeom prst="roundRect">
            <a:avLst>
              <a:gd name="adj" fmla="val 17021"/>
            </a:avLst>
          </a:prstGeom>
          <a:solidFill>
            <a:srgbClr val="0D9488"/>
          </a:solidFill>
          <a:ln w="12700">
            <a:solidFill>
              <a:srgbClr val="0D9488"/>
            </a:solidFill>
            <a:prstDash val="solid"/>
          </a:ln>
        </p:spPr>
        <p:txBody>
          <a:bodyPr/>
          <a:lstStyle/>
          <a:p>
            <a:endParaRPr lang="fr-FR"/>
          </a:p>
        </p:txBody>
      </p:sp>
      <p:sp>
        <p:nvSpPr>
          <p:cNvPr id="32" name="Text 29"/>
          <p:cNvSpPr/>
          <p:nvPr/>
        </p:nvSpPr>
        <p:spPr>
          <a:xfrm>
            <a:off x="2987040" y="5326380"/>
            <a:ext cx="586740" cy="201168"/>
          </a:xfrm>
          <a:prstGeom prst="rect">
            <a:avLst/>
          </a:prstGeom>
          <a:noFill/>
          <a:ln/>
        </p:spPr>
        <p:txBody>
          <a:bodyPr wrap="square" rtlCol="0" anchor="ctr"/>
          <a:lstStyle/>
          <a:p>
            <a:pPr marL="0" indent="0" algn="ctr">
              <a:buNone/>
            </a:pPr>
            <a:r>
              <a:rPr lang="en-US" sz="1000" b="1" dirty="0">
                <a:solidFill>
                  <a:srgbClr val="16161E"/>
                </a:solidFill>
                <a:latin typeface="Segoe UI" pitchFamily="34" charset="0"/>
                <a:ea typeface="Segoe UI" pitchFamily="34" charset="-122"/>
                <a:cs typeface="Segoe UI" pitchFamily="34" charset="-120"/>
              </a:rPr>
              <a:t>5.00%</a:t>
            </a:r>
            <a:endParaRPr lang="en-US" sz="1000" dirty="0"/>
          </a:p>
        </p:txBody>
      </p:sp>
      <p:sp>
        <p:nvSpPr>
          <p:cNvPr id="33" name="Text 30"/>
          <p:cNvSpPr/>
          <p:nvPr/>
        </p:nvSpPr>
        <p:spPr>
          <a:xfrm>
            <a:off x="2987040" y="5815584"/>
            <a:ext cx="586740" cy="219456"/>
          </a:xfrm>
          <a:prstGeom prst="rect">
            <a:avLst/>
          </a:prstGeom>
          <a:noFill/>
          <a:ln/>
        </p:spPr>
        <p:txBody>
          <a:bodyPr wrap="square" rtlCol="0" anchor="ctr"/>
          <a:lstStyle/>
          <a:p>
            <a:pPr marL="0" indent="0" algn="ctr">
              <a:buNone/>
            </a:pPr>
            <a:r>
              <a:rPr lang="en-US" sz="1000" dirty="0">
                <a:solidFill>
                  <a:srgbClr val="6B6B7A"/>
                </a:solidFill>
                <a:latin typeface="Segoe UI" pitchFamily="34" charset="0"/>
                <a:ea typeface="Segoe UI" pitchFamily="34" charset="-122"/>
                <a:cs typeface="Segoe UI" pitchFamily="34" charset="-120"/>
              </a:rPr>
              <a:t>May</a:t>
            </a:r>
            <a:endParaRPr lang="en-US" sz="1000" dirty="0"/>
          </a:p>
        </p:txBody>
      </p:sp>
      <p:sp>
        <p:nvSpPr>
          <p:cNvPr id="34" name="Shape 31"/>
          <p:cNvSpPr/>
          <p:nvPr/>
        </p:nvSpPr>
        <p:spPr>
          <a:xfrm>
            <a:off x="3626587" y="5373929"/>
            <a:ext cx="481127" cy="386791"/>
          </a:xfrm>
          <a:prstGeom prst="roundRect">
            <a:avLst>
              <a:gd name="adj" fmla="val 9456"/>
            </a:avLst>
          </a:prstGeom>
          <a:solidFill>
            <a:srgbClr val="0D9488"/>
          </a:solidFill>
          <a:ln w="12700">
            <a:solidFill>
              <a:srgbClr val="0D9488"/>
            </a:solidFill>
            <a:prstDash val="solid"/>
          </a:ln>
        </p:spPr>
        <p:txBody>
          <a:bodyPr/>
          <a:lstStyle/>
          <a:p>
            <a:endParaRPr lang="fr-FR"/>
          </a:p>
        </p:txBody>
      </p:sp>
      <p:sp>
        <p:nvSpPr>
          <p:cNvPr id="35" name="Text 32"/>
          <p:cNvSpPr/>
          <p:nvPr/>
        </p:nvSpPr>
        <p:spPr>
          <a:xfrm>
            <a:off x="3573780" y="5154473"/>
            <a:ext cx="586740" cy="201168"/>
          </a:xfrm>
          <a:prstGeom prst="rect">
            <a:avLst/>
          </a:prstGeom>
          <a:noFill/>
          <a:ln/>
        </p:spPr>
        <p:txBody>
          <a:bodyPr wrap="square" rtlCol="0" anchor="ctr"/>
          <a:lstStyle/>
          <a:p>
            <a:pPr marL="0" indent="0" algn="ctr">
              <a:buNone/>
            </a:pPr>
            <a:r>
              <a:rPr lang="en-US" sz="1000" b="1" dirty="0">
                <a:solidFill>
                  <a:srgbClr val="16161E"/>
                </a:solidFill>
                <a:latin typeface="Segoe UI" pitchFamily="34" charset="0"/>
                <a:ea typeface="Segoe UI" pitchFamily="34" charset="-122"/>
                <a:cs typeface="Segoe UI" pitchFamily="34" charset="-120"/>
              </a:rPr>
              <a:t>9.00%</a:t>
            </a:r>
            <a:endParaRPr lang="en-US" sz="1000" dirty="0"/>
          </a:p>
        </p:txBody>
      </p:sp>
      <p:sp>
        <p:nvSpPr>
          <p:cNvPr id="36" name="Text 33"/>
          <p:cNvSpPr/>
          <p:nvPr/>
        </p:nvSpPr>
        <p:spPr>
          <a:xfrm>
            <a:off x="3573780" y="5815584"/>
            <a:ext cx="586740" cy="219456"/>
          </a:xfrm>
          <a:prstGeom prst="rect">
            <a:avLst/>
          </a:prstGeom>
          <a:noFill/>
          <a:ln/>
        </p:spPr>
        <p:txBody>
          <a:bodyPr wrap="square" rtlCol="0" anchor="ctr"/>
          <a:lstStyle/>
          <a:p>
            <a:pPr marL="0" indent="0" algn="ctr">
              <a:buNone/>
            </a:pPr>
            <a:r>
              <a:rPr lang="en-US" sz="1000" dirty="0">
                <a:solidFill>
                  <a:srgbClr val="6B6B7A"/>
                </a:solidFill>
                <a:latin typeface="Segoe UI" pitchFamily="34" charset="0"/>
                <a:ea typeface="Segoe UI" pitchFamily="34" charset="-122"/>
                <a:cs typeface="Segoe UI" pitchFamily="34" charset="-120"/>
              </a:rPr>
              <a:t>Jun</a:t>
            </a:r>
            <a:endParaRPr lang="en-US" sz="1000" dirty="0"/>
          </a:p>
        </p:txBody>
      </p:sp>
      <p:sp>
        <p:nvSpPr>
          <p:cNvPr id="37" name="Shape 34"/>
          <p:cNvSpPr/>
          <p:nvPr/>
        </p:nvSpPr>
        <p:spPr>
          <a:xfrm>
            <a:off x="4213327" y="3396996"/>
            <a:ext cx="481127" cy="2363724"/>
          </a:xfrm>
          <a:prstGeom prst="roundRect">
            <a:avLst>
              <a:gd name="adj" fmla="val 7602"/>
            </a:avLst>
          </a:prstGeom>
          <a:solidFill>
            <a:srgbClr val="0D9488"/>
          </a:solidFill>
          <a:ln w="12700">
            <a:solidFill>
              <a:srgbClr val="0D9488"/>
            </a:solidFill>
            <a:prstDash val="solid"/>
          </a:ln>
        </p:spPr>
        <p:txBody>
          <a:bodyPr/>
          <a:lstStyle/>
          <a:p>
            <a:endParaRPr lang="fr-FR"/>
          </a:p>
        </p:txBody>
      </p:sp>
      <p:sp>
        <p:nvSpPr>
          <p:cNvPr id="38" name="Text 35"/>
          <p:cNvSpPr/>
          <p:nvPr/>
        </p:nvSpPr>
        <p:spPr>
          <a:xfrm>
            <a:off x="4160520" y="3177540"/>
            <a:ext cx="586740" cy="201168"/>
          </a:xfrm>
          <a:prstGeom prst="rect">
            <a:avLst/>
          </a:prstGeom>
          <a:noFill/>
          <a:ln/>
        </p:spPr>
        <p:txBody>
          <a:bodyPr wrap="square" rtlCol="0" anchor="ctr"/>
          <a:lstStyle/>
          <a:p>
            <a:pPr marL="0" indent="0" algn="ctr">
              <a:buNone/>
            </a:pPr>
            <a:r>
              <a:rPr lang="en-US" sz="1000" b="1" dirty="0">
                <a:solidFill>
                  <a:srgbClr val="16161E"/>
                </a:solidFill>
                <a:latin typeface="Segoe UI" pitchFamily="34" charset="0"/>
                <a:ea typeface="Segoe UI" pitchFamily="34" charset="-122"/>
                <a:cs typeface="Segoe UI" pitchFamily="34" charset="-120"/>
              </a:rPr>
              <a:t>55.00%</a:t>
            </a:r>
            <a:endParaRPr lang="en-US" sz="1000" dirty="0"/>
          </a:p>
        </p:txBody>
      </p:sp>
      <p:sp>
        <p:nvSpPr>
          <p:cNvPr id="39" name="Text 36"/>
          <p:cNvSpPr/>
          <p:nvPr/>
        </p:nvSpPr>
        <p:spPr>
          <a:xfrm>
            <a:off x="4160520" y="5815584"/>
            <a:ext cx="586740" cy="219456"/>
          </a:xfrm>
          <a:prstGeom prst="rect">
            <a:avLst/>
          </a:prstGeom>
          <a:noFill/>
          <a:ln/>
        </p:spPr>
        <p:txBody>
          <a:bodyPr wrap="square" rtlCol="0" anchor="ctr"/>
          <a:lstStyle/>
          <a:p>
            <a:pPr marL="0" indent="0" algn="ctr">
              <a:buNone/>
            </a:pPr>
            <a:r>
              <a:rPr lang="en-US" sz="1000" dirty="0">
                <a:solidFill>
                  <a:srgbClr val="6B6B7A"/>
                </a:solidFill>
                <a:latin typeface="Segoe UI" pitchFamily="34" charset="0"/>
                <a:ea typeface="Segoe UI" pitchFamily="34" charset="-122"/>
                <a:cs typeface="Segoe UI" pitchFamily="34" charset="-120"/>
              </a:rPr>
              <a:t>Jul</a:t>
            </a:r>
            <a:endParaRPr lang="en-US" sz="1000" dirty="0"/>
          </a:p>
        </p:txBody>
      </p:sp>
      <p:sp>
        <p:nvSpPr>
          <p:cNvPr id="40" name="Shape 37"/>
          <p:cNvSpPr/>
          <p:nvPr/>
        </p:nvSpPr>
        <p:spPr>
          <a:xfrm>
            <a:off x="4800067" y="3396996"/>
            <a:ext cx="481127" cy="2363724"/>
          </a:xfrm>
          <a:prstGeom prst="roundRect">
            <a:avLst>
              <a:gd name="adj" fmla="val 7602"/>
            </a:avLst>
          </a:prstGeom>
          <a:solidFill>
            <a:srgbClr val="0D9488"/>
          </a:solidFill>
          <a:ln w="12700">
            <a:solidFill>
              <a:srgbClr val="0D9488"/>
            </a:solidFill>
            <a:prstDash val="solid"/>
          </a:ln>
        </p:spPr>
        <p:txBody>
          <a:bodyPr/>
          <a:lstStyle/>
          <a:p>
            <a:endParaRPr lang="fr-FR"/>
          </a:p>
        </p:txBody>
      </p:sp>
      <p:sp>
        <p:nvSpPr>
          <p:cNvPr id="41" name="Text 38"/>
          <p:cNvSpPr/>
          <p:nvPr/>
        </p:nvSpPr>
        <p:spPr>
          <a:xfrm>
            <a:off x="4747260" y="3177540"/>
            <a:ext cx="586740" cy="201168"/>
          </a:xfrm>
          <a:prstGeom prst="rect">
            <a:avLst/>
          </a:prstGeom>
          <a:noFill/>
          <a:ln/>
        </p:spPr>
        <p:txBody>
          <a:bodyPr wrap="square" rtlCol="0" anchor="ctr"/>
          <a:lstStyle/>
          <a:p>
            <a:pPr marL="0" indent="0" algn="ctr">
              <a:buNone/>
            </a:pPr>
            <a:r>
              <a:rPr lang="en-US" sz="1000" b="1" dirty="0">
                <a:solidFill>
                  <a:srgbClr val="16161E"/>
                </a:solidFill>
                <a:latin typeface="Segoe UI" pitchFamily="34" charset="0"/>
                <a:ea typeface="Segoe UI" pitchFamily="34" charset="-122"/>
                <a:cs typeface="Segoe UI" pitchFamily="34" charset="-120"/>
              </a:rPr>
              <a:t>55.00%</a:t>
            </a:r>
            <a:endParaRPr lang="en-US" sz="1000" dirty="0"/>
          </a:p>
        </p:txBody>
      </p:sp>
      <p:sp>
        <p:nvSpPr>
          <p:cNvPr id="42" name="Text 39"/>
          <p:cNvSpPr/>
          <p:nvPr/>
        </p:nvSpPr>
        <p:spPr>
          <a:xfrm>
            <a:off x="4747260" y="5815584"/>
            <a:ext cx="586740" cy="219456"/>
          </a:xfrm>
          <a:prstGeom prst="rect">
            <a:avLst/>
          </a:prstGeom>
          <a:noFill/>
          <a:ln/>
        </p:spPr>
        <p:txBody>
          <a:bodyPr wrap="square" rtlCol="0" anchor="ctr"/>
          <a:lstStyle/>
          <a:p>
            <a:pPr marL="0" indent="0" algn="ctr">
              <a:buNone/>
            </a:pPr>
            <a:r>
              <a:rPr lang="en-US" sz="1000" b="1" dirty="0">
                <a:solidFill>
                  <a:srgbClr val="16161E"/>
                </a:solidFill>
                <a:latin typeface="Segoe UI" pitchFamily="34" charset="0"/>
                <a:ea typeface="Segoe UI" pitchFamily="34" charset="-122"/>
                <a:cs typeface="Segoe UI" pitchFamily="34" charset="-120"/>
              </a:rPr>
              <a:t>Aug</a:t>
            </a:r>
            <a:endParaRPr lang="en-US" sz="1000" dirty="0"/>
          </a:p>
        </p:txBody>
      </p:sp>
      <p:sp>
        <p:nvSpPr>
          <p:cNvPr id="43" name="Text 40"/>
          <p:cNvSpPr/>
          <p:nvPr/>
        </p:nvSpPr>
        <p:spPr>
          <a:xfrm>
            <a:off x="5334000" y="5815584"/>
            <a:ext cx="586740" cy="219456"/>
          </a:xfrm>
          <a:prstGeom prst="rect">
            <a:avLst/>
          </a:prstGeom>
          <a:noFill/>
          <a:ln/>
        </p:spPr>
        <p:txBody>
          <a:bodyPr wrap="square" rtlCol="0" anchor="ctr"/>
          <a:lstStyle/>
          <a:p>
            <a:pPr marL="0" indent="0" algn="ctr">
              <a:buNone/>
            </a:pPr>
            <a:r>
              <a:rPr lang="en-US" sz="1000" dirty="0">
                <a:solidFill>
                  <a:srgbClr val="6B6B7A"/>
                </a:solidFill>
                <a:latin typeface="Segoe UI" pitchFamily="34" charset="0"/>
                <a:ea typeface="Segoe UI" pitchFamily="34" charset="-122"/>
                <a:cs typeface="Segoe UI" pitchFamily="34" charset="-120"/>
              </a:rPr>
              <a:t>Sep</a:t>
            </a:r>
            <a:endParaRPr lang="en-US" sz="1000" dirty="0"/>
          </a:p>
        </p:txBody>
      </p:sp>
      <p:sp>
        <p:nvSpPr>
          <p:cNvPr id="44" name="Text 41"/>
          <p:cNvSpPr/>
          <p:nvPr/>
        </p:nvSpPr>
        <p:spPr>
          <a:xfrm>
            <a:off x="5920740" y="5815584"/>
            <a:ext cx="586740" cy="219456"/>
          </a:xfrm>
          <a:prstGeom prst="rect">
            <a:avLst/>
          </a:prstGeom>
          <a:noFill/>
          <a:ln/>
        </p:spPr>
        <p:txBody>
          <a:bodyPr wrap="square" rtlCol="0" anchor="ctr"/>
          <a:lstStyle/>
          <a:p>
            <a:pPr marL="0" indent="0" algn="ctr">
              <a:buNone/>
            </a:pPr>
            <a:r>
              <a:rPr lang="en-US" sz="1000" dirty="0">
                <a:solidFill>
                  <a:srgbClr val="6B6B7A"/>
                </a:solidFill>
                <a:latin typeface="Segoe UI" pitchFamily="34" charset="0"/>
                <a:ea typeface="Segoe UI" pitchFamily="34" charset="-122"/>
                <a:cs typeface="Segoe UI" pitchFamily="34" charset="-120"/>
              </a:rPr>
              <a:t>Oct</a:t>
            </a:r>
            <a:endParaRPr lang="en-US" sz="1000" dirty="0"/>
          </a:p>
        </p:txBody>
      </p:sp>
      <p:sp>
        <p:nvSpPr>
          <p:cNvPr id="45" name="Text 42"/>
          <p:cNvSpPr/>
          <p:nvPr/>
        </p:nvSpPr>
        <p:spPr>
          <a:xfrm>
            <a:off x="6507480" y="5815584"/>
            <a:ext cx="586740" cy="219456"/>
          </a:xfrm>
          <a:prstGeom prst="rect">
            <a:avLst/>
          </a:prstGeom>
          <a:noFill/>
          <a:ln/>
        </p:spPr>
        <p:txBody>
          <a:bodyPr wrap="square" rtlCol="0" anchor="ctr"/>
          <a:lstStyle/>
          <a:p>
            <a:pPr marL="0" indent="0" algn="ctr">
              <a:buNone/>
            </a:pPr>
            <a:r>
              <a:rPr lang="en-US" sz="1000" dirty="0">
                <a:solidFill>
                  <a:srgbClr val="6B6B7A"/>
                </a:solidFill>
                <a:latin typeface="Segoe UI" pitchFamily="34" charset="0"/>
                <a:ea typeface="Segoe UI" pitchFamily="34" charset="-122"/>
                <a:cs typeface="Segoe UI" pitchFamily="34" charset="-120"/>
              </a:rPr>
              <a:t>Nov</a:t>
            </a:r>
            <a:endParaRPr lang="en-US" sz="1000" dirty="0"/>
          </a:p>
        </p:txBody>
      </p:sp>
      <p:sp>
        <p:nvSpPr>
          <p:cNvPr id="46" name="Text 43"/>
          <p:cNvSpPr/>
          <p:nvPr/>
        </p:nvSpPr>
        <p:spPr>
          <a:xfrm>
            <a:off x="7094220" y="5815584"/>
            <a:ext cx="586740" cy="219456"/>
          </a:xfrm>
          <a:prstGeom prst="rect">
            <a:avLst/>
          </a:prstGeom>
          <a:noFill/>
          <a:ln/>
        </p:spPr>
        <p:txBody>
          <a:bodyPr wrap="square" rtlCol="0" anchor="ctr"/>
          <a:lstStyle/>
          <a:p>
            <a:pPr marL="0" indent="0" algn="ctr">
              <a:buNone/>
            </a:pPr>
            <a:r>
              <a:rPr lang="en-US" sz="1000" dirty="0">
                <a:solidFill>
                  <a:srgbClr val="6B6B7A"/>
                </a:solidFill>
                <a:latin typeface="Segoe UI" pitchFamily="34" charset="0"/>
                <a:ea typeface="Segoe UI" pitchFamily="34" charset="-122"/>
                <a:cs typeface="Segoe UI" pitchFamily="34" charset="-120"/>
              </a:rPr>
              <a:t>Dec</a:t>
            </a:r>
            <a:endParaRPr lang="en-US" sz="1000" dirty="0"/>
          </a:p>
        </p:txBody>
      </p:sp>
      <p:sp>
        <p:nvSpPr>
          <p:cNvPr id="47" name="Shape 44"/>
          <p:cNvSpPr/>
          <p:nvPr/>
        </p:nvSpPr>
        <p:spPr>
          <a:xfrm>
            <a:off x="8092440" y="868680"/>
            <a:ext cx="3794760" cy="5440680"/>
          </a:xfrm>
          <a:prstGeom prst="roundRect">
            <a:avLst>
              <a:gd name="adj" fmla="val 2410"/>
            </a:avLst>
          </a:prstGeom>
          <a:solidFill>
            <a:srgbClr val="FFFFFF"/>
          </a:solidFill>
          <a:ln w="12700">
            <a:solidFill>
              <a:srgbClr val="E0E0E6"/>
            </a:solidFill>
            <a:prstDash val="solid"/>
          </a:ln>
        </p:spPr>
        <p:txBody>
          <a:bodyPr/>
          <a:lstStyle/>
          <a:p>
            <a:endParaRPr lang="fr-FR"/>
          </a:p>
        </p:txBody>
      </p:sp>
      <p:sp>
        <p:nvSpPr>
          <p:cNvPr id="48" name="Text 45"/>
          <p:cNvSpPr/>
          <p:nvPr/>
        </p:nvSpPr>
        <p:spPr>
          <a:xfrm>
            <a:off x="8275320" y="1051560"/>
            <a:ext cx="3474720" cy="320040"/>
          </a:xfrm>
          <a:prstGeom prst="rect">
            <a:avLst/>
          </a:prstGeom>
          <a:noFill/>
          <a:ln/>
        </p:spPr>
        <p:txBody>
          <a:bodyPr wrap="square" rtlCol="0" anchor="ctr"/>
          <a:lstStyle/>
          <a:p>
            <a:pPr marL="0" indent="0">
              <a:buNone/>
            </a:pPr>
            <a:r>
              <a:rPr lang="en-US" sz="1400" b="1" dirty="0">
                <a:solidFill>
                  <a:srgbClr val="E30613"/>
                </a:solidFill>
                <a:latin typeface="Segoe UI" pitchFamily="34" charset="0"/>
                <a:ea typeface="Segoe UI" pitchFamily="34" charset="-122"/>
                <a:cs typeface="Segoe UI" pitchFamily="34" charset="-120"/>
              </a:rPr>
              <a:t>Evolution</a:t>
            </a:r>
            <a:endParaRPr lang="en-US" sz="1400" dirty="0"/>
          </a:p>
        </p:txBody>
      </p:sp>
      <p:sp>
        <p:nvSpPr>
          <p:cNvPr id="49" name="Text 46"/>
          <p:cNvSpPr/>
          <p:nvPr/>
        </p:nvSpPr>
        <p:spPr>
          <a:xfrm>
            <a:off x="8275320" y="1417320"/>
            <a:ext cx="3474720" cy="365760"/>
          </a:xfrm>
          <a:prstGeom prst="rect">
            <a:avLst/>
          </a:prstGeom>
          <a:noFill/>
          <a:ln/>
        </p:spPr>
        <p:txBody>
          <a:bodyPr wrap="square" rtlCol="0" anchor="ctr"/>
          <a:lstStyle/>
          <a:p>
            <a:pPr marL="0" indent="0">
              <a:buNone/>
            </a:pPr>
            <a:r>
              <a:rPr lang="en-US" sz="2600" b="1" dirty="0">
                <a:solidFill>
                  <a:srgbClr val="16161E"/>
                </a:solidFill>
                <a:latin typeface="Segoe UI" pitchFamily="34" charset="0"/>
                <a:ea typeface="Segoe UI" pitchFamily="34" charset="-122"/>
                <a:cs typeface="Segoe UI" pitchFamily="34" charset="-120"/>
              </a:rPr>
              <a:t>54.55% Closed</a:t>
            </a:r>
            <a:endParaRPr lang="en-US" sz="2600" dirty="0"/>
          </a:p>
        </p:txBody>
      </p:sp>
      <p:sp>
        <p:nvSpPr>
          <p:cNvPr id="50" name="Text 47"/>
          <p:cNvSpPr/>
          <p:nvPr/>
        </p:nvSpPr>
        <p:spPr>
          <a:xfrm>
            <a:off x="8275320" y="1828800"/>
            <a:ext cx="3474720" cy="256032"/>
          </a:xfrm>
          <a:prstGeom prst="rect">
            <a:avLst/>
          </a:prstGeom>
          <a:noFill/>
          <a:ln/>
        </p:spPr>
        <p:txBody>
          <a:bodyPr wrap="square" rtlCol="0" anchor="ctr"/>
          <a:lstStyle/>
          <a:p>
            <a:pPr marL="0" indent="0">
              <a:buNone/>
            </a:pPr>
            <a:r>
              <a:rPr lang="en-US" sz="1300" dirty="0">
                <a:solidFill>
                  <a:srgbClr val="6B6B7A"/>
                </a:solidFill>
                <a:latin typeface="Segoe UI" pitchFamily="34" charset="0"/>
                <a:ea typeface="Segoe UI" pitchFamily="34" charset="-122"/>
                <a:cs typeface="Segoe UI" pitchFamily="34" charset="-120"/>
              </a:rPr>
              <a:t>12 / 22 points</a:t>
            </a:r>
            <a:endParaRPr lang="en-US" sz="1300" dirty="0"/>
          </a:p>
        </p:txBody>
      </p:sp>
      <p:sp>
        <p:nvSpPr>
          <p:cNvPr id="51" name="Text 48"/>
          <p:cNvSpPr/>
          <p:nvPr/>
        </p:nvSpPr>
        <p:spPr>
          <a:xfrm>
            <a:off x="8275320" y="2286000"/>
            <a:ext cx="3429000" cy="3749040"/>
          </a:xfrm>
          <a:prstGeom prst="rect">
            <a:avLst/>
          </a:prstGeom>
          <a:noFill/>
          <a:ln/>
        </p:spPr>
        <p:txBody>
          <a:bodyPr wrap="square" rtlCol="0" anchor="t"/>
          <a:lstStyle/>
          <a:p>
            <a:pPr marL="0" indent="0">
              <a:buNone/>
            </a:pPr>
            <a:r>
              <a:rPr lang="en-US" sz="1300" dirty="0">
                <a:solidFill>
                  <a:srgbClr val="16161E"/>
                </a:solidFill>
                <a:latin typeface="Segoe UI" pitchFamily="34" charset="0"/>
                <a:ea typeface="Segoe UI" pitchFamily="34" charset="-122"/>
                <a:cs typeface="Segoe UI" pitchFamily="34" charset="-120"/>
              </a:rPr>
              <a:t>Audit points reached 5% in May, then progressed in June (9%), with a notable jump in July (55%, +46 pts). As of end-August, the cumulative figure stands at 55% (12 / 22 points).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E8E8EC"/>
        </a:solidFill>
        <a:effectLst/>
      </p:bgPr>
    </p:bg>
    <p:spTree>
      <p:nvGrpSpPr>
        <p:cNvPr id="1" name=""/>
        <p:cNvGrpSpPr/>
        <p:nvPr/>
      </p:nvGrpSpPr>
      <p:grpSpPr>
        <a:xfrm>
          <a:off x="0" y="0"/>
          <a:ext cx="0" cy="0"/>
          <a:chOff x="0" y="0"/>
          <a:chExt cx="0" cy="0"/>
        </a:xfrm>
      </p:grpSpPr>
      <p:pic>
        <p:nvPicPr>
          <p:cNvPr id="2" name="Image 0" descr="D:\Apps\hr-rh-app\templates\exco\cover-assets\slide-fade.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4008"/>
          </a:xfrm>
          <a:prstGeom prst="rect">
            <a:avLst/>
          </a:prstGeom>
          <a:solidFill>
            <a:srgbClr val="E30613"/>
          </a:solidFill>
          <a:ln w="12700">
            <a:solidFill>
              <a:srgbClr val="E30613"/>
            </a:solidFill>
            <a:prstDash val="solid"/>
          </a:ln>
        </p:spPr>
        <p:txBody>
          <a:bodyPr/>
          <a:lstStyle/>
          <a:p>
            <a:endParaRPr lang="fr-FR"/>
          </a:p>
        </p:txBody>
      </p:sp>
      <p:sp>
        <p:nvSpPr>
          <p:cNvPr id="4" name="Shape 1"/>
          <p:cNvSpPr/>
          <p:nvPr/>
        </p:nvSpPr>
        <p:spPr>
          <a:xfrm>
            <a:off x="0" y="6775704"/>
            <a:ext cx="12191695" cy="82296"/>
          </a:xfrm>
          <a:prstGeom prst="rect">
            <a:avLst/>
          </a:prstGeom>
          <a:solidFill>
            <a:srgbClr val="0A0A0A"/>
          </a:solidFill>
          <a:ln w="12700">
            <a:solidFill>
              <a:srgbClr val="0A0A0A"/>
            </a:solidFill>
            <a:prstDash val="solid"/>
          </a:ln>
        </p:spPr>
        <p:txBody>
          <a:bodyPr/>
          <a:lstStyle/>
          <a:p>
            <a:endParaRPr lang="fr-FR"/>
          </a:p>
        </p:txBody>
      </p:sp>
      <p:sp>
        <p:nvSpPr>
          <p:cNvPr id="5" name="Shape 2"/>
          <p:cNvSpPr/>
          <p:nvPr/>
        </p:nvSpPr>
        <p:spPr>
          <a:xfrm>
            <a:off x="1645920" y="1463040"/>
            <a:ext cx="8869680" cy="3840480"/>
          </a:xfrm>
          <a:prstGeom prst="roundRect">
            <a:avLst>
              <a:gd name="adj" fmla="val 1905"/>
            </a:avLst>
          </a:prstGeom>
          <a:solidFill>
            <a:srgbClr val="FFFFFF"/>
          </a:solidFill>
          <a:ln w="12700">
            <a:solidFill>
              <a:srgbClr val="E0E0E6"/>
            </a:solidFill>
            <a:prstDash val="solid"/>
          </a:ln>
        </p:spPr>
        <p:txBody>
          <a:bodyPr/>
          <a:lstStyle/>
          <a:p>
            <a:endParaRPr lang="fr-FR"/>
          </a:p>
        </p:txBody>
      </p:sp>
      <p:sp>
        <p:nvSpPr>
          <p:cNvPr id="6" name="Text 3"/>
          <p:cNvSpPr/>
          <p:nvPr/>
        </p:nvSpPr>
        <p:spPr>
          <a:xfrm>
            <a:off x="1645920" y="1965960"/>
            <a:ext cx="8869680" cy="320040"/>
          </a:xfrm>
          <a:prstGeom prst="rect">
            <a:avLst/>
          </a:prstGeom>
          <a:noFill/>
          <a:ln/>
        </p:spPr>
        <p:txBody>
          <a:bodyPr wrap="square" rtlCol="0" anchor="ctr"/>
          <a:lstStyle/>
          <a:p>
            <a:pPr marL="0" indent="0" algn="ctr">
              <a:buNone/>
            </a:pPr>
            <a:r>
              <a:rPr lang="en-US" sz="1400" b="1" dirty="0">
                <a:solidFill>
                  <a:srgbClr val="E30613"/>
                </a:solidFill>
                <a:latin typeface="Segoe UI" pitchFamily="34" charset="0"/>
                <a:ea typeface="Segoe UI" pitchFamily="34" charset="-122"/>
                <a:cs typeface="Segoe UI" pitchFamily="34" charset="-120"/>
              </a:rPr>
              <a:t>PPC · HR EXCO</a:t>
            </a:r>
            <a:endParaRPr lang="en-US" sz="1400" dirty="0"/>
          </a:p>
        </p:txBody>
      </p:sp>
      <p:sp>
        <p:nvSpPr>
          <p:cNvPr id="7" name="Text 4"/>
          <p:cNvSpPr/>
          <p:nvPr/>
        </p:nvSpPr>
        <p:spPr>
          <a:xfrm>
            <a:off x="1645920" y="2468880"/>
            <a:ext cx="8869680" cy="777240"/>
          </a:xfrm>
          <a:prstGeom prst="rect">
            <a:avLst/>
          </a:prstGeom>
          <a:noFill/>
          <a:ln/>
        </p:spPr>
        <p:txBody>
          <a:bodyPr wrap="square" rtlCol="0" anchor="ctr"/>
          <a:lstStyle/>
          <a:p>
            <a:pPr marL="0" indent="0" algn="ctr">
              <a:buNone/>
            </a:pPr>
            <a:r>
              <a:rPr lang="en-US" sz="5400" b="1" dirty="0">
                <a:solidFill>
                  <a:srgbClr val="16161E"/>
                </a:solidFill>
                <a:latin typeface="Segoe UI" pitchFamily="34" charset="0"/>
                <a:ea typeface="Segoe UI" pitchFamily="34" charset="-122"/>
                <a:cs typeface="Segoe UI" pitchFamily="34" charset="-120"/>
              </a:rPr>
              <a:t>Thank You</a:t>
            </a:r>
            <a:endParaRPr lang="en-US" sz="5400" dirty="0"/>
          </a:p>
        </p:txBody>
      </p:sp>
      <p:sp>
        <p:nvSpPr>
          <p:cNvPr id="8" name="Shape 5"/>
          <p:cNvSpPr/>
          <p:nvPr/>
        </p:nvSpPr>
        <p:spPr>
          <a:xfrm>
            <a:off x="5394960" y="3383280"/>
            <a:ext cx="1371600" cy="54864"/>
          </a:xfrm>
          <a:prstGeom prst="rect">
            <a:avLst/>
          </a:prstGeom>
          <a:solidFill>
            <a:srgbClr val="E30613"/>
          </a:solidFill>
          <a:ln w="12700">
            <a:solidFill>
              <a:srgbClr val="E30613"/>
            </a:solidFill>
            <a:prstDash val="solid"/>
          </a:ln>
        </p:spPr>
        <p:txBody>
          <a:bodyPr/>
          <a:lstStyle/>
          <a:p>
            <a:endParaRPr lang="fr-FR"/>
          </a:p>
        </p:txBody>
      </p:sp>
      <p:sp>
        <p:nvSpPr>
          <p:cNvPr id="9" name="Text 6"/>
          <p:cNvSpPr/>
          <p:nvPr/>
        </p:nvSpPr>
        <p:spPr>
          <a:xfrm>
            <a:off x="1645920" y="3794760"/>
            <a:ext cx="8869680" cy="320040"/>
          </a:xfrm>
          <a:prstGeom prst="rect">
            <a:avLst/>
          </a:prstGeom>
          <a:noFill/>
          <a:ln/>
        </p:spPr>
        <p:txBody>
          <a:bodyPr wrap="square" rtlCol="0" anchor="ctr"/>
          <a:lstStyle/>
          <a:p>
            <a:pPr marL="0" indent="0" algn="ctr">
              <a:buNone/>
            </a:pPr>
            <a:r>
              <a:rPr lang="en-US" sz="1600" dirty="0">
                <a:solidFill>
                  <a:srgbClr val="6B6B7A"/>
                </a:solidFill>
                <a:latin typeface="Segoe UI" pitchFamily="34" charset="0"/>
                <a:ea typeface="Segoe UI" pitchFamily="34" charset="-122"/>
                <a:cs typeface="Segoe UI" pitchFamily="34" charset="-120"/>
              </a:rPr>
              <a:t>Aug-26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1603</TotalTime>
  <Words>3571</Words>
  <Application>Microsoft Office PowerPoint</Application>
  <PresentationFormat>Widescreen</PresentationFormat>
  <Paragraphs>1413</Paragraphs>
  <Slides>18</Slides>
  <Notes>17</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 Narrow</vt:lpstr>
      <vt:lpstr>Arial</vt:lpstr>
      <vt:lpstr>Arial Black</vt:lpstr>
      <vt:lpstr>Calibri</vt:lpstr>
      <vt:lpstr>Calibri Light</vt:lpstr>
      <vt:lpstr>Segoe UI</vt:lpstr>
      <vt:lpstr>Segoe UI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EXCO HR — Aug-26</dc:title>
  <dc:subject>PptxGenJS Presentation</dc:subject>
  <dc:creator>PPC HR</dc:creator>
  <cp:lastModifiedBy>Gedeon Massadi</cp:lastModifiedBy>
  <cp:revision>43</cp:revision>
  <dcterms:created xsi:type="dcterms:W3CDTF">2026-09-08T11:49:19Z</dcterms:created>
  <dcterms:modified xsi:type="dcterms:W3CDTF">2026-10-05T12:26:32Z</dcterms:modified>
</cp:coreProperties>
</file>