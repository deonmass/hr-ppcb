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02" r:id="rId5"/>
  </p:sldMasterIdLst>
  <p:notesMasterIdLst>
    <p:notesMasterId r:id="rId19"/>
  </p:notesMasterIdLst>
  <p:sldIdLst>
    <p:sldId id="281" r:id="rId6"/>
    <p:sldId id="1323" r:id="rId7"/>
    <p:sldId id="1337" r:id="rId8"/>
    <p:sldId id="1322" r:id="rId9"/>
    <p:sldId id="1308" r:id="rId10"/>
    <p:sldId id="1318" r:id="rId11"/>
    <p:sldId id="1325" r:id="rId12"/>
    <p:sldId id="1319" r:id="rId13"/>
    <p:sldId id="1313" r:id="rId14"/>
    <p:sldId id="1328" r:id="rId15"/>
    <p:sldId id="1338" r:id="rId16"/>
    <p:sldId id="1327" r:id="rId17"/>
    <p:sldId id="133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FF"/>
    <a:srgbClr val="CCFFCC"/>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647B64-35D9-4C94-BBFE-D07555D26D73}" v="1" dt="2026-07-16T11:00:29.9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436" autoAdjust="0"/>
  </p:normalViewPr>
  <p:slideViewPr>
    <p:cSldViewPr snapToGrid="0">
      <p:cViewPr varScale="1">
        <p:scale>
          <a:sx n="96" d="100"/>
          <a:sy n="96" d="100"/>
        </p:scale>
        <p:origin x="1068" y="9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ny Zakuani Bahati" userId="406ae700-a118-4d22-aa3d-27a802fc3b5c" providerId="ADAL" clId="{AE97150B-6146-4901-97AD-FC0FB39B82ED}"/>
    <pc:docChg chg="undo redo custSel addSld delSld modSld">
      <pc:chgData name="Benny Zakuani Bahati" userId="406ae700-a118-4d22-aa3d-27a802fc3b5c" providerId="ADAL" clId="{AE97150B-6146-4901-97AD-FC0FB39B82ED}" dt="2026-07-14T19:09:17.652" v="3884" actId="27918"/>
      <pc:docMkLst>
        <pc:docMk/>
      </pc:docMkLst>
      <pc:sldChg chg="modSp mod">
        <pc:chgData name="Benny Zakuani Bahati" userId="406ae700-a118-4d22-aa3d-27a802fc3b5c" providerId="ADAL" clId="{AE97150B-6146-4901-97AD-FC0FB39B82ED}" dt="2026-07-14T17:34:11.460" v="492" actId="27918"/>
        <pc:sldMkLst>
          <pc:docMk/>
          <pc:sldMk cId="3703104125" sldId="1308"/>
        </pc:sldMkLst>
        <pc:spChg chg="mod">
          <ac:chgData name="Benny Zakuani Bahati" userId="406ae700-a118-4d22-aa3d-27a802fc3b5c" providerId="ADAL" clId="{AE97150B-6146-4901-97AD-FC0FB39B82ED}" dt="2026-07-13T08:32:16.414" v="50" actId="207"/>
          <ac:spMkLst>
            <pc:docMk/>
            <pc:sldMk cId="3703104125" sldId="1308"/>
            <ac:spMk id="9" creationId="{5BD2AA7C-C70B-8FD6-6189-C8686011DDA8}"/>
          </ac:spMkLst>
        </pc:spChg>
      </pc:sldChg>
      <pc:sldChg chg="addSp delSp modSp mod">
        <pc:chgData name="Benny Zakuani Bahati" userId="406ae700-a118-4d22-aa3d-27a802fc3b5c" providerId="ADAL" clId="{AE97150B-6146-4901-97AD-FC0FB39B82ED}" dt="2026-07-14T19:01:12.144" v="3765" actId="207"/>
        <pc:sldMkLst>
          <pc:docMk/>
          <pc:sldMk cId="2391672345" sldId="1313"/>
        </pc:sldMkLst>
        <pc:spChg chg="mod">
          <ac:chgData name="Benny Zakuani Bahati" userId="406ae700-a118-4d22-aa3d-27a802fc3b5c" providerId="ADAL" clId="{AE97150B-6146-4901-97AD-FC0FB39B82ED}" dt="2026-07-14T14:02:52.193" v="392" actId="20577"/>
          <ac:spMkLst>
            <pc:docMk/>
            <pc:sldMk cId="2391672345" sldId="1313"/>
            <ac:spMk id="11" creationId="{9EC4BD00-7BE2-B5AF-56D2-6A3FC7495AFF}"/>
          </ac:spMkLst>
        </pc:spChg>
        <pc:spChg chg="mod">
          <ac:chgData name="Benny Zakuani Bahati" userId="406ae700-a118-4d22-aa3d-27a802fc3b5c" providerId="ADAL" clId="{AE97150B-6146-4901-97AD-FC0FB39B82ED}" dt="2026-07-14T18:56:25.297" v="3729" actId="6549"/>
          <ac:spMkLst>
            <pc:docMk/>
            <pc:sldMk cId="2391672345" sldId="1313"/>
            <ac:spMk id="18" creationId="{50F1303E-15E3-7F72-31F0-ACE1A958C904}"/>
          </ac:spMkLst>
        </pc:spChg>
        <pc:graphicFrameChg chg="add mod">
          <ac:chgData name="Benny Zakuani Bahati" userId="406ae700-a118-4d22-aa3d-27a802fc3b5c" providerId="ADAL" clId="{AE97150B-6146-4901-97AD-FC0FB39B82ED}" dt="2026-07-14T19:01:12.144" v="3765" actId="207"/>
          <ac:graphicFrameMkLst>
            <pc:docMk/>
            <pc:sldMk cId="2391672345" sldId="1313"/>
            <ac:graphicFrameMk id="4" creationId="{7CF55117-0818-F678-1624-06435D753E5F}"/>
          </ac:graphicFrameMkLst>
        </pc:graphicFrameChg>
      </pc:sldChg>
      <pc:sldChg chg="addSp delSp modSp mod">
        <pc:chgData name="Benny Zakuani Bahati" userId="406ae700-a118-4d22-aa3d-27a802fc3b5c" providerId="ADAL" clId="{AE97150B-6146-4901-97AD-FC0FB39B82ED}" dt="2026-07-14T18:24:55.764" v="3304" actId="27918"/>
        <pc:sldMkLst>
          <pc:docMk/>
          <pc:sldMk cId="1891809591" sldId="1318"/>
        </pc:sldMkLst>
        <pc:spChg chg="mod">
          <ac:chgData name="Benny Zakuani Bahati" userId="406ae700-a118-4d22-aa3d-27a802fc3b5c" providerId="ADAL" clId="{AE97150B-6146-4901-97AD-FC0FB39B82ED}" dt="2026-07-13T10:31:21.171" v="113" actId="27636"/>
          <ac:spMkLst>
            <pc:docMk/>
            <pc:sldMk cId="1891809591" sldId="1318"/>
            <ac:spMk id="2" creationId="{5969DBF3-6D21-29C0-859D-F9EDE2FC0B1E}"/>
          </ac:spMkLst>
        </pc:spChg>
        <pc:graphicFrameChg chg="add mod">
          <ac:chgData name="Benny Zakuani Bahati" userId="406ae700-a118-4d22-aa3d-27a802fc3b5c" providerId="ADAL" clId="{AE97150B-6146-4901-97AD-FC0FB39B82ED}" dt="2026-07-13T10:30:33.181" v="101"/>
          <ac:graphicFrameMkLst>
            <pc:docMk/>
            <pc:sldMk cId="1891809591" sldId="1318"/>
            <ac:graphicFrameMk id="3" creationId="{C2CB9599-64F8-AD66-FAEB-FEFC653855B2}"/>
          </ac:graphicFrameMkLst>
        </pc:graphicFrameChg>
        <pc:graphicFrameChg chg="mod modGraphic">
          <ac:chgData name="Benny Zakuani Bahati" userId="406ae700-a118-4d22-aa3d-27a802fc3b5c" providerId="ADAL" clId="{AE97150B-6146-4901-97AD-FC0FB39B82ED}" dt="2026-07-13T19:18:15.277" v="377" actId="20577"/>
          <ac:graphicFrameMkLst>
            <pc:docMk/>
            <pc:sldMk cId="1891809591" sldId="1318"/>
            <ac:graphicFrameMk id="7" creationId="{56090061-04B7-8D45-2D94-5235ABBD7A8D}"/>
          </ac:graphicFrameMkLst>
        </pc:graphicFrameChg>
      </pc:sldChg>
      <pc:sldChg chg="addSp delSp modSp mod">
        <pc:chgData name="Benny Zakuani Bahati" userId="406ae700-a118-4d22-aa3d-27a802fc3b5c" providerId="ADAL" clId="{AE97150B-6146-4901-97AD-FC0FB39B82ED}" dt="2026-07-14T19:09:17.652" v="3884" actId="27918"/>
        <pc:sldMkLst>
          <pc:docMk/>
          <pc:sldMk cId="1636159181" sldId="1319"/>
        </pc:sldMkLst>
        <pc:spChg chg="mod">
          <ac:chgData name="Benny Zakuani Bahati" userId="406ae700-a118-4d22-aa3d-27a802fc3b5c" providerId="ADAL" clId="{AE97150B-6146-4901-97AD-FC0FB39B82ED}" dt="2026-07-13T10:31:51.090" v="125" actId="14100"/>
          <ac:spMkLst>
            <pc:docMk/>
            <pc:sldMk cId="1636159181" sldId="1319"/>
            <ac:spMk id="2" creationId="{0064C26C-FA08-1913-E9F0-18EBFB327AB2}"/>
          </ac:spMkLst>
        </pc:spChg>
        <pc:graphicFrameChg chg="add mod">
          <ac:chgData name="Benny Zakuani Bahati" userId="406ae700-a118-4d22-aa3d-27a802fc3b5c" providerId="ADAL" clId="{AE97150B-6146-4901-97AD-FC0FB39B82ED}" dt="2026-07-13T10:37:42.439" v="156" actId="113"/>
          <ac:graphicFrameMkLst>
            <pc:docMk/>
            <pc:sldMk cId="1636159181" sldId="1319"/>
            <ac:graphicFrameMk id="3" creationId="{67A9CE95-03F1-8941-0D42-DF616E21C8E8}"/>
          </ac:graphicFrameMkLst>
        </pc:graphicFrameChg>
        <pc:graphicFrameChg chg="add mod">
          <ac:chgData name="Benny Zakuani Bahati" userId="406ae700-a118-4d22-aa3d-27a802fc3b5c" providerId="ADAL" clId="{AE97150B-6146-4901-97AD-FC0FB39B82ED}" dt="2026-07-13T10:41:20.898" v="182" actId="14100"/>
          <ac:graphicFrameMkLst>
            <pc:docMk/>
            <pc:sldMk cId="1636159181" sldId="1319"/>
            <ac:graphicFrameMk id="5" creationId="{16E6F636-1867-52BE-F5BF-2488D3C79C27}"/>
          </ac:graphicFrameMkLst>
        </pc:graphicFrameChg>
        <pc:graphicFrameChg chg="mod modGraphic">
          <ac:chgData name="Benny Zakuani Bahati" userId="406ae700-a118-4d22-aa3d-27a802fc3b5c" providerId="ADAL" clId="{AE97150B-6146-4901-97AD-FC0FB39B82ED}" dt="2026-07-13T10:41:17.080" v="181" actId="14100"/>
          <ac:graphicFrameMkLst>
            <pc:docMk/>
            <pc:sldMk cId="1636159181" sldId="1319"/>
            <ac:graphicFrameMk id="6" creationId="{A1352F17-CB5A-187A-F86D-427835A87C8D}"/>
          </ac:graphicFrameMkLst>
        </pc:graphicFrameChg>
      </pc:sldChg>
      <pc:sldChg chg="modSp mod">
        <pc:chgData name="Benny Zakuani Bahati" userId="406ae700-a118-4d22-aa3d-27a802fc3b5c" providerId="ADAL" clId="{AE97150B-6146-4901-97AD-FC0FB39B82ED}" dt="2026-07-13T11:27:14.682" v="272" actId="20577"/>
        <pc:sldMkLst>
          <pc:docMk/>
          <pc:sldMk cId="3865624975" sldId="1322"/>
        </pc:sldMkLst>
        <pc:spChg chg="mod">
          <ac:chgData name="Benny Zakuani Bahati" userId="406ae700-a118-4d22-aa3d-27a802fc3b5c" providerId="ADAL" clId="{AE97150B-6146-4901-97AD-FC0FB39B82ED}" dt="2026-07-13T08:31:48.471" v="46" actId="207"/>
          <ac:spMkLst>
            <pc:docMk/>
            <pc:sldMk cId="3865624975" sldId="1322"/>
            <ac:spMk id="4" creationId="{0352C41A-DA8C-C16D-B28B-8DDB68CC7948}"/>
          </ac:spMkLst>
        </pc:spChg>
        <pc:graphicFrameChg chg="modGraphic">
          <ac:chgData name="Benny Zakuani Bahati" userId="406ae700-a118-4d22-aa3d-27a802fc3b5c" providerId="ADAL" clId="{AE97150B-6146-4901-97AD-FC0FB39B82ED}" dt="2026-07-13T11:22:08.754" v="215" actId="20577"/>
          <ac:graphicFrameMkLst>
            <pc:docMk/>
            <pc:sldMk cId="3865624975" sldId="1322"/>
            <ac:graphicFrameMk id="3" creationId="{B73E313C-4AD0-E0C9-550A-C78414E5AF8E}"/>
          </ac:graphicFrameMkLst>
        </pc:graphicFrameChg>
        <pc:graphicFrameChg chg="modGraphic">
          <ac:chgData name="Benny Zakuani Bahati" userId="406ae700-a118-4d22-aa3d-27a802fc3b5c" providerId="ADAL" clId="{AE97150B-6146-4901-97AD-FC0FB39B82ED}" dt="2026-07-13T11:27:14.682" v="272" actId="20577"/>
          <ac:graphicFrameMkLst>
            <pc:docMk/>
            <pc:sldMk cId="3865624975" sldId="1322"/>
            <ac:graphicFrameMk id="25" creationId="{9DAB02C4-822E-66C6-6D3F-88DED2DA227B}"/>
          </ac:graphicFrameMkLst>
        </pc:graphicFrameChg>
      </pc:sldChg>
      <pc:sldChg chg="addSp delSp modSp mod">
        <pc:chgData name="Benny Zakuani Bahati" userId="406ae700-a118-4d22-aa3d-27a802fc3b5c" providerId="ADAL" clId="{AE97150B-6146-4901-97AD-FC0FB39B82ED}" dt="2026-07-14T18:53:00.142" v="3711" actId="20577"/>
        <pc:sldMkLst>
          <pc:docMk/>
          <pc:sldMk cId="2131721014" sldId="1323"/>
        </pc:sldMkLst>
        <pc:spChg chg="mod">
          <ac:chgData name="Benny Zakuani Bahati" userId="406ae700-a118-4d22-aa3d-27a802fc3b5c" providerId="ADAL" clId="{AE97150B-6146-4901-97AD-FC0FB39B82ED}" dt="2026-07-14T18:53:00.142" v="3711" actId="20577"/>
          <ac:spMkLst>
            <pc:docMk/>
            <pc:sldMk cId="2131721014" sldId="1323"/>
            <ac:spMk id="2" creationId="{BF57E35C-8386-5C06-DC0B-4AE5B4D3FDFA}"/>
          </ac:spMkLst>
        </pc:spChg>
        <pc:spChg chg="mod">
          <ac:chgData name="Benny Zakuani Bahati" userId="406ae700-a118-4d22-aa3d-27a802fc3b5c" providerId="ADAL" clId="{AE97150B-6146-4901-97AD-FC0FB39B82ED}" dt="2026-07-13T08:31:13.527" v="39" actId="14100"/>
          <ac:spMkLst>
            <pc:docMk/>
            <pc:sldMk cId="2131721014" sldId="1323"/>
            <ac:spMk id="3" creationId="{039DCC5C-344F-95FA-DFB5-7903AAE9E12B}"/>
          </ac:spMkLst>
        </pc:spChg>
        <pc:spChg chg="mod">
          <ac:chgData name="Benny Zakuani Bahati" userId="406ae700-a118-4d22-aa3d-27a802fc3b5c" providerId="ADAL" clId="{AE97150B-6146-4901-97AD-FC0FB39B82ED}" dt="2026-07-13T08:27:50.334" v="19" actId="207"/>
          <ac:spMkLst>
            <pc:docMk/>
            <pc:sldMk cId="2131721014" sldId="1323"/>
            <ac:spMk id="9" creationId="{744B7F77-65D1-D517-ABBB-4642B732FC91}"/>
          </ac:spMkLst>
        </pc:spChg>
        <pc:spChg chg="mod">
          <ac:chgData name="Benny Zakuani Bahati" userId="406ae700-a118-4d22-aa3d-27a802fc3b5c" providerId="ADAL" clId="{AE97150B-6146-4901-97AD-FC0FB39B82ED}" dt="2026-07-13T08:28:03.143" v="23" actId="207"/>
          <ac:spMkLst>
            <pc:docMk/>
            <pc:sldMk cId="2131721014" sldId="1323"/>
            <ac:spMk id="12" creationId="{47D6E433-715A-2B63-7051-9470819D0EB9}"/>
          </ac:spMkLst>
        </pc:spChg>
        <pc:spChg chg="mod">
          <ac:chgData name="Benny Zakuani Bahati" userId="406ae700-a118-4d22-aa3d-27a802fc3b5c" providerId="ADAL" clId="{AE97150B-6146-4901-97AD-FC0FB39B82ED}" dt="2026-07-13T08:27:57.436" v="21" actId="207"/>
          <ac:spMkLst>
            <pc:docMk/>
            <pc:sldMk cId="2131721014" sldId="1323"/>
            <ac:spMk id="14" creationId="{4B051201-D610-FC7D-CEAE-89AA46F5A168}"/>
          </ac:spMkLst>
        </pc:spChg>
        <pc:spChg chg="mod">
          <ac:chgData name="Benny Zakuani Bahati" userId="406ae700-a118-4d22-aa3d-27a802fc3b5c" providerId="ADAL" clId="{AE97150B-6146-4901-97AD-FC0FB39B82ED}" dt="2026-07-14T18:48:35.805" v="3652" actId="6549"/>
          <ac:spMkLst>
            <pc:docMk/>
            <pc:sldMk cId="2131721014" sldId="1323"/>
            <ac:spMk id="15" creationId="{6BF6FFEC-DE7F-7A78-84E5-C081707F1C01}"/>
          </ac:spMkLst>
        </pc:spChg>
        <pc:spChg chg="mod">
          <ac:chgData name="Benny Zakuani Bahati" userId="406ae700-a118-4d22-aa3d-27a802fc3b5c" providerId="ADAL" clId="{AE97150B-6146-4901-97AD-FC0FB39B82ED}" dt="2026-07-13T08:30:09.500" v="33" actId="207"/>
          <ac:spMkLst>
            <pc:docMk/>
            <pc:sldMk cId="2131721014" sldId="1323"/>
            <ac:spMk id="17" creationId="{A7D69ED3-66E5-5409-9504-373F475F36CB}"/>
          </ac:spMkLst>
        </pc:spChg>
        <pc:spChg chg="mod">
          <ac:chgData name="Benny Zakuani Bahati" userId="406ae700-a118-4d22-aa3d-27a802fc3b5c" providerId="ADAL" clId="{AE97150B-6146-4901-97AD-FC0FB39B82ED}" dt="2026-07-14T18:49:02.772" v="3654" actId="1076"/>
          <ac:spMkLst>
            <pc:docMk/>
            <pc:sldMk cId="2131721014" sldId="1323"/>
            <ac:spMk id="18" creationId="{42D904C2-A1AF-F298-708D-ADB6E625529B}"/>
          </ac:spMkLst>
        </pc:spChg>
      </pc:sldChg>
      <pc:sldChg chg="addSp delSp modSp mod">
        <pc:chgData name="Benny Zakuani Bahati" userId="406ae700-a118-4d22-aa3d-27a802fc3b5c" providerId="ADAL" clId="{AE97150B-6146-4901-97AD-FC0FB39B82ED}" dt="2026-07-13T15:11:59.366" v="375" actId="255"/>
        <pc:sldMkLst>
          <pc:docMk/>
          <pc:sldMk cId="2495103672" sldId="1325"/>
        </pc:sldMkLst>
        <pc:spChg chg="mod">
          <ac:chgData name="Benny Zakuani Bahati" userId="406ae700-a118-4d22-aa3d-27a802fc3b5c" providerId="ADAL" clId="{AE97150B-6146-4901-97AD-FC0FB39B82ED}" dt="2026-07-13T14:45:26.821" v="354" actId="1076"/>
          <ac:spMkLst>
            <pc:docMk/>
            <pc:sldMk cId="2495103672" sldId="1325"/>
            <ac:spMk id="2" creationId="{7679E599-8D18-E54E-F941-C5E40086C58D}"/>
          </ac:spMkLst>
        </pc:spChg>
        <pc:spChg chg="mod">
          <ac:chgData name="Benny Zakuani Bahati" userId="406ae700-a118-4d22-aa3d-27a802fc3b5c" providerId="ADAL" clId="{AE97150B-6146-4901-97AD-FC0FB39B82ED}" dt="2026-07-13T08:33:39.151" v="58" actId="207"/>
          <ac:spMkLst>
            <pc:docMk/>
            <pc:sldMk cId="2495103672" sldId="1325"/>
            <ac:spMk id="3" creationId="{DA32A7D0-D4AD-10BE-73DD-515B2DA5FC9D}"/>
          </ac:spMkLst>
        </pc:spChg>
        <pc:spChg chg="mod">
          <ac:chgData name="Benny Zakuani Bahati" userId="406ae700-a118-4d22-aa3d-27a802fc3b5c" providerId="ADAL" clId="{AE97150B-6146-4901-97AD-FC0FB39B82ED}" dt="2026-07-13T14:48:23.431" v="368" actId="1076"/>
          <ac:spMkLst>
            <pc:docMk/>
            <pc:sldMk cId="2495103672" sldId="1325"/>
            <ac:spMk id="5" creationId="{65267C76-3F46-88EE-5C0A-938DD3962E2B}"/>
          </ac:spMkLst>
        </pc:spChg>
        <pc:spChg chg="mod">
          <ac:chgData name="Benny Zakuani Bahati" userId="406ae700-a118-4d22-aa3d-27a802fc3b5c" providerId="ADAL" clId="{AE97150B-6146-4901-97AD-FC0FB39B82ED}" dt="2026-07-13T14:29:37.597" v="325" actId="20577"/>
          <ac:spMkLst>
            <pc:docMk/>
            <pc:sldMk cId="2495103672" sldId="1325"/>
            <ac:spMk id="15" creationId="{9BF57EB5-FE8D-D28F-9A42-7765B109B6D4}"/>
          </ac:spMkLst>
        </pc:spChg>
        <pc:graphicFrameChg chg="mod modGraphic">
          <ac:chgData name="Benny Zakuani Bahati" userId="406ae700-a118-4d22-aa3d-27a802fc3b5c" providerId="ADAL" clId="{AE97150B-6146-4901-97AD-FC0FB39B82ED}" dt="2026-07-13T15:11:59.366" v="375" actId="255"/>
          <ac:graphicFrameMkLst>
            <pc:docMk/>
            <pc:sldMk cId="2495103672" sldId="1325"/>
            <ac:graphicFrameMk id="7" creationId="{26B61E17-299C-E207-A56C-79BB38D34172}"/>
          </ac:graphicFrameMkLst>
        </pc:graphicFrameChg>
        <pc:graphicFrameChg chg="add mod modGraphic">
          <ac:chgData name="Benny Zakuani Bahati" userId="406ae700-a118-4d22-aa3d-27a802fc3b5c" providerId="ADAL" clId="{AE97150B-6146-4901-97AD-FC0FB39B82ED}" dt="2026-07-13T14:45:52.597" v="359" actId="1076"/>
          <ac:graphicFrameMkLst>
            <pc:docMk/>
            <pc:sldMk cId="2495103672" sldId="1325"/>
            <ac:graphicFrameMk id="8" creationId="{2518763A-B38D-E7C4-2BF6-066BCDCACCE2}"/>
          </ac:graphicFrameMkLst>
        </pc:graphicFrameChg>
        <pc:graphicFrameChg chg="add mod modGraphic">
          <ac:chgData name="Benny Zakuani Bahati" userId="406ae700-a118-4d22-aa3d-27a802fc3b5c" providerId="ADAL" clId="{AE97150B-6146-4901-97AD-FC0FB39B82ED}" dt="2026-07-13T14:48:27.590" v="369" actId="1076"/>
          <ac:graphicFrameMkLst>
            <pc:docMk/>
            <pc:sldMk cId="2495103672" sldId="1325"/>
            <ac:graphicFrameMk id="10" creationId="{E08CEF67-40A1-B9D4-AE15-2393FFF70606}"/>
          </ac:graphicFrameMkLst>
        </pc:graphicFrameChg>
      </pc:sldChg>
      <pc:sldChg chg="modSp mod">
        <pc:chgData name="Benny Zakuani Bahati" userId="406ae700-a118-4d22-aa3d-27a802fc3b5c" providerId="ADAL" clId="{AE97150B-6146-4901-97AD-FC0FB39B82ED}" dt="2026-07-14T14:08:26.982" v="413"/>
        <pc:sldMkLst>
          <pc:docMk/>
          <pc:sldMk cId="1377165230" sldId="1327"/>
        </pc:sldMkLst>
        <pc:graphicFrameChg chg="mod modGraphic">
          <ac:chgData name="Benny Zakuani Bahati" userId="406ae700-a118-4d22-aa3d-27a802fc3b5c" providerId="ADAL" clId="{AE97150B-6146-4901-97AD-FC0FB39B82ED}" dt="2026-07-14T14:08:26.982" v="413"/>
          <ac:graphicFrameMkLst>
            <pc:docMk/>
            <pc:sldMk cId="1377165230" sldId="1327"/>
            <ac:graphicFrameMk id="6" creationId="{C507F444-7668-AD58-7A0E-D32D1AB53E94}"/>
          </ac:graphicFrameMkLst>
        </pc:graphicFrameChg>
      </pc:sldChg>
      <pc:sldChg chg="addSp delSp modSp mod">
        <pc:chgData name="Benny Zakuani Bahati" userId="406ae700-a118-4d22-aa3d-27a802fc3b5c" providerId="ADAL" clId="{AE97150B-6146-4901-97AD-FC0FB39B82ED}" dt="2026-07-14T19:09:13.388" v="3882" actId="1076"/>
        <pc:sldMkLst>
          <pc:docMk/>
          <pc:sldMk cId="3208364162" sldId="1328"/>
        </pc:sldMkLst>
        <pc:spChg chg="mod">
          <ac:chgData name="Benny Zakuani Bahati" userId="406ae700-a118-4d22-aa3d-27a802fc3b5c" providerId="ADAL" clId="{AE97150B-6146-4901-97AD-FC0FB39B82ED}" dt="2026-07-14T19:07:51.364" v="3807" actId="255"/>
          <ac:spMkLst>
            <pc:docMk/>
            <pc:sldMk cId="3208364162" sldId="1328"/>
            <ac:spMk id="10" creationId="{C2309DBC-55CC-859C-F1A1-37BA23E15FAD}"/>
          </ac:spMkLst>
        </pc:spChg>
        <pc:spChg chg="mod">
          <ac:chgData name="Benny Zakuani Bahati" userId="406ae700-a118-4d22-aa3d-27a802fc3b5c" providerId="ADAL" clId="{AE97150B-6146-4901-97AD-FC0FB39B82ED}" dt="2026-07-14T19:09:02.331" v="3862" actId="1036"/>
          <ac:spMkLst>
            <pc:docMk/>
            <pc:sldMk cId="3208364162" sldId="1328"/>
            <ac:spMk id="11" creationId="{2B073B5F-FBC5-4E28-CD00-5F8A1A0A79A4}"/>
          </ac:spMkLst>
        </pc:spChg>
        <pc:spChg chg="add mod">
          <ac:chgData name="Benny Zakuani Bahati" userId="406ae700-a118-4d22-aa3d-27a802fc3b5c" providerId="ADAL" clId="{AE97150B-6146-4901-97AD-FC0FB39B82ED}" dt="2026-07-14T19:09:02.331" v="3862" actId="1036"/>
          <ac:spMkLst>
            <pc:docMk/>
            <pc:sldMk cId="3208364162" sldId="1328"/>
            <ac:spMk id="47" creationId="{CFECE2D3-2489-0A06-3D2B-A5149F6371F1}"/>
          </ac:spMkLst>
        </pc:spChg>
        <pc:spChg chg="add mod">
          <ac:chgData name="Benny Zakuani Bahati" userId="406ae700-a118-4d22-aa3d-27a802fc3b5c" providerId="ADAL" clId="{AE97150B-6146-4901-97AD-FC0FB39B82ED}" dt="2026-07-14T19:09:02.331" v="3862" actId="1036"/>
          <ac:spMkLst>
            <pc:docMk/>
            <pc:sldMk cId="3208364162" sldId="1328"/>
            <ac:spMk id="48" creationId="{FF0BA773-BE09-250E-724F-ACE8F4867CA8}"/>
          </ac:spMkLst>
        </pc:spChg>
        <pc:spChg chg="add mod">
          <ac:chgData name="Benny Zakuani Bahati" userId="406ae700-a118-4d22-aa3d-27a802fc3b5c" providerId="ADAL" clId="{AE97150B-6146-4901-97AD-FC0FB39B82ED}" dt="2026-07-14T19:09:02.331" v="3862" actId="1036"/>
          <ac:spMkLst>
            <pc:docMk/>
            <pc:sldMk cId="3208364162" sldId="1328"/>
            <ac:spMk id="50" creationId="{99DAB018-4B4D-30C6-FCD0-F25BB0F96527}"/>
          </ac:spMkLst>
        </pc:spChg>
        <pc:spChg chg="mod">
          <ac:chgData name="Benny Zakuani Bahati" userId="406ae700-a118-4d22-aa3d-27a802fc3b5c" providerId="ADAL" clId="{AE97150B-6146-4901-97AD-FC0FB39B82ED}" dt="2026-07-14T19:09:02.331" v="3862" actId="1036"/>
          <ac:spMkLst>
            <pc:docMk/>
            <pc:sldMk cId="3208364162" sldId="1328"/>
            <ac:spMk id="52" creationId="{555D6647-AC81-1FFA-D9E9-AB10478FA58D}"/>
          </ac:spMkLst>
        </pc:spChg>
        <pc:spChg chg="add mod">
          <ac:chgData name="Benny Zakuani Bahati" userId="406ae700-a118-4d22-aa3d-27a802fc3b5c" providerId="ADAL" clId="{AE97150B-6146-4901-97AD-FC0FB39B82ED}" dt="2026-07-14T19:09:02.331" v="3862" actId="1036"/>
          <ac:spMkLst>
            <pc:docMk/>
            <pc:sldMk cId="3208364162" sldId="1328"/>
            <ac:spMk id="55" creationId="{54CF6BBB-0950-9E59-E92D-26D9A8F74424}"/>
          </ac:spMkLst>
        </pc:spChg>
        <pc:spChg chg="mod">
          <ac:chgData name="Benny Zakuani Bahati" userId="406ae700-a118-4d22-aa3d-27a802fc3b5c" providerId="ADAL" clId="{AE97150B-6146-4901-97AD-FC0FB39B82ED}" dt="2026-07-14T19:09:02.331" v="3862" actId="1036"/>
          <ac:spMkLst>
            <pc:docMk/>
            <pc:sldMk cId="3208364162" sldId="1328"/>
            <ac:spMk id="59" creationId="{B260CE0A-F539-D907-A5F7-777DF9EE8CC2}"/>
          </ac:spMkLst>
        </pc:spChg>
        <pc:spChg chg="mod">
          <ac:chgData name="Benny Zakuani Bahati" userId="406ae700-a118-4d22-aa3d-27a802fc3b5c" providerId="ADAL" clId="{AE97150B-6146-4901-97AD-FC0FB39B82ED}" dt="2026-07-14T19:09:02.331" v="3862" actId="1036"/>
          <ac:spMkLst>
            <pc:docMk/>
            <pc:sldMk cId="3208364162" sldId="1328"/>
            <ac:spMk id="65" creationId="{B1400DE2-FA8C-9E01-5BBA-16FAAD7331B2}"/>
          </ac:spMkLst>
        </pc:spChg>
        <pc:spChg chg="mod">
          <ac:chgData name="Benny Zakuani Bahati" userId="406ae700-a118-4d22-aa3d-27a802fc3b5c" providerId="ADAL" clId="{AE97150B-6146-4901-97AD-FC0FB39B82ED}" dt="2026-07-14T19:09:02.331" v="3862" actId="1036"/>
          <ac:spMkLst>
            <pc:docMk/>
            <pc:sldMk cId="3208364162" sldId="1328"/>
            <ac:spMk id="66" creationId="{68CF9B6D-D01C-A3F4-EE27-95C4A6D6334B}"/>
          </ac:spMkLst>
        </pc:spChg>
        <pc:spChg chg="add mod">
          <ac:chgData name="Benny Zakuani Bahati" userId="406ae700-a118-4d22-aa3d-27a802fc3b5c" providerId="ADAL" clId="{AE97150B-6146-4901-97AD-FC0FB39B82ED}" dt="2026-07-14T19:09:02.331" v="3862" actId="1036"/>
          <ac:spMkLst>
            <pc:docMk/>
            <pc:sldMk cId="3208364162" sldId="1328"/>
            <ac:spMk id="67" creationId="{14472B92-2B82-FABF-CD56-5B8DEE4882E2}"/>
          </ac:spMkLst>
        </pc:spChg>
        <pc:spChg chg="add mod">
          <ac:chgData name="Benny Zakuani Bahati" userId="406ae700-a118-4d22-aa3d-27a802fc3b5c" providerId="ADAL" clId="{AE97150B-6146-4901-97AD-FC0FB39B82ED}" dt="2026-07-14T19:09:13.388" v="3882" actId="1076"/>
          <ac:spMkLst>
            <pc:docMk/>
            <pc:sldMk cId="3208364162" sldId="1328"/>
            <ac:spMk id="74" creationId="{1C2E9BCB-B885-2693-731B-DDE5AB64D625}"/>
          </ac:spMkLst>
        </pc:spChg>
        <pc:graphicFrameChg chg="add mod modGraphic">
          <ac:chgData name="Benny Zakuani Bahati" userId="406ae700-a118-4d22-aa3d-27a802fc3b5c" providerId="ADAL" clId="{AE97150B-6146-4901-97AD-FC0FB39B82ED}" dt="2026-07-14T19:08:51.906" v="3827" actId="14100"/>
          <ac:graphicFrameMkLst>
            <pc:docMk/>
            <pc:sldMk cId="3208364162" sldId="1328"/>
            <ac:graphicFrameMk id="2" creationId="{D289D32E-24E7-BF52-0930-1285FC4A04EB}"/>
          </ac:graphicFrameMkLst>
        </pc:graphicFrameChg>
        <pc:cxnChg chg="mod">
          <ac:chgData name="Benny Zakuani Bahati" userId="406ae700-a118-4d22-aa3d-27a802fc3b5c" providerId="ADAL" clId="{AE97150B-6146-4901-97AD-FC0FB39B82ED}" dt="2026-07-14T19:09:09.725" v="3881" actId="1035"/>
          <ac:cxnSpMkLst>
            <pc:docMk/>
            <pc:sldMk cId="3208364162" sldId="1328"/>
            <ac:cxnSpMk id="70" creationId="{E8CB314B-02CD-DFEE-4C22-1BCAC9C76357}"/>
          </ac:cxnSpMkLst>
        </pc:cxnChg>
      </pc:sldChg>
      <pc:sldChg chg="modSp mod">
        <pc:chgData name="Benny Zakuani Bahati" userId="406ae700-a118-4d22-aa3d-27a802fc3b5c" providerId="ADAL" clId="{AE97150B-6146-4901-97AD-FC0FB39B82ED}" dt="2026-07-14T14:04:40.509" v="398" actId="20577"/>
        <pc:sldMkLst>
          <pc:docMk/>
          <pc:sldMk cId="992299771" sldId="1334"/>
        </pc:sldMkLst>
        <pc:graphicFrameChg chg="modGraphic">
          <ac:chgData name="Benny Zakuani Bahati" userId="406ae700-a118-4d22-aa3d-27a802fc3b5c" providerId="ADAL" clId="{AE97150B-6146-4901-97AD-FC0FB39B82ED}" dt="2026-07-14T14:04:40.509" v="398" actId="20577"/>
          <ac:graphicFrameMkLst>
            <pc:docMk/>
            <pc:sldMk cId="992299771" sldId="1334"/>
            <ac:graphicFrameMk id="10" creationId="{4A370CAB-DC3C-6663-878A-B44B7C46B87E}"/>
          </ac:graphicFrameMkLst>
        </pc:graphicFrameChg>
      </pc:sldChg>
      <pc:sldChg chg="modSp mod">
        <pc:chgData name="Benny Zakuani Bahati" userId="406ae700-a118-4d22-aa3d-27a802fc3b5c" providerId="ADAL" clId="{AE97150B-6146-4901-97AD-FC0FB39B82ED}" dt="2026-07-14T17:59:45.045" v="639" actId="207"/>
        <pc:sldMkLst>
          <pc:docMk/>
          <pc:sldMk cId="1273054040" sldId="1337"/>
        </pc:sldMkLst>
        <pc:spChg chg="mod">
          <ac:chgData name="Benny Zakuani Bahati" userId="406ae700-a118-4d22-aa3d-27a802fc3b5c" providerId="ADAL" clId="{AE97150B-6146-4901-97AD-FC0FB39B82ED}" dt="2026-07-13T08:27:25.342" v="17" actId="207"/>
          <ac:spMkLst>
            <pc:docMk/>
            <pc:sldMk cId="1273054040" sldId="1337"/>
            <ac:spMk id="313" creationId="{B732DD50-9D1F-D16A-1E34-185976E341FD}"/>
          </ac:spMkLst>
        </pc:spChg>
        <pc:spChg chg="mod">
          <ac:chgData name="Benny Zakuani Bahati" userId="406ae700-a118-4d22-aa3d-27a802fc3b5c" providerId="ADAL" clId="{AE97150B-6146-4901-97AD-FC0FB39B82ED}" dt="2026-07-13T08:26:26.974" v="14" actId="20577"/>
          <ac:spMkLst>
            <pc:docMk/>
            <pc:sldMk cId="1273054040" sldId="1337"/>
            <ac:spMk id="314" creationId="{E96152B3-47A5-4F3C-33B9-4C7E2696BA40}"/>
          </ac:spMkLst>
        </pc:spChg>
        <pc:spChg chg="mod">
          <ac:chgData name="Benny Zakuani Bahati" userId="406ae700-a118-4d22-aa3d-27a802fc3b5c" providerId="ADAL" clId="{AE97150B-6146-4901-97AD-FC0FB39B82ED}" dt="2026-07-14T17:33:32.645" v="488" actId="20577"/>
          <ac:spMkLst>
            <pc:docMk/>
            <pc:sldMk cId="1273054040" sldId="1337"/>
            <ac:spMk id="321" creationId="{4461D8CE-3F5F-B2D3-6ECE-677389E91459}"/>
          </ac:spMkLst>
        </pc:spChg>
        <pc:spChg chg="mod">
          <ac:chgData name="Benny Zakuani Bahati" userId="406ae700-a118-4d22-aa3d-27a802fc3b5c" providerId="ADAL" clId="{AE97150B-6146-4901-97AD-FC0FB39B82ED}" dt="2026-07-14T17:33:42.244" v="490" actId="20577"/>
          <ac:spMkLst>
            <pc:docMk/>
            <pc:sldMk cId="1273054040" sldId="1337"/>
            <ac:spMk id="322" creationId="{CA57C8E4-F52A-8C95-682E-09ECF9CDF118}"/>
          </ac:spMkLst>
        </pc:spChg>
        <pc:spChg chg="mod">
          <ac:chgData name="Benny Zakuani Bahati" userId="406ae700-a118-4d22-aa3d-27a802fc3b5c" providerId="ADAL" clId="{AE97150B-6146-4901-97AD-FC0FB39B82ED}" dt="2026-07-14T17:35:14.315" v="498"/>
          <ac:spMkLst>
            <pc:docMk/>
            <pc:sldMk cId="1273054040" sldId="1337"/>
            <ac:spMk id="326" creationId="{18C991B3-E112-2647-6708-1C4E5B17DE17}"/>
          </ac:spMkLst>
        </pc:spChg>
        <pc:spChg chg="mod">
          <ac:chgData name="Benny Zakuani Bahati" userId="406ae700-a118-4d22-aa3d-27a802fc3b5c" providerId="ADAL" clId="{AE97150B-6146-4901-97AD-FC0FB39B82ED}" dt="2026-07-14T17:41:52.433" v="525" actId="20577"/>
          <ac:spMkLst>
            <pc:docMk/>
            <pc:sldMk cId="1273054040" sldId="1337"/>
            <ac:spMk id="330" creationId="{96164AD1-39EB-196F-8B71-D96AAA398CF6}"/>
          </ac:spMkLst>
        </pc:spChg>
        <pc:spChg chg="mod">
          <ac:chgData name="Benny Zakuani Bahati" userId="406ae700-a118-4d22-aa3d-27a802fc3b5c" providerId="ADAL" clId="{AE97150B-6146-4901-97AD-FC0FB39B82ED}" dt="2026-07-14T17:36:15.231" v="508" actId="207"/>
          <ac:spMkLst>
            <pc:docMk/>
            <pc:sldMk cId="1273054040" sldId="1337"/>
            <ac:spMk id="331" creationId="{29E0D4DD-A8DD-C241-D0AD-11D7946215A5}"/>
          </ac:spMkLst>
        </pc:spChg>
        <pc:spChg chg="mod">
          <ac:chgData name="Benny Zakuani Bahati" userId="406ae700-a118-4d22-aa3d-27a802fc3b5c" providerId="ADAL" clId="{AE97150B-6146-4901-97AD-FC0FB39B82ED}" dt="2026-07-14T17:36:21.636" v="513" actId="20577"/>
          <ac:spMkLst>
            <pc:docMk/>
            <pc:sldMk cId="1273054040" sldId="1337"/>
            <ac:spMk id="332" creationId="{96CE03A5-D0C8-2066-F9A9-C04A7776BE46}"/>
          </ac:spMkLst>
        </pc:spChg>
        <pc:spChg chg="mod">
          <ac:chgData name="Benny Zakuani Bahati" userId="406ae700-a118-4d22-aa3d-27a802fc3b5c" providerId="ADAL" clId="{AE97150B-6146-4901-97AD-FC0FB39B82ED}" dt="2026-07-14T17:40:25.298" v="523" actId="20577"/>
          <ac:spMkLst>
            <pc:docMk/>
            <pc:sldMk cId="1273054040" sldId="1337"/>
            <ac:spMk id="333" creationId="{E1D44858-DD5C-731F-FF09-70FEEBF5DDE0}"/>
          </ac:spMkLst>
        </pc:spChg>
        <pc:spChg chg="mod">
          <ac:chgData name="Benny Zakuani Bahati" userId="406ae700-a118-4d22-aa3d-27a802fc3b5c" providerId="ADAL" clId="{AE97150B-6146-4901-97AD-FC0FB39B82ED}" dt="2026-07-14T17:40:20.749" v="521" actId="20577"/>
          <ac:spMkLst>
            <pc:docMk/>
            <pc:sldMk cId="1273054040" sldId="1337"/>
            <ac:spMk id="334" creationId="{1B093BDB-5364-6630-8D7E-94FA9372E294}"/>
          </ac:spMkLst>
        </pc:spChg>
        <pc:spChg chg="mod">
          <ac:chgData name="Benny Zakuani Bahati" userId="406ae700-a118-4d22-aa3d-27a802fc3b5c" providerId="ADAL" clId="{AE97150B-6146-4901-97AD-FC0FB39B82ED}" dt="2026-07-14T17:44:43.663" v="545" actId="20577"/>
          <ac:spMkLst>
            <pc:docMk/>
            <pc:sldMk cId="1273054040" sldId="1337"/>
            <ac:spMk id="337" creationId="{B994A829-587B-0D4F-5C6B-291837B1DDE4}"/>
          </ac:spMkLst>
        </pc:spChg>
        <pc:spChg chg="mod">
          <ac:chgData name="Benny Zakuani Bahati" userId="406ae700-a118-4d22-aa3d-27a802fc3b5c" providerId="ADAL" clId="{AE97150B-6146-4901-97AD-FC0FB39B82ED}" dt="2026-07-14T17:44:26.933" v="535" actId="20577"/>
          <ac:spMkLst>
            <pc:docMk/>
            <pc:sldMk cId="1273054040" sldId="1337"/>
            <ac:spMk id="338" creationId="{18E9D9EB-0A60-216A-203B-854536E7E79B}"/>
          </ac:spMkLst>
        </pc:spChg>
        <pc:spChg chg="mod">
          <ac:chgData name="Benny Zakuani Bahati" userId="406ae700-a118-4d22-aa3d-27a802fc3b5c" providerId="ADAL" clId="{AE97150B-6146-4901-97AD-FC0FB39B82ED}" dt="2026-07-14T17:45:58.206" v="561" actId="207"/>
          <ac:spMkLst>
            <pc:docMk/>
            <pc:sldMk cId="1273054040" sldId="1337"/>
            <ac:spMk id="339" creationId="{6CAE8B77-16C3-91CC-6C03-F2811DB2E756}"/>
          </ac:spMkLst>
        </pc:spChg>
        <pc:spChg chg="mod">
          <ac:chgData name="Benny Zakuani Bahati" userId="406ae700-a118-4d22-aa3d-27a802fc3b5c" providerId="ADAL" clId="{AE97150B-6146-4901-97AD-FC0FB39B82ED}" dt="2026-07-14T17:45:18.574" v="555" actId="20577"/>
          <ac:spMkLst>
            <pc:docMk/>
            <pc:sldMk cId="1273054040" sldId="1337"/>
            <ac:spMk id="341" creationId="{5943D7B1-12D7-9674-7D0F-FCD3990C5930}"/>
          </ac:spMkLst>
        </pc:spChg>
        <pc:spChg chg="mod">
          <ac:chgData name="Benny Zakuani Bahati" userId="406ae700-a118-4d22-aa3d-27a802fc3b5c" providerId="ADAL" clId="{AE97150B-6146-4901-97AD-FC0FB39B82ED}" dt="2026-07-14T17:45:49.541" v="560" actId="20577"/>
          <ac:spMkLst>
            <pc:docMk/>
            <pc:sldMk cId="1273054040" sldId="1337"/>
            <ac:spMk id="342" creationId="{AA2985D5-3CD8-EC03-FB4B-C885F0F37E51}"/>
          </ac:spMkLst>
        </pc:spChg>
        <pc:spChg chg="mod">
          <ac:chgData name="Benny Zakuani Bahati" userId="406ae700-a118-4d22-aa3d-27a802fc3b5c" providerId="ADAL" clId="{AE97150B-6146-4901-97AD-FC0FB39B82ED}" dt="2026-07-14T17:49:26.671" v="601" actId="20577"/>
          <ac:spMkLst>
            <pc:docMk/>
            <pc:sldMk cId="1273054040" sldId="1337"/>
            <ac:spMk id="345" creationId="{42CC0C33-1747-2DA9-FEAB-4F2503C74D55}"/>
          </ac:spMkLst>
        </pc:spChg>
        <pc:spChg chg="mod">
          <ac:chgData name="Benny Zakuani Bahati" userId="406ae700-a118-4d22-aa3d-27a802fc3b5c" providerId="ADAL" clId="{AE97150B-6146-4901-97AD-FC0FB39B82ED}" dt="2026-07-14T17:51:02.600" v="607" actId="108"/>
          <ac:spMkLst>
            <pc:docMk/>
            <pc:sldMk cId="1273054040" sldId="1337"/>
            <ac:spMk id="346" creationId="{42E6314A-EC64-3347-992E-341E24CD695B}"/>
          </ac:spMkLst>
        </pc:spChg>
        <pc:spChg chg="mod">
          <ac:chgData name="Benny Zakuani Bahati" userId="406ae700-a118-4d22-aa3d-27a802fc3b5c" providerId="ADAL" clId="{AE97150B-6146-4901-97AD-FC0FB39B82ED}" dt="2026-07-14T17:43:23.816" v="532" actId="20577"/>
          <ac:spMkLst>
            <pc:docMk/>
            <pc:sldMk cId="1273054040" sldId="1337"/>
            <ac:spMk id="350" creationId="{E3879EB9-6732-85EA-6972-F2F1CB2D2958}"/>
          </ac:spMkLst>
        </pc:spChg>
        <pc:spChg chg="mod">
          <ac:chgData name="Benny Zakuani Bahati" userId="406ae700-a118-4d22-aa3d-27a802fc3b5c" providerId="ADAL" clId="{AE97150B-6146-4901-97AD-FC0FB39B82ED}" dt="2026-07-14T17:20:34.428" v="475" actId="20577"/>
          <ac:spMkLst>
            <pc:docMk/>
            <pc:sldMk cId="1273054040" sldId="1337"/>
            <ac:spMk id="354" creationId="{04C5C489-D6DD-DDC6-6A07-E4B591EC716A}"/>
          </ac:spMkLst>
        </pc:spChg>
        <pc:spChg chg="mod">
          <ac:chgData name="Benny Zakuani Bahati" userId="406ae700-a118-4d22-aa3d-27a802fc3b5c" providerId="ADAL" clId="{AE97150B-6146-4901-97AD-FC0FB39B82ED}" dt="2026-07-14T17:51:36.201" v="619" actId="20577"/>
          <ac:spMkLst>
            <pc:docMk/>
            <pc:sldMk cId="1273054040" sldId="1337"/>
            <ac:spMk id="372" creationId="{D781AF05-B13B-DD90-595F-E8E6CF52178E}"/>
          </ac:spMkLst>
        </pc:spChg>
        <pc:spChg chg="mod">
          <ac:chgData name="Benny Zakuani Bahati" userId="406ae700-a118-4d22-aa3d-27a802fc3b5c" providerId="ADAL" clId="{AE97150B-6146-4901-97AD-FC0FB39B82ED}" dt="2026-07-14T17:47:37.840" v="584" actId="20577"/>
          <ac:spMkLst>
            <pc:docMk/>
            <pc:sldMk cId="1273054040" sldId="1337"/>
            <ac:spMk id="376" creationId="{34C2180A-AC4F-F523-D58B-A3AB1846E7ED}"/>
          </ac:spMkLst>
        </pc:spChg>
        <pc:spChg chg="mod">
          <ac:chgData name="Benny Zakuani Bahati" userId="406ae700-a118-4d22-aa3d-27a802fc3b5c" providerId="ADAL" clId="{AE97150B-6146-4901-97AD-FC0FB39B82ED}" dt="2026-07-14T17:59:45.045" v="639" actId="207"/>
          <ac:spMkLst>
            <pc:docMk/>
            <pc:sldMk cId="1273054040" sldId="1337"/>
            <ac:spMk id="378" creationId="{FFE2F9C0-86BF-8DC1-6953-7FDB8A1AC7D6}"/>
          </ac:spMkLst>
        </pc:spChg>
        <pc:spChg chg="mod">
          <ac:chgData name="Benny Zakuani Bahati" userId="406ae700-a118-4d22-aa3d-27a802fc3b5c" providerId="ADAL" clId="{AE97150B-6146-4901-97AD-FC0FB39B82ED}" dt="2026-07-14T17:54:15.740" v="633" actId="20577"/>
          <ac:spMkLst>
            <pc:docMk/>
            <pc:sldMk cId="1273054040" sldId="1337"/>
            <ac:spMk id="380" creationId="{52DE49B6-EA41-846E-C68F-931E8C8D5403}"/>
          </ac:spMkLst>
        </pc:spChg>
        <pc:spChg chg="mod">
          <ac:chgData name="Benny Zakuani Bahati" userId="406ae700-a118-4d22-aa3d-27a802fc3b5c" providerId="ADAL" clId="{AE97150B-6146-4901-97AD-FC0FB39B82ED}" dt="2026-07-14T17:13:25.865" v="450" actId="108"/>
          <ac:spMkLst>
            <pc:docMk/>
            <pc:sldMk cId="1273054040" sldId="1337"/>
            <ac:spMk id="389" creationId="{C2827418-62CE-A602-E96E-DF3D1BA1503B}"/>
          </ac:spMkLst>
        </pc:spChg>
        <pc:spChg chg="mod">
          <ac:chgData name="Benny Zakuani Bahati" userId="406ae700-a118-4d22-aa3d-27a802fc3b5c" providerId="ADAL" clId="{AE97150B-6146-4901-97AD-FC0FB39B82ED}" dt="2026-07-14T17:20:57.851" v="478" actId="20577"/>
          <ac:spMkLst>
            <pc:docMk/>
            <pc:sldMk cId="1273054040" sldId="1337"/>
            <ac:spMk id="393" creationId="{0D4CC489-1708-09C2-ED9E-ED79828180F1}"/>
          </ac:spMkLst>
        </pc:spChg>
        <pc:spChg chg="mod">
          <ac:chgData name="Benny Zakuani Bahati" userId="406ae700-a118-4d22-aa3d-27a802fc3b5c" providerId="ADAL" clId="{AE97150B-6146-4901-97AD-FC0FB39B82ED}" dt="2026-07-14T17:53:36.924" v="627" actId="20577"/>
          <ac:spMkLst>
            <pc:docMk/>
            <pc:sldMk cId="1273054040" sldId="1337"/>
            <ac:spMk id="397" creationId="{AC875C40-E4AB-84E9-F9D2-78E65650AF64}"/>
          </ac:spMkLst>
        </pc:spChg>
        <pc:spChg chg="mod">
          <ac:chgData name="Benny Zakuani Bahati" userId="406ae700-a118-4d22-aa3d-27a802fc3b5c" providerId="ADAL" clId="{AE97150B-6146-4901-97AD-FC0FB39B82ED}" dt="2026-07-14T17:14:00.705" v="460" actId="108"/>
          <ac:spMkLst>
            <pc:docMk/>
            <pc:sldMk cId="1273054040" sldId="1337"/>
            <ac:spMk id="407" creationId="{8AB16D39-7D3A-3C37-4A33-C0151198E602}"/>
          </ac:spMkLst>
        </pc:spChg>
        <pc:spChg chg="mod">
          <ac:chgData name="Benny Zakuani Bahati" userId="406ae700-a118-4d22-aa3d-27a802fc3b5c" providerId="ADAL" clId="{AE97150B-6146-4901-97AD-FC0FB39B82ED}" dt="2026-07-14T17:46:50.399" v="569" actId="20577"/>
          <ac:spMkLst>
            <pc:docMk/>
            <pc:sldMk cId="1273054040" sldId="1337"/>
            <ac:spMk id="418" creationId="{FCCA49EB-3863-D31E-B9D4-8637A7378217}"/>
          </ac:spMkLst>
        </pc:spChg>
        <pc:spChg chg="mod">
          <ac:chgData name="Benny Zakuani Bahati" userId="406ae700-a118-4d22-aa3d-27a802fc3b5c" providerId="ADAL" clId="{AE97150B-6146-4901-97AD-FC0FB39B82ED}" dt="2026-07-14T17:47:03.123" v="575" actId="20577"/>
          <ac:spMkLst>
            <pc:docMk/>
            <pc:sldMk cId="1273054040" sldId="1337"/>
            <ac:spMk id="419" creationId="{C031468A-303C-8EF7-2F70-F11E73F23AB9}"/>
          </ac:spMkLst>
        </pc:spChg>
        <pc:spChg chg="mod">
          <ac:chgData name="Benny Zakuani Bahati" userId="406ae700-a118-4d22-aa3d-27a802fc3b5c" providerId="ADAL" clId="{AE97150B-6146-4901-97AD-FC0FB39B82ED}" dt="2026-07-14T17:48:13.597" v="595" actId="1076"/>
          <ac:spMkLst>
            <pc:docMk/>
            <pc:sldMk cId="1273054040" sldId="1337"/>
            <ac:spMk id="420" creationId="{EC94CB16-5401-03EA-76E2-630CD23BBB74}"/>
          </ac:spMkLst>
        </pc:spChg>
        <pc:spChg chg="mod">
          <ac:chgData name="Benny Zakuani Bahati" userId="406ae700-a118-4d22-aa3d-27a802fc3b5c" providerId="ADAL" clId="{AE97150B-6146-4901-97AD-FC0FB39B82ED}" dt="2026-07-14T17:52:09.276" v="622" actId="20577"/>
          <ac:spMkLst>
            <pc:docMk/>
            <pc:sldMk cId="1273054040" sldId="1337"/>
            <ac:spMk id="424" creationId="{AE84DBD8-F9D2-552A-7A79-F4FDB94BEB3C}"/>
          </ac:spMkLst>
        </pc:spChg>
        <pc:spChg chg="mod">
          <ac:chgData name="Benny Zakuani Bahati" userId="406ae700-a118-4d22-aa3d-27a802fc3b5c" providerId="ADAL" clId="{AE97150B-6146-4901-97AD-FC0FB39B82ED}" dt="2026-07-14T17:59:35.260" v="638" actId="20577"/>
          <ac:spMkLst>
            <pc:docMk/>
            <pc:sldMk cId="1273054040" sldId="1337"/>
            <ac:spMk id="425" creationId="{2C3353CF-7FC4-BD1B-AF44-552BF329CC22}"/>
          </ac:spMkLst>
        </pc:spChg>
      </pc:sldChg>
      <pc:sldChg chg="modSp add mod">
        <pc:chgData name="Benny Zakuani Bahati" userId="406ae700-a118-4d22-aa3d-27a802fc3b5c" providerId="ADAL" clId="{AE97150B-6146-4901-97AD-FC0FB39B82ED}" dt="2026-07-14T17:04:45.339" v="435" actId="121"/>
        <pc:sldMkLst>
          <pc:docMk/>
          <pc:sldMk cId="3802024790" sldId="1338"/>
        </pc:sldMkLst>
        <pc:spChg chg="mod">
          <ac:chgData name="Benny Zakuani Bahati" userId="406ae700-a118-4d22-aa3d-27a802fc3b5c" providerId="ADAL" clId="{AE97150B-6146-4901-97AD-FC0FB39B82ED}" dt="2026-07-14T17:04:45.339" v="435" actId="121"/>
          <ac:spMkLst>
            <pc:docMk/>
            <pc:sldMk cId="3802024790" sldId="1338"/>
            <ac:spMk id="11" creationId="{ABBA347A-24D2-7246-0D63-488642696F3A}"/>
          </ac:spMkLst>
        </pc:spChg>
      </pc:sldChg>
    </pc:docChg>
  </pc:docChgLst>
  <pc:docChgLst>
    <pc:chgData name="Carine Ewuli" userId="73492109-3a42-478e-8f5d-1ea14ec3310a" providerId="ADAL" clId="{7DDD3136-8DF9-461E-96A9-FB6E468421C7}"/>
    <pc:docChg chg="addSld modSld sldOrd">
      <pc:chgData name="Carine Ewuli" userId="73492109-3a42-478e-8f5d-1ea14ec3310a" providerId="ADAL" clId="{7DDD3136-8DF9-461E-96A9-FB6E468421C7}" dt="2026-07-16T11:00:54.594" v="27"/>
      <pc:docMkLst>
        <pc:docMk/>
      </pc:docMkLst>
      <pc:sldChg chg="modSp add mod ord">
        <pc:chgData name="Carine Ewuli" userId="73492109-3a42-478e-8f5d-1ea14ec3310a" providerId="ADAL" clId="{7DDD3136-8DF9-461E-96A9-FB6E468421C7}" dt="2026-07-16T11:00:51.188" v="25" actId="20577"/>
        <pc:sldMkLst>
          <pc:docMk/>
          <pc:sldMk cId="1608781177" sldId="281"/>
        </pc:sldMkLst>
        <pc:spChg chg="mod">
          <ac:chgData name="Carine Ewuli" userId="73492109-3a42-478e-8f5d-1ea14ec3310a" providerId="ADAL" clId="{7DDD3136-8DF9-461E-96A9-FB6E468421C7}" dt="2026-07-16T11:00:51.188" v="25" actId="20577"/>
          <ac:spMkLst>
            <pc:docMk/>
            <pc:sldMk cId="1608781177" sldId="281"/>
            <ac:spMk id="4" creationId="{00000000-0000-0000-0000-000000000000}"/>
          </ac:spMkLst>
        </pc:spChg>
      </pc:sldChg>
      <pc:sldChg chg="ord">
        <pc:chgData name="Carine Ewuli" userId="73492109-3a42-478e-8f5d-1ea14ec3310a" providerId="ADAL" clId="{7DDD3136-8DF9-461E-96A9-FB6E468421C7}" dt="2026-07-16T11:00:54.594" v="27"/>
        <pc:sldMkLst>
          <pc:docMk/>
          <pc:sldMk cId="2131721014" sldId="1323"/>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ppcafr-my.sharepoint.com/personal/benny_zakuani_ppcdrc_cd/Documents/Desktop/HR_ReportData_FY27_May.xlsb"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ppcafr-my.sharepoint.com/personal/benny_zakuani_ppcdrc_cd/Documents/Desktop/HR_ReportData_FY27_May.xlsb"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ppcafr-my.sharepoint.com/personal/benny_zakuani_ppcdrc_cd/Documents/Desktop/HR_ReportData_FY27_May.xlsb"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ppcafr-my.sharepoint.com/personal/benny_zakuani_ppcdrc_cd/Documents/Desktop/HR_ReportData_FY27_June.xlsb"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ppcafr-my.sharepoint.com/personal/benny_zakuani_ppcdrc_cd/Documents/Desktop/HR_ReportData_FY27_June.xlsb"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ppcafr-my.sharepoint.com/personal/benny_zakuani_ppcdrc_cd/Documents/Desktop/HR_ReportData_FY27_June.xlsb"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ppcafr-my.sharepoint.com/personal/benny_zakuani_ppcdrc_cd/Documents/Desktop/HR_ReportData_FY27_June.xlsb"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1"/>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5992-460D-96EA-62CD558DB741}"/>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IN_OUT!$N$3:$N$7</c:f>
              <c:strCache>
                <c:ptCount val="5"/>
                <c:pt idx="0">
                  <c:v>Amicable Separation</c:v>
                </c:pt>
                <c:pt idx="1">
                  <c:v>Dismissal</c:v>
                </c:pt>
                <c:pt idx="2">
                  <c:v>Resignation</c:v>
                </c:pt>
                <c:pt idx="3">
                  <c:v>Contract Expired</c:v>
                </c:pt>
                <c:pt idx="4">
                  <c:v>Retirement</c:v>
                </c:pt>
              </c:strCache>
            </c:strRef>
          </c:cat>
          <c:val>
            <c:numRef>
              <c:f>IN_OUT!$O$3:$O$7</c:f>
              <c:numCache>
                <c:formatCode>General</c:formatCode>
                <c:ptCount val="5"/>
                <c:pt idx="0">
                  <c:v>0</c:v>
                </c:pt>
                <c:pt idx="1">
                  <c:v>2</c:v>
                </c:pt>
                <c:pt idx="2">
                  <c:v>0</c:v>
                </c:pt>
                <c:pt idx="3">
                  <c:v>0</c:v>
                </c:pt>
                <c:pt idx="4">
                  <c:v>0</c:v>
                </c:pt>
              </c:numCache>
            </c:numRef>
          </c:val>
          <c:extLst>
            <c:ext xmlns:c16="http://schemas.microsoft.com/office/drawing/2014/chart" uri="{C3380CC4-5D6E-409C-BE32-E72D297353CC}">
              <c16:uniqueId val="{00000000-5992-460D-96EA-62CD558DB741}"/>
            </c:ext>
          </c:extLst>
        </c:ser>
        <c:dLbls>
          <c:showLegendKey val="0"/>
          <c:showVal val="1"/>
          <c:showCatName val="0"/>
          <c:showSerName val="0"/>
          <c:showPercent val="0"/>
          <c:showBubbleSize val="0"/>
        </c:dLbls>
        <c:gapWidth val="219"/>
        <c:overlap val="100"/>
        <c:axId val="1678434464"/>
        <c:axId val="1678445024"/>
      </c:barChart>
      <c:catAx>
        <c:axId val="16784344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78445024"/>
        <c:crosses val="autoZero"/>
        <c:auto val="1"/>
        <c:lblAlgn val="ctr"/>
        <c:lblOffset val="100"/>
        <c:noMultiLvlLbl val="0"/>
      </c:catAx>
      <c:valAx>
        <c:axId val="1678445024"/>
        <c:scaling>
          <c:orientation val="minMax"/>
        </c:scaling>
        <c:delete val="1"/>
        <c:axPos val="l"/>
        <c:numFmt formatCode="General" sourceLinked="1"/>
        <c:majorTickMark val="none"/>
        <c:minorTickMark val="none"/>
        <c:tickLblPos val="nextTo"/>
        <c:crossAx val="1678434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a:outerShdw blurRad="57150" dist="19050" dir="5400000" algn="ctr" rotWithShape="0">
        <a:srgbClr val="000000">
          <a:alpha val="63000"/>
        </a:srgbClr>
      </a:outerShdw>
    </a:effectLst>
  </c:spPr>
  <c:txPr>
    <a:bodyPr/>
    <a:lstStyle/>
    <a:p>
      <a:pPr>
        <a:defRPr>
          <a:solidFill>
            <a:schemeClr val="lt1"/>
          </a:solidFill>
          <a:latin typeface="+mn-lt"/>
          <a:ea typeface="+mn-ea"/>
          <a:cs typeface="+mn-cs"/>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lumMod val="50000"/>
              </a:schemeClr>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Headcount_Kiesse!$D$5:$D$12</c:f>
              <c:strCache>
                <c:ptCount val="8"/>
                <c:pt idx="0">
                  <c:v>&lt;25 ans</c:v>
                </c:pt>
                <c:pt idx="1">
                  <c:v>25 - 29 ans</c:v>
                </c:pt>
                <c:pt idx="2">
                  <c:v>30 - 34 ans </c:v>
                </c:pt>
                <c:pt idx="3">
                  <c:v>35 - 39 ans </c:v>
                </c:pt>
                <c:pt idx="4">
                  <c:v>40 - 44 ans </c:v>
                </c:pt>
                <c:pt idx="5">
                  <c:v>45 - 49 ans </c:v>
                </c:pt>
                <c:pt idx="6">
                  <c:v>50 - 54 ans </c:v>
                </c:pt>
                <c:pt idx="7">
                  <c:v>&gt;55</c:v>
                </c:pt>
              </c:strCache>
            </c:strRef>
          </c:cat>
          <c:val>
            <c:numRef>
              <c:f>Headcount_Kiesse!$F$5:$F$12</c:f>
              <c:numCache>
                <c:formatCode>0%</c:formatCode>
                <c:ptCount val="8"/>
                <c:pt idx="0">
                  <c:v>5.681818181818182E-3</c:v>
                </c:pt>
                <c:pt idx="1">
                  <c:v>8.5227272727272721E-2</c:v>
                </c:pt>
                <c:pt idx="2">
                  <c:v>0.13636363636363635</c:v>
                </c:pt>
                <c:pt idx="3">
                  <c:v>0.31818181818181818</c:v>
                </c:pt>
                <c:pt idx="4">
                  <c:v>0.21022727272727273</c:v>
                </c:pt>
                <c:pt idx="5">
                  <c:v>0.13068181818181818</c:v>
                </c:pt>
                <c:pt idx="6">
                  <c:v>5.6818181818181816E-2</c:v>
                </c:pt>
                <c:pt idx="7">
                  <c:v>5.6818181818181816E-2</c:v>
                </c:pt>
              </c:numCache>
            </c:numRef>
          </c:val>
          <c:extLst>
            <c:ext xmlns:c16="http://schemas.microsoft.com/office/drawing/2014/chart" uri="{C3380CC4-5D6E-409C-BE32-E72D297353CC}">
              <c16:uniqueId val="{00000000-8EC6-4569-B601-33DFACF05166}"/>
            </c:ext>
          </c:extLst>
        </c:ser>
        <c:dLbls>
          <c:showLegendKey val="0"/>
          <c:showVal val="0"/>
          <c:showCatName val="0"/>
          <c:showSerName val="0"/>
          <c:showPercent val="0"/>
          <c:showBubbleSize val="0"/>
        </c:dLbls>
        <c:gapWidth val="219"/>
        <c:overlap val="-27"/>
        <c:axId val="1970013615"/>
        <c:axId val="1390900655"/>
      </c:barChart>
      <c:catAx>
        <c:axId val="19700136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390900655"/>
        <c:crosses val="autoZero"/>
        <c:auto val="1"/>
        <c:lblAlgn val="ctr"/>
        <c:lblOffset val="100"/>
        <c:noMultiLvlLbl val="0"/>
      </c:catAx>
      <c:valAx>
        <c:axId val="1390900655"/>
        <c:scaling>
          <c:orientation val="minMax"/>
        </c:scaling>
        <c:delete val="1"/>
        <c:axPos val="l"/>
        <c:numFmt formatCode="0%" sourceLinked="1"/>
        <c:majorTickMark val="none"/>
        <c:minorTickMark val="none"/>
        <c:tickLblPos val="nextTo"/>
        <c:crossAx val="19700136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a:outerShdw blurRad="57150" dist="19050" dir="5400000" algn="ctr" rotWithShape="0">
        <a:srgbClr val="000000">
          <a:alpha val="63000"/>
        </a:srgbClr>
      </a:outerShdw>
    </a:effectLst>
  </c:spPr>
  <c:txPr>
    <a:bodyPr/>
    <a:lstStyle/>
    <a:p>
      <a:pPr>
        <a:defRPr>
          <a:solidFill>
            <a:schemeClr val="lt1"/>
          </a:solidFill>
          <a:latin typeface="+mn-lt"/>
          <a:ea typeface="+mn-ea"/>
          <a:cs typeface="+mn-cs"/>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Headcount_Kiesse!$M$6:$M$10</c:f>
              <c:strCache>
                <c:ptCount val="5"/>
                <c:pt idx="0">
                  <c:v>&lt;1 year</c:v>
                </c:pt>
                <c:pt idx="1">
                  <c:v>1 - 3 year(s)</c:v>
                </c:pt>
                <c:pt idx="2">
                  <c:v>4 - 6 years</c:v>
                </c:pt>
                <c:pt idx="3">
                  <c:v>7 - 9 years</c:v>
                </c:pt>
                <c:pt idx="4">
                  <c:v>&gt;= 10 years</c:v>
                </c:pt>
              </c:strCache>
            </c:strRef>
          </c:cat>
          <c:val>
            <c:numRef>
              <c:f>Headcount_Kiesse!$O$6:$O$10</c:f>
              <c:numCache>
                <c:formatCode>0%</c:formatCode>
                <c:ptCount val="5"/>
                <c:pt idx="0">
                  <c:v>9.0909090909090912E-2</c:v>
                </c:pt>
                <c:pt idx="1">
                  <c:v>0.26704545454545453</c:v>
                </c:pt>
                <c:pt idx="2">
                  <c:v>0.19886363636363635</c:v>
                </c:pt>
                <c:pt idx="3">
                  <c:v>0.30113636363636365</c:v>
                </c:pt>
                <c:pt idx="4">
                  <c:v>0.14204545454545456</c:v>
                </c:pt>
              </c:numCache>
            </c:numRef>
          </c:val>
          <c:extLst>
            <c:ext xmlns:c16="http://schemas.microsoft.com/office/drawing/2014/chart" uri="{C3380CC4-5D6E-409C-BE32-E72D297353CC}">
              <c16:uniqueId val="{00000000-34D8-4D30-9AC1-64B6E0794126}"/>
            </c:ext>
          </c:extLst>
        </c:ser>
        <c:dLbls>
          <c:showLegendKey val="0"/>
          <c:showVal val="0"/>
          <c:showCatName val="0"/>
          <c:showSerName val="0"/>
          <c:showPercent val="0"/>
          <c:showBubbleSize val="0"/>
        </c:dLbls>
        <c:gapWidth val="219"/>
        <c:overlap val="-27"/>
        <c:axId val="693611231"/>
        <c:axId val="693610271"/>
      </c:barChart>
      <c:catAx>
        <c:axId val="6936112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93610271"/>
        <c:crosses val="autoZero"/>
        <c:auto val="1"/>
        <c:lblAlgn val="ctr"/>
        <c:lblOffset val="100"/>
        <c:noMultiLvlLbl val="0"/>
      </c:catAx>
      <c:valAx>
        <c:axId val="693610271"/>
        <c:scaling>
          <c:orientation val="minMax"/>
        </c:scaling>
        <c:delete val="1"/>
        <c:axPos val="l"/>
        <c:numFmt formatCode="0%" sourceLinked="1"/>
        <c:majorTickMark val="none"/>
        <c:minorTickMark val="none"/>
        <c:tickLblPos val="nextTo"/>
        <c:crossAx val="6936112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a:outerShdw blurRad="57150" dist="19050" dir="5400000" algn="ctr" rotWithShape="0">
        <a:srgbClr val="000000">
          <a:alpha val="63000"/>
        </a:srgbClr>
      </a:outerShdw>
    </a:effectLst>
  </c:spPr>
  <c:txPr>
    <a:bodyPr/>
    <a:lstStyle/>
    <a:p>
      <a:pPr>
        <a:defRPr>
          <a:solidFill>
            <a:schemeClr val="lt1"/>
          </a:solidFill>
          <a:latin typeface="+mn-lt"/>
          <a:ea typeface="+mn-ea"/>
          <a:cs typeface="+mn-cs"/>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lt1"/>
                </a:solidFill>
                <a:latin typeface="+mn-lt"/>
                <a:ea typeface="+mn-ea"/>
                <a:cs typeface="+mn-cs"/>
              </a:defRPr>
            </a:pPr>
            <a:r>
              <a:rPr lang="en-US" sz="1400" b="0" i="0" u="none" strike="noStrike" kern="1200" spc="0" baseline="0" dirty="0">
                <a:solidFill>
                  <a:schemeClr val="lt1"/>
                </a:solidFill>
                <a:latin typeface="+mn-lt"/>
                <a:ea typeface="+mn-ea"/>
                <a:cs typeface="+mn-cs"/>
              </a:rPr>
              <a:t>Overtime - hours per Department YTD - %</a:t>
            </a:r>
            <a:endParaRPr lang="en-US" sz="1400" b="0" i="0" u="none" strike="noStrike" kern="1200" spc="0" baseline="0" dirty="0">
              <a:solidFill>
                <a:schemeClr val="bg1"/>
              </a:solidFill>
            </a:endParaRPr>
          </a:p>
        </c:rich>
      </c:tx>
      <c:overlay val="0"/>
      <c:spPr>
        <a:solidFill>
          <a:schemeClr val="accent1">
            <a:lumMod val="50000"/>
          </a:schemeClr>
        </a:solidFill>
        <a:ln>
          <a:noFill/>
        </a:ln>
        <a:effectLst>
          <a:outerShdw blurRad="57150" dist="19050" dir="5400000" algn="ctr" rotWithShape="0">
            <a:srgbClr val="000000">
              <a:alpha val="63000"/>
            </a:srgbClr>
          </a:outerShdw>
        </a:effectLst>
      </c:spPr>
      <c:txPr>
        <a:bodyPr rot="0" spcFirstLastPara="1" vertOverflow="ellipsis" vert="horz" wrap="square" anchor="ctr" anchorCtr="1"/>
        <a:lstStyle/>
        <a:p>
          <a:pPr>
            <a:defRPr sz="1400" b="0" i="0" u="none" strike="noStrike" kern="1200" spc="0" baseline="0">
              <a:solidFill>
                <a:schemeClr val="lt1"/>
              </a:solidFill>
              <a:latin typeface="+mn-lt"/>
              <a:ea typeface="+mn-ea"/>
              <a:cs typeface="+mn-cs"/>
            </a:defRPr>
          </a:pPr>
          <a:endParaRPr lang="en-US"/>
        </a:p>
      </c:txPr>
    </c:title>
    <c:autoTitleDeleted val="0"/>
    <c:plotArea>
      <c:layout/>
      <c:barChart>
        <c:barDir val="col"/>
        <c:grouping val="stacked"/>
        <c:varyColors val="0"/>
        <c:ser>
          <c:idx val="0"/>
          <c:order val="0"/>
          <c:tx>
            <c:strRef>
              <c:f>OVT!$E$3</c:f>
              <c:strCache>
                <c:ptCount val="1"/>
                <c:pt idx="0">
                  <c:v>APR</c:v>
                </c:pt>
              </c:strCache>
            </c:strRef>
          </c:tx>
          <c:spPr>
            <a:solidFill>
              <a:schemeClr val="bg2">
                <a:lumMod val="75000"/>
              </a:schemeClr>
            </a:solidFill>
            <a:ln>
              <a:noFill/>
            </a:ln>
            <a:effectLst/>
          </c:spPr>
          <c:invertIfNegative val="0"/>
          <c:cat>
            <c:strRef>
              <c:f>OVT!$C$4:$C$10</c:f>
              <c:strCache>
                <c:ptCount val="7"/>
                <c:pt idx="0">
                  <c:v>CEC</c:v>
                </c:pt>
                <c:pt idx="1">
                  <c:v>ENG</c:v>
                </c:pt>
                <c:pt idx="2">
                  <c:v>Mining</c:v>
                </c:pt>
                <c:pt idx="3">
                  <c:v>Opt</c:v>
                </c:pt>
                <c:pt idx="4">
                  <c:v>Prod</c:v>
                </c:pt>
                <c:pt idx="5">
                  <c:v>Log</c:v>
                </c:pt>
                <c:pt idx="6">
                  <c:v>QA</c:v>
                </c:pt>
              </c:strCache>
            </c:strRef>
          </c:cat>
          <c:val>
            <c:numRef>
              <c:f>OVT!$E$4:$E$10</c:f>
              <c:numCache>
                <c:formatCode>_(* #,##0.00_);_(* \(#,##0.00\);_(* "-"??_);_(@_)</c:formatCode>
                <c:ptCount val="7"/>
                <c:pt idx="0">
                  <c:v>0</c:v>
                </c:pt>
                <c:pt idx="1">
                  <c:v>356.34</c:v>
                </c:pt>
                <c:pt idx="2">
                  <c:v>64</c:v>
                </c:pt>
                <c:pt idx="3">
                  <c:v>0</c:v>
                </c:pt>
                <c:pt idx="4">
                  <c:v>53.06</c:v>
                </c:pt>
                <c:pt idx="5" formatCode="General">
                  <c:v>57.989999999999995</c:v>
                </c:pt>
                <c:pt idx="6" formatCode="General">
                  <c:v>68.58</c:v>
                </c:pt>
              </c:numCache>
            </c:numRef>
          </c:val>
          <c:extLst>
            <c:ext xmlns:c16="http://schemas.microsoft.com/office/drawing/2014/chart" uri="{C3380CC4-5D6E-409C-BE32-E72D297353CC}">
              <c16:uniqueId val="{00000000-0706-4358-A099-3A91C29B0E05}"/>
            </c:ext>
          </c:extLst>
        </c:ser>
        <c:ser>
          <c:idx val="1"/>
          <c:order val="1"/>
          <c:tx>
            <c:strRef>
              <c:f>OVT!$F$3</c:f>
              <c:strCache>
                <c:ptCount val="1"/>
                <c:pt idx="0">
                  <c:v>MAY</c:v>
                </c:pt>
              </c:strCache>
            </c:strRef>
          </c:tx>
          <c:spPr>
            <a:solidFill>
              <a:schemeClr val="accent2"/>
            </a:solidFill>
            <a:ln>
              <a:noFill/>
            </a:ln>
            <a:effectLst/>
          </c:spPr>
          <c:invertIfNegative val="0"/>
          <c:cat>
            <c:strRef>
              <c:f>OVT!$C$4:$C$10</c:f>
              <c:strCache>
                <c:ptCount val="7"/>
                <c:pt idx="0">
                  <c:v>CEC</c:v>
                </c:pt>
                <c:pt idx="1">
                  <c:v>ENG</c:v>
                </c:pt>
                <c:pt idx="2">
                  <c:v>Mining</c:v>
                </c:pt>
                <c:pt idx="3">
                  <c:v>Opt</c:v>
                </c:pt>
                <c:pt idx="4">
                  <c:v>Prod</c:v>
                </c:pt>
                <c:pt idx="5">
                  <c:v>Log</c:v>
                </c:pt>
                <c:pt idx="6">
                  <c:v>QA</c:v>
                </c:pt>
              </c:strCache>
            </c:strRef>
          </c:cat>
          <c:val>
            <c:numRef>
              <c:f>OVT!$F$4:$F$10</c:f>
              <c:numCache>
                <c:formatCode>_(* #,##0.00_);_(* \(#,##0.00\);_(* "-"??_);_(@_)</c:formatCode>
                <c:ptCount val="7"/>
                <c:pt idx="0">
                  <c:v>16</c:v>
                </c:pt>
                <c:pt idx="1">
                  <c:v>538.73000000000013</c:v>
                </c:pt>
                <c:pt idx="2">
                  <c:v>52.3</c:v>
                </c:pt>
                <c:pt idx="3">
                  <c:v>6.3</c:v>
                </c:pt>
                <c:pt idx="4">
                  <c:v>241.41000000000003</c:v>
                </c:pt>
                <c:pt idx="5">
                  <c:v>128.91</c:v>
                </c:pt>
                <c:pt idx="6">
                  <c:v>53.97</c:v>
                </c:pt>
              </c:numCache>
            </c:numRef>
          </c:val>
          <c:extLst>
            <c:ext xmlns:c16="http://schemas.microsoft.com/office/drawing/2014/chart" uri="{C3380CC4-5D6E-409C-BE32-E72D297353CC}">
              <c16:uniqueId val="{00000001-0706-4358-A099-3A91C29B0E05}"/>
            </c:ext>
          </c:extLst>
        </c:ser>
        <c:ser>
          <c:idx val="2"/>
          <c:order val="2"/>
          <c:tx>
            <c:strRef>
              <c:f>OVT!$G$3</c:f>
              <c:strCache>
                <c:ptCount val="1"/>
                <c:pt idx="0">
                  <c:v>JUN</c:v>
                </c:pt>
              </c:strCache>
            </c:strRef>
          </c:tx>
          <c:spPr>
            <a:solidFill>
              <a:schemeClr val="accent1">
                <a:lumMod val="75000"/>
              </a:schemeClr>
            </a:solidFill>
            <a:ln>
              <a:noFill/>
            </a:ln>
            <a:effectLst/>
          </c:spPr>
          <c:invertIfNegative val="0"/>
          <c:cat>
            <c:strRef>
              <c:f>OVT!$C$4:$C$10</c:f>
              <c:strCache>
                <c:ptCount val="7"/>
                <c:pt idx="0">
                  <c:v>CEC</c:v>
                </c:pt>
                <c:pt idx="1">
                  <c:v>ENG</c:v>
                </c:pt>
                <c:pt idx="2">
                  <c:v>Mining</c:v>
                </c:pt>
                <c:pt idx="3">
                  <c:v>Opt</c:v>
                </c:pt>
                <c:pt idx="4">
                  <c:v>Prod</c:v>
                </c:pt>
                <c:pt idx="5">
                  <c:v>Log</c:v>
                </c:pt>
                <c:pt idx="6">
                  <c:v>QA</c:v>
                </c:pt>
              </c:strCache>
            </c:strRef>
          </c:cat>
          <c:val>
            <c:numRef>
              <c:f>OVT!$G$4:$G$10</c:f>
              <c:numCache>
                <c:formatCode>General</c:formatCode>
                <c:ptCount val="7"/>
                <c:pt idx="0">
                  <c:v>0</c:v>
                </c:pt>
                <c:pt idx="1">
                  <c:v>784.17999999999984</c:v>
                </c:pt>
                <c:pt idx="2">
                  <c:v>60</c:v>
                </c:pt>
                <c:pt idx="3">
                  <c:v>0</c:v>
                </c:pt>
                <c:pt idx="4">
                  <c:v>163.52000000000001</c:v>
                </c:pt>
                <c:pt idx="5">
                  <c:v>82.24</c:v>
                </c:pt>
                <c:pt idx="6">
                  <c:v>101.13</c:v>
                </c:pt>
              </c:numCache>
            </c:numRef>
          </c:val>
          <c:extLst>
            <c:ext xmlns:c16="http://schemas.microsoft.com/office/drawing/2014/chart" uri="{C3380CC4-5D6E-409C-BE32-E72D297353CC}">
              <c16:uniqueId val="{00000002-0706-4358-A099-3A91C29B0E05}"/>
            </c:ext>
          </c:extLst>
        </c:ser>
        <c:ser>
          <c:idx val="3"/>
          <c:order val="3"/>
          <c:tx>
            <c:strRef>
              <c:f>OVT!$H$3</c:f>
              <c:strCache>
                <c:ptCount val="1"/>
                <c:pt idx="0">
                  <c:v>JUL</c:v>
                </c:pt>
              </c:strCache>
            </c:strRef>
          </c:tx>
          <c:spPr>
            <a:solidFill>
              <a:schemeClr val="accent4"/>
            </a:solidFill>
            <a:ln>
              <a:noFill/>
            </a:ln>
            <a:effectLst/>
          </c:spPr>
          <c:invertIfNegative val="0"/>
          <c:cat>
            <c:strRef>
              <c:f>OVT!$C$4:$C$10</c:f>
              <c:strCache>
                <c:ptCount val="7"/>
                <c:pt idx="0">
                  <c:v>CEC</c:v>
                </c:pt>
                <c:pt idx="1">
                  <c:v>ENG</c:v>
                </c:pt>
                <c:pt idx="2">
                  <c:v>Mining</c:v>
                </c:pt>
                <c:pt idx="3">
                  <c:v>Opt</c:v>
                </c:pt>
                <c:pt idx="4">
                  <c:v>Prod</c:v>
                </c:pt>
                <c:pt idx="5">
                  <c:v>Log</c:v>
                </c:pt>
                <c:pt idx="6">
                  <c:v>QA</c:v>
                </c:pt>
              </c:strCache>
            </c:strRef>
          </c:cat>
          <c:val>
            <c:numRef>
              <c:f>OVT!$H$4:$H$10</c:f>
              <c:numCache>
                <c:formatCode>General</c:formatCode>
                <c:ptCount val="7"/>
              </c:numCache>
            </c:numRef>
          </c:val>
          <c:extLst>
            <c:ext xmlns:c16="http://schemas.microsoft.com/office/drawing/2014/chart" uri="{C3380CC4-5D6E-409C-BE32-E72D297353CC}">
              <c16:uniqueId val="{00000003-0706-4358-A099-3A91C29B0E05}"/>
            </c:ext>
          </c:extLst>
        </c:ser>
        <c:ser>
          <c:idx val="4"/>
          <c:order val="4"/>
          <c:tx>
            <c:strRef>
              <c:f>OVT!$I$3</c:f>
              <c:strCache>
                <c:ptCount val="1"/>
                <c:pt idx="0">
                  <c:v>AUG</c:v>
                </c:pt>
              </c:strCache>
            </c:strRef>
          </c:tx>
          <c:spPr>
            <a:solidFill>
              <a:schemeClr val="accent5"/>
            </a:solidFill>
            <a:ln>
              <a:noFill/>
            </a:ln>
            <a:effectLst/>
          </c:spPr>
          <c:invertIfNegative val="0"/>
          <c:cat>
            <c:strRef>
              <c:f>OVT!$C$4:$C$10</c:f>
              <c:strCache>
                <c:ptCount val="7"/>
                <c:pt idx="0">
                  <c:v>CEC</c:v>
                </c:pt>
                <c:pt idx="1">
                  <c:v>ENG</c:v>
                </c:pt>
                <c:pt idx="2">
                  <c:v>Mining</c:v>
                </c:pt>
                <c:pt idx="3">
                  <c:v>Opt</c:v>
                </c:pt>
                <c:pt idx="4">
                  <c:v>Prod</c:v>
                </c:pt>
                <c:pt idx="5">
                  <c:v>Log</c:v>
                </c:pt>
                <c:pt idx="6">
                  <c:v>QA</c:v>
                </c:pt>
              </c:strCache>
            </c:strRef>
          </c:cat>
          <c:val>
            <c:numRef>
              <c:f>OVT!$I$4:$I$10</c:f>
              <c:numCache>
                <c:formatCode>General</c:formatCode>
                <c:ptCount val="7"/>
              </c:numCache>
            </c:numRef>
          </c:val>
          <c:extLst>
            <c:ext xmlns:c16="http://schemas.microsoft.com/office/drawing/2014/chart" uri="{C3380CC4-5D6E-409C-BE32-E72D297353CC}">
              <c16:uniqueId val="{00000004-0706-4358-A099-3A91C29B0E05}"/>
            </c:ext>
          </c:extLst>
        </c:ser>
        <c:ser>
          <c:idx val="5"/>
          <c:order val="5"/>
          <c:tx>
            <c:strRef>
              <c:f>OVT!$J$3</c:f>
              <c:strCache>
                <c:ptCount val="1"/>
                <c:pt idx="0">
                  <c:v>SEP</c:v>
                </c:pt>
              </c:strCache>
            </c:strRef>
          </c:tx>
          <c:spPr>
            <a:solidFill>
              <a:schemeClr val="accent6"/>
            </a:solidFill>
            <a:ln>
              <a:noFill/>
            </a:ln>
            <a:effectLst/>
          </c:spPr>
          <c:invertIfNegative val="0"/>
          <c:cat>
            <c:strRef>
              <c:f>OVT!$C$4:$C$10</c:f>
              <c:strCache>
                <c:ptCount val="7"/>
                <c:pt idx="0">
                  <c:v>CEC</c:v>
                </c:pt>
                <c:pt idx="1">
                  <c:v>ENG</c:v>
                </c:pt>
                <c:pt idx="2">
                  <c:v>Mining</c:v>
                </c:pt>
                <c:pt idx="3">
                  <c:v>Opt</c:v>
                </c:pt>
                <c:pt idx="4">
                  <c:v>Prod</c:v>
                </c:pt>
                <c:pt idx="5">
                  <c:v>Log</c:v>
                </c:pt>
                <c:pt idx="6">
                  <c:v>QA</c:v>
                </c:pt>
              </c:strCache>
            </c:strRef>
          </c:cat>
          <c:val>
            <c:numRef>
              <c:f>OVT!$J$4:$J$10</c:f>
              <c:numCache>
                <c:formatCode>General</c:formatCode>
                <c:ptCount val="7"/>
              </c:numCache>
            </c:numRef>
          </c:val>
          <c:extLst>
            <c:ext xmlns:c16="http://schemas.microsoft.com/office/drawing/2014/chart" uri="{C3380CC4-5D6E-409C-BE32-E72D297353CC}">
              <c16:uniqueId val="{00000005-0706-4358-A099-3A91C29B0E05}"/>
            </c:ext>
          </c:extLst>
        </c:ser>
        <c:ser>
          <c:idx val="6"/>
          <c:order val="6"/>
          <c:tx>
            <c:strRef>
              <c:f>OVT!$K$3</c:f>
              <c:strCache>
                <c:ptCount val="1"/>
                <c:pt idx="0">
                  <c:v>OCT</c:v>
                </c:pt>
              </c:strCache>
            </c:strRef>
          </c:tx>
          <c:spPr>
            <a:solidFill>
              <a:schemeClr val="accent1">
                <a:lumMod val="60000"/>
              </a:schemeClr>
            </a:solidFill>
            <a:ln>
              <a:noFill/>
            </a:ln>
            <a:effectLst/>
          </c:spPr>
          <c:invertIfNegative val="0"/>
          <c:cat>
            <c:strRef>
              <c:f>OVT!$C$4:$C$10</c:f>
              <c:strCache>
                <c:ptCount val="7"/>
                <c:pt idx="0">
                  <c:v>CEC</c:v>
                </c:pt>
                <c:pt idx="1">
                  <c:v>ENG</c:v>
                </c:pt>
                <c:pt idx="2">
                  <c:v>Mining</c:v>
                </c:pt>
                <c:pt idx="3">
                  <c:v>Opt</c:v>
                </c:pt>
                <c:pt idx="4">
                  <c:v>Prod</c:v>
                </c:pt>
                <c:pt idx="5">
                  <c:v>Log</c:v>
                </c:pt>
                <c:pt idx="6">
                  <c:v>QA</c:v>
                </c:pt>
              </c:strCache>
            </c:strRef>
          </c:cat>
          <c:val>
            <c:numRef>
              <c:f>OVT!$K$4:$K$10</c:f>
              <c:numCache>
                <c:formatCode>General</c:formatCode>
                <c:ptCount val="7"/>
              </c:numCache>
            </c:numRef>
          </c:val>
          <c:extLst>
            <c:ext xmlns:c16="http://schemas.microsoft.com/office/drawing/2014/chart" uri="{C3380CC4-5D6E-409C-BE32-E72D297353CC}">
              <c16:uniqueId val="{00000006-0706-4358-A099-3A91C29B0E05}"/>
            </c:ext>
          </c:extLst>
        </c:ser>
        <c:ser>
          <c:idx val="7"/>
          <c:order val="7"/>
          <c:tx>
            <c:strRef>
              <c:f>OVT!$L$3</c:f>
              <c:strCache>
                <c:ptCount val="1"/>
                <c:pt idx="0">
                  <c:v>NOV</c:v>
                </c:pt>
              </c:strCache>
            </c:strRef>
          </c:tx>
          <c:spPr>
            <a:solidFill>
              <a:schemeClr val="accent2">
                <a:lumMod val="60000"/>
              </a:schemeClr>
            </a:solidFill>
            <a:ln>
              <a:noFill/>
            </a:ln>
            <a:effectLst/>
          </c:spPr>
          <c:invertIfNegative val="0"/>
          <c:cat>
            <c:strRef>
              <c:f>OVT!$C$4:$C$10</c:f>
              <c:strCache>
                <c:ptCount val="7"/>
                <c:pt idx="0">
                  <c:v>CEC</c:v>
                </c:pt>
                <c:pt idx="1">
                  <c:v>ENG</c:v>
                </c:pt>
                <c:pt idx="2">
                  <c:v>Mining</c:v>
                </c:pt>
                <c:pt idx="3">
                  <c:v>Opt</c:v>
                </c:pt>
                <c:pt idx="4">
                  <c:v>Prod</c:v>
                </c:pt>
                <c:pt idx="5">
                  <c:v>Log</c:v>
                </c:pt>
                <c:pt idx="6">
                  <c:v>QA</c:v>
                </c:pt>
              </c:strCache>
            </c:strRef>
          </c:cat>
          <c:val>
            <c:numRef>
              <c:f>OVT!$L$4:$L$10</c:f>
              <c:numCache>
                <c:formatCode>General</c:formatCode>
                <c:ptCount val="7"/>
              </c:numCache>
            </c:numRef>
          </c:val>
          <c:extLst>
            <c:ext xmlns:c16="http://schemas.microsoft.com/office/drawing/2014/chart" uri="{C3380CC4-5D6E-409C-BE32-E72D297353CC}">
              <c16:uniqueId val="{00000007-0706-4358-A099-3A91C29B0E05}"/>
            </c:ext>
          </c:extLst>
        </c:ser>
        <c:ser>
          <c:idx val="8"/>
          <c:order val="8"/>
          <c:tx>
            <c:strRef>
              <c:f>OVT!$M$3</c:f>
              <c:strCache>
                <c:ptCount val="1"/>
                <c:pt idx="0">
                  <c:v>DEC</c:v>
                </c:pt>
              </c:strCache>
            </c:strRef>
          </c:tx>
          <c:spPr>
            <a:solidFill>
              <a:schemeClr val="accent3">
                <a:lumMod val="60000"/>
              </a:schemeClr>
            </a:solidFill>
            <a:ln>
              <a:noFill/>
            </a:ln>
            <a:effectLst/>
          </c:spPr>
          <c:invertIfNegative val="0"/>
          <c:cat>
            <c:strRef>
              <c:f>OVT!$C$4:$C$10</c:f>
              <c:strCache>
                <c:ptCount val="7"/>
                <c:pt idx="0">
                  <c:v>CEC</c:v>
                </c:pt>
                <c:pt idx="1">
                  <c:v>ENG</c:v>
                </c:pt>
                <c:pt idx="2">
                  <c:v>Mining</c:v>
                </c:pt>
                <c:pt idx="3">
                  <c:v>Opt</c:v>
                </c:pt>
                <c:pt idx="4">
                  <c:v>Prod</c:v>
                </c:pt>
                <c:pt idx="5">
                  <c:v>Log</c:v>
                </c:pt>
                <c:pt idx="6">
                  <c:v>QA</c:v>
                </c:pt>
              </c:strCache>
            </c:strRef>
          </c:cat>
          <c:val>
            <c:numRef>
              <c:f>OVT!$M$4:$M$10</c:f>
              <c:numCache>
                <c:formatCode>General</c:formatCode>
                <c:ptCount val="7"/>
              </c:numCache>
            </c:numRef>
          </c:val>
          <c:extLst>
            <c:ext xmlns:c16="http://schemas.microsoft.com/office/drawing/2014/chart" uri="{C3380CC4-5D6E-409C-BE32-E72D297353CC}">
              <c16:uniqueId val="{00000008-0706-4358-A099-3A91C29B0E05}"/>
            </c:ext>
          </c:extLst>
        </c:ser>
        <c:ser>
          <c:idx val="9"/>
          <c:order val="9"/>
          <c:tx>
            <c:strRef>
              <c:f>OVT!$N$3</c:f>
              <c:strCache>
                <c:ptCount val="1"/>
                <c:pt idx="0">
                  <c:v>JAN</c:v>
                </c:pt>
              </c:strCache>
            </c:strRef>
          </c:tx>
          <c:spPr>
            <a:solidFill>
              <a:schemeClr val="accent4">
                <a:lumMod val="60000"/>
              </a:schemeClr>
            </a:solidFill>
            <a:ln>
              <a:noFill/>
            </a:ln>
            <a:effectLst/>
          </c:spPr>
          <c:invertIfNegative val="0"/>
          <c:cat>
            <c:strRef>
              <c:f>OVT!$C$4:$C$10</c:f>
              <c:strCache>
                <c:ptCount val="7"/>
                <c:pt idx="0">
                  <c:v>CEC</c:v>
                </c:pt>
                <c:pt idx="1">
                  <c:v>ENG</c:v>
                </c:pt>
                <c:pt idx="2">
                  <c:v>Mining</c:v>
                </c:pt>
                <c:pt idx="3">
                  <c:v>Opt</c:v>
                </c:pt>
                <c:pt idx="4">
                  <c:v>Prod</c:v>
                </c:pt>
                <c:pt idx="5">
                  <c:v>Log</c:v>
                </c:pt>
                <c:pt idx="6">
                  <c:v>QA</c:v>
                </c:pt>
              </c:strCache>
            </c:strRef>
          </c:cat>
          <c:val>
            <c:numRef>
              <c:f>OVT!$N$4:$N$10</c:f>
              <c:numCache>
                <c:formatCode>General</c:formatCode>
                <c:ptCount val="7"/>
              </c:numCache>
            </c:numRef>
          </c:val>
          <c:extLst>
            <c:ext xmlns:c16="http://schemas.microsoft.com/office/drawing/2014/chart" uri="{C3380CC4-5D6E-409C-BE32-E72D297353CC}">
              <c16:uniqueId val="{00000009-0706-4358-A099-3A91C29B0E05}"/>
            </c:ext>
          </c:extLst>
        </c:ser>
        <c:ser>
          <c:idx val="10"/>
          <c:order val="10"/>
          <c:tx>
            <c:strRef>
              <c:f>OVT!$O$3</c:f>
              <c:strCache>
                <c:ptCount val="1"/>
                <c:pt idx="0">
                  <c:v>FEB</c:v>
                </c:pt>
              </c:strCache>
            </c:strRef>
          </c:tx>
          <c:spPr>
            <a:solidFill>
              <a:schemeClr val="accent5">
                <a:lumMod val="60000"/>
              </a:schemeClr>
            </a:solidFill>
            <a:ln>
              <a:noFill/>
            </a:ln>
            <a:effectLst/>
          </c:spPr>
          <c:invertIfNegative val="0"/>
          <c:cat>
            <c:strRef>
              <c:f>OVT!$C$4:$C$10</c:f>
              <c:strCache>
                <c:ptCount val="7"/>
                <c:pt idx="0">
                  <c:v>CEC</c:v>
                </c:pt>
                <c:pt idx="1">
                  <c:v>ENG</c:v>
                </c:pt>
                <c:pt idx="2">
                  <c:v>Mining</c:v>
                </c:pt>
                <c:pt idx="3">
                  <c:v>Opt</c:v>
                </c:pt>
                <c:pt idx="4">
                  <c:v>Prod</c:v>
                </c:pt>
                <c:pt idx="5">
                  <c:v>Log</c:v>
                </c:pt>
                <c:pt idx="6">
                  <c:v>QA</c:v>
                </c:pt>
              </c:strCache>
            </c:strRef>
          </c:cat>
          <c:val>
            <c:numRef>
              <c:f>OVT!$O$4:$O$10</c:f>
              <c:numCache>
                <c:formatCode>General</c:formatCode>
                <c:ptCount val="7"/>
              </c:numCache>
            </c:numRef>
          </c:val>
          <c:extLst>
            <c:ext xmlns:c16="http://schemas.microsoft.com/office/drawing/2014/chart" uri="{C3380CC4-5D6E-409C-BE32-E72D297353CC}">
              <c16:uniqueId val="{0000000A-0706-4358-A099-3A91C29B0E05}"/>
            </c:ext>
          </c:extLst>
        </c:ser>
        <c:ser>
          <c:idx val="11"/>
          <c:order val="11"/>
          <c:tx>
            <c:strRef>
              <c:f>OVT!$P$3</c:f>
              <c:strCache>
                <c:ptCount val="1"/>
                <c:pt idx="0">
                  <c:v>MAR</c:v>
                </c:pt>
              </c:strCache>
            </c:strRef>
          </c:tx>
          <c:spPr>
            <a:solidFill>
              <a:schemeClr val="accent6">
                <a:lumMod val="60000"/>
              </a:schemeClr>
            </a:solidFill>
            <a:ln>
              <a:noFill/>
            </a:ln>
            <a:effectLst/>
          </c:spPr>
          <c:invertIfNegative val="0"/>
          <c:cat>
            <c:strRef>
              <c:f>OVT!$C$4:$C$10</c:f>
              <c:strCache>
                <c:ptCount val="7"/>
                <c:pt idx="0">
                  <c:v>CEC</c:v>
                </c:pt>
                <c:pt idx="1">
                  <c:v>ENG</c:v>
                </c:pt>
                <c:pt idx="2">
                  <c:v>Mining</c:v>
                </c:pt>
                <c:pt idx="3">
                  <c:v>Opt</c:v>
                </c:pt>
                <c:pt idx="4">
                  <c:v>Prod</c:v>
                </c:pt>
                <c:pt idx="5">
                  <c:v>Log</c:v>
                </c:pt>
                <c:pt idx="6">
                  <c:v>QA</c:v>
                </c:pt>
              </c:strCache>
            </c:strRef>
          </c:cat>
          <c:val>
            <c:numRef>
              <c:f>OVT!$P$4:$P$10</c:f>
              <c:numCache>
                <c:formatCode>General</c:formatCode>
                <c:ptCount val="7"/>
              </c:numCache>
            </c:numRef>
          </c:val>
          <c:extLst>
            <c:ext xmlns:c16="http://schemas.microsoft.com/office/drawing/2014/chart" uri="{C3380CC4-5D6E-409C-BE32-E72D297353CC}">
              <c16:uniqueId val="{0000000B-0706-4358-A099-3A91C29B0E05}"/>
            </c:ext>
          </c:extLst>
        </c:ser>
        <c:dLbls>
          <c:showLegendKey val="0"/>
          <c:showVal val="0"/>
          <c:showCatName val="0"/>
          <c:showSerName val="0"/>
          <c:showPercent val="0"/>
          <c:showBubbleSize val="0"/>
        </c:dLbls>
        <c:gapWidth val="150"/>
        <c:overlap val="100"/>
        <c:axId val="108412992"/>
        <c:axId val="108413472"/>
      </c:barChart>
      <c:lineChart>
        <c:grouping val="stacked"/>
        <c:varyColors val="0"/>
        <c:ser>
          <c:idx val="12"/>
          <c:order val="12"/>
          <c:tx>
            <c:strRef>
              <c:f>OVT!$Q$3</c:f>
              <c:strCache>
                <c:ptCount val="1"/>
                <c:pt idx="0">
                  <c:v>%</c:v>
                </c:pt>
              </c:strCache>
            </c:strRef>
          </c:tx>
          <c:spPr>
            <a:ln w="28575" cap="rnd">
              <a:solidFill>
                <a:srgbClr val="FFC000"/>
              </a:solidFill>
              <a:round/>
            </a:ln>
            <a:effectLst/>
          </c:spPr>
          <c:marker>
            <c:symbol val="none"/>
          </c:marker>
          <c:dLbls>
            <c:dLbl>
              <c:idx val="0"/>
              <c:layout>
                <c:manualLayout>
                  <c:x val="-2.2989213171552024E-2"/>
                  <c:y val="-6.28371466492833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0706-4358-A099-3A91C29B0E05}"/>
                </c:ext>
              </c:extLst>
            </c:dLbl>
            <c:dLbl>
              <c:idx val="1"/>
              <c:layout>
                <c:manualLayout>
                  <c:x val="-1.8610315424589734E-2"/>
                  <c:y val="-3.92732166558021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0706-4358-A099-3A91C29B0E05}"/>
                </c:ext>
              </c:extLst>
            </c:dLbl>
            <c:dLbl>
              <c:idx val="2"/>
              <c:layout>
                <c:manualLayout>
                  <c:x val="-6.5683466204435161E-3"/>
                  <c:y val="-4.71278599869625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0706-4358-A099-3A91C29B0E05}"/>
                </c:ext>
              </c:extLst>
            </c:dLbl>
            <c:dLbl>
              <c:idx val="3"/>
              <c:layout>
                <c:manualLayout>
                  <c:x val="-1.6420866551108589E-2"/>
                  <c:y val="-6.28371466492833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0706-4358-A099-3A91C29B0E05}"/>
                </c:ext>
              </c:extLst>
            </c:dLbl>
            <c:dLbl>
              <c:idx val="4"/>
              <c:layout>
                <c:manualLayout>
                  <c:x val="-2.2989213171552107E-2"/>
                  <c:y val="-4.32005383213823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0706-4358-A099-3A91C29B0E05}"/>
                </c:ext>
              </c:extLst>
            </c:dLbl>
            <c:dLbl>
              <c:idx val="5"/>
              <c:layout>
                <c:manualLayout>
                  <c:x val="-1.3136693240887032E-2"/>
                  <c:y val="-3.92732166558022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0706-4358-A099-3A91C29B0E05}"/>
                </c:ext>
              </c:extLst>
            </c:dLbl>
            <c:spPr>
              <a:solidFill>
                <a:schemeClr val="accent6">
                  <a:lumMod val="20000"/>
                  <a:lumOff val="8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OVT!$C$4:$C$10</c:f>
              <c:strCache>
                <c:ptCount val="7"/>
                <c:pt idx="0">
                  <c:v>CEC</c:v>
                </c:pt>
                <c:pt idx="1">
                  <c:v>ENG</c:v>
                </c:pt>
                <c:pt idx="2">
                  <c:v>Mining</c:v>
                </c:pt>
                <c:pt idx="3">
                  <c:v>Opt</c:v>
                </c:pt>
                <c:pt idx="4">
                  <c:v>Prod</c:v>
                </c:pt>
                <c:pt idx="5">
                  <c:v>Log</c:v>
                </c:pt>
                <c:pt idx="6">
                  <c:v>QA</c:v>
                </c:pt>
              </c:strCache>
            </c:strRef>
          </c:cat>
          <c:val>
            <c:numRef>
              <c:f>OVT!$Q$4:$Q$10</c:f>
              <c:numCache>
                <c:formatCode>0%</c:formatCode>
                <c:ptCount val="7"/>
                <c:pt idx="0">
                  <c:v>5.6563885373286295E-3</c:v>
                </c:pt>
                <c:pt idx="1">
                  <c:v>0.59365565320681879</c:v>
                </c:pt>
                <c:pt idx="2">
                  <c:v>6.2326331195689838E-2</c:v>
                </c:pt>
                <c:pt idx="3">
                  <c:v>2.2272029865731476E-3</c:v>
                </c:pt>
                <c:pt idx="4">
                  <c:v>0.16191058663819619</c:v>
                </c:pt>
                <c:pt idx="5">
                  <c:v>9.5147525683539208E-2</c:v>
                </c:pt>
                <c:pt idx="6">
                  <c:v>7.9076311751854242E-2</c:v>
                </c:pt>
              </c:numCache>
            </c:numRef>
          </c:val>
          <c:smooth val="0"/>
          <c:extLst>
            <c:ext xmlns:c16="http://schemas.microsoft.com/office/drawing/2014/chart" uri="{C3380CC4-5D6E-409C-BE32-E72D297353CC}">
              <c16:uniqueId val="{0000000C-0706-4358-A099-3A91C29B0E05}"/>
            </c:ext>
          </c:extLst>
        </c:ser>
        <c:dLbls>
          <c:showLegendKey val="0"/>
          <c:showVal val="0"/>
          <c:showCatName val="0"/>
          <c:showSerName val="0"/>
          <c:showPercent val="0"/>
          <c:showBubbleSize val="0"/>
        </c:dLbls>
        <c:marker val="1"/>
        <c:smooth val="0"/>
        <c:axId val="1055508688"/>
        <c:axId val="1055510128"/>
      </c:lineChart>
      <c:catAx>
        <c:axId val="108412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08413472"/>
        <c:crosses val="autoZero"/>
        <c:auto val="1"/>
        <c:lblAlgn val="ctr"/>
        <c:lblOffset val="100"/>
        <c:noMultiLvlLbl val="0"/>
      </c:catAx>
      <c:valAx>
        <c:axId val="108413472"/>
        <c:scaling>
          <c:orientation val="minMax"/>
        </c:scaling>
        <c:delete val="0"/>
        <c:axPos val="l"/>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08412992"/>
        <c:crosses val="autoZero"/>
        <c:crossBetween val="between"/>
      </c:valAx>
      <c:valAx>
        <c:axId val="1055510128"/>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055508688"/>
        <c:crosses val="max"/>
        <c:crossBetween val="between"/>
      </c:valAx>
      <c:catAx>
        <c:axId val="1055508688"/>
        <c:scaling>
          <c:orientation val="minMax"/>
        </c:scaling>
        <c:delete val="1"/>
        <c:axPos val="b"/>
        <c:numFmt formatCode="General" sourceLinked="1"/>
        <c:majorTickMark val="out"/>
        <c:minorTickMark val="none"/>
        <c:tickLblPos val="nextTo"/>
        <c:crossAx val="1055510128"/>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a:outerShdw blurRad="57150" dist="19050" dir="5400000" algn="ctr" rotWithShape="0">
        <a:srgbClr val="000000">
          <a:alpha val="63000"/>
        </a:srgbClr>
      </a:outerShdw>
    </a:effectLst>
  </c:spPr>
  <c:txPr>
    <a:bodyPr/>
    <a:lstStyle/>
    <a:p>
      <a:pPr>
        <a:defRPr>
          <a:solidFill>
            <a:schemeClr val="lt1"/>
          </a:solidFill>
          <a:latin typeface="+mn-lt"/>
          <a:ea typeface="+mn-ea"/>
          <a:cs typeface="+mn-cs"/>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lt1"/>
                </a:solidFill>
                <a:latin typeface="+mn-lt"/>
                <a:ea typeface="+mn-ea"/>
                <a:cs typeface="+mn-cs"/>
              </a:defRPr>
            </a:pPr>
            <a:r>
              <a:rPr lang="en-US" sz="1400" b="0" i="0" u="none" strike="noStrike" kern="1200" spc="0" baseline="0" dirty="0">
                <a:solidFill>
                  <a:schemeClr val="lt1"/>
                </a:solidFill>
                <a:latin typeface="+mn-lt"/>
                <a:ea typeface="+mn-ea"/>
                <a:cs typeface="+mn-cs"/>
              </a:rPr>
              <a:t>COST VS Budget (USD)</a:t>
            </a:r>
            <a:endParaRPr lang="en-US" sz="1400" b="0" i="0" u="none" strike="noStrike" kern="1200" spc="0" baseline="0" dirty="0">
              <a:solidFill>
                <a:sysClr val="window" lastClr="FFFFFF"/>
              </a:solidFill>
            </a:endParaRPr>
          </a:p>
        </c:rich>
      </c:tx>
      <c:overlay val="0"/>
      <c:spPr>
        <a:solidFill>
          <a:schemeClr val="accent1">
            <a:lumMod val="50000"/>
          </a:schemeClr>
        </a:solidFill>
        <a:ln>
          <a:noFill/>
        </a:ln>
        <a:effectLst>
          <a:outerShdw blurRad="57150" dist="19050" dir="5400000" algn="ctr" rotWithShape="0">
            <a:srgbClr val="000000">
              <a:alpha val="63000"/>
            </a:srgbClr>
          </a:outerShdw>
        </a:effectLst>
      </c:spPr>
      <c:txPr>
        <a:bodyPr rot="0" spcFirstLastPara="1" vertOverflow="ellipsis" vert="horz" wrap="square" anchor="ctr" anchorCtr="1"/>
        <a:lstStyle/>
        <a:p>
          <a:pPr>
            <a:defRPr sz="1400" b="0" i="0" u="none" strike="noStrike" kern="1200" spc="0" baseline="0">
              <a:solidFill>
                <a:schemeClr val="lt1"/>
              </a:solidFill>
              <a:latin typeface="+mn-lt"/>
              <a:ea typeface="+mn-ea"/>
              <a:cs typeface="+mn-cs"/>
            </a:defRPr>
          </a:pPr>
          <a:endParaRPr lang="en-US"/>
        </a:p>
      </c:txPr>
    </c:title>
    <c:autoTitleDeleted val="0"/>
    <c:plotArea>
      <c:layout/>
      <c:barChart>
        <c:barDir val="col"/>
        <c:grouping val="clustered"/>
        <c:varyColors val="0"/>
        <c:ser>
          <c:idx val="0"/>
          <c:order val="0"/>
          <c:tx>
            <c:strRef>
              <c:f>OVT!$C$28</c:f>
              <c:strCache>
                <c:ptCount val="1"/>
                <c:pt idx="0">
                  <c:v>Actual</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OVT!$D$27:$O$27</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OVT!$D$28:$O$28</c:f>
              <c:numCache>
                <c:formatCode>_(* #,##0.00_);_(* \(#,##0.00\);_(* "-"??_);_(@_)</c:formatCode>
                <c:ptCount val="12"/>
                <c:pt idx="0">
                  <c:v>6124.375998276977</c:v>
                </c:pt>
                <c:pt idx="1">
                  <c:v>9971.5977540805197</c:v>
                </c:pt>
                <c:pt idx="2">
                  <c:v>11955.236730644814</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2EDF-4DAE-B5F5-EF27F490D3CA}"/>
            </c:ext>
          </c:extLst>
        </c:ser>
        <c:dLbls>
          <c:showLegendKey val="0"/>
          <c:showVal val="1"/>
          <c:showCatName val="0"/>
          <c:showSerName val="0"/>
          <c:showPercent val="0"/>
          <c:showBubbleSize val="0"/>
        </c:dLbls>
        <c:gapWidth val="219"/>
        <c:overlap val="-27"/>
        <c:axId val="1932522176"/>
        <c:axId val="1932523616"/>
      </c:barChart>
      <c:lineChart>
        <c:grouping val="stacked"/>
        <c:varyColors val="0"/>
        <c:ser>
          <c:idx val="1"/>
          <c:order val="1"/>
          <c:tx>
            <c:strRef>
              <c:f>OVT!$C$29</c:f>
              <c:strCache>
                <c:ptCount val="1"/>
                <c:pt idx="0">
                  <c:v>Budget</c:v>
                </c:pt>
              </c:strCache>
            </c:strRef>
          </c:tx>
          <c:spPr>
            <a:ln w="38100" cap="rnd">
              <a:solidFill>
                <a:srgbClr val="FFC000"/>
              </a:solid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2-2EDF-4DAE-B5F5-EF27F490D3CA}"/>
                </c:ext>
              </c:extLst>
            </c:dLbl>
            <c:dLbl>
              <c:idx val="1"/>
              <c:delete val="1"/>
              <c:extLst>
                <c:ext xmlns:c15="http://schemas.microsoft.com/office/drawing/2012/chart" uri="{CE6537A1-D6FC-4f65-9D91-7224C49458BB}"/>
                <c:ext xmlns:c16="http://schemas.microsoft.com/office/drawing/2014/chart" uri="{C3380CC4-5D6E-409C-BE32-E72D297353CC}">
                  <c16:uniqueId val="{00000003-2EDF-4DAE-B5F5-EF27F490D3CA}"/>
                </c:ext>
              </c:extLst>
            </c:dLbl>
            <c:dLbl>
              <c:idx val="2"/>
              <c:delete val="1"/>
              <c:extLst>
                <c:ext xmlns:c15="http://schemas.microsoft.com/office/drawing/2012/chart" uri="{CE6537A1-D6FC-4f65-9D91-7224C49458BB}"/>
                <c:ext xmlns:c16="http://schemas.microsoft.com/office/drawing/2014/chart" uri="{C3380CC4-5D6E-409C-BE32-E72D297353CC}">
                  <c16:uniqueId val="{00000004-2EDF-4DAE-B5F5-EF27F490D3CA}"/>
                </c:ext>
              </c:extLst>
            </c:dLbl>
            <c:dLbl>
              <c:idx val="3"/>
              <c:delete val="1"/>
              <c:extLst>
                <c:ext xmlns:c15="http://schemas.microsoft.com/office/drawing/2012/chart" uri="{CE6537A1-D6FC-4f65-9D91-7224C49458BB}"/>
                <c:ext xmlns:c16="http://schemas.microsoft.com/office/drawing/2014/chart" uri="{C3380CC4-5D6E-409C-BE32-E72D297353CC}">
                  <c16:uniqueId val="{00000005-2EDF-4DAE-B5F5-EF27F490D3CA}"/>
                </c:ext>
              </c:extLst>
            </c:dLbl>
            <c:dLbl>
              <c:idx val="4"/>
              <c:delete val="1"/>
              <c:extLst>
                <c:ext xmlns:c15="http://schemas.microsoft.com/office/drawing/2012/chart" uri="{CE6537A1-D6FC-4f65-9D91-7224C49458BB}"/>
                <c:ext xmlns:c16="http://schemas.microsoft.com/office/drawing/2014/chart" uri="{C3380CC4-5D6E-409C-BE32-E72D297353CC}">
                  <c16:uniqueId val="{00000006-2EDF-4DAE-B5F5-EF27F490D3CA}"/>
                </c:ext>
              </c:extLst>
            </c:dLbl>
            <c:dLbl>
              <c:idx val="5"/>
              <c:delete val="1"/>
              <c:extLst>
                <c:ext xmlns:c15="http://schemas.microsoft.com/office/drawing/2012/chart" uri="{CE6537A1-D6FC-4f65-9D91-7224C49458BB}"/>
                <c:ext xmlns:c16="http://schemas.microsoft.com/office/drawing/2014/chart" uri="{C3380CC4-5D6E-409C-BE32-E72D297353CC}">
                  <c16:uniqueId val="{00000007-2EDF-4DAE-B5F5-EF27F490D3CA}"/>
                </c:ext>
              </c:extLst>
            </c:dLbl>
            <c:dLbl>
              <c:idx val="6"/>
              <c:delete val="1"/>
              <c:extLst>
                <c:ext xmlns:c15="http://schemas.microsoft.com/office/drawing/2012/chart" uri="{CE6537A1-D6FC-4f65-9D91-7224C49458BB}"/>
                <c:ext xmlns:c16="http://schemas.microsoft.com/office/drawing/2014/chart" uri="{C3380CC4-5D6E-409C-BE32-E72D297353CC}">
                  <c16:uniqueId val="{00000008-2EDF-4DAE-B5F5-EF27F490D3CA}"/>
                </c:ext>
              </c:extLst>
            </c:dLbl>
            <c:dLbl>
              <c:idx val="7"/>
              <c:delete val="1"/>
              <c:extLst>
                <c:ext xmlns:c15="http://schemas.microsoft.com/office/drawing/2012/chart" uri="{CE6537A1-D6FC-4f65-9D91-7224C49458BB}"/>
                <c:ext xmlns:c16="http://schemas.microsoft.com/office/drawing/2014/chart" uri="{C3380CC4-5D6E-409C-BE32-E72D297353CC}">
                  <c16:uniqueId val="{00000009-2EDF-4DAE-B5F5-EF27F490D3CA}"/>
                </c:ext>
              </c:extLst>
            </c:dLbl>
            <c:dLbl>
              <c:idx val="8"/>
              <c:delete val="1"/>
              <c:extLst>
                <c:ext xmlns:c15="http://schemas.microsoft.com/office/drawing/2012/chart" uri="{CE6537A1-D6FC-4f65-9D91-7224C49458BB}"/>
                <c:ext xmlns:c16="http://schemas.microsoft.com/office/drawing/2014/chart" uri="{C3380CC4-5D6E-409C-BE32-E72D297353CC}">
                  <c16:uniqueId val="{0000000A-2EDF-4DAE-B5F5-EF27F490D3CA}"/>
                </c:ext>
              </c:extLst>
            </c:dLbl>
            <c:dLbl>
              <c:idx val="9"/>
              <c:delete val="1"/>
              <c:extLst>
                <c:ext xmlns:c15="http://schemas.microsoft.com/office/drawing/2012/chart" uri="{CE6537A1-D6FC-4f65-9D91-7224C49458BB}"/>
                <c:ext xmlns:c16="http://schemas.microsoft.com/office/drawing/2014/chart" uri="{C3380CC4-5D6E-409C-BE32-E72D297353CC}">
                  <c16:uniqueId val="{0000000B-2EDF-4DAE-B5F5-EF27F490D3CA}"/>
                </c:ext>
              </c:extLst>
            </c:dLbl>
            <c:dLbl>
              <c:idx val="10"/>
              <c:delete val="1"/>
              <c:extLst>
                <c:ext xmlns:c15="http://schemas.microsoft.com/office/drawing/2012/chart" uri="{CE6537A1-D6FC-4f65-9D91-7224C49458BB}"/>
                <c:ext xmlns:c16="http://schemas.microsoft.com/office/drawing/2014/chart" uri="{C3380CC4-5D6E-409C-BE32-E72D297353CC}">
                  <c16:uniqueId val="{0000000C-2EDF-4DAE-B5F5-EF27F490D3CA}"/>
                </c:ext>
              </c:extLst>
            </c:dLbl>
            <c:dLbl>
              <c:idx val="11"/>
              <c:layout>
                <c:manualLayout>
                  <c:x val="-1.7616800921269931E-16"/>
                  <c:y val="3.8323047101960155E-2"/>
                </c:manualLayout>
              </c:layout>
              <c:spPr>
                <a:solidFill>
                  <a:srgbClr val="FFC000"/>
                </a:solidFill>
                <a:ln>
                  <a:noFill/>
                </a:ln>
                <a:effectLst/>
              </c:spPr>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2EDF-4DAE-B5F5-EF27F490D3CA}"/>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OVT!$D$27:$O$27</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OVT!$D$29:$O$29</c:f>
              <c:numCache>
                <c:formatCode>_(* #,##0.00_);_(* \(#,##0.00\);_(* "-"??_);_(@_)</c:formatCode>
                <c:ptCount val="12"/>
                <c:pt idx="0">
                  <c:v>19182.830000000002</c:v>
                </c:pt>
                <c:pt idx="1">
                  <c:v>19182.830000000002</c:v>
                </c:pt>
                <c:pt idx="2">
                  <c:v>19182.830000000002</c:v>
                </c:pt>
                <c:pt idx="3">
                  <c:v>19182.830000000002</c:v>
                </c:pt>
                <c:pt idx="4">
                  <c:v>19182.830000000002</c:v>
                </c:pt>
                <c:pt idx="5">
                  <c:v>19182.830000000002</c:v>
                </c:pt>
                <c:pt idx="6" formatCode="#,##0.00">
                  <c:v>19182.830000000002</c:v>
                </c:pt>
                <c:pt idx="7" formatCode="#,##0.00">
                  <c:v>19182.830000000002</c:v>
                </c:pt>
                <c:pt idx="8" formatCode="#,##0.00">
                  <c:v>19182.830000000002</c:v>
                </c:pt>
                <c:pt idx="9" formatCode="#,##0.00">
                  <c:v>19182.830000000002</c:v>
                </c:pt>
                <c:pt idx="10" formatCode="#,##0.00">
                  <c:v>19182.830000000002</c:v>
                </c:pt>
                <c:pt idx="11" formatCode="#,##0.00">
                  <c:v>19182.830000000002</c:v>
                </c:pt>
              </c:numCache>
            </c:numRef>
          </c:val>
          <c:smooth val="0"/>
          <c:extLst>
            <c:ext xmlns:c16="http://schemas.microsoft.com/office/drawing/2014/chart" uri="{C3380CC4-5D6E-409C-BE32-E72D297353CC}">
              <c16:uniqueId val="{00000001-2EDF-4DAE-B5F5-EF27F490D3CA}"/>
            </c:ext>
          </c:extLst>
        </c:ser>
        <c:dLbls>
          <c:showLegendKey val="0"/>
          <c:showVal val="1"/>
          <c:showCatName val="0"/>
          <c:showSerName val="0"/>
          <c:showPercent val="0"/>
          <c:showBubbleSize val="0"/>
        </c:dLbls>
        <c:marker val="1"/>
        <c:smooth val="0"/>
        <c:axId val="1932522176"/>
        <c:axId val="1932523616"/>
      </c:lineChart>
      <c:catAx>
        <c:axId val="1932522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32523616"/>
        <c:crosses val="autoZero"/>
        <c:auto val="1"/>
        <c:lblAlgn val="ctr"/>
        <c:lblOffset val="100"/>
        <c:noMultiLvlLbl val="0"/>
      </c:catAx>
      <c:valAx>
        <c:axId val="1932523616"/>
        <c:scaling>
          <c:orientation val="minMax"/>
        </c:scaling>
        <c:delete val="0"/>
        <c:axPos val="l"/>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325221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a:outerShdw blurRad="57150" dist="19050" dir="5400000" algn="ctr" rotWithShape="0">
        <a:srgbClr val="000000">
          <a:alpha val="63000"/>
        </a:srgbClr>
      </a:outerShdw>
    </a:effectLst>
  </c:spPr>
  <c:txPr>
    <a:bodyPr/>
    <a:lstStyle/>
    <a:p>
      <a:pPr>
        <a:defRPr>
          <a:solidFill>
            <a:schemeClr val="lt1"/>
          </a:solidFill>
          <a:latin typeface="+mn-lt"/>
          <a:ea typeface="+mn-ea"/>
          <a:cs typeface="+mn-cs"/>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lt1"/>
                </a:solidFill>
                <a:latin typeface="+mn-lt"/>
                <a:ea typeface="+mn-ea"/>
                <a:cs typeface="+mn-cs"/>
              </a:defRPr>
            </a:pPr>
            <a:r>
              <a:rPr lang="en-US" sz="1400" b="0" i="0" u="none" strike="noStrike" kern="1200" spc="0" baseline="0" dirty="0">
                <a:solidFill>
                  <a:schemeClr val="lt1"/>
                </a:solidFill>
                <a:latin typeface="+mn-lt"/>
                <a:ea typeface="+mn-ea"/>
                <a:cs typeface="+mn-cs"/>
              </a:rPr>
              <a:t>Overtime - COST per Department YTD - %</a:t>
            </a:r>
            <a:endParaRPr lang="en-US" sz="1400" b="0" i="0" u="none" strike="noStrike" kern="1200" spc="0" baseline="0" dirty="0">
              <a:solidFill>
                <a:sysClr val="window" lastClr="FFFFFF"/>
              </a:solidFill>
            </a:endParaRPr>
          </a:p>
        </c:rich>
      </c:tx>
      <c:overlay val="0"/>
      <c:spPr>
        <a:solidFill>
          <a:schemeClr val="accent3">
            <a:lumMod val="50000"/>
          </a:schemeClr>
        </a:solidFill>
        <a:ln>
          <a:noFill/>
        </a:ln>
        <a:effectLst>
          <a:outerShdw blurRad="57150" dist="19050" dir="5400000" algn="ctr" rotWithShape="0">
            <a:srgbClr val="000000">
              <a:alpha val="63000"/>
            </a:srgbClr>
          </a:outerShdw>
        </a:effectLst>
      </c:spPr>
      <c:txPr>
        <a:bodyPr rot="0" spcFirstLastPara="1" vertOverflow="ellipsis" vert="horz" wrap="square" anchor="ctr" anchorCtr="1"/>
        <a:lstStyle/>
        <a:p>
          <a:pPr>
            <a:defRPr sz="1400" b="0" i="0" u="none" strike="noStrike" kern="1200" spc="0" baseline="0">
              <a:solidFill>
                <a:schemeClr val="lt1"/>
              </a:solidFill>
              <a:latin typeface="+mn-lt"/>
              <a:ea typeface="+mn-ea"/>
              <a:cs typeface="+mn-cs"/>
            </a:defRPr>
          </a:pPr>
          <a:endParaRPr lang="en-US"/>
        </a:p>
      </c:txPr>
    </c:title>
    <c:autoTitleDeleted val="0"/>
    <c:plotArea>
      <c:layout/>
      <c:barChart>
        <c:barDir val="col"/>
        <c:grouping val="stacked"/>
        <c:varyColors val="0"/>
        <c:ser>
          <c:idx val="0"/>
          <c:order val="0"/>
          <c:tx>
            <c:strRef>
              <c:f>OVT!$E$16</c:f>
              <c:strCache>
                <c:ptCount val="1"/>
                <c:pt idx="0">
                  <c:v>APR</c:v>
                </c:pt>
              </c:strCache>
            </c:strRef>
          </c:tx>
          <c:spPr>
            <a:solidFill>
              <a:schemeClr val="accent3">
                <a:lumMod val="75000"/>
              </a:schemeClr>
            </a:solidFill>
            <a:ln>
              <a:noFill/>
            </a:ln>
            <a:effectLst/>
          </c:spPr>
          <c:invertIfNegative val="0"/>
          <c:cat>
            <c:strRef>
              <c:f>OVT!$C$17:$C$23</c:f>
              <c:strCache>
                <c:ptCount val="7"/>
                <c:pt idx="0">
                  <c:v>CEC</c:v>
                </c:pt>
                <c:pt idx="1">
                  <c:v>ENG</c:v>
                </c:pt>
                <c:pt idx="2">
                  <c:v>Mining</c:v>
                </c:pt>
                <c:pt idx="3">
                  <c:v>Opt</c:v>
                </c:pt>
                <c:pt idx="4">
                  <c:v>Prod</c:v>
                </c:pt>
                <c:pt idx="5">
                  <c:v>Log</c:v>
                </c:pt>
                <c:pt idx="6">
                  <c:v>QA</c:v>
                </c:pt>
              </c:strCache>
            </c:strRef>
          </c:cat>
          <c:val>
            <c:numRef>
              <c:f>OVT!$E$17:$E$23</c:f>
              <c:numCache>
                <c:formatCode>_(* #,##0.00_);_(* \(#,##0.00\);_(* "-"??_);_(@_)</c:formatCode>
                <c:ptCount val="7"/>
                <c:pt idx="0">
                  <c:v>0</c:v>
                </c:pt>
                <c:pt idx="1">
                  <c:v>3807.7021408572041</c:v>
                </c:pt>
                <c:pt idx="2">
                  <c:v>513.25301744561705</c:v>
                </c:pt>
                <c:pt idx="3">
                  <c:v>0</c:v>
                </c:pt>
                <c:pt idx="4">
                  <c:v>620.02703855265997</c:v>
                </c:pt>
                <c:pt idx="5">
                  <c:v>637.95511953478353</c:v>
                </c:pt>
                <c:pt idx="6">
                  <c:v>545.43868188671115</c:v>
                </c:pt>
              </c:numCache>
            </c:numRef>
          </c:val>
          <c:extLst>
            <c:ext xmlns:c16="http://schemas.microsoft.com/office/drawing/2014/chart" uri="{C3380CC4-5D6E-409C-BE32-E72D297353CC}">
              <c16:uniqueId val="{00000000-1A1D-4CC8-8187-5C2BE99EA6EA}"/>
            </c:ext>
          </c:extLst>
        </c:ser>
        <c:ser>
          <c:idx val="1"/>
          <c:order val="1"/>
          <c:tx>
            <c:strRef>
              <c:f>OVT!$F$16</c:f>
              <c:strCache>
                <c:ptCount val="1"/>
                <c:pt idx="0">
                  <c:v>MAY</c:v>
                </c:pt>
              </c:strCache>
            </c:strRef>
          </c:tx>
          <c:spPr>
            <a:solidFill>
              <a:schemeClr val="accent2"/>
            </a:solidFill>
            <a:ln>
              <a:noFill/>
            </a:ln>
            <a:effectLst/>
          </c:spPr>
          <c:invertIfNegative val="0"/>
          <c:cat>
            <c:strRef>
              <c:f>OVT!$C$17:$C$23</c:f>
              <c:strCache>
                <c:ptCount val="7"/>
                <c:pt idx="0">
                  <c:v>CEC</c:v>
                </c:pt>
                <c:pt idx="1">
                  <c:v>ENG</c:v>
                </c:pt>
                <c:pt idx="2">
                  <c:v>Mining</c:v>
                </c:pt>
                <c:pt idx="3">
                  <c:v>Opt</c:v>
                </c:pt>
                <c:pt idx="4">
                  <c:v>Prod</c:v>
                </c:pt>
                <c:pt idx="5">
                  <c:v>Log</c:v>
                </c:pt>
                <c:pt idx="6">
                  <c:v>QA</c:v>
                </c:pt>
              </c:strCache>
            </c:strRef>
          </c:cat>
          <c:val>
            <c:numRef>
              <c:f>OVT!$F$17:$F$23</c:f>
              <c:numCache>
                <c:formatCode>_(* #,##0.00_);_(* \(#,##0.00\);_(* "-"??_);_(@_)</c:formatCode>
                <c:ptCount val="7"/>
                <c:pt idx="0">
                  <c:v>240.38846137105548</c:v>
                </c:pt>
                <c:pt idx="1">
                  <c:v>5326.2197257888984</c:v>
                </c:pt>
                <c:pt idx="2">
                  <c:v>402.22010446137108</c:v>
                </c:pt>
                <c:pt idx="3">
                  <c:v>45.854250272034818</c:v>
                </c:pt>
                <c:pt idx="4">
                  <c:v>2296.8059499455926</c:v>
                </c:pt>
                <c:pt idx="5">
                  <c:v>1084.9869597388465</c:v>
                </c:pt>
                <c:pt idx="6">
                  <c:v>575.12230250272034</c:v>
                </c:pt>
              </c:numCache>
            </c:numRef>
          </c:val>
          <c:extLst>
            <c:ext xmlns:c16="http://schemas.microsoft.com/office/drawing/2014/chart" uri="{C3380CC4-5D6E-409C-BE32-E72D297353CC}">
              <c16:uniqueId val="{00000001-1A1D-4CC8-8187-5C2BE99EA6EA}"/>
            </c:ext>
          </c:extLst>
        </c:ser>
        <c:ser>
          <c:idx val="2"/>
          <c:order val="2"/>
          <c:tx>
            <c:strRef>
              <c:f>OVT!$G$16</c:f>
              <c:strCache>
                <c:ptCount val="1"/>
                <c:pt idx="0">
                  <c:v>JUN</c:v>
                </c:pt>
              </c:strCache>
            </c:strRef>
          </c:tx>
          <c:spPr>
            <a:solidFill>
              <a:schemeClr val="accent6">
                <a:lumMod val="60000"/>
                <a:lumOff val="40000"/>
              </a:schemeClr>
            </a:solidFill>
            <a:ln>
              <a:noFill/>
            </a:ln>
            <a:effectLst/>
          </c:spPr>
          <c:invertIfNegative val="0"/>
          <c:cat>
            <c:strRef>
              <c:f>OVT!$C$17:$C$23</c:f>
              <c:strCache>
                <c:ptCount val="7"/>
                <c:pt idx="0">
                  <c:v>CEC</c:v>
                </c:pt>
                <c:pt idx="1">
                  <c:v>ENG</c:v>
                </c:pt>
                <c:pt idx="2">
                  <c:v>Mining</c:v>
                </c:pt>
                <c:pt idx="3">
                  <c:v>Opt</c:v>
                </c:pt>
                <c:pt idx="4">
                  <c:v>Prod</c:v>
                </c:pt>
                <c:pt idx="5">
                  <c:v>Log</c:v>
                </c:pt>
                <c:pt idx="6">
                  <c:v>QA</c:v>
                </c:pt>
              </c:strCache>
            </c:strRef>
          </c:cat>
          <c:val>
            <c:numRef>
              <c:f>OVT!$G$17:$G$23</c:f>
              <c:numCache>
                <c:formatCode>_(* #,##0.00_);_(* \(#,##0.00\);_(* "-"??_);_(@_)</c:formatCode>
                <c:ptCount val="7"/>
                <c:pt idx="0">
                  <c:v>0</c:v>
                </c:pt>
                <c:pt idx="1">
                  <c:v>8020.6187319387536</c:v>
                </c:pt>
                <c:pt idx="2">
                  <c:v>586.04396808281217</c:v>
                </c:pt>
                <c:pt idx="3">
                  <c:v>0</c:v>
                </c:pt>
                <c:pt idx="4">
                  <c:v>1749.3283804183741</c:v>
                </c:pt>
                <c:pt idx="5">
                  <c:v>824.61975415139091</c:v>
                </c:pt>
                <c:pt idx="6">
                  <c:v>774.62589605348273</c:v>
                </c:pt>
              </c:numCache>
            </c:numRef>
          </c:val>
          <c:extLst>
            <c:ext xmlns:c16="http://schemas.microsoft.com/office/drawing/2014/chart" uri="{C3380CC4-5D6E-409C-BE32-E72D297353CC}">
              <c16:uniqueId val="{00000002-1A1D-4CC8-8187-5C2BE99EA6EA}"/>
            </c:ext>
          </c:extLst>
        </c:ser>
        <c:ser>
          <c:idx val="3"/>
          <c:order val="3"/>
          <c:tx>
            <c:strRef>
              <c:f>OVT!$H$16</c:f>
              <c:strCache>
                <c:ptCount val="1"/>
                <c:pt idx="0">
                  <c:v>JUL</c:v>
                </c:pt>
              </c:strCache>
            </c:strRef>
          </c:tx>
          <c:spPr>
            <a:solidFill>
              <a:schemeClr val="accent4"/>
            </a:solidFill>
            <a:ln>
              <a:noFill/>
            </a:ln>
            <a:effectLst/>
          </c:spPr>
          <c:invertIfNegative val="0"/>
          <c:cat>
            <c:strRef>
              <c:f>OVT!$C$17:$C$23</c:f>
              <c:strCache>
                <c:ptCount val="7"/>
                <c:pt idx="0">
                  <c:v>CEC</c:v>
                </c:pt>
                <c:pt idx="1">
                  <c:v>ENG</c:v>
                </c:pt>
                <c:pt idx="2">
                  <c:v>Mining</c:v>
                </c:pt>
                <c:pt idx="3">
                  <c:v>Opt</c:v>
                </c:pt>
                <c:pt idx="4">
                  <c:v>Prod</c:v>
                </c:pt>
                <c:pt idx="5">
                  <c:v>Log</c:v>
                </c:pt>
                <c:pt idx="6">
                  <c:v>QA</c:v>
                </c:pt>
              </c:strCache>
            </c:strRef>
          </c:cat>
          <c:val>
            <c:numRef>
              <c:f>OVT!$H$17:$H$23</c:f>
              <c:numCache>
                <c:formatCode>General</c:formatCode>
                <c:ptCount val="7"/>
              </c:numCache>
            </c:numRef>
          </c:val>
          <c:extLst>
            <c:ext xmlns:c16="http://schemas.microsoft.com/office/drawing/2014/chart" uri="{C3380CC4-5D6E-409C-BE32-E72D297353CC}">
              <c16:uniqueId val="{00000003-1A1D-4CC8-8187-5C2BE99EA6EA}"/>
            </c:ext>
          </c:extLst>
        </c:ser>
        <c:ser>
          <c:idx val="4"/>
          <c:order val="4"/>
          <c:tx>
            <c:strRef>
              <c:f>OVT!$I$16</c:f>
              <c:strCache>
                <c:ptCount val="1"/>
                <c:pt idx="0">
                  <c:v>AUG</c:v>
                </c:pt>
              </c:strCache>
            </c:strRef>
          </c:tx>
          <c:spPr>
            <a:solidFill>
              <a:schemeClr val="accent5"/>
            </a:solidFill>
            <a:ln>
              <a:noFill/>
            </a:ln>
            <a:effectLst/>
          </c:spPr>
          <c:invertIfNegative val="0"/>
          <c:cat>
            <c:strRef>
              <c:f>OVT!$C$17:$C$23</c:f>
              <c:strCache>
                <c:ptCount val="7"/>
                <c:pt idx="0">
                  <c:v>CEC</c:v>
                </c:pt>
                <c:pt idx="1">
                  <c:v>ENG</c:v>
                </c:pt>
                <c:pt idx="2">
                  <c:v>Mining</c:v>
                </c:pt>
                <c:pt idx="3">
                  <c:v>Opt</c:v>
                </c:pt>
                <c:pt idx="4">
                  <c:v>Prod</c:v>
                </c:pt>
                <c:pt idx="5">
                  <c:v>Log</c:v>
                </c:pt>
                <c:pt idx="6">
                  <c:v>QA</c:v>
                </c:pt>
              </c:strCache>
            </c:strRef>
          </c:cat>
          <c:val>
            <c:numRef>
              <c:f>OVT!$I$17:$I$23</c:f>
              <c:numCache>
                <c:formatCode>General</c:formatCode>
                <c:ptCount val="7"/>
              </c:numCache>
            </c:numRef>
          </c:val>
          <c:extLst>
            <c:ext xmlns:c16="http://schemas.microsoft.com/office/drawing/2014/chart" uri="{C3380CC4-5D6E-409C-BE32-E72D297353CC}">
              <c16:uniqueId val="{00000004-1A1D-4CC8-8187-5C2BE99EA6EA}"/>
            </c:ext>
          </c:extLst>
        </c:ser>
        <c:ser>
          <c:idx val="5"/>
          <c:order val="5"/>
          <c:tx>
            <c:strRef>
              <c:f>OVT!$J$16</c:f>
              <c:strCache>
                <c:ptCount val="1"/>
                <c:pt idx="0">
                  <c:v>SEP</c:v>
                </c:pt>
              </c:strCache>
            </c:strRef>
          </c:tx>
          <c:spPr>
            <a:solidFill>
              <a:schemeClr val="accent6"/>
            </a:solidFill>
            <a:ln>
              <a:noFill/>
            </a:ln>
            <a:effectLst/>
          </c:spPr>
          <c:invertIfNegative val="0"/>
          <c:cat>
            <c:strRef>
              <c:f>OVT!$C$17:$C$23</c:f>
              <c:strCache>
                <c:ptCount val="7"/>
                <c:pt idx="0">
                  <c:v>CEC</c:v>
                </c:pt>
                <c:pt idx="1">
                  <c:v>ENG</c:v>
                </c:pt>
                <c:pt idx="2">
                  <c:v>Mining</c:v>
                </c:pt>
                <c:pt idx="3">
                  <c:v>Opt</c:v>
                </c:pt>
                <c:pt idx="4">
                  <c:v>Prod</c:v>
                </c:pt>
                <c:pt idx="5">
                  <c:v>Log</c:v>
                </c:pt>
                <c:pt idx="6">
                  <c:v>QA</c:v>
                </c:pt>
              </c:strCache>
            </c:strRef>
          </c:cat>
          <c:val>
            <c:numRef>
              <c:f>OVT!$J$17:$J$23</c:f>
              <c:numCache>
                <c:formatCode>General</c:formatCode>
                <c:ptCount val="7"/>
              </c:numCache>
            </c:numRef>
          </c:val>
          <c:extLst>
            <c:ext xmlns:c16="http://schemas.microsoft.com/office/drawing/2014/chart" uri="{C3380CC4-5D6E-409C-BE32-E72D297353CC}">
              <c16:uniqueId val="{00000005-1A1D-4CC8-8187-5C2BE99EA6EA}"/>
            </c:ext>
          </c:extLst>
        </c:ser>
        <c:ser>
          <c:idx val="6"/>
          <c:order val="6"/>
          <c:tx>
            <c:strRef>
              <c:f>OVT!$K$16</c:f>
              <c:strCache>
                <c:ptCount val="1"/>
                <c:pt idx="0">
                  <c:v>OCT</c:v>
                </c:pt>
              </c:strCache>
            </c:strRef>
          </c:tx>
          <c:spPr>
            <a:solidFill>
              <a:schemeClr val="accent1">
                <a:lumMod val="60000"/>
              </a:schemeClr>
            </a:solidFill>
            <a:ln>
              <a:noFill/>
            </a:ln>
            <a:effectLst/>
          </c:spPr>
          <c:invertIfNegative val="0"/>
          <c:cat>
            <c:strRef>
              <c:f>OVT!$C$17:$C$23</c:f>
              <c:strCache>
                <c:ptCount val="7"/>
                <c:pt idx="0">
                  <c:v>CEC</c:v>
                </c:pt>
                <c:pt idx="1">
                  <c:v>ENG</c:v>
                </c:pt>
                <c:pt idx="2">
                  <c:v>Mining</c:v>
                </c:pt>
                <c:pt idx="3">
                  <c:v>Opt</c:v>
                </c:pt>
                <c:pt idx="4">
                  <c:v>Prod</c:v>
                </c:pt>
                <c:pt idx="5">
                  <c:v>Log</c:v>
                </c:pt>
                <c:pt idx="6">
                  <c:v>QA</c:v>
                </c:pt>
              </c:strCache>
            </c:strRef>
          </c:cat>
          <c:val>
            <c:numRef>
              <c:f>OVT!$K$17:$K$23</c:f>
              <c:numCache>
                <c:formatCode>General</c:formatCode>
                <c:ptCount val="7"/>
              </c:numCache>
            </c:numRef>
          </c:val>
          <c:extLst>
            <c:ext xmlns:c16="http://schemas.microsoft.com/office/drawing/2014/chart" uri="{C3380CC4-5D6E-409C-BE32-E72D297353CC}">
              <c16:uniqueId val="{00000006-1A1D-4CC8-8187-5C2BE99EA6EA}"/>
            </c:ext>
          </c:extLst>
        </c:ser>
        <c:ser>
          <c:idx val="7"/>
          <c:order val="7"/>
          <c:tx>
            <c:strRef>
              <c:f>OVT!$L$16</c:f>
              <c:strCache>
                <c:ptCount val="1"/>
                <c:pt idx="0">
                  <c:v>NOV</c:v>
                </c:pt>
              </c:strCache>
            </c:strRef>
          </c:tx>
          <c:spPr>
            <a:solidFill>
              <a:schemeClr val="accent2">
                <a:lumMod val="60000"/>
              </a:schemeClr>
            </a:solidFill>
            <a:ln>
              <a:noFill/>
            </a:ln>
            <a:effectLst/>
          </c:spPr>
          <c:invertIfNegative val="0"/>
          <c:cat>
            <c:strRef>
              <c:f>OVT!$C$17:$C$23</c:f>
              <c:strCache>
                <c:ptCount val="7"/>
                <c:pt idx="0">
                  <c:v>CEC</c:v>
                </c:pt>
                <c:pt idx="1">
                  <c:v>ENG</c:v>
                </c:pt>
                <c:pt idx="2">
                  <c:v>Mining</c:v>
                </c:pt>
                <c:pt idx="3">
                  <c:v>Opt</c:v>
                </c:pt>
                <c:pt idx="4">
                  <c:v>Prod</c:v>
                </c:pt>
                <c:pt idx="5">
                  <c:v>Log</c:v>
                </c:pt>
                <c:pt idx="6">
                  <c:v>QA</c:v>
                </c:pt>
              </c:strCache>
            </c:strRef>
          </c:cat>
          <c:val>
            <c:numRef>
              <c:f>OVT!$L$17:$L$23</c:f>
              <c:numCache>
                <c:formatCode>General</c:formatCode>
                <c:ptCount val="7"/>
              </c:numCache>
            </c:numRef>
          </c:val>
          <c:extLst>
            <c:ext xmlns:c16="http://schemas.microsoft.com/office/drawing/2014/chart" uri="{C3380CC4-5D6E-409C-BE32-E72D297353CC}">
              <c16:uniqueId val="{00000007-1A1D-4CC8-8187-5C2BE99EA6EA}"/>
            </c:ext>
          </c:extLst>
        </c:ser>
        <c:ser>
          <c:idx val="8"/>
          <c:order val="8"/>
          <c:tx>
            <c:strRef>
              <c:f>OVT!$M$16</c:f>
              <c:strCache>
                <c:ptCount val="1"/>
                <c:pt idx="0">
                  <c:v>DEC</c:v>
                </c:pt>
              </c:strCache>
            </c:strRef>
          </c:tx>
          <c:spPr>
            <a:solidFill>
              <a:schemeClr val="accent3">
                <a:lumMod val="60000"/>
              </a:schemeClr>
            </a:solidFill>
            <a:ln>
              <a:noFill/>
            </a:ln>
            <a:effectLst/>
          </c:spPr>
          <c:invertIfNegative val="0"/>
          <c:cat>
            <c:strRef>
              <c:f>OVT!$C$17:$C$23</c:f>
              <c:strCache>
                <c:ptCount val="7"/>
                <c:pt idx="0">
                  <c:v>CEC</c:v>
                </c:pt>
                <c:pt idx="1">
                  <c:v>ENG</c:v>
                </c:pt>
                <c:pt idx="2">
                  <c:v>Mining</c:v>
                </c:pt>
                <c:pt idx="3">
                  <c:v>Opt</c:v>
                </c:pt>
                <c:pt idx="4">
                  <c:v>Prod</c:v>
                </c:pt>
                <c:pt idx="5">
                  <c:v>Log</c:v>
                </c:pt>
                <c:pt idx="6">
                  <c:v>QA</c:v>
                </c:pt>
              </c:strCache>
            </c:strRef>
          </c:cat>
          <c:val>
            <c:numRef>
              <c:f>OVT!$M$17:$M$23</c:f>
              <c:numCache>
                <c:formatCode>General</c:formatCode>
                <c:ptCount val="7"/>
              </c:numCache>
            </c:numRef>
          </c:val>
          <c:extLst>
            <c:ext xmlns:c16="http://schemas.microsoft.com/office/drawing/2014/chart" uri="{C3380CC4-5D6E-409C-BE32-E72D297353CC}">
              <c16:uniqueId val="{00000008-1A1D-4CC8-8187-5C2BE99EA6EA}"/>
            </c:ext>
          </c:extLst>
        </c:ser>
        <c:ser>
          <c:idx val="9"/>
          <c:order val="9"/>
          <c:tx>
            <c:strRef>
              <c:f>OVT!$N$16</c:f>
              <c:strCache>
                <c:ptCount val="1"/>
                <c:pt idx="0">
                  <c:v>JAN</c:v>
                </c:pt>
              </c:strCache>
            </c:strRef>
          </c:tx>
          <c:spPr>
            <a:solidFill>
              <a:schemeClr val="accent4">
                <a:lumMod val="60000"/>
              </a:schemeClr>
            </a:solidFill>
            <a:ln>
              <a:noFill/>
            </a:ln>
            <a:effectLst/>
          </c:spPr>
          <c:invertIfNegative val="0"/>
          <c:cat>
            <c:strRef>
              <c:f>OVT!$C$17:$C$23</c:f>
              <c:strCache>
                <c:ptCount val="7"/>
                <c:pt idx="0">
                  <c:v>CEC</c:v>
                </c:pt>
                <c:pt idx="1">
                  <c:v>ENG</c:v>
                </c:pt>
                <c:pt idx="2">
                  <c:v>Mining</c:v>
                </c:pt>
                <c:pt idx="3">
                  <c:v>Opt</c:v>
                </c:pt>
                <c:pt idx="4">
                  <c:v>Prod</c:v>
                </c:pt>
                <c:pt idx="5">
                  <c:v>Log</c:v>
                </c:pt>
                <c:pt idx="6">
                  <c:v>QA</c:v>
                </c:pt>
              </c:strCache>
            </c:strRef>
          </c:cat>
          <c:val>
            <c:numRef>
              <c:f>OVT!$N$17:$N$23</c:f>
              <c:numCache>
                <c:formatCode>General</c:formatCode>
                <c:ptCount val="7"/>
              </c:numCache>
            </c:numRef>
          </c:val>
          <c:extLst>
            <c:ext xmlns:c16="http://schemas.microsoft.com/office/drawing/2014/chart" uri="{C3380CC4-5D6E-409C-BE32-E72D297353CC}">
              <c16:uniqueId val="{00000009-1A1D-4CC8-8187-5C2BE99EA6EA}"/>
            </c:ext>
          </c:extLst>
        </c:ser>
        <c:ser>
          <c:idx val="10"/>
          <c:order val="10"/>
          <c:tx>
            <c:strRef>
              <c:f>OVT!$O$16</c:f>
              <c:strCache>
                <c:ptCount val="1"/>
                <c:pt idx="0">
                  <c:v>FEB</c:v>
                </c:pt>
              </c:strCache>
            </c:strRef>
          </c:tx>
          <c:spPr>
            <a:solidFill>
              <a:schemeClr val="accent5">
                <a:lumMod val="60000"/>
              </a:schemeClr>
            </a:solidFill>
            <a:ln>
              <a:noFill/>
            </a:ln>
            <a:effectLst/>
          </c:spPr>
          <c:invertIfNegative val="0"/>
          <c:cat>
            <c:strRef>
              <c:f>OVT!$C$17:$C$23</c:f>
              <c:strCache>
                <c:ptCount val="7"/>
                <c:pt idx="0">
                  <c:v>CEC</c:v>
                </c:pt>
                <c:pt idx="1">
                  <c:v>ENG</c:v>
                </c:pt>
                <c:pt idx="2">
                  <c:v>Mining</c:v>
                </c:pt>
                <c:pt idx="3">
                  <c:v>Opt</c:v>
                </c:pt>
                <c:pt idx="4">
                  <c:v>Prod</c:v>
                </c:pt>
                <c:pt idx="5">
                  <c:v>Log</c:v>
                </c:pt>
                <c:pt idx="6">
                  <c:v>QA</c:v>
                </c:pt>
              </c:strCache>
            </c:strRef>
          </c:cat>
          <c:val>
            <c:numRef>
              <c:f>OVT!$O$17:$O$23</c:f>
              <c:numCache>
                <c:formatCode>General</c:formatCode>
                <c:ptCount val="7"/>
              </c:numCache>
            </c:numRef>
          </c:val>
          <c:extLst>
            <c:ext xmlns:c16="http://schemas.microsoft.com/office/drawing/2014/chart" uri="{C3380CC4-5D6E-409C-BE32-E72D297353CC}">
              <c16:uniqueId val="{0000000A-1A1D-4CC8-8187-5C2BE99EA6EA}"/>
            </c:ext>
          </c:extLst>
        </c:ser>
        <c:ser>
          <c:idx val="11"/>
          <c:order val="11"/>
          <c:tx>
            <c:strRef>
              <c:f>OVT!$P$16</c:f>
              <c:strCache>
                <c:ptCount val="1"/>
                <c:pt idx="0">
                  <c:v>MAR</c:v>
                </c:pt>
              </c:strCache>
            </c:strRef>
          </c:tx>
          <c:spPr>
            <a:solidFill>
              <a:schemeClr val="accent6">
                <a:lumMod val="60000"/>
              </a:schemeClr>
            </a:solidFill>
            <a:ln>
              <a:noFill/>
            </a:ln>
            <a:effectLst/>
          </c:spPr>
          <c:invertIfNegative val="0"/>
          <c:cat>
            <c:strRef>
              <c:f>OVT!$C$17:$C$23</c:f>
              <c:strCache>
                <c:ptCount val="7"/>
                <c:pt idx="0">
                  <c:v>CEC</c:v>
                </c:pt>
                <c:pt idx="1">
                  <c:v>ENG</c:v>
                </c:pt>
                <c:pt idx="2">
                  <c:v>Mining</c:v>
                </c:pt>
                <c:pt idx="3">
                  <c:v>Opt</c:v>
                </c:pt>
                <c:pt idx="4">
                  <c:v>Prod</c:v>
                </c:pt>
                <c:pt idx="5">
                  <c:v>Log</c:v>
                </c:pt>
                <c:pt idx="6">
                  <c:v>QA</c:v>
                </c:pt>
              </c:strCache>
            </c:strRef>
          </c:cat>
          <c:val>
            <c:numRef>
              <c:f>OVT!$P$17:$P$23</c:f>
              <c:numCache>
                <c:formatCode>General</c:formatCode>
                <c:ptCount val="7"/>
              </c:numCache>
            </c:numRef>
          </c:val>
          <c:extLst>
            <c:ext xmlns:c16="http://schemas.microsoft.com/office/drawing/2014/chart" uri="{C3380CC4-5D6E-409C-BE32-E72D297353CC}">
              <c16:uniqueId val="{0000000B-1A1D-4CC8-8187-5C2BE99EA6EA}"/>
            </c:ext>
          </c:extLst>
        </c:ser>
        <c:dLbls>
          <c:showLegendKey val="0"/>
          <c:showVal val="0"/>
          <c:showCatName val="0"/>
          <c:showSerName val="0"/>
          <c:showPercent val="0"/>
          <c:showBubbleSize val="0"/>
        </c:dLbls>
        <c:gapWidth val="150"/>
        <c:overlap val="100"/>
        <c:axId val="388872592"/>
        <c:axId val="388870672"/>
      </c:barChart>
      <c:lineChart>
        <c:grouping val="standard"/>
        <c:varyColors val="0"/>
        <c:ser>
          <c:idx val="12"/>
          <c:order val="12"/>
          <c:tx>
            <c:strRef>
              <c:f>OVT!$Q$16</c:f>
              <c:strCache>
                <c:ptCount val="1"/>
                <c:pt idx="0">
                  <c:v>%</c:v>
                </c:pt>
              </c:strCache>
            </c:strRef>
          </c:tx>
          <c:spPr>
            <a:ln w="28575" cap="rnd">
              <a:solidFill>
                <a:srgbClr val="FFC000"/>
              </a:solidFill>
              <a:round/>
            </a:ln>
            <a:effectLst/>
          </c:spPr>
          <c:marker>
            <c:symbol val="none"/>
          </c:marker>
          <c:dLbls>
            <c:spPr>
              <a:solidFill>
                <a:schemeClr val="accent6">
                  <a:lumMod val="20000"/>
                  <a:lumOff val="80000"/>
                </a:schemeClr>
              </a:solid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OVT!$C$17:$C$23</c:f>
              <c:strCache>
                <c:ptCount val="7"/>
                <c:pt idx="0">
                  <c:v>CEC</c:v>
                </c:pt>
                <c:pt idx="1">
                  <c:v>ENG</c:v>
                </c:pt>
                <c:pt idx="2">
                  <c:v>Mining</c:v>
                </c:pt>
                <c:pt idx="3">
                  <c:v>Opt</c:v>
                </c:pt>
                <c:pt idx="4">
                  <c:v>Prod</c:v>
                </c:pt>
                <c:pt idx="5">
                  <c:v>Log</c:v>
                </c:pt>
                <c:pt idx="6">
                  <c:v>QA</c:v>
                </c:pt>
              </c:strCache>
            </c:strRef>
          </c:cat>
          <c:val>
            <c:numRef>
              <c:f>OVT!$Q$17:$Q$23</c:f>
              <c:numCache>
                <c:formatCode>0%</c:formatCode>
                <c:ptCount val="7"/>
                <c:pt idx="0">
                  <c:v>8.5696288050285535E-3</c:v>
                </c:pt>
                <c:pt idx="1">
                  <c:v>0.6115436839697056</c:v>
                </c:pt>
                <c:pt idx="2">
                  <c:v>5.3527711073276071E-2</c:v>
                </c:pt>
                <c:pt idx="3">
                  <c:v>1.6346620870361479E-3</c:v>
                </c:pt>
                <c:pt idx="4">
                  <c:v>0.16634438544975083</c:v>
                </c:pt>
                <c:pt idx="5">
                  <c:v>9.0818249535745424E-2</c:v>
                </c:pt>
                <c:pt idx="6">
                  <c:v>6.756167907945744E-2</c:v>
                </c:pt>
              </c:numCache>
            </c:numRef>
          </c:val>
          <c:smooth val="0"/>
          <c:extLst>
            <c:ext xmlns:c16="http://schemas.microsoft.com/office/drawing/2014/chart" uri="{C3380CC4-5D6E-409C-BE32-E72D297353CC}">
              <c16:uniqueId val="{0000000C-1A1D-4CC8-8187-5C2BE99EA6EA}"/>
            </c:ext>
          </c:extLst>
        </c:ser>
        <c:dLbls>
          <c:showLegendKey val="0"/>
          <c:showVal val="0"/>
          <c:showCatName val="0"/>
          <c:showSerName val="0"/>
          <c:showPercent val="0"/>
          <c:showBubbleSize val="0"/>
        </c:dLbls>
        <c:marker val="1"/>
        <c:smooth val="0"/>
        <c:axId val="384985040"/>
        <c:axId val="384982640"/>
      </c:lineChart>
      <c:catAx>
        <c:axId val="388872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388870672"/>
        <c:crosses val="autoZero"/>
        <c:auto val="1"/>
        <c:lblAlgn val="ctr"/>
        <c:lblOffset val="100"/>
        <c:noMultiLvlLbl val="0"/>
      </c:catAx>
      <c:valAx>
        <c:axId val="388870672"/>
        <c:scaling>
          <c:orientation val="minMax"/>
        </c:scaling>
        <c:delete val="0"/>
        <c:axPos val="l"/>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388872592"/>
        <c:crosses val="autoZero"/>
        <c:crossBetween val="between"/>
      </c:valAx>
      <c:valAx>
        <c:axId val="384982640"/>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384985040"/>
        <c:crosses val="max"/>
        <c:crossBetween val="between"/>
      </c:valAx>
      <c:catAx>
        <c:axId val="384985040"/>
        <c:scaling>
          <c:orientation val="minMax"/>
        </c:scaling>
        <c:delete val="1"/>
        <c:axPos val="b"/>
        <c:numFmt formatCode="General" sourceLinked="1"/>
        <c:majorTickMark val="out"/>
        <c:minorTickMark val="none"/>
        <c:tickLblPos val="nextTo"/>
        <c:crossAx val="384982640"/>
        <c:crosses val="autoZero"/>
        <c:auto val="1"/>
        <c:lblAlgn val="ctr"/>
        <c:lblOffset val="100"/>
        <c:noMultiLvlLbl val="0"/>
      </c:catAx>
      <c:spPr>
        <a:noFill/>
        <a:ln>
          <a:noFill/>
        </a:ln>
        <a:effectLst/>
      </c:spPr>
    </c:plotArea>
    <c:legend>
      <c:legendPos val="b"/>
      <c:legendEntry>
        <c:idx val="12"/>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a:outerShdw blurRad="57150" dist="19050" dir="5400000" algn="ctr" rotWithShape="0">
        <a:srgbClr val="000000">
          <a:alpha val="63000"/>
        </a:srgbClr>
      </a:outerShdw>
    </a:effectLst>
  </c:spPr>
  <c:txPr>
    <a:bodyPr/>
    <a:lstStyle/>
    <a:p>
      <a:pPr>
        <a:defRPr>
          <a:solidFill>
            <a:schemeClr val="lt1"/>
          </a:solidFill>
          <a:latin typeface="+mn-lt"/>
          <a:ea typeface="+mn-ea"/>
          <a:cs typeface="+mn-cs"/>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lt1"/>
                </a:solidFill>
                <a:latin typeface="+mn-lt"/>
                <a:ea typeface="+mn-ea"/>
                <a:cs typeface="+mn-cs"/>
              </a:defRPr>
            </a:pPr>
            <a:r>
              <a:rPr lang="en-US" dirty="0">
                <a:solidFill>
                  <a:schemeClr val="lt1"/>
                </a:solidFill>
                <a:latin typeface="+mn-lt"/>
                <a:ea typeface="+mn-ea"/>
                <a:cs typeface="+mn-cs"/>
              </a:rPr>
              <a:t>COST PER MONTH (USD)</a:t>
            </a:r>
            <a:endParaRPr lang="en-US" dirty="0"/>
          </a:p>
        </c:rich>
      </c:tx>
      <c:layout>
        <c:manualLayout>
          <c:xMode val="edge"/>
          <c:yMode val="edge"/>
          <c:x val="0.45452480966876979"/>
          <c:y val="2.3148148148148147E-2"/>
        </c:manualLayout>
      </c:layout>
      <c:overlay val="0"/>
      <c:spPr>
        <a:solidFill>
          <a:schemeClr val="accent3">
            <a:lumMod val="50000"/>
          </a:schemeClr>
        </a:solidFill>
        <a:ln>
          <a:noFill/>
        </a:ln>
        <a:effectLst>
          <a:outerShdw blurRad="57150" dist="19050" dir="5400000" algn="ctr" rotWithShape="0">
            <a:srgbClr val="000000">
              <a:alpha val="63000"/>
            </a:srgbClr>
          </a:outerShdw>
        </a:effectLst>
      </c:spPr>
      <c:txPr>
        <a:bodyPr rot="0" spcFirstLastPara="1" vertOverflow="ellipsis" vert="horz" wrap="square" anchor="ctr" anchorCtr="1"/>
        <a:lstStyle/>
        <a:p>
          <a:pPr>
            <a:defRPr sz="1400" b="0" i="0" u="none" strike="noStrike" kern="1200" spc="0" baseline="0">
              <a:solidFill>
                <a:schemeClr val="lt1"/>
              </a:solidFill>
              <a:latin typeface="+mn-lt"/>
              <a:ea typeface="+mn-ea"/>
              <a:cs typeface="+mn-cs"/>
            </a:defRPr>
          </a:pPr>
          <a:endParaRPr lang="en-US"/>
        </a:p>
      </c:txPr>
    </c:title>
    <c:autoTitleDeleted val="0"/>
    <c:plotArea>
      <c:layout/>
      <c:barChart>
        <c:barDir val="col"/>
        <c:grouping val="stacked"/>
        <c:varyColors val="0"/>
        <c:ser>
          <c:idx val="0"/>
          <c:order val="0"/>
          <c:tx>
            <c:strRef>
              <c:f>Training!$B$7</c:f>
              <c:strCache>
                <c:ptCount val="1"/>
                <c:pt idx="0">
                  <c:v>Plant</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elete val="1"/>
          </c:dLbls>
          <c:cat>
            <c:strRef>
              <c:f>Training!$C$6:$L$6</c:f>
              <c:strCache>
                <c:ptCount val="10"/>
                <c:pt idx="0">
                  <c:v>APR</c:v>
                </c:pt>
                <c:pt idx="1">
                  <c:v>MAY</c:v>
                </c:pt>
                <c:pt idx="2">
                  <c:v>JUN</c:v>
                </c:pt>
                <c:pt idx="3">
                  <c:v>JUL</c:v>
                </c:pt>
                <c:pt idx="4">
                  <c:v>AUG</c:v>
                </c:pt>
                <c:pt idx="5">
                  <c:v>SEP</c:v>
                </c:pt>
                <c:pt idx="6">
                  <c:v>OCT</c:v>
                </c:pt>
                <c:pt idx="7">
                  <c:v>NOV</c:v>
                </c:pt>
                <c:pt idx="8">
                  <c:v>DEC</c:v>
                </c:pt>
                <c:pt idx="9">
                  <c:v>JAN</c:v>
                </c:pt>
              </c:strCache>
            </c:strRef>
          </c:cat>
          <c:val>
            <c:numRef>
              <c:f>Training!$C$7:$L$7</c:f>
              <c:numCache>
                <c:formatCode>_(* #,##0.00_);_(* \(#,##0.00\);_(* "-"??_);_(@_)</c:formatCode>
                <c:ptCount val="10"/>
                <c:pt idx="0">
                  <c:v>2170</c:v>
                </c:pt>
                <c:pt idx="1">
                  <c:v>2342</c:v>
                </c:pt>
                <c:pt idx="2">
                  <c:v>30</c:v>
                </c:pt>
              </c:numCache>
            </c:numRef>
          </c:val>
          <c:extLst>
            <c:ext xmlns:c16="http://schemas.microsoft.com/office/drawing/2014/chart" uri="{C3380CC4-5D6E-409C-BE32-E72D297353CC}">
              <c16:uniqueId val="{00000000-E7B4-4503-B031-77DB8B79DB3A}"/>
            </c:ext>
          </c:extLst>
        </c:ser>
        <c:ser>
          <c:idx val="1"/>
          <c:order val="1"/>
          <c:tx>
            <c:strRef>
              <c:f>Training!$B$8</c:f>
              <c:strCache>
                <c:ptCount val="1"/>
                <c:pt idx="0">
                  <c:v>HQ</c:v>
                </c:pt>
              </c:strCache>
            </c:strRef>
          </c:tx>
          <c:spPr>
            <a:solidFill>
              <a:schemeClr val="accent1">
                <a:lumMod val="50000"/>
              </a:schemeClr>
            </a:solidFill>
            <a:ln>
              <a:noFill/>
            </a:ln>
            <a:effectLst>
              <a:outerShdw blurRad="57150" dist="19050" dir="5400000" algn="ctr" rotWithShape="0">
                <a:srgbClr val="000000">
                  <a:alpha val="63000"/>
                </a:srgbClr>
              </a:outerShdw>
            </a:effectLst>
          </c:spPr>
          <c:invertIfNegative val="0"/>
          <c:dLbls>
            <c:delete val="1"/>
          </c:dLbls>
          <c:cat>
            <c:strRef>
              <c:f>Training!$C$6:$L$6</c:f>
              <c:strCache>
                <c:ptCount val="10"/>
                <c:pt idx="0">
                  <c:v>APR</c:v>
                </c:pt>
                <c:pt idx="1">
                  <c:v>MAY</c:v>
                </c:pt>
                <c:pt idx="2">
                  <c:v>JUN</c:v>
                </c:pt>
                <c:pt idx="3">
                  <c:v>JUL</c:v>
                </c:pt>
                <c:pt idx="4">
                  <c:v>AUG</c:v>
                </c:pt>
                <c:pt idx="5">
                  <c:v>SEP</c:v>
                </c:pt>
                <c:pt idx="6">
                  <c:v>OCT</c:v>
                </c:pt>
                <c:pt idx="7">
                  <c:v>NOV</c:v>
                </c:pt>
                <c:pt idx="8">
                  <c:v>DEC</c:v>
                </c:pt>
                <c:pt idx="9">
                  <c:v>JAN</c:v>
                </c:pt>
              </c:strCache>
            </c:strRef>
          </c:cat>
          <c:val>
            <c:numRef>
              <c:f>Training!$C$8:$L$8</c:f>
              <c:numCache>
                <c:formatCode>_(* #,##0.00_);_(* \(#,##0.00\);_(* "-"??_);_(@_)</c:formatCode>
                <c:ptCount val="10"/>
                <c:pt idx="0">
                  <c:v>2500</c:v>
                </c:pt>
                <c:pt idx="1">
                  <c:v>25720</c:v>
                </c:pt>
                <c:pt idx="2">
                  <c:v>2700</c:v>
                </c:pt>
              </c:numCache>
            </c:numRef>
          </c:val>
          <c:extLst>
            <c:ext xmlns:c16="http://schemas.microsoft.com/office/drawing/2014/chart" uri="{C3380CC4-5D6E-409C-BE32-E72D297353CC}">
              <c16:uniqueId val="{00000001-E7B4-4503-B031-77DB8B79DB3A}"/>
            </c:ext>
          </c:extLst>
        </c:ser>
        <c:dLbls>
          <c:dLblPos val="ctr"/>
          <c:showLegendKey val="0"/>
          <c:showVal val="1"/>
          <c:showCatName val="0"/>
          <c:showSerName val="0"/>
          <c:showPercent val="0"/>
          <c:showBubbleSize val="0"/>
        </c:dLbls>
        <c:gapWidth val="150"/>
        <c:overlap val="100"/>
        <c:axId val="1091040752"/>
        <c:axId val="1091045072"/>
      </c:barChart>
      <c:catAx>
        <c:axId val="1091040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091045072"/>
        <c:crosses val="autoZero"/>
        <c:auto val="1"/>
        <c:lblAlgn val="ctr"/>
        <c:lblOffset val="100"/>
        <c:noMultiLvlLbl val="0"/>
      </c:catAx>
      <c:valAx>
        <c:axId val="1091045072"/>
        <c:scaling>
          <c:orientation val="minMax"/>
        </c:scaling>
        <c:delete val="0"/>
        <c:axPos val="l"/>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091040752"/>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solidFill>
                <a:latin typeface="+mn-lt"/>
                <a:ea typeface="+mn-ea"/>
                <a:cs typeface="+mn-cs"/>
              </a:defRPr>
            </a:pPr>
            <a:endParaRPr lang="en-US"/>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a:outerShdw blurRad="57150" dist="19050" dir="5400000" algn="ctr" rotWithShape="0">
        <a:srgbClr val="000000">
          <a:alpha val="63000"/>
        </a:srgbClr>
      </a:outerShdw>
    </a:effectLst>
  </c:spPr>
  <c:txPr>
    <a:bodyPr/>
    <a:lstStyle/>
    <a:p>
      <a:pPr>
        <a:defRPr>
          <a:solidFill>
            <a:schemeClr val="lt1"/>
          </a:solidFill>
          <a:latin typeface="+mn-lt"/>
          <a:ea typeface="+mn-ea"/>
          <a:cs typeface="+mn-cs"/>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infra</c:v>
                </c:pt>
              </c:strCache>
            </c:strRef>
          </c:tx>
          <c:spPr>
            <a:solidFill>
              <a:srgbClr val="92D050"/>
            </a:solidFill>
            <a:ln>
              <a:noFill/>
            </a:ln>
          </c:spPr>
          <c:dPt>
            <c:idx val="0"/>
            <c:bubble3D val="0"/>
            <c:spPr>
              <a:solidFill>
                <a:srgbClr val="92D050"/>
              </a:solidFill>
              <a:ln w="19050">
                <a:noFill/>
              </a:ln>
              <a:effectLst/>
            </c:spPr>
            <c:extLst>
              <c:ext xmlns:c16="http://schemas.microsoft.com/office/drawing/2014/chart" uri="{C3380CC4-5D6E-409C-BE32-E72D297353CC}">
                <c16:uniqueId val="{00000001-3CF1-4D89-9388-B121ED3F6CAB}"/>
              </c:ext>
            </c:extLst>
          </c:dPt>
          <c:dPt>
            <c:idx val="1"/>
            <c:bubble3D val="0"/>
            <c:spPr>
              <a:solidFill>
                <a:srgbClr val="92D050"/>
              </a:solidFill>
              <a:ln w="19050">
                <a:noFill/>
              </a:ln>
              <a:effectLst/>
            </c:spPr>
            <c:extLst>
              <c:ext xmlns:c16="http://schemas.microsoft.com/office/drawing/2014/chart" uri="{C3380CC4-5D6E-409C-BE32-E72D297353CC}">
                <c16:uniqueId val="{00000003-3CF1-4D89-9388-B121ED3F6CAB}"/>
              </c:ext>
            </c:extLst>
          </c:dPt>
          <c:cat>
            <c:strRef>
              <c:f>Sheet1!$A$2:$A$3</c:f>
              <c:strCache>
                <c:ptCount val="2"/>
                <c:pt idx="0">
                  <c:v>done</c:v>
                </c:pt>
                <c:pt idx="1">
                  <c:v>to be done</c:v>
                </c:pt>
              </c:strCache>
            </c:strRef>
          </c:cat>
          <c:val>
            <c:numRef>
              <c:f>Sheet1!$B$2:$B$3</c:f>
              <c:numCache>
                <c:formatCode>0%</c:formatCode>
                <c:ptCount val="2"/>
                <c:pt idx="0">
                  <c:v>1</c:v>
                </c:pt>
                <c:pt idx="1">
                  <c:v>0</c:v>
                </c:pt>
              </c:numCache>
            </c:numRef>
          </c:val>
          <c:extLst>
            <c:ext xmlns:c16="http://schemas.microsoft.com/office/drawing/2014/chart" uri="{C3380CC4-5D6E-409C-BE32-E72D297353CC}">
              <c16:uniqueId val="{00000004-3CF1-4D89-9388-B121ED3F6CA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a:noFill/>
            </a:ln>
          </c:spPr>
          <c:dPt>
            <c:idx val="0"/>
            <c:bubble3D val="0"/>
            <c:spPr>
              <a:solidFill>
                <a:srgbClr val="92D050"/>
              </a:solidFill>
              <a:ln w="19050">
                <a:noFill/>
              </a:ln>
              <a:effectLst/>
            </c:spPr>
            <c:extLst>
              <c:ext xmlns:c16="http://schemas.microsoft.com/office/drawing/2014/chart" uri="{C3380CC4-5D6E-409C-BE32-E72D297353CC}">
                <c16:uniqueId val="{00000001-B99B-4A4A-B1D6-D13C6C3BBDB7}"/>
              </c:ext>
            </c:extLst>
          </c:dPt>
          <c:dPt>
            <c:idx val="1"/>
            <c:bubble3D val="0"/>
            <c:spPr>
              <a:solidFill>
                <a:schemeClr val="accent1">
                  <a:lumMod val="40000"/>
                  <a:lumOff val="60000"/>
                </a:schemeClr>
              </a:solidFill>
              <a:ln w="19050">
                <a:noFill/>
              </a:ln>
              <a:effectLst/>
            </c:spPr>
            <c:extLst>
              <c:ext xmlns:c16="http://schemas.microsoft.com/office/drawing/2014/chart" uri="{C3380CC4-5D6E-409C-BE32-E72D297353CC}">
                <c16:uniqueId val="{00000003-B99B-4A4A-B1D6-D13C6C3BBDB7}"/>
              </c:ext>
            </c:extLst>
          </c:dPt>
          <c:cat>
            <c:strRef>
              <c:f>Sheet1!$A$2:$A$3</c:f>
              <c:strCache>
                <c:ptCount val="2"/>
                <c:pt idx="0">
                  <c:v>done</c:v>
                </c:pt>
                <c:pt idx="1">
                  <c:v>to be done</c:v>
                </c:pt>
              </c:strCache>
            </c:strRef>
          </c:cat>
          <c:val>
            <c:numRef>
              <c:f>Sheet1!$B$2:$B$3</c:f>
              <c:numCache>
                <c:formatCode>0%</c:formatCode>
                <c:ptCount val="2"/>
                <c:pt idx="0">
                  <c:v>0.3</c:v>
                </c:pt>
                <c:pt idx="1">
                  <c:v>0.95</c:v>
                </c:pt>
              </c:numCache>
            </c:numRef>
          </c:val>
          <c:extLst>
            <c:ext xmlns:c16="http://schemas.microsoft.com/office/drawing/2014/chart" uri="{C3380CC4-5D6E-409C-BE32-E72D297353CC}">
              <c16:uniqueId val="{00000004-B99B-4A4A-B1D6-D13C6C3BBDB7}"/>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a:noFill/>
            </a:ln>
          </c:spPr>
          <c:dPt>
            <c:idx val="0"/>
            <c:bubble3D val="0"/>
            <c:spPr>
              <a:solidFill>
                <a:srgbClr val="92D050"/>
              </a:solidFill>
              <a:ln w="19050">
                <a:noFill/>
              </a:ln>
              <a:effectLst/>
            </c:spPr>
            <c:extLst>
              <c:ext xmlns:c16="http://schemas.microsoft.com/office/drawing/2014/chart" uri="{C3380CC4-5D6E-409C-BE32-E72D297353CC}">
                <c16:uniqueId val="{00000001-63EA-4F90-92D9-641075710A28}"/>
              </c:ext>
            </c:extLst>
          </c:dPt>
          <c:dPt>
            <c:idx val="1"/>
            <c:bubble3D val="0"/>
            <c:spPr>
              <a:solidFill>
                <a:schemeClr val="accent1">
                  <a:lumMod val="20000"/>
                  <a:lumOff val="80000"/>
                </a:schemeClr>
              </a:solidFill>
              <a:ln w="19050">
                <a:noFill/>
              </a:ln>
              <a:effectLst/>
            </c:spPr>
            <c:extLst>
              <c:ext xmlns:c16="http://schemas.microsoft.com/office/drawing/2014/chart" uri="{C3380CC4-5D6E-409C-BE32-E72D297353CC}">
                <c16:uniqueId val="{00000003-63EA-4F90-92D9-641075710A28}"/>
              </c:ext>
            </c:extLst>
          </c:dPt>
          <c:cat>
            <c:strRef>
              <c:f>Sheet1!$A$2:$A$3</c:f>
              <c:strCache>
                <c:ptCount val="2"/>
                <c:pt idx="0">
                  <c:v>done</c:v>
                </c:pt>
                <c:pt idx="1">
                  <c:v>to be done</c:v>
                </c:pt>
              </c:strCache>
            </c:strRef>
          </c:cat>
          <c:val>
            <c:numRef>
              <c:f>Sheet1!$B$2:$B$3</c:f>
              <c:numCache>
                <c:formatCode>0%</c:formatCode>
                <c:ptCount val="2"/>
                <c:pt idx="0">
                  <c:v>0.5</c:v>
                </c:pt>
                <c:pt idx="1">
                  <c:v>0.5</c:v>
                </c:pt>
              </c:numCache>
            </c:numRef>
          </c:val>
          <c:extLst>
            <c:ext xmlns:c16="http://schemas.microsoft.com/office/drawing/2014/chart" uri="{C3380CC4-5D6E-409C-BE32-E72D297353CC}">
              <c16:uniqueId val="{00000004-63EA-4F90-92D9-641075710A28}"/>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Scho</c:v>
                </c:pt>
              </c:strCache>
            </c:strRef>
          </c:tx>
          <c:spPr>
            <a:solidFill>
              <a:srgbClr val="92D050"/>
            </a:solidFill>
            <a:ln>
              <a:noFill/>
            </a:ln>
          </c:spPr>
          <c:dPt>
            <c:idx val="0"/>
            <c:bubble3D val="0"/>
            <c:spPr>
              <a:solidFill>
                <a:srgbClr val="92D050"/>
              </a:solidFill>
              <a:ln w="19050">
                <a:noFill/>
              </a:ln>
              <a:effectLst/>
            </c:spPr>
            <c:extLst>
              <c:ext xmlns:c16="http://schemas.microsoft.com/office/drawing/2014/chart" uri="{C3380CC4-5D6E-409C-BE32-E72D297353CC}">
                <c16:uniqueId val="{00000001-EEFA-4369-BD44-C28E05B5D064}"/>
              </c:ext>
            </c:extLst>
          </c:dPt>
          <c:dPt>
            <c:idx val="1"/>
            <c:bubble3D val="0"/>
            <c:spPr>
              <a:solidFill>
                <a:srgbClr val="92D050"/>
              </a:solidFill>
              <a:ln w="19050">
                <a:noFill/>
              </a:ln>
              <a:effectLst/>
            </c:spPr>
            <c:extLst>
              <c:ext xmlns:c16="http://schemas.microsoft.com/office/drawing/2014/chart" uri="{C3380CC4-5D6E-409C-BE32-E72D297353CC}">
                <c16:uniqueId val="{00000003-EEFA-4369-BD44-C28E05B5D064}"/>
              </c:ext>
            </c:extLst>
          </c:dPt>
          <c:cat>
            <c:strRef>
              <c:f>Sheet1!$A$2:$A$3</c:f>
              <c:strCache>
                <c:ptCount val="2"/>
                <c:pt idx="0">
                  <c:v>Done</c:v>
                </c:pt>
                <c:pt idx="1">
                  <c:v>To be done</c:v>
                </c:pt>
              </c:strCache>
            </c:strRef>
          </c:cat>
          <c:val>
            <c:numRef>
              <c:f>Sheet1!$B$2:$B$3</c:f>
              <c:numCache>
                <c:formatCode>0%</c:formatCode>
                <c:ptCount val="2"/>
                <c:pt idx="0">
                  <c:v>1</c:v>
                </c:pt>
                <c:pt idx="1">
                  <c:v>0</c:v>
                </c:pt>
              </c:numCache>
            </c:numRef>
          </c:val>
          <c:extLst>
            <c:ext xmlns:c16="http://schemas.microsoft.com/office/drawing/2014/chart" uri="{C3380CC4-5D6E-409C-BE32-E72D297353CC}">
              <c16:uniqueId val="{00000004-EEFA-4369-BD44-C28E05B5D064}"/>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951DA5-E242-4C13-9DBC-813D72C5B73C}" type="datetimeFigureOut">
              <a:rPr lang="en-ZA" smtClean="0"/>
              <a:t>2026/08/13</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97C673-F23E-46EB-8FC9-884E07CCDF3C}" type="slidenum">
              <a:rPr lang="en-ZA" smtClean="0"/>
              <a:t>‹#›</a:t>
            </a:fld>
            <a:endParaRPr lang="en-ZA"/>
          </a:p>
        </p:txBody>
      </p:sp>
    </p:spTree>
    <p:extLst>
      <p:ext uri="{BB962C8B-B14F-4D97-AF65-F5344CB8AC3E}">
        <p14:creationId xmlns:p14="http://schemas.microsoft.com/office/powerpoint/2010/main" val="2158184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97C673-F23E-46EB-8FC9-884E07CCDF3C}" type="slidenum">
              <a:rPr lang="en-ZA" smtClean="0"/>
              <a:t>3</a:t>
            </a:fld>
            <a:endParaRPr lang="en-ZA"/>
          </a:p>
        </p:txBody>
      </p:sp>
    </p:spTree>
    <p:extLst>
      <p:ext uri="{BB962C8B-B14F-4D97-AF65-F5344CB8AC3E}">
        <p14:creationId xmlns:p14="http://schemas.microsoft.com/office/powerpoint/2010/main" val="1912240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0.png"/><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23.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3.emf"/><Relationship Id="rId4"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5.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6.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7.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8.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9.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0.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1.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2.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jpeg"/><Relationship Id="rId2" Type="http://schemas.openxmlformats.org/officeDocument/2006/relationships/image" Target="../media/image33.jpeg"/><Relationship Id="rId1" Type="http://schemas.openxmlformats.org/officeDocument/2006/relationships/slideMaster" Target="../slideMasters/slideMaster1.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554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6E4D59-8E5F-0E41-B733-0B0426B249A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Title 1">
            <a:extLst>
              <a:ext uri="{FF2B5EF4-FFF2-40B4-BE49-F238E27FC236}">
                <a16:creationId xmlns:a16="http://schemas.microsoft.com/office/drawing/2014/main" id="{7C49EED9-2DC9-AF44-A0AF-86FB7295FCF8}"/>
              </a:ext>
            </a:extLst>
          </p:cNvPr>
          <p:cNvSpPr>
            <a:spLocks noGrp="1"/>
          </p:cNvSpPr>
          <p:nvPr>
            <p:ph type="ctrTitle" hasCustomPrompt="1"/>
          </p:nvPr>
        </p:nvSpPr>
        <p:spPr>
          <a:xfrm>
            <a:off x="2873376" y="578098"/>
            <a:ext cx="9144000" cy="1438024"/>
          </a:xfrm>
        </p:spPr>
        <p:txBody>
          <a:bodyPr anchor="t"/>
          <a:lstStyle>
            <a:lvl1pPr algn="r">
              <a:lnSpc>
                <a:spcPts val="5280"/>
              </a:lnSpc>
              <a:defRPr sz="4400" b="1" i="0">
                <a:solidFill>
                  <a:schemeClr val="bg1"/>
                </a:solidFill>
                <a:latin typeface="Arial Black" panose="020B0604020202020204" pitchFamily="34" charset="0"/>
                <a:cs typeface="Arial Black" panose="020B0604020202020204" pitchFamily="34" charset="0"/>
              </a:defRPr>
            </a:lvl1pPr>
          </a:lstStyle>
          <a:p>
            <a:r>
              <a:rPr lang="en-GB"/>
              <a:t>COVER SLIDE TITLE</a:t>
            </a:r>
          </a:p>
        </p:txBody>
      </p:sp>
      <p:sp>
        <p:nvSpPr>
          <p:cNvPr id="13" name="Subtitle 2">
            <a:extLst>
              <a:ext uri="{FF2B5EF4-FFF2-40B4-BE49-F238E27FC236}">
                <a16:creationId xmlns:a16="http://schemas.microsoft.com/office/drawing/2014/main" id="{713F9D65-2323-8443-A976-1E0685A67774}"/>
              </a:ext>
            </a:extLst>
          </p:cNvPr>
          <p:cNvSpPr>
            <a:spLocks noGrp="1"/>
          </p:cNvSpPr>
          <p:nvPr>
            <p:ph type="subTitle" idx="1" hasCustomPrompt="1"/>
          </p:nvPr>
        </p:nvSpPr>
        <p:spPr>
          <a:xfrm>
            <a:off x="4733364" y="2091173"/>
            <a:ext cx="7284011" cy="1072431"/>
          </a:xfrm>
        </p:spPr>
        <p:txBody>
          <a:bodyPr/>
          <a:lstStyle>
            <a:lvl1pPr marL="0" indent="0" algn="r">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grpSp>
        <p:nvGrpSpPr>
          <p:cNvPr id="10" name="Group 9">
            <a:extLst>
              <a:ext uri="{FF2B5EF4-FFF2-40B4-BE49-F238E27FC236}">
                <a16:creationId xmlns:a16="http://schemas.microsoft.com/office/drawing/2014/main" id="{08618A65-DBAF-1A4C-A906-A75F2CFB96B8}"/>
              </a:ext>
            </a:extLst>
          </p:cNvPr>
          <p:cNvGrpSpPr/>
          <p:nvPr userDrawn="1"/>
        </p:nvGrpSpPr>
        <p:grpSpPr>
          <a:xfrm>
            <a:off x="10121901" y="4705643"/>
            <a:ext cx="1778000" cy="2182266"/>
            <a:chOff x="10121901" y="4705815"/>
            <a:chExt cx="1778000" cy="2182266"/>
          </a:xfrm>
        </p:grpSpPr>
        <p:sp>
          <p:nvSpPr>
            <p:cNvPr id="16" name="Rectangle 15">
              <a:extLst>
                <a:ext uri="{FF2B5EF4-FFF2-40B4-BE49-F238E27FC236}">
                  <a16:creationId xmlns:a16="http://schemas.microsoft.com/office/drawing/2014/main" id="{FE160001-081D-3849-A3AD-B8758996A609}"/>
                </a:ext>
              </a:extLst>
            </p:cNvPr>
            <p:cNvSpPr/>
            <p:nvPr userDrawn="1"/>
          </p:nvSpPr>
          <p:spPr>
            <a:xfrm>
              <a:off x="10121901" y="4847063"/>
              <a:ext cx="1778000" cy="2041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42F58B0-8C79-E94B-BB77-3508A7B20A08}"/>
                </a:ext>
              </a:extLst>
            </p:cNvPr>
            <p:cNvSpPr/>
            <p:nvPr userDrawn="1"/>
          </p:nvSpPr>
          <p:spPr>
            <a:xfrm>
              <a:off x="11009971" y="4705815"/>
              <a:ext cx="889930" cy="2155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A4B41507-CA24-6C4C-A491-5BE1F1BCFE60}"/>
              </a:ext>
            </a:extLst>
          </p:cNvPr>
          <p:cNvPicPr>
            <a:picLocks noChangeAspect="1"/>
          </p:cNvPicPr>
          <p:nvPr userDrawn="1"/>
        </p:nvPicPr>
        <p:blipFill>
          <a:blip r:embed="rId3"/>
          <a:stretch>
            <a:fillRect/>
          </a:stretch>
        </p:blipFill>
        <p:spPr>
          <a:xfrm>
            <a:off x="10427097" y="5132717"/>
            <a:ext cx="1220617" cy="1349859"/>
          </a:xfrm>
          <a:prstGeom prst="rect">
            <a:avLst/>
          </a:prstGeom>
        </p:spPr>
      </p:pic>
      <p:sp>
        <p:nvSpPr>
          <p:cNvPr id="14" name="Freeform 13">
            <a:extLst>
              <a:ext uri="{FF2B5EF4-FFF2-40B4-BE49-F238E27FC236}">
                <a16:creationId xmlns:a16="http://schemas.microsoft.com/office/drawing/2014/main" id="{43721039-EDBA-264A-836A-9B098134F452}"/>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49423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SLIDE_OPTION 2">
    <p:spTree>
      <p:nvGrpSpPr>
        <p:cNvPr id="1" name=""/>
        <p:cNvGrpSpPr/>
        <p:nvPr/>
      </p:nvGrpSpPr>
      <p:grpSpPr>
        <a:xfrm>
          <a:off x="0" y="0"/>
          <a:ext cx="0" cy="0"/>
          <a:chOff x="0" y="0"/>
          <a:chExt cx="0" cy="0"/>
        </a:xfrm>
      </p:grpSpPr>
      <p:pic>
        <p:nvPicPr>
          <p:cNvPr id="3" name="Picture 2" descr="A picture containing elephant, outdoor&#10;&#10;Description automatically generated">
            <a:extLst>
              <a:ext uri="{FF2B5EF4-FFF2-40B4-BE49-F238E27FC236}">
                <a16:creationId xmlns:a16="http://schemas.microsoft.com/office/drawing/2014/main" id="{8800C9E8-ECFB-644B-8B8D-56E1B22727C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flipH="1">
            <a:off x="0" y="0"/>
            <a:ext cx="12192000" cy="6858000"/>
          </a:xfrm>
          <a:prstGeom prst="rect">
            <a:avLst/>
          </a:prstGeom>
        </p:spPr>
      </p:pic>
      <p:sp>
        <p:nvSpPr>
          <p:cNvPr id="12" name="Title 1">
            <a:extLst>
              <a:ext uri="{FF2B5EF4-FFF2-40B4-BE49-F238E27FC236}">
                <a16:creationId xmlns:a16="http://schemas.microsoft.com/office/drawing/2014/main" id="{7C49EED9-2DC9-AF44-A0AF-86FB7295FCF8}"/>
              </a:ext>
            </a:extLst>
          </p:cNvPr>
          <p:cNvSpPr>
            <a:spLocks noGrp="1"/>
          </p:cNvSpPr>
          <p:nvPr>
            <p:ph type="ctrTitle" hasCustomPrompt="1"/>
          </p:nvPr>
        </p:nvSpPr>
        <p:spPr>
          <a:xfrm>
            <a:off x="2873376" y="578098"/>
            <a:ext cx="9144000" cy="1438024"/>
          </a:xfrm>
        </p:spPr>
        <p:txBody>
          <a:bodyPr anchor="t"/>
          <a:lstStyle>
            <a:lvl1pPr algn="r">
              <a:lnSpc>
                <a:spcPts val="5280"/>
              </a:lnSpc>
              <a:defRPr sz="4400" b="1" i="0">
                <a:solidFill>
                  <a:schemeClr val="tx2"/>
                </a:solidFill>
                <a:latin typeface="Arial Black" panose="020B0604020202020204" pitchFamily="34" charset="0"/>
                <a:cs typeface="Arial Black" panose="020B0604020202020204" pitchFamily="34" charset="0"/>
              </a:defRPr>
            </a:lvl1pPr>
          </a:lstStyle>
          <a:p>
            <a:r>
              <a:rPr lang="en-GB"/>
              <a:t>COVER SLIDE TITLE</a:t>
            </a:r>
          </a:p>
        </p:txBody>
      </p:sp>
      <p:sp>
        <p:nvSpPr>
          <p:cNvPr id="13" name="Subtitle 2">
            <a:extLst>
              <a:ext uri="{FF2B5EF4-FFF2-40B4-BE49-F238E27FC236}">
                <a16:creationId xmlns:a16="http://schemas.microsoft.com/office/drawing/2014/main" id="{713F9D65-2323-8443-A976-1E0685A67774}"/>
              </a:ext>
            </a:extLst>
          </p:cNvPr>
          <p:cNvSpPr>
            <a:spLocks noGrp="1"/>
          </p:cNvSpPr>
          <p:nvPr>
            <p:ph type="subTitle" idx="1" hasCustomPrompt="1"/>
          </p:nvPr>
        </p:nvSpPr>
        <p:spPr>
          <a:xfrm>
            <a:off x="4733364" y="2091173"/>
            <a:ext cx="7284011" cy="1072431"/>
          </a:xfrm>
        </p:spPr>
        <p:txBody>
          <a:bodyPr/>
          <a:lstStyle>
            <a:lvl1pPr marL="0" indent="0" algn="r">
              <a:buNone/>
              <a:defRPr sz="32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grpSp>
        <p:nvGrpSpPr>
          <p:cNvPr id="10" name="Group 9">
            <a:extLst>
              <a:ext uri="{FF2B5EF4-FFF2-40B4-BE49-F238E27FC236}">
                <a16:creationId xmlns:a16="http://schemas.microsoft.com/office/drawing/2014/main" id="{08618A65-DBAF-1A4C-A906-A75F2CFB96B8}"/>
              </a:ext>
            </a:extLst>
          </p:cNvPr>
          <p:cNvGrpSpPr/>
          <p:nvPr userDrawn="1"/>
        </p:nvGrpSpPr>
        <p:grpSpPr>
          <a:xfrm>
            <a:off x="10121901" y="4705643"/>
            <a:ext cx="1778000" cy="2182266"/>
            <a:chOff x="10121901" y="4705815"/>
            <a:chExt cx="1778000" cy="2182266"/>
          </a:xfrm>
        </p:grpSpPr>
        <p:sp>
          <p:nvSpPr>
            <p:cNvPr id="16" name="Rectangle 15">
              <a:extLst>
                <a:ext uri="{FF2B5EF4-FFF2-40B4-BE49-F238E27FC236}">
                  <a16:creationId xmlns:a16="http://schemas.microsoft.com/office/drawing/2014/main" id="{FE160001-081D-3849-A3AD-B8758996A609}"/>
                </a:ext>
              </a:extLst>
            </p:cNvPr>
            <p:cNvSpPr/>
            <p:nvPr userDrawn="1"/>
          </p:nvSpPr>
          <p:spPr>
            <a:xfrm>
              <a:off x="10121901" y="4847063"/>
              <a:ext cx="1778000" cy="2041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42F58B0-8C79-E94B-BB77-3508A7B20A08}"/>
                </a:ext>
              </a:extLst>
            </p:cNvPr>
            <p:cNvSpPr/>
            <p:nvPr userDrawn="1"/>
          </p:nvSpPr>
          <p:spPr>
            <a:xfrm>
              <a:off x="11009971" y="4705815"/>
              <a:ext cx="889930" cy="2155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A4B41507-CA24-6C4C-A491-5BE1F1BCFE60}"/>
              </a:ext>
            </a:extLst>
          </p:cNvPr>
          <p:cNvPicPr>
            <a:picLocks noChangeAspect="1"/>
          </p:cNvPicPr>
          <p:nvPr userDrawn="1"/>
        </p:nvPicPr>
        <p:blipFill>
          <a:blip r:embed="rId3"/>
          <a:stretch>
            <a:fillRect/>
          </a:stretch>
        </p:blipFill>
        <p:spPr>
          <a:xfrm>
            <a:off x="10427097" y="5132717"/>
            <a:ext cx="1220617" cy="1349859"/>
          </a:xfrm>
          <a:prstGeom prst="rect">
            <a:avLst/>
          </a:prstGeom>
        </p:spPr>
      </p:pic>
      <p:sp>
        <p:nvSpPr>
          <p:cNvPr id="14" name="Freeform 13">
            <a:extLst>
              <a:ext uri="{FF2B5EF4-FFF2-40B4-BE49-F238E27FC236}">
                <a16:creationId xmlns:a16="http://schemas.microsoft.com/office/drawing/2014/main" id="{43721039-EDBA-264A-836A-9B098134F452}"/>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2362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_R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CC379E-2B04-424F-A90C-61377C69DDAC}"/>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D42E12"/>
              </a:solidFill>
            </a:endParaRPr>
          </a:p>
        </p:txBody>
      </p:sp>
      <p:grpSp>
        <p:nvGrpSpPr>
          <p:cNvPr id="17" name="Group 16">
            <a:extLst>
              <a:ext uri="{FF2B5EF4-FFF2-40B4-BE49-F238E27FC236}">
                <a16:creationId xmlns:a16="http://schemas.microsoft.com/office/drawing/2014/main" id="{8C9962EE-9EFA-9C45-B7F6-629172B13DBF}"/>
              </a:ext>
            </a:extLst>
          </p:cNvPr>
          <p:cNvGrpSpPr/>
          <p:nvPr userDrawn="1"/>
        </p:nvGrpSpPr>
        <p:grpSpPr>
          <a:xfrm>
            <a:off x="10121901" y="4705643"/>
            <a:ext cx="1778000" cy="2182266"/>
            <a:chOff x="10121901" y="4705815"/>
            <a:chExt cx="1778000" cy="2182266"/>
          </a:xfrm>
        </p:grpSpPr>
        <p:sp>
          <p:nvSpPr>
            <p:cNvPr id="15" name="Rectangle 14">
              <a:extLst>
                <a:ext uri="{FF2B5EF4-FFF2-40B4-BE49-F238E27FC236}">
                  <a16:creationId xmlns:a16="http://schemas.microsoft.com/office/drawing/2014/main" id="{5F4ACD2D-E256-6443-8FC2-E3CCC9B976BA}"/>
                </a:ext>
              </a:extLst>
            </p:cNvPr>
            <p:cNvSpPr/>
            <p:nvPr userDrawn="1"/>
          </p:nvSpPr>
          <p:spPr>
            <a:xfrm>
              <a:off x="10121901" y="4847063"/>
              <a:ext cx="1778000" cy="20410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1733738-9D61-CA44-BEC3-ABC5E7386F39}"/>
                </a:ext>
              </a:extLst>
            </p:cNvPr>
            <p:cNvSpPr/>
            <p:nvPr userDrawn="1"/>
          </p:nvSpPr>
          <p:spPr>
            <a:xfrm>
              <a:off x="11009971" y="4705815"/>
              <a:ext cx="889930" cy="2155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Picture 9" descr="Shape&#10;&#10;Description automatically generated">
            <a:extLst>
              <a:ext uri="{FF2B5EF4-FFF2-40B4-BE49-F238E27FC236}">
                <a16:creationId xmlns:a16="http://schemas.microsoft.com/office/drawing/2014/main" id="{DC351D4E-E25C-E94F-B928-FB3C527982A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21901" y="0"/>
            <a:ext cx="1778000" cy="449260"/>
          </a:xfrm>
          <a:prstGeom prst="rect">
            <a:avLst/>
          </a:prstGeom>
        </p:spPr>
      </p:pic>
      <p:sp>
        <p:nvSpPr>
          <p:cNvPr id="12" name="Title 1">
            <a:extLst>
              <a:ext uri="{FF2B5EF4-FFF2-40B4-BE49-F238E27FC236}">
                <a16:creationId xmlns:a16="http://schemas.microsoft.com/office/drawing/2014/main" id="{7C49EED9-2DC9-AF44-A0AF-86FB7295FCF8}"/>
              </a:ext>
            </a:extLst>
          </p:cNvPr>
          <p:cNvSpPr>
            <a:spLocks noGrp="1"/>
          </p:cNvSpPr>
          <p:nvPr>
            <p:ph type="ctrTitle" hasCustomPrompt="1"/>
          </p:nvPr>
        </p:nvSpPr>
        <p:spPr>
          <a:xfrm>
            <a:off x="2873376" y="578098"/>
            <a:ext cx="9144000" cy="1438024"/>
          </a:xfrm>
        </p:spPr>
        <p:txBody>
          <a:bodyPr anchor="t"/>
          <a:lstStyle>
            <a:lvl1pPr algn="r">
              <a:lnSpc>
                <a:spcPts val="5280"/>
              </a:lnSpc>
              <a:defRPr sz="4400" b="1" i="0">
                <a:solidFill>
                  <a:schemeClr val="bg1"/>
                </a:solidFill>
                <a:latin typeface="Arial Black" panose="020B0604020202020204" pitchFamily="34" charset="0"/>
                <a:cs typeface="Arial Black" panose="020B0604020202020204" pitchFamily="34" charset="0"/>
              </a:defRPr>
            </a:lvl1pPr>
          </a:lstStyle>
          <a:p>
            <a:r>
              <a:rPr lang="en-GB"/>
              <a:t>CLICK TO EDIT MASTER TITLE STYLE</a:t>
            </a:r>
          </a:p>
        </p:txBody>
      </p:sp>
      <p:sp>
        <p:nvSpPr>
          <p:cNvPr id="13" name="Subtitle 2">
            <a:extLst>
              <a:ext uri="{FF2B5EF4-FFF2-40B4-BE49-F238E27FC236}">
                <a16:creationId xmlns:a16="http://schemas.microsoft.com/office/drawing/2014/main" id="{713F9D65-2323-8443-A976-1E0685A67774}"/>
              </a:ext>
            </a:extLst>
          </p:cNvPr>
          <p:cNvSpPr>
            <a:spLocks noGrp="1"/>
          </p:cNvSpPr>
          <p:nvPr>
            <p:ph type="subTitle" idx="1" hasCustomPrompt="1"/>
          </p:nvPr>
        </p:nvSpPr>
        <p:spPr>
          <a:xfrm>
            <a:off x="4733364" y="2091173"/>
            <a:ext cx="7284011" cy="1072431"/>
          </a:xfrm>
        </p:spPr>
        <p:txBody>
          <a:bodyPr/>
          <a:lstStyle>
            <a:lvl1pPr marL="0" indent="0" algn="r">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pic>
        <p:nvPicPr>
          <p:cNvPr id="20" name="Picture 19">
            <a:extLst>
              <a:ext uri="{FF2B5EF4-FFF2-40B4-BE49-F238E27FC236}">
                <a16:creationId xmlns:a16="http://schemas.microsoft.com/office/drawing/2014/main" id="{0DE15E44-4510-F34F-8D74-C0A1CC3A0AB9}"/>
              </a:ext>
            </a:extLst>
          </p:cNvPr>
          <p:cNvPicPr>
            <a:picLocks noChangeAspect="1"/>
          </p:cNvPicPr>
          <p:nvPr userDrawn="1"/>
        </p:nvPicPr>
        <p:blipFill>
          <a:blip r:embed="rId3"/>
          <a:stretch>
            <a:fillRect/>
          </a:stretch>
        </p:blipFill>
        <p:spPr>
          <a:xfrm>
            <a:off x="10427097" y="5132717"/>
            <a:ext cx="1220617" cy="1349859"/>
          </a:xfrm>
          <a:prstGeom prst="rect">
            <a:avLst/>
          </a:prstGeom>
        </p:spPr>
      </p:pic>
    </p:spTree>
    <p:extLst>
      <p:ext uri="{BB962C8B-B14F-4D97-AF65-F5344CB8AC3E}">
        <p14:creationId xmlns:p14="http://schemas.microsoft.com/office/powerpoint/2010/main" val="1939367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_WHIT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7C49EED9-2DC9-AF44-A0AF-86FB7295FCF8}"/>
              </a:ext>
            </a:extLst>
          </p:cNvPr>
          <p:cNvSpPr>
            <a:spLocks noGrp="1"/>
          </p:cNvSpPr>
          <p:nvPr>
            <p:ph type="ctrTitle" hasCustomPrompt="1"/>
          </p:nvPr>
        </p:nvSpPr>
        <p:spPr>
          <a:xfrm>
            <a:off x="2873376" y="578098"/>
            <a:ext cx="9144000" cy="1438024"/>
          </a:xfrm>
        </p:spPr>
        <p:txBody>
          <a:bodyPr anchor="t"/>
          <a:lstStyle>
            <a:lvl1pPr algn="r">
              <a:lnSpc>
                <a:spcPts val="5280"/>
              </a:lnSpc>
              <a:defRPr sz="4400" b="1" i="0">
                <a:solidFill>
                  <a:schemeClr val="tx2"/>
                </a:solidFill>
                <a:latin typeface="Arial Black" panose="020B0604020202020204" pitchFamily="34" charset="0"/>
                <a:cs typeface="Arial Black" panose="020B0604020202020204" pitchFamily="34" charset="0"/>
              </a:defRPr>
            </a:lvl1pPr>
          </a:lstStyle>
          <a:p>
            <a:r>
              <a:rPr lang="en-GB"/>
              <a:t>CLICK TO EDIT MASTER TITLE STYLE</a:t>
            </a:r>
          </a:p>
        </p:txBody>
      </p:sp>
      <p:sp>
        <p:nvSpPr>
          <p:cNvPr id="13" name="Subtitle 2">
            <a:extLst>
              <a:ext uri="{FF2B5EF4-FFF2-40B4-BE49-F238E27FC236}">
                <a16:creationId xmlns:a16="http://schemas.microsoft.com/office/drawing/2014/main" id="{713F9D65-2323-8443-A976-1E0685A67774}"/>
              </a:ext>
            </a:extLst>
          </p:cNvPr>
          <p:cNvSpPr>
            <a:spLocks noGrp="1"/>
          </p:cNvSpPr>
          <p:nvPr>
            <p:ph type="subTitle" idx="1" hasCustomPrompt="1"/>
          </p:nvPr>
        </p:nvSpPr>
        <p:spPr>
          <a:xfrm>
            <a:off x="4733364" y="2091173"/>
            <a:ext cx="7284011" cy="1072431"/>
          </a:xfrm>
        </p:spPr>
        <p:txBody>
          <a:bodyPr/>
          <a:lstStyle>
            <a:lvl1pPr marL="0" indent="0" algn="r">
              <a:buNone/>
              <a:defRPr sz="32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sp>
        <p:nvSpPr>
          <p:cNvPr id="15" name="Freeform 14">
            <a:extLst>
              <a:ext uri="{FF2B5EF4-FFF2-40B4-BE49-F238E27FC236}">
                <a16:creationId xmlns:a16="http://schemas.microsoft.com/office/drawing/2014/main" id="{CFB5C54B-0ADE-0F44-A339-3D55E5348216}"/>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 name="Group 9">
            <a:extLst>
              <a:ext uri="{FF2B5EF4-FFF2-40B4-BE49-F238E27FC236}">
                <a16:creationId xmlns:a16="http://schemas.microsoft.com/office/drawing/2014/main" id="{08618A65-DBAF-1A4C-A906-A75F2CFB96B8}"/>
              </a:ext>
            </a:extLst>
          </p:cNvPr>
          <p:cNvGrpSpPr/>
          <p:nvPr userDrawn="1"/>
        </p:nvGrpSpPr>
        <p:grpSpPr>
          <a:xfrm>
            <a:off x="10121901" y="4705643"/>
            <a:ext cx="1778000" cy="2182266"/>
            <a:chOff x="10121901" y="4705815"/>
            <a:chExt cx="1778000" cy="2182266"/>
          </a:xfrm>
        </p:grpSpPr>
        <p:sp>
          <p:nvSpPr>
            <p:cNvPr id="16" name="Rectangle 15">
              <a:extLst>
                <a:ext uri="{FF2B5EF4-FFF2-40B4-BE49-F238E27FC236}">
                  <a16:creationId xmlns:a16="http://schemas.microsoft.com/office/drawing/2014/main" id="{FE160001-081D-3849-A3AD-B8758996A609}"/>
                </a:ext>
              </a:extLst>
            </p:cNvPr>
            <p:cNvSpPr/>
            <p:nvPr userDrawn="1"/>
          </p:nvSpPr>
          <p:spPr>
            <a:xfrm>
              <a:off x="10121901" y="4847063"/>
              <a:ext cx="1778000" cy="2041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42F58B0-8C79-E94B-BB77-3508A7B20A08}"/>
                </a:ext>
              </a:extLst>
            </p:cNvPr>
            <p:cNvSpPr/>
            <p:nvPr userDrawn="1"/>
          </p:nvSpPr>
          <p:spPr>
            <a:xfrm>
              <a:off x="11009971" y="4705815"/>
              <a:ext cx="889930" cy="2155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9" name="Picture 18">
            <a:extLst>
              <a:ext uri="{FF2B5EF4-FFF2-40B4-BE49-F238E27FC236}">
                <a16:creationId xmlns:a16="http://schemas.microsoft.com/office/drawing/2014/main" id="{C56FFE7B-3B69-F84B-B672-4A4399E0A869}"/>
              </a:ext>
            </a:extLst>
          </p:cNvPr>
          <p:cNvPicPr>
            <a:picLocks noChangeAspect="1"/>
          </p:cNvPicPr>
          <p:nvPr userDrawn="1"/>
        </p:nvPicPr>
        <p:blipFill>
          <a:blip r:embed="rId2"/>
          <a:stretch>
            <a:fillRect/>
          </a:stretch>
        </p:blipFill>
        <p:spPr>
          <a:xfrm>
            <a:off x="10427097" y="5132717"/>
            <a:ext cx="1220617" cy="1349859"/>
          </a:xfrm>
          <a:prstGeom prst="rect">
            <a:avLst/>
          </a:prstGeom>
        </p:spPr>
      </p:pic>
    </p:spTree>
    <p:extLst>
      <p:ext uri="{BB962C8B-B14F-4D97-AF65-F5344CB8AC3E}">
        <p14:creationId xmlns:p14="http://schemas.microsoft.com/office/powerpoint/2010/main" val="421157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S SLIDE">
    <p:spTree>
      <p:nvGrpSpPr>
        <p:cNvPr id="1" name=""/>
        <p:cNvGrpSpPr/>
        <p:nvPr/>
      </p:nvGrpSpPr>
      <p:grpSpPr>
        <a:xfrm>
          <a:off x="0" y="0"/>
          <a:ext cx="0" cy="0"/>
          <a:chOff x="0" y="0"/>
          <a:chExt cx="0" cy="0"/>
        </a:xfrm>
      </p:grpSpPr>
      <p:pic>
        <p:nvPicPr>
          <p:cNvPr id="6" name="Picture 5" descr="A picture containing snow, outdoor, slope&#10;&#10;Description automatically generated">
            <a:extLst>
              <a:ext uri="{FF2B5EF4-FFF2-40B4-BE49-F238E27FC236}">
                <a16:creationId xmlns:a16="http://schemas.microsoft.com/office/drawing/2014/main" id="{F863C899-C2DF-FF4F-900D-D3F77C99FB8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1" name="Freeform 10">
            <a:extLst>
              <a:ext uri="{FF2B5EF4-FFF2-40B4-BE49-F238E27FC236}">
                <a16:creationId xmlns:a16="http://schemas.microsoft.com/office/drawing/2014/main" id="{2F61D1B6-A2CF-6D43-9EA7-E7442AE57541}"/>
              </a:ext>
            </a:extLst>
          </p:cNvPr>
          <p:cNvSpPr/>
          <p:nvPr userDrawn="1"/>
        </p:nvSpPr>
        <p:spPr>
          <a:xfrm rot="16200000" flipH="1">
            <a:off x="10905780" y="4853919"/>
            <a:ext cx="1957741" cy="715892"/>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82792"/>
              <a:gd name="connsiteY0" fmla="*/ 0 h 2042410"/>
              <a:gd name="connsiteX1" fmla="*/ 888167 w 1782792"/>
              <a:gd name="connsiteY1" fmla="*/ 0 h 2042410"/>
              <a:gd name="connsiteX2" fmla="*/ 888167 w 1782792"/>
              <a:gd name="connsiteY2" fmla="*/ 176135 h 2042410"/>
              <a:gd name="connsiteX3" fmla="*/ 0 w 1782792"/>
              <a:gd name="connsiteY3" fmla="*/ 176135 h 2042410"/>
              <a:gd name="connsiteX4" fmla="*/ 0 w 1782792"/>
              <a:gd name="connsiteY4" fmla="*/ 2042410 h 2042410"/>
              <a:gd name="connsiteX5" fmla="*/ 1782792 w 1782792"/>
              <a:gd name="connsiteY5" fmla="*/ 977345 h 2042410"/>
              <a:gd name="connsiteX6" fmla="*/ 1776335 w 1782792"/>
              <a:gd name="connsiteY6" fmla="*/ 0 h 2042410"/>
              <a:gd name="connsiteX0" fmla="*/ 1776335 w 1782792"/>
              <a:gd name="connsiteY0" fmla="*/ 0 h 977346"/>
              <a:gd name="connsiteX1" fmla="*/ 888167 w 1782792"/>
              <a:gd name="connsiteY1" fmla="*/ 0 h 977346"/>
              <a:gd name="connsiteX2" fmla="*/ 888167 w 1782792"/>
              <a:gd name="connsiteY2" fmla="*/ 176135 h 977346"/>
              <a:gd name="connsiteX3" fmla="*/ 0 w 1782792"/>
              <a:gd name="connsiteY3" fmla="*/ 176135 h 977346"/>
              <a:gd name="connsiteX4" fmla="*/ 0 w 1782792"/>
              <a:gd name="connsiteY4" fmla="*/ 977346 h 977346"/>
              <a:gd name="connsiteX5" fmla="*/ 1782792 w 1782792"/>
              <a:gd name="connsiteY5" fmla="*/ 977345 h 977346"/>
              <a:gd name="connsiteX6" fmla="*/ 1776335 w 1782792"/>
              <a:gd name="connsiteY6" fmla="*/ 0 h 977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2792" h="977346">
                <a:moveTo>
                  <a:pt x="1776335" y="0"/>
                </a:moveTo>
                <a:lnTo>
                  <a:pt x="888167" y="0"/>
                </a:lnTo>
                <a:lnTo>
                  <a:pt x="888167" y="176135"/>
                </a:lnTo>
                <a:lnTo>
                  <a:pt x="0" y="176135"/>
                </a:lnTo>
                <a:lnTo>
                  <a:pt x="0" y="977346"/>
                </a:lnTo>
                <a:lnTo>
                  <a:pt x="1782792" y="977345"/>
                </a:lnTo>
                <a:cubicBezTo>
                  <a:pt x="1780640" y="651563"/>
                  <a:pt x="1778487" y="325782"/>
                  <a:pt x="177633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9E8D1C9-8D43-A841-8FDA-8751CEAC9568}"/>
              </a:ext>
            </a:extLst>
          </p:cNvPr>
          <p:cNvSpPr>
            <a:spLocks noGrp="1"/>
          </p:cNvSpPr>
          <p:nvPr>
            <p:ph type="title" hasCustomPrompt="1"/>
          </p:nvPr>
        </p:nvSpPr>
        <p:spPr>
          <a:xfrm>
            <a:off x="1130934" y="781202"/>
            <a:ext cx="7803963" cy="1074836"/>
          </a:xfrm>
        </p:spPr>
        <p:txBody>
          <a:bodyPr anchor="t">
            <a:normAutofit/>
          </a:bodyPr>
          <a:lstStyle>
            <a:lvl1pPr algn="l">
              <a:defRPr sz="2800" b="1" i="0">
                <a:solidFill>
                  <a:schemeClr val="tx2"/>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sp>
        <p:nvSpPr>
          <p:cNvPr id="7" name="Freeform 6">
            <a:extLst>
              <a:ext uri="{FF2B5EF4-FFF2-40B4-BE49-F238E27FC236}">
                <a16:creationId xmlns:a16="http://schemas.microsoft.com/office/drawing/2014/main" id="{4C7EFA3B-E4AE-304F-B9AE-190B2857D628}"/>
              </a:ext>
            </a:extLst>
          </p:cNvPr>
          <p:cNvSpPr/>
          <p:nvPr userDrawn="1"/>
        </p:nvSpPr>
        <p:spPr>
          <a:xfrm rot="16200000" flipV="1">
            <a:off x="-631343" y="1360161"/>
            <a:ext cx="1957741" cy="695057"/>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82792"/>
              <a:gd name="connsiteY0" fmla="*/ 0 h 2042410"/>
              <a:gd name="connsiteX1" fmla="*/ 888167 w 1782792"/>
              <a:gd name="connsiteY1" fmla="*/ 0 h 2042410"/>
              <a:gd name="connsiteX2" fmla="*/ 888167 w 1782792"/>
              <a:gd name="connsiteY2" fmla="*/ 176135 h 2042410"/>
              <a:gd name="connsiteX3" fmla="*/ 0 w 1782792"/>
              <a:gd name="connsiteY3" fmla="*/ 176135 h 2042410"/>
              <a:gd name="connsiteX4" fmla="*/ 0 w 1782792"/>
              <a:gd name="connsiteY4" fmla="*/ 2042410 h 2042410"/>
              <a:gd name="connsiteX5" fmla="*/ 1782792 w 1782792"/>
              <a:gd name="connsiteY5" fmla="*/ 977345 h 2042410"/>
              <a:gd name="connsiteX6" fmla="*/ 1776335 w 1782792"/>
              <a:gd name="connsiteY6" fmla="*/ 0 h 2042410"/>
              <a:gd name="connsiteX0" fmla="*/ 1776335 w 1782792"/>
              <a:gd name="connsiteY0" fmla="*/ 0 h 977346"/>
              <a:gd name="connsiteX1" fmla="*/ 888167 w 1782792"/>
              <a:gd name="connsiteY1" fmla="*/ 0 h 977346"/>
              <a:gd name="connsiteX2" fmla="*/ 888167 w 1782792"/>
              <a:gd name="connsiteY2" fmla="*/ 176135 h 977346"/>
              <a:gd name="connsiteX3" fmla="*/ 0 w 1782792"/>
              <a:gd name="connsiteY3" fmla="*/ 176135 h 977346"/>
              <a:gd name="connsiteX4" fmla="*/ 0 w 1782792"/>
              <a:gd name="connsiteY4" fmla="*/ 977346 h 977346"/>
              <a:gd name="connsiteX5" fmla="*/ 1782792 w 1782792"/>
              <a:gd name="connsiteY5" fmla="*/ 977345 h 977346"/>
              <a:gd name="connsiteX6" fmla="*/ 1776335 w 1782792"/>
              <a:gd name="connsiteY6" fmla="*/ 0 h 977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2792" h="977346">
                <a:moveTo>
                  <a:pt x="1776335" y="0"/>
                </a:moveTo>
                <a:lnTo>
                  <a:pt x="888167" y="0"/>
                </a:lnTo>
                <a:lnTo>
                  <a:pt x="888167" y="176135"/>
                </a:lnTo>
                <a:lnTo>
                  <a:pt x="0" y="176135"/>
                </a:lnTo>
                <a:lnTo>
                  <a:pt x="0" y="977346"/>
                </a:lnTo>
                <a:lnTo>
                  <a:pt x="1782792" y="977345"/>
                </a:lnTo>
                <a:cubicBezTo>
                  <a:pt x="1780640" y="651563"/>
                  <a:pt x="1778487" y="325782"/>
                  <a:pt x="177633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 name="Group">
            <a:extLst>
              <a:ext uri="{FF2B5EF4-FFF2-40B4-BE49-F238E27FC236}">
                <a16:creationId xmlns:a16="http://schemas.microsoft.com/office/drawing/2014/main" id="{C7655DD1-2BDD-6743-B506-C3315335BF25}"/>
              </a:ext>
            </a:extLst>
          </p:cNvPr>
          <p:cNvGrpSpPr/>
          <p:nvPr userDrawn="1"/>
        </p:nvGrpSpPr>
        <p:grpSpPr>
          <a:xfrm>
            <a:off x="6798799" y="728819"/>
            <a:ext cx="5143949" cy="5087917"/>
            <a:chOff x="0" y="0"/>
            <a:chExt cx="8624820" cy="8530870"/>
          </a:xfrm>
          <a:solidFill>
            <a:schemeClr val="bg1">
              <a:lumMod val="50000"/>
            </a:schemeClr>
          </a:solidFill>
        </p:grpSpPr>
        <p:sp>
          <p:nvSpPr>
            <p:cNvPr id="10" name="Shape">
              <a:extLst>
                <a:ext uri="{FF2B5EF4-FFF2-40B4-BE49-F238E27FC236}">
                  <a16:creationId xmlns:a16="http://schemas.microsoft.com/office/drawing/2014/main" id="{21266128-4CA5-A241-BE04-F279D5DC34AB}"/>
                </a:ext>
              </a:extLst>
            </p:cNvPr>
            <p:cNvSpPr/>
            <p:nvPr/>
          </p:nvSpPr>
          <p:spPr>
            <a:xfrm>
              <a:off x="3549540" y="4350349"/>
              <a:ext cx="59849" cy="61219"/>
            </a:xfrm>
            <a:custGeom>
              <a:avLst/>
              <a:gdLst/>
              <a:ahLst/>
              <a:cxnLst>
                <a:cxn ang="0">
                  <a:pos x="wd2" y="hd2"/>
                </a:cxn>
                <a:cxn ang="5400000">
                  <a:pos x="wd2" y="hd2"/>
                </a:cxn>
                <a:cxn ang="10800000">
                  <a:pos x="wd2" y="hd2"/>
                </a:cxn>
                <a:cxn ang="16200000">
                  <a:pos x="wd2" y="hd2"/>
                </a:cxn>
              </a:cxnLst>
              <a:rect l="0" t="0" r="r" b="b"/>
              <a:pathLst>
                <a:path w="20780" h="21600" extrusionOk="0">
                  <a:moveTo>
                    <a:pt x="15380" y="0"/>
                  </a:moveTo>
                  <a:cubicBezTo>
                    <a:pt x="14030" y="0"/>
                    <a:pt x="12680" y="0"/>
                    <a:pt x="11330" y="0"/>
                  </a:cubicBezTo>
                  <a:cubicBezTo>
                    <a:pt x="8630" y="1271"/>
                    <a:pt x="7280" y="2541"/>
                    <a:pt x="5930" y="3812"/>
                  </a:cubicBezTo>
                  <a:cubicBezTo>
                    <a:pt x="4580" y="3812"/>
                    <a:pt x="3230" y="5082"/>
                    <a:pt x="3230" y="5082"/>
                  </a:cubicBezTo>
                  <a:cubicBezTo>
                    <a:pt x="530" y="6353"/>
                    <a:pt x="-820" y="11435"/>
                    <a:pt x="530" y="13976"/>
                  </a:cubicBezTo>
                  <a:cubicBezTo>
                    <a:pt x="530" y="15247"/>
                    <a:pt x="530" y="20329"/>
                    <a:pt x="3230" y="21600"/>
                  </a:cubicBezTo>
                  <a:cubicBezTo>
                    <a:pt x="4580" y="21600"/>
                    <a:pt x="4580" y="21600"/>
                    <a:pt x="5930" y="21600"/>
                  </a:cubicBezTo>
                  <a:cubicBezTo>
                    <a:pt x="9980" y="21600"/>
                    <a:pt x="11330" y="16518"/>
                    <a:pt x="11330" y="13976"/>
                  </a:cubicBezTo>
                  <a:cubicBezTo>
                    <a:pt x="11330" y="12706"/>
                    <a:pt x="12680" y="12706"/>
                    <a:pt x="12680" y="11435"/>
                  </a:cubicBezTo>
                  <a:cubicBezTo>
                    <a:pt x="12680" y="10165"/>
                    <a:pt x="12680" y="10165"/>
                    <a:pt x="15380" y="10165"/>
                  </a:cubicBezTo>
                  <a:cubicBezTo>
                    <a:pt x="15380" y="8894"/>
                    <a:pt x="16730" y="8894"/>
                    <a:pt x="18080" y="7624"/>
                  </a:cubicBezTo>
                  <a:cubicBezTo>
                    <a:pt x="20780" y="6353"/>
                    <a:pt x="20780" y="3812"/>
                    <a:pt x="20780" y="2541"/>
                  </a:cubicBezTo>
                  <a:cubicBezTo>
                    <a:pt x="20780" y="1271"/>
                    <a:pt x="19430" y="0"/>
                    <a:pt x="15380" y="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12" name="Shape">
              <a:extLst>
                <a:ext uri="{FF2B5EF4-FFF2-40B4-BE49-F238E27FC236}">
                  <a16:creationId xmlns:a16="http://schemas.microsoft.com/office/drawing/2014/main" id="{C6FBFB38-3203-4E44-90E6-0691B1589743}"/>
                </a:ext>
              </a:extLst>
            </p:cNvPr>
            <p:cNvSpPr/>
            <p:nvPr/>
          </p:nvSpPr>
          <p:spPr>
            <a:xfrm>
              <a:off x="3643710" y="4200269"/>
              <a:ext cx="36468" cy="35545"/>
            </a:xfrm>
            <a:custGeom>
              <a:avLst/>
              <a:gdLst/>
              <a:ahLst/>
              <a:cxnLst>
                <a:cxn ang="0">
                  <a:pos x="wd2" y="hd2"/>
                </a:cxn>
                <a:cxn ang="5400000">
                  <a:pos x="wd2" y="hd2"/>
                </a:cxn>
                <a:cxn ang="10800000">
                  <a:pos x="wd2" y="hd2"/>
                </a:cxn>
                <a:cxn ang="16200000">
                  <a:pos x="wd2" y="hd2"/>
                </a:cxn>
              </a:cxnLst>
              <a:rect l="0" t="0" r="r" b="b"/>
              <a:pathLst>
                <a:path w="21600" h="21600" extrusionOk="0">
                  <a:moveTo>
                    <a:pt x="16800" y="2160"/>
                  </a:moveTo>
                  <a:cubicBezTo>
                    <a:pt x="16800" y="0"/>
                    <a:pt x="14400" y="0"/>
                    <a:pt x="12000" y="0"/>
                  </a:cubicBezTo>
                  <a:cubicBezTo>
                    <a:pt x="9600" y="0"/>
                    <a:pt x="7200" y="0"/>
                    <a:pt x="4800" y="2160"/>
                  </a:cubicBezTo>
                  <a:cubicBezTo>
                    <a:pt x="2400" y="6480"/>
                    <a:pt x="0" y="15120"/>
                    <a:pt x="0" y="17280"/>
                  </a:cubicBezTo>
                  <a:cubicBezTo>
                    <a:pt x="0" y="19440"/>
                    <a:pt x="0" y="19440"/>
                    <a:pt x="0" y="19440"/>
                  </a:cubicBezTo>
                  <a:cubicBezTo>
                    <a:pt x="4800" y="21600"/>
                    <a:pt x="4800" y="21600"/>
                    <a:pt x="4800" y="21600"/>
                  </a:cubicBezTo>
                  <a:cubicBezTo>
                    <a:pt x="4800" y="21600"/>
                    <a:pt x="4800" y="21600"/>
                    <a:pt x="4800" y="21600"/>
                  </a:cubicBezTo>
                  <a:cubicBezTo>
                    <a:pt x="4800" y="21600"/>
                    <a:pt x="4800" y="21600"/>
                    <a:pt x="4800" y="21600"/>
                  </a:cubicBezTo>
                  <a:cubicBezTo>
                    <a:pt x="12000" y="21600"/>
                    <a:pt x="19200" y="15120"/>
                    <a:pt x="21600" y="10800"/>
                  </a:cubicBezTo>
                  <a:cubicBezTo>
                    <a:pt x="21600" y="6480"/>
                    <a:pt x="21600" y="4320"/>
                    <a:pt x="16800" y="216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13" name="Shape">
              <a:extLst>
                <a:ext uri="{FF2B5EF4-FFF2-40B4-BE49-F238E27FC236}">
                  <a16:creationId xmlns:a16="http://schemas.microsoft.com/office/drawing/2014/main" id="{9327BE00-0A74-A54F-BF15-5709941B7F4E}"/>
                </a:ext>
              </a:extLst>
            </p:cNvPr>
            <p:cNvSpPr/>
            <p:nvPr/>
          </p:nvSpPr>
          <p:spPr>
            <a:xfrm>
              <a:off x="164342" y="2592832"/>
              <a:ext cx="53314" cy="75040"/>
            </a:xfrm>
            <a:custGeom>
              <a:avLst/>
              <a:gdLst/>
              <a:ahLst/>
              <a:cxnLst>
                <a:cxn ang="0">
                  <a:pos x="wd2" y="hd2"/>
                </a:cxn>
                <a:cxn ang="5400000">
                  <a:pos x="wd2" y="hd2"/>
                </a:cxn>
                <a:cxn ang="10800000">
                  <a:pos x="wd2" y="hd2"/>
                </a:cxn>
                <a:cxn ang="16200000">
                  <a:pos x="wd2" y="hd2"/>
                </a:cxn>
              </a:cxnLst>
              <a:rect l="0" t="0" r="r" b="b"/>
              <a:pathLst>
                <a:path w="19881" h="21600" extrusionOk="0">
                  <a:moveTo>
                    <a:pt x="7796" y="0"/>
                  </a:moveTo>
                  <a:cubicBezTo>
                    <a:pt x="6356" y="0"/>
                    <a:pt x="3476" y="1029"/>
                    <a:pt x="2036" y="4114"/>
                  </a:cubicBezTo>
                  <a:cubicBezTo>
                    <a:pt x="596" y="7200"/>
                    <a:pt x="-844" y="11314"/>
                    <a:pt x="596" y="13371"/>
                  </a:cubicBezTo>
                  <a:cubicBezTo>
                    <a:pt x="2036" y="14400"/>
                    <a:pt x="3476" y="15429"/>
                    <a:pt x="3476" y="15429"/>
                  </a:cubicBezTo>
                  <a:cubicBezTo>
                    <a:pt x="4916" y="16457"/>
                    <a:pt x="4916" y="16457"/>
                    <a:pt x="4916" y="16457"/>
                  </a:cubicBezTo>
                  <a:cubicBezTo>
                    <a:pt x="4916" y="16457"/>
                    <a:pt x="4916" y="17486"/>
                    <a:pt x="4916" y="17486"/>
                  </a:cubicBezTo>
                  <a:cubicBezTo>
                    <a:pt x="4916" y="18514"/>
                    <a:pt x="4916" y="19543"/>
                    <a:pt x="6356" y="20571"/>
                  </a:cubicBezTo>
                  <a:cubicBezTo>
                    <a:pt x="6356" y="21600"/>
                    <a:pt x="7796" y="21600"/>
                    <a:pt x="9236" y="21600"/>
                  </a:cubicBezTo>
                  <a:cubicBezTo>
                    <a:pt x="10676" y="21600"/>
                    <a:pt x="10676" y="21600"/>
                    <a:pt x="10676" y="21600"/>
                  </a:cubicBezTo>
                  <a:cubicBezTo>
                    <a:pt x="14996" y="21600"/>
                    <a:pt x="17876" y="16457"/>
                    <a:pt x="19316" y="12343"/>
                  </a:cubicBezTo>
                  <a:cubicBezTo>
                    <a:pt x="19316" y="11314"/>
                    <a:pt x="19316" y="11314"/>
                    <a:pt x="19316" y="11314"/>
                  </a:cubicBezTo>
                  <a:cubicBezTo>
                    <a:pt x="20756" y="9257"/>
                    <a:pt x="19316" y="6171"/>
                    <a:pt x="16436" y="4114"/>
                  </a:cubicBezTo>
                  <a:cubicBezTo>
                    <a:pt x="14996" y="2057"/>
                    <a:pt x="10676" y="0"/>
                    <a:pt x="7796" y="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14" name="Shape">
              <a:extLst>
                <a:ext uri="{FF2B5EF4-FFF2-40B4-BE49-F238E27FC236}">
                  <a16:creationId xmlns:a16="http://schemas.microsoft.com/office/drawing/2014/main" id="{E0C40FB4-0DA2-DE40-98C2-5E54A54759D7}"/>
                </a:ext>
              </a:extLst>
            </p:cNvPr>
            <p:cNvSpPr/>
            <p:nvPr/>
          </p:nvSpPr>
          <p:spPr>
            <a:xfrm>
              <a:off x="254323" y="2474347"/>
              <a:ext cx="57564" cy="51344"/>
            </a:xfrm>
            <a:custGeom>
              <a:avLst/>
              <a:gdLst/>
              <a:ahLst/>
              <a:cxnLst>
                <a:cxn ang="0">
                  <a:pos x="wd2" y="hd2"/>
                </a:cxn>
                <a:cxn ang="5400000">
                  <a:pos x="wd2" y="hd2"/>
                </a:cxn>
                <a:cxn ang="10800000">
                  <a:pos x="wd2" y="hd2"/>
                </a:cxn>
                <a:cxn ang="16200000">
                  <a:pos x="wd2" y="hd2"/>
                </a:cxn>
              </a:cxnLst>
              <a:rect l="0" t="0" r="r" b="b"/>
              <a:pathLst>
                <a:path w="20700" h="21600" extrusionOk="0">
                  <a:moveTo>
                    <a:pt x="15840" y="1543"/>
                  </a:moveTo>
                  <a:cubicBezTo>
                    <a:pt x="14400" y="1543"/>
                    <a:pt x="12960" y="0"/>
                    <a:pt x="11520" y="0"/>
                  </a:cubicBezTo>
                  <a:cubicBezTo>
                    <a:pt x="8640" y="0"/>
                    <a:pt x="4320" y="3086"/>
                    <a:pt x="2880" y="4629"/>
                  </a:cubicBezTo>
                  <a:cubicBezTo>
                    <a:pt x="0" y="7714"/>
                    <a:pt x="0" y="10800"/>
                    <a:pt x="0" y="13886"/>
                  </a:cubicBezTo>
                  <a:cubicBezTo>
                    <a:pt x="1440" y="16971"/>
                    <a:pt x="7200" y="21600"/>
                    <a:pt x="8640" y="21600"/>
                  </a:cubicBezTo>
                  <a:cubicBezTo>
                    <a:pt x="10080" y="21600"/>
                    <a:pt x="10080" y="21600"/>
                    <a:pt x="11520" y="21600"/>
                  </a:cubicBezTo>
                  <a:cubicBezTo>
                    <a:pt x="15840" y="21600"/>
                    <a:pt x="18720" y="18514"/>
                    <a:pt x="20160" y="13886"/>
                  </a:cubicBezTo>
                  <a:cubicBezTo>
                    <a:pt x="21600" y="9257"/>
                    <a:pt x="20160" y="4629"/>
                    <a:pt x="15840" y="1543"/>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15" name="Shape">
              <a:extLst>
                <a:ext uri="{FF2B5EF4-FFF2-40B4-BE49-F238E27FC236}">
                  <a16:creationId xmlns:a16="http://schemas.microsoft.com/office/drawing/2014/main" id="{33776B85-E160-EE4A-A8CE-BBED4D940F04}"/>
                </a:ext>
              </a:extLst>
            </p:cNvPr>
            <p:cNvSpPr/>
            <p:nvPr/>
          </p:nvSpPr>
          <p:spPr>
            <a:xfrm>
              <a:off x="82953" y="2624426"/>
              <a:ext cx="44804" cy="35546"/>
            </a:xfrm>
            <a:custGeom>
              <a:avLst/>
              <a:gdLst/>
              <a:ahLst/>
              <a:cxnLst>
                <a:cxn ang="0">
                  <a:pos x="wd2" y="hd2"/>
                </a:cxn>
                <a:cxn ang="5400000">
                  <a:pos x="wd2" y="hd2"/>
                </a:cxn>
                <a:cxn ang="10800000">
                  <a:pos x="wd2" y="hd2"/>
                </a:cxn>
                <a:cxn ang="16200000">
                  <a:pos x="wd2" y="hd2"/>
                </a:cxn>
              </a:cxnLst>
              <a:rect l="0" t="0" r="r" b="b"/>
              <a:pathLst>
                <a:path w="20506" h="21600" extrusionOk="0">
                  <a:moveTo>
                    <a:pt x="13306" y="0"/>
                  </a:moveTo>
                  <a:cubicBezTo>
                    <a:pt x="11506" y="0"/>
                    <a:pt x="11506" y="0"/>
                    <a:pt x="9706" y="0"/>
                  </a:cubicBezTo>
                  <a:cubicBezTo>
                    <a:pt x="6106" y="0"/>
                    <a:pt x="706" y="2160"/>
                    <a:pt x="706" y="8640"/>
                  </a:cubicBezTo>
                  <a:cubicBezTo>
                    <a:pt x="-1094" y="12960"/>
                    <a:pt x="706" y="17280"/>
                    <a:pt x="4306" y="19440"/>
                  </a:cubicBezTo>
                  <a:cubicBezTo>
                    <a:pt x="6106" y="19440"/>
                    <a:pt x="7906" y="21600"/>
                    <a:pt x="9706" y="21600"/>
                  </a:cubicBezTo>
                  <a:cubicBezTo>
                    <a:pt x="15106" y="21600"/>
                    <a:pt x="18706" y="17280"/>
                    <a:pt x="20506" y="10800"/>
                  </a:cubicBezTo>
                  <a:cubicBezTo>
                    <a:pt x="20506" y="6480"/>
                    <a:pt x="18706" y="2160"/>
                    <a:pt x="13306" y="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16" name="Shape">
              <a:extLst>
                <a:ext uri="{FF2B5EF4-FFF2-40B4-BE49-F238E27FC236}">
                  <a16:creationId xmlns:a16="http://schemas.microsoft.com/office/drawing/2014/main" id="{8FEB367C-EB58-2A46-89C1-61A10F2DE820}"/>
                </a:ext>
              </a:extLst>
            </p:cNvPr>
            <p:cNvSpPr/>
            <p:nvPr/>
          </p:nvSpPr>
          <p:spPr>
            <a:xfrm>
              <a:off x="106305" y="2428928"/>
              <a:ext cx="55776" cy="35546"/>
            </a:xfrm>
            <a:custGeom>
              <a:avLst/>
              <a:gdLst/>
              <a:ahLst/>
              <a:cxnLst>
                <a:cxn ang="0">
                  <a:pos x="wd2" y="hd2"/>
                </a:cxn>
                <a:cxn ang="5400000">
                  <a:pos x="wd2" y="hd2"/>
                </a:cxn>
                <a:cxn ang="10800000">
                  <a:pos x="wd2" y="hd2"/>
                </a:cxn>
                <a:cxn ang="16200000">
                  <a:pos x="wd2" y="hd2"/>
                </a:cxn>
              </a:cxnLst>
              <a:rect l="0" t="0" r="r" b="b"/>
              <a:pathLst>
                <a:path w="20800" h="21600" extrusionOk="0">
                  <a:moveTo>
                    <a:pt x="9280" y="0"/>
                  </a:moveTo>
                  <a:cubicBezTo>
                    <a:pt x="4960" y="0"/>
                    <a:pt x="2080" y="2160"/>
                    <a:pt x="640" y="6480"/>
                  </a:cubicBezTo>
                  <a:cubicBezTo>
                    <a:pt x="640" y="8640"/>
                    <a:pt x="-800" y="10800"/>
                    <a:pt x="640" y="17280"/>
                  </a:cubicBezTo>
                  <a:cubicBezTo>
                    <a:pt x="2080" y="19440"/>
                    <a:pt x="3520" y="21600"/>
                    <a:pt x="6400" y="21600"/>
                  </a:cubicBezTo>
                  <a:cubicBezTo>
                    <a:pt x="7840" y="21600"/>
                    <a:pt x="9280" y="19440"/>
                    <a:pt x="10720" y="17280"/>
                  </a:cubicBezTo>
                  <a:cubicBezTo>
                    <a:pt x="10720" y="17280"/>
                    <a:pt x="10720" y="19440"/>
                    <a:pt x="12160" y="19440"/>
                  </a:cubicBezTo>
                  <a:cubicBezTo>
                    <a:pt x="13600" y="19440"/>
                    <a:pt x="15040" y="19440"/>
                    <a:pt x="16480" y="19440"/>
                  </a:cubicBezTo>
                  <a:cubicBezTo>
                    <a:pt x="17920" y="19440"/>
                    <a:pt x="19360" y="19440"/>
                    <a:pt x="20800" y="17280"/>
                  </a:cubicBezTo>
                  <a:cubicBezTo>
                    <a:pt x="20800" y="15120"/>
                    <a:pt x="20800" y="12960"/>
                    <a:pt x="20800" y="8640"/>
                  </a:cubicBezTo>
                  <a:cubicBezTo>
                    <a:pt x="19360" y="2160"/>
                    <a:pt x="15040" y="0"/>
                    <a:pt x="9280" y="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17" name="Shape">
              <a:extLst>
                <a:ext uri="{FF2B5EF4-FFF2-40B4-BE49-F238E27FC236}">
                  <a16:creationId xmlns:a16="http://schemas.microsoft.com/office/drawing/2014/main" id="{B9E2D3A5-D999-3044-8341-2CD1780871F1}"/>
                </a:ext>
              </a:extLst>
            </p:cNvPr>
            <p:cNvSpPr/>
            <p:nvPr/>
          </p:nvSpPr>
          <p:spPr>
            <a:xfrm>
              <a:off x="0" y="2363761"/>
              <a:ext cx="65376" cy="71092"/>
            </a:xfrm>
            <a:custGeom>
              <a:avLst/>
              <a:gdLst/>
              <a:ahLst/>
              <a:cxnLst>
                <a:cxn ang="0">
                  <a:pos x="wd2" y="hd2"/>
                </a:cxn>
                <a:cxn ang="5400000">
                  <a:pos x="wd2" y="hd2"/>
                </a:cxn>
                <a:cxn ang="10800000">
                  <a:pos x="wd2" y="hd2"/>
                </a:cxn>
                <a:cxn ang="16200000">
                  <a:pos x="wd2" y="hd2"/>
                </a:cxn>
              </a:cxnLst>
              <a:rect l="0" t="0" r="r" b="b"/>
              <a:pathLst>
                <a:path w="20571" h="21600" extrusionOk="0">
                  <a:moveTo>
                    <a:pt x="17700" y="10800"/>
                  </a:moveTo>
                  <a:cubicBezTo>
                    <a:pt x="17700" y="10800"/>
                    <a:pt x="16500" y="10800"/>
                    <a:pt x="15300" y="10800"/>
                  </a:cubicBezTo>
                  <a:cubicBezTo>
                    <a:pt x="15300" y="10800"/>
                    <a:pt x="15300" y="10800"/>
                    <a:pt x="15300" y="10800"/>
                  </a:cubicBezTo>
                  <a:cubicBezTo>
                    <a:pt x="15300" y="9720"/>
                    <a:pt x="16500" y="9720"/>
                    <a:pt x="16500" y="9720"/>
                  </a:cubicBezTo>
                  <a:cubicBezTo>
                    <a:pt x="18900" y="7560"/>
                    <a:pt x="18900" y="5400"/>
                    <a:pt x="18900" y="4320"/>
                  </a:cubicBezTo>
                  <a:cubicBezTo>
                    <a:pt x="17700" y="2160"/>
                    <a:pt x="15300" y="0"/>
                    <a:pt x="11700" y="0"/>
                  </a:cubicBezTo>
                  <a:cubicBezTo>
                    <a:pt x="6900" y="0"/>
                    <a:pt x="2100" y="3240"/>
                    <a:pt x="900" y="7560"/>
                  </a:cubicBezTo>
                  <a:cubicBezTo>
                    <a:pt x="-300" y="9720"/>
                    <a:pt x="-300" y="11880"/>
                    <a:pt x="900" y="12960"/>
                  </a:cubicBezTo>
                  <a:cubicBezTo>
                    <a:pt x="2100" y="14040"/>
                    <a:pt x="3300" y="15120"/>
                    <a:pt x="4500" y="15120"/>
                  </a:cubicBezTo>
                  <a:cubicBezTo>
                    <a:pt x="5700" y="15120"/>
                    <a:pt x="6900" y="14040"/>
                    <a:pt x="9300" y="12960"/>
                  </a:cubicBezTo>
                  <a:cubicBezTo>
                    <a:pt x="9300" y="12960"/>
                    <a:pt x="9300" y="12960"/>
                    <a:pt x="10500" y="11880"/>
                  </a:cubicBezTo>
                  <a:cubicBezTo>
                    <a:pt x="10500" y="11880"/>
                    <a:pt x="11700" y="11880"/>
                    <a:pt x="11700" y="10800"/>
                  </a:cubicBezTo>
                  <a:cubicBezTo>
                    <a:pt x="11700" y="10800"/>
                    <a:pt x="12900" y="10800"/>
                    <a:pt x="12900" y="10800"/>
                  </a:cubicBezTo>
                  <a:cubicBezTo>
                    <a:pt x="12900" y="10800"/>
                    <a:pt x="12900" y="10800"/>
                    <a:pt x="12900" y="10800"/>
                  </a:cubicBezTo>
                  <a:cubicBezTo>
                    <a:pt x="11700" y="11880"/>
                    <a:pt x="10500" y="12960"/>
                    <a:pt x="9300" y="15120"/>
                  </a:cubicBezTo>
                  <a:cubicBezTo>
                    <a:pt x="8100" y="17280"/>
                    <a:pt x="9300" y="18360"/>
                    <a:pt x="10500" y="20520"/>
                  </a:cubicBezTo>
                  <a:cubicBezTo>
                    <a:pt x="11700" y="20520"/>
                    <a:pt x="12900" y="21600"/>
                    <a:pt x="14100" y="21600"/>
                  </a:cubicBezTo>
                  <a:cubicBezTo>
                    <a:pt x="17700" y="21600"/>
                    <a:pt x="20100" y="18360"/>
                    <a:pt x="20100" y="16200"/>
                  </a:cubicBezTo>
                  <a:cubicBezTo>
                    <a:pt x="21300" y="14040"/>
                    <a:pt x="20100" y="11880"/>
                    <a:pt x="17700" y="1080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18" name="Shape">
              <a:extLst>
                <a:ext uri="{FF2B5EF4-FFF2-40B4-BE49-F238E27FC236}">
                  <a16:creationId xmlns:a16="http://schemas.microsoft.com/office/drawing/2014/main" id="{656FC29D-085B-5148-9C2C-5DD79EF33D1F}"/>
                </a:ext>
              </a:extLst>
            </p:cNvPr>
            <p:cNvSpPr/>
            <p:nvPr/>
          </p:nvSpPr>
          <p:spPr>
            <a:xfrm>
              <a:off x="267194" y="2403256"/>
              <a:ext cx="30033" cy="45420"/>
            </a:xfrm>
            <a:custGeom>
              <a:avLst/>
              <a:gdLst/>
              <a:ahLst/>
              <a:cxnLst>
                <a:cxn ang="0">
                  <a:pos x="wd2" y="hd2"/>
                </a:cxn>
                <a:cxn ang="5400000">
                  <a:pos x="wd2" y="hd2"/>
                </a:cxn>
                <a:cxn ang="10800000">
                  <a:pos x="wd2" y="hd2"/>
                </a:cxn>
                <a:cxn ang="16200000">
                  <a:pos x="wd2" y="hd2"/>
                </a:cxn>
              </a:cxnLst>
              <a:rect l="0" t="0" r="r" b="b"/>
              <a:pathLst>
                <a:path w="21600" h="21600" extrusionOk="0">
                  <a:moveTo>
                    <a:pt x="8100" y="18277"/>
                  </a:moveTo>
                  <a:cubicBezTo>
                    <a:pt x="8100" y="18277"/>
                    <a:pt x="8100" y="18277"/>
                    <a:pt x="10800" y="18277"/>
                  </a:cubicBezTo>
                  <a:cubicBezTo>
                    <a:pt x="10800" y="21600"/>
                    <a:pt x="10800" y="21600"/>
                    <a:pt x="10800" y="21600"/>
                  </a:cubicBezTo>
                  <a:cubicBezTo>
                    <a:pt x="13500" y="21600"/>
                    <a:pt x="16200" y="19938"/>
                    <a:pt x="18900" y="18277"/>
                  </a:cubicBezTo>
                  <a:cubicBezTo>
                    <a:pt x="21600" y="16615"/>
                    <a:pt x="21600" y="14954"/>
                    <a:pt x="21600" y="13292"/>
                  </a:cubicBezTo>
                  <a:cubicBezTo>
                    <a:pt x="21600" y="6646"/>
                    <a:pt x="16200" y="0"/>
                    <a:pt x="8100" y="0"/>
                  </a:cubicBezTo>
                  <a:cubicBezTo>
                    <a:pt x="8100" y="3323"/>
                    <a:pt x="8100" y="3323"/>
                    <a:pt x="8100" y="3323"/>
                  </a:cubicBezTo>
                  <a:cubicBezTo>
                    <a:pt x="5400" y="3323"/>
                    <a:pt x="2700" y="4985"/>
                    <a:pt x="0" y="6646"/>
                  </a:cubicBezTo>
                  <a:cubicBezTo>
                    <a:pt x="0" y="9969"/>
                    <a:pt x="2700" y="16615"/>
                    <a:pt x="8100" y="18277"/>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19" name="Shape">
              <a:extLst>
                <a:ext uri="{FF2B5EF4-FFF2-40B4-BE49-F238E27FC236}">
                  <a16:creationId xmlns:a16="http://schemas.microsoft.com/office/drawing/2014/main" id="{BF565B22-F884-3F4F-8A2C-B834341ED53C}"/>
                </a:ext>
              </a:extLst>
            </p:cNvPr>
            <p:cNvSpPr/>
            <p:nvPr/>
          </p:nvSpPr>
          <p:spPr>
            <a:xfrm>
              <a:off x="885006" y="991319"/>
              <a:ext cx="47194" cy="61218"/>
            </a:xfrm>
            <a:custGeom>
              <a:avLst/>
              <a:gdLst/>
              <a:ahLst/>
              <a:cxnLst>
                <a:cxn ang="0">
                  <a:pos x="wd2" y="hd2"/>
                </a:cxn>
                <a:cxn ang="5400000">
                  <a:pos x="wd2" y="hd2"/>
                </a:cxn>
                <a:cxn ang="10800000">
                  <a:pos x="wd2" y="hd2"/>
                </a:cxn>
                <a:cxn ang="16200000">
                  <a:pos x="wd2" y="hd2"/>
                </a:cxn>
              </a:cxnLst>
              <a:rect l="0" t="0" r="r" b="b"/>
              <a:pathLst>
                <a:path w="21600" h="21600" extrusionOk="0">
                  <a:moveTo>
                    <a:pt x="12600" y="0"/>
                  </a:moveTo>
                  <a:cubicBezTo>
                    <a:pt x="10800" y="0"/>
                    <a:pt x="9000" y="0"/>
                    <a:pt x="7200" y="0"/>
                  </a:cubicBezTo>
                  <a:cubicBezTo>
                    <a:pt x="3600" y="1271"/>
                    <a:pt x="1800" y="2541"/>
                    <a:pt x="0" y="3812"/>
                  </a:cubicBezTo>
                  <a:cubicBezTo>
                    <a:pt x="0" y="6353"/>
                    <a:pt x="1800" y="8894"/>
                    <a:pt x="1800" y="11435"/>
                  </a:cubicBezTo>
                  <a:cubicBezTo>
                    <a:pt x="3600" y="11435"/>
                    <a:pt x="3600" y="11435"/>
                    <a:pt x="3600" y="11435"/>
                  </a:cubicBezTo>
                  <a:cubicBezTo>
                    <a:pt x="3600" y="12706"/>
                    <a:pt x="3600" y="13976"/>
                    <a:pt x="3600" y="13976"/>
                  </a:cubicBezTo>
                  <a:cubicBezTo>
                    <a:pt x="5400" y="16518"/>
                    <a:pt x="5400" y="19059"/>
                    <a:pt x="9000" y="20329"/>
                  </a:cubicBezTo>
                  <a:cubicBezTo>
                    <a:pt x="9000" y="21600"/>
                    <a:pt x="10800" y="21600"/>
                    <a:pt x="12600" y="21600"/>
                  </a:cubicBezTo>
                  <a:cubicBezTo>
                    <a:pt x="12600" y="21600"/>
                    <a:pt x="12600" y="21600"/>
                    <a:pt x="12600" y="21600"/>
                  </a:cubicBezTo>
                  <a:cubicBezTo>
                    <a:pt x="19800" y="21600"/>
                    <a:pt x="21600" y="12706"/>
                    <a:pt x="21600" y="7624"/>
                  </a:cubicBezTo>
                  <a:cubicBezTo>
                    <a:pt x="21600" y="5082"/>
                    <a:pt x="21600" y="2541"/>
                    <a:pt x="18000" y="1271"/>
                  </a:cubicBezTo>
                  <a:cubicBezTo>
                    <a:pt x="18000" y="0"/>
                    <a:pt x="16200" y="0"/>
                    <a:pt x="12600" y="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20" name="Shape">
              <a:extLst>
                <a:ext uri="{FF2B5EF4-FFF2-40B4-BE49-F238E27FC236}">
                  <a16:creationId xmlns:a16="http://schemas.microsoft.com/office/drawing/2014/main" id="{D65F7B14-695F-A24F-A969-F76BE87F73DA}"/>
                </a:ext>
              </a:extLst>
            </p:cNvPr>
            <p:cNvSpPr/>
            <p:nvPr/>
          </p:nvSpPr>
          <p:spPr>
            <a:xfrm>
              <a:off x="1007281" y="1020939"/>
              <a:ext cx="96534" cy="88865"/>
            </a:xfrm>
            <a:custGeom>
              <a:avLst/>
              <a:gdLst/>
              <a:ahLst/>
              <a:cxnLst>
                <a:cxn ang="0">
                  <a:pos x="wd2" y="hd2"/>
                </a:cxn>
                <a:cxn ang="5400000">
                  <a:pos x="wd2" y="hd2"/>
                </a:cxn>
                <a:cxn ang="10800000">
                  <a:pos x="wd2" y="hd2"/>
                </a:cxn>
                <a:cxn ang="16200000">
                  <a:pos x="wd2" y="hd2"/>
                </a:cxn>
              </a:cxnLst>
              <a:rect l="0" t="0" r="r" b="b"/>
              <a:pathLst>
                <a:path w="21600" h="21600" extrusionOk="0">
                  <a:moveTo>
                    <a:pt x="19872" y="0"/>
                  </a:moveTo>
                  <a:cubicBezTo>
                    <a:pt x="19008" y="0"/>
                    <a:pt x="19008" y="0"/>
                    <a:pt x="19008" y="0"/>
                  </a:cubicBezTo>
                  <a:cubicBezTo>
                    <a:pt x="15552" y="0"/>
                    <a:pt x="12096" y="1728"/>
                    <a:pt x="10368" y="3456"/>
                  </a:cubicBezTo>
                  <a:cubicBezTo>
                    <a:pt x="9504" y="4320"/>
                    <a:pt x="7776" y="5184"/>
                    <a:pt x="6048" y="5184"/>
                  </a:cubicBezTo>
                  <a:cubicBezTo>
                    <a:pt x="3456" y="6048"/>
                    <a:pt x="1728" y="7776"/>
                    <a:pt x="0" y="9504"/>
                  </a:cubicBezTo>
                  <a:cubicBezTo>
                    <a:pt x="0" y="11232"/>
                    <a:pt x="0" y="12960"/>
                    <a:pt x="864" y="14688"/>
                  </a:cubicBezTo>
                  <a:cubicBezTo>
                    <a:pt x="1728" y="15552"/>
                    <a:pt x="2592" y="18144"/>
                    <a:pt x="3456" y="19008"/>
                  </a:cubicBezTo>
                  <a:cubicBezTo>
                    <a:pt x="4320" y="19008"/>
                    <a:pt x="6048" y="21600"/>
                    <a:pt x="8640" y="21600"/>
                  </a:cubicBezTo>
                  <a:cubicBezTo>
                    <a:pt x="8640" y="21600"/>
                    <a:pt x="8640" y="21600"/>
                    <a:pt x="8640" y="21600"/>
                  </a:cubicBezTo>
                  <a:cubicBezTo>
                    <a:pt x="11232" y="20736"/>
                    <a:pt x="11232" y="19008"/>
                    <a:pt x="12096" y="18144"/>
                  </a:cubicBezTo>
                  <a:cubicBezTo>
                    <a:pt x="12096" y="18144"/>
                    <a:pt x="12096" y="17280"/>
                    <a:pt x="12096" y="17280"/>
                  </a:cubicBezTo>
                  <a:cubicBezTo>
                    <a:pt x="12096" y="17280"/>
                    <a:pt x="12960" y="16416"/>
                    <a:pt x="12960" y="16416"/>
                  </a:cubicBezTo>
                  <a:cubicBezTo>
                    <a:pt x="13824" y="15552"/>
                    <a:pt x="14688" y="14688"/>
                    <a:pt x="15552" y="13824"/>
                  </a:cubicBezTo>
                  <a:cubicBezTo>
                    <a:pt x="15552" y="13824"/>
                    <a:pt x="15552" y="12960"/>
                    <a:pt x="16416" y="12096"/>
                  </a:cubicBezTo>
                  <a:cubicBezTo>
                    <a:pt x="16416" y="11232"/>
                    <a:pt x="16416" y="11232"/>
                    <a:pt x="16416" y="10368"/>
                  </a:cubicBezTo>
                  <a:cubicBezTo>
                    <a:pt x="17280" y="9504"/>
                    <a:pt x="17280" y="9504"/>
                    <a:pt x="18144" y="8640"/>
                  </a:cubicBezTo>
                  <a:cubicBezTo>
                    <a:pt x="19872" y="6912"/>
                    <a:pt x="21600" y="4320"/>
                    <a:pt x="21600" y="1728"/>
                  </a:cubicBezTo>
                  <a:cubicBezTo>
                    <a:pt x="21600" y="864"/>
                    <a:pt x="21600" y="864"/>
                    <a:pt x="21600" y="864"/>
                  </a:cubicBezTo>
                  <a:lnTo>
                    <a:pt x="19872" y="0"/>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21" name="Shape">
              <a:extLst>
                <a:ext uri="{FF2B5EF4-FFF2-40B4-BE49-F238E27FC236}">
                  <a16:creationId xmlns:a16="http://schemas.microsoft.com/office/drawing/2014/main" id="{308CCFF5-A1A2-7644-BE09-8478565FAAEA}"/>
                </a:ext>
              </a:extLst>
            </p:cNvPr>
            <p:cNvSpPr/>
            <p:nvPr/>
          </p:nvSpPr>
          <p:spPr>
            <a:xfrm>
              <a:off x="958144" y="1074258"/>
              <a:ext cx="36267" cy="35546"/>
            </a:xfrm>
            <a:custGeom>
              <a:avLst/>
              <a:gdLst/>
              <a:ahLst/>
              <a:cxnLst>
                <a:cxn ang="0">
                  <a:pos x="wd2" y="hd2"/>
                </a:cxn>
                <a:cxn ang="5400000">
                  <a:pos x="wd2" y="hd2"/>
                </a:cxn>
                <a:cxn ang="10800000">
                  <a:pos x="wd2" y="hd2"/>
                </a:cxn>
                <a:cxn ang="16200000">
                  <a:pos x="wd2" y="hd2"/>
                </a:cxn>
              </a:cxnLst>
              <a:rect l="0" t="0" r="r" b="b"/>
              <a:pathLst>
                <a:path w="20287" h="21600" extrusionOk="0">
                  <a:moveTo>
                    <a:pt x="11647" y="0"/>
                  </a:moveTo>
                  <a:cubicBezTo>
                    <a:pt x="9487" y="0"/>
                    <a:pt x="7327" y="0"/>
                    <a:pt x="5167" y="2160"/>
                  </a:cubicBezTo>
                  <a:cubicBezTo>
                    <a:pt x="847" y="4320"/>
                    <a:pt x="-1313" y="10800"/>
                    <a:pt x="847" y="15120"/>
                  </a:cubicBezTo>
                  <a:cubicBezTo>
                    <a:pt x="3007" y="19440"/>
                    <a:pt x="5167" y="21600"/>
                    <a:pt x="9487" y="21600"/>
                  </a:cubicBezTo>
                  <a:cubicBezTo>
                    <a:pt x="9487" y="21600"/>
                    <a:pt x="9487" y="21600"/>
                    <a:pt x="11647" y="21600"/>
                  </a:cubicBezTo>
                  <a:cubicBezTo>
                    <a:pt x="15967" y="19440"/>
                    <a:pt x="20287" y="12960"/>
                    <a:pt x="20287" y="8640"/>
                  </a:cubicBezTo>
                  <a:cubicBezTo>
                    <a:pt x="18127" y="2160"/>
                    <a:pt x="15967" y="0"/>
                    <a:pt x="11647" y="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23" name="Shape">
              <a:extLst>
                <a:ext uri="{FF2B5EF4-FFF2-40B4-BE49-F238E27FC236}">
                  <a16:creationId xmlns:a16="http://schemas.microsoft.com/office/drawing/2014/main" id="{279C5FF4-350A-A044-A8A6-13D292F1F567}"/>
                </a:ext>
              </a:extLst>
            </p:cNvPr>
            <p:cNvSpPr/>
            <p:nvPr/>
          </p:nvSpPr>
          <p:spPr>
            <a:xfrm>
              <a:off x="1121123" y="1074258"/>
              <a:ext cx="61834" cy="61218"/>
            </a:xfrm>
            <a:custGeom>
              <a:avLst/>
              <a:gdLst/>
              <a:ahLst/>
              <a:cxnLst>
                <a:cxn ang="0">
                  <a:pos x="wd2" y="hd2"/>
                </a:cxn>
                <a:cxn ang="5400000">
                  <a:pos x="wd2" y="hd2"/>
                </a:cxn>
                <a:cxn ang="10800000">
                  <a:pos x="wd2" y="hd2"/>
                </a:cxn>
                <a:cxn ang="16200000">
                  <a:pos x="wd2" y="hd2"/>
                </a:cxn>
              </a:cxnLst>
              <a:rect l="0" t="0" r="r" b="b"/>
              <a:pathLst>
                <a:path w="20084" h="21600" extrusionOk="0">
                  <a:moveTo>
                    <a:pt x="19585" y="1271"/>
                  </a:moveTo>
                  <a:cubicBezTo>
                    <a:pt x="17044" y="1271"/>
                    <a:pt x="17044" y="1271"/>
                    <a:pt x="17044" y="1271"/>
                  </a:cubicBezTo>
                  <a:cubicBezTo>
                    <a:pt x="17044" y="1271"/>
                    <a:pt x="15774" y="1271"/>
                    <a:pt x="14503" y="1271"/>
                  </a:cubicBezTo>
                  <a:cubicBezTo>
                    <a:pt x="13232" y="0"/>
                    <a:pt x="11962" y="0"/>
                    <a:pt x="10691" y="0"/>
                  </a:cubicBezTo>
                  <a:cubicBezTo>
                    <a:pt x="9421" y="0"/>
                    <a:pt x="6880" y="1271"/>
                    <a:pt x="5609" y="1271"/>
                  </a:cubicBezTo>
                  <a:cubicBezTo>
                    <a:pt x="5609" y="2541"/>
                    <a:pt x="4338" y="3812"/>
                    <a:pt x="3068" y="5082"/>
                  </a:cubicBezTo>
                  <a:cubicBezTo>
                    <a:pt x="1797" y="6353"/>
                    <a:pt x="1797" y="6353"/>
                    <a:pt x="1797" y="6353"/>
                  </a:cubicBezTo>
                  <a:cubicBezTo>
                    <a:pt x="527" y="8894"/>
                    <a:pt x="-744" y="12706"/>
                    <a:pt x="527" y="15247"/>
                  </a:cubicBezTo>
                  <a:cubicBezTo>
                    <a:pt x="1797" y="19059"/>
                    <a:pt x="5609" y="21600"/>
                    <a:pt x="9421" y="21600"/>
                  </a:cubicBezTo>
                  <a:cubicBezTo>
                    <a:pt x="11962" y="21600"/>
                    <a:pt x="14503" y="20329"/>
                    <a:pt x="17044" y="17788"/>
                  </a:cubicBezTo>
                  <a:cubicBezTo>
                    <a:pt x="19585" y="15247"/>
                    <a:pt x="20856" y="6353"/>
                    <a:pt x="19585" y="2541"/>
                  </a:cubicBezTo>
                  <a:lnTo>
                    <a:pt x="19585" y="1271"/>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24" name="Shape">
              <a:extLst>
                <a:ext uri="{FF2B5EF4-FFF2-40B4-BE49-F238E27FC236}">
                  <a16:creationId xmlns:a16="http://schemas.microsoft.com/office/drawing/2014/main" id="{43EF9867-CCF4-0940-8483-D682485FD194}"/>
                </a:ext>
              </a:extLst>
            </p:cNvPr>
            <p:cNvSpPr/>
            <p:nvPr/>
          </p:nvSpPr>
          <p:spPr>
            <a:xfrm>
              <a:off x="1278224" y="1009091"/>
              <a:ext cx="75812" cy="94789"/>
            </a:xfrm>
            <a:custGeom>
              <a:avLst/>
              <a:gdLst/>
              <a:ahLst/>
              <a:cxnLst>
                <a:cxn ang="0">
                  <a:pos x="wd2" y="hd2"/>
                </a:cxn>
                <a:cxn ang="5400000">
                  <a:pos x="wd2" y="hd2"/>
                </a:cxn>
                <a:cxn ang="10800000">
                  <a:pos x="wd2" y="hd2"/>
                </a:cxn>
                <a:cxn ang="16200000">
                  <a:pos x="wd2" y="hd2"/>
                </a:cxn>
              </a:cxnLst>
              <a:rect l="0" t="0" r="r" b="b"/>
              <a:pathLst>
                <a:path w="20088" h="21600" extrusionOk="0">
                  <a:moveTo>
                    <a:pt x="16745" y="0"/>
                  </a:moveTo>
                  <a:cubicBezTo>
                    <a:pt x="14688" y="0"/>
                    <a:pt x="13659" y="831"/>
                    <a:pt x="12630" y="1662"/>
                  </a:cubicBezTo>
                  <a:cubicBezTo>
                    <a:pt x="10573" y="4154"/>
                    <a:pt x="8516" y="6646"/>
                    <a:pt x="8516" y="9138"/>
                  </a:cubicBezTo>
                  <a:cubicBezTo>
                    <a:pt x="7488" y="9969"/>
                    <a:pt x="7488" y="10800"/>
                    <a:pt x="7488" y="10800"/>
                  </a:cubicBezTo>
                  <a:cubicBezTo>
                    <a:pt x="6459" y="13292"/>
                    <a:pt x="5430" y="14123"/>
                    <a:pt x="3373" y="14954"/>
                  </a:cubicBezTo>
                  <a:cubicBezTo>
                    <a:pt x="3373" y="15785"/>
                    <a:pt x="2345" y="16615"/>
                    <a:pt x="1316" y="17446"/>
                  </a:cubicBezTo>
                  <a:cubicBezTo>
                    <a:pt x="1316" y="18277"/>
                    <a:pt x="-741" y="19108"/>
                    <a:pt x="288" y="20769"/>
                  </a:cubicBezTo>
                  <a:cubicBezTo>
                    <a:pt x="288" y="20769"/>
                    <a:pt x="1316" y="21600"/>
                    <a:pt x="3373" y="21600"/>
                  </a:cubicBezTo>
                  <a:cubicBezTo>
                    <a:pt x="5430" y="21600"/>
                    <a:pt x="11602" y="19108"/>
                    <a:pt x="13659" y="18277"/>
                  </a:cubicBezTo>
                  <a:cubicBezTo>
                    <a:pt x="16745" y="15785"/>
                    <a:pt x="18802" y="12462"/>
                    <a:pt x="19830" y="8308"/>
                  </a:cubicBezTo>
                  <a:cubicBezTo>
                    <a:pt x="19830" y="8308"/>
                    <a:pt x="20859" y="3323"/>
                    <a:pt x="18802" y="831"/>
                  </a:cubicBezTo>
                  <a:cubicBezTo>
                    <a:pt x="17773" y="0"/>
                    <a:pt x="17773" y="0"/>
                    <a:pt x="16745" y="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25" name="Shape">
              <a:extLst>
                <a:ext uri="{FF2B5EF4-FFF2-40B4-BE49-F238E27FC236}">
                  <a16:creationId xmlns:a16="http://schemas.microsoft.com/office/drawing/2014/main" id="{6A20432D-9772-F840-AFE0-F1A1401AB836}"/>
                </a:ext>
              </a:extLst>
            </p:cNvPr>
            <p:cNvSpPr/>
            <p:nvPr/>
          </p:nvSpPr>
          <p:spPr>
            <a:xfrm>
              <a:off x="1341930" y="951824"/>
              <a:ext cx="62212" cy="55294"/>
            </a:xfrm>
            <a:custGeom>
              <a:avLst/>
              <a:gdLst/>
              <a:ahLst/>
              <a:cxnLst>
                <a:cxn ang="0">
                  <a:pos x="wd2" y="hd2"/>
                </a:cxn>
                <a:cxn ang="5400000">
                  <a:pos x="wd2" y="hd2"/>
                </a:cxn>
                <a:cxn ang="10800000">
                  <a:pos x="wd2" y="hd2"/>
                </a:cxn>
                <a:cxn ang="16200000">
                  <a:pos x="wd2" y="hd2"/>
                </a:cxn>
              </a:cxnLst>
              <a:rect l="0" t="0" r="r" b="b"/>
              <a:pathLst>
                <a:path w="21600" h="21600" extrusionOk="0">
                  <a:moveTo>
                    <a:pt x="20250" y="1440"/>
                  </a:moveTo>
                  <a:cubicBezTo>
                    <a:pt x="20250" y="0"/>
                    <a:pt x="18900" y="0"/>
                    <a:pt x="16200" y="0"/>
                  </a:cubicBezTo>
                  <a:cubicBezTo>
                    <a:pt x="14850" y="0"/>
                    <a:pt x="13500" y="0"/>
                    <a:pt x="12150" y="1440"/>
                  </a:cubicBezTo>
                  <a:cubicBezTo>
                    <a:pt x="12150" y="1440"/>
                    <a:pt x="10800" y="2880"/>
                    <a:pt x="9450" y="4320"/>
                  </a:cubicBezTo>
                  <a:cubicBezTo>
                    <a:pt x="9450" y="4320"/>
                    <a:pt x="9450" y="4320"/>
                    <a:pt x="8100" y="5760"/>
                  </a:cubicBezTo>
                  <a:cubicBezTo>
                    <a:pt x="4050" y="7200"/>
                    <a:pt x="0" y="12960"/>
                    <a:pt x="0" y="18720"/>
                  </a:cubicBezTo>
                  <a:cubicBezTo>
                    <a:pt x="0" y="21600"/>
                    <a:pt x="0" y="21600"/>
                    <a:pt x="0" y="21600"/>
                  </a:cubicBezTo>
                  <a:cubicBezTo>
                    <a:pt x="1350" y="21600"/>
                    <a:pt x="1350" y="21600"/>
                    <a:pt x="1350" y="21600"/>
                  </a:cubicBezTo>
                  <a:cubicBezTo>
                    <a:pt x="2700" y="21600"/>
                    <a:pt x="2700" y="21600"/>
                    <a:pt x="4050" y="21600"/>
                  </a:cubicBezTo>
                  <a:cubicBezTo>
                    <a:pt x="6750" y="21600"/>
                    <a:pt x="8100" y="20160"/>
                    <a:pt x="9450" y="18720"/>
                  </a:cubicBezTo>
                  <a:cubicBezTo>
                    <a:pt x="10800" y="18720"/>
                    <a:pt x="10800" y="17280"/>
                    <a:pt x="12150" y="17280"/>
                  </a:cubicBezTo>
                  <a:cubicBezTo>
                    <a:pt x="12150" y="17280"/>
                    <a:pt x="13500" y="15840"/>
                    <a:pt x="13500" y="15840"/>
                  </a:cubicBezTo>
                  <a:cubicBezTo>
                    <a:pt x="16200" y="15840"/>
                    <a:pt x="18900" y="14400"/>
                    <a:pt x="21600" y="10080"/>
                  </a:cubicBezTo>
                  <a:cubicBezTo>
                    <a:pt x="21600" y="7200"/>
                    <a:pt x="21600" y="4320"/>
                    <a:pt x="20250" y="144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26" name="Shape">
              <a:extLst>
                <a:ext uri="{FF2B5EF4-FFF2-40B4-BE49-F238E27FC236}">
                  <a16:creationId xmlns:a16="http://schemas.microsoft.com/office/drawing/2014/main" id="{B55A7A4F-8CC7-CD44-83C5-89F4A6C9C53A}"/>
                </a:ext>
              </a:extLst>
            </p:cNvPr>
            <p:cNvSpPr/>
            <p:nvPr/>
          </p:nvSpPr>
          <p:spPr>
            <a:xfrm>
              <a:off x="868137" y="1117701"/>
              <a:ext cx="40466" cy="31598"/>
            </a:xfrm>
            <a:custGeom>
              <a:avLst/>
              <a:gdLst/>
              <a:ahLst/>
              <a:cxnLst>
                <a:cxn ang="0">
                  <a:pos x="wd2" y="hd2"/>
                </a:cxn>
                <a:cxn ang="5400000">
                  <a:pos x="wd2" y="hd2"/>
                </a:cxn>
                <a:cxn ang="10800000">
                  <a:pos x="wd2" y="hd2"/>
                </a:cxn>
                <a:cxn ang="16200000">
                  <a:pos x="wd2" y="hd2"/>
                </a:cxn>
              </a:cxnLst>
              <a:rect l="0" t="0" r="r" b="b"/>
              <a:pathLst>
                <a:path w="20373" h="21600" extrusionOk="0">
                  <a:moveTo>
                    <a:pt x="12518" y="0"/>
                  </a:moveTo>
                  <a:cubicBezTo>
                    <a:pt x="10555" y="0"/>
                    <a:pt x="10555" y="0"/>
                    <a:pt x="10555" y="0"/>
                  </a:cubicBezTo>
                  <a:cubicBezTo>
                    <a:pt x="4664" y="0"/>
                    <a:pt x="737" y="4800"/>
                    <a:pt x="737" y="9600"/>
                  </a:cubicBezTo>
                  <a:cubicBezTo>
                    <a:pt x="-1227" y="14400"/>
                    <a:pt x="737" y="19200"/>
                    <a:pt x="6628" y="19200"/>
                  </a:cubicBezTo>
                  <a:cubicBezTo>
                    <a:pt x="6628" y="21600"/>
                    <a:pt x="8591" y="21600"/>
                    <a:pt x="8591" y="21600"/>
                  </a:cubicBezTo>
                  <a:cubicBezTo>
                    <a:pt x="10555" y="21600"/>
                    <a:pt x="10555" y="21600"/>
                    <a:pt x="10555" y="21600"/>
                  </a:cubicBezTo>
                  <a:cubicBezTo>
                    <a:pt x="16446" y="21600"/>
                    <a:pt x="20373" y="16800"/>
                    <a:pt x="20373" y="12000"/>
                  </a:cubicBezTo>
                  <a:cubicBezTo>
                    <a:pt x="20373" y="7200"/>
                    <a:pt x="18409" y="0"/>
                    <a:pt x="12518" y="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27" name="Shape">
              <a:extLst>
                <a:ext uri="{FF2B5EF4-FFF2-40B4-BE49-F238E27FC236}">
                  <a16:creationId xmlns:a16="http://schemas.microsoft.com/office/drawing/2014/main" id="{8ACE19D3-0592-4D40-9EDF-644552DA907E}"/>
                </a:ext>
              </a:extLst>
            </p:cNvPr>
            <p:cNvSpPr/>
            <p:nvPr/>
          </p:nvSpPr>
          <p:spPr>
            <a:xfrm>
              <a:off x="1007281" y="519356"/>
              <a:ext cx="68647" cy="47393"/>
            </a:xfrm>
            <a:custGeom>
              <a:avLst/>
              <a:gdLst/>
              <a:ahLst/>
              <a:cxnLst>
                <a:cxn ang="0">
                  <a:pos x="wd2" y="hd2"/>
                </a:cxn>
                <a:cxn ang="5400000">
                  <a:pos x="wd2" y="hd2"/>
                </a:cxn>
                <a:cxn ang="10800000">
                  <a:pos x="wd2" y="hd2"/>
                </a:cxn>
                <a:cxn ang="16200000">
                  <a:pos x="wd2" y="hd2"/>
                </a:cxn>
              </a:cxnLst>
              <a:rect l="0" t="0" r="r" b="b"/>
              <a:pathLst>
                <a:path w="21600" h="21600" extrusionOk="0">
                  <a:moveTo>
                    <a:pt x="4800" y="14954"/>
                  </a:moveTo>
                  <a:cubicBezTo>
                    <a:pt x="6000" y="16615"/>
                    <a:pt x="6000" y="16615"/>
                    <a:pt x="7200" y="16615"/>
                  </a:cubicBezTo>
                  <a:cubicBezTo>
                    <a:pt x="9600" y="18277"/>
                    <a:pt x="12000" y="21600"/>
                    <a:pt x="15600" y="21600"/>
                  </a:cubicBezTo>
                  <a:cubicBezTo>
                    <a:pt x="15600" y="21600"/>
                    <a:pt x="15600" y="21600"/>
                    <a:pt x="16800" y="21600"/>
                  </a:cubicBezTo>
                  <a:cubicBezTo>
                    <a:pt x="19200" y="19938"/>
                    <a:pt x="21600" y="16615"/>
                    <a:pt x="21600" y="13292"/>
                  </a:cubicBezTo>
                  <a:cubicBezTo>
                    <a:pt x="21600" y="8308"/>
                    <a:pt x="20400" y="4985"/>
                    <a:pt x="16800" y="3323"/>
                  </a:cubicBezTo>
                  <a:cubicBezTo>
                    <a:pt x="15600" y="1662"/>
                    <a:pt x="14400" y="1662"/>
                    <a:pt x="13200" y="1662"/>
                  </a:cubicBezTo>
                  <a:cubicBezTo>
                    <a:pt x="13200" y="1662"/>
                    <a:pt x="12000" y="1662"/>
                    <a:pt x="12000" y="1662"/>
                  </a:cubicBezTo>
                  <a:cubicBezTo>
                    <a:pt x="10800" y="1662"/>
                    <a:pt x="10800" y="1662"/>
                    <a:pt x="9600" y="1662"/>
                  </a:cubicBezTo>
                  <a:cubicBezTo>
                    <a:pt x="8400" y="1662"/>
                    <a:pt x="8400" y="1662"/>
                    <a:pt x="8400" y="1662"/>
                  </a:cubicBezTo>
                  <a:cubicBezTo>
                    <a:pt x="7200" y="1662"/>
                    <a:pt x="7200" y="1662"/>
                    <a:pt x="7200" y="0"/>
                  </a:cubicBezTo>
                  <a:cubicBezTo>
                    <a:pt x="6000" y="0"/>
                    <a:pt x="4800" y="0"/>
                    <a:pt x="3600" y="0"/>
                  </a:cubicBezTo>
                  <a:cubicBezTo>
                    <a:pt x="2400" y="0"/>
                    <a:pt x="0" y="0"/>
                    <a:pt x="0" y="4985"/>
                  </a:cubicBezTo>
                  <a:cubicBezTo>
                    <a:pt x="0" y="9969"/>
                    <a:pt x="2400" y="13292"/>
                    <a:pt x="4800" y="14954"/>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28" name="Shape">
              <a:extLst>
                <a:ext uri="{FF2B5EF4-FFF2-40B4-BE49-F238E27FC236}">
                  <a16:creationId xmlns:a16="http://schemas.microsoft.com/office/drawing/2014/main" id="{4AA6DF6D-C7E9-F846-A46D-6BB245666CA6}"/>
                </a:ext>
              </a:extLst>
            </p:cNvPr>
            <p:cNvSpPr/>
            <p:nvPr/>
          </p:nvSpPr>
          <p:spPr>
            <a:xfrm>
              <a:off x="1093228" y="487761"/>
              <a:ext cx="38334" cy="31597"/>
            </a:xfrm>
            <a:custGeom>
              <a:avLst/>
              <a:gdLst/>
              <a:ahLst/>
              <a:cxnLst>
                <a:cxn ang="0">
                  <a:pos x="wd2" y="hd2"/>
                </a:cxn>
                <a:cxn ang="5400000">
                  <a:pos x="wd2" y="hd2"/>
                </a:cxn>
                <a:cxn ang="10800000">
                  <a:pos x="wd2" y="hd2"/>
                </a:cxn>
                <a:cxn ang="16200000">
                  <a:pos x="wd2" y="hd2"/>
                </a:cxn>
              </a:cxnLst>
              <a:rect l="0" t="0" r="r" b="b"/>
              <a:pathLst>
                <a:path w="19299" h="21600" extrusionOk="0">
                  <a:moveTo>
                    <a:pt x="18486" y="14400"/>
                  </a:moveTo>
                  <a:cubicBezTo>
                    <a:pt x="20450" y="9600"/>
                    <a:pt x="18486" y="7200"/>
                    <a:pt x="16523" y="4800"/>
                  </a:cubicBezTo>
                  <a:cubicBezTo>
                    <a:pt x="14559" y="2400"/>
                    <a:pt x="12595" y="0"/>
                    <a:pt x="10632" y="0"/>
                  </a:cubicBezTo>
                  <a:cubicBezTo>
                    <a:pt x="6705" y="0"/>
                    <a:pt x="2777" y="4800"/>
                    <a:pt x="814" y="7200"/>
                  </a:cubicBezTo>
                  <a:cubicBezTo>
                    <a:pt x="-1150" y="9600"/>
                    <a:pt x="814" y="14400"/>
                    <a:pt x="2777" y="16800"/>
                  </a:cubicBezTo>
                  <a:cubicBezTo>
                    <a:pt x="4741" y="19200"/>
                    <a:pt x="6705" y="21600"/>
                    <a:pt x="8668" y="21600"/>
                  </a:cubicBezTo>
                  <a:cubicBezTo>
                    <a:pt x="14559" y="21600"/>
                    <a:pt x="16523" y="19200"/>
                    <a:pt x="18486" y="1440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29" name="Shape">
              <a:extLst>
                <a:ext uri="{FF2B5EF4-FFF2-40B4-BE49-F238E27FC236}">
                  <a16:creationId xmlns:a16="http://schemas.microsoft.com/office/drawing/2014/main" id="{D6A65837-EF6C-754E-A2A7-7B34DADD9963}"/>
                </a:ext>
              </a:extLst>
            </p:cNvPr>
            <p:cNvSpPr/>
            <p:nvPr/>
          </p:nvSpPr>
          <p:spPr>
            <a:xfrm>
              <a:off x="1467776" y="1457356"/>
              <a:ext cx="1841286" cy="1751594"/>
            </a:xfrm>
            <a:custGeom>
              <a:avLst/>
              <a:gdLst/>
              <a:ahLst/>
              <a:cxnLst>
                <a:cxn ang="0">
                  <a:pos x="wd2" y="hd2"/>
                </a:cxn>
                <a:cxn ang="5400000">
                  <a:pos x="wd2" y="hd2"/>
                </a:cxn>
                <a:cxn ang="10800000">
                  <a:pos x="wd2" y="hd2"/>
                </a:cxn>
                <a:cxn ang="16200000">
                  <a:pos x="wd2" y="hd2"/>
                </a:cxn>
              </a:cxnLst>
              <a:rect l="0" t="0" r="r" b="b"/>
              <a:pathLst>
                <a:path w="21533" h="21600" extrusionOk="0">
                  <a:moveTo>
                    <a:pt x="21488" y="9055"/>
                  </a:moveTo>
                  <a:cubicBezTo>
                    <a:pt x="21488" y="9011"/>
                    <a:pt x="21488" y="8967"/>
                    <a:pt x="21488" y="8923"/>
                  </a:cubicBezTo>
                  <a:cubicBezTo>
                    <a:pt x="21533" y="8834"/>
                    <a:pt x="21533" y="8746"/>
                    <a:pt x="21488" y="8658"/>
                  </a:cubicBezTo>
                  <a:cubicBezTo>
                    <a:pt x="21488" y="8569"/>
                    <a:pt x="21488" y="8569"/>
                    <a:pt x="21488" y="8569"/>
                  </a:cubicBezTo>
                  <a:cubicBezTo>
                    <a:pt x="20305" y="8834"/>
                    <a:pt x="20305" y="8834"/>
                    <a:pt x="20305" y="8834"/>
                  </a:cubicBezTo>
                  <a:cubicBezTo>
                    <a:pt x="20260" y="8746"/>
                    <a:pt x="20214" y="8658"/>
                    <a:pt x="20123" y="8613"/>
                  </a:cubicBezTo>
                  <a:cubicBezTo>
                    <a:pt x="20123" y="8613"/>
                    <a:pt x="20123" y="8569"/>
                    <a:pt x="20078" y="8569"/>
                  </a:cubicBezTo>
                  <a:cubicBezTo>
                    <a:pt x="20078" y="8569"/>
                    <a:pt x="20078" y="8569"/>
                    <a:pt x="20078" y="8569"/>
                  </a:cubicBezTo>
                  <a:cubicBezTo>
                    <a:pt x="20078" y="8525"/>
                    <a:pt x="20078" y="8481"/>
                    <a:pt x="20078" y="8481"/>
                  </a:cubicBezTo>
                  <a:cubicBezTo>
                    <a:pt x="20123" y="8437"/>
                    <a:pt x="20123" y="8393"/>
                    <a:pt x="20169" y="8393"/>
                  </a:cubicBezTo>
                  <a:cubicBezTo>
                    <a:pt x="20214" y="8304"/>
                    <a:pt x="20260" y="8260"/>
                    <a:pt x="20260" y="8128"/>
                  </a:cubicBezTo>
                  <a:cubicBezTo>
                    <a:pt x="20260" y="8083"/>
                    <a:pt x="20260" y="8039"/>
                    <a:pt x="20214" y="8039"/>
                  </a:cubicBezTo>
                  <a:cubicBezTo>
                    <a:pt x="20214" y="7995"/>
                    <a:pt x="20214" y="7995"/>
                    <a:pt x="20214" y="7951"/>
                  </a:cubicBezTo>
                  <a:cubicBezTo>
                    <a:pt x="20169" y="7907"/>
                    <a:pt x="20169" y="7863"/>
                    <a:pt x="20169" y="7818"/>
                  </a:cubicBezTo>
                  <a:cubicBezTo>
                    <a:pt x="20169" y="7774"/>
                    <a:pt x="20169" y="7774"/>
                    <a:pt x="20169" y="7730"/>
                  </a:cubicBezTo>
                  <a:cubicBezTo>
                    <a:pt x="20169" y="7598"/>
                    <a:pt x="20123" y="7465"/>
                    <a:pt x="19941" y="7421"/>
                  </a:cubicBezTo>
                  <a:cubicBezTo>
                    <a:pt x="19941" y="7377"/>
                    <a:pt x="19896" y="7377"/>
                    <a:pt x="19896" y="7377"/>
                  </a:cubicBezTo>
                  <a:cubicBezTo>
                    <a:pt x="19805" y="7333"/>
                    <a:pt x="19714" y="7288"/>
                    <a:pt x="19623" y="7288"/>
                  </a:cubicBezTo>
                  <a:cubicBezTo>
                    <a:pt x="19578" y="7288"/>
                    <a:pt x="19532" y="7244"/>
                    <a:pt x="19487" y="7244"/>
                  </a:cubicBezTo>
                  <a:cubicBezTo>
                    <a:pt x="19396" y="7244"/>
                    <a:pt x="19305" y="7244"/>
                    <a:pt x="19259" y="7244"/>
                  </a:cubicBezTo>
                  <a:cubicBezTo>
                    <a:pt x="19168" y="7200"/>
                    <a:pt x="19123" y="7112"/>
                    <a:pt x="19077" y="7067"/>
                  </a:cubicBezTo>
                  <a:cubicBezTo>
                    <a:pt x="19032" y="7067"/>
                    <a:pt x="19032" y="7023"/>
                    <a:pt x="19032" y="7023"/>
                  </a:cubicBezTo>
                  <a:cubicBezTo>
                    <a:pt x="18986" y="6979"/>
                    <a:pt x="18986" y="6935"/>
                    <a:pt x="18896" y="6935"/>
                  </a:cubicBezTo>
                  <a:cubicBezTo>
                    <a:pt x="18850" y="6935"/>
                    <a:pt x="18805" y="6935"/>
                    <a:pt x="18759" y="6979"/>
                  </a:cubicBezTo>
                  <a:cubicBezTo>
                    <a:pt x="18714" y="6979"/>
                    <a:pt x="18668" y="6979"/>
                    <a:pt x="18668" y="6979"/>
                  </a:cubicBezTo>
                  <a:cubicBezTo>
                    <a:pt x="18623" y="6979"/>
                    <a:pt x="18623" y="6979"/>
                    <a:pt x="18623" y="6979"/>
                  </a:cubicBezTo>
                  <a:cubicBezTo>
                    <a:pt x="18577" y="6979"/>
                    <a:pt x="18532" y="6935"/>
                    <a:pt x="18486" y="6935"/>
                  </a:cubicBezTo>
                  <a:cubicBezTo>
                    <a:pt x="18441" y="6891"/>
                    <a:pt x="18441" y="6891"/>
                    <a:pt x="18441" y="6891"/>
                  </a:cubicBezTo>
                  <a:cubicBezTo>
                    <a:pt x="18350" y="6847"/>
                    <a:pt x="18304" y="6847"/>
                    <a:pt x="18259" y="6758"/>
                  </a:cubicBezTo>
                  <a:cubicBezTo>
                    <a:pt x="18259" y="6758"/>
                    <a:pt x="18259" y="6714"/>
                    <a:pt x="18213" y="6670"/>
                  </a:cubicBezTo>
                  <a:cubicBezTo>
                    <a:pt x="18213" y="6626"/>
                    <a:pt x="18213" y="6582"/>
                    <a:pt x="18168" y="6537"/>
                  </a:cubicBezTo>
                  <a:cubicBezTo>
                    <a:pt x="18122" y="6449"/>
                    <a:pt x="18032" y="6405"/>
                    <a:pt x="18032" y="6405"/>
                  </a:cubicBezTo>
                  <a:cubicBezTo>
                    <a:pt x="17986" y="6361"/>
                    <a:pt x="17941" y="6361"/>
                    <a:pt x="17895" y="6361"/>
                  </a:cubicBezTo>
                  <a:cubicBezTo>
                    <a:pt x="17850" y="6361"/>
                    <a:pt x="17804" y="6361"/>
                    <a:pt x="17804" y="6317"/>
                  </a:cubicBezTo>
                  <a:cubicBezTo>
                    <a:pt x="17759" y="6317"/>
                    <a:pt x="17759" y="6317"/>
                    <a:pt x="17713" y="6317"/>
                  </a:cubicBezTo>
                  <a:cubicBezTo>
                    <a:pt x="17668" y="6272"/>
                    <a:pt x="17668" y="6272"/>
                    <a:pt x="17622" y="6272"/>
                  </a:cubicBezTo>
                  <a:cubicBezTo>
                    <a:pt x="17622" y="6272"/>
                    <a:pt x="17577" y="6272"/>
                    <a:pt x="17577" y="6272"/>
                  </a:cubicBezTo>
                  <a:cubicBezTo>
                    <a:pt x="17577" y="6228"/>
                    <a:pt x="17577" y="6140"/>
                    <a:pt x="17577" y="6096"/>
                  </a:cubicBezTo>
                  <a:cubicBezTo>
                    <a:pt x="17577" y="5963"/>
                    <a:pt x="17577" y="5787"/>
                    <a:pt x="17531" y="5698"/>
                  </a:cubicBezTo>
                  <a:cubicBezTo>
                    <a:pt x="17486" y="5610"/>
                    <a:pt x="17395" y="5566"/>
                    <a:pt x="17304" y="5477"/>
                  </a:cubicBezTo>
                  <a:cubicBezTo>
                    <a:pt x="17258" y="5477"/>
                    <a:pt x="17213" y="5433"/>
                    <a:pt x="17168" y="5389"/>
                  </a:cubicBezTo>
                  <a:cubicBezTo>
                    <a:pt x="17122" y="5389"/>
                    <a:pt x="17122" y="5345"/>
                    <a:pt x="17077" y="5301"/>
                  </a:cubicBezTo>
                  <a:cubicBezTo>
                    <a:pt x="16986" y="5212"/>
                    <a:pt x="16940" y="5168"/>
                    <a:pt x="16849" y="5124"/>
                  </a:cubicBezTo>
                  <a:cubicBezTo>
                    <a:pt x="16713" y="5036"/>
                    <a:pt x="16531" y="4903"/>
                    <a:pt x="16349" y="4771"/>
                  </a:cubicBezTo>
                  <a:cubicBezTo>
                    <a:pt x="16258" y="4682"/>
                    <a:pt x="16122" y="4594"/>
                    <a:pt x="16031" y="4506"/>
                  </a:cubicBezTo>
                  <a:cubicBezTo>
                    <a:pt x="15940" y="4461"/>
                    <a:pt x="15849" y="4417"/>
                    <a:pt x="15758" y="4373"/>
                  </a:cubicBezTo>
                  <a:cubicBezTo>
                    <a:pt x="15394" y="4108"/>
                    <a:pt x="15394" y="4108"/>
                    <a:pt x="15394" y="4108"/>
                  </a:cubicBezTo>
                  <a:cubicBezTo>
                    <a:pt x="14985" y="3799"/>
                    <a:pt x="14666" y="3534"/>
                    <a:pt x="14303" y="3313"/>
                  </a:cubicBezTo>
                  <a:cubicBezTo>
                    <a:pt x="13848" y="2915"/>
                    <a:pt x="13302" y="2518"/>
                    <a:pt x="12666" y="2076"/>
                  </a:cubicBezTo>
                  <a:cubicBezTo>
                    <a:pt x="12074" y="1679"/>
                    <a:pt x="11438" y="1237"/>
                    <a:pt x="10938" y="883"/>
                  </a:cubicBezTo>
                  <a:cubicBezTo>
                    <a:pt x="10892" y="839"/>
                    <a:pt x="10892" y="839"/>
                    <a:pt x="10892" y="839"/>
                  </a:cubicBezTo>
                  <a:cubicBezTo>
                    <a:pt x="10619" y="663"/>
                    <a:pt x="10346" y="442"/>
                    <a:pt x="10074" y="265"/>
                  </a:cubicBezTo>
                  <a:cubicBezTo>
                    <a:pt x="9755" y="0"/>
                    <a:pt x="9755" y="0"/>
                    <a:pt x="9755" y="0"/>
                  </a:cubicBezTo>
                  <a:cubicBezTo>
                    <a:pt x="7709" y="0"/>
                    <a:pt x="7709" y="0"/>
                    <a:pt x="7709" y="0"/>
                  </a:cubicBezTo>
                  <a:cubicBezTo>
                    <a:pt x="8709" y="12368"/>
                    <a:pt x="8709" y="12368"/>
                    <a:pt x="8709" y="12368"/>
                  </a:cubicBezTo>
                  <a:cubicBezTo>
                    <a:pt x="8755" y="12412"/>
                    <a:pt x="8755" y="12412"/>
                    <a:pt x="8755" y="12412"/>
                  </a:cubicBezTo>
                  <a:cubicBezTo>
                    <a:pt x="9073" y="12589"/>
                    <a:pt x="9028" y="12810"/>
                    <a:pt x="8982" y="12898"/>
                  </a:cubicBezTo>
                  <a:cubicBezTo>
                    <a:pt x="8800" y="13826"/>
                    <a:pt x="8800" y="13826"/>
                    <a:pt x="8800" y="13826"/>
                  </a:cubicBezTo>
                  <a:cubicBezTo>
                    <a:pt x="3935" y="13826"/>
                    <a:pt x="3935" y="13826"/>
                    <a:pt x="3935" y="13826"/>
                  </a:cubicBezTo>
                  <a:cubicBezTo>
                    <a:pt x="3935" y="13782"/>
                    <a:pt x="3889" y="13782"/>
                    <a:pt x="3889" y="13737"/>
                  </a:cubicBezTo>
                  <a:cubicBezTo>
                    <a:pt x="3889" y="13693"/>
                    <a:pt x="3844" y="13693"/>
                    <a:pt x="3844" y="13649"/>
                  </a:cubicBezTo>
                  <a:cubicBezTo>
                    <a:pt x="3753" y="13561"/>
                    <a:pt x="3753" y="13561"/>
                    <a:pt x="3753" y="13561"/>
                  </a:cubicBezTo>
                  <a:cubicBezTo>
                    <a:pt x="3707" y="13649"/>
                    <a:pt x="3707" y="13649"/>
                    <a:pt x="3707" y="13649"/>
                  </a:cubicBezTo>
                  <a:cubicBezTo>
                    <a:pt x="3662" y="13693"/>
                    <a:pt x="3662" y="13737"/>
                    <a:pt x="3662" y="13737"/>
                  </a:cubicBezTo>
                  <a:cubicBezTo>
                    <a:pt x="3662" y="13782"/>
                    <a:pt x="3662" y="13826"/>
                    <a:pt x="3616" y="13826"/>
                  </a:cubicBezTo>
                  <a:cubicBezTo>
                    <a:pt x="3525" y="13914"/>
                    <a:pt x="3480" y="13914"/>
                    <a:pt x="3389" y="13914"/>
                  </a:cubicBezTo>
                  <a:cubicBezTo>
                    <a:pt x="3389" y="13914"/>
                    <a:pt x="3389" y="13914"/>
                    <a:pt x="3344" y="13914"/>
                  </a:cubicBezTo>
                  <a:cubicBezTo>
                    <a:pt x="3344" y="13914"/>
                    <a:pt x="3344" y="13914"/>
                    <a:pt x="3344" y="13914"/>
                  </a:cubicBezTo>
                  <a:cubicBezTo>
                    <a:pt x="3207" y="13914"/>
                    <a:pt x="3116" y="13958"/>
                    <a:pt x="2980" y="13958"/>
                  </a:cubicBezTo>
                  <a:cubicBezTo>
                    <a:pt x="2798" y="13958"/>
                    <a:pt x="2616" y="13914"/>
                    <a:pt x="2389" y="13870"/>
                  </a:cubicBezTo>
                  <a:cubicBezTo>
                    <a:pt x="2389" y="13870"/>
                    <a:pt x="2389" y="13870"/>
                    <a:pt x="2389" y="13870"/>
                  </a:cubicBezTo>
                  <a:cubicBezTo>
                    <a:pt x="2343" y="13826"/>
                    <a:pt x="2252" y="13826"/>
                    <a:pt x="2207" y="13826"/>
                  </a:cubicBezTo>
                  <a:cubicBezTo>
                    <a:pt x="2161" y="13826"/>
                    <a:pt x="2116" y="13870"/>
                    <a:pt x="2070" y="13870"/>
                  </a:cubicBezTo>
                  <a:cubicBezTo>
                    <a:pt x="1979" y="13914"/>
                    <a:pt x="1934" y="14002"/>
                    <a:pt x="1888" y="14091"/>
                  </a:cubicBezTo>
                  <a:cubicBezTo>
                    <a:pt x="1888" y="14135"/>
                    <a:pt x="1888" y="14135"/>
                    <a:pt x="1843" y="14179"/>
                  </a:cubicBezTo>
                  <a:cubicBezTo>
                    <a:pt x="1797" y="14267"/>
                    <a:pt x="1797" y="14312"/>
                    <a:pt x="1752" y="14312"/>
                  </a:cubicBezTo>
                  <a:cubicBezTo>
                    <a:pt x="1752" y="14312"/>
                    <a:pt x="1752" y="14312"/>
                    <a:pt x="1752" y="14312"/>
                  </a:cubicBezTo>
                  <a:cubicBezTo>
                    <a:pt x="1752" y="14312"/>
                    <a:pt x="1706" y="14267"/>
                    <a:pt x="1661" y="14223"/>
                  </a:cubicBezTo>
                  <a:cubicBezTo>
                    <a:pt x="1661" y="14223"/>
                    <a:pt x="1661" y="14179"/>
                    <a:pt x="1661" y="14179"/>
                  </a:cubicBezTo>
                  <a:cubicBezTo>
                    <a:pt x="1616" y="14179"/>
                    <a:pt x="1616" y="14135"/>
                    <a:pt x="1570" y="14135"/>
                  </a:cubicBezTo>
                  <a:cubicBezTo>
                    <a:pt x="1525" y="14047"/>
                    <a:pt x="1479" y="14002"/>
                    <a:pt x="1434" y="13958"/>
                  </a:cubicBezTo>
                  <a:cubicBezTo>
                    <a:pt x="1388" y="13914"/>
                    <a:pt x="1388" y="13914"/>
                    <a:pt x="1388" y="13914"/>
                  </a:cubicBezTo>
                  <a:cubicBezTo>
                    <a:pt x="1297" y="13782"/>
                    <a:pt x="1161" y="13649"/>
                    <a:pt x="979" y="13649"/>
                  </a:cubicBezTo>
                  <a:cubicBezTo>
                    <a:pt x="979" y="13649"/>
                    <a:pt x="979" y="13649"/>
                    <a:pt x="933" y="13649"/>
                  </a:cubicBezTo>
                  <a:cubicBezTo>
                    <a:pt x="706" y="13693"/>
                    <a:pt x="570" y="13958"/>
                    <a:pt x="524" y="14179"/>
                  </a:cubicBezTo>
                  <a:cubicBezTo>
                    <a:pt x="524" y="14223"/>
                    <a:pt x="524" y="14312"/>
                    <a:pt x="524" y="14400"/>
                  </a:cubicBezTo>
                  <a:cubicBezTo>
                    <a:pt x="524" y="14533"/>
                    <a:pt x="524" y="14621"/>
                    <a:pt x="433" y="14753"/>
                  </a:cubicBezTo>
                  <a:cubicBezTo>
                    <a:pt x="388" y="14842"/>
                    <a:pt x="342" y="14886"/>
                    <a:pt x="251" y="14930"/>
                  </a:cubicBezTo>
                  <a:cubicBezTo>
                    <a:pt x="206" y="14974"/>
                    <a:pt x="206" y="14974"/>
                    <a:pt x="160" y="14974"/>
                  </a:cubicBezTo>
                  <a:cubicBezTo>
                    <a:pt x="160" y="15018"/>
                    <a:pt x="160" y="15018"/>
                    <a:pt x="160" y="15018"/>
                  </a:cubicBezTo>
                  <a:cubicBezTo>
                    <a:pt x="160" y="15018"/>
                    <a:pt x="160" y="15018"/>
                    <a:pt x="160" y="15018"/>
                  </a:cubicBezTo>
                  <a:cubicBezTo>
                    <a:pt x="115" y="15018"/>
                    <a:pt x="69" y="15063"/>
                    <a:pt x="69" y="15151"/>
                  </a:cubicBezTo>
                  <a:cubicBezTo>
                    <a:pt x="-67" y="15283"/>
                    <a:pt x="24" y="15416"/>
                    <a:pt x="115" y="15548"/>
                  </a:cubicBezTo>
                  <a:cubicBezTo>
                    <a:pt x="160" y="15593"/>
                    <a:pt x="206" y="15637"/>
                    <a:pt x="206" y="15681"/>
                  </a:cubicBezTo>
                  <a:cubicBezTo>
                    <a:pt x="251" y="15769"/>
                    <a:pt x="251" y="15858"/>
                    <a:pt x="251" y="15946"/>
                  </a:cubicBezTo>
                  <a:cubicBezTo>
                    <a:pt x="251" y="15990"/>
                    <a:pt x="251" y="16079"/>
                    <a:pt x="297" y="16123"/>
                  </a:cubicBezTo>
                  <a:cubicBezTo>
                    <a:pt x="297" y="16123"/>
                    <a:pt x="297" y="16167"/>
                    <a:pt x="297" y="16167"/>
                  </a:cubicBezTo>
                  <a:cubicBezTo>
                    <a:pt x="297" y="16211"/>
                    <a:pt x="297" y="16211"/>
                    <a:pt x="297" y="16255"/>
                  </a:cubicBezTo>
                  <a:cubicBezTo>
                    <a:pt x="297" y="16255"/>
                    <a:pt x="251" y="16299"/>
                    <a:pt x="251" y="16299"/>
                  </a:cubicBezTo>
                  <a:cubicBezTo>
                    <a:pt x="251" y="16344"/>
                    <a:pt x="206" y="16344"/>
                    <a:pt x="206" y="16344"/>
                  </a:cubicBezTo>
                  <a:cubicBezTo>
                    <a:pt x="160" y="16388"/>
                    <a:pt x="160" y="16476"/>
                    <a:pt x="206" y="16520"/>
                  </a:cubicBezTo>
                  <a:cubicBezTo>
                    <a:pt x="206" y="16564"/>
                    <a:pt x="251" y="16653"/>
                    <a:pt x="342" y="16697"/>
                  </a:cubicBezTo>
                  <a:cubicBezTo>
                    <a:pt x="388" y="16741"/>
                    <a:pt x="388" y="16741"/>
                    <a:pt x="388" y="16785"/>
                  </a:cubicBezTo>
                  <a:cubicBezTo>
                    <a:pt x="479" y="16874"/>
                    <a:pt x="524" y="16874"/>
                    <a:pt x="615" y="16874"/>
                  </a:cubicBezTo>
                  <a:cubicBezTo>
                    <a:pt x="615" y="16918"/>
                    <a:pt x="615" y="16918"/>
                    <a:pt x="615" y="16918"/>
                  </a:cubicBezTo>
                  <a:cubicBezTo>
                    <a:pt x="797" y="16962"/>
                    <a:pt x="842" y="17094"/>
                    <a:pt x="888" y="17227"/>
                  </a:cubicBezTo>
                  <a:cubicBezTo>
                    <a:pt x="933" y="17271"/>
                    <a:pt x="933" y="17315"/>
                    <a:pt x="933" y="17360"/>
                  </a:cubicBezTo>
                  <a:cubicBezTo>
                    <a:pt x="1024" y="17536"/>
                    <a:pt x="1024" y="17669"/>
                    <a:pt x="979" y="17890"/>
                  </a:cubicBezTo>
                  <a:cubicBezTo>
                    <a:pt x="979" y="17934"/>
                    <a:pt x="979" y="17934"/>
                    <a:pt x="979" y="17934"/>
                  </a:cubicBezTo>
                  <a:cubicBezTo>
                    <a:pt x="979" y="17978"/>
                    <a:pt x="979" y="18022"/>
                    <a:pt x="979" y="18066"/>
                  </a:cubicBezTo>
                  <a:cubicBezTo>
                    <a:pt x="979" y="18066"/>
                    <a:pt x="979" y="18110"/>
                    <a:pt x="979" y="18110"/>
                  </a:cubicBezTo>
                  <a:cubicBezTo>
                    <a:pt x="1024" y="18199"/>
                    <a:pt x="979" y="18287"/>
                    <a:pt x="979" y="18375"/>
                  </a:cubicBezTo>
                  <a:cubicBezTo>
                    <a:pt x="933" y="18420"/>
                    <a:pt x="933" y="18464"/>
                    <a:pt x="933" y="18552"/>
                  </a:cubicBezTo>
                  <a:cubicBezTo>
                    <a:pt x="933" y="18640"/>
                    <a:pt x="979" y="18773"/>
                    <a:pt x="1070" y="18817"/>
                  </a:cubicBezTo>
                  <a:cubicBezTo>
                    <a:pt x="1115" y="18861"/>
                    <a:pt x="1161" y="18861"/>
                    <a:pt x="1206" y="18861"/>
                  </a:cubicBezTo>
                  <a:cubicBezTo>
                    <a:pt x="1206" y="18861"/>
                    <a:pt x="1252" y="18861"/>
                    <a:pt x="1252" y="18861"/>
                  </a:cubicBezTo>
                  <a:cubicBezTo>
                    <a:pt x="1297" y="18817"/>
                    <a:pt x="1343" y="18773"/>
                    <a:pt x="1388" y="18729"/>
                  </a:cubicBezTo>
                  <a:cubicBezTo>
                    <a:pt x="1479" y="18685"/>
                    <a:pt x="1525" y="18596"/>
                    <a:pt x="1616" y="18596"/>
                  </a:cubicBezTo>
                  <a:cubicBezTo>
                    <a:pt x="1616" y="18596"/>
                    <a:pt x="1661" y="18596"/>
                    <a:pt x="1706" y="18640"/>
                  </a:cubicBezTo>
                  <a:cubicBezTo>
                    <a:pt x="1752" y="18685"/>
                    <a:pt x="1797" y="18773"/>
                    <a:pt x="1797" y="18817"/>
                  </a:cubicBezTo>
                  <a:cubicBezTo>
                    <a:pt x="1843" y="18861"/>
                    <a:pt x="1843" y="18906"/>
                    <a:pt x="1843" y="18906"/>
                  </a:cubicBezTo>
                  <a:cubicBezTo>
                    <a:pt x="1934" y="19038"/>
                    <a:pt x="1934" y="19038"/>
                    <a:pt x="1934" y="19038"/>
                  </a:cubicBezTo>
                  <a:cubicBezTo>
                    <a:pt x="1979" y="18950"/>
                    <a:pt x="1979" y="18950"/>
                    <a:pt x="1979" y="18950"/>
                  </a:cubicBezTo>
                  <a:cubicBezTo>
                    <a:pt x="1979" y="18950"/>
                    <a:pt x="2025" y="18950"/>
                    <a:pt x="2025" y="18906"/>
                  </a:cubicBezTo>
                  <a:cubicBezTo>
                    <a:pt x="2116" y="18861"/>
                    <a:pt x="2161" y="18817"/>
                    <a:pt x="2207" y="18773"/>
                  </a:cubicBezTo>
                  <a:cubicBezTo>
                    <a:pt x="2298" y="18640"/>
                    <a:pt x="2389" y="18552"/>
                    <a:pt x="2570" y="18552"/>
                  </a:cubicBezTo>
                  <a:cubicBezTo>
                    <a:pt x="2616" y="18552"/>
                    <a:pt x="2616" y="18552"/>
                    <a:pt x="2616" y="18552"/>
                  </a:cubicBezTo>
                  <a:cubicBezTo>
                    <a:pt x="2707" y="18552"/>
                    <a:pt x="2798" y="18640"/>
                    <a:pt x="2843" y="18685"/>
                  </a:cubicBezTo>
                  <a:cubicBezTo>
                    <a:pt x="2934" y="18729"/>
                    <a:pt x="3025" y="18773"/>
                    <a:pt x="3116" y="18773"/>
                  </a:cubicBezTo>
                  <a:cubicBezTo>
                    <a:pt x="3207" y="18773"/>
                    <a:pt x="3253" y="18773"/>
                    <a:pt x="3298" y="18729"/>
                  </a:cubicBezTo>
                  <a:cubicBezTo>
                    <a:pt x="3298" y="18685"/>
                    <a:pt x="3298" y="18685"/>
                    <a:pt x="3344" y="18685"/>
                  </a:cubicBezTo>
                  <a:cubicBezTo>
                    <a:pt x="3389" y="18640"/>
                    <a:pt x="3434" y="18596"/>
                    <a:pt x="3525" y="18596"/>
                  </a:cubicBezTo>
                  <a:cubicBezTo>
                    <a:pt x="3525" y="18596"/>
                    <a:pt x="3571" y="18596"/>
                    <a:pt x="3616" y="18596"/>
                  </a:cubicBezTo>
                  <a:cubicBezTo>
                    <a:pt x="3753" y="18552"/>
                    <a:pt x="3753" y="18464"/>
                    <a:pt x="3753" y="18331"/>
                  </a:cubicBezTo>
                  <a:cubicBezTo>
                    <a:pt x="3753" y="18287"/>
                    <a:pt x="3707" y="18243"/>
                    <a:pt x="3753" y="18199"/>
                  </a:cubicBezTo>
                  <a:cubicBezTo>
                    <a:pt x="3753" y="18199"/>
                    <a:pt x="3798" y="18155"/>
                    <a:pt x="3844" y="18155"/>
                  </a:cubicBezTo>
                  <a:cubicBezTo>
                    <a:pt x="3844" y="18155"/>
                    <a:pt x="3844" y="18155"/>
                    <a:pt x="3844" y="18155"/>
                  </a:cubicBezTo>
                  <a:cubicBezTo>
                    <a:pt x="4026" y="18199"/>
                    <a:pt x="4208" y="18331"/>
                    <a:pt x="4208" y="18508"/>
                  </a:cubicBezTo>
                  <a:cubicBezTo>
                    <a:pt x="4253" y="18552"/>
                    <a:pt x="4253" y="18552"/>
                    <a:pt x="4253" y="18552"/>
                  </a:cubicBezTo>
                  <a:cubicBezTo>
                    <a:pt x="4253" y="18685"/>
                    <a:pt x="4253" y="18773"/>
                    <a:pt x="4298" y="18817"/>
                  </a:cubicBezTo>
                  <a:cubicBezTo>
                    <a:pt x="4298" y="18861"/>
                    <a:pt x="4344" y="18906"/>
                    <a:pt x="4344" y="18906"/>
                  </a:cubicBezTo>
                  <a:cubicBezTo>
                    <a:pt x="4389" y="18950"/>
                    <a:pt x="4435" y="18994"/>
                    <a:pt x="4435" y="19082"/>
                  </a:cubicBezTo>
                  <a:cubicBezTo>
                    <a:pt x="4435" y="19126"/>
                    <a:pt x="4435" y="19171"/>
                    <a:pt x="4480" y="19215"/>
                  </a:cubicBezTo>
                  <a:cubicBezTo>
                    <a:pt x="4480" y="19347"/>
                    <a:pt x="4480" y="19480"/>
                    <a:pt x="4662" y="19568"/>
                  </a:cubicBezTo>
                  <a:cubicBezTo>
                    <a:pt x="4753" y="19656"/>
                    <a:pt x="4890" y="19745"/>
                    <a:pt x="4935" y="19833"/>
                  </a:cubicBezTo>
                  <a:cubicBezTo>
                    <a:pt x="4935" y="19921"/>
                    <a:pt x="4890" y="19966"/>
                    <a:pt x="4844" y="20054"/>
                  </a:cubicBezTo>
                  <a:cubicBezTo>
                    <a:pt x="4844" y="20054"/>
                    <a:pt x="4799" y="20054"/>
                    <a:pt x="4799" y="20098"/>
                  </a:cubicBezTo>
                  <a:cubicBezTo>
                    <a:pt x="4617" y="20231"/>
                    <a:pt x="4571" y="20275"/>
                    <a:pt x="4571" y="20363"/>
                  </a:cubicBezTo>
                  <a:cubicBezTo>
                    <a:pt x="4571" y="20452"/>
                    <a:pt x="4571" y="20452"/>
                    <a:pt x="4571" y="20452"/>
                  </a:cubicBezTo>
                  <a:cubicBezTo>
                    <a:pt x="4662" y="20452"/>
                    <a:pt x="4662" y="20452"/>
                    <a:pt x="4662" y="20452"/>
                  </a:cubicBezTo>
                  <a:cubicBezTo>
                    <a:pt x="4708" y="20452"/>
                    <a:pt x="4708" y="20407"/>
                    <a:pt x="4844" y="20363"/>
                  </a:cubicBezTo>
                  <a:cubicBezTo>
                    <a:pt x="4890" y="20319"/>
                    <a:pt x="4935" y="20275"/>
                    <a:pt x="4981" y="20275"/>
                  </a:cubicBezTo>
                  <a:cubicBezTo>
                    <a:pt x="4981" y="20275"/>
                    <a:pt x="4981" y="20275"/>
                    <a:pt x="4981" y="20275"/>
                  </a:cubicBezTo>
                  <a:cubicBezTo>
                    <a:pt x="5026" y="20275"/>
                    <a:pt x="5072" y="20363"/>
                    <a:pt x="5072" y="20407"/>
                  </a:cubicBezTo>
                  <a:cubicBezTo>
                    <a:pt x="5117" y="20496"/>
                    <a:pt x="5072" y="20628"/>
                    <a:pt x="5072" y="20717"/>
                  </a:cubicBezTo>
                  <a:cubicBezTo>
                    <a:pt x="5072" y="20805"/>
                    <a:pt x="5026" y="20937"/>
                    <a:pt x="5072" y="21026"/>
                  </a:cubicBezTo>
                  <a:cubicBezTo>
                    <a:pt x="5117" y="21158"/>
                    <a:pt x="5208" y="21202"/>
                    <a:pt x="5253" y="21247"/>
                  </a:cubicBezTo>
                  <a:cubicBezTo>
                    <a:pt x="5344" y="21247"/>
                    <a:pt x="5390" y="21291"/>
                    <a:pt x="5435" y="21379"/>
                  </a:cubicBezTo>
                  <a:cubicBezTo>
                    <a:pt x="5481" y="21423"/>
                    <a:pt x="5481" y="21467"/>
                    <a:pt x="5481" y="21512"/>
                  </a:cubicBezTo>
                  <a:cubicBezTo>
                    <a:pt x="5481" y="21556"/>
                    <a:pt x="5481" y="21556"/>
                    <a:pt x="5481" y="21556"/>
                  </a:cubicBezTo>
                  <a:cubicBezTo>
                    <a:pt x="5572" y="21556"/>
                    <a:pt x="5572" y="21556"/>
                    <a:pt x="5572" y="21556"/>
                  </a:cubicBezTo>
                  <a:cubicBezTo>
                    <a:pt x="5617" y="21556"/>
                    <a:pt x="5617" y="21556"/>
                    <a:pt x="5617" y="21556"/>
                  </a:cubicBezTo>
                  <a:cubicBezTo>
                    <a:pt x="5663" y="21556"/>
                    <a:pt x="5663" y="21556"/>
                    <a:pt x="5708" y="21512"/>
                  </a:cubicBezTo>
                  <a:cubicBezTo>
                    <a:pt x="5754" y="21467"/>
                    <a:pt x="5799" y="21423"/>
                    <a:pt x="5799" y="21379"/>
                  </a:cubicBezTo>
                  <a:cubicBezTo>
                    <a:pt x="5845" y="21291"/>
                    <a:pt x="5890" y="21247"/>
                    <a:pt x="5936" y="21202"/>
                  </a:cubicBezTo>
                  <a:cubicBezTo>
                    <a:pt x="5936" y="21202"/>
                    <a:pt x="5981" y="21202"/>
                    <a:pt x="5981" y="21202"/>
                  </a:cubicBezTo>
                  <a:cubicBezTo>
                    <a:pt x="6026" y="21202"/>
                    <a:pt x="6026" y="21202"/>
                    <a:pt x="6072" y="21247"/>
                  </a:cubicBezTo>
                  <a:cubicBezTo>
                    <a:pt x="6117" y="21291"/>
                    <a:pt x="6163" y="21335"/>
                    <a:pt x="6208" y="21335"/>
                  </a:cubicBezTo>
                  <a:cubicBezTo>
                    <a:pt x="6254" y="21379"/>
                    <a:pt x="6254" y="21423"/>
                    <a:pt x="6299" y="21467"/>
                  </a:cubicBezTo>
                  <a:cubicBezTo>
                    <a:pt x="6390" y="21512"/>
                    <a:pt x="6527" y="21600"/>
                    <a:pt x="6663" y="21600"/>
                  </a:cubicBezTo>
                  <a:cubicBezTo>
                    <a:pt x="6754" y="21600"/>
                    <a:pt x="6754" y="21556"/>
                    <a:pt x="6800" y="21512"/>
                  </a:cubicBezTo>
                  <a:cubicBezTo>
                    <a:pt x="6845" y="21512"/>
                    <a:pt x="6845" y="21467"/>
                    <a:pt x="6845" y="21423"/>
                  </a:cubicBezTo>
                  <a:cubicBezTo>
                    <a:pt x="6890" y="21379"/>
                    <a:pt x="6890" y="21379"/>
                    <a:pt x="7027" y="21379"/>
                  </a:cubicBezTo>
                  <a:cubicBezTo>
                    <a:pt x="7118" y="21335"/>
                    <a:pt x="7163" y="21335"/>
                    <a:pt x="7163" y="21335"/>
                  </a:cubicBezTo>
                  <a:cubicBezTo>
                    <a:pt x="7254" y="21291"/>
                    <a:pt x="7254" y="21291"/>
                    <a:pt x="7254" y="21291"/>
                  </a:cubicBezTo>
                  <a:cubicBezTo>
                    <a:pt x="7254" y="21202"/>
                    <a:pt x="7254" y="21202"/>
                    <a:pt x="7254" y="21202"/>
                  </a:cubicBezTo>
                  <a:cubicBezTo>
                    <a:pt x="7254" y="21202"/>
                    <a:pt x="7209" y="21202"/>
                    <a:pt x="7209" y="21158"/>
                  </a:cubicBezTo>
                  <a:cubicBezTo>
                    <a:pt x="7163" y="21070"/>
                    <a:pt x="7118" y="21026"/>
                    <a:pt x="7163" y="20937"/>
                  </a:cubicBezTo>
                  <a:cubicBezTo>
                    <a:pt x="7254" y="21026"/>
                    <a:pt x="7300" y="21026"/>
                    <a:pt x="7391" y="21026"/>
                  </a:cubicBezTo>
                  <a:cubicBezTo>
                    <a:pt x="7391" y="21026"/>
                    <a:pt x="7391" y="21026"/>
                    <a:pt x="7391" y="21026"/>
                  </a:cubicBezTo>
                  <a:cubicBezTo>
                    <a:pt x="7436" y="21026"/>
                    <a:pt x="7482" y="20982"/>
                    <a:pt x="7527" y="20893"/>
                  </a:cubicBezTo>
                  <a:cubicBezTo>
                    <a:pt x="7527" y="20849"/>
                    <a:pt x="7573" y="20761"/>
                    <a:pt x="7618" y="20761"/>
                  </a:cubicBezTo>
                  <a:cubicBezTo>
                    <a:pt x="7664" y="20761"/>
                    <a:pt x="7664" y="20761"/>
                    <a:pt x="7664" y="20761"/>
                  </a:cubicBezTo>
                  <a:cubicBezTo>
                    <a:pt x="7709" y="20805"/>
                    <a:pt x="7800" y="20982"/>
                    <a:pt x="7800" y="21158"/>
                  </a:cubicBezTo>
                  <a:cubicBezTo>
                    <a:pt x="7800" y="21202"/>
                    <a:pt x="7800" y="21247"/>
                    <a:pt x="7800" y="21291"/>
                  </a:cubicBezTo>
                  <a:cubicBezTo>
                    <a:pt x="7754" y="21379"/>
                    <a:pt x="7709" y="21512"/>
                    <a:pt x="7800" y="21556"/>
                  </a:cubicBezTo>
                  <a:cubicBezTo>
                    <a:pt x="7845" y="21556"/>
                    <a:pt x="7845" y="21556"/>
                    <a:pt x="7845" y="21556"/>
                  </a:cubicBezTo>
                  <a:cubicBezTo>
                    <a:pt x="7891" y="21556"/>
                    <a:pt x="7891" y="21556"/>
                    <a:pt x="7891" y="21556"/>
                  </a:cubicBezTo>
                  <a:cubicBezTo>
                    <a:pt x="7936" y="21556"/>
                    <a:pt x="8027" y="21512"/>
                    <a:pt x="8118" y="21379"/>
                  </a:cubicBezTo>
                  <a:cubicBezTo>
                    <a:pt x="8164" y="21379"/>
                    <a:pt x="8164" y="21379"/>
                    <a:pt x="8164" y="21335"/>
                  </a:cubicBezTo>
                  <a:cubicBezTo>
                    <a:pt x="8255" y="21291"/>
                    <a:pt x="8346" y="21202"/>
                    <a:pt x="8482" y="21202"/>
                  </a:cubicBezTo>
                  <a:cubicBezTo>
                    <a:pt x="8482" y="21202"/>
                    <a:pt x="8528" y="21202"/>
                    <a:pt x="8528" y="21202"/>
                  </a:cubicBezTo>
                  <a:cubicBezTo>
                    <a:pt x="8664" y="21291"/>
                    <a:pt x="8664" y="21291"/>
                    <a:pt x="8664" y="21291"/>
                  </a:cubicBezTo>
                  <a:cubicBezTo>
                    <a:pt x="8709" y="21158"/>
                    <a:pt x="8709" y="21158"/>
                    <a:pt x="8709" y="21158"/>
                  </a:cubicBezTo>
                  <a:cubicBezTo>
                    <a:pt x="8709" y="21114"/>
                    <a:pt x="8709" y="21114"/>
                    <a:pt x="8709" y="21114"/>
                  </a:cubicBezTo>
                  <a:cubicBezTo>
                    <a:pt x="8755" y="21070"/>
                    <a:pt x="8755" y="20982"/>
                    <a:pt x="8755" y="20893"/>
                  </a:cubicBezTo>
                  <a:cubicBezTo>
                    <a:pt x="8800" y="20805"/>
                    <a:pt x="8755" y="20672"/>
                    <a:pt x="8755" y="20584"/>
                  </a:cubicBezTo>
                  <a:cubicBezTo>
                    <a:pt x="8755" y="20540"/>
                    <a:pt x="8755" y="20496"/>
                    <a:pt x="8755" y="20452"/>
                  </a:cubicBezTo>
                  <a:cubicBezTo>
                    <a:pt x="8755" y="20319"/>
                    <a:pt x="8800" y="20275"/>
                    <a:pt x="8846" y="20275"/>
                  </a:cubicBezTo>
                  <a:cubicBezTo>
                    <a:pt x="8891" y="20275"/>
                    <a:pt x="8937" y="20231"/>
                    <a:pt x="8982" y="20187"/>
                  </a:cubicBezTo>
                  <a:cubicBezTo>
                    <a:pt x="9028" y="20098"/>
                    <a:pt x="9073" y="19921"/>
                    <a:pt x="9119" y="19745"/>
                  </a:cubicBezTo>
                  <a:cubicBezTo>
                    <a:pt x="9119" y="19656"/>
                    <a:pt x="9073" y="19524"/>
                    <a:pt x="9028" y="19436"/>
                  </a:cubicBezTo>
                  <a:cubicBezTo>
                    <a:pt x="8982" y="19259"/>
                    <a:pt x="8937" y="19126"/>
                    <a:pt x="9119" y="19038"/>
                  </a:cubicBezTo>
                  <a:cubicBezTo>
                    <a:pt x="9255" y="18994"/>
                    <a:pt x="9346" y="18950"/>
                    <a:pt x="9482" y="18950"/>
                  </a:cubicBezTo>
                  <a:cubicBezTo>
                    <a:pt x="9619" y="18906"/>
                    <a:pt x="9801" y="18861"/>
                    <a:pt x="9937" y="18685"/>
                  </a:cubicBezTo>
                  <a:cubicBezTo>
                    <a:pt x="9983" y="18640"/>
                    <a:pt x="9983" y="18640"/>
                    <a:pt x="9983" y="18640"/>
                  </a:cubicBezTo>
                  <a:cubicBezTo>
                    <a:pt x="10028" y="18552"/>
                    <a:pt x="10119" y="18420"/>
                    <a:pt x="10165" y="18331"/>
                  </a:cubicBezTo>
                  <a:cubicBezTo>
                    <a:pt x="10210" y="18199"/>
                    <a:pt x="10210" y="18110"/>
                    <a:pt x="10165" y="18022"/>
                  </a:cubicBezTo>
                  <a:cubicBezTo>
                    <a:pt x="10165" y="17978"/>
                    <a:pt x="10165" y="17890"/>
                    <a:pt x="10165" y="17845"/>
                  </a:cubicBezTo>
                  <a:cubicBezTo>
                    <a:pt x="10210" y="17801"/>
                    <a:pt x="10256" y="17801"/>
                    <a:pt x="10346" y="17801"/>
                  </a:cubicBezTo>
                  <a:cubicBezTo>
                    <a:pt x="10437" y="17801"/>
                    <a:pt x="10437" y="17801"/>
                    <a:pt x="10437" y="17801"/>
                  </a:cubicBezTo>
                  <a:cubicBezTo>
                    <a:pt x="10437" y="17757"/>
                    <a:pt x="10437" y="17757"/>
                    <a:pt x="10437" y="17757"/>
                  </a:cubicBezTo>
                  <a:cubicBezTo>
                    <a:pt x="10483" y="17625"/>
                    <a:pt x="10437" y="17580"/>
                    <a:pt x="10392" y="17492"/>
                  </a:cubicBezTo>
                  <a:cubicBezTo>
                    <a:pt x="10346" y="17448"/>
                    <a:pt x="10301" y="17360"/>
                    <a:pt x="10301" y="17271"/>
                  </a:cubicBezTo>
                  <a:cubicBezTo>
                    <a:pt x="10346" y="17139"/>
                    <a:pt x="10528" y="16918"/>
                    <a:pt x="10665" y="16829"/>
                  </a:cubicBezTo>
                  <a:cubicBezTo>
                    <a:pt x="10710" y="16785"/>
                    <a:pt x="10756" y="16785"/>
                    <a:pt x="10801" y="16785"/>
                  </a:cubicBezTo>
                  <a:cubicBezTo>
                    <a:pt x="10847" y="16785"/>
                    <a:pt x="10847" y="16785"/>
                    <a:pt x="10892" y="16785"/>
                  </a:cubicBezTo>
                  <a:cubicBezTo>
                    <a:pt x="10938" y="16829"/>
                    <a:pt x="10983" y="16918"/>
                    <a:pt x="11074" y="16962"/>
                  </a:cubicBezTo>
                  <a:cubicBezTo>
                    <a:pt x="11165" y="17094"/>
                    <a:pt x="11210" y="17183"/>
                    <a:pt x="11347" y="17183"/>
                  </a:cubicBezTo>
                  <a:cubicBezTo>
                    <a:pt x="11347" y="17183"/>
                    <a:pt x="11347" y="17183"/>
                    <a:pt x="11347" y="17183"/>
                  </a:cubicBezTo>
                  <a:cubicBezTo>
                    <a:pt x="11392" y="17183"/>
                    <a:pt x="11392" y="17183"/>
                    <a:pt x="11392" y="17183"/>
                  </a:cubicBezTo>
                  <a:cubicBezTo>
                    <a:pt x="11438" y="17183"/>
                    <a:pt x="11438" y="17183"/>
                    <a:pt x="11438" y="17183"/>
                  </a:cubicBezTo>
                  <a:cubicBezTo>
                    <a:pt x="11438" y="17139"/>
                    <a:pt x="11483" y="17094"/>
                    <a:pt x="11483" y="17094"/>
                  </a:cubicBezTo>
                  <a:cubicBezTo>
                    <a:pt x="11483" y="17094"/>
                    <a:pt x="11529" y="17050"/>
                    <a:pt x="11529" y="17050"/>
                  </a:cubicBezTo>
                  <a:cubicBezTo>
                    <a:pt x="11574" y="17050"/>
                    <a:pt x="11574" y="17006"/>
                    <a:pt x="11620" y="17006"/>
                  </a:cubicBezTo>
                  <a:cubicBezTo>
                    <a:pt x="11620" y="17006"/>
                    <a:pt x="11620" y="17006"/>
                    <a:pt x="11620" y="17006"/>
                  </a:cubicBezTo>
                  <a:cubicBezTo>
                    <a:pt x="11665" y="17006"/>
                    <a:pt x="11711" y="16962"/>
                    <a:pt x="11711" y="16918"/>
                  </a:cubicBezTo>
                  <a:cubicBezTo>
                    <a:pt x="11756" y="16829"/>
                    <a:pt x="11711" y="16697"/>
                    <a:pt x="11711" y="16609"/>
                  </a:cubicBezTo>
                  <a:cubicBezTo>
                    <a:pt x="11711" y="16564"/>
                    <a:pt x="11711" y="16520"/>
                    <a:pt x="11711" y="16476"/>
                  </a:cubicBezTo>
                  <a:cubicBezTo>
                    <a:pt x="11711" y="16476"/>
                    <a:pt x="11756" y="16476"/>
                    <a:pt x="11756" y="16476"/>
                  </a:cubicBezTo>
                  <a:cubicBezTo>
                    <a:pt x="11802" y="16476"/>
                    <a:pt x="11847" y="16476"/>
                    <a:pt x="11938" y="16476"/>
                  </a:cubicBezTo>
                  <a:cubicBezTo>
                    <a:pt x="11938" y="16520"/>
                    <a:pt x="11984" y="16520"/>
                    <a:pt x="12029" y="16520"/>
                  </a:cubicBezTo>
                  <a:cubicBezTo>
                    <a:pt x="12029" y="16520"/>
                    <a:pt x="12029" y="16520"/>
                    <a:pt x="12029" y="16520"/>
                  </a:cubicBezTo>
                  <a:cubicBezTo>
                    <a:pt x="12165" y="16476"/>
                    <a:pt x="12165" y="16476"/>
                    <a:pt x="12165" y="16476"/>
                  </a:cubicBezTo>
                  <a:cubicBezTo>
                    <a:pt x="12120" y="16432"/>
                    <a:pt x="12120" y="16432"/>
                    <a:pt x="12120" y="16432"/>
                  </a:cubicBezTo>
                  <a:cubicBezTo>
                    <a:pt x="12120" y="16388"/>
                    <a:pt x="12120" y="16388"/>
                    <a:pt x="12120" y="16344"/>
                  </a:cubicBezTo>
                  <a:cubicBezTo>
                    <a:pt x="12165" y="16299"/>
                    <a:pt x="12165" y="16255"/>
                    <a:pt x="12165" y="16211"/>
                  </a:cubicBezTo>
                  <a:cubicBezTo>
                    <a:pt x="12165" y="16079"/>
                    <a:pt x="12211" y="15946"/>
                    <a:pt x="12302" y="15858"/>
                  </a:cubicBezTo>
                  <a:cubicBezTo>
                    <a:pt x="12393" y="15769"/>
                    <a:pt x="12620" y="15637"/>
                    <a:pt x="12757" y="15593"/>
                  </a:cubicBezTo>
                  <a:cubicBezTo>
                    <a:pt x="12757" y="15593"/>
                    <a:pt x="12757" y="15593"/>
                    <a:pt x="12802" y="15593"/>
                  </a:cubicBezTo>
                  <a:cubicBezTo>
                    <a:pt x="12848" y="15593"/>
                    <a:pt x="12938" y="15637"/>
                    <a:pt x="12984" y="15681"/>
                  </a:cubicBezTo>
                  <a:cubicBezTo>
                    <a:pt x="13075" y="15681"/>
                    <a:pt x="13120" y="15725"/>
                    <a:pt x="13211" y="15725"/>
                  </a:cubicBezTo>
                  <a:cubicBezTo>
                    <a:pt x="13257" y="15725"/>
                    <a:pt x="13257" y="15725"/>
                    <a:pt x="13257" y="15725"/>
                  </a:cubicBezTo>
                  <a:cubicBezTo>
                    <a:pt x="13348" y="15681"/>
                    <a:pt x="13348" y="15593"/>
                    <a:pt x="13348" y="15548"/>
                  </a:cubicBezTo>
                  <a:cubicBezTo>
                    <a:pt x="13348" y="15504"/>
                    <a:pt x="13348" y="15460"/>
                    <a:pt x="13393" y="15460"/>
                  </a:cubicBezTo>
                  <a:cubicBezTo>
                    <a:pt x="13393" y="15372"/>
                    <a:pt x="13484" y="15328"/>
                    <a:pt x="13621" y="15283"/>
                  </a:cubicBezTo>
                  <a:cubicBezTo>
                    <a:pt x="13666" y="15283"/>
                    <a:pt x="13666" y="15283"/>
                    <a:pt x="13712" y="15283"/>
                  </a:cubicBezTo>
                  <a:cubicBezTo>
                    <a:pt x="13893" y="15195"/>
                    <a:pt x="14030" y="15151"/>
                    <a:pt x="14166" y="14974"/>
                  </a:cubicBezTo>
                  <a:cubicBezTo>
                    <a:pt x="14257" y="14930"/>
                    <a:pt x="14348" y="14886"/>
                    <a:pt x="14439" y="14886"/>
                  </a:cubicBezTo>
                  <a:cubicBezTo>
                    <a:pt x="14439" y="14886"/>
                    <a:pt x="14485" y="14842"/>
                    <a:pt x="14530" y="14842"/>
                  </a:cubicBezTo>
                  <a:cubicBezTo>
                    <a:pt x="14621" y="14798"/>
                    <a:pt x="14666" y="14753"/>
                    <a:pt x="14757" y="14665"/>
                  </a:cubicBezTo>
                  <a:cubicBezTo>
                    <a:pt x="14803" y="14621"/>
                    <a:pt x="14803" y="14621"/>
                    <a:pt x="14803" y="14621"/>
                  </a:cubicBezTo>
                  <a:cubicBezTo>
                    <a:pt x="14894" y="14488"/>
                    <a:pt x="14985" y="14488"/>
                    <a:pt x="15076" y="14488"/>
                  </a:cubicBezTo>
                  <a:cubicBezTo>
                    <a:pt x="15167" y="14488"/>
                    <a:pt x="15258" y="14488"/>
                    <a:pt x="15349" y="14533"/>
                  </a:cubicBezTo>
                  <a:cubicBezTo>
                    <a:pt x="15394" y="14533"/>
                    <a:pt x="15394" y="14533"/>
                    <a:pt x="15394" y="14533"/>
                  </a:cubicBezTo>
                  <a:cubicBezTo>
                    <a:pt x="15485" y="14533"/>
                    <a:pt x="15530" y="14533"/>
                    <a:pt x="15576" y="14533"/>
                  </a:cubicBezTo>
                  <a:cubicBezTo>
                    <a:pt x="15667" y="14533"/>
                    <a:pt x="15712" y="14533"/>
                    <a:pt x="15758" y="14533"/>
                  </a:cubicBezTo>
                  <a:cubicBezTo>
                    <a:pt x="15803" y="14533"/>
                    <a:pt x="15849" y="14533"/>
                    <a:pt x="15894" y="14533"/>
                  </a:cubicBezTo>
                  <a:cubicBezTo>
                    <a:pt x="16031" y="14533"/>
                    <a:pt x="16122" y="14533"/>
                    <a:pt x="16167" y="14577"/>
                  </a:cubicBezTo>
                  <a:cubicBezTo>
                    <a:pt x="16167" y="14577"/>
                    <a:pt x="16167" y="14577"/>
                    <a:pt x="16167" y="14577"/>
                  </a:cubicBezTo>
                  <a:cubicBezTo>
                    <a:pt x="16213" y="14621"/>
                    <a:pt x="16213" y="14621"/>
                    <a:pt x="16213" y="14621"/>
                  </a:cubicBezTo>
                  <a:cubicBezTo>
                    <a:pt x="16213" y="14577"/>
                    <a:pt x="16213" y="14577"/>
                    <a:pt x="16213" y="14577"/>
                  </a:cubicBezTo>
                  <a:cubicBezTo>
                    <a:pt x="16349" y="14621"/>
                    <a:pt x="16485" y="14621"/>
                    <a:pt x="16576" y="14621"/>
                  </a:cubicBezTo>
                  <a:cubicBezTo>
                    <a:pt x="16667" y="14621"/>
                    <a:pt x="16713" y="14621"/>
                    <a:pt x="16758" y="14621"/>
                  </a:cubicBezTo>
                  <a:cubicBezTo>
                    <a:pt x="16804" y="14621"/>
                    <a:pt x="16849" y="14621"/>
                    <a:pt x="16895" y="14621"/>
                  </a:cubicBezTo>
                  <a:cubicBezTo>
                    <a:pt x="17031" y="14621"/>
                    <a:pt x="17031" y="14621"/>
                    <a:pt x="17031" y="14621"/>
                  </a:cubicBezTo>
                  <a:cubicBezTo>
                    <a:pt x="17213" y="14621"/>
                    <a:pt x="17349" y="14621"/>
                    <a:pt x="17486" y="14444"/>
                  </a:cubicBezTo>
                  <a:cubicBezTo>
                    <a:pt x="17622" y="14267"/>
                    <a:pt x="17713" y="14179"/>
                    <a:pt x="17986" y="14179"/>
                  </a:cubicBezTo>
                  <a:cubicBezTo>
                    <a:pt x="18077" y="14179"/>
                    <a:pt x="18168" y="14179"/>
                    <a:pt x="18213" y="14179"/>
                  </a:cubicBezTo>
                  <a:cubicBezTo>
                    <a:pt x="18304" y="14179"/>
                    <a:pt x="18395" y="14179"/>
                    <a:pt x="18532" y="14179"/>
                  </a:cubicBezTo>
                  <a:cubicBezTo>
                    <a:pt x="18577" y="14179"/>
                    <a:pt x="18623" y="14179"/>
                    <a:pt x="18714" y="14179"/>
                  </a:cubicBezTo>
                  <a:cubicBezTo>
                    <a:pt x="18759" y="14179"/>
                    <a:pt x="18759" y="14179"/>
                    <a:pt x="18759" y="14179"/>
                  </a:cubicBezTo>
                  <a:cubicBezTo>
                    <a:pt x="18850" y="14179"/>
                    <a:pt x="18941" y="14179"/>
                    <a:pt x="19032" y="14179"/>
                  </a:cubicBezTo>
                  <a:cubicBezTo>
                    <a:pt x="19123" y="14179"/>
                    <a:pt x="19214" y="14135"/>
                    <a:pt x="19305" y="14135"/>
                  </a:cubicBezTo>
                  <a:cubicBezTo>
                    <a:pt x="19350" y="14135"/>
                    <a:pt x="19396" y="14135"/>
                    <a:pt x="19441" y="14135"/>
                  </a:cubicBezTo>
                  <a:cubicBezTo>
                    <a:pt x="19487" y="14179"/>
                    <a:pt x="19487" y="14179"/>
                    <a:pt x="19487" y="14179"/>
                  </a:cubicBezTo>
                  <a:cubicBezTo>
                    <a:pt x="19532" y="14179"/>
                    <a:pt x="19578" y="14179"/>
                    <a:pt x="19578" y="14179"/>
                  </a:cubicBezTo>
                  <a:cubicBezTo>
                    <a:pt x="19669" y="14179"/>
                    <a:pt x="19714" y="14135"/>
                    <a:pt x="19760" y="14135"/>
                  </a:cubicBezTo>
                  <a:cubicBezTo>
                    <a:pt x="19805" y="14135"/>
                    <a:pt x="19850" y="14091"/>
                    <a:pt x="19896" y="14091"/>
                  </a:cubicBezTo>
                  <a:cubicBezTo>
                    <a:pt x="19941" y="14047"/>
                    <a:pt x="19987" y="14002"/>
                    <a:pt x="20032" y="14002"/>
                  </a:cubicBezTo>
                  <a:cubicBezTo>
                    <a:pt x="20078" y="14002"/>
                    <a:pt x="20078" y="14002"/>
                    <a:pt x="20123" y="14002"/>
                  </a:cubicBezTo>
                  <a:cubicBezTo>
                    <a:pt x="20169" y="14002"/>
                    <a:pt x="20214" y="14002"/>
                    <a:pt x="20305" y="14002"/>
                  </a:cubicBezTo>
                  <a:cubicBezTo>
                    <a:pt x="20351" y="14047"/>
                    <a:pt x="20396" y="14047"/>
                    <a:pt x="20442" y="14047"/>
                  </a:cubicBezTo>
                  <a:cubicBezTo>
                    <a:pt x="20533" y="14047"/>
                    <a:pt x="20578" y="14002"/>
                    <a:pt x="20624" y="13958"/>
                  </a:cubicBezTo>
                  <a:cubicBezTo>
                    <a:pt x="20669" y="13914"/>
                    <a:pt x="20669" y="13870"/>
                    <a:pt x="20714" y="13826"/>
                  </a:cubicBezTo>
                  <a:cubicBezTo>
                    <a:pt x="20714" y="13782"/>
                    <a:pt x="20760" y="13737"/>
                    <a:pt x="20805" y="13693"/>
                  </a:cubicBezTo>
                  <a:cubicBezTo>
                    <a:pt x="20851" y="13693"/>
                    <a:pt x="20851" y="13649"/>
                    <a:pt x="20896" y="13649"/>
                  </a:cubicBezTo>
                  <a:cubicBezTo>
                    <a:pt x="20942" y="13605"/>
                    <a:pt x="20987" y="13605"/>
                    <a:pt x="21033" y="13561"/>
                  </a:cubicBezTo>
                  <a:cubicBezTo>
                    <a:pt x="21124" y="13428"/>
                    <a:pt x="21124" y="13296"/>
                    <a:pt x="21169" y="13163"/>
                  </a:cubicBezTo>
                  <a:cubicBezTo>
                    <a:pt x="21169" y="13031"/>
                    <a:pt x="21169" y="12898"/>
                    <a:pt x="21260" y="12810"/>
                  </a:cubicBezTo>
                  <a:cubicBezTo>
                    <a:pt x="21351" y="12589"/>
                    <a:pt x="21488" y="12368"/>
                    <a:pt x="21488" y="12103"/>
                  </a:cubicBezTo>
                  <a:cubicBezTo>
                    <a:pt x="21488" y="11838"/>
                    <a:pt x="21488" y="11838"/>
                    <a:pt x="21488" y="11838"/>
                  </a:cubicBezTo>
                  <a:cubicBezTo>
                    <a:pt x="21488" y="11220"/>
                    <a:pt x="21488" y="10601"/>
                    <a:pt x="21533" y="9983"/>
                  </a:cubicBezTo>
                  <a:cubicBezTo>
                    <a:pt x="21533" y="9806"/>
                    <a:pt x="21533" y="9674"/>
                    <a:pt x="21488" y="9497"/>
                  </a:cubicBezTo>
                  <a:cubicBezTo>
                    <a:pt x="21488" y="9364"/>
                    <a:pt x="21488" y="9232"/>
                    <a:pt x="21488" y="9055"/>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30" name="Shape">
              <a:extLst>
                <a:ext uri="{FF2B5EF4-FFF2-40B4-BE49-F238E27FC236}">
                  <a16:creationId xmlns:a16="http://schemas.microsoft.com/office/drawing/2014/main" id="{A745F49C-9411-7D48-8192-153F7B394227}"/>
                </a:ext>
              </a:extLst>
            </p:cNvPr>
            <p:cNvSpPr/>
            <p:nvPr/>
          </p:nvSpPr>
          <p:spPr>
            <a:xfrm>
              <a:off x="966523" y="1188792"/>
              <a:ext cx="1334304" cy="1486980"/>
            </a:xfrm>
            <a:custGeom>
              <a:avLst/>
              <a:gdLst/>
              <a:ahLst/>
              <a:cxnLst>
                <a:cxn ang="0">
                  <a:pos x="wd2" y="hd2"/>
                </a:cxn>
                <a:cxn ang="5400000">
                  <a:pos x="wd2" y="hd2"/>
                </a:cxn>
                <a:cxn ang="10800000">
                  <a:pos x="wd2" y="hd2"/>
                </a:cxn>
                <a:cxn ang="16200000">
                  <a:pos x="wd2" y="hd2"/>
                </a:cxn>
              </a:cxnLst>
              <a:rect l="0" t="0" r="r" b="b"/>
              <a:pathLst>
                <a:path w="21600" h="21600" extrusionOk="0">
                  <a:moveTo>
                    <a:pt x="20152" y="18477"/>
                  </a:moveTo>
                  <a:cubicBezTo>
                    <a:pt x="18766" y="3956"/>
                    <a:pt x="18766" y="3956"/>
                    <a:pt x="18766" y="3956"/>
                  </a:cubicBezTo>
                  <a:cubicBezTo>
                    <a:pt x="21600" y="3956"/>
                    <a:pt x="21600" y="3956"/>
                    <a:pt x="21600" y="3956"/>
                  </a:cubicBezTo>
                  <a:cubicBezTo>
                    <a:pt x="20781" y="3435"/>
                    <a:pt x="20781" y="3435"/>
                    <a:pt x="20781" y="3435"/>
                  </a:cubicBezTo>
                  <a:cubicBezTo>
                    <a:pt x="19963" y="2915"/>
                    <a:pt x="19270" y="2498"/>
                    <a:pt x="18640" y="2082"/>
                  </a:cubicBezTo>
                  <a:cubicBezTo>
                    <a:pt x="18073" y="1770"/>
                    <a:pt x="17570" y="1457"/>
                    <a:pt x="16877" y="1041"/>
                  </a:cubicBezTo>
                  <a:cubicBezTo>
                    <a:pt x="16688" y="937"/>
                    <a:pt x="16499" y="833"/>
                    <a:pt x="16310" y="729"/>
                  </a:cubicBezTo>
                  <a:cubicBezTo>
                    <a:pt x="16247" y="677"/>
                    <a:pt x="16247" y="677"/>
                    <a:pt x="16247" y="677"/>
                  </a:cubicBezTo>
                  <a:cubicBezTo>
                    <a:pt x="16058" y="520"/>
                    <a:pt x="15869" y="416"/>
                    <a:pt x="15680" y="312"/>
                  </a:cubicBezTo>
                  <a:cubicBezTo>
                    <a:pt x="15555" y="260"/>
                    <a:pt x="15555" y="260"/>
                    <a:pt x="15555" y="260"/>
                  </a:cubicBezTo>
                  <a:cubicBezTo>
                    <a:pt x="15555" y="208"/>
                    <a:pt x="15492" y="208"/>
                    <a:pt x="15492" y="156"/>
                  </a:cubicBezTo>
                  <a:cubicBezTo>
                    <a:pt x="15240" y="0"/>
                    <a:pt x="15240" y="0"/>
                    <a:pt x="15240" y="0"/>
                  </a:cubicBezTo>
                  <a:cubicBezTo>
                    <a:pt x="15177" y="208"/>
                    <a:pt x="15177" y="208"/>
                    <a:pt x="15177" y="208"/>
                  </a:cubicBezTo>
                  <a:cubicBezTo>
                    <a:pt x="15114" y="2134"/>
                    <a:pt x="15114" y="2134"/>
                    <a:pt x="15114" y="2134"/>
                  </a:cubicBezTo>
                  <a:cubicBezTo>
                    <a:pt x="9194" y="2290"/>
                    <a:pt x="9194" y="2290"/>
                    <a:pt x="9194" y="2290"/>
                  </a:cubicBezTo>
                  <a:cubicBezTo>
                    <a:pt x="9131" y="2811"/>
                    <a:pt x="9131" y="2811"/>
                    <a:pt x="9131" y="2811"/>
                  </a:cubicBezTo>
                  <a:cubicBezTo>
                    <a:pt x="9131" y="3071"/>
                    <a:pt x="9131" y="3383"/>
                    <a:pt x="9131" y="3695"/>
                  </a:cubicBezTo>
                  <a:cubicBezTo>
                    <a:pt x="9068" y="4164"/>
                    <a:pt x="9068" y="4684"/>
                    <a:pt x="9005" y="5205"/>
                  </a:cubicBezTo>
                  <a:cubicBezTo>
                    <a:pt x="9005" y="5205"/>
                    <a:pt x="9005" y="5205"/>
                    <a:pt x="9005" y="5205"/>
                  </a:cubicBezTo>
                  <a:cubicBezTo>
                    <a:pt x="9005" y="5465"/>
                    <a:pt x="9005" y="5725"/>
                    <a:pt x="9005" y="5986"/>
                  </a:cubicBezTo>
                  <a:cubicBezTo>
                    <a:pt x="9005" y="6090"/>
                    <a:pt x="9005" y="6090"/>
                    <a:pt x="9005" y="6090"/>
                  </a:cubicBezTo>
                  <a:cubicBezTo>
                    <a:pt x="9005" y="6194"/>
                    <a:pt x="9005" y="6298"/>
                    <a:pt x="9005" y="6350"/>
                  </a:cubicBezTo>
                  <a:cubicBezTo>
                    <a:pt x="9005" y="6558"/>
                    <a:pt x="8690" y="6662"/>
                    <a:pt x="8438" y="6714"/>
                  </a:cubicBezTo>
                  <a:cubicBezTo>
                    <a:pt x="8313" y="6714"/>
                    <a:pt x="8250" y="6766"/>
                    <a:pt x="8124" y="6766"/>
                  </a:cubicBezTo>
                  <a:cubicBezTo>
                    <a:pt x="8061" y="6818"/>
                    <a:pt x="7935" y="6818"/>
                    <a:pt x="7872" y="6870"/>
                  </a:cubicBezTo>
                  <a:cubicBezTo>
                    <a:pt x="7494" y="6922"/>
                    <a:pt x="7116" y="7235"/>
                    <a:pt x="6927" y="7495"/>
                  </a:cubicBezTo>
                  <a:cubicBezTo>
                    <a:pt x="6864" y="7651"/>
                    <a:pt x="6864" y="7911"/>
                    <a:pt x="6927" y="8067"/>
                  </a:cubicBezTo>
                  <a:cubicBezTo>
                    <a:pt x="7053" y="10149"/>
                    <a:pt x="7053" y="10149"/>
                    <a:pt x="7053" y="10149"/>
                  </a:cubicBezTo>
                  <a:cubicBezTo>
                    <a:pt x="0" y="10149"/>
                    <a:pt x="0" y="10149"/>
                    <a:pt x="0" y="10149"/>
                  </a:cubicBezTo>
                  <a:cubicBezTo>
                    <a:pt x="0" y="10566"/>
                    <a:pt x="0" y="10566"/>
                    <a:pt x="0" y="10566"/>
                  </a:cubicBezTo>
                  <a:cubicBezTo>
                    <a:pt x="0" y="10618"/>
                    <a:pt x="0" y="10618"/>
                    <a:pt x="0" y="10618"/>
                  </a:cubicBezTo>
                  <a:cubicBezTo>
                    <a:pt x="0" y="10618"/>
                    <a:pt x="0" y="10670"/>
                    <a:pt x="63" y="10722"/>
                  </a:cubicBezTo>
                  <a:cubicBezTo>
                    <a:pt x="63" y="10774"/>
                    <a:pt x="63" y="10826"/>
                    <a:pt x="126" y="10878"/>
                  </a:cubicBezTo>
                  <a:cubicBezTo>
                    <a:pt x="126" y="10930"/>
                    <a:pt x="189" y="10982"/>
                    <a:pt x="189" y="10982"/>
                  </a:cubicBezTo>
                  <a:cubicBezTo>
                    <a:pt x="252" y="11086"/>
                    <a:pt x="315" y="11138"/>
                    <a:pt x="378" y="11242"/>
                  </a:cubicBezTo>
                  <a:cubicBezTo>
                    <a:pt x="378" y="11347"/>
                    <a:pt x="441" y="11451"/>
                    <a:pt x="567" y="11451"/>
                  </a:cubicBezTo>
                  <a:cubicBezTo>
                    <a:pt x="693" y="11451"/>
                    <a:pt x="693" y="11399"/>
                    <a:pt x="756" y="11399"/>
                  </a:cubicBezTo>
                  <a:cubicBezTo>
                    <a:pt x="756" y="11399"/>
                    <a:pt x="756" y="11451"/>
                    <a:pt x="756" y="11503"/>
                  </a:cubicBezTo>
                  <a:cubicBezTo>
                    <a:pt x="819" y="11555"/>
                    <a:pt x="819" y="11555"/>
                    <a:pt x="819" y="11607"/>
                  </a:cubicBezTo>
                  <a:cubicBezTo>
                    <a:pt x="819" y="11711"/>
                    <a:pt x="819" y="11815"/>
                    <a:pt x="945" y="11919"/>
                  </a:cubicBezTo>
                  <a:cubicBezTo>
                    <a:pt x="1008" y="11971"/>
                    <a:pt x="1071" y="12023"/>
                    <a:pt x="1008" y="12127"/>
                  </a:cubicBezTo>
                  <a:cubicBezTo>
                    <a:pt x="1008" y="12179"/>
                    <a:pt x="1008" y="12283"/>
                    <a:pt x="1008" y="12335"/>
                  </a:cubicBezTo>
                  <a:cubicBezTo>
                    <a:pt x="1008" y="12440"/>
                    <a:pt x="1008" y="12544"/>
                    <a:pt x="945" y="12596"/>
                  </a:cubicBezTo>
                  <a:cubicBezTo>
                    <a:pt x="945" y="12648"/>
                    <a:pt x="882" y="12700"/>
                    <a:pt x="819" y="12752"/>
                  </a:cubicBezTo>
                  <a:cubicBezTo>
                    <a:pt x="756" y="12804"/>
                    <a:pt x="693" y="12856"/>
                    <a:pt x="693" y="12960"/>
                  </a:cubicBezTo>
                  <a:cubicBezTo>
                    <a:pt x="693" y="13012"/>
                    <a:pt x="693" y="13064"/>
                    <a:pt x="693" y="13116"/>
                  </a:cubicBezTo>
                  <a:cubicBezTo>
                    <a:pt x="693" y="13220"/>
                    <a:pt x="693" y="13220"/>
                    <a:pt x="630" y="13272"/>
                  </a:cubicBezTo>
                  <a:cubicBezTo>
                    <a:pt x="630" y="13272"/>
                    <a:pt x="630" y="13272"/>
                    <a:pt x="630" y="13324"/>
                  </a:cubicBezTo>
                  <a:cubicBezTo>
                    <a:pt x="567" y="13324"/>
                    <a:pt x="378" y="13428"/>
                    <a:pt x="504" y="13585"/>
                  </a:cubicBezTo>
                  <a:cubicBezTo>
                    <a:pt x="567" y="13637"/>
                    <a:pt x="630" y="13689"/>
                    <a:pt x="693" y="13741"/>
                  </a:cubicBezTo>
                  <a:cubicBezTo>
                    <a:pt x="693" y="13741"/>
                    <a:pt x="693" y="13741"/>
                    <a:pt x="756" y="13793"/>
                  </a:cubicBezTo>
                  <a:cubicBezTo>
                    <a:pt x="819" y="13845"/>
                    <a:pt x="819" y="13897"/>
                    <a:pt x="882" y="14001"/>
                  </a:cubicBezTo>
                  <a:cubicBezTo>
                    <a:pt x="1008" y="14157"/>
                    <a:pt x="1008" y="14365"/>
                    <a:pt x="1071" y="14573"/>
                  </a:cubicBezTo>
                  <a:cubicBezTo>
                    <a:pt x="1071" y="14678"/>
                    <a:pt x="1071" y="14782"/>
                    <a:pt x="1071" y="14886"/>
                  </a:cubicBezTo>
                  <a:cubicBezTo>
                    <a:pt x="1071" y="15042"/>
                    <a:pt x="1134" y="15146"/>
                    <a:pt x="1134" y="15302"/>
                  </a:cubicBezTo>
                  <a:cubicBezTo>
                    <a:pt x="1134" y="15406"/>
                    <a:pt x="1134" y="15458"/>
                    <a:pt x="1134" y="15562"/>
                  </a:cubicBezTo>
                  <a:cubicBezTo>
                    <a:pt x="1134" y="15667"/>
                    <a:pt x="1134" y="15719"/>
                    <a:pt x="1134" y="15823"/>
                  </a:cubicBezTo>
                  <a:cubicBezTo>
                    <a:pt x="1197" y="16135"/>
                    <a:pt x="1134" y="16499"/>
                    <a:pt x="1008" y="16760"/>
                  </a:cubicBezTo>
                  <a:cubicBezTo>
                    <a:pt x="945" y="17020"/>
                    <a:pt x="756" y="17384"/>
                    <a:pt x="567" y="17696"/>
                  </a:cubicBezTo>
                  <a:cubicBezTo>
                    <a:pt x="378" y="17957"/>
                    <a:pt x="252" y="18269"/>
                    <a:pt x="252" y="18737"/>
                  </a:cubicBezTo>
                  <a:cubicBezTo>
                    <a:pt x="252" y="18841"/>
                    <a:pt x="252" y="18946"/>
                    <a:pt x="189" y="18998"/>
                  </a:cubicBezTo>
                  <a:cubicBezTo>
                    <a:pt x="189" y="19310"/>
                    <a:pt x="189" y="19310"/>
                    <a:pt x="189" y="19310"/>
                  </a:cubicBezTo>
                  <a:cubicBezTo>
                    <a:pt x="441" y="19154"/>
                    <a:pt x="441" y="19154"/>
                    <a:pt x="441" y="19154"/>
                  </a:cubicBezTo>
                  <a:cubicBezTo>
                    <a:pt x="504" y="19102"/>
                    <a:pt x="567" y="18998"/>
                    <a:pt x="693" y="18841"/>
                  </a:cubicBezTo>
                  <a:cubicBezTo>
                    <a:pt x="693" y="18789"/>
                    <a:pt x="693" y="18737"/>
                    <a:pt x="693" y="18737"/>
                  </a:cubicBezTo>
                  <a:cubicBezTo>
                    <a:pt x="819" y="18477"/>
                    <a:pt x="1008" y="18425"/>
                    <a:pt x="1197" y="18425"/>
                  </a:cubicBezTo>
                  <a:cubicBezTo>
                    <a:pt x="1322" y="18425"/>
                    <a:pt x="1385" y="18425"/>
                    <a:pt x="1511" y="18425"/>
                  </a:cubicBezTo>
                  <a:cubicBezTo>
                    <a:pt x="1574" y="18425"/>
                    <a:pt x="1574" y="18425"/>
                    <a:pt x="1574" y="18425"/>
                  </a:cubicBezTo>
                  <a:cubicBezTo>
                    <a:pt x="1637" y="18477"/>
                    <a:pt x="1700" y="18477"/>
                    <a:pt x="1763" y="18477"/>
                  </a:cubicBezTo>
                  <a:cubicBezTo>
                    <a:pt x="2141" y="18477"/>
                    <a:pt x="2456" y="18373"/>
                    <a:pt x="2771" y="18321"/>
                  </a:cubicBezTo>
                  <a:cubicBezTo>
                    <a:pt x="3086" y="18217"/>
                    <a:pt x="3401" y="18165"/>
                    <a:pt x="3715" y="18165"/>
                  </a:cubicBezTo>
                  <a:cubicBezTo>
                    <a:pt x="3778" y="18165"/>
                    <a:pt x="3841" y="18165"/>
                    <a:pt x="3904" y="18165"/>
                  </a:cubicBezTo>
                  <a:cubicBezTo>
                    <a:pt x="4282" y="18217"/>
                    <a:pt x="4597" y="18373"/>
                    <a:pt x="4786" y="18633"/>
                  </a:cubicBezTo>
                  <a:cubicBezTo>
                    <a:pt x="4849" y="18633"/>
                    <a:pt x="4849" y="18633"/>
                    <a:pt x="4849" y="18633"/>
                  </a:cubicBezTo>
                  <a:cubicBezTo>
                    <a:pt x="5038" y="18893"/>
                    <a:pt x="5164" y="19050"/>
                    <a:pt x="5542" y="19102"/>
                  </a:cubicBezTo>
                  <a:cubicBezTo>
                    <a:pt x="6045" y="19154"/>
                    <a:pt x="6108" y="19310"/>
                    <a:pt x="6171" y="19674"/>
                  </a:cubicBezTo>
                  <a:cubicBezTo>
                    <a:pt x="6297" y="19882"/>
                    <a:pt x="6423" y="19987"/>
                    <a:pt x="6549" y="20143"/>
                  </a:cubicBezTo>
                  <a:cubicBezTo>
                    <a:pt x="6612" y="20195"/>
                    <a:pt x="6738" y="20247"/>
                    <a:pt x="6801" y="20351"/>
                  </a:cubicBezTo>
                  <a:cubicBezTo>
                    <a:pt x="6864" y="20403"/>
                    <a:pt x="6864" y="20455"/>
                    <a:pt x="6927" y="20507"/>
                  </a:cubicBezTo>
                  <a:cubicBezTo>
                    <a:pt x="6927" y="20559"/>
                    <a:pt x="6990" y="20611"/>
                    <a:pt x="7053" y="20663"/>
                  </a:cubicBezTo>
                  <a:cubicBezTo>
                    <a:pt x="7116" y="20767"/>
                    <a:pt x="7242" y="20819"/>
                    <a:pt x="7305" y="20871"/>
                  </a:cubicBezTo>
                  <a:cubicBezTo>
                    <a:pt x="7368" y="20871"/>
                    <a:pt x="7368" y="20871"/>
                    <a:pt x="7431" y="20923"/>
                  </a:cubicBezTo>
                  <a:cubicBezTo>
                    <a:pt x="7557" y="20975"/>
                    <a:pt x="7683" y="21080"/>
                    <a:pt x="7746" y="21184"/>
                  </a:cubicBezTo>
                  <a:cubicBezTo>
                    <a:pt x="7872" y="21340"/>
                    <a:pt x="7935" y="21444"/>
                    <a:pt x="8124" y="21496"/>
                  </a:cubicBezTo>
                  <a:cubicBezTo>
                    <a:pt x="8124" y="21548"/>
                    <a:pt x="8187" y="21548"/>
                    <a:pt x="8250" y="21548"/>
                  </a:cubicBezTo>
                  <a:cubicBezTo>
                    <a:pt x="8313" y="21496"/>
                    <a:pt x="8313" y="21496"/>
                    <a:pt x="8313" y="21496"/>
                  </a:cubicBezTo>
                  <a:cubicBezTo>
                    <a:pt x="8250" y="21548"/>
                    <a:pt x="8250" y="21548"/>
                    <a:pt x="8250" y="21548"/>
                  </a:cubicBezTo>
                  <a:cubicBezTo>
                    <a:pt x="8313" y="21600"/>
                    <a:pt x="8313" y="21600"/>
                    <a:pt x="8313" y="21600"/>
                  </a:cubicBezTo>
                  <a:cubicBezTo>
                    <a:pt x="8438" y="21496"/>
                    <a:pt x="8438" y="21496"/>
                    <a:pt x="8438" y="21496"/>
                  </a:cubicBezTo>
                  <a:cubicBezTo>
                    <a:pt x="8564" y="21444"/>
                    <a:pt x="8690" y="21392"/>
                    <a:pt x="8753" y="21288"/>
                  </a:cubicBezTo>
                  <a:cubicBezTo>
                    <a:pt x="8879" y="21132"/>
                    <a:pt x="8879" y="20975"/>
                    <a:pt x="8816" y="20871"/>
                  </a:cubicBezTo>
                  <a:cubicBezTo>
                    <a:pt x="8816" y="20767"/>
                    <a:pt x="8816" y="20663"/>
                    <a:pt x="8879" y="20611"/>
                  </a:cubicBezTo>
                  <a:cubicBezTo>
                    <a:pt x="8879" y="20403"/>
                    <a:pt x="9131" y="20039"/>
                    <a:pt x="9383" y="19987"/>
                  </a:cubicBezTo>
                  <a:cubicBezTo>
                    <a:pt x="9446" y="19987"/>
                    <a:pt x="9446" y="19987"/>
                    <a:pt x="9446" y="19987"/>
                  </a:cubicBezTo>
                  <a:cubicBezTo>
                    <a:pt x="9635" y="19987"/>
                    <a:pt x="9824" y="20195"/>
                    <a:pt x="9950" y="20299"/>
                  </a:cubicBezTo>
                  <a:cubicBezTo>
                    <a:pt x="10013" y="20351"/>
                    <a:pt x="10013" y="20351"/>
                    <a:pt x="10013" y="20351"/>
                  </a:cubicBezTo>
                  <a:cubicBezTo>
                    <a:pt x="10076" y="20403"/>
                    <a:pt x="10139" y="20507"/>
                    <a:pt x="10265" y="20559"/>
                  </a:cubicBezTo>
                  <a:cubicBezTo>
                    <a:pt x="10328" y="20611"/>
                    <a:pt x="10328" y="20611"/>
                    <a:pt x="10328" y="20611"/>
                  </a:cubicBezTo>
                  <a:cubicBezTo>
                    <a:pt x="10391" y="20663"/>
                    <a:pt x="10391" y="20663"/>
                    <a:pt x="10391" y="20663"/>
                  </a:cubicBezTo>
                  <a:cubicBezTo>
                    <a:pt x="10391" y="20715"/>
                    <a:pt x="10391" y="20715"/>
                    <a:pt x="10454" y="20715"/>
                  </a:cubicBezTo>
                  <a:cubicBezTo>
                    <a:pt x="10580" y="20871"/>
                    <a:pt x="10580" y="20871"/>
                    <a:pt x="10580" y="20871"/>
                  </a:cubicBezTo>
                  <a:cubicBezTo>
                    <a:pt x="10643" y="20715"/>
                    <a:pt x="10643" y="20715"/>
                    <a:pt x="10643" y="20715"/>
                  </a:cubicBezTo>
                  <a:cubicBezTo>
                    <a:pt x="10643" y="20663"/>
                    <a:pt x="10706" y="20611"/>
                    <a:pt x="10706" y="20611"/>
                  </a:cubicBezTo>
                  <a:cubicBezTo>
                    <a:pt x="10706" y="20559"/>
                    <a:pt x="10706" y="20559"/>
                    <a:pt x="10706" y="20559"/>
                  </a:cubicBezTo>
                  <a:cubicBezTo>
                    <a:pt x="10769" y="20455"/>
                    <a:pt x="10831" y="20351"/>
                    <a:pt x="10957" y="20299"/>
                  </a:cubicBezTo>
                  <a:cubicBezTo>
                    <a:pt x="11020" y="20247"/>
                    <a:pt x="11083" y="20247"/>
                    <a:pt x="11209" y="20247"/>
                  </a:cubicBezTo>
                  <a:cubicBezTo>
                    <a:pt x="11272" y="20247"/>
                    <a:pt x="11335" y="20247"/>
                    <a:pt x="11398" y="20247"/>
                  </a:cubicBezTo>
                  <a:cubicBezTo>
                    <a:pt x="11398" y="20247"/>
                    <a:pt x="11398" y="20247"/>
                    <a:pt x="11398" y="20247"/>
                  </a:cubicBezTo>
                  <a:cubicBezTo>
                    <a:pt x="11650" y="20299"/>
                    <a:pt x="11902" y="20351"/>
                    <a:pt x="12217" y="20351"/>
                  </a:cubicBezTo>
                  <a:cubicBezTo>
                    <a:pt x="12217" y="20351"/>
                    <a:pt x="12217" y="20351"/>
                    <a:pt x="12217" y="20351"/>
                  </a:cubicBezTo>
                  <a:cubicBezTo>
                    <a:pt x="12406" y="20351"/>
                    <a:pt x="12532" y="20351"/>
                    <a:pt x="12721" y="20299"/>
                  </a:cubicBezTo>
                  <a:cubicBezTo>
                    <a:pt x="12721" y="20299"/>
                    <a:pt x="12721" y="20299"/>
                    <a:pt x="12721" y="20299"/>
                  </a:cubicBezTo>
                  <a:cubicBezTo>
                    <a:pt x="12784" y="20299"/>
                    <a:pt x="12784" y="20299"/>
                    <a:pt x="12847" y="20299"/>
                  </a:cubicBezTo>
                  <a:cubicBezTo>
                    <a:pt x="12910" y="20299"/>
                    <a:pt x="12973" y="20299"/>
                    <a:pt x="13099" y="20247"/>
                  </a:cubicBezTo>
                  <a:cubicBezTo>
                    <a:pt x="13162" y="20195"/>
                    <a:pt x="13162" y="20143"/>
                    <a:pt x="13162" y="20091"/>
                  </a:cubicBezTo>
                  <a:cubicBezTo>
                    <a:pt x="13224" y="20091"/>
                    <a:pt x="13224" y="20039"/>
                    <a:pt x="13224" y="19987"/>
                  </a:cubicBezTo>
                  <a:cubicBezTo>
                    <a:pt x="13287" y="19987"/>
                    <a:pt x="13287" y="19934"/>
                    <a:pt x="13287" y="19934"/>
                  </a:cubicBezTo>
                  <a:cubicBezTo>
                    <a:pt x="13350" y="19934"/>
                    <a:pt x="13413" y="20039"/>
                    <a:pt x="13476" y="20091"/>
                  </a:cubicBezTo>
                  <a:cubicBezTo>
                    <a:pt x="13476" y="20091"/>
                    <a:pt x="13476" y="20143"/>
                    <a:pt x="13476" y="20143"/>
                  </a:cubicBezTo>
                  <a:cubicBezTo>
                    <a:pt x="13539" y="20195"/>
                    <a:pt x="13539" y="20195"/>
                    <a:pt x="13539" y="20195"/>
                  </a:cubicBezTo>
                  <a:cubicBezTo>
                    <a:pt x="20278" y="20195"/>
                    <a:pt x="20278" y="20195"/>
                    <a:pt x="20278" y="20195"/>
                  </a:cubicBezTo>
                  <a:cubicBezTo>
                    <a:pt x="20592" y="19102"/>
                    <a:pt x="20592" y="19102"/>
                    <a:pt x="20592" y="19102"/>
                  </a:cubicBezTo>
                  <a:cubicBezTo>
                    <a:pt x="20592" y="19050"/>
                    <a:pt x="20781" y="18737"/>
                    <a:pt x="20152" y="18477"/>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31" name="Shape">
              <a:extLst>
                <a:ext uri="{FF2B5EF4-FFF2-40B4-BE49-F238E27FC236}">
                  <a16:creationId xmlns:a16="http://schemas.microsoft.com/office/drawing/2014/main" id="{3D69FDEB-BCE2-314F-BE64-86DC43D01478}"/>
                </a:ext>
              </a:extLst>
            </p:cNvPr>
            <p:cNvSpPr/>
            <p:nvPr/>
          </p:nvSpPr>
          <p:spPr>
            <a:xfrm>
              <a:off x="1908258" y="27646"/>
              <a:ext cx="2250296" cy="2146542"/>
            </a:xfrm>
            <a:custGeom>
              <a:avLst/>
              <a:gdLst/>
              <a:ahLst/>
              <a:cxnLst>
                <a:cxn ang="0">
                  <a:pos x="wd2" y="hd2"/>
                </a:cxn>
                <a:cxn ang="5400000">
                  <a:pos x="wd2" y="hd2"/>
                </a:cxn>
                <a:cxn ang="10800000">
                  <a:pos x="wd2" y="hd2"/>
                </a:cxn>
                <a:cxn ang="16200000">
                  <a:pos x="wd2" y="hd2"/>
                </a:cxn>
              </a:cxnLst>
              <a:rect l="0" t="0" r="r" b="b"/>
              <a:pathLst>
                <a:path w="21600" h="21600" extrusionOk="0">
                  <a:moveTo>
                    <a:pt x="21264" y="15289"/>
                  </a:moveTo>
                  <a:cubicBezTo>
                    <a:pt x="20442" y="15037"/>
                    <a:pt x="20442" y="15037"/>
                    <a:pt x="20442" y="15037"/>
                  </a:cubicBezTo>
                  <a:cubicBezTo>
                    <a:pt x="20404" y="15037"/>
                    <a:pt x="20367" y="15001"/>
                    <a:pt x="20329" y="15001"/>
                  </a:cubicBezTo>
                  <a:cubicBezTo>
                    <a:pt x="20255" y="15001"/>
                    <a:pt x="20217" y="15037"/>
                    <a:pt x="20180" y="15037"/>
                  </a:cubicBezTo>
                  <a:cubicBezTo>
                    <a:pt x="20143" y="15037"/>
                    <a:pt x="20105" y="15073"/>
                    <a:pt x="20105" y="15073"/>
                  </a:cubicBezTo>
                  <a:cubicBezTo>
                    <a:pt x="20068" y="15073"/>
                    <a:pt x="20068" y="15073"/>
                    <a:pt x="20068" y="15073"/>
                  </a:cubicBezTo>
                  <a:cubicBezTo>
                    <a:pt x="19993" y="15073"/>
                    <a:pt x="19993" y="15037"/>
                    <a:pt x="19956" y="15001"/>
                  </a:cubicBezTo>
                  <a:cubicBezTo>
                    <a:pt x="19918" y="15001"/>
                    <a:pt x="19918" y="15001"/>
                    <a:pt x="19918" y="15001"/>
                  </a:cubicBezTo>
                  <a:cubicBezTo>
                    <a:pt x="19918" y="15001"/>
                    <a:pt x="19918" y="14965"/>
                    <a:pt x="19881" y="14965"/>
                  </a:cubicBezTo>
                  <a:cubicBezTo>
                    <a:pt x="19881" y="14965"/>
                    <a:pt x="19844" y="14965"/>
                    <a:pt x="19844" y="14929"/>
                  </a:cubicBezTo>
                  <a:cubicBezTo>
                    <a:pt x="19806" y="14893"/>
                    <a:pt x="19806" y="14893"/>
                    <a:pt x="19806" y="14857"/>
                  </a:cubicBezTo>
                  <a:cubicBezTo>
                    <a:pt x="19806" y="14857"/>
                    <a:pt x="19806" y="14821"/>
                    <a:pt x="19806" y="14785"/>
                  </a:cubicBezTo>
                  <a:cubicBezTo>
                    <a:pt x="19806" y="14749"/>
                    <a:pt x="19769" y="14749"/>
                    <a:pt x="19731" y="14713"/>
                  </a:cubicBezTo>
                  <a:cubicBezTo>
                    <a:pt x="19731" y="14713"/>
                    <a:pt x="19731" y="14713"/>
                    <a:pt x="19694" y="14713"/>
                  </a:cubicBezTo>
                  <a:cubicBezTo>
                    <a:pt x="19694" y="14676"/>
                    <a:pt x="19694" y="14676"/>
                    <a:pt x="19657" y="14640"/>
                  </a:cubicBezTo>
                  <a:cubicBezTo>
                    <a:pt x="19657" y="14640"/>
                    <a:pt x="19657" y="14640"/>
                    <a:pt x="19657" y="14604"/>
                  </a:cubicBezTo>
                  <a:cubicBezTo>
                    <a:pt x="19657" y="14604"/>
                    <a:pt x="19657" y="14604"/>
                    <a:pt x="19657" y="14604"/>
                  </a:cubicBezTo>
                  <a:cubicBezTo>
                    <a:pt x="19619" y="14604"/>
                    <a:pt x="19619" y="14604"/>
                    <a:pt x="19619" y="14604"/>
                  </a:cubicBezTo>
                  <a:cubicBezTo>
                    <a:pt x="19619" y="14532"/>
                    <a:pt x="19619" y="14424"/>
                    <a:pt x="19582" y="14352"/>
                  </a:cubicBezTo>
                  <a:cubicBezTo>
                    <a:pt x="19582" y="14208"/>
                    <a:pt x="19582" y="14099"/>
                    <a:pt x="19545" y="13991"/>
                  </a:cubicBezTo>
                  <a:cubicBezTo>
                    <a:pt x="19507" y="13883"/>
                    <a:pt x="19433" y="13775"/>
                    <a:pt x="19358" y="13667"/>
                  </a:cubicBezTo>
                  <a:cubicBezTo>
                    <a:pt x="19320" y="13631"/>
                    <a:pt x="19283" y="13595"/>
                    <a:pt x="19246" y="13559"/>
                  </a:cubicBezTo>
                  <a:cubicBezTo>
                    <a:pt x="19208" y="13486"/>
                    <a:pt x="19171" y="13450"/>
                    <a:pt x="19134" y="13414"/>
                  </a:cubicBezTo>
                  <a:cubicBezTo>
                    <a:pt x="19096" y="13342"/>
                    <a:pt x="19021" y="13270"/>
                    <a:pt x="18984" y="13198"/>
                  </a:cubicBezTo>
                  <a:cubicBezTo>
                    <a:pt x="18947" y="13126"/>
                    <a:pt x="18909" y="13054"/>
                    <a:pt x="18947" y="13018"/>
                  </a:cubicBezTo>
                  <a:cubicBezTo>
                    <a:pt x="18947" y="12910"/>
                    <a:pt x="19059" y="12873"/>
                    <a:pt x="19134" y="12837"/>
                  </a:cubicBezTo>
                  <a:cubicBezTo>
                    <a:pt x="19171" y="12801"/>
                    <a:pt x="19208" y="12801"/>
                    <a:pt x="19246" y="12765"/>
                  </a:cubicBezTo>
                  <a:cubicBezTo>
                    <a:pt x="19283" y="12729"/>
                    <a:pt x="19320" y="12693"/>
                    <a:pt x="19395" y="12693"/>
                  </a:cubicBezTo>
                  <a:cubicBezTo>
                    <a:pt x="19433" y="12657"/>
                    <a:pt x="19433" y="12657"/>
                    <a:pt x="19433" y="12657"/>
                  </a:cubicBezTo>
                  <a:cubicBezTo>
                    <a:pt x="19433" y="12621"/>
                    <a:pt x="19433" y="12621"/>
                    <a:pt x="19433" y="12621"/>
                  </a:cubicBezTo>
                  <a:cubicBezTo>
                    <a:pt x="19433" y="12441"/>
                    <a:pt x="19433" y="12296"/>
                    <a:pt x="19395" y="12152"/>
                  </a:cubicBezTo>
                  <a:cubicBezTo>
                    <a:pt x="19395" y="12080"/>
                    <a:pt x="19358" y="12008"/>
                    <a:pt x="19320" y="11936"/>
                  </a:cubicBezTo>
                  <a:cubicBezTo>
                    <a:pt x="19208" y="11792"/>
                    <a:pt x="19283" y="11611"/>
                    <a:pt x="19320" y="11467"/>
                  </a:cubicBezTo>
                  <a:cubicBezTo>
                    <a:pt x="19358" y="11395"/>
                    <a:pt x="19395" y="11323"/>
                    <a:pt x="19395" y="11287"/>
                  </a:cubicBezTo>
                  <a:cubicBezTo>
                    <a:pt x="19433" y="11179"/>
                    <a:pt x="19433" y="11179"/>
                    <a:pt x="19433" y="11179"/>
                  </a:cubicBezTo>
                  <a:cubicBezTo>
                    <a:pt x="19470" y="11070"/>
                    <a:pt x="19507" y="10998"/>
                    <a:pt x="19507" y="10926"/>
                  </a:cubicBezTo>
                  <a:cubicBezTo>
                    <a:pt x="19470" y="10890"/>
                    <a:pt x="19433" y="10854"/>
                    <a:pt x="19395" y="10818"/>
                  </a:cubicBezTo>
                  <a:cubicBezTo>
                    <a:pt x="19358" y="10782"/>
                    <a:pt x="19358" y="10782"/>
                    <a:pt x="19320" y="10746"/>
                  </a:cubicBezTo>
                  <a:cubicBezTo>
                    <a:pt x="19246" y="10602"/>
                    <a:pt x="19320" y="10349"/>
                    <a:pt x="19358" y="10241"/>
                  </a:cubicBezTo>
                  <a:cubicBezTo>
                    <a:pt x="19395" y="10061"/>
                    <a:pt x="19395" y="9917"/>
                    <a:pt x="19395" y="9700"/>
                  </a:cubicBezTo>
                  <a:cubicBezTo>
                    <a:pt x="19395" y="9592"/>
                    <a:pt x="19358" y="9520"/>
                    <a:pt x="19320" y="9448"/>
                  </a:cubicBezTo>
                  <a:cubicBezTo>
                    <a:pt x="19320" y="9412"/>
                    <a:pt x="19320" y="9412"/>
                    <a:pt x="19320" y="9376"/>
                  </a:cubicBezTo>
                  <a:cubicBezTo>
                    <a:pt x="19283" y="9340"/>
                    <a:pt x="19283" y="9304"/>
                    <a:pt x="19283" y="9231"/>
                  </a:cubicBezTo>
                  <a:cubicBezTo>
                    <a:pt x="19283" y="9231"/>
                    <a:pt x="19283" y="9195"/>
                    <a:pt x="19283" y="9195"/>
                  </a:cubicBezTo>
                  <a:cubicBezTo>
                    <a:pt x="19283" y="9159"/>
                    <a:pt x="19283" y="9123"/>
                    <a:pt x="19283" y="9087"/>
                  </a:cubicBezTo>
                  <a:cubicBezTo>
                    <a:pt x="19246" y="9015"/>
                    <a:pt x="19208" y="8943"/>
                    <a:pt x="19134" y="8871"/>
                  </a:cubicBezTo>
                  <a:cubicBezTo>
                    <a:pt x="19096" y="8835"/>
                    <a:pt x="19096" y="8799"/>
                    <a:pt x="19059" y="8763"/>
                  </a:cubicBezTo>
                  <a:cubicBezTo>
                    <a:pt x="18984" y="8654"/>
                    <a:pt x="18909" y="8546"/>
                    <a:pt x="18835" y="8438"/>
                  </a:cubicBezTo>
                  <a:cubicBezTo>
                    <a:pt x="18872" y="8402"/>
                    <a:pt x="18909" y="8330"/>
                    <a:pt x="18984" y="8294"/>
                  </a:cubicBezTo>
                  <a:cubicBezTo>
                    <a:pt x="19059" y="8258"/>
                    <a:pt x="19059" y="8258"/>
                    <a:pt x="19059" y="8258"/>
                  </a:cubicBezTo>
                  <a:cubicBezTo>
                    <a:pt x="18536" y="6022"/>
                    <a:pt x="18536" y="6022"/>
                    <a:pt x="18536" y="6022"/>
                  </a:cubicBezTo>
                  <a:cubicBezTo>
                    <a:pt x="18536" y="5986"/>
                    <a:pt x="18536" y="5986"/>
                    <a:pt x="18536" y="5986"/>
                  </a:cubicBezTo>
                  <a:cubicBezTo>
                    <a:pt x="18424" y="5878"/>
                    <a:pt x="18274" y="5806"/>
                    <a:pt x="18125" y="5697"/>
                  </a:cubicBezTo>
                  <a:cubicBezTo>
                    <a:pt x="18050" y="5661"/>
                    <a:pt x="17975" y="5625"/>
                    <a:pt x="17900" y="5589"/>
                  </a:cubicBezTo>
                  <a:cubicBezTo>
                    <a:pt x="17788" y="5517"/>
                    <a:pt x="17788" y="5409"/>
                    <a:pt x="17751" y="5301"/>
                  </a:cubicBezTo>
                  <a:cubicBezTo>
                    <a:pt x="17751" y="5193"/>
                    <a:pt x="17751" y="5121"/>
                    <a:pt x="17676" y="5012"/>
                  </a:cubicBezTo>
                  <a:cubicBezTo>
                    <a:pt x="17639" y="4940"/>
                    <a:pt x="17564" y="4868"/>
                    <a:pt x="17452" y="4796"/>
                  </a:cubicBezTo>
                  <a:cubicBezTo>
                    <a:pt x="17452" y="4760"/>
                    <a:pt x="17377" y="4760"/>
                    <a:pt x="17340" y="4724"/>
                  </a:cubicBezTo>
                  <a:cubicBezTo>
                    <a:pt x="17265" y="4724"/>
                    <a:pt x="17228" y="4724"/>
                    <a:pt x="17190" y="4688"/>
                  </a:cubicBezTo>
                  <a:cubicBezTo>
                    <a:pt x="17153" y="4652"/>
                    <a:pt x="17153" y="4580"/>
                    <a:pt x="17153" y="4544"/>
                  </a:cubicBezTo>
                  <a:cubicBezTo>
                    <a:pt x="17153" y="4471"/>
                    <a:pt x="17153" y="4435"/>
                    <a:pt x="17153" y="4399"/>
                  </a:cubicBezTo>
                  <a:cubicBezTo>
                    <a:pt x="17153" y="4363"/>
                    <a:pt x="17116" y="4327"/>
                    <a:pt x="17116" y="4327"/>
                  </a:cubicBezTo>
                  <a:cubicBezTo>
                    <a:pt x="17078" y="4327"/>
                    <a:pt x="17078" y="4291"/>
                    <a:pt x="17078" y="4291"/>
                  </a:cubicBezTo>
                  <a:cubicBezTo>
                    <a:pt x="17041" y="4255"/>
                    <a:pt x="17041" y="4255"/>
                    <a:pt x="17041" y="4219"/>
                  </a:cubicBezTo>
                  <a:cubicBezTo>
                    <a:pt x="17041" y="4183"/>
                    <a:pt x="17041" y="4183"/>
                    <a:pt x="17003" y="4147"/>
                  </a:cubicBezTo>
                  <a:cubicBezTo>
                    <a:pt x="17003" y="4111"/>
                    <a:pt x="17003" y="4075"/>
                    <a:pt x="16966" y="4075"/>
                  </a:cubicBezTo>
                  <a:cubicBezTo>
                    <a:pt x="16929" y="4003"/>
                    <a:pt x="16929" y="3967"/>
                    <a:pt x="16891" y="3894"/>
                  </a:cubicBezTo>
                  <a:cubicBezTo>
                    <a:pt x="16891" y="3750"/>
                    <a:pt x="16891" y="3714"/>
                    <a:pt x="17003" y="3606"/>
                  </a:cubicBezTo>
                  <a:cubicBezTo>
                    <a:pt x="17041" y="3606"/>
                    <a:pt x="17078" y="3570"/>
                    <a:pt x="17116" y="3570"/>
                  </a:cubicBezTo>
                  <a:cubicBezTo>
                    <a:pt x="17153" y="3534"/>
                    <a:pt x="17190" y="3498"/>
                    <a:pt x="17228" y="3462"/>
                  </a:cubicBezTo>
                  <a:cubicBezTo>
                    <a:pt x="17265" y="3426"/>
                    <a:pt x="17265" y="3390"/>
                    <a:pt x="17302" y="3354"/>
                  </a:cubicBezTo>
                  <a:cubicBezTo>
                    <a:pt x="17302" y="3318"/>
                    <a:pt x="17340" y="3281"/>
                    <a:pt x="17377" y="3281"/>
                  </a:cubicBezTo>
                  <a:cubicBezTo>
                    <a:pt x="17377" y="3245"/>
                    <a:pt x="17415" y="3245"/>
                    <a:pt x="17452" y="3209"/>
                  </a:cubicBezTo>
                  <a:cubicBezTo>
                    <a:pt x="17489" y="3209"/>
                    <a:pt x="17527" y="3173"/>
                    <a:pt x="17564" y="3173"/>
                  </a:cubicBezTo>
                  <a:cubicBezTo>
                    <a:pt x="17639" y="3101"/>
                    <a:pt x="17713" y="2957"/>
                    <a:pt x="17713" y="2885"/>
                  </a:cubicBezTo>
                  <a:cubicBezTo>
                    <a:pt x="17751" y="2849"/>
                    <a:pt x="17751" y="2777"/>
                    <a:pt x="17751" y="2741"/>
                  </a:cubicBezTo>
                  <a:cubicBezTo>
                    <a:pt x="17751" y="2705"/>
                    <a:pt x="17751" y="2668"/>
                    <a:pt x="17751" y="2632"/>
                  </a:cubicBezTo>
                  <a:cubicBezTo>
                    <a:pt x="17751" y="2560"/>
                    <a:pt x="17788" y="2524"/>
                    <a:pt x="17826" y="2488"/>
                  </a:cubicBezTo>
                  <a:cubicBezTo>
                    <a:pt x="17826" y="2452"/>
                    <a:pt x="17863" y="2452"/>
                    <a:pt x="17863" y="2416"/>
                  </a:cubicBezTo>
                  <a:cubicBezTo>
                    <a:pt x="17900" y="2380"/>
                    <a:pt x="17900" y="2308"/>
                    <a:pt x="17900" y="2272"/>
                  </a:cubicBezTo>
                  <a:cubicBezTo>
                    <a:pt x="17900" y="2236"/>
                    <a:pt x="17863" y="2236"/>
                    <a:pt x="17826" y="2200"/>
                  </a:cubicBezTo>
                  <a:cubicBezTo>
                    <a:pt x="17826" y="2200"/>
                    <a:pt x="17826" y="2200"/>
                    <a:pt x="17826" y="2164"/>
                  </a:cubicBezTo>
                  <a:cubicBezTo>
                    <a:pt x="17751" y="2128"/>
                    <a:pt x="17788" y="2019"/>
                    <a:pt x="17788" y="1947"/>
                  </a:cubicBezTo>
                  <a:cubicBezTo>
                    <a:pt x="17788" y="1839"/>
                    <a:pt x="17788" y="1767"/>
                    <a:pt x="17751" y="1695"/>
                  </a:cubicBezTo>
                  <a:cubicBezTo>
                    <a:pt x="17751" y="1623"/>
                    <a:pt x="17713" y="1515"/>
                    <a:pt x="17751" y="1442"/>
                  </a:cubicBezTo>
                  <a:cubicBezTo>
                    <a:pt x="17751" y="1370"/>
                    <a:pt x="17751" y="1298"/>
                    <a:pt x="17788" y="1226"/>
                  </a:cubicBezTo>
                  <a:cubicBezTo>
                    <a:pt x="17788" y="1154"/>
                    <a:pt x="17826" y="1046"/>
                    <a:pt x="17788" y="938"/>
                  </a:cubicBezTo>
                  <a:cubicBezTo>
                    <a:pt x="17788" y="902"/>
                    <a:pt x="17788" y="865"/>
                    <a:pt x="17751" y="829"/>
                  </a:cubicBezTo>
                  <a:cubicBezTo>
                    <a:pt x="17751" y="793"/>
                    <a:pt x="17751" y="793"/>
                    <a:pt x="17751" y="793"/>
                  </a:cubicBezTo>
                  <a:cubicBezTo>
                    <a:pt x="17751" y="757"/>
                    <a:pt x="17713" y="757"/>
                    <a:pt x="17751" y="721"/>
                  </a:cubicBezTo>
                  <a:cubicBezTo>
                    <a:pt x="17751" y="721"/>
                    <a:pt x="17751" y="685"/>
                    <a:pt x="17788" y="685"/>
                  </a:cubicBezTo>
                  <a:cubicBezTo>
                    <a:pt x="17788" y="685"/>
                    <a:pt x="17826" y="685"/>
                    <a:pt x="17826" y="649"/>
                  </a:cubicBezTo>
                  <a:cubicBezTo>
                    <a:pt x="17826" y="649"/>
                    <a:pt x="17826" y="613"/>
                    <a:pt x="17863" y="613"/>
                  </a:cubicBezTo>
                  <a:cubicBezTo>
                    <a:pt x="17863" y="613"/>
                    <a:pt x="17863" y="577"/>
                    <a:pt x="17863" y="577"/>
                  </a:cubicBezTo>
                  <a:cubicBezTo>
                    <a:pt x="17900" y="541"/>
                    <a:pt x="17938" y="505"/>
                    <a:pt x="17975" y="469"/>
                  </a:cubicBezTo>
                  <a:cubicBezTo>
                    <a:pt x="18012" y="469"/>
                    <a:pt x="18050" y="433"/>
                    <a:pt x="18050" y="397"/>
                  </a:cubicBezTo>
                  <a:cubicBezTo>
                    <a:pt x="18087" y="397"/>
                    <a:pt x="18087" y="397"/>
                    <a:pt x="18087" y="361"/>
                  </a:cubicBezTo>
                  <a:cubicBezTo>
                    <a:pt x="18125" y="252"/>
                    <a:pt x="18125" y="252"/>
                    <a:pt x="18125" y="252"/>
                  </a:cubicBezTo>
                  <a:cubicBezTo>
                    <a:pt x="18012" y="252"/>
                    <a:pt x="18012" y="252"/>
                    <a:pt x="18012" y="252"/>
                  </a:cubicBezTo>
                  <a:cubicBezTo>
                    <a:pt x="17975" y="252"/>
                    <a:pt x="17938" y="252"/>
                    <a:pt x="17938" y="252"/>
                  </a:cubicBezTo>
                  <a:cubicBezTo>
                    <a:pt x="17900" y="216"/>
                    <a:pt x="17863" y="216"/>
                    <a:pt x="17826" y="216"/>
                  </a:cubicBezTo>
                  <a:cubicBezTo>
                    <a:pt x="17826" y="216"/>
                    <a:pt x="17788" y="216"/>
                    <a:pt x="17788" y="216"/>
                  </a:cubicBezTo>
                  <a:cubicBezTo>
                    <a:pt x="17751" y="180"/>
                    <a:pt x="17713" y="180"/>
                    <a:pt x="17676" y="180"/>
                  </a:cubicBezTo>
                  <a:cubicBezTo>
                    <a:pt x="17639" y="180"/>
                    <a:pt x="17639" y="180"/>
                    <a:pt x="17601" y="180"/>
                  </a:cubicBezTo>
                  <a:cubicBezTo>
                    <a:pt x="17564" y="180"/>
                    <a:pt x="17564" y="180"/>
                    <a:pt x="17564" y="180"/>
                  </a:cubicBezTo>
                  <a:cubicBezTo>
                    <a:pt x="17527" y="216"/>
                    <a:pt x="17452" y="252"/>
                    <a:pt x="17415" y="288"/>
                  </a:cubicBezTo>
                  <a:cubicBezTo>
                    <a:pt x="17415" y="288"/>
                    <a:pt x="17415" y="288"/>
                    <a:pt x="17415" y="288"/>
                  </a:cubicBezTo>
                  <a:cubicBezTo>
                    <a:pt x="17377" y="288"/>
                    <a:pt x="17377" y="288"/>
                    <a:pt x="17340" y="288"/>
                  </a:cubicBezTo>
                  <a:cubicBezTo>
                    <a:pt x="17302" y="288"/>
                    <a:pt x="17302" y="288"/>
                    <a:pt x="17302" y="252"/>
                  </a:cubicBezTo>
                  <a:cubicBezTo>
                    <a:pt x="17302" y="252"/>
                    <a:pt x="17302" y="252"/>
                    <a:pt x="17302" y="252"/>
                  </a:cubicBezTo>
                  <a:cubicBezTo>
                    <a:pt x="17302" y="216"/>
                    <a:pt x="17265" y="180"/>
                    <a:pt x="17190" y="144"/>
                  </a:cubicBezTo>
                  <a:cubicBezTo>
                    <a:pt x="17190" y="144"/>
                    <a:pt x="17153" y="144"/>
                    <a:pt x="17153" y="144"/>
                  </a:cubicBezTo>
                  <a:cubicBezTo>
                    <a:pt x="17116" y="144"/>
                    <a:pt x="17116" y="144"/>
                    <a:pt x="17116" y="144"/>
                  </a:cubicBezTo>
                  <a:cubicBezTo>
                    <a:pt x="17078" y="108"/>
                    <a:pt x="17078" y="108"/>
                    <a:pt x="17041" y="108"/>
                  </a:cubicBezTo>
                  <a:cubicBezTo>
                    <a:pt x="17003" y="72"/>
                    <a:pt x="17003" y="36"/>
                    <a:pt x="16929" y="36"/>
                  </a:cubicBezTo>
                  <a:cubicBezTo>
                    <a:pt x="16891" y="36"/>
                    <a:pt x="16854" y="0"/>
                    <a:pt x="16817" y="0"/>
                  </a:cubicBezTo>
                  <a:cubicBezTo>
                    <a:pt x="16742" y="0"/>
                    <a:pt x="16704" y="36"/>
                    <a:pt x="16667" y="36"/>
                  </a:cubicBezTo>
                  <a:cubicBezTo>
                    <a:pt x="16630" y="72"/>
                    <a:pt x="16630" y="108"/>
                    <a:pt x="16592" y="144"/>
                  </a:cubicBezTo>
                  <a:cubicBezTo>
                    <a:pt x="16592" y="180"/>
                    <a:pt x="16592" y="180"/>
                    <a:pt x="16592" y="180"/>
                  </a:cubicBezTo>
                  <a:cubicBezTo>
                    <a:pt x="16555" y="216"/>
                    <a:pt x="16480" y="252"/>
                    <a:pt x="16406" y="252"/>
                  </a:cubicBezTo>
                  <a:cubicBezTo>
                    <a:pt x="16406" y="252"/>
                    <a:pt x="16368" y="216"/>
                    <a:pt x="16368" y="216"/>
                  </a:cubicBezTo>
                  <a:cubicBezTo>
                    <a:pt x="16368" y="216"/>
                    <a:pt x="16368" y="216"/>
                    <a:pt x="16331" y="180"/>
                  </a:cubicBezTo>
                  <a:cubicBezTo>
                    <a:pt x="16293" y="180"/>
                    <a:pt x="16256" y="180"/>
                    <a:pt x="16256" y="180"/>
                  </a:cubicBezTo>
                  <a:cubicBezTo>
                    <a:pt x="16256" y="180"/>
                    <a:pt x="16256" y="180"/>
                    <a:pt x="16256" y="180"/>
                  </a:cubicBezTo>
                  <a:cubicBezTo>
                    <a:pt x="16219" y="252"/>
                    <a:pt x="16219" y="252"/>
                    <a:pt x="16219" y="252"/>
                  </a:cubicBezTo>
                  <a:cubicBezTo>
                    <a:pt x="16219" y="252"/>
                    <a:pt x="16219" y="252"/>
                    <a:pt x="16219" y="252"/>
                  </a:cubicBezTo>
                  <a:cubicBezTo>
                    <a:pt x="16219" y="180"/>
                    <a:pt x="16219" y="180"/>
                    <a:pt x="16219" y="180"/>
                  </a:cubicBezTo>
                  <a:cubicBezTo>
                    <a:pt x="16219" y="180"/>
                    <a:pt x="16181" y="180"/>
                    <a:pt x="16181" y="144"/>
                  </a:cubicBezTo>
                  <a:cubicBezTo>
                    <a:pt x="16144" y="144"/>
                    <a:pt x="16144" y="144"/>
                    <a:pt x="16107" y="144"/>
                  </a:cubicBezTo>
                  <a:cubicBezTo>
                    <a:pt x="16069" y="108"/>
                    <a:pt x="16069" y="108"/>
                    <a:pt x="16032" y="72"/>
                  </a:cubicBezTo>
                  <a:cubicBezTo>
                    <a:pt x="15994" y="36"/>
                    <a:pt x="15920" y="0"/>
                    <a:pt x="15845" y="0"/>
                  </a:cubicBezTo>
                  <a:cubicBezTo>
                    <a:pt x="15733" y="0"/>
                    <a:pt x="15658" y="108"/>
                    <a:pt x="15621" y="180"/>
                  </a:cubicBezTo>
                  <a:cubicBezTo>
                    <a:pt x="15583" y="216"/>
                    <a:pt x="15583" y="252"/>
                    <a:pt x="15583" y="252"/>
                  </a:cubicBezTo>
                  <a:cubicBezTo>
                    <a:pt x="15546" y="288"/>
                    <a:pt x="15471" y="288"/>
                    <a:pt x="15397" y="288"/>
                  </a:cubicBezTo>
                  <a:cubicBezTo>
                    <a:pt x="15359" y="288"/>
                    <a:pt x="15359" y="325"/>
                    <a:pt x="15322" y="325"/>
                  </a:cubicBezTo>
                  <a:cubicBezTo>
                    <a:pt x="15210" y="325"/>
                    <a:pt x="15098" y="361"/>
                    <a:pt x="14985" y="397"/>
                  </a:cubicBezTo>
                  <a:cubicBezTo>
                    <a:pt x="14985" y="433"/>
                    <a:pt x="14948" y="433"/>
                    <a:pt x="14948" y="433"/>
                  </a:cubicBezTo>
                  <a:cubicBezTo>
                    <a:pt x="14911" y="433"/>
                    <a:pt x="14873" y="433"/>
                    <a:pt x="14836" y="469"/>
                  </a:cubicBezTo>
                  <a:cubicBezTo>
                    <a:pt x="14836" y="469"/>
                    <a:pt x="14836" y="505"/>
                    <a:pt x="14799" y="505"/>
                  </a:cubicBezTo>
                  <a:cubicBezTo>
                    <a:pt x="14799" y="505"/>
                    <a:pt x="14799" y="505"/>
                    <a:pt x="14761" y="505"/>
                  </a:cubicBezTo>
                  <a:cubicBezTo>
                    <a:pt x="14761" y="505"/>
                    <a:pt x="14724" y="505"/>
                    <a:pt x="14724" y="505"/>
                  </a:cubicBezTo>
                  <a:cubicBezTo>
                    <a:pt x="14687" y="505"/>
                    <a:pt x="14649" y="505"/>
                    <a:pt x="14649" y="505"/>
                  </a:cubicBezTo>
                  <a:cubicBezTo>
                    <a:pt x="14649" y="505"/>
                    <a:pt x="14612" y="469"/>
                    <a:pt x="14612" y="469"/>
                  </a:cubicBezTo>
                  <a:cubicBezTo>
                    <a:pt x="14612" y="433"/>
                    <a:pt x="14574" y="397"/>
                    <a:pt x="14537" y="397"/>
                  </a:cubicBezTo>
                  <a:cubicBezTo>
                    <a:pt x="14500" y="361"/>
                    <a:pt x="14500" y="361"/>
                    <a:pt x="14462" y="361"/>
                  </a:cubicBezTo>
                  <a:cubicBezTo>
                    <a:pt x="14425" y="325"/>
                    <a:pt x="14350" y="252"/>
                    <a:pt x="14238" y="252"/>
                  </a:cubicBezTo>
                  <a:cubicBezTo>
                    <a:pt x="14163" y="252"/>
                    <a:pt x="14051" y="252"/>
                    <a:pt x="13976" y="252"/>
                  </a:cubicBezTo>
                  <a:cubicBezTo>
                    <a:pt x="13902" y="252"/>
                    <a:pt x="13902" y="252"/>
                    <a:pt x="13902" y="252"/>
                  </a:cubicBezTo>
                  <a:cubicBezTo>
                    <a:pt x="13864" y="252"/>
                    <a:pt x="13790" y="252"/>
                    <a:pt x="13715" y="252"/>
                  </a:cubicBezTo>
                  <a:cubicBezTo>
                    <a:pt x="13678" y="252"/>
                    <a:pt x="13640" y="252"/>
                    <a:pt x="13565" y="252"/>
                  </a:cubicBezTo>
                  <a:cubicBezTo>
                    <a:pt x="13565" y="252"/>
                    <a:pt x="13528" y="252"/>
                    <a:pt x="13528" y="252"/>
                  </a:cubicBezTo>
                  <a:cubicBezTo>
                    <a:pt x="13491" y="252"/>
                    <a:pt x="13491" y="252"/>
                    <a:pt x="13453" y="252"/>
                  </a:cubicBezTo>
                  <a:cubicBezTo>
                    <a:pt x="13453" y="252"/>
                    <a:pt x="13453" y="252"/>
                    <a:pt x="13416" y="252"/>
                  </a:cubicBezTo>
                  <a:cubicBezTo>
                    <a:pt x="13416" y="252"/>
                    <a:pt x="13416" y="252"/>
                    <a:pt x="13379" y="252"/>
                  </a:cubicBezTo>
                  <a:cubicBezTo>
                    <a:pt x="13341" y="216"/>
                    <a:pt x="13304" y="216"/>
                    <a:pt x="13266" y="216"/>
                  </a:cubicBezTo>
                  <a:cubicBezTo>
                    <a:pt x="13266" y="216"/>
                    <a:pt x="13266" y="216"/>
                    <a:pt x="13266" y="216"/>
                  </a:cubicBezTo>
                  <a:cubicBezTo>
                    <a:pt x="13154" y="216"/>
                    <a:pt x="13042" y="288"/>
                    <a:pt x="12930" y="361"/>
                  </a:cubicBezTo>
                  <a:cubicBezTo>
                    <a:pt x="12893" y="397"/>
                    <a:pt x="12855" y="397"/>
                    <a:pt x="12818" y="397"/>
                  </a:cubicBezTo>
                  <a:cubicBezTo>
                    <a:pt x="12818" y="397"/>
                    <a:pt x="12818" y="397"/>
                    <a:pt x="12818" y="397"/>
                  </a:cubicBezTo>
                  <a:cubicBezTo>
                    <a:pt x="12818" y="397"/>
                    <a:pt x="12818" y="397"/>
                    <a:pt x="12781" y="361"/>
                  </a:cubicBezTo>
                  <a:cubicBezTo>
                    <a:pt x="12781" y="361"/>
                    <a:pt x="12743" y="325"/>
                    <a:pt x="12706" y="325"/>
                  </a:cubicBezTo>
                  <a:cubicBezTo>
                    <a:pt x="12631" y="325"/>
                    <a:pt x="12556" y="288"/>
                    <a:pt x="12519" y="288"/>
                  </a:cubicBezTo>
                  <a:cubicBezTo>
                    <a:pt x="12332" y="288"/>
                    <a:pt x="12220" y="361"/>
                    <a:pt x="12071" y="469"/>
                  </a:cubicBezTo>
                  <a:cubicBezTo>
                    <a:pt x="12033" y="469"/>
                    <a:pt x="12033" y="505"/>
                    <a:pt x="12033" y="505"/>
                  </a:cubicBezTo>
                  <a:cubicBezTo>
                    <a:pt x="11996" y="541"/>
                    <a:pt x="11996" y="541"/>
                    <a:pt x="11958" y="541"/>
                  </a:cubicBezTo>
                  <a:cubicBezTo>
                    <a:pt x="11958" y="541"/>
                    <a:pt x="11958" y="577"/>
                    <a:pt x="11921" y="577"/>
                  </a:cubicBezTo>
                  <a:cubicBezTo>
                    <a:pt x="11921" y="577"/>
                    <a:pt x="11884" y="577"/>
                    <a:pt x="11884" y="541"/>
                  </a:cubicBezTo>
                  <a:cubicBezTo>
                    <a:pt x="11846" y="541"/>
                    <a:pt x="11846" y="541"/>
                    <a:pt x="11846" y="541"/>
                  </a:cubicBezTo>
                  <a:cubicBezTo>
                    <a:pt x="11809" y="541"/>
                    <a:pt x="11734" y="541"/>
                    <a:pt x="11697" y="541"/>
                  </a:cubicBezTo>
                  <a:cubicBezTo>
                    <a:pt x="11622" y="541"/>
                    <a:pt x="11547" y="541"/>
                    <a:pt x="11510" y="577"/>
                  </a:cubicBezTo>
                  <a:cubicBezTo>
                    <a:pt x="11361" y="577"/>
                    <a:pt x="11211" y="577"/>
                    <a:pt x="11099" y="577"/>
                  </a:cubicBezTo>
                  <a:cubicBezTo>
                    <a:pt x="11024" y="613"/>
                    <a:pt x="10949" y="613"/>
                    <a:pt x="10912" y="613"/>
                  </a:cubicBezTo>
                  <a:cubicBezTo>
                    <a:pt x="10837" y="613"/>
                    <a:pt x="10800" y="613"/>
                    <a:pt x="10763" y="613"/>
                  </a:cubicBezTo>
                  <a:cubicBezTo>
                    <a:pt x="10613" y="649"/>
                    <a:pt x="10501" y="685"/>
                    <a:pt x="10426" y="721"/>
                  </a:cubicBezTo>
                  <a:cubicBezTo>
                    <a:pt x="10352" y="721"/>
                    <a:pt x="10314" y="757"/>
                    <a:pt x="10277" y="757"/>
                  </a:cubicBezTo>
                  <a:cubicBezTo>
                    <a:pt x="10239" y="757"/>
                    <a:pt x="10165" y="793"/>
                    <a:pt x="10127" y="829"/>
                  </a:cubicBezTo>
                  <a:cubicBezTo>
                    <a:pt x="10053" y="829"/>
                    <a:pt x="9978" y="865"/>
                    <a:pt x="9903" y="902"/>
                  </a:cubicBezTo>
                  <a:cubicBezTo>
                    <a:pt x="9866" y="938"/>
                    <a:pt x="9828" y="974"/>
                    <a:pt x="9791" y="1010"/>
                  </a:cubicBezTo>
                  <a:cubicBezTo>
                    <a:pt x="9679" y="1046"/>
                    <a:pt x="9567" y="1118"/>
                    <a:pt x="9492" y="1190"/>
                  </a:cubicBezTo>
                  <a:cubicBezTo>
                    <a:pt x="9417" y="1226"/>
                    <a:pt x="9380" y="1298"/>
                    <a:pt x="9343" y="1334"/>
                  </a:cubicBezTo>
                  <a:cubicBezTo>
                    <a:pt x="9268" y="1442"/>
                    <a:pt x="9230" y="1478"/>
                    <a:pt x="9156" y="1478"/>
                  </a:cubicBezTo>
                  <a:cubicBezTo>
                    <a:pt x="9118" y="1478"/>
                    <a:pt x="9118" y="1478"/>
                    <a:pt x="9081" y="1478"/>
                  </a:cubicBezTo>
                  <a:cubicBezTo>
                    <a:pt x="9081" y="1478"/>
                    <a:pt x="9044" y="1478"/>
                    <a:pt x="9044" y="1442"/>
                  </a:cubicBezTo>
                  <a:cubicBezTo>
                    <a:pt x="8969" y="1442"/>
                    <a:pt x="8931" y="1406"/>
                    <a:pt x="8894" y="1406"/>
                  </a:cubicBezTo>
                  <a:cubicBezTo>
                    <a:pt x="8857" y="1406"/>
                    <a:pt x="8819" y="1406"/>
                    <a:pt x="8782" y="1442"/>
                  </a:cubicBezTo>
                  <a:cubicBezTo>
                    <a:pt x="8745" y="1442"/>
                    <a:pt x="8707" y="1478"/>
                    <a:pt x="8707" y="1515"/>
                  </a:cubicBezTo>
                  <a:cubicBezTo>
                    <a:pt x="8670" y="1515"/>
                    <a:pt x="8633" y="1551"/>
                    <a:pt x="8595" y="1551"/>
                  </a:cubicBezTo>
                  <a:cubicBezTo>
                    <a:pt x="8520" y="1551"/>
                    <a:pt x="8520" y="1551"/>
                    <a:pt x="8520" y="1551"/>
                  </a:cubicBezTo>
                  <a:cubicBezTo>
                    <a:pt x="8446" y="1551"/>
                    <a:pt x="8334" y="1587"/>
                    <a:pt x="8221" y="1623"/>
                  </a:cubicBezTo>
                  <a:cubicBezTo>
                    <a:pt x="8147" y="1695"/>
                    <a:pt x="8072" y="1803"/>
                    <a:pt x="7997" y="1911"/>
                  </a:cubicBezTo>
                  <a:cubicBezTo>
                    <a:pt x="7960" y="1983"/>
                    <a:pt x="7885" y="2055"/>
                    <a:pt x="7810" y="2091"/>
                  </a:cubicBezTo>
                  <a:cubicBezTo>
                    <a:pt x="7773" y="2091"/>
                    <a:pt x="7736" y="2091"/>
                    <a:pt x="7698" y="2128"/>
                  </a:cubicBezTo>
                  <a:cubicBezTo>
                    <a:pt x="7661" y="2128"/>
                    <a:pt x="7586" y="2164"/>
                    <a:pt x="7549" y="2200"/>
                  </a:cubicBezTo>
                  <a:cubicBezTo>
                    <a:pt x="7399" y="2308"/>
                    <a:pt x="7250" y="2380"/>
                    <a:pt x="7138" y="2380"/>
                  </a:cubicBezTo>
                  <a:cubicBezTo>
                    <a:pt x="7063" y="2380"/>
                    <a:pt x="7063" y="2380"/>
                    <a:pt x="7063" y="2380"/>
                  </a:cubicBezTo>
                  <a:cubicBezTo>
                    <a:pt x="7063" y="2452"/>
                    <a:pt x="7063" y="2452"/>
                    <a:pt x="7063" y="2452"/>
                  </a:cubicBezTo>
                  <a:cubicBezTo>
                    <a:pt x="7100" y="2524"/>
                    <a:pt x="7100" y="2560"/>
                    <a:pt x="7175" y="2632"/>
                  </a:cubicBezTo>
                  <a:cubicBezTo>
                    <a:pt x="7250" y="2705"/>
                    <a:pt x="7362" y="2777"/>
                    <a:pt x="7474" y="2813"/>
                  </a:cubicBezTo>
                  <a:cubicBezTo>
                    <a:pt x="7474" y="2849"/>
                    <a:pt x="7474" y="2885"/>
                    <a:pt x="7437" y="2921"/>
                  </a:cubicBezTo>
                  <a:cubicBezTo>
                    <a:pt x="7437" y="2957"/>
                    <a:pt x="7437" y="2957"/>
                    <a:pt x="7437" y="2993"/>
                  </a:cubicBezTo>
                  <a:cubicBezTo>
                    <a:pt x="7399" y="3029"/>
                    <a:pt x="7399" y="3029"/>
                    <a:pt x="7399" y="3029"/>
                  </a:cubicBezTo>
                  <a:cubicBezTo>
                    <a:pt x="7399" y="3029"/>
                    <a:pt x="7399" y="3065"/>
                    <a:pt x="7399" y="3065"/>
                  </a:cubicBezTo>
                  <a:cubicBezTo>
                    <a:pt x="7399" y="3101"/>
                    <a:pt x="7399" y="3101"/>
                    <a:pt x="7399" y="3101"/>
                  </a:cubicBezTo>
                  <a:cubicBezTo>
                    <a:pt x="7474" y="3065"/>
                    <a:pt x="7474" y="3065"/>
                    <a:pt x="7474" y="3065"/>
                  </a:cubicBezTo>
                  <a:cubicBezTo>
                    <a:pt x="7437" y="3101"/>
                    <a:pt x="7437" y="3101"/>
                    <a:pt x="7437" y="3101"/>
                  </a:cubicBezTo>
                  <a:cubicBezTo>
                    <a:pt x="7437" y="3137"/>
                    <a:pt x="7437" y="3137"/>
                    <a:pt x="7437" y="3137"/>
                  </a:cubicBezTo>
                  <a:cubicBezTo>
                    <a:pt x="7474" y="3245"/>
                    <a:pt x="7474" y="3318"/>
                    <a:pt x="7474" y="3462"/>
                  </a:cubicBezTo>
                  <a:cubicBezTo>
                    <a:pt x="7474" y="3498"/>
                    <a:pt x="7474" y="3570"/>
                    <a:pt x="7474" y="3606"/>
                  </a:cubicBezTo>
                  <a:cubicBezTo>
                    <a:pt x="7511" y="3714"/>
                    <a:pt x="7511" y="3786"/>
                    <a:pt x="7511" y="3858"/>
                  </a:cubicBezTo>
                  <a:cubicBezTo>
                    <a:pt x="7511" y="3894"/>
                    <a:pt x="7511" y="3894"/>
                    <a:pt x="7511" y="3931"/>
                  </a:cubicBezTo>
                  <a:cubicBezTo>
                    <a:pt x="7511" y="3967"/>
                    <a:pt x="7511" y="4003"/>
                    <a:pt x="7511" y="4039"/>
                  </a:cubicBezTo>
                  <a:cubicBezTo>
                    <a:pt x="7511" y="4075"/>
                    <a:pt x="7511" y="4111"/>
                    <a:pt x="7549" y="4147"/>
                  </a:cubicBezTo>
                  <a:cubicBezTo>
                    <a:pt x="7549" y="4183"/>
                    <a:pt x="7586" y="4183"/>
                    <a:pt x="7586" y="4219"/>
                  </a:cubicBezTo>
                  <a:cubicBezTo>
                    <a:pt x="7586" y="4291"/>
                    <a:pt x="7549" y="4327"/>
                    <a:pt x="7549" y="4399"/>
                  </a:cubicBezTo>
                  <a:cubicBezTo>
                    <a:pt x="7511" y="4435"/>
                    <a:pt x="7474" y="4508"/>
                    <a:pt x="7474" y="4544"/>
                  </a:cubicBezTo>
                  <a:cubicBezTo>
                    <a:pt x="7474" y="4652"/>
                    <a:pt x="7511" y="4688"/>
                    <a:pt x="7586" y="4724"/>
                  </a:cubicBezTo>
                  <a:cubicBezTo>
                    <a:pt x="7586" y="4760"/>
                    <a:pt x="7624" y="4796"/>
                    <a:pt x="7661" y="4832"/>
                  </a:cubicBezTo>
                  <a:cubicBezTo>
                    <a:pt x="7661" y="4868"/>
                    <a:pt x="7661" y="4940"/>
                    <a:pt x="7661" y="5012"/>
                  </a:cubicBezTo>
                  <a:cubicBezTo>
                    <a:pt x="7661" y="5084"/>
                    <a:pt x="7661" y="5157"/>
                    <a:pt x="7698" y="5193"/>
                  </a:cubicBezTo>
                  <a:cubicBezTo>
                    <a:pt x="7736" y="5229"/>
                    <a:pt x="7773" y="5265"/>
                    <a:pt x="7810" y="5265"/>
                  </a:cubicBezTo>
                  <a:cubicBezTo>
                    <a:pt x="7885" y="5301"/>
                    <a:pt x="7922" y="5337"/>
                    <a:pt x="7960" y="5373"/>
                  </a:cubicBezTo>
                  <a:cubicBezTo>
                    <a:pt x="8072" y="5481"/>
                    <a:pt x="8072" y="5517"/>
                    <a:pt x="7997" y="5625"/>
                  </a:cubicBezTo>
                  <a:cubicBezTo>
                    <a:pt x="7997" y="5661"/>
                    <a:pt x="7960" y="5661"/>
                    <a:pt x="7960" y="5661"/>
                  </a:cubicBezTo>
                  <a:cubicBezTo>
                    <a:pt x="7922" y="5697"/>
                    <a:pt x="7922" y="5697"/>
                    <a:pt x="7885" y="5770"/>
                  </a:cubicBezTo>
                  <a:cubicBezTo>
                    <a:pt x="7885" y="5806"/>
                    <a:pt x="7885" y="5842"/>
                    <a:pt x="7885" y="5914"/>
                  </a:cubicBezTo>
                  <a:cubicBezTo>
                    <a:pt x="7885" y="5950"/>
                    <a:pt x="7885" y="5950"/>
                    <a:pt x="7885" y="5986"/>
                  </a:cubicBezTo>
                  <a:cubicBezTo>
                    <a:pt x="7885" y="5986"/>
                    <a:pt x="7885" y="5986"/>
                    <a:pt x="7810" y="5986"/>
                  </a:cubicBezTo>
                  <a:cubicBezTo>
                    <a:pt x="7661" y="5986"/>
                    <a:pt x="7474" y="5986"/>
                    <a:pt x="7437" y="5950"/>
                  </a:cubicBezTo>
                  <a:cubicBezTo>
                    <a:pt x="7362" y="5950"/>
                    <a:pt x="7287" y="5950"/>
                    <a:pt x="7175" y="5950"/>
                  </a:cubicBezTo>
                  <a:cubicBezTo>
                    <a:pt x="7100" y="5950"/>
                    <a:pt x="7026" y="5950"/>
                    <a:pt x="6951" y="5950"/>
                  </a:cubicBezTo>
                  <a:cubicBezTo>
                    <a:pt x="6839" y="5950"/>
                    <a:pt x="6839" y="5950"/>
                    <a:pt x="6839" y="5950"/>
                  </a:cubicBezTo>
                  <a:cubicBezTo>
                    <a:pt x="6801" y="5950"/>
                    <a:pt x="6801" y="5950"/>
                    <a:pt x="6764" y="5950"/>
                  </a:cubicBezTo>
                  <a:cubicBezTo>
                    <a:pt x="6764" y="5950"/>
                    <a:pt x="6764" y="5950"/>
                    <a:pt x="6764" y="5950"/>
                  </a:cubicBezTo>
                  <a:cubicBezTo>
                    <a:pt x="6689" y="5950"/>
                    <a:pt x="6615" y="5950"/>
                    <a:pt x="6540" y="5986"/>
                  </a:cubicBezTo>
                  <a:cubicBezTo>
                    <a:pt x="6465" y="6022"/>
                    <a:pt x="6353" y="6022"/>
                    <a:pt x="6278" y="6022"/>
                  </a:cubicBezTo>
                  <a:cubicBezTo>
                    <a:pt x="6166" y="6058"/>
                    <a:pt x="6129" y="6094"/>
                    <a:pt x="6129" y="6202"/>
                  </a:cubicBezTo>
                  <a:cubicBezTo>
                    <a:pt x="6129" y="6202"/>
                    <a:pt x="6129" y="6238"/>
                    <a:pt x="6166" y="6274"/>
                  </a:cubicBezTo>
                  <a:cubicBezTo>
                    <a:pt x="6129" y="6274"/>
                    <a:pt x="6054" y="6311"/>
                    <a:pt x="6054" y="6311"/>
                  </a:cubicBezTo>
                  <a:cubicBezTo>
                    <a:pt x="6017" y="6347"/>
                    <a:pt x="5979" y="6383"/>
                    <a:pt x="5904" y="6383"/>
                  </a:cubicBezTo>
                  <a:cubicBezTo>
                    <a:pt x="5867" y="6419"/>
                    <a:pt x="5830" y="6419"/>
                    <a:pt x="5792" y="6419"/>
                  </a:cubicBezTo>
                  <a:cubicBezTo>
                    <a:pt x="5755" y="6419"/>
                    <a:pt x="5718" y="6419"/>
                    <a:pt x="5680" y="6455"/>
                  </a:cubicBezTo>
                  <a:cubicBezTo>
                    <a:pt x="5643" y="6455"/>
                    <a:pt x="5606" y="6455"/>
                    <a:pt x="5568" y="6455"/>
                  </a:cubicBezTo>
                  <a:cubicBezTo>
                    <a:pt x="5531" y="6455"/>
                    <a:pt x="5493" y="6455"/>
                    <a:pt x="5493" y="6455"/>
                  </a:cubicBezTo>
                  <a:cubicBezTo>
                    <a:pt x="5456" y="6455"/>
                    <a:pt x="5419" y="6419"/>
                    <a:pt x="5419" y="6419"/>
                  </a:cubicBezTo>
                  <a:cubicBezTo>
                    <a:pt x="5381" y="6419"/>
                    <a:pt x="5344" y="6419"/>
                    <a:pt x="5344" y="6419"/>
                  </a:cubicBezTo>
                  <a:cubicBezTo>
                    <a:pt x="5269" y="6419"/>
                    <a:pt x="5194" y="6455"/>
                    <a:pt x="5157" y="6527"/>
                  </a:cubicBezTo>
                  <a:cubicBezTo>
                    <a:pt x="5120" y="6599"/>
                    <a:pt x="5157" y="6635"/>
                    <a:pt x="5194" y="6671"/>
                  </a:cubicBezTo>
                  <a:cubicBezTo>
                    <a:pt x="5194" y="6707"/>
                    <a:pt x="5232" y="6743"/>
                    <a:pt x="5232" y="6743"/>
                  </a:cubicBezTo>
                  <a:cubicBezTo>
                    <a:pt x="5232" y="6815"/>
                    <a:pt x="5232" y="6851"/>
                    <a:pt x="5194" y="6887"/>
                  </a:cubicBezTo>
                  <a:cubicBezTo>
                    <a:pt x="5194" y="6924"/>
                    <a:pt x="5157" y="6996"/>
                    <a:pt x="5194" y="7032"/>
                  </a:cubicBezTo>
                  <a:cubicBezTo>
                    <a:pt x="5232" y="7068"/>
                    <a:pt x="5269" y="7104"/>
                    <a:pt x="5307" y="7104"/>
                  </a:cubicBezTo>
                  <a:cubicBezTo>
                    <a:pt x="5344" y="7140"/>
                    <a:pt x="5381" y="7140"/>
                    <a:pt x="5381" y="7212"/>
                  </a:cubicBezTo>
                  <a:cubicBezTo>
                    <a:pt x="5419" y="7284"/>
                    <a:pt x="5344" y="7320"/>
                    <a:pt x="5269" y="7320"/>
                  </a:cubicBezTo>
                  <a:cubicBezTo>
                    <a:pt x="5269" y="7320"/>
                    <a:pt x="5232" y="7356"/>
                    <a:pt x="5232" y="7356"/>
                  </a:cubicBezTo>
                  <a:cubicBezTo>
                    <a:pt x="5157" y="7356"/>
                    <a:pt x="5157" y="7356"/>
                    <a:pt x="5157" y="7356"/>
                  </a:cubicBezTo>
                  <a:cubicBezTo>
                    <a:pt x="5082" y="7392"/>
                    <a:pt x="4970" y="7392"/>
                    <a:pt x="4933" y="7428"/>
                  </a:cubicBezTo>
                  <a:cubicBezTo>
                    <a:pt x="4896" y="7464"/>
                    <a:pt x="4858" y="7501"/>
                    <a:pt x="4821" y="7537"/>
                  </a:cubicBezTo>
                  <a:cubicBezTo>
                    <a:pt x="4821" y="7573"/>
                    <a:pt x="4783" y="7609"/>
                    <a:pt x="4709" y="7609"/>
                  </a:cubicBezTo>
                  <a:cubicBezTo>
                    <a:pt x="4671" y="7645"/>
                    <a:pt x="4597" y="7681"/>
                    <a:pt x="4559" y="7717"/>
                  </a:cubicBezTo>
                  <a:cubicBezTo>
                    <a:pt x="4484" y="7717"/>
                    <a:pt x="4484" y="7717"/>
                    <a:pt x="4484" y="7717"/>
                  </a:cubicBezTo>
                  <a:cubicBezTo>
                    <a:pt x="4447" y="7753"/>
                    <a:pt x="4410" y="7753"/>
                    <a:pt x="4372" y="7753"/>
                  </a:cubicBezTo>
                  <a:cubicBezTo>
                    <a:pt x="4335" y="7789"/>
                    <a:pt x="4298" y="7789"/>
                    <a:pt x="4260" y="7789"/>
                  </a:cubicBezTo>
                  <a:cubicBezTo>
                    <a:pt x="4260" y="7789"/>
                    <a:pt x="4223" y="7789"/>
                    <a:pt x="4185" y="7825"/>
                  </a:cubicBezTo>
                  <a:cubicBezTo>
                    <a:pt x="4148" y="7825"/>
                    <a:pt x="4073" y="7825"/>
                    <a:pt x="4036" y="7861"/>
                  </a:cubicBezTo>
                  <a:cubicBezTo>
                    <a:pt x="3999" y="7897"/>
                    <a:pt x="3887" y="8041"/>
                    <a:pt x="3849" y="8077"/>
                  </a:cubicBezTo>
                  <a:cubicBezTo>
                    <a:pt x="3774" y="8258"/>
                    <a:pt x="3662" y="8366"/>
                    <a:pt x="3513" y="8510"/>
                  </a:cubicBezTo>
                  <a:cubicBezTo>
                    <a:pt x="3401" y="8618"/>
                    <a:pt x="3251" y="8618"/>
                    <a:pt x="3102" y="8618"/>
                  </a:cubicBezTo>
                  <a:cubicBezTo>
                    <a:pt x="3064" y="8654"/>
                    <a:pt x="3064" y="8654"/>
                    <a:pt x="3027" y="8654"/>
                  </a:cubicBezTo>
                  <a:cubicBezTo>
                    <a:pt x="2990" y="8654"/>
                    <a:pt x="2952" y="8654"/>
                    <a:pt x="2915" y="8654"/>
                  </a:cubicBezTo>
                  <a:cubicBezTo>
                    <a:pt x="2878" y="8654"/>
                    <a:pt x="2803" y="8654"/>
                    <a:pt x="2765" y="8654"/>
                  </a:cubicBezTo>
                  <a:cubicBezTo>
                    <a:pt x="2691" y="8654"/>
                    <a:pt x="2616" y="8618"/>
                    <a:pt x="2579" y="8618"/>
                  </a:cubicBezTo>
                  <a:cubicBezTo>
                    <a:pt x="2541" y="8618"/>
                    <a:pt x="2504" y="8618"/>
                    <a:pt x="2466" y="8654"/>
                  </a:cubicBezTo>
                  <a:cubicBezTo>
                    <a:pt x="2392" y="8654"/>
                    <a:pt x="2392" y="8654"/>
                    <a:pt x="2392" y="8654"/>
                  </a:cubicBezTo>
                  <a:cubicBezTo>
                    <a:pt x="2392" y="8727"/>
                    <a:pt x="2392" y="8727"/>
                    <a:pt x="2392" y="8727"/>
                  </a:cubicBezTo>
                  <a:cubicBezTo>
                    <a:pt x="2392" y="8835"/>
                    <a:pt x="2354" y="8871"/>
                    <a:pt x="2317" y="8907"/>
                  </a:cubicBezTo>
                  <a:cubicBezTo>
                    <a:pt x="2280" y="8907"/>
                    <a:pt x="2205" y="8907"/>
                    <a:pt x="2167" y="8907"/>
                  </a:cubicBezTo>
                  <a:cubicBezTo>
                    <a:pt x="2055" y="8907"/>
                    <a:pt x="2055" y="8907"/>
                    <a:pt x="2055" y="8907"/>
                  </a:cubicBezTo>
                  <a:cubicBezTo>
                    <a:pt x="2055" y="8907"/>
                    <a:pt x="2018" y="8907"/>
                    <a:pt x="2018" y="8907"/>
                  </a:cubicBezTo>
                  <a:cubicBezTo>
                    <a:pt x="1981" y="8907"/>
                    <a:pt x="1943" y="8907"/>
                    <a:pt x="1906" y="8907"/>
                  </a:cubicBezTo>
                  <a:cubicBezTo>
                    <a:pt x="1869" y="8907"/>
                    <a:pt x="1719" y="8907"/>
                    <a:pt x="1719" y="8907"/>
                  </a:cubicBezTo>
                  <a:cubicBezTo>
                    <a:pt x="1607" y="8907"/>
                    <a:pt x="1532" y="8943"/>
                    <a:pt x="1457" y="9051"/>
                  </a:cubicBezTo>
                  <a:cubicBezTo>
                    <a:pt x="1457" y="9051"/>
                    <a:pt x="1457" y="9087"/>
                    <a:pt x="1457" y="9087"/>
                  </a:cubicBezTo>
                  <a:cubicBezTo>
                    <a:pt x="1420" y="9159"/>
                    <a:pt x="1383" y="9195"/>
                    <a:pt x="1308" y="9231"/>
                  </a:cubicBezTo>
                  <a:cubicBezTo>
                    <a:pt x="1271" y="9231"/>
                    <a:pt x="1233" y="9231"/>
                    <a:pt x="1196" y="9231"/>
                  </a:cubicBezTo>
                  <a:cubicBezTo>
                    <a:pt x="1121" y="9231"/>
                    <a:pt x="1084" y="9231"/>
                    <a:pt x="1009" y="9267"/>
                  </a:cubicBezTo>
                  <a:cubicBezTo>
                    <a:pt x="934" y="9304"/>
                    <a:pt x="860" y="9376"/>
                    <a:pt x="785" y="9448"/>
                  </a:cubicBezTo>
                  <a:cubicBezTo>
                    <a:pt x="747" y="9484"/>
                    <a:pt x="710" y="9520"/>
                    <a:pt x="673" y="9556"/>
                  </a:cubicBezTo>
                  <a:cubicBezTo>
                    <a:pt x="635" y="9592"/>
                    <a:pt x="598" y="9592"/>
                    <a:pt x="561" y="9628"/>
                  </a:cubicBezTo>
                  <a:cubicBezTo>
                    <a:pt x="486" y="9700"/>
                    <a:pt x="411" y="9808"/>
                    <a:pt x="299" y="9844"/>
                  </a:cubicBezTo>
                  <a:cubicBezTo>
                    <a:pt x="224" y="9880"/>
                    <a:pt x="149" y="9917"/>
                    <a:pt x="112" y="9953"/>
                  </a:cubicBezTo>
                  <a:cubicBezTo>
                    <a:pt x="37" y="9989"/>
                    <a:pt x="37" y="9989"/>
                    <a:pt x="37" y="9989"/>
                  </a:cubicBezTo>
                  <a:cubicBezTo>
                    <a:pt x="0" y="11720"/>
                    <a:pt x="0" y="11720"/>
                    <a:pt x="0" y="11720"/>
                  </a:cubicBezTo>
                  <a:cubicBezTo>
                    <a:pt x="0" y="11720"/>
                    <a:pt x="0" y="11720"/>
                    <a:pt x="0" y="11720"/>
                  </a:cubicBezTo>
                  <a:cubicBezTo>
                    <a:pt x="75" y="11792"/>
                    <a:pt x="149" y="11828"/>
                    <a:pt x="187" y="11864"/>
                  </a:cubicBezTo>
                  <a:cubicBezTo>
                    <a:pt x="262" y="11900"/>
                    <a:pt x="262" y="11900"/>
                    <a:pt x="262" y="11900"/>
                  </a:cubicBezTo>
                  <a:cubicBezTo>
                    <a:pt x="336" y="11972"/>
                    <a:pt x="448" y="12044"/>
                    <a:pt x="561" y="12116"/>
                  </a:cubicBezTo>
                  <a:cubicBezTo>
                    <a:pt x="598" y="12152"/>
                    <a:pt x="598" y="12152"/>
                    <a:pt x="598" y="12152"/>
                  </a:cubicBezTo>
                  <a:cubicBezTo>
                    <a:pt x="710" y="12224"/>
                    <a:pt x="822" y="12333"/>
                    <a:pt x="934" y="12405"/>
                  </a:cubicBezTo>
                  <a:cubicBezTo>
                    <a:pt x="1345" y="12693"/>
                    <a:pt x="1682" y="12946"/>
                    <a:pt x="1981" y="13162"/>
                  </a:cubicBezTo>
                  <a:cubicBezTo>
                    <a:pt x="2354" y="13414"/>
                    <a:pt x="2765" y="13703"/>
                    <a:pt x="3289" y="14063"/>
                  </a:cubicBezTo>
                  <a:cubicBezTo>
                    <a:pt x="3513" y="14244"/>
                    <a:pt x="3737" y="14388"/>
                    <a:pt x="3999" y="14568"/>
                  </a:cubicBezTo>
                  <a:cubicBezTo>
                    <a:pt x="4036" y="14604"/>
                    <a:pt x="4036" y="14604"/>
                    <a:pt x="4036" y="14604"/>
                  </a:cubicBezTo>
                  <a:cubicBezTo>
                    <a:pt x="4260" y="14749"/>
                    <a:pt x="4484" y="14929"/>
                    <a:pt x="4709" y="15073"/>
                  </a:cubicBezTo>
                  <a:cubicBezTo>
                    <a:pt x="4709" y="15109"/>
                    <a:pt x="4709" y="15109"/>
                    <a:pt x="4709" y="15109"/>
                  </a:cubicBezTo>
                  <a:cubicBezTo>
                    <a:pt x="5194" y="15434"/>
                    <a:pt x="5680" y="15794"/>
                    <a:pt x="6129" y="16119"/>
                  </a:cubicBezTo>
                  <a:cubicBezTo>
                    <a:pt x="6652" y="16479"/>
                    <a:pt x="7100" y="16804"/>
                    <a:pt x="7511" y="17092"/>
                  </a:cubicBezTo>
                  <a:cubicBezTo>
                    <a:pt x="7810" y="17309"/>
                    <a:pt x="8109" y="17525"/>
                    <a:pt x="8408" y="17742"/>
                  </a:cubicBezTo>
                  <a:cubicBezTo>
                    <a:pt x="8707" y="17958"/>
                    <a:pt x="8707" y="17958"/>
                    <a:pt x="8707" y="17958"/>
                  </a:cubicBezTo>
                  <a:cubicBezTo>
                    <a:pt x="8782" y="17994"/>
                    <a:pt x="8819" y="18030"/>
                    <a:pt x="8931" y="18102"/>
                  </a:cubicBezTo>
                  <a:cubicBezTo>
                    <a:pt x="9006" y="18138"/>
                    <a:pt x="9118" y="18210"/>
                    <a:pt x="9193" y="18282"/>
                  </a:cubicBezTo>
                  <a:cubicBezTo>
                    <a:pt x="9343" y="18427"/>
                    <a:pt x="9455" y="18499"/>
                    <a:pt x="9604" y="18571"/>
                  </a:cubicBezTo>
                  <a:cubicBezTo>
                    <a:pt x="9679" y="18607"/>
                    <a:pt x="9716" y="18679"/>
                    <a:pt x="9754" y="18715"/>
                  </a:cubicBezTo>
                  <a:cubicBezTo>
                    <a:pt x="9791" y="18751"/>
                    <a:pt x="9828" y="18787"/>
                    <a:pt x="9866" y="18823"/>
                  </a:cubicBezTo>
                  <a:cubicBezTo>
                    <a:pt x="9903" y="18823"/>
                    <a:pt x="9940" y="18859"/>
                    <a:pt x="9978" y="18859"/>
                  </a:cubicBezTo>
                  <a:cubicBezTo>
                    <a:pt x="10053" y="18932"/>
                    <a:pt x="10127" y="18968"/>
                    <a:pt x="10165" y="19040"/>
                  </a:cubicBezTo>
                  <a:cubicBezTo>
                    <a:pt x="10202" y="19112"/>
                    <a:pt x="10202" y="19256"/>
                    <a:pt x="10202" y="19364"/>
                  </a:cubicBezTo>
                  <a:cubicBezTo>
                    <a:pt x="10202" y="19400"/>
                    <a:pt x="10202" y="19436"/>
                    <a:pt x="10202" y="19436"/>
                  </a:cubicBezTo>
                  <a:cubicBezTo>
                    <a:pt x="10202" y="19509"/>
                    <a:pt x="10202" y="19509"/>
                    <a:pt x="10202" y="19509"/>
                  </a:cubicBezTo>
                  <a:cubicBezTo>
                    <a:pt x="10239" y="19509"/>
                    <a:pt x="10239" y="19509"/>
                    <a:pt x="10239" y="19509"/>
                  </a:cubicBezTo>
                  <a:cubicBezTo>
                    <a:pt x="10277" y="19509"/>
                    <a:pt x="10314" y="19545"/>
                    <a:pt x="10314" y="19545"/>
                  </a:cubicBezTo>
                  <a:cubicBezTo>
                    <a:pt x="10352" y="19545"/>
                    <a:pt x="10352" y="19581"/>
                    <a:pt x="10389" y="19581"/>
                  </a:cubicBezTo>
                  <a:cubicBezTo>
                    <a:pt x="10389" y="19581"/>
                    <a:pt x="10426" y="19581"/>
                    <a:pt x="10464" y="19581"/>
                  </a:cubicBezTo>
                  <a:cubicBezTo>
                    <a:pt x="10501" y="19617"/>
                    <a:pt x="10538" y="19617"/>
                    <a:pt x="10538" y="19617"/>
                  </a:cubicBezTo>
                  <a:cubicBezTo>
                    <a:pt x="10576" y="19653"/>
                    <a:pt x="10613" y="19689"/>
                    <a:pt x="10688" y="19725"/>
                  </a:cubicBezTo>
                  <a:cubicBezTo>
                    <a:pt x="10688" y="19761"/>
                    <a:pt x="10725" y="19797"/>
                    <a:pt x="10725" y="19833"/>
                  </a:cubicBezTo>
                  <a:cubicBezTo>
                    <a:pt x="10725" y="19869"/>
                    <a:pt x="10725" y="19905"/>
                    <a:pt x="10763" y="19941"/>
                  </a:cubicBezTo>
                  <a:cubicBezTo>
                    <a:pt x="10763" y="19977"/>
                    <a:pt x="10800" y="19977"/>
                    <a:pt x="10875" y="20013"/>
                  </a:cubicBezTo>
                  <a:cubicBezTo>
                    <a:pt x="10912" y="20049"/>
                    <a:pt x="10912" y="20049"/>
                    <a:pt x="10949" y="20049"/>
                  </a:cubicBezTo>
                  <a:cubicBezTo>
                    <a:pt x="10987" y="20085"/>
                    <a:pt x="11024" y="20085"/>
                    <a:pt x="11062" y="20085"/>
                  </a:cubicBezTo>
                  <a:cubicBezTo>
                    <a:pt x="11062" y="20122"/>
                    <a:pt x="11062" y="20122"/>
                    <a:pt x="11062" y="20122"/>
                  </a:cubicBezTo>
                  <a:cubicBezTo>
                    <a:pt x="11099" y="20122"/>
                    <a:pt x="11099" y="20122"/>
                    <a:pt x="11099" y="20122"/>
                  </a:cubicBezTo>
                  <a:cubicBezTo>
                    <a:pt x="11136" y="20122"/>
                    <a:pt x="11136" y="20085"/>
                    <a:pt x="11174" y="20085"/>
                  </a:cubicBezTo>
                  <a:cubicBezTo>
                    <a:pt x="11211" y="20085"/>
                    <a:pt x="11248" y="20049"/>
                    <a:pt x="11286" y="20049"/>
                  </a:cubicBezTo>
                  <a:cubicBezTo>
                    <a:pt x="11286" y="20049"/>
                    <a:pt x="11286" y="20049"/>
                    <a:pt x="11286" y="20049"/>
                  </a:cubicBezTo>
                  <a:cubicBezTo>
                    <a:pt x="11361" y="20049"/>
                    <a:pt x="11361" y="20085"/>
                    <a:pt x="11398" y="20122"/>
                  </a:cubicBezTo>
                  <a:cubicBezTo>
                    <a:pt x="11398" y="20158"/>
                    <a:pt x="11398" y="20158"/>
                    <a:pt x="11398" y="20158"/>
                  </a:cubicBezTo>
                  <a:cubicBezTo>
                    <a:pt x="11435" y="20230"/>
                    <a:pt x="11510" y="20266"/>
                    <a:pt x="11585" y="20302"/>
                  </a:cubicBezTo>
                  <a:cubicBezTo>
                    <a:pt x="11622" y="20338"/>
                    <a:pt x="11697" y="20338"/>
                    <a:pt x="11772" y="20338"/>
                  </a:cubicBezTo>
                  <a:cubicBezTo>
                    <a:pt x="11809" y="20338"/>
                    <a:pt x="11846" y="20338"/>
                    <a:pt x="11884" y="20338"/>
                  </a:cubicBezTo>
                  <a:cubicBezTo>
                    <a:pt x="11958" y="20374"/>
                    <a:pt x="12033" y="20374"/>
                    <a:pt x="12071" y="20410"/>
                  </a:cubicBezTo>
                  <a:cubicBezTo>
                    <a:pt x="12108" y="20446"/>
                    <a:pt x="12145" y="20446"/>
                    <a:pt x="12145" y="20446"/>
                  </a:cubicBezTo>
                  <a:cubicBezTo>
                    <a:pt x="12295" y="20518"/>
                    <a:pt x="12295" y="20590"/>
                    <a:pt x="12332" y="20698"/>
                  </a:cubicBezTo>
                  <a:cubicBezTo>
                    <a:pt x="12332" y="20771"/>
                    <a:pt x="12332" y="20771"/>
                    <a:pt x="12332" y="20771"/>
                  </a:cubicBezTo>
                  <a:cubicBezTo>
                    <a:pt x="12332" y="20807"/>
                    <a:pt x="12332" y="20843"/>
                    <a:pt x="12332" y="20879"/>
                  </a:cubicBezTo>
                  <a:cubicBezTo>
                    <a:pt x="12370" y="20915"/>
                    <a:pt x="12370" y="20915"/>
                    <a:pt x="12370" y="20951"/>
                  </a:cubicBezTo>
                  <a:cubicBezTo>
                    <a:pt x="12407" y="20987"/>
                    <a:pt x="12407" y="20987"/>
                    <a:pt x="12407" y="21023"/>
                  </a:cubicBezTo>
                  <a:cubicBezTo>
                    <a:pt x="12407" y="21095"/>
                    <a:pt x="12370" y="21167"/>
                    <a:pt x="12295" y="21239"/>
                  </a:cubicBezTo>
                  <a:cubicBezTo>
                    <a:pt x="12295" y="21239"/>
                    <a:pt x="12257" y="21275"/>
                    <a:pt x="12257" y="21312"/>
                  </a:cubicBezTo>
                  <a:cubicBezTo>
                    <a:pt x="12220" y="21384"/>
                    <a:pt x="12220" y="21384"/>
                    <a:pt x="12220" y="21384"/>
                  </a:cubicBezTo>
                  <a:cubicBezTo>
                    <a:pt x="12257" y="21420"/>
                    <a:pt x="12257" y="21420"/>
                    <a:pt x="12257" y="21420"/>
                  </a:cubicBezTo>
                  <a:cubicBezTo>
                    <a:pt x="12295" y="21420"/>
                    <a:pt x="12295" y="21420"/>
                    <a:pt x="12295" y="21420"/>
                  </a:cubicBezTo>
                  <a:cubicBezTo>
                    <a:pt x="12332" y="21456"/>
                    <a:pt x="12370" y="21492"/>
                    <a:pt x="12407" y="21564"/>
                  </a:cubicBezTo>
                  <a:cubicBezTo>
                    <a:pt x="12444" y="21600"/>
                    <a:pt x="12444" y="21600"/>
                    <a:pt x="12444" y="21600"/>
                  </a:cubicBezTo>
                  <a:cubicBezTo>
                    <a:pt x="15172" y="21023"/>
                    <a:pt x="15172" y="21023"/>
                    <a:pt x="15172" y="21023"/>
                  </a:cubicBezTo>
                  <a:cubicBezTo>
                    <a:pt x="15210" y="21023"/>
                    <a:pt x="15210" y="21023"/>
                    <a:pt x="15210" y="21023"/>
                  </a:cubicBezTo>
                  <a:cubicBezTo>
                    <a:pt x="15359" y="20843"/>
                    <a:pt x="16667" y="19436"/>
                    <a:pt x="17228" y="19112"/>
                  </a:cubicBezTo>
                  <a:cubicBezTo>
                    <a:pt x="21600" y="16227"/>
                    <a:pt x="21600" y="16227"/>
                    <a:pt x="21600" y="16227"/>
                  </a:cubicBezTo>
                  <a:lnTo>
                    <a:pt x="21264" y="15289"/>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32" name="Shape">
              <a:extLst>
                <a:ext uri="{FF2B5EF4-FFF2-40B4-BE49-F238E27FC236}">
                  <a16:creationId xmlns:a16="http://schemas.microsoft.com/office/drawing/2014/main" id="{3D6CBBAE-3CE7-5E44-916F-2E0E3AB35BA0}"/>
                </a:ext>
              </a:extLst>
            </p:cNvPr>
            <p:cNvSpPr/>
            <p:nvPr/>
          </p:nvSpPr>
          <p:spPr>
            <a:xfrm>
              <a:off x="2204293" y="2628376"/>
              <a:ext cx="895975" cy="663514"/>
            </a:xfrm>
            <a:custGeom>
              <a:avLst/>
              <a:gdLst/>
              <a:ahLst/>
              <a:cxnLst>
                <a:cxn ang="0">
                  <a:pos x="wd2" y="hd2"/>
                </a:cxn>
                <a:cxn ang="5400000">
                  <a:pos x="wd2" y="hd2"/>
                </a:cxn>
                <a:cxn ang="10800000">
                  <a:pos x="wd2" y="hd2"/>
                </a:cxn>
                <a:cxn ang="16200000">
                  <a:pos x="wd2" y="hd2"/>
                </a:cxn>
              </a:cxnLst>
              <a:rect l="0" t="0" r="r" b="b"/>
              <a:pathLst>
                <a:path w="21531" h="21600" extrusionOk="0">
                  <a:moveTo>
                    <a:pt x="21226" y="11676"/>
                  </a:moveTo>
                  <a:cubicBezTo>
                    <a:pt x="21132" y="11559"/>
                    <a:pt x="21132" y="11559"/>
                    <a:pt x="21132" y="11559"/>
                  </a:cubicBezTo>
                  <a:cubicBezTo>
                    <a:pt x="21132" y="11559"/>
                    <a:pt x="21132" y="11442"/>
                    <a:pt x="21039" y="11442"/>
                  </a:cubicBezTo>
                  <a:cubicBezTo>
                    <a:pt x="20852" y="11209"/>
                    <a:pt x="20665" y="10858"/>
                    <a:pt x="20665" y="10742"/>
                  </a:cubicBezTo>
                  <a:cubicBezTo>
                    <a:pt x="20665" y="10625"/>
                    <a:pt x="20758" y="10508"/>
                    <a:pt x="20945" y="10391"/>
                  </a:cubicBezTo>
                  <a:cubicBezTo>
                    <a:pt x="21039" y="10275"/>
                    <a:pt x="21132" y="10275"/>
                    <a:pt x="21132" y="10041"/>
                  </a:cubicBezTo>
                  <a:cubicBezTo>
                    <a:pt x="21226" y="9808"/>
                    <a:pt x="20945" y="9224"/>
                    <a:pt x="20758" y="9107"/>
                  </a:cubicBezTo>
                  <a:cubicBezTo>
                    <a:pt x="20665" y="9107"/>
                    <a:pt x="20665" y="9107"/>
                    <a:pt x="20571" y="9107"/>
                  </a:cubicBezTo>
                  <a:cubicBezTo>
                    <a:pt x="20384" y="9107"/>
                    <a:pt x="20291" y="9224"/>
                    <a:pt x="20104" y="9341"/>
                  </a:cubicBezTo>
                  <a:cubicBezTo>
                    <a:pt x="20104" y="9457"/>
                    <a:pt x="20010" y="9457"/>
                    <a:pt x="20010" y="9574"/>
                  </a:cubicBezTo>
                  <a:cubicBezTo>
                    <a:pt x="19917" y="9691"/>
                    <a:pt x="19823" y="9691"/>
                    <a:pt x="19730" y="9691"/>
                  </a:cubicBezTo>
                  <a:cubicBezTo>
                    <a:pt x="19543" y="9691"/>
                    <a:pt x="19356" y="9457"/>
                    <a:pt x="19262" y="9341"/>
                  </a:cubicBezTo>
                  <a:cubicBezTo>
                    <a:pt x="19075" y="9224"/>
                    <a:pt x="18982" y="8990"/>
                    <a:pt x="18795" y="8874"/>
                  </a:cubicBezTo>
                  <a:cubicBezTo>
                    <a:pt x="18608" y="8406"/>
                    <a:pt x="18327" y="8056"/>
                    <a:pt x="17860" y="7823"/>
                  </a:cubicBezTo>
                  <a:cubicBezTo>
                    <a:pt x="17766" y="7589"/>
                    <a:pt x="17673" y="7239"/>
                    <a:pt x="17673" y="7005"/>
                  </a:cubicBezTo>
                  <a:cubicBezTo>
                    <a:pt x="17860" y="7005"/>
                    <a:pt x="17860" y="7005"/>
                    <a:pt x="17860" y="7005"/>
                  </a:cubicBezTo>
                  <a:cubicBezTo>
                    <a:pt x="18234" y="7005"/>
                    <a:pt x="18327" y="7005"/>
                    <a:pt x="18421" y="6889"/>
                  </a:cubicBezTo>
                  <a:cubicBezTo>
                    <a:pt x="18701" y="6772"/>
                    <a:pt x="18701" y="6772"/>
                    <a:pt x="18701" y="6772"/>
                  </a:cubicBezTo>
                  <a:cubicBezTo>
                    <a:pt x="18701" y="6772"/>
                    <a:pt x="18421" y="6538"/>
                    <a:pt x="18421" y="6538"/>
                  </a:cubicBezTo>
                  <a:cubicBezTo>
                    <a:pt x="18421" y="6538"/>
                    <a:pt x="18421" y="6422"/>
                    <a:pt x="18327" y="6422"/>
                  </a:cubicBezTo>
                  <a:cubicBezTo>
                    <a:pt x="18234" y="6188"/>
                    <a:pt x="18047" y="6071"/>
                    <a:pt x="17860" y="5955"/>
                  </a:cubicBezTo>
                  <a:cubicBezTo>
                    <a:pt x="17673" y="5838"/>
                    <a:pt x="17579" y="5721"/>
                    <a:pt x="17486" y="5721"/>
                  </a:cubicBezTo>
                  <a:cubicBezTo>
                    <a:pt x="17205" y="5488"/>
                    <a:pt x="16925" y="5137"/>
                    <a:pt x="16644" y="4904"/>
                  </a:cubicBezTo>
                  <a:cubicBezTo>
                    <a:pt x="16551" y="4787"/>
                    <a:pt x="16551" y="4787"/>
                    <a:pt x="16551" y="4787"/>
                  </a:cubicBezTo>
                  <a:cubicBezTo>
                    <a:pt x="16177" y="4437"/>
                    <a:pt x="16177" y="4203"/>
                    <a:pt x="16177" y="3853"/>
                  </a:cubicBezTo>
                  <a:cubicBezTo>
                    <a:pt x="16177" y="3736"/>
                    <a:pt x="16177" y="3619"/>
                    <a:pt x="16177" y="3386"/>
                  </a:cubicBezTo>
                  <a:cubicBezTo>
                    <a:pt x="16177" y="3386"/>
                    <a:pt x="16177" y="3386"/>
                    <a:pt x="16177" y="3386"/>
                  </a:cubicBezTo>
                  <a:cubicBezTo>
                    <a:pt x="16083" y="3152"/>
                    <a:pt x="16083" y="3036"/>
                    <a:pt x="15990" y="2919"/>
                  </a:cubicBezTo>
                  <a:cubicBezTo>
                    <a:pt x="15990" y="2802"/>
                    <a:pt x="15896" y="2802"/>
                    <a:pt x="15803" y="2685"/>
                  </a:cubicBezTo>
                  <a:cubicBezTo>
                    <a:pt x="15803" y="2685"/>
                    <a:pt x="15709" y="2685"/>
                    <a:pt x="15616" y="2569"/>
                  </a:cubicBezTo>
                  <a:cubicBezTo>
                    <a:pt x="15522" y="2452"/>
                    <a:pt x="15522" y="2335"/>
                    <a:pt x="15616" y="2102"/>
                  </a:cubicBezTo>
                  <a:cubicBezTo>
                    <a:pt x="15616" y="2102"/>
                    <a:pt x="15616" y="1868"/>
                    <a:pt x="15616" y="1868"/>
                  </a:cubicBezTo>
                  <a:cubicBezTo>
                    <a:pt x="15803" y="1168"/>
                    <a:pt x="15803" y="467"/>
                    <a:pt x="15522" y="350"/>
                  </a:cubicBezTo>
                  <a:cubicBezTo>
                    <a:pt x="15429" y="234"/>
                    <a:pt x="15242" y="234"/>
                    <a:pt x="14961" y="234"/>
                  </a:cubicBezTo>
                  <a:cubicBezTo>
                    <a:pt x="14868" y="234"/>
                    <a:pt x="14774" y="234"/>
                    <a:pt x="14681" y="234"/>
                  </a:cubicBezTo>
                  <a:cubicBezTo>
                    <a:pt x="14587" y="234"/>
                    <a:pt x="14494" y="234"/>
                    <a:pt x="14306" y="234"/>
                  </a:cubicBezTo>
                  <a:cubicBezTo>
                    <a:pt x="14213" y="234"/>
                    <a:pt x="14119" y="234"/>
                    <a:pt x="14026" y="234"/>
                  </a:cubicBezTo>
                  <a:cubicBezTo>
                    <a:pt x="13839" y="117"/>
                    <a:pt x="13839" y="117"/>
                    <a:pt x="13839" y="117"/>
                  </a:cubicBezTo>
                  <a:cubicBezTo>
                    <a:pt x="13652" y="117"/>
                    <a:pt x="13465" y="0"/>
                    <a:pt x="13278" y="0"/>
                  </a:cubicBezTo>
                  <a:cubicBezTo>
                    <a:pt x="13091" y="0"/>
                    <a:pt x="12810" y="117"/>
                    <a:pt x="12623" y="467"/>
                  </a:cubicBezTo>
                  <a:cubicBezTo>
                    <a:pt x="12623" y="584"/>
                    <a:pt x="12623" y="584"/>
                    <a:pt x="12623" y="584"/>
                  </a:cubicBezTo>
                  <a:cubicBezTo>
                    <a:pt x="12436" y="701"/>
                    <a:pt x="12343" y="934"/>
                    <a:pt x="12156" y="1051"/>
                  </a:cubicBezTo>
                  <a:cubicBezTo>
                    <a:pt x="12062" y="1051"/>
                    <a:pt x="11969" y="1051"/>
                    <a:pt x="11969" y="1051"/>
                  </a:cubicBezTo>
                  <a:cubicBezTo>
                    <a:pt x="11782" y="1168"/>
                    <a:pt x="11595" y="1284"/>
                    <a:pt x="11408" y="1401"/>
                  </a:cubicBezTo>
                  <a:cubicBezTo>
                    <a:pt x="11127" y="1751"/>
                    <a:pt x="10753" y="1985"/>
                    <a:pt x="10473" y="2102"/>
                  </a:cubicBezTo>
                  <a:cubicBezTo>
                    <a:pt x="10379" y="2218"/>
                    <a:pt x="10286" y="2218"/>
                    <a:pt x="10286" y="2218"/>
                  </a:cubicBezTo>
                  <a:cubicBezTo>
                    <a:pt x="10005" y="2335"/>
                    <a:pt x="9818" y="2335"/>
                    <a:pt x="9725" y="2685"/>
                  </a:cubicBezTo>
                  <a:cubicBezTo>
                    <a:pt x="9725" y="2685"/>
                    <a:pt x="9725" y="2802"/>
                    <a:pt x="9725" y="2919"/>
                  </a:cubicBezTo>
                  <a:cubicBezTo>
                    <a:pt x="9725" y="3152"/>
                    <a:pt x="9725" y="3269"/>
                    <a:pt x="9538" y="3386"/>
                  </a:cubicBezTo>
                  <a:cubicBezTo>
                    <a:pt x="9538" y="3386"/>
                    <a:pt x="9444" y="3386"/>
                    <a:pt x="9444" y="3386"/>
                  </a:cubicBezTo>
                  <a:cubicBezTo>
                    <a:pt x="9351" y="3386"/>
                    <a:pt x="9164" y="3269"/>
                    <a:pt x="8977" y="3152"/>
                  </a:cubicBezTo>
                  <a:cubicBezTo>
                    <a:pt x="8790" y="3036"/>
                    <a:pt x="8696" y="3036"/>
                    <a:pt x="8603" y="3036"/>
                  </a:cubicBezTo>
                  <a:cubicBezTo>
                    <a:pt x="8509" y="3036"/>
                    <a:pt x="8509" y="3036"/>
                    <a:pt x="8509" y="3036"/>
                  </a:cubicBezTo>
                  <a:cubicBezTo>
                    <a:pt x="8229" y="3152"/>
                    <a:pt x="7761" y="3386"/>
                    <a:pt x="7574" y="3619"/>
                  </a:cubicBezTo>
                  <a:cubicBezTo>
                    <a:pt x="7294" y="3970"/>
                    <a:pt x="7294" y="4320"/>
                    <a:pt x="7200" y="4670"/>
                  </a:cubicBezTo>
                  <a:cubicBezTo>
                    <a:pt x="7200" y="4787"/>
                    <a:pt x="7200" y="4904"/>
                    <a:pt x="7200" y="5021"/>
                  </a:cubicBezTo>
                  <a:cubicBezTo>
                    <a:pt x="7106" y="5371"/>
                    <a:pt x="7106" y="5371"/>
                    <a:pt x="7013" y="5371"/>
                  </a:cubicBezTo>
                  <a:cubicBezTo>
                    <a:pt x="7013" y="5371"/>
                    <a:pt x="7013" y="5488"/>
                    <a:pt x="7013" y="5488"/>
                  </a:cubicBezTo>
                  <a:cubicBezTo>
                    <a:pt x="6919" y="5488"/>
                    <a:pt x="6826" y="5371"/>
                    <a:pt x="6826" y="5371"/>
                  </a:cubicBezTo>
                  <a:cubicBezTo>
                    <a:pt x="6732" y="5371"/>
                    <a:pt x="6639" y="5254"/>
                    <a:pt x="6545" y="5254"/>
                  </a:cubicBezTo>
                  <a:cubicBezTo>
                    <a:pt x="6358" y="5254"/>
                    <a:pt x="6358" y="5254"/>
                    <a:pt x="6358" y="5254"/>
                  </a:cubicBezTo>
                  <a:cubicBezTo>
                    <a:pt x="6358" y="5721"/>
                    <a:pt x="6358" y="5721"/>
                    <a:pt x="6358" y="5721"/>
                  </a:cubicBezTo>
                  <a:cubicBezTo>
                    <a:pt x="6358" y="5955"/>
                    <a:pt x="6358" y="6305"/>
                    <a:pt x="6265" y="6538"/>
                  </a:cubicBezTo>
                  <a:cubicBezTo>
                    <a:pt x="6265" y="6772"/>
                    <a:pt x="6171" y="6772"/>
                    <a:pt x="6171" y="6772"/>
                  </a:cubicBezTo>
                  <a:cubicBezTo>
                    <a:pt x="6078" y="6772"/>
                    <a:pt x="6078" y="6772"/>
                    <a:pt x="5984" y="6889"/>
                  </a:cubicBezTo>
                  <a:cubicBezTo>
                    <a:pt x="5984" y="6889"/>
                    <a:pt x="5891" y="6889"/>
                    <a:pt x="5891" y="7005"/>
                  </a:cubicBezTo>
                  <a:cubicBezTo>
                    <a:pt x="5797" y="7122"/>
                    <a:pt x="5704" y="7239"/>
                    <a:pt x="5704" y="7239"/>
                  </a:cubicBezTo>
                  <a:cubicBezTo>
                    <a:pt x="5610" y="7239"/>
                    <a:pt x="5610" y="7239"/>
                    <a:pt x="5610" y="7239"/>
                  </a:cubicBezTo>
                  <a:cubicBezTo>
                    <a:pt x="5423" y="7239"/>
                    <a:pt x="5236" y="6889"/>
                    <a:pt x="5049" y="6655"/>
                  </a:cubicBezTo>
                  <a:cubicBezTo>
                    <a:pt x="4956" y="6422"/>
                    <a:pt x="4769" y="6305"/>
                    <a:pt x="4675" y="6188"/>
                  </a:cubicBezTo>
                  <a:cubicBezTo>
                    <a:pt x="4582" y="6188"/>
                    <a:pt x="4582" y="6188"/>
                    <a:pt x="4488" y="6188"/>
                  </a:cubicBezTo>
                  <a:cubicBezTo>
                    <a:pt x="4395" y="6188"/>
                    <a:pt x="4301" y="6188"/>
                    <a:pt x="4208" y="6305"/>
                  </a:cubicBezTo>
                  <a:cubicBezTo>
                    <a:pt x="3834" y="6538"/>
                    <a:pt x="3460" y="7122"/>
                    <a:pt x="3460" y="7472"/>
                  </a:cubicBezTo>
                  <a:cubicBezTo>
                    <a:pt x="3460" y="7706"/>
                    <a:pt x="3553" y="7939"/>
                    <a:pt x="3647" y="8056"/>
                  </a:cubicBezTo>
                  <a:cubicBezTo>
                    <a:pt x="3740" y="8290"/>
                    <a:pt x="3834" y="8523"/>
                    <a:pt x="3740" y="8874"/>
                  </a:cubicBezTo>
                  <a:cubicBezTo>
                    <a:pt x="3647" y="8874"/>
                    <a:pt x="3553" y="8874"/>
                    <a:pt x="3553" y="8874"/>
                  </a:cubicBezTo>
                  <a:cubicBezTo>
                    <a:pt x="3460" y="8874"/>
                    <a:pt x="3366" y="8874"/>
                    <a:pt x="3273" y="8874"/>
                  </a:cubicBezTo>
                  <a:cubicBezTo>
                    <a:pt x="3086" y="8874"/>
                    <a:pt x="3086" y="8874"/>
                    <a:pt x="3086" y="8874"/>
                  </a:cubicBezTo>
                  <a:cubicBezTo>
                    <a:pt x="3086" y="9107"/>
                    <a:pt x="3086" y="9107"/>
                    <a:pt x="3086" y="9107"/>
                  </a:cubicBezTo>
                  <a:cubicBezTo>
                    <a:pt x="3086" y="9224"/>
                    <a:pt x="3179" y="9341"/>
                    <a:pt x="3179" y="9457"/>
                  </a:cubicBezTo>
                  <a:cubicBezTo>
                    <a:pt x="3179" y="9691"/>
                    <a:pt x="3273" y="9924"/>
                    <a:pt x="3179" y="10275"/>
                  </a:cubicBezTo>
                  <a:cubicBezTo>
                    <a:pt x="3086" y="10508"/>
                    <a:pt x="2899" y="10742"/>
                    <a:pt x="2712" y="11092"/>
                  </a:cubicBezTo>
                  <a:cubicBezTo>
                    <a:pt x="2618" y="11209"/>
                    <a:pt x="2618" y="11209"/>
                    <a:pt x="2618" y="11209"/>
                  </a:cubicBezTo>
                  <a:cubicBezTo>
                    <a:pt x="2431" y="11676"/>
                    <a:pt x="2057" y="11676"/>
                    <a:pt x="1683" y="11792"/>
                  </a:cubicBezTo>
                  <a:cubicBezTo>
                    <a:pt x="1496" y="11909"/>
                    <a:pt x="1309" y="11909"/>
                    <a:pt x="1029" y="12026"/>
                  </a:cubicBezTo>
                  <a:cubicBezTo>
                    <a:pt x="561" y="12376"/>
                    <a:pt x="748" y="12843"/>
                    <a:pt x="842" y="13194"/>
                  </a:cubicBezTo>
                  <a:cubicBezTo>
                    <a:pt x="935" y="13544"/>
                    <a:pt x="1029" y="13777"/>
                    <a:pt x="935" y="14011"/>
                  </a:cubicBezTo>
                  <a:cubicBezTo>
                    <a:pt x="935" y="14478"/>
                    <a:pt x="842" y="14945"/>
                    <a:pt x="748" y="15178"/>
                  </a:cubicBezTo>
                  <a:cubicBezTo>
                    <a:pt x="655" y="15295"/>
                    <a:pt x="561" y="15295"/>
                    <a:pt x="468" y="15412"/>
                  </a:cubicBezTo>
                  <a:cubicBezTo>
                    <a:pt x="281" y="15412"/>
                    <a:pt x="281" y="15645"/>
                    <a:pt x="281" y="15879"/>
                  </a:cubicBezTo>
                  <a:cubicBezTo>
                    <a:pt x="281" y="15996"/>
                    <a:pt x="281" y="16112"/>
                    <a:pt x="281" y="16346"/>
                  </a:cubicBezTo>
                  <a:cubicBezTo>
                    <a:pt x="281" y="16579"/>
                    <a:pt x="281" y="16813"/>
                    <a:pt x="281" y="17046"/>
                  </a:cubicBezTo>
                  <a:cubicBezTo>
                    <a:pt x="281" y="17280"/>
                    <a:pt x="187" y="17397"/>
                    <a:pt x="187" y="17630"/>
                  </a:cubicBezTo>
                  <a:cubicBezTo>
                    <a:pt x="94" y="17747"/>
                    <a:pt x="94" y="17864"/>
                    <a:pt x="94" y="17981"/>
                  </a:cubicBezTo>
                  <a:cubicBezTo>
                    <a:pt x="0" y="18214"/>
                    <a:pt x="0" y="18214"/>
                    <a:pt x="0" y="18214"/>
                  </a:cubicBezTo>
                  <a:cubicBezTo>
                    <a:pt x="187" y="18214"/>
                    <a:pt x="187" y="18214"/>
                    <a:pt x="187" y="18214"/>
                  </a:cubicBezTo>
                  <a:cubicBezTo>
                    <a:pt x="281" y="18331"/>
                    <a:pt x="374" y="18331"/>
                    <a:pt x="468" y="18331"/>
                  </a:cubicBezTo>
                  <a:cubicBezTo>
                    <a:pt x="561" y="18331"/>
                    <a:pt x="561" y="18331"/>
                    <a:pt x="655" y="18331"/>
                  </a:cubicBezTo>
                  <a:cubicBezTo>
                    <a:pt x="1216" y="18448"/>
                    <a:pt x="1683" y="19615"/>
                    <a:pt x="1870" y="19965"/>
                  </a:cubicBezTo>
                  <a:cubicBezTo>
                    <a:pt x="1964" y="20432"/>
                    <a:pt x="2057" y="20432"/>
                    <a:pt x="2338" y="20549"/>
                  </a:cubicBezTo>
                  <a:cubicBezTo>
                    <a:pt x="2431" y="20549"/>
                    <a:pt x="2431" y="20549"/>
                    <a:pt x="2525" y="20549"/>
                  </a:cubicBezTo>
                  <a:cubicBezTo>
                    <a:pt x="2618" y="20549"/>
                    <a:pt x="2712" y="20666"/>
                    <a:pt x="2899" y="20783"/>
                  </a:cubicBezTo>
                  <a:cubicBezTo>
                    <a:pt x="2992" y="21016"/>
                    <a:pt x="3086" y="21016"/>
                    <a:pt x="3179" y="21016"/>
                  </a:cubicBezTo>
                  <a:cubicBezTo>
                    <a:pt x="3179" y="21016"/>
                    <a:pt x="3179" y="21016"/>
                    <a:pt x="3179" y="21016"/>
                  </a:cubicBezTo>
                  <a:cubicBezTo>
                    <a:pt x="3273" y="21016"/>
                    <a:pt x="3273" y="21016"/>
                    <a:pt x="3273" y="21016"/>
                  </a:cubicBezTo>
                  <a:cubicBezTo>
                    <a:pt x="3366" y="21016"/>
                    <a:pt x="3460" y="20899"/>
                    <a:pt x="3647" y="20666"/>
                  </a:cubicBezTo>
                  <a:cubicBezTo>
                    <a:pt x="3740" y="20549"/>
                    <a:pt x="3834" y="20316"/>
                    <a:pt x="3927" y="20316"/>
                  </a:cubicBezTo>
                  <a:cubicBezTo>
                    <a:pt x="4021" y="20199"/>
                    <a:pt x="4114" y="20199"/>
                    <a:pt x="4208" y="20199"/>
                  </a:cubicBezTo>
                  <a:cubicBezTo>
                    <a:pt x="4395" y="19965"/>
                    <a:pt x="4582" y="19849"/>
                    <a:pt x="4862" y="19849"/>
                  </a:cubicBezTo>
                  <a:cubicBezTo>
                    <a:pt x="5049" y="19732"/>
                    <a:pt x="5236" y="19732"/>
                    <a:pt x="5517" y="19732"/>
                  </a:cubicBezTo>
                  <a:cubicBezTo>
                    <a:pt x="5984" y="19732"/>
                    <a:pt x="6358" y="19965"/>
                    <a:pt x="6639" y="20316"/>
                  </a:cubicBezTo>
                  <a:cubicBezTo>
                    <a:pt x="6826" y="20549"/>
                    <a:pt x="7013" y="20783"/>
                    <a:pt x="7200" y="21016"/>
                  </a:cubicBezTo>
                  <a:cubicBezTo>
                    <a:pt x="7481" y="21600"/>
                    <a:pt x="7481" y="21600"/>
                    <a:pt x="7481" y="21600"/>
                  </a:cubicBezTo>
                  <a:cubicBezTo>
                    <a:pt x="7481" y="18097"/>
                    <a:pt x="7481" y="18097"/>
                    <a:pt x="7481" y="18097"/>
                  </a:cubicBezTo>
                  <a:cubicBezTo>
                    <a:pt x="7481" y="18097"/>
                    <a:pt x="7481" y="18097"/>
                    <a:pt x="7481" y="18097"/>
                  </a:cubicBezTo>
                  <a:cubicBezTo>
                    <a:pt x="6826" y="17280"/>
                    <a:pt x="7481" y="15762"/>
                    <a:pt x="7481" y="15762"/>
                  </a:cubicBezTo>
                  <a:cubicBezTo>
                    <a:pt x="13465" y="15996"/>
                    <a:pt x="13465" y="15996"/>
                    <a:pt x="13465" y="15996"/>
                  </a:cubicBezTo>
                  <a:cubicBezTo>
                    <a:pt x="14494" y="15062"/>
                    <a:pt x="14494" y="15062"/>
                    <a:pt x="14494" y="15062"/>
                  </a:cubicBezTo>
                  <a:cubicBezTo>
                    <a:pt x="15242" y="15412"/>
                    <a:pt x="15242" y="15412"/>
                    <a:pt x="15242" y="15412"/>
                  </a:cubicBezTo>
                  <a:cubicBezTo>
                    <a:pt x="15242" y="15529"/>
                    <a:pt x="15242" y="15529"/>
                    <a:pt x="15242" y="15529"/>
                  </a:cubicBezTo>
                  <a:cubicBezTo>
                    <a:pt x="15242" y="15529"/>
                    <a:pt x="15242" y="15529"/>
                    <a:pt x="15242" y="15529"/>
                  </a:cubicBezTo>
                  <a:cubicBezTo>
                    <a:pt x="15429" y="15529"/>
                    <a:pt x="15429" y="15529"/>
                    <a:pt x="15429" y="15529"/>
                  </a:cubicBezTo>
                  <a:cubicBezTo>
                    <a:pt x="15616" y="15529"/>
                    <a:pt x="15803" y="15529"/>
                    <a:pt x="15896" y="15645"/>
                  </a:cubicBezTo>
                  <a:cubicBezTo>
                    <a:pt x="15990" y="15645"/>
                    <a:pt x="16083" y="15645"/>
                    <a:pt x="16177" y="15762"/>
                  </a:cubicBezTo>
                  <a:cubicBezTo>
                    <a:pt x="16270" y="15879"/>
                    <a:pt x="16364" y="15879"/>
                    <a:pt x="16457" y="15996"/>
                  </a:cubicBezTo>
                  <a:cubicBezTo>
                    <a:pt x="16551" y="15996"/>
                    <a:pt x="16551" y="15996"/>
                    <a:pt x="16551" y="15996"/>
                  </a:cubicBezTo>
                  <a:cubicBezTo>
                    <a:pt x="16644" y="15996"/>
                    <a:pt x="16831" y="15879"/>
                    <a:pt x="16925" y="15879"/>
                  </a:cubicBezTo>
                  <a:cubicBezTo>
                    <a:pt x="17018" y="15879"/>
                    <a:pt x="17112" y="15879"/>
                    <a:pt x="17112" y="15879"/>
                  </a:cubicBezTo>
                  <a:cubicBezTo>
                    <a:pt x="17392" y="15879"/>
                    <a:pt x="17486" y="15762"/>
                    <a:pt x="17579" y="15529"/>
                  </a:cubicBezTo>
                  <a:cubicBezTo>
                    <a:pt x="17673" y="15529"/>
                    <a:pt x="17673" y="15412"/>
                    <a:pt x="17766" y="15412"/>
                  </a:cubicBezTo>
                  <a:cubicBezTo>
                    <a:pt x="17860" y="15295"/>
                    <a:pt x="17860" y="15062"/>
                    <a:pt x="18047" y="15062"/>
                  </a:cubicBezTo>
                  <a:cubicBezTo>
                    <a:pt x="18047" y="14945"/>
                    <a:pt x="18140" y="14945"/>
                    <a:pt x="18234" y="14828"/>
                  </a:cubicBezTo>
                  <a:cubicBezTo>
                    <a:pt x="18327" y="14828"/>
                    <a:pt x="18421" y="14711"/>
                    <a:pt x="18514" y="14711"/>
                  </a:cubicBezTo>
                  <a:cubicBezTo>
                    <a:pt x="18608" y="14595"/>
                    <a:pt x="18608" y="14478"/>
                    <a:pt x="18608" y="14361"/>
                  </a:cubicBezTo>
                  <a:cubicBezTo>
                    <a:pt x="18701" y="14244"/>
                    <a:pt x="18701" y="14128"/>
                    <a:pt x="18795" y="14128"/>
                  </a:cubicBezTo>
                  <a:cubicBezTo>
                    <a:pt x="18795" y="14011"/>
                    <a:pt x="18888" y="13894"/>
                    <a:pt x="18982" y="13894"/>
                  </a:cubicBezTo>
                  <a:cubicBezTo>
                    <a:pt x="19075" y="13894"/>
                    <a:pt x="19169" y="14011"/>
                    <a:pt x="19169" y="14011"/>
                  </a:cubicBezTo>
                  <a:cubicBezTo>
                    <a:pt x="19169" y="14128"/>
                    <a:pt x="19169" y="14128"/>
                    <a:pt x="19169" y="14128"/>
                  </a:cubicBezTo>
                  <a:cubicBezTo>
                    <a:pt x="19262" y="14128"/>
                    <a:pt x="19262" y="14128"/>
                    <a:pt x="19262" y="14128"/>
                  </a:cubicBezTo>
                  <a:cubicBezTo>
                    <a:pt x="19262" y="14128"/>
                    <a:pt x="19356" y="14128"/>
                    <a:pt x="19449" y="14128"/>
                  </a:cubicBezTo>
                  <a:cubicBezTo>
                    <a:pt x="19449" y="14128"/>
                    <a:pt x="19543" y="14128"/>
                    <a:pt x="19543" y="14128"/>
                  </a:cubicBezTo>
                  <a:cubicBezTo>
                    <a:pt x="19636" y="14128"/>
                    <a:pt x="19636" y="14128"/>
                    <a:pt x="19730" y="14128"/>
                  </a:cubicBezTo>
                  <a:cubicBezTo>
                    <a:pt x="19823" y="14128"/>
                    <a:pt x="19917" y="14128"/>
                    <a:pt x="20010" y="14128"/>
                  </a:cubicBezTo>
                  <a:cubicBezTo>
                    <a:pt x="20010" y="14244"/>
                    <a:pt x="20104" y="14244"/>
                    <a:pt x="20197" y="14244"/>
                  </a:cubicBezTo>
                  <a:cubicBezTo>
                    <a:pt x="20197" y="14244"/>
                    <a:pt x="20291" y="14244"/>
                    <a:pt x="20291" y="14244"/>
                  </a:cubicBezTo>
                  <a:cubicBezTo>
                    <a:pt x="20291" y="14128"/>
                    <a:pt x="20291" y="14128"/>
                    <a:pt x="20291" y="14128"/>
                  </a:cubicBezTo>
                  <a:cubicBezTo>
                    <a:pt x="20665" y="13894"/>
                    <a:pt x="20758" y="13777"/>
                    <a:pt x="20945" y="13427"/>
                  </a:cubicBezTo>
                  <a:cubicBezTo>
                    <a:pt x="21039" y="13310"/>
                    <a:pt x="21132" y="13194"/>
                    <a:pt x="21226" y="13077"/>
                  </a:cubicBezTo>
                  <a:cubicBezTo>
                    <a:pt x="21319" y="12960"/>
                    <a:pt x="21413" y="12726"/>
                    <a:pt x="21506" y="12493"/>
                  </a:cubicBezTo>
                  <a:cubicBezTo>
                    <a:pt x="21600" y="12143"/>
                    <a:pt x="21413" y="11909"/>
                    <a:pt x="21226" y="11676"/>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33" name="Shape">
              <a:extLst>
                <a:ext uri="{FF2B5EF4-FFF2-40B4-BE49-F238E27FC236}">
                  <a16:creationId xmlns:a16="http://schemas.microsoft.com/office/drawing/2014/main" id="{70AFE787-A75E-974C-9E23-F72EF057569B}"/>
                </a:ext>
              </a:extLst>
            </p:cNvPr>
            <p:cNvSpPr/>
            <p:nvPr/>
          </p:nvSpPr>
          <p:spPr>
            <a:xfrm>
              <a:off x="4328023" y="1646931"/>
              <a:ext cx="1188431" cy="1887852"/>
            </a:xfrm>
            <a:custGeom>
              <a:avLst/>
              <a:gdLst/>
              <a:ahLst/>
              <a:cxnLst>
                <a:cxn ang="0">
                  <a:pos x="wd2" y="hd2"/>
                </a:cxn>
                <a:cxn ang="5400000">
                  <a:pos x="wd2" y="hd2"/>
                </a:cxn>
                <a:cxn ang="10800000">
                  <a:pos x="wd2" y="hd2"/>
                </a:cxn>
                <a:cxn ang="16200000">
                  <a:pos x="wd2" y="hd2"/>
                </a:cxn>
              </a:cxnLst>
              <a:rect l="0" t="0" r="r" b="b"/>
              <a:pathLst>
                <a:path w="21600" h="21600" extrusionOk="0">
                  <a:moveTo>
                    <a:pt x="21600" y="10165"/>
                  </a:moveTo>
                  <a:cubicBezTo>
                    <a:pt x="21600" y="10165"/>
                    <a:pt x="21600" y="10124"/>
                    <a:pt x="21600" y="10124"/>
                  </a:cubicBezTo>
                  <a:cubicBezTo>
                    <a:pt x="21600" y="9960"/>
                    <a:pt x="21600" y="9837"/>
                    <a:pt x="21529" y="9714"/>
                  </a:cubicBezTo>
                  <a:cubicBezTo>
                    <a:pt x="21529" y="9509"/>
                    <a:pt x="21529" y="9509"/>
                    <a:pt x="21529" y="9509"/>
                  </a:cubicBezTo>
                  <a:cubicBezTo>
                    <a:pt x="21529" y="8607"/>
                    <a:pt x="21458" y="7665"/>
                    <a:pt x="21458" y="6845"/>
                  </a:cubicBezTo>
                  <a:cubicBezTo>
                    <a:pt x="21388" y="6476"/>
                    <a:pt x="21388" y="6476"/>
                    <a:pt x="21388" y="6476"/>
                  </a:cubicBezTo>
                  <a:cubicBezTo>
                    <a:pt x="21388" y="6107"/>
                    <a:pt x="21388" y="5697"/>
                    <a:pt x="21388" y="5328"/>
                  </a:cubicBezTo>
                  <a:cubicBezTo>
                    <a:pt x="21388" y="5287"/>
                    <a:pt x="21388" y="5287"/>
                    <a:pt x="21388" y="5287"/>
                  </a:cubicBezTo>
                  <a:cubicBezTo>
                    <a:pt x="5099" y="0"/>
                    <a:pt x="5099" y="0"/>
                    <a:pt x="5099" y="0"/>
                  </a:cubicBezTo>
                  <a:cubicBezTo>
                    <a:pt x="3045" y="656"/>
                    <a:pt x="3045" y="656"/>
                    <a:pt x="3045" y="656"/>
                  </a:cubicBezTo>
                  <a:cubicBezTo>
                    <a:pt x="3045" y="738"/>
                    <a:pt x="3045" y="738"/>
                    <a:pt x="3045" y="738"/>
                  </a:cubicBezTo>
                  <a:cubicBezTo>
                    <a:pt x="3399" y="1435"/>
                    <a:pt x="3470" y="2336"/>
                    <a:pt x="3470" y="2500"/>
                  </a:cubicBezTo>
                  <a:cubicBezTo>
                    <a:pt x="3470" y="2541"/>
                    <a:pt x="3470" y="2541"/>
                    <a:pt x="3470" y="2541"/>
                  </a:cubicBezTo>
                  <a:cubicBezTo>
                    <a:pt x="4249" y="3238"/>
                    <a:pt x="4249" y="3238"/>
                    <a:pt x="4249" y="3238"/>
                  </a:cubicBezTo>
                  <a:cubicBezTo>
                    <a:pt x="4391" y="3566"/>
                    <a:pt x="4391" y="3566"/>
                    <a:pt x="4391" y="3566"/>
                  </a:cubicBezTo>
                  <a:cubicBezTo>
                    <a:pt x="5170" y="4181"/>
                    <a:pt x="5170" y="4181"/>
                    <a:pt x="5170" y="4181"/>
                  </a:cubicBezTo>
                  <a:cubicBezTo>
                    <a:pt x="4816" y="4795"/>
                    <a:pt x="4816" y="4795"/>
                    <a:pt x="4816" y="4795"/>
                  </a:cubicBezTo>
                  <a:cubicBezTo>
                    <a:pt x="4249" y="8853"/>
                    <a:pt x="4249" y="8853"/>
                    <a:pt x="4249" y="8853"/>
                  </a:cubicBezTo>
                  <a:cubicBezTo>
                    <a:pt x="4108" y="8935"/>
                    <a:pt x="3966" y="9017"/>
                    <a:pt x="3824" y="9099"/>
                  </a:cubicBezTo>
                  <a:cubicBezTo>
                    <a:pt x="3612" y="9181"/>
                    <a:pt x="3399" y="9304"/>
                    <a:pt x="3258" y="9427"/>
                  </a:cubicBezTo>
                  <a:cubicBezTo>
                    <a:pt x="3116" y="9509"/>
                    <a:pt x="2974" y="9632"/>
                    <a:pt x="2833" y="9755"/>
                  </a:cubicBezTo>
                  <a:cubicBezTo>
                    <a:pt x="2550" y="10042"/>
                    <a:pt x="2195" y="10370"/>
                    <a:pt x="1841" y="10616"/>
                  </a:cubicBezTo>
                  <a:cubicBezTo>
                    <a:pt x="1629" y="10739"/>
                    <a:pt x="1487" y="10861"/>
                    <a:pt x="1346" y="10984"/>
                  </a:cubicBezTo>
                  <a:cubicBezTo>
                    <a:pt x="1275" y="11066"/>
                    <a:pt x="1133" y="11148"/>
                    <a:pt x="1062" y="11271"/>
                  </a:cubicBezTo>
                  <a:cubicBezTo>
                    <a:pt x="850" y="11394"/>
                    <a:pt x="779" y="11558"/>
                    <a:pt x="708" y="11722"/>
                  </a:cubicBezTo>
                  <a:cubicBezTo>
                    <a:pt x="637" y="11763"/>
                    <a:pt x="637" y="11845"/>
                    <a:pt x="567" y="11886"/>
                  </a:cubicBezTo>
                  <a:cubicBezTo>
                    <a:pt x="496" y="12050"/>
                    <a:pt x="425" y="12050"/>
                    <a:pt x="212" y="12050"/>
                  </a:cubicBezTo>
                  <a:cubicBezTo>
                    <a:pt x="0" y="12050"/>
                    <a:pt x="0" y="12050"/>
                    <a:pt x="0" y="12050"/>
                  </a:cubicBezTo>
                  <a:cubicBezTo>
                    <a:pt x="0" y="12132"/>
                    <a:pt x="0" y="12132"/>
                    <a:pt x="0" y="12132"/>
                  </a:cubicBezTo>
                  <a:cubicBezTo>
                    <a:pt x="0" y="12255"/>
                    <a:pt x="142" y="12419"/>
                    <a:pt x="212" y="12542"/>
                  </a:cubicBezTo>
                  <a:cubicBezTo>
                    <a:pt x="354" y="12747"/>
                    <a:pt x="496" y="12911"/>
                    <a:pt x="354" y="13075"/>
                  </a:cubicBezTo>
                  <a:cubicBezTo>
                    <a:pt x="354" y="13157"/>
                    <a:pt x="354" y="13157"/>
                    <a:pt x="354" y="13157"/>
                  </a:cubicBezTo>
                  <a:cubicBezTo>
                    <a:pt x="425" y="13198"/>
                    <a:pt x="425" y="13198"/>
                    <a:pt x="425" y="13198"/>
                  </a:cubicBezTo>
                  <a:cubicBezTo>
                    <a:pt x="496" y="13239"/>
                    <a:pt x="637" y="13280"/>
                    <a:pt x="708" y="13362"/>
                  </a:cubicBezTo>
                  <a:cubicBezTo>
                    <a:pt x="779" y="13403"/>
                    <a:pt x="779" y="13444"/>
                    <a:pt x="850" y="13485"/>
                  </a:cubicBezTo>
                  <a:cubicBezTo>
                    <a:pt x="921" y="13526"/>
                    <a:pt x="921" y="13567"/>
                    <a:pt x="991" y="13608"/>
                  </a:cubicBezTo>
                  <a:cubicBezTo>
                    <a:pt x="1133" y="13731"/>
                    <a:pt x="1275" y="13813"/>
                    <a:pt x="1346" y="13935"/>
                  </a:cubicBezTo>
                  <a:cubicBezTo>
                    <a:pt x="1416" y="14017"/>
                    <a:pt x="1416" y="14017"/>
                    <a:pt x="1416" y="14017"/>
                  </a:cubicBezTo>
                  <a:cubicBezTo>
                    <a:pt x="1558" y="13976"/>
                    <a:pt x="1558" y="13976"/>
                    <a:pt x="1558" y="13976"/>
                  </a:cubicBezTo>
                  <a:cubicBezTo>
                    <a:pt x="1629" y="13976"/>
                    <a:pt x="1700" y="13976"/>
                    <a:pt x="1770" y="13976"/>
                  </a:cubicBezTo>
                  <a:cubicBezTo>
                    <a:pt x="1983" y="13976"/>
                    <a:pt x="2125" y="14017"/>
                    <a:pt x="2195" y="14099"/>
                  </a:cubicBezTo>
                  <a:cubicBezTo>
                    <a:pt x="2266" y="14140"/>
                    <a:pt x="2266" y="14222"/>
                    <a:pt x="2266" y="14263"/>
                  </a:cubicBezTo>
                  <a:cubicBezTo>
                    <a:pt x="2337" y="14345"/>
                    <a:pt x="2337" y="14427"/>
                    <a:pt x="2550" y="14509"/>
                  </a:cubicBezTo>
                  <a:cubicBezTo>
                    <a:pt x="2620" y="14550"/>
                    <a:pt x="2620" y="14550"/>
                    <a:pt x="2620" y="14550"/>
                  </a:cubicBezTo>
                  <a:cubicBezTo>
                    <a:pt x="2833" y="14632"/>
                    <a:pt x="2904" y="14673"/>
                    <a:pt x="2974" y="14878"/>
                  </a:cubicBezTo>
                  <a:cubicBezTo>
                    <a:pt x="2974" y="14919"/>
                    <a:pt x="2974" y="14960"/>
                    <a:pt x="2974" y="15001"/>
                  </a:cubicBezTo>
                  <a:cubicBezTo>
                    <a:pt x="3045" y="15124"/>
                    <a:pt x="3045" y="15247"/>
                    <a:pt x="3116" y="15329"/>
                  </a:cubicBezTo>
                  <a:cubicBezTo>
                    <a:pt x="3329" y="15657"/>
                    <a:pt x="3541" y="15944"/>
                    <a:pt x="3329" y="16313"/>
                  </a:cubicBezTo>
                  <a:cubicBezTo>
                    <a:pt x="3258" y="16477"/>
                    <a:pt x="3187" y="16600"/>
                    <a:pt x="3329" y="16805"/>
                  </a:cubicBezTo>
                  <a:cubicBezTo>
                    <a:pt x="3399" y="16969"/>
                    <a:pt x="3470" y="17091"/>
                    <a:pt x="3470" y="17255"/>
                  </a:cubicBezTo>
                  <a:cubicBezTo>
                    <a:pt x="3541" y="17501"/>
                    <a:pt x="3824" y="17788"/>
                    <a:pt x="4249" y="17993"/>
                  </a:cubicBezTo>
                  <a:cubicBezTo>
                    <a:pt x="4249" y="17993"/>
                    <a:pt x="4320" y="17993"/>
                    <a:pt x="4391" y="18034"/>
                  </a:cubicBezTo>
                  <a:cubicBezTo>
                    <a:pt x="4462" y="18034"/>
                    <a:pt x="4532" y="18075"/>
                    <a:pt x="4603" y="18116"/>
                  </a:cubicBezTo>
                  <a:cubicBezTo>
                    <a:pt x="4603" y="18157"/>
                    <a:pt x="4532" y="18157"/>
                    <a:pt x="4532" y="18198"/>
                  </a:cubicBezTo>
                  <a:cubicBezTo>
                    <a:pt x="4462" y="18198"/>
                    <a:pt x="4462" y="18239"/>
                    <a:pt x="4391" y="18239"/>
                  </a:cubicBezTo>
                  <a:cubicBezTo>
                    <a:pt x="4320" y="18239"/>
                    <a:pt x="4178" y="18198"/>
                    <a:pt x="4108" y="18198"/>
                  </a:cubicBezTo>
                  <a:cubicBezTo>
                    <a:pt x="4037" y="18157"/>
                    <a:pt x="4037" y="18157"/>
                    <a:pt x="4037" y="18157"/>
                  </a:cubicBezTo>
                  <a:cubicBezTo>
                    <a:pt x="3895" y="18116"/>
                    <a:pt x="3753" y="18116"/>
                    <a:pt x="3541" y="18116"/>
                  </a:cubicBezTo>
                  <a:cubicBezTo>
                    <a:pt x="3470" y="18116"/>
                    <a:pt x="3399" y="18116"/>
                    <a:pt x="3329" y="18116"/>
                  </a:cubicBezTo>
                  <a:cubicBezTo>
                    <a:pt x="3187" y="18157"/>
                    <a:pt x="3045" y="18157"/>
                    <a:pt x="2904" y="18157"/>
                  </a:cubicBezTo>
                  <a:cubicBezTo>
                    <a:pt x="2833" y="18157"/>
                    <a:pt x="2762" y="18157"/>
                    <a:pt x="2691" y="18116"/>
                  </a:cubicBezTo>
                  <a:cubicBezTo>
                    <a:pt x="2550" y="18116"/>
                    <a:pt x="2550" y="18116"/>
                    <a:pt x="2550" y="18116"/>
                  </a:cubicBezTo>
                  <a:cubicBezTo>
                    <a:pt x="2408" y="18116"/>
                    <a:pt x="2266" y="18075"/>
                    <a:pt x="2125" y="18075"/>
                  </a:cubicBezTo>
                  <a:cubicBezTo>
                    <a:pt x="2054" y="18075"/>
                    <a:pt x="1983" y="18075"/>
                    <a:pt x="1912" y="18116"/>
                  </a:cubicBezTo>
                  <a:cubicBezTo>
                    <a:pt x="1770" y="18157"/>
                    <a:pt x="1700" y="18239"/>
                    <a:pt x="1629" y="18321"/>
                  </a:cubicBezTo>
                  <a:cubicBezTo>
                    <a:pt x="1558" y="18321"/>
                    <a:pt x="1558" y="18362"/>
                    <a:pt x="1487" y="18403"/>
                  </a:cubicBezTo>
                  <a:cubicBezTo>
                    <a:pt x="1487" y="18444"/>
                    <a:pt x="1416" y="18444"/>
                    <a:pt x="1346" y="18485"/>
                  </a:cubicBezTo>
                  <a:cubicBezTo>
                    <a:pt x="1275" y="18526"/>
                    <a:pt x="1133" y="18567"/>
                    <a:pt x="1204" y="18649"/>
                  </a:cubicBezTo>
                  <a:cubicBezTo>
                    <a:pt x="1204" y="18731"/>
                    <a:pt x="1346" y="18772"/>
                    <a:pt x="1416" y="18854"/>
                  </a:cubicBezTo>
                  <a:cubicBezTo>
                    <a:pt x="1487" y="18854"/>
                    <a:pt x="1487" y="18895"/>
                    <a:pt x="1558" y="18895"/>
                  </a:cubicBezTo>
                  <a:cubicBezTo>
                    <a:pt x="1629" y="18977"/>
                    <a:pt x="1770" y="19059"/>
                    <a:pt x="1912" y="19141"/>
                  </a:cubicBezTo>
                  <a:cubicBezTo>
                    <a:pt x="2195" y="19346"/>
                    <a:pt x="2408" y="19551"/>
                    <a:pt x="2762" y="19715"/>
                  </a:cubicBezTo>
                  <a:cubicBezTo>
                    <a:pt x="2904" y="19756"/>
                    <a:pt x="2974" y="19756"/>
                    <a:pt x="3045" y="19797"/>
                  </a:cubicBezTo>
                  <a:cubicBezTo>
                    <a:pt x="3258" y="19879"/>
                    <a:pt x="3470" y="19961"/>
                    <a:pt x="3612" y="20083"/>
                  </a:cubicBezTo>
                  <a:cubicBezTo>
                    <a:pt x="3966" y="20411"/>
                    <a:pt x="4178" y="20862"/>
                    <a:pt x="4320" y="21190"/>
                  </a:cubicBezTo>
                  <a:cubicBezTo>
                    <a:pt x="4391" y="21272"/>
                    <a:pt x="4391" y="21313"/>
                    <a:pt x="4391" y="21395"/>
                  </a:cubicBezTo>
                  <a:cubicBezTo>
                    <a:pt x="4391" y="21477"/>
                    <a:pt x="4391" y="21477"/>
                    <a:pt x="4391" y="21477"/>
                  </a:cubicBezTo>
                  <a:cubicBezTo>
                    <a:pt x="4462" y="21477"/>
                    <a:pt x="4462" y="21477"/>
                    <a:pt x="4462" y="21477"/>
                  </a:cubicBezTo>
                  <a:cubicBezTo>
                    <a:pt x="4532" y="21477"/>
                    <a:pt x="4674" y="21518"/>
                    <a:pt x="4745" y="21518"/>
                  </a:cubicBezTo>
                  <a:cubicBezTo>
                    <a:pt x="4816" y="21518"/>
                    <a:pt x="4887" y="21559"/>
                    <a:pt x="4957" y="21559"/>
                  </a:cubicBezTo>
                  <a:cubicBezTo>
                    <a:pt x="5028" y="21559"/>
                    <a:pt x="5028" y="21559"/>
                    <a:pt x="5028" y="21559"/>
                  </a:cubicBezTo>
                  <a:cubicBezTo>
                    <a:pt x="5099" y="21600"/>
                    <a:pt x="5099" y="21600"/>
                    <a:pt x="5099" y="21600"/>
                  </a:cubicBezTo>
                  <a:cubicBezTo>
                    <a:pt x="5170" y="21559"/>
                    <a:pt x="5170" y="21559"/>
                    <a:pt x="5170" y="21559"/>
                  </a:cubicBezTo>
                  <a:cubicBezTo>
                    <a:pt x="5241" y="21559"/>
                    <a:pt x="5241" y="21559"/>
                    <a:pt x="5241" y="21559"/>
                  </a:cubicBezTo>
                  <a:cubicBezTo>
                    <a:pt x="5311" y="21518"/>
                    <a:pt x="5311" y="21518"/>
                    <a:pt x="5382" y="21518"/>
                  </a:cubicBezTo>
                  <a:cubicBezTo>
                    <a:pt x="5382" y="21518"/>
                    <a:pt x="5453" y="21477"/>
                    <a:pt x="5453" y="21477"/>
                  </a:cubicBezTo>
                  <a:cubicBezTo>
                    <a:pt x="5524" y="21477"/>
                    <a:pt x="5524" y="21477"/>
                    <a:pt x="5595" y="21436"/>
                  </a:cubicBezTo>
                  <a:cubicBezTo>
                    <a:pt x="5595" y="21436"/>
                    <a:pt x="5666" y="21395"/>
                    <a:pt x="5736" y="21395"/>
                  </a:cubicBezTo>
                  <a:cubicBezTo>
                    <a:pt x="5736" y="21395"/>
                    <a:pt x="5807" y="21395"/>
                    <a:pt x="5807" y="21354"/>
                  </a:cubicBezTo>
                  <a:cubicBezTo>
                    <a:pt x="5878" y="21354"/>
                    <a:pt x="5949" y="21354"/>
                    <a:pt x="6020" y="21313"/>
                  </a:cubicBezTo>
                  <a:cubicBezTo>
                    <a:pt x="6161" y="21313"/>
                    <a:pt x="6232" y="21231"/>
                    <a:pt x="6232" y="21190"/>
                  </a:cubicBezTo>
                  <a:cubicBezTo>
                    <a:pt x="6303" y="21149"/>
                    <a:pt x="6374" y="21108"/>
                    <a:pt x="6445" y="21108"/>
                  </a:cubicBezTo>
                  <a:cubicBezTo>
                    <a:pt x="6515" y="21108"/>
                    <a:pt x="6515" y="21067"/>
                    <a:pt x="6515" y="21067"/>
                  </a:cubicBezTo>
                  <a:cubicBezTo>
                    <a:pt x="6586" y="21067"/>
                    <a:pt x="6586" y="21067"/>
                    <a:pt x="6586" y="21108"/>
                  </a:cubicBezTo>
                  <a:cubicBezTo>
                    <a:pt x="6657" y="21108"/>
                    <a:pt x="6728" y="21190"/>
                    <a:pt x="6799" y="21313"/>
                  </a:cubicBezTo>
                  <a:cubicBezTo>
                    <a:pt x="6799" y="21313"/>
                    <a:pt x="6799" y="21354"/>
                    <a:pt x="6870" y="21354"/>
                  </a:cubicBezTo>
                  <a:cubicBezTo>
                    <a:pt x="6870" y="21436"/>
                    <a:pt x="6940" y="21436"/>
                    <a:pt x="7011" y="21436"/>
                  </a:cubicBezTo>
                  <a:cubicBezTo>
                    <a:pt x="7082" y="21477"/>
                    <a:pt x="7082" y="21477"/>
                    <a:pt x="7082" y="21477"/>
                  </a:cubicBezTo>
                  <a:cubicBezTo>
                    <a:pt x="7082" y="21436"/>
                    <a:pt x="7082" y="21436"/>
                    <a:pt x="7082" y="21436"/>
                  </a:cubicBezTo>
                  <a:cubicBezTo>
                    <a:pt x="7153" y="21436"/>
                    <a:pt x="7153" y="21436"/>
                    <a:pt x="7224" y="21436"/>
                  </a:cubicBezTo>
                  <a:cubicBezTo>
                    <a:pt x="7294" y="21354"/>
                    <a:pt x="7436" y="21354"/>
                    <a:pt x="7578" y="21313"/>
                  </a:cubicBezTo>
                  <a:cubicBezTo>
                    <a:pt x="7649" y="21313"/>
                    <a:pt x="7719" y="21272"/>
                    <a:pt x="7861" y="21231"/>
                  </a:cubicBezTo>
                  <a:cubicBezTo>
                    <a:pt x="7932" y="21231"/>
                    <a:pt x="8003" y="21190"/>
                    <a:pt x="8003" y="21149"/>
                  </a:cubicBezTo>
                  <a:cubicBezTo>
                    <a:pt x="8073" y="21108"/>
                    <a:pt x="8144" y="21067"/>
                    <a:pt x="8286" y="21067"/>
                  </a:cubicBezTo>
                  <a:cubicBezTo>
                    <a:pt x="8428" y="21026"/>
                    <a:pt x="8498" y="21026"/>
                    <a:pt x="8640" y="20985"/>
                  </a:cubicBezTo>
                  <a:cubicBezTo>
                    <a:pt x="8711" y="20985"/>
                    <a:pt x="8852" y="20944"/>
                    <a:pt x="8923" y="20944"/>
                  </a:cubicBezTo>
                  <a:cubicBezTo>
                    <a:pt x="9136" y="20903"/>
                    <a:pt x="9348" y="20903"/>
                    <a:pt x="9561" y="20821"/>
                  </a:cubicBezTo>
                  <a:cubicBezTo>
                    <a:pt x="9631" y="20821"/>
                    <a:pt x="9773" y="20821"/>
                    <a:pt x="9844" y="20821"/>
                  </a:cubicBezTo>
                  <a:cubicBezTo>
                    <a:pt x="10056" y="20821"/>
                    <a:pt x="10056" y="20821"/>
                    <a:pt x="10056" y="20821"/>
                  </a:cubicBezTo>
                  <a:cubicBezTo>
                    <a:pt x="10127" y="20821"/>
                    <a:pt x="10127" y="20821"/>
                    <a:pt x="10198" y="20821"/>
                  </a:cubicBezTo>
                  <a:cubicBezTo>
                    <a:pt x="10198" y="20780"/>
                    <a:pt x="10269" y="20780"/>
                    <a:pt x="10340" y="20780"/>
                  </a:cubicBezTo>
                  <a:cubicBezTo>
                    <a:pt x="10410" y="20780"/>
                    <a:pt x="10410" y="20780"/>
                    <a:pt x="10481" y="20780"/>
                  </a:cubicBezTo>
                  <a:cubicBezTo>
                    <a:pt x="10552" y="20780"/>
                    <a:pt x="10552" y="20780"/>
                    <a:pt x="10623" y="20780"/>
                  </a:cubicBezTo>
                  <a:cubicBezTo>
                    <a:pt x="10623" y="20780"/>
                    <a:pt x="10694" y="20780"/>
                    <a:pt x="10765" y="20780"/>
                  </a:cubicBezTo>
                  <a:cubicBezTo>
                    <a:pt x="10765" y="20780"/>
                    <a:pt x="10765" y="20780"/>
                    <a:pt x="10765" y="20780"/>
                  </a:cubicBezTo>
                  <a:cubicBezTo>
                    <a:pt x="10835" y="20780"/>
                    <a:pt x="10835" y="20780"/>
                    <a:pt x="10835" y="20780"/>
                  </a:cubicBezTo>
                  <a:cubicBezTo>
                    <a:pt x="10835" y="20780"/>
                    <a:pt x="10835" y="20780"/>
                    <a:pt x="10835" y="20780"/>
                  </a:cubicBezTo>
                  <a:cubicBezTo>
                    <a:pt x="10906" y="20739"/>
                    <a:pt x="10906" y="20698"/>
                    <a:pt x="10906" y="20657"/>
                  </a:cubicBezTo>
                  <a:cubicBezTo>
                    <a:pt x="10906" y="20657"/>
                    <a:pt x="10906" y="20616"/>
                    <a:pt x="10977" y="20616"/>
                  </a:cubicBezTo>
                  <a:cubicBezTo>
                    <a:pt x="10977" y="20575"/>
                    <a:pt x="11048" y="20575"/>
                    <a:pt x="11048" y="20575"/>
                  </a:cubicBezTo>
                  <a:cubicBezTo>
                    <a:pt x="11119" y="20534"/>
                    <a:pt x="11119" y="20534"/>
                    <a:pt x="11190" y="20534"/>
                  </a:cubicBezTo>
                  <a:cubicBezTo>
                    <a:pt x="11331" y="20493"/>
                    <a:pt x="11473" y="20370"/>
                    <a:pt x="11544" y="20247"/>
                  </a:cubicBezTo>
                  <a:cubicBezTo>
                    <a:pt x="11614" y="20247"/>
                    <a:pt x="11614" y="20247"/>
                    <a:pt x="11614" y="20247"/>
                  </a:cubicBezTo>
                  <a:cubicBezTo>
                    <a:pt x="11614" y="20206"/>
                    <a:pt x="11685" y="20165"/>
                    <a:pt x="11685" y="20124"/>
                  </a:cubicBezTo>
                  <a:cubicBezTo>
                    <a:pt x="11756" y="20083"/>
                    <a:pt x="11827" y="20002"/>
                    <a:pt x="11827" y="19920"/>
                  </a:cubicBezTo>
                  <a:cubicBezTo>
                    <a:pt x="11827" y="19879"/>
                    <a:pt x="11827" y="19879"/>
                    <a:pt x="11827" y="19879"/>
                  </a:cubicBezTo>
                  <a:cubicBezTo>
                    <a:pt x="11756" y="19838"/>
                    <a:pt x="11756" y="19838"/>
                    <a:pt x="11756" y="19838"/>
                  </a:cubicBezTo>
                  <a:cubicBezTo>
                    <a:pt x="11614" y="19838"/>
                    <a:pt x="11402" y="19756"/>
                    <a:pt x="11402" y="19715"/>
                  </a:cubicBezTo>
                  <a:cubicBezTo>
                    <a:pt x="11402" y="19674"/>
                    <a:pt x="11402" y="19633"/>
                    <a:pt x="11473" y="19592"/>
                  </a:cubicBezTo>
                  <a:cubicBezTo>
                    <a:pt x="11685" y="19510"/>
                    <a:pt x="12039" y="19469"/>
                    <a:pt x="12252" y="19469"/>
                  </a:cubicBezTo>
                  <a:cubicBezTo>
                    <a:pt x="12606" y="19469"/>
                    <a:pt x="12606" y="19469"/>
                    <a:pt x="12606" y="19469"/>
                  </a:cubicBezTo>
                  <a:cubicBezTo>
                    <a:pt x="12748" y="19469"/>
                    <a:pt x="13031" y="19469"/>
                    <a:pt x="13243" y="19469"/>
                  </a:cubicBezTo>
                  <a:cubicBezTo>
                    <a:pt x="13385" y="19469"/>
                    <a:pt x="13527" y="19428"/>
                    <a:pt x="13668" y="19387"/>
                  </a:cubicBezTo>
                  <a:cubicBezTo>
                    <a:pt x="13739" y="19346"/>
                    <a:pt x="13881" y="19346"/>
                    <a:pt x="14022" y="19305"/>
                  </a:cubicBezTo>
                  <a:cubicBezTo>
                    <a:pt x="14022" y="19305"/>
                    <a:pt x="14022" y="19305"/>
                    <a:pt x="14093" y="19305"/>
                  </a:cubicBezTo>
                  <a:cubicBezTo>
                    <a:pt x="14164" y="19305"/>
                    <a:pt x="14164" y="19305"/>
                    <a:pt x="14235" y="19346"/>
                  </a:cubicBezTo>
                  <a:cubicBezTo>
                    <a:pt x="14306" y="19346"/>
                    <a:pt x="14376" y="19346"/>
                    <a:pt x="14447" y="19346"/>
                  </a:cubicBezTo>
                  <a:cubicBezTo>
                    <a:pt x="14447" y="19346"/>
                    <a:pt x="14447" y="19346"/>
                    <a:pt x="14447" y="19346"/>
                  </a:cubicBezTo>
                  <a:cubicBezTo>
                    <a:pt x="14518" y="19346"/>
                    <a:pt x="14589" y="19346"/>
                    <a:pt x="14589" y="19305"/>
                  </a:cubicBezTo>
                  <a:cubicBezTo>
                    <a:pt x="14589" y="19305"/>
                    <a:pt x="14589" y="19305"/>
                    <a:pt x="14589" y="19305"/>
                  </a:cubicBezTo>
                  <a:cubicBezTo>
                    <a:pt x="14589" y="19305"/>
                    <a:pt x="14589" y="19305"/>
                    <a:pt x="14589" y="19305"/>
                  </a:cubicBezTo>
                  <a:cubicBezTo>
                    <a:pt x="14660" y="19305"/>
                    <a:pt x="14660" y="19264"/>
                    <a:pt x="14660" y="19264"/>
                  </a:cubicBezTo>
                  <a:cubicBezTo>
                    <a:pt x="14660" y="19223"/>
                    <a:pt x="14660" y="19223"/>
                    <a:pt x="14730" y="19182"/>
                  </a:cubicBezTo>
                  <a:cubicBezTo>
                    <a:pt x="14801" y="19141"/>
                    <a:pt x="14872" y="19141"/>
                    <a:pt x="14943" y="19100"/>
                  </a:cubicBezTo>
                  <a:cubicBezTo>
                    <a:pt x="14943" y="19100"/>
                    <a:pt x="15014" y="19100"/>
                    <a:pt x="15085" y="19059"/>
                  </a:cubicBezTo>
                  <a:cubicBezTo>
                    <a:pt x="15155" y="19018"/>
                    <a:pt x="15226" y="18977"/>
                    <a:pt x="15226" y="18936"/>
                  </a:cubicBezTo>
                  <a:cubicBezTo>
                    <a:pt x="15297" y="18895"/>
                    <a:pt x="15297" y="18895"/>
                    <a:pt x="15297" y="18854"/>
                  </a:cubicBezTo>
                  <a:cubicBezTo>
                    <a:pt x="15439" y="18772"/>
                    <a:pt x="15580" y="18690"/>
                    <a:pt x="15651" y="18608"/>
                  </a:cubicBezTo>
                  <a:cubicBezTo>
                    <a:pt x="15793" y="18567"/>
                    <a:pt x="15864" y="18485"/>
                    <a:pt x="15934" y="18444"/>
                  </a:cubicBezTo>
                  <a:cubicBezTo>
                    <a:pt x="16005" y="18403"/>
                    <a:pt x="16005" y="18403"/>
                    <a:pt x="16005" y="18362"/>
                  </a:cubicBezTo>
                  <a:cubicBezTo>
                    <a:pt x="16076" y="18321"/>
                    <a:pt x="16076" y="18280"/>
                    <a:pt x="16218" y="18239"/>
                  </a:cubicBezTo>
                  <a:cubicBezTo>
                    <a:pt x="16218" y="18239"/>
                    <a:pt x="16289" y="18239"/>
                    <a:pt x="16359" y="18239"/>
                  </a:cubicBezTo>
                  <a:cubicBezTo>
                    <a:pt x="16430" y="18239"/>
                    <a:pt x="16501" y="18239"/>
                    <a:pt x="16572" y="18157"/>
                  </a:cubicBezTo>
                  <a:cubicBezTo>
                    <a:pt x="16572" y="18116"/>
                    <a:pt x="16572" y="18116"/>
                    <a:pt x="16643" y="18075"/>
                  </a:cubicBezTo>
                  <a:cubicBezTo>
                    <a:pt x="16643" y="17993"/>
                    <a:pt x="16643" y="17952"/>
                    <a:pt x="16713" y="17911"/>
                  </a:cubicBezTo>
                  <a:cubicBezTo>
                    <a:pt x="16784" y="17911"/>
                    <a:pt x="16784" y="17870"/>
                    <a:pt x="16855" y="17870"/>
                  </a:cubicBezTo>
                  <a:cubicBezTo>
                    <a:pt x="16926" y="17829"/>
                    <a:pt x="16997" y="17829"/>
                    <a:pt x="17068" y="17747"/>
                  </a:cubicBezTo>
                  <a:cubicBezTo>
                    <a:pt x="17138" y="17665"/>
                    <a:pt x="17138" y="17624"/>
                    <a:pt x="17138" y="17583"/>
                  </a:cubicBezTo>
                  <a:cubicBezTo>
                    <a:pt x="17138" y="17542"/>
                    <a:pt x="17138" y="17542"/>
                    <a:pt x="17138" y="17501"/>
                  </a:cubicBezTo>
                  <a:cubicBezTo>
                    <a:pt x="17068" y="17296"/>
                    <a:pt x="17422" y="17214"/>
                    <a:pt x="17705" y="17132"/>
                  </a:cubicBezTo>
                  <a:cubicBezTo>
                    <a:pt x="17847" y="17132"/>
                    <a:pt x="17917" y="17091"/>
                    <a:pt x="17988" y="17050"/>
                  </a:cubicBezTo>
                  <a:cubicBezTo>
                    <a:pt x="18059" y="17050"/>
                    <a:pt x="18130" y="17009"/>
                    <a:pt x="18130" y="17009"/>
                  </a:cubicBezTo>
                  <a:cubicBezTo>
                    <a:pt x="18201" y="17009"/>
                    <a:pt x="18201" y="16969"/>
                    <a:pt x="18271" y="16969"/>
                  </a:cubicBezTo>
                  <a:cubicBezTo>
                    <a:pt x="18271" y="16969"/>
                    <a:pt x="18271" y="16969"/>
                    <a:pt x="18271" y="16969"/>
                  </a:cubicBezTo>
                  <a:cubicBezTo>
                    <a:pt x="18484" y="16887"/>
                    <a:pt x="18626" y="16846"/>
                    <a:pt x="18838" y="16846"/>
                  </a:cubicBezTo>
                  <a:cubicBezTo>
                    <a:pt x="18909" y="16846"/>
                    <a:pt x="18980" y="16846"/>
                    <a:pt x="18980" y="16846"/>
                  </a:cubicBezTo>
                  <a:cubicBezTo>
                    <a:pt x="19050" y="16846"/>
                    <a:pt x="19050" y="16846"/>
                    <a:pt x="19121" y="16887"/>
                  </a:cubicBezTo>
                  <a:cubicBezTo>
                    <a:pt x="19263" y="16887"/>
                    <a:pt x="19334" y="16887"/>
                    <a:pt x="19405" y="16887"/>
                  </a:cubicBezTo>
                  <a:cubicBezTo>
                    <a:pt x="19475" y="16887"/>
                    <a:pt x="19475" y="16887"/>
                    <a:pt x="19475" y="16887"/>
                  </a:cubicBezTo>
                  <a:cubicBezTo>
                    <a:pt x="19475" y="16887"/>
                    <a:pt x="19475" y="16887"/>
                    <a:pt x="19475" y="16887"/>
                  </a:cubicBezTo>
                  <a:cubicBezTo>
                    <a:pt x="19546" y="16887"/>
                    <a:pt x="19546" y="16887"/>
                    <a:pt x="19546" y="16887"/>
                  </a:cubicBezTo>
                  <a:cubicBezTo>
                    <a:pt x="19546" y="16846"/>
                    <a:pt x="19546" y="16846"/>
                    <a:pt x="19546" y="16846"/>
                  </a:cubicBezTo>
                  <a:cubicBezTo>
                    <a:pt x="19617" y="16723"/>
                    <a:pt x="19688" y="16641"/>
                    <a:pt x="19688" y="16477"/>
                  </a:cubicBezTo>
                  <a:cubicBezTo>
                    <a:pt x="19688" y="16354"/>
                    <a:pt x="19688" y="16272"/>
                    <a:pt x="19475" y="16190"/>
                  </a:cubicBezTo>
                  <a:cubicBezTo>
                    <a:pt x="19405" y="16149"/>
                    <a:pt x="19334" y="16149"/>
                    <a:pt x="19263" y="16149"/>
                  </a:cubicBezTo>
                  <a:cubicBezTo>
                    <a:pt x="19121" y="16108"/>
                    <a:pt x="19050" y="16108"/>
                    <a:pt x="18909" y="16026"/>
                  </a:cubicBezTo>
                  <a:cubicBezTo>
                    <a:pt x="18767" y="15944"/>
                    <a:pt x="18838" y="15821"/>
                    <a:pt x="18909" y="15698"/>
                  </a:cubicBezTo>
                  <a:cubicBezTo>
                    <a:pt x="18909" y="15575"/>
                    <a:pt x="18980" y="15493"/>
                    <a:pt x="18909" y="15370"/>
                  </a:cubicBezTo>
                  <a:cubicBezTo>
                    <a:pt x="18838" y="15288"/>
                    <a:pt x="18767" y="15247"/>
                    <a:pt x="18626" y="15206"/>
                  </a:cubicBezTo>
                  <a:cubicBezTo>
                    <a:pt x="18484" y="15083"/>
                    <a:pt x="18413" y="15001"/>
                    <a:pt x="18484" y="14878"/>
                  </a:cubicBezTo>
                  <a:cubicBezTo>
                    <a:pt x="18555" y="14755"/>
                    <a:pt x="18555" y="14632"/>
                    <a:pt x="18413" y="14550"/>
                  </a:cubicBezTo>
                  <a:cubicBezTo>
                    <a:pt x="18413" y="14509"/>
                    <a:pt x="18271" y="14468"/>
                    <a:pt x="18059" y="14468"/>
                  </a:cubicBezTo>
                  <a:cubicBezTo>
                    <a:pt x="17988" y="14468"/>
                    <a:pt x="17988" y="14468"/>
                    <a:pt x="17988" y="14468"/>
                  </a:cubicBezTo>
                  <a:cubicBezTo>
                    <a:pt x="17917" y="14509"/>
                    <a:pt x="17917" y="14509"/>
                    <a:pt x="17917" y="14509"/>
                  </a:cubicBezTo>
                  <a:cubicBezTo>
                    <a:pt x="17917" y="14550"/>
                    <a:pt x="17847" y="14591"/>
                    <a:pt x="17776" y="14591"/>
                  </a:cubicBezTo>
                  <a:cubicBezTo>
                    <a:pt x="17776" y="14591"/>
                    <a:pt x="17705" y="14591"/>
                    <a:pt x="17705" y="14591"/>
                  </a:cubicBezTo>
                  <a:cubicBezTo>
                    <a:pt x="17634" y="14591"/>
                    <a:pt x="17634" y="14591"/>
                    <a:pt x="17563" y="14591"/>
                  </a:cubicBezTo>
                  <a:cubicBezTo>
                    <a:pt x="17422" y="14550"/>
                    <a:pt x="17422" y="14468"/>
                    <a:pt x="17422" y="14345"/>
                  </a:cubicBezTo>
                  <a:cubicBezTo>
                    <a:pt x="17422" y="14140"/>
                    <a:pt x="17634" y="13935"/>
                    <a:pt x="17847" y="13813"/>
                  </a:cubicBezTo>
                  <a:cubicBezTo>
                    <a:pt x="17917" y="13813"/>
                    <a:pt x="17988" y="13772"/>
                    <a:pt x="17988" y="13772"/>
                  </a:cubicBezTo>
                  <a:cubicBezTo>
                    <a:pt x="18130" y="13772"/>
                    <a:pt x="18201" y="13731"/>
                    <a:pt x="18201" y="13649"/>
                  </a:cubicBezTo>
                  <a:cubicBezTo>
                    <a:pt x="18201" y="13567"/>
                    <a:pt x="18130" y="13526"/>
                    <a:pt x="18059" y="13444"/>
                  </a:cubicBezTo>
                  <a:cubicBezTo>
                    <a:pt x="18059" y="13444"/>
                    <a:pt x="17988" y="13403"/>
                    <a:pt x="17988" y="13403"/>
                  </a:cubicBezTo>
                  <a:cubicBezTo>
                    <a:pt x="17847" y="13198"/>
                    <a:pt x="17705" y="13075"/>
                    <a:pt x="17988" y="12911"/>
                  </a:cubicBezTo>
                  <a:cubicBezTo>
                    <a:pt x="18130" y="12829"/>
                    <a:pt x="18201" y="12747"/>
                    <a:pt x="18342" y="12706"/>
                  </a:cubicBezTo>
                  <a:cubicBezTo>
                    <a:pt x="18413" y="12706"/>
                    <a:pt x="18413" y="12706"/>
                    <a:pt x="18484" y="12665"/>
                  </a:cubicBezTo>
                  <a:cubicBezTo>
                    <a:pt x="18626" y="12665"/>
                    <a:pt x="18696" y="12624"/>
                    <a:pt x="18767" y="12583"/>
                  </a:cubicBezTo>
                  <a:cubicBezTo>
                    <a:pt x="18909" y="12460"/>
                    <a:pt x="18696" y="12337"/>
                    <a:pt x="18555" y="12255"/>
                  </a:cubicBezTo>
                  <a:cubicBezTo>
                    <a:pt x="18342" y="12173"/>
                    <a:pt x="18342" y="12091"/>
                    <a:pt x="18413" y="12050"/>
                  </a:cubicBezTo>
                  <a:cubicBezTo>
                    <a:pt x="18484" y="12009"/>
                    <a:pt x="18555" y="12009"/>
                    <a:pt x="18626" y="11968"/>
                  </a:cubicBezTo>
                  <a:cubicBezTo>
                    <a:pt x="18767" y="11968"/>
                    <a:pt x="18838" y="11968"/>
                    <a:pt x="18909" y="11886"/>
                  </a:cubicBezTo>
                  <a:cubicBezTo>
                    <a:pt x="18980" y="11845"/>
                    <a:pt x="18980" y="11804"/>
                    <a:pt x="18980" y="11722"/>
                  </a:cubicBezTo>
                  <a:cubicBezTo>
                    <a:pt x="18980" y="11681"/>
                    <a:pt x="18980" y="11640"/>
                    <a:pt x="18980" y="11599"/>
                  </a:cubicBezTo>
                  <a:cubicBezTo>
                    <a:pt x="19050" y="11517"/>
                    <a:pt x="19121" y="11476"/>
                    <a:pt x="19263" y="11394"/>
                  </a:cubicBezTo>
                  <a:cubicBezTo>
                    <a:pt x="19405" y="11353"/>
                    <a:pt x="19475" y="11271"/>
                    <a:pt x="19546" y="11230"/>
                  </a:cubicBezTo>
                  <a:cubicBezTo>
                    <a:pt x="19617" y="11107"/>
                    <a:pt x="19546" y="11025"/>
                    <a:pt x="19546" y="10943"/>
                  </a:cubicBezTo>
                  <a:cubicBezTo>
                    <a:pt x="19475" y="10820"/>
                    <a:pt x="19475" y="10739"/>
                    <a:pt x="19546" y="10616"/>
                  </a:cubicBezTo>
                  <a:cubicBezTo>
                    <a:pt x="19617" y="10575"/>
                    <a:pt x="19759" y="10534"/>
                    <a:pt x="19900" y="10534"/>
                  </a:cubicBezTo>
                  <a:cubicBezTo>
                    <a:pt x="19971" y="10534"/>
                    <a:pt x="20042" y="10534"/>
                    <a:pt x="20113" y="10534"/>
                  </a:cubicBezTo>
                  <a:cubicBezTo>
                    <a:pt x="20184" y="10534"/>
                    <a:pt x="20254" y="10534"/>
                    <a:pt x="20325" y="10534"/>
                  </a:cubicBezTo>
                  <a:cubicBezTo>
                    <a:pt x="20467" y="10534"/>
                    <a:pt x="20538" y="10493"/>
                    <a:pt x="20679" y="10493"/>
                  </a:cubicBezTo>
                  <a:cubicBezTo>
                    <a:pt x="20750" y="10452"/>
                    <a:pt x="20821" y="10411"/>
                    <a:pt x="20963" y="10411"/>
                  </a:cubicBezTo>
                  <a:cubicBezTo>
                    <a:pt x="21033" y="10411"/>
                    <a:pt x="21033" y="10411"/>
                    <a:pt x="21033" y="10411"/>
                  </a:cubicBezTo>
                  <a:cubicBezTo>
                    <a:pt x="21104" y="10411"/>
                    <a:pt x="21104" y="10411"/>
                    <a:pt x="21175" y="10411"/>
                  </a:cubicBezTo>
                  <a:cubicBezTo>
                    <a:pt x="21246" y="10411"/>
                    <a:pt x="21317" y="10452"/>
                    <a:pt x="21388" y="10452"/>
                  </a:cubicBezTo>
                  <a:cubicBezTo>
                    <a:pt x="21458" y="10452"/>
                    <a:pt x="21458" y="10452"/>
                    <a:pt x="21529" y="10411"/>
                  </a:cubicBezTo>
                  <a:cubicBezTo>
                    <a:pt x="21529" y="10411"/>
                    <a:pt x="21600" y="10370"/>
                    <a:pt x="21600" y="10329"/>
                  </a:cubicBezTo>
                  <a:cubicBezTo>
                    <a:pt x="21600" y="10288"/>
                    <a:pt x="21600" y="10247"/>
                    <a:pt x="21600" y="10165"/>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34" name="Shape">
              <a:extLst>
                <a:ext uri="{FF2B5EF4-FFF2-40B4-BE49-F238E27FC236}">
                  <a16:creationId xmlns:a16="http://schemas.microsoft.com/office/drawing/2014/main" id="{52E01B97-4427-684C-89B2-242394ED34F3}"/>
                </a:ext>
              </a:extLst>
            </p:cNvPr>
            <p:cNvSpPr/>
            <p:nvPr/>
          </p:nvSpPr>
          <p:spPr>
            <a:xfrm>
              <a:off x="4455342" y="3116138"/>
              <a:ext cx="1460115" cy="1052537"/>
            </a:xfrm>
            <a:custGeom>
              <a:avLst/>
              <a:gdLst/>
              <a:ahLst/>
              <a:cxnLst>
                <a:cxn ang="0">
                  <a:pos x="wd2" y="hd2"/>
                </a:cxn>
                <a:cxn ang="5400000">
                  <a:pos x="wd2" y="hd2"/>
                </a:cxn>
                <a:cxn ang="10800000">
                  <a:pos x="wd2" y="hd2"/>
                </a:cxn>
                <a:cxn ang="16200000">
                  <a:pos x="wd2" y="hd2"/>
                </a:cxn>
              </a:cxnLst>
              <a:rect l="0" t="0" r="r" b="b"/>
              <a:pathLst>
                <a:path w="21557" h="21600" extrusionOk="0">
                  <a:moveTo>
                    <a:pt x="21500" y="14033"/>
                  </a:moveTo>
                  <a:cubicBezTo>
                    <a:pt x="21442" y="13812"/>
                    <a:pt x="21385" y="13592"/>
                    <a:pt x="21327" y="13298"/>
                  </a:cubicBezTo>
                  <a:cubicBezTo>
                    <a:pt x="21327" y="13224"/>
                    <a:pt x="21327" y="13224"/>
                    <a:pt x="21327" y="13224"/>
                  </a:cubicBezTo>
                  <a:cubicBezTo>
                    <a:pt x="21327" y="12931"/>
                    <a:pt x="21212" y="12784"/>
                    <a:pt x="21097" y="12637"/>
                  </a:cubicBezTo>
                  <a:cubicBezTo>
                    <a:pt x="21097" y="12563"/>
                    <a:pt x="21040" y="12563"/>
                    <a:pt x="20983" y="12490"/>
                  </a:cubicBezTo>
                  <a:cubicBezTo>
                    <a:pt x="20983" y="12490"/>
                    <a:pt x="20925" y="12490"/>
                    <a:pt x="20925" y="12490"/>
                  </a:cubicBezTo>
                  <a:cubicBezTo>
                    <a:pt x="20868" y="12416"/>
                    <a:pt x="20810" y="12416"/>
                    <a:pt x="20810" y="12343"/>
                  </a:cubicBezTo>
                  <a:cubicBezTo>
                    <a:pt x="20753" y="12343"/>
                    <a:pt x="20753" y="12343"/>
                    <a:pt x="20753" y="12269"/>
                  </a:cubicBezTo>
                  <a:cubicBezTo>
                    <a:pt x="20638" y="12196"/>
                    <a:pt x="20580" y="12196"/>
                    <a:pt x="20466" y="12196"/>
                  </a:cubicBezTo>
                  <a:cubicBezTo>
                    <a:pt x="20408" y="12122"/>
                    <a:pt x="20293" y="12122"/>
                    <a:pt x="20236" y="12049"/>
                  </a:cubicBezTo>
                  <a:cubicBezTo>
                    <a:pt x="20121" y="11976"/>
                    <a:pt x="20121" y="11902"/>
                    <a:pt x="20121" y="11755"/>
                  </a:cubicBezTo>
                  <a:cubicBezTo>
                    <a:pt x="20121" y="11608"/>
                    <a:pt x="20121" y="11535"/>
                    <a:pt x="20063" y="11388"/>
                  </a:cubicBezTo>
                  <a:cubicBezTo>
                    <a:pt x="20006" y="11388"/>
                    <a:pt x="19948" y="11314"/>
                    <a:pt x="19891" y="11314"/>
                  </a:cubicBezTo>
                  <a:cubicBezTo>
                    <a:pt x="19776" y="11241"/>
                    <a:pt x="19719" y="11167"/>
                    <a:pt x="19719" y="11020"/>
                  </a:cubicBezTo>
                  <a:cubicBezTo>
                    <a:pt x="19776" y="10947"/>
                    <a:pt x="19776" y="10873"/>
                    <a:pt x="19834" y="10800"/>
                  </a:cubicBezTo>
                  <a:cubicBezTo>
                    <a:pt x="19834" y="10800"/>
                    <a:pt x="19891" y="10727"/>
                    <a:pt x="19891" y="10727"/>
                  </a:cubicBezTo>
                  <a:cubicBezTo>
                    <a:pt x="19948" y="10506"/>
                    <a:pt x="19948" y="10506"/>
                    <a:pt x="19948" y="10506"/>
                  </a:cubicBezTo>
                  <a:cubicBezTo>
                    <a:pt x="19834" y="10506"/>
                    <a:pt x="19834" y="10506"/>
                    <a:pt x="19834" y="10506"/>
                  </a:cubicBezTo>
                  <a:cubicBezTo>
                    <a:pt x="19834" y="10506"/>
                    <a:pt x="19776" y="10433"/>
                    <a:pt x="19776" y="10433"/>
                  </a:cubicBezTo>
                  <a:cubicBezTo>
                    <a:pt x="19719" y="10359"/>
                    <a:pt x="19661" y="10359"/>
                    <a:pt x="19661" y="10286"/>
                  </a:cubicBezTo>
                  <a:cubicBezTo>
                    <a:pt x="19604" y="10286"/>
                    <a:pt x="19604" y="10286"/>
                    <a:pt x="19604" y="10286"/>
                  </a:cubicBezTo>
                  <a:cubicBezTo>
                    <a:pt x="19546" y="10212"/>
                    <a:pt x="19489" y="10139"/>
                    <a:pt x="19431" y="10065"/>
                  </a:cubicBezTo>
                  <a:cubicBezTo>
                    <a:pt x="19374" y="9992"/>
                    <a:pt x="19317" y="9845"/>
                    <a:pt x="19259" y="9771"/>
                  </a:cubicBezTo>
                  <a:cubicBezTo>
                    <a:pt x="19259" y="9624"/>
                    <a:pt x="19202" y="9551"/>
                    <a:pt x="19144" y="9478"/>
                  </a:cubicBezTo>
                  <a:cubicBezTo>
                    <a:pt x="19087" y="9404"/>
                    <a:pt x="18972" y="9404"/>
                    <a:pt x="18914" y="9331"/>
                  </a:cubicBezTo>
                  <a:cubicBezTo>
                    <a:pt x="18800" y="9331"/>
                    <a:pt x="18685" y="9331"/>
                    <a:pt x="18627" y="9257"/>
                  </a:cubicBezTo>
                  <a:cubicBezTo>
                    <a:pt x="18512" y="9110"/>
                    <a:pt x="18340" y="8890"/>
                    <a:pt x="18225" y="8743"/>
                  </a:cubicBezTo>
                  <a:cubicBezTo>
                    <a:pt x="18168" y="8743"/>
                    <a:pt x="18168" y="8743"/>
                    <a:pt x="18168" y="8743"/>
                  </a:cubicBezTo>
                  <a:cubicBezTo>
                    <a:pt x="18110" y="8596"/>
                    <a:pt x="17938" y="8449"/>
                    <a:pt x="17938" y="8376"/>
                  </a:cubicBezTo>
                  <a:cubicBezTo>
                    <a:pt x="17938" y="8302"/>
                    <a:pt x="17938" y="8229"/>
                    <a:pt x="17995" y="8082"/>
                  </a:cubicBezTo>
                  <a:cubicBezTo>
                    <a:pt x="18053" y="8008"/>
                    <a:pt x="18110" y="7861"/>
                    <a:pt x="18053" y="7714"/>
                  </a:cubicBezTo>
                  <a:cubicBezTo>
                    <a:pt x="17995" y="7567"/>
                    <a:pt x="17880" y="7567"/>
                    <a:pt x="17823" y="7567"/>
                  </a:cubicBezTo>
                  <a:cubicBezTo>
                    <a:pt x="17766" y="7567"/>
                    <a:pt x="17708" y="7494"/>
                    <a:pt x="17651" y="7494"/>
                  </a:cubicBezTo>
                  <a:cubicBezTo>
                    <a:pt x="17536" y="7420"/>
                    <a:pt x="17536" y="7273"/>
                    <a:pt x="17478" y="7200"/>
                  </a:cubicBezTo>
                  <a:cubicBezTo>
                    <a:pt x="17421" y="7127"/>
                    <a:pt x="17421" y="7053"/>
                    <a:pt x="17363" y="6980"/>
                  </a:cubicBezTo>
                  <a:cubicBezTo>
                    <a:pt x="17248" y="6759"/>
                    <a:pt x="17019" y="6686"/>
                    <a:pt x="16789" y="6612"/>
                  </a:cubicBezTo>
                  <a:cubicBezTo>
                    <a:pt x="16731" y="6612"/>
                    <a:pt x="16674" y="6612"/>
                    <a:pt x="16617" y="6612"/>
                  </a:cubicBezTo>
                  <a:cubicBezTo>
                    <a:pt x="16502" y="6612"/>
                    <a:pt x="16502" y="6612"/>
                    <a:pt x="16502" y="6612"/>
                  </a:cubicBezTo>
                  <a:cubicBezTo>
                    <a:pt x="16444" y="6612"/>
                    <a:pt x="16329" y="6612"/>
                    <a:pt x="16272" y="6612"/>
                  </a:cubicBezTo>
                  <a:cubicBezTo>
                    <a:pt x="16157" y="6465"/>
                    <a:pt x="16157" y="6392"/>
                    <a:pt x="16214" y="6098"/>
                  </a:cubicBezTo>
                  <a:cubicBezTo>
                    <a:pt x="16272" y="5951"/>
                    <a:pt x="16329" y="5804"/>
                    <a:pt x="16272" y="5731"/>
                  </a:cubicBezTo>
                  <a:cubicBezTo>
                    <a:pt x="16214" y="5510"/>
                    <a:pt x="16100" y="5437"/>
                    <a:pt x="15985" y="5437"/>
                  </a:cubicBezTo>
                  <a:cubicBezTo>
                    <a:pt x="15870" y="5437"/>
                    <a:pt x="15755" y="5510"/>
                    <a:pt x="15640" y="5584"/>
                  </a:cubicBezTo>
                  <a:cubicBezTo>
                    <a:pt x="15525" y="5584"/>
                    <a:pt x="15410" y="5657"/>
                    <a:pt x="15295" y="5657"/>
                  </a:cubicBezTo>
                  <a:cubicBezTo>
                    <a:pt x="15238" y="5657"/>
                    <a:pt x="15180" y="5584"/>
                    <a:pt x="15123" y="5510"/>
                  </a:cubicBezTo>
                  <a:cubicBezTo>
                    <a:pt x="15123" y="5437"/>
                    <a:pt x="15123" y="5363"/>
                    <a:pt x="15123" y="5290"/>
                  </a:cubicBezTo>
                  <a:cubicBezTo>
                    <a:pt x="15123" y="5216"/>
                    <a:pt x="15123" y="5143"/>
                    <a:pt x="15123" y="5069"/>
                  </a:cubicBezTo>
                  <a:cubicBezTo>
                    <a:pt x="15123" y="4996"/>
                    <a:pt x="15066" y="4996"/>
                    <a:pt x="15008" y="4922"/>
                  </a:cubicBezTo>
                  <a:cubicBezTo>
                    <a:pt x="15008" y="4922"/>
                    <a:pt x="14951" y="4849"/>
                    <a:pt x="14951" y="4849"/>
                  </a:cubicBezTo>
                  <a:cubicBezTo>
                    <a:pt x="14893" y="4629"/>
                    <a:pt x="14951" y="4555"/>
                    <a:pt x="15066" y="4408"/>
                  </a:cubicBezTo>
                  <a:cubicBezTo>
                    <a:pt x="15123" y="4408"/>
                    <a:pt x="15180" y="4335"/>
                    <a:pt x="15238" y="4188"/>
                  </a:cubicBezTo>
                  <a:cubicBezTo>
                    <a:pt x="15295" y="4041"/>
                    <a:pt x="15238" y="3967"/>
                    <a:pt x="15238" y="3894"/>
                  </a:cubicBezTo>
                  <a:cubicBezTo>
                    <a:pt x="15238" y="3894"/>
                    <a:pt x="15238" y="3820"/>
                    <a:pt x="15238" y="3747"/>
                  </a:cubicBezTo>
                  <a:cubicBezTo>
                    <a:pt x="15180" y="3673"/>
                    <a:pt x="15180" y="3600"/>
                    <a:pt x="15238" y="3453"/>
                  </a:cubicBezTo>
                  <a:cubicBezTo>
                    <a:pt x="15238" y="3380"/>
                    <a:pt x="15238" y="3380"/>
                    <a:pt x="15238" y="3380"/>
                  </a:cubicBezTo>
                  <a:cubicBezTo>
                    <a:pt x="15353" y="2939"/>
                    <a:pt x="15180" y="2645"/>
                    <a:pt x="15008" y="2351"/>
                  </a:cubicBezTo>
                  <a:cubicBezTo>
                    <a:pt x="14951" y="2204"/>
                    <a:pt x="14893" y="2131"/>
                    <a:pt x="14836" y="1984"/>
                  </a:cubicBezTo>
                  <a:cubicBezTo>
                    <a:pt x="14778" y="1910"/>
                    <a:pt x="14721" y="1763"/>
                    <a:pt x="14663" y="1616"/>
                  </a:cubicBezTo>
                  <a:cubicBezTo>
                    <a:pt x="14548" y="1396"/>
                    <a:pt x="14491" y="1176"/>
                    <a:pt x="14319" y="955"/>
                  </a:cubicBezTo>
                  <a:cubicBezTo>
                    <a:pt x="14319" y="882"/>
                    <a:pt x="14261" y="808"/>
                    <a:pt x="14204" y="808"/>
                  </a:cubicBezTo>
                  <a:cubicBezTo>
                    <a:pt x="14089" y="661"/>
                    <a:pt x="13974" y="514"/>
                    <a:pt x="13974" y="294"/>
                  </a:cubicBezTo>
                  <a:cubicBezTo>
                    <a:pt x="13974" y="147"/>
                    <a:pt x="13974" y="147"/>
                    <a:pt x="13974" y="147"/>
                  </a:cubicBezTo>
                  <a:cubicBezTo>
                    <a:pt x="13859" y="147"/>
                    <a:pt x="13859" y="147"/>
                    <a:pt x="13859" y="147"/>
                  </a:cubicBezTo>
                  <a:cubicBezTo>
                    <a:pt x="13802" y="147"/>
                    <a:pt x="13687" y="73"/>
                    <a:pt x="13629" y="73"/>
                  </a:cubicBezTo>
                  <a:cubicBezTo>
                    <a:pt x="13629" y="73"/>
                    <a:pt x="13629" y="73"/>
                    <a:pt x="13629" y="73"/>
                  </a:cubicBezTo>
                  <a:cubicBezTo>
                    <a:pt x="13572" y="73"/>
                    <a:pt x="13572" y="73"/>
                    <a:pt x="13514" y="73"/>
                  </a:cubicBezTo>
                  <a:cubicBezTo>
                    <a:pt x="13514" y="73"/>
                    <a:pt x="13457" y="0"/>
                    <a:pt x="13400" y="0"/>
                  </a:cubicBezTo>
                  <a:cubicBezTo>
                    <a:pt x="13227" y="0"/>
                    <a:pt x="13112" y="147"/>
                    <a:pt x="12940" y="220"/>
                  </a:cubicBezTo>
                  <a:cubicBezTo>
                    <a:pt x="12883" y="294"/>
                    <a:pt x="12883" y="294"/>
                    <a:pt x="12825" y="367"/>
                  </a:cubicBezTo>
                  <a:cubicBezTo>
                    <a:pt x="12768" y="367"/>
                    <a:pt x="12768" y="367"/>
                    <a:pt x="12710" y="441"/>
                  </a:cubicBezTo>
                  <a:cubicBezTo>
                    <a:pt x="12653" y="441"/>
                    <a:pt x="12595" y="514"/>
                    <a:pt x="12480" y="588"/>
                  </a:cubicBezTo>
                  <a:cubicBezTo>
                    <a:pt x="12251" y="661"/>
                    <a:pt x="11963" y="882"/>
                    <a:pt x="11963" y="1249"/>
                  </a:cubicBezTo>
                  <a:cubicBezTo>
                    <a:pt x="11963" y="1322"/>
                    <a:pt x="11963" y="1322"/>
                    <a:pt x="11963" y="1396"/>
                  </a:cubicBezTo>
                  <a:cubicBezTo>
                    <a:pt x="12021" y="1469"/>
                    <a:pt x="12021" y="1543"/>
                    <a:pt x="11963" y="1690"/>
                  </a:cubicBezTo>
                  <a:cubicBezTo>
                    <a:pt x="11906" y="1763"/>
                    <a:pt x="11848" y="1837"/>
                    <a:pt x="11791" y="1910"/>
                  </a:cubicBezTo>
                  <a:cubicBezTo>
                    <a:pt x="11734" y="1910"/>
                    <a:pt x="11676" y="1910"/>
                    <a:pt x="11676" y="1984"/>
                  </a:cubicBezTo>
                  <a:cubicBezTo>
                    <a:pt x="11619" y="2057"/>
                    <a:pt x="11561" y="2131"/>
                    <a:pt x="11561" y="2278"/>
                  </a:cubicBezTo>
                  <a:cubicBezTo>
                    <a:pt x="11561" y="2278"/>
                    <a:pt x="11561" y="2351"/>
                    <a:pt x="11504" y="2424"/>
                  </a:cubicBezTo>
                  <a:cubicBezTo>
                    <a:pt x="11504" y="2498"/>
                    <a:pt x="11446" y="2498"/>
                    <a:pt x="11389" y="2498"/>
                  </a:cubicBezTo>
                  <a:cubicBezTo>
                    <a:pt x="11331" y="2498"/>
                    <a:pt x="11274" y="2571"/>
                    <a:pt x="11217" y="2571"/>
                  </a:cubicBezTo>
                  <a:cubicBezTo>
                    <a:pt x="11159" y="2571"/>
                    <a:pt x="11159" y="2718"/>
                    <a:pt x="11102" y="2792"/>
                  </a:cubicBezTo>
                  <a:cubicBezTo>
                    <a:pt x="11102" y="2792"/>
                    <a:pt x="11044" y="2865"/>
                    <a:pt x="11044" y="2939"/>
                  </a:cubicBezTo>
                  <a:cubicBezTo>
                    <a:pt x="10987" y="3012"/>
                    <a:pt x="10872" y="3086"/>
                    <a:pt x="10814" y="3233"/>
                  </a:cubicBezTo>
                  <a:cubicBezTo>
                    <a:pt x="10700" y="3380"/>
                    <a:pt x="10642" y="3527"/>
                    <a:pt x="10527" y="3673"/>
                  </a:cubicBezTo>
                  <a:cubicBezTo>
                    <a:pt x="10527" y="3673"/>
                    <a:pt x="10470" y="3747"/>
                    <a:pt x="10470" y="3820"/>
                  </a:cubicBezTo>
                  <a:cubicBezTo>
                    <a:pt x="10412" y="3894"/>
                    <a:pt x="10412" y="3967"/>
                    <a:pt x="10355" y="4041"/>
                  </a:cubicBezTo>
                  <a:cubicBezTo>
                    <a:pt x="10297" y="4041"/>
                    <a:pt x="10240" y="4114"/>
                    <a:pt x="10183" y="4114"/>
                  </a:cubicBezTo>
                  <a:cubicBezTo>
                    <a:pt x="10125" y="4114"/>
                    <a:pt x="10068" y="4188"/>
                    <a:pt x="10068" y="4261"/>
                  </a:cubicBezTo>
                  <a:cubicBezTo>
                    <a:pt x="10010" y="4261"/>
                    <a:pt x="10010" y="4335"/>
                    <a:pt x="10010" y="4408"/>
                  </a:cubicBezTo>
                  <a:cubicBezTo>
                    <a:pt x="9953" y="4482"/>
                    <a:pt x="9953" y="4482"/>
                    <a:pt x="9838" y="4482"/>
                  </a:cubicBezTo>
                  <a:cubicBezTo>
                    <a:pt x="9838" y="4482"/>
                    <a:pt x="9838" y="4482"/>
                    <a:pt x="9838" y="4482"/>
                  </a:cubicBezTo>
                  <a:cubicBezTo>
                    <a:pt x="9780" y="4482"/>
                    <a:pt x="9723" y="4482"/>
                    <a:pt x="9666" y="4482"/>
                  </a:cubicBezTo>
                  <a:cubicBezTo>
                    <a:pt x="9608" y="4482"/>
                    <a:pt x="9608" y="4482"/>
                    <a:pt x="9551" y="4482"/>
                  </a:cubicBezTo>
                  <a:cubicBezTo>
                    <a:pt x="9493" y="4482"/>
                    <a:pt x="9493" y="4482"/>
                    <a:pt x="9493" y="4482"/>
                  </a:cubicBezTo>
                  <a:cubicBezTo>
                    <a:pt x="9378" y="4482"/>
                    <a:pt x="9263" y="4555"/>
                    <a:pt x="9148" y="4629"/>
                  </a:cubicBezTo>
                  <a:cubicBezTo>
                    <a:pt x="9034" y="4702"/>
                    <a:pt x="8976" y="4702"/>
                    <a:pt x="8861" y="4776"/>
                  </a:cubicBezTo>
                  <a:cubicBezTo>
                    <a:pt x="8689" y="4776"/>
                    <a:pt x="8517" y="4776"/>
                    <a:pt x="8344" y="4776"/>
                  </a:cubicBezTo>
                  <a:cubicBezTo>
                    <a:pt x="8057" y="4776"/>
                    <a:pt x="8057" y="4776"/>
                    <a:pt x="8057" y="4776"/>
                  </a:cubicBezTo>
                  <a:cubicBezTo>
                    <a:pt x="7885" y="4776"/>
                    <a:pt x="7597" y="4849"/>
                    <a:pt x="7425" y="4996"/>
                  </a:cubicBezTo>
                  <a:cubicBezTo>
                    <a:pt x="7368" y="5069"/>
                    <a:pt x="7310" y="5143"/>
                    <a:pt x="7368" y="5216"/>
                  </a:cubicBezTo>
                  <a:cubicBezTo>
                    <a:pt x="7368" y="5363"/>
                    <a:pt x="7597" y="5510"/>
                    <a:pt x="7712" y="5510"/>
                  </a:cubicBezTo>
                  <a:cubicBezTo>
                    <a:pt x="7712" y="5657"/>
                    <a:pt x="7655" y="5804"/>
                    <a:pt x="7597" y="5951"/>
                  </a:cubicBezTo>
                  <a:cubicBezTo>
                    <a:pt x="7540" y="6024"/>
                    <a:pt x="7540" y="6098"/>
                    <a:pt x="7483" y="6098"/>
                  </a:cubicBezTo>
                  <a:cubicBezTo>
                    <a:pt x="7483" y="6171"/>
                    <a:pt x="7483" y="6171"/>
                    <a:pt x="7483" y="6171"/>
                  </a:cubicBezTo>
                  <a:cubicBezTo>
                    <a:pt x="7425" y="6318"/>
                    <a:pt x="7310" y="6612"/>
                    <a:pt x="7195" y="6686"/>
                  </a:cubicBezTo>
                  <a:cubicBezTo>
                    <a:pt x="7138" y="6686"/>
                    <a:pt x="7138" y="6686"/>
                    <a:pt x="7080" y="6686"/>
                  </a:cubicBezTo>
                  <a:cubicBezTo>
                    <a:pt x="7023" y="6686"/>
                    <a:pt x="6966" y="6759"/>
                    <a:pt x="6966" y="6833"/>
                  </a:cubicBezTo>
                  <a:cubicBezTo>
                    <a:pt x="6966" y="6833"/>
                    <a:pt x="6966" y="6906"/>
                    <a:pt x="6966" y="6906"/>
                  </a:cubicBezTo>
                  <a:cubicBezTo>
                    <a:pt x="6966" y="7053"/>
                    <a:pt x="6966" y="7053"/>
                    <a:pt x="6908" y="7127"/>
                  </a:cubicBezTo>
                  <a:cubicBezTo>
                    <a:pt x="6851" y="7127"/>
                    <a:pt x="6851" y="7127"/>
                    <a:pt x="6851" y="7127"/>
                  </a:cubicBezTo>
                  <a:cubicBezTo>
                    <a:pt x="6793" y="7127"/>
                    <a:pt x="6736" y="7127"/>
                    <a:pt x="6736" y="7127"/>
                  </a:cubicBezTo>
                  <a:cubicBezTo>
                    <a:pt x="6678" y="7127"/>
                    <a:pt x="6678" y="7053"/>
                    <a:pt x="6621" y="7053"/>
                  </a:cubicBezTo>
                  <a:cubicBezTo>
                    <a:pt x="6621" y="7053"/>
                    <a:pt x="6621" y="7053"/>
                    <a:pt x="6621" y="7053"/>
                  </a:cubicBezTo>
                  <a:cubicBezTo>
                    <a:pt x="6563" y="7053"/>
                    <a:pt x="6563" y="7127"/>
                    <a:pt x="6506" y="7127"/>
                  </a:cubicBezTo>
                  <a:cubicBezTo>
                    <a:pt x="6448" y="7127"/>
                    <a:pt x="6391" y="7127"/>
                    <a:pt x="6391" y="7127"/>
                  </a:cubicBezTo>
                  <a:cubicBezTo>
                    <a:pt x="6334" y="7127"/>
                    <a:pt x="6334" y="7127"/>
                    <a:pt x="6276" y="7127"/>
                  </a:cubicBezTo>
                  <a:cubicBezTo>
                    <a:pt x="6104" y="7127"/>
                    <a:pt x="6104" y="7127"/>
                    <a:pt x="6104" y="7127"/>
                  </a:cubicBezTo>
                  <a:cubicBezTo>
                    <a:pt x="6046" y="7127"/>
                    <a:pt x="5931" y="7127"/>
                    <a:pt x="5874" y="7200"/>
                  </a:cubicBezTo>
                  <a:cubicBezTo>
                    <a:pt x="5702" y="7273"/>
                    <a:pt x="5529" y="7347"/>
                    <a:pt x="5357" y="7420"/>
                  </a:cubicBezTo>
                  <a:cubicBezTo>
                    <a:pt x="5300" y="7420"/>
                    <a:pt x="5185" y="7420"/>
                    <a:pt x="5127" y="7494"/>
                  </a:cubicBezTo>
                  <a:cubicBezTo>
                    <a:pt x="5012" y="7494"/>
                    <a:pt x="4955" y="7567"/>
                    <a:pt x="4840" y="7567"/>
                  </a:cubicBezTo>
                  <a:cubicBezTo>
                    <a:pt x="4725" y="7641"/>
                    <a:pt x="4668" y="7714"/>
                    <a:pt x="4610" y="7788"/>
                  </a:cubicBezTo>
                  <a:cubicBezTo>
                    <a:pt x="4553" y="7861"/>
                    <a:pt x="4495" y="7861"/>
                    <a:pt x="4438" y="7935"/>
                  </a:cubicBezTo>
                  <a:cubicBezTo>
                    <a:pt x="4380" y="8008"/>
                    <a:pt x="4323" y="8008"/>
                    <a:pt x="4266" y="8082"/>
                  </a:cubicBezTo>
                  <a:cubicBezTo>
                    <a:pt x="4151" y="8082"/>
                    <a:pt x="4036" y="8155"/>
                    <a:pt x="3978" y="8229"/>
                  </a:cubicBezTo>
                  <a:cubicBezTo>
                    <a:pt x="3921" y="8302"/>
                    <a:pt x="3863" y="8302"/>
                    <a:pt x="3806" y="8302"/>
                  </a:cubicBezTo>
                  <a:cubicBezTo>
                    <a:pt x="3806" y="8302"/>
                    <a:pt x="3806" y="8302"/>
                    <a:pt x="3806" y="8302"/>
                  </a:cubicBezTo>
                  <a:cubicBezTo>
                    <a:pt x="3748" y="8302"/>
                    <a:pt x="3748" y="8229"/>
                    <a:pt x="3691" y="8155"/>
                  </a:cubicBezTo>
                  <a:cubicBezTo>
                    <a:pt x="3691" y="8155"/>
                    <a:pt x="3634" y="8082"/>
                    <a:pt x="3634" y="8008"/>
                  </a:cubicBezTo>
                  <a:cubicBezTo>
                    <a:pt x="3576" y="7788"/>
                    <a:pt x="3519" y="7714"/>
                    <a:pt x="3461" y="7641"/>
                  </a:cubicBezTo>
                  <a:cubicBezTo>
                    <a:pt x="3404" y="7641"/>
                    <a:pt x="3404" y="7641"/>
                    <a:pt x="3404" y="7641"/>
                  </a:cubicBezTo>
                  <a:cubicBezTo>
                    <a:pt x="3346" y="7641"/>
                    <a:pt x="3346" y="7641"/>
                    <a:pt x="3346" y="7641"/>
                  </a:cubicBezTo>
                  <a:cubicBezTo>
                    <a:pt x="3289" y="7714"/>
                    <a:pt x="3231" y="7788"/>
                    <a:pt x="3174" y="7861"/>
                  </a:cubicBezTo>
                  <a:cubicBezTo>
                    <a:pt x="3117" y="7935"/>
                    <a:pt x="3059" y="8008"/>
                    <a:pt x="3002" y="8082"/>
                  </a:cubicBezTo>
                  <a:cubicBezTo>
                    <a:pt x="2944" y="8082"/>
                    <a:pt x="2887" y="8155"/>
                    <a:pt x="2829" y="8155"/>
                  </a:cubicBezTo>
                  <a:cubicBezTo>
                    <a:pt x="2829" y="8155"/>
                    <a:pt x="2772" y="8155"/>
                    <a:pt x="2772" y="8229"/>
                  </a:cubicBezTo>
                  <a:cubicBezTo>
                    <a:pt x="2714" y="8229"/>
                    <a:pt x="2657" y="8229"/>
                    <a:pt x="2600" y="8302"/>
                  </a:cubicBezTo>
                  <a:cubicBezTo>
                    <a:pt x="2600" y="8302"/>
                    <a:pt x="2600" y="8302"/>
                    <a:pt x="2542" y="8376"/>
                  </a:cubicBezTo>
                  <a:cubicBezTo>
                    <a:pt x="2542" y="8376"/>
                    <a:pt x="2485" y="8376"/>
                    <a:pt x="2485" y="8376"/>
                  </a:cubicBezTo>
                  <a:cubicBezTo>
                    <a:pt x="2427" y="8449"/>
                    <a:pt x="2370" y="8449"/>
                    <a:pt x="2370" y="8449"/>
                  </a:cubicBezTo>
                  <a:cubicBezTo>
                    <a:pt x="2312" y="8522"/>
                    <a:pt x="2312" y="8522"/>
                    <a:pt x="2312" y="8522"/>
                  </a:cubicBezTo>
                  <a:cubicBezTo>
                    <a:pt x="2255" y="8522"/>
                    <a:pt x="2255" y="8522"/>
                    <a:pt x="2255" y="8522"/>
                  </a:cubicBezTo>
                  <a:cubicBezTo>
                    <a:pt x="2255" y="8522"/>
                    <a:pt x="2197" y="8522"/>
                    <a:pt x="2197" y="8522"/>
                  </a:cubicBezTo>
                  <a:cubicBezTo>
                    <a:pt x="2140" y="8522"/>
                    <a:pt x="2140" y="8522"/>
                    <a:pt x="2140" y="8522"/>
                  </a:cubicBezTo>
                  <a:cubicBezTo>
                    <a:pt x="2140" y="8449"/>
                    <a:pt x="2025" y="8449"/>
                    <a:pt x="1968" y="8449"/>
                  </a:cubicBezTo>
                  <a:cubicBezTo>
                    <a:pt x="1910" y="8376"/>
                    <a:pt x="1795" y="8376"/>
                    <a:pt x="1795" y="8376"/>
                  </a:cubicBezTo>
                  <a:cubicBezTo>
                    <a:pt x="1680" y="8302"/>
                    <a:pt x="1680" y="8302"/>
                    <a:pt x="1680" y="8302"/>
                  </a:cubicBezTo>
                  <a:cubicBezTo>
                    <a:pt x="1623" y="8449"/>
                    <a:pt x="1623" y="8449"/>
                    <a:pt x="1623" y="8449"/>
                  </a:cubicBezTo>
                  <a:cubicBezTo>
                    <a:pt x="1566" y="8596"/>
                    <a:pt x="1508" y="8743"/>
                    <a:pt x="1393" y="8890"/>
                  </a:cubicBezTo>
                  <a:cubicBezTo>
                    <a:pt x="1336" y="9037"/>
                    <a:pt x="1163" y="9257"/>
                    <a:pt x="1106" y="9551"/>
                  </a:cubicBezTo>
                  <a:cubicBezTo>
                    <a:pt x="1048" y="9845"/>
                    <a:pt x="991" y="10065"/>
                    <a:pt x="819" y="10359"/>
                  </a:cubicBezTo>
                  <a:cubicBezTo>
                    <a:pt x="761" y="10506"/>
                    <a:pt x="704" y="10653"/>
                    <a:pt x="646" y="10800"/>
                  </a:cubicBezTo>
                  <a:cubicBezTo>
                    <a:pt x="646" y="10873"/>
                    <a:pt x="589" y="11020"/>
                    <a:pt x="589" y="11094"/>
                  </a:cubicBezTo>
                  <a:cubicBezTo>
                    <a:pt x="531" y="11241"/>
                    <a:pt x="417" y="11388"/>
                    <a:pt x="302" y="11461"/>
                  </a:cubicBezTo>
                  <a:cubicBezTo>
                    <a:pt x="72" y="11755"/>
                    <a:pt x="-43" y="11902"/>
                    <a:pt x="14" y="12049"/>
                  </a:cubicBezTo>
                  <a:cubicBezTo>
                    <a:pt x="14" y="12196"/>
                    <a:pt x="129" y="12269"/>
                    <a:pt x="302" y="12269"/>
                  </a:cubicBezTo>
                  <a:cubicBezTo>
                    <a:pt x="302" y="12637"/>
                    <a:pt x="302" y="12931"/>
                    <a:pt x="244" y="13224"/>
                  </a:cubicBezTo>
                  <a:cubicBezTo>
                    <a:pt x="244" y="13298"/>
                    <a:pt x="244" y="13298"/>
                    <a:pt x="244" y="13298"/>
                  </a:cubicBezTo>
                  <a:cubicBezTo>
                    <a:pt x="187" y="13518"/>
                    <a:pt x="187" y="13739"/>
                    <a:pt x="244" y="13959"/>
                  </a:cubicBezTo>
                  <a:cubicBezTo>
                    <a:pt x="302" y="14033"/>
                    <a:pt x="302" y="14033"/>
                    <a:pt x="302" y="14033"/>
                  </a:cubicBezTo>
                  <a:cubicBezTo>
                    <a:pt x="359" y="14106"/>
                    <a:pt x="359" y="14106"/>
                    <a:pt x="417" y="14253"/>
                  </a:cubicBezTo>
                  <a:cubicBezTo>
                    <a:pt x="417" y="14327"/>
                    <a:pt x="417" y="14473"/>
                    <a:pt x="417" y="14547"/>
                  </a:cubicBezTo>
                  <a:cubicBezTo>
                    <a:pt x="417" y="14767"/>
                    <a:pt x="417" y="14767"/>
                    <a:pt x="417" y="14767"/>
                  </a:cubicBezTo>
                  <a:cubicBezTo>
                    <a:pt x="417" y="15061"/>
                    <a:pt x="474" y="15355"/>
                    <a:pt x="589" y="15576"/>
                  </a:cubicBezTo>
                  <a:cubicBezTo>
                    <a:pt x="646" y="15722"/>
                    <a:pt x="704" y="15796"/>
                    <a:pt x="819" y="15869"/>
                  </a:cubicBezTo>
                  <a:cubicBezTo>
                    <a:pt x="934" y="15943"/>
                    <a:pt x="991" y="16016"/>
                    <a:pt x="1048" y="16237"/>
                  </a:cubicBezTo>
                  <a:cubicBezTo>
                    <a:pt x="1106" y="16457"/>
                    <a:pt x="1106" y="16604"/>
                    <a:pt x="1106" y="16824"/>
                  </a:cubicBezTo>
                  <a:cubicBezTo>
                    <a:pt x="1106" y="17045"/>
                    <a:pt x="1048" y="17339"/>
                    <a:pt x="1163" y="17559"/>
                  </a:cubicBezTo>
                  <a:cubicBezTo>
                    <a:pt x="1336" y="17780"/>
                    <a:pt x="1451" y="18000"/>
                    <a:pt x="1623" y="18220"/>
                  </a:cubicBezTo>
                  <a:cubicBezTo>
                    <a:pt x="1738" y="18367"/>
                    <a:pt x="1853" y="18441"/>
                    <a:pt x="1910" y="18588"/>
                  </a:cubicBezTo>
                  <a:cubicBezTo>
                    <a:pt x="2025" y="18735"/>
                    <a:pt x="2140" y="18808"/>
                    <a:pt x="2255" y="18955"/>
                  </a:cubicBezTo>
                  <a:cubicBezTo>
                    <a:pt x="2427" y="19102"/>
                    <a:pt x="2600" y="19249"/>
                    <a:pt x="2714" y="19469"/>
                  </a:cubicBezTo>
                  <a:cubicBezTo>
                    <a:pt x="2829" y="19763"/>
                    <a:pt x="2772" y="20057"/>
                    <a:pt x="2772" y="20424"/>
                  </a:cubicBezTo>
                  <a:cubicBezTo>
                    <a:pt x="2772" y="20571"/>
                    <a:pt x="2714" y="20718"/>
                    <a:pt x="2714" y="20865"/>
                  </a:cubicBezTo>
                  <a:cubicBezTo>
                    <a:pt x="2714" y="21012"/>
                    <a:pt x="2772" y="21086"/>
                    <a:pt x="2772" y="21159"/>
                  </a:cubicBezTo>
                  <a:cubicBezTo>
                    <a:pt x="2829" y="21600"/>
                    <a:pt x="2829" y="21600"/>
                    <a:pt x="2829" y="21600"/>
                  </a:cubicBezTo>
                  <a:cubicBezTo>
                    <a:pt x="3002" y="21233"/>
                    <a:pt x="3002" y="21233"/>
                    <a:pt x="3002" y="21233"/>
                  </a:cubicBezTo>
                  <a:cubicBezTo>
                    <a:pt x="3002" y="21159"/>
                    <a:pt x="3059" y="21086"/>
                    <a:pt x="3059" y="21012"/>
                  </a:cubicBezTo>
                  <a:cubicBezTo>
                    <a:pt x="3059" y="20939"/>
                    <a:pt x="3117" y="20865"/>
                    <a:pt x="3117" y="20865"/>
                  </a:cubicBezTo>
                  <a:cubicBezTo>
                    <a:pt x="3231" y="20645"/>
                    <a:pt x="3289" y="20351"/>
                    <a:pt x="3346" y="20131"/>
                  </a:cubicBezTo>
                  <a:cubicBezTo>
                    <a:pt x="3404" y="19910"/>
                    <a:pt x="3461" y="19690"/>
                    <a:pt x="3461" y="19469"/>
                  </a:cubicBezTo>
                  <a:cubicBezTo>
                    <a:pt x="3519" y="19176"/>
                    <a:pt x="3576" y="18882"/>
                    <a:pt x="3691" y="18588"/>
                  </a:cubicBezTo>
                  <a:cubicBezTo>
                    <a:pt x="3863" y="18073"/>
                    <a:pt x="3978" y="18073"/>
                    <a:pt x="4266" y="18073"/>
                  </a:cubicBezTo>
                  <a:cubicBezTo>
                    <a:pt x="4380" y="18073"/>
                    <a:pt x="4495" y="18073"/>
                    <a:pt x="4668" y="18000"/>
                  </a:cubicBezTo>
                  <a:cubicBezTo>
                    <a:pt x="4725" y="18000"/>
                    <a:pt x="4840" y="17927"/>
                    <a:pt x="4897" y="17853"/>
                  </a:cubicBezTo>
                  <a:cubicBezTo>
                    <a:pt x="5012" y="17780"/>
                    <a:pt x="5127" y="17706"/>
                    <a:pt x="5242" y="17706"/>
                  </a:cubicBezTo>
                  <a:cubicBezTo>
                    <a:pt x="5300" y="17706"/>
                    <a:pt x="5472" y="17853"/>
                    <a:pt x="5587" y="17927"/>
                  </a:cubicBezTo>
                  <a:cubicBezTo>
                    <a:pt x="5644" y="17927"/>
                    <a:pt x="5702" y="18000"/>
                    <a:pt x="5759" y="18000"/>
                  </a:cubicBezTo>
                  <a:cubicBezTo>
                    <a:pt x="5874" y="18073"/>
                    <a:pt x="6046" y="18147"/>
                    <a:pt x="6161" y="18147"/>
                  </a:cubicBezTo>
                  <a:cubicBezTo>
                    <a:pt x="6276" y="18147"/>
                    <a:pt x="6334" y="18073"/>
                    <a:pt x="6391" y="18073"/>
                  </a:cubicBezTo>
                  <a:cubicBezTo>
                    <a:pt x="6506" y="18073"/>
                    <a:pt x="6563" y="18073"/>
                    <a:pt x="6621" y="18073"/>
                  </a:cubicBezTo>
                  <a:cubicBezTo>
                    <a:pt x="6678" y="18073"/>
                    <a:pt x="6736" y="18073"/>
                    <a:pt x="6736" y="18073"/>
                  </a:cubicBezTo>
                  <a:cubicBezTo>
                    <a:pt x="6851" y="18073"/>
                    <a:pt x="6851" y="18073"/>
                    <a:pt x="6851" y="18073"/>
                  </a:cubicBezTo>
                  <a:cubicBezTo>
                    <a:pt x="6851" y="18000"/>
                    <a:pt x="6851" y="18000"/>
                    <a:pt x="6851" y="18000"/>
                  </a:cubicBezTo>
                  <a:cubicBezTo>
                    <a:pt x="6908" y="17633"/>
                    <a:pt x="6966" y="17412"/>
                    <a:pt x="6966" y="17118"/>
                  </a:cubicBezTo>
                  <a:cubicBezTo>
                    <a:pt x="6966" y="17045"/>
                    <a:pt x="6966" y="17045"/>
                    <a:pt x="6966" y="17045"/>
                  </a:cubicBezTo>
                  <a:cubicBezTo>
                    <a:pt x="6966" y="16751"/>
                    <a:pt x="6966" y="16531"/>
                    <a:pt x="7080" y="16237"/>
                  </a:cubicBezTo>
                  <a:cubicBezTo>
                    <a:pt x="7138" y="16090"/>
                    <a:pt x="7195" y="15943"/>
                    <a:pt x="7253" y="15796"/>
                  </a:cubicBezTo>
                  <a:cubicBezTo>
                    <a:pt x="7310" y="15722"/>
                    <a:pt x="7368" y="15649"/>
                    <a:pt x="7368" y="15576"/>
                  </a:cubicBezTo>
                  <a:cubicBezTo>
                    <a:pt x="7425" y="15429"/>
                    <a:pt x="7425" y="15429"/>
                    <a:pt x="7425" y="15429"/>
                  </a:cubicBezTo>
                  <a:cubicBezTo>
                    <a:pt x="7540" y="15208"/>
                    <a:pt x="7655" y="14988"/>
                    <a:pt x="7770" y="14841"/>
                  </a:cubicBezTo>
                  <a:cubicBezTo>
                    <a:pt x="7942" y="14547"/>
                    <a:pt x="8229" y="14253"/>
                    <a:pt x="8574" y="14253"/>
                  </a:cubicBezTo>
                  <a:cubicBezTo>
                    <a:pt x="8689" y="14253"/>
                    <a:pt x="8804" y="14327"/>
                    <a:pt x="8919" y="14400"/>
                  </a:cubicBezTo>
                  <a:cubicBezTo>
                    <a:pt x="9321" y="14620"/>
                    <a:pt x="9666" y="14914"/>
                    <a:pt x="9895" y="15355"/>
                  </a:cubicBezTo>
                  <a:cubicBezTo>
                    <a:pt x="9895" y="15429"/>
                    <a:pt x="9953" y="15502"/>
                    <a:pt x="9953" y="15502"/>
                  </a:cubicBezTo>
                  <a:cubicBezTo>
                    <a:pt x="10068" y="15722"/>
                    <a:pt x="10125" y="15869"/>
                    <a:pt x="10297" y="15943"/>
                  </a:cubicBezTo>
                  <a:cubicBezTo>
                    <a:pt x="10355" y="15943"/>
                    <a:pt x="10412" y="15943"/>
                    <a:pt x="10470" y="15943"/>
                  </a:cubicBezTo>
                  <a:cubicBezTo>
                    <a:pt x="10585" y="15943"/>
                    <a:pt x="10585" y="15943"/>
                    <a:pt x="10585" y="15943"/>
                  </a:cubicBezTo>
                  <a:cubicBezTo>
                    <a:pt x="10757" y="15943"/>
                    <a:pt x="10872" y="15943"/>
                    <a:pt x="10987" y="16016"/>
                  </a:cubicBezTo>
                  <a:cubicBezTo>
                    <a:pt x="11044" y="16090"/>
                    <a:pt x="11044" y="16090"/>
                    <a:pt x="11044" y="16090"/>
                  </a:cubicBezTo>
                  <a:cubicBezTo>
                    <a:pt x="11217" y="16237"/>
                    <a:pt x="11331" y="16310"/>
                    <a:pt x="11561" y="16384"/>
                  </a:cubicBezTo>
                  <a:cubicBezTo>
                    <a:pt x="11619" y="16384"/>
                    <a:pt x="11676" y="16384"/>
                    <a:pt x="11791" y="16384"/>
                  </a:cubicBezTo>
                  <a:cubicBezTo>
                    <a:pt x="11963" y="16384"/>
                    <a:pt x="11963" y="16384"/>
                    <a:pt x="11963" y="16384"/>
                  </a:cubicBezTo>
                  <a:cubicBezTo>
                    <a:pt x="12078" y="16384"/>
                    <a:pt x="12136" y="16384"/>
                    <a:pt x="12193" y="16384"/>
                  </a:cubicBezTo>
                  <a:cubicBezTo>
                    <a:pt x="12366" y="16384"/>
                    <a:pt x="12480" y="16457"/>
                    <a:pt x="12595" y="16531"/>
                  </a:cubicBezTo>
                  <a:cubicBezTo>
                    <a:pt x="12768" y="16531"/>
                    <a:pt x="12940" y="16604"/>
                    <a:pt x="13112" y="16604"/>
                  </a:cubicBezTo>
                  <a:cubicBezTo>
                    <a:pt x="13285" y="16604"/>
                    <a:pt x="13400" y="16531"/>
                    <a:pt x="13514" y="16384"/>
                  </a:cubicBezTo>
                  <a:cubicBezTo>
                    <a:pt x="13572" y="16237"/>
                    <a:pt x="13629" y="16090"/>
                    <a:pt x="13687" y="15869"/>
                  </a:cubicBezTo>
                  <a:cubicBezTo>
                    <a:pt x="13744" y="15576"/>
                    <a:pt x="13859" y="15208"/>
                    <a:pt x="14031" y="15135"/>
                  </a:cubicBezTo>
                  <a:cubicBezTo>
                    <a:pt x="14089" y="15061"/>
                    <a:pt x="14146" y="15061"/>
                    <a:pt x="14146" y="15061"/>
                  </a:cubicBezTo>
                  <a:cubicBezTo>
                    <a:pt x="14204" y="15061"/>
                    <a:pt x="14261" y="15135"/>
                    <a:pt x="14319" y="15135"/>
                  </a:cubicBezTo>
                  <a:cubicBezTo>
                    <a:pt x="14434" y="15208"/>
                    <a:pt x="14491" y="15208"/>
                    <a:pt x="14548" y="15282"/>
                  </a:cubicBezTo>
                  <a:cubicBezTo>
                    <a:pt x="14663" y="15429"/>
                    <a:pt x="14721" y="15502"/>
                    <a:pt x="14893" y="15502"/>
                  </a:cubicBezTo>
                  <a:cubicBezTo>
                    <a:pt x="14893" y="15502"/>
                    <a:pt x="14951" y="15502"/>
                    <a:pt x="14951" y="15502"/>
                  </a:cubicBezTo>
                  <a:cubicBezTo>
                    <a:pt x="15123" y="15502"/>
                    <a:pt x="15238" y="15355"/>
                    <a:pt x="15410" y="15282"/>
                  </a:cubicBezTo>
                  <a:cubicBezTo>
                    <a:pt x="15468" y="15208"/>
                    <a:pt x="15583" y="15135"/>
                    <a:pt x="15640" y="15061"/>
                  </a:cubicBezTo>
                  <a:cubicBezTo>
                    <a:pt x="15927" y="14914"/>
                    <a:pt x="16157" y="14767"/>
                    <a:pt x="16329" y="14620"/>
                  </a:cubicBezTo>
                  <a:cubicBezTo>
                    <a:pt x="16444" y="14473"/>
                    <a:pt x="16502" y="14473"/>
                    <a:pt x="16617" y="14473"/>
                  </a:cubicBezTo>
                  <a:cubicBezTo>
                    <a:pt x="16674" y="14473"/>
                    <a:pt x="16789" y="14547"/>
                    <a:pt x="16904" y="14547"/>
                  </a:cubicBezTo>
                  <a:cubicBezTo>
                    <a:pt x="16904" y="14620"/>
                    <a:pt x="16904" y="14620"/>
                    <a:pt x="16904" y="14620"/>
                  </a:cubicBezTo>
                  <a:cubicBezTo>
                    <a:pt x="17076" y="14620"/>
                    <a:pt x="17134" y="14694"/>
                    <a:pt x="17248" y="14694"/>
                  </a:cubicBezTo>
                  <a:cubicBezTo>
                    <a:pt x="17363" y="14694"/>
                    <a:pt x="17421" y="14694"/>
                    <a:pt x="17593" y="14620"/>
                  </a:cubicBezTo>
                  <a:cubicBezTo>
                    <a:pt x="17651" y="14620"/>
                    <a:pt x="17708" y="14620"/>
                    <a:pt x="17766" y="14620"/>
                  </a:cubicBezTo>
                  <a:cubicBezTo>
                    <a:pt x="17880" y="14547"/>
                    <a:pt x="17938" y="14547"/>
                    <a:pt x="18053" y="14547"/>
                  </a:cubicBezTo>
                  <a:cubicBezTo>
                    <a:pt x="18168" y="14473"/>
                    <a:pt x="18168" y="14253"/>
                    <a:pt x="18225" y="14106"/>
                  </a:cubicBezTo>
                  <a:cubicBezTo>
                    <a:pt x="18225" y="13886"/>
                    <a:pt x="18283" y="13665"/>
                    <a:pt x="18455" y="13665"/>
                  </a:cubicBezTo>
                  <a:cubicBezTo>
                    <a:pt x="18512" y="13665"/>
                    <a:pt x="18512" y="13665"/>
                    <a:pt x="18512" y="13665"/>
                  </a:cubicBezTo>
                  <a:cubicBezTo>
                    <a:pt x="18627" y="13665"/>
                    <a:pt x="18685" y="13812"/>
                    <a:pt x="18800" y="13959"/>
                  </a:cubicBezTo>
                  <a:cubicBezTo>
                    <a:pt x="18857" y="14106"/>
                    <a:pt x="18914" y="14180"/>
                    <a:pt x="19029" y="14180"/>
                  </a:cubicBezTo>
                  <a:cubicBezTo>
                    <a:pt x="19087" y="14180"/>
                    <a:pt x="19087" y="14180"/>
                    <a:pt x="19144" y="14180"/>
                  </a:cubicBezTo>
                  <a:cubicBezTo>
                    <a:pt x="19202" y="14106"/>
                    <a:pt x="19202" y="14106"/>
                    <a:pt x="19259" y="14033"/>
                  </a:cubicBezTo>
                  <a:cubicBezTo>
                    <a:pt x="19317" y="13959"/>
                    <a:pt x="19374" y="13959"/>
                    <a:pt x="19489" y="13959"/>
                  </a:cubicBezTo>
                  <a:cubicBezTo>
                    <a:pt x="19489" y="13959"/>
                    <a:pt x="19489" y="13959"/>
                    <a:pt x="19489" y="13959"/>
                  </a:cubicBezTo>
                  <a:cubicBezTo>
                    <a:pt x="19604" y="13959"/>
                    <a:pt x="19661" y="14033"/>
                    <a:pt x="19776" y="14106"/>
                  </a:cubicBezTo>
                  <a:cubicBezTo>
                    <a:pt x="19834" y="14180"/>
                    <a:pt x="19834" y="14180"/>
                    <a:pt x="19834" y="14180"/>
                  </a:cubicBezTo>
                  <a:cubicBezTo>
                    <a:pt x="19948" y="14400"/>
                    <a:pt x="20063" y="14400"/>
                    <a:pt x="20236" y="14400"/>
                  </a:cubicBezTo>
                  <a:cubicBezTo>
                    <a:pt x="20236" y="14400"/>
                    <a:pt x="20236" y="14400"/>
                    <a:pt x="20236" y="14400"/>
                  </a:cubicBezTo>
                  <a:cubicBezTo>
                    <a:pt x="20293" y="14400"/>
                    <a:pt x="20293" y="14400"/>
                    <a:pt x="20351" y="14400"/>
                  </a:cubicBezTo>
                  <a:cubicBezTo>
                    <a:pt x="20408" y="14400"/>
                    <a:pt x="20408" y="14400"/>
                    <a:pt x="20466" y="14400"/>
                  </a:cubicBezTo>
                  <a:cubicBezTo>
                    <a:pt x="20466" y="14400"/>
                    <a:pt x="20466" y="14400"/>
                    <a:pt x="20466" y="14400"/>
                  </a:cubicBezTo>
                  <a:cubicBezTo>
                    <a:pt x="20523" y="14400"/>
                    <a:pt x="20580" y="14400"/>
                    <a:pt x="20638" y="14400"/>
                  </a:cubicBezTo>
                  <a:cubicBezTo>
                    <a:pt x="20753" y="14473"/>
                    <a:pt x="20753" y="14473"/>
                    <a:pt x="20753" y="14473"/>
                  </a:cubicBezTo>
                  <a:cubicBezTo>
                    <a:pt x="20810" y="14400"/>
                    <a:pt x="20810" y="14400"/>
                    <a:pt x="20810" y="14400"/>
                  </a:cubicBezTo>
                  <a:cubicBezTo>
                    <a:pt x="20868" y="14253"/>
                    <a:pt x="20925" y="14180"/>
                    <a:pt x="21040" y="14180"/>
                  </a:cubicBezTo>
                  <a:cubicBezTo>
                    <a:pt x="21097" y="14180"/>
                    <a:pt x="21155" y="14253"/>
                    <a:pt x="21212" y="14253"/>
                  </a:cubicBezTo>
                  <a:cubicBezTo>
                    <a:pt x="21270" y="14253"/>
                    <a:pt x="21327" y="14253"/>
                    <a:pt x="21385" y="14253"/>
                  </a:cubicBezTo>
                  <a:cubicBezTo>
                    <a:pt x="21557" y="14253"/>
                    <a:pt x="21557" y="14253"/>
                    <a:pt x="21557" y="14253"/>
                  </a:cubicBezTo>
                  <a:lnTo>
                    <a:pt x="21500" y="14033"/>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35" name="Shape">
              <a:extLst>
                <a:ext uri="{FF2B5EF4-FFF2-40B4-BE49-F238E27FC236}">
                  <a16:creationId xmlns:a16="http://schemas.microsoft.com/office/drawing/2014/main" id="{F6630226-2E79-5349-9850-1734A857BDFF}"/>
                </a:ext>
              </a:extLst>
            </p:cNvPr>
            <p:cNvSpPr/>
            <p:nvPr/>
          </p:nvSpPr>
          <p:spPr>
            <a:xfrm>
              <a:off x="6087517" y="4543873"/>
              <a:ext cx="227357" cy="201425"/>
            </a:xfrm>
            <a:custGeom>
              <a:avLst/>
              <a:gdLst/>
              <a:ahLst/>
              <a:cxnLst>
                <a:cxn ang="0">
                  <a:pos x="wd2" y="hd2"/>
                </a:cxn>
                <a:cxn ang="5400000">
                  <a:pos x="wd2" y="hd2"/>
                </a:cxn>
                <a:cxn ang="10800000">
                  <a:pos x="wd2" y="hd2"/>
                </a:cxn>
                <a:cxn ang="16200000">
                  <a:pos x="wd2" y="hd2"/>
                </a:cxn>
              </a:cxnLst>
              <a:rect l="0" t="0" r="r" b="b"/>
              <a:pathLst>
                <a:path w="21002" h="21600" extrusionOk="0">
                  <a:moveTo>
                    <a:pt x="20802" y="8871"/>
                  </a:moveTo>
                  <a:cubicBezTo>
                    <a:pt x="20802" y="8486"/>
                    <a:pt x="20802" y="8486"/>
                    <a:pt x="20802" y="8100"/>
                  </a:cubicBezTo>
                  <a:cubicBezTo>
                    <a:pt x="20442" y="6943"/>
                    <a:pt x="20082" y="5014"/>
                    <a:pt x="19362" y="3857"/>
                  </a:cubicBezTo>
                  <a:cubicBezTo>
                    <a:pt x="19002" y="3471"/>
                    <a:pt x="19002" y="3471"/>
                    <a:pt x="18642" y="3086"/>
                  </a:cubicBezTo>
                  <a:cubicBezTo>
                    <a:pt x="18282" y="2700"/>
                    <a:pt x="17922" y="2314"/>
                    <a:pt x="17922" y="1929"/>
                  </a:cubicBezTo>
                  <a:cubicBezTo>
                    <a:pt x="17562" y="1929"/>
                    <a:pt x="17562" y="1543"/>
                    <a:pt x="17562" y="1157"/>
                  </a:cubicBezTo>
                  <a:cubicBezTo>
                    <a:pt x="17562" y="1157"/>
                    <a:pt x="17562" y="771"/>
                    <a:pt x="17202" y="771"/>
                  </a:cubicBezTo>
                  <a:cubicBezTo>
                    <a:pt x="17202" y="0"/>
                    <a:pt x="17202" y="0"/>
                    <a:pt x="17202" y="0"/>
                  </a:cubicBezTo>
                  <a:cubicBezTo>
                    <a:pt x="16482" y="0"/>
                    <a:pt x="16482" y="0"/>
                    <a:pt x="16482" y="0"/>
                  </a:cubicBezTo>
                  <a:cubicBezTo>
                    <a:pt x="16482" y="0"/>
                    <a:pt x="16122" y="0"/>
                    <a:pt x="16122" y="386"/>
                  </a:cubicBezTo>
                  <a:cubicBezTo>
                    <a:pt x="15402" y="386"/>
                    <a:pt x="15042" y="1157"/>
                    <a:pt x="14682" y="1929"/>
                  </a:cubicBezTo>
                  <a:cubicBezTo>
                    <a:pt x="14322" y="2314"/>
                    <a:pt x="13962" y="2700"/>
                    <a:pt x="13962" y="3086"/>
                  </a:cubicBezTo>
                  <a:cubicBezTo>
                    <a:pt x="13242" y="3857"/>
                    <a:pt x="12522" y="4629"/>
                    <a:pt x="11442" y="4629"/>
                  </a:cubicBezTo>
                  <a:cubicBezTo>
                    <a:pt x="11442" y="4629"/>
                    <a:pt x="11442" y="4629"/>
                    <a:pt x="11442" y="4629"/>
                  </a:cubicBezTo>
                  <a:cubicBezTo>
                    <a:pt x="11442" y="4629"/>
                    <a:pt x="11082" y="4243"/>
                    <a:pt x="10722" y="4243"/>
                  </a:cubicBezTo>
                  <a:cubicBezTo>
                    <a:pt x="10722" y="3857"/>
                    <a:pt x="10722" y="3471"/>
                    <a:pt x="10722" y="3471"/>
                  </a:cubicBezTo>
                  <a:cubicBezTo>
                    <a:pt x="10362" y="2700"/>
                    <a:pt x="10362" y="2700"/>
                    <a:pt x="10362" y="2700"/>
                  </a:cubicBezTo>
                  <a:cubicBezTo>
                    <a:pt x="9642" y="2700"/>
                    <a:pt x="9642" y="2700"/>
                    <a:pt x="9642" y="2700"/>
                  </a:cubicBezTo>
                  <a:cubicBezTo>
                    <a:pt x="9282" y="2700"/>
                    <a:pt x="8922" y="3086"/>
                    <a:pt x="8562" y="3086"/>
                  </a:cubicBezTo>
                  <a:cubicBezTo>
                    <a:pt x="8562" y="3086"/>
                    <a:pt x="8202" y="3086"/>
                    <a:pt x="8202" y="3086"/>
                  </a:cubicBezTo>
                  <a:cubicBezTo>
                    <a:pt x="8202" y="3086"/>
                    <a:pt x="8202" y="3086"/>
                    <a:pt x="8202" y="3086"/>
                  </a:cubicBezTo>
                  <a:cubicBezTo>
                    <a:pt x="7842" y="3086"/>
                    <a:pt x="7842" y="3086"/>
                    <a:pt x="7842" y="3086"/>
                  </a:cubicBezTo>
                  <a:cubicBezTo>
                    <a:pt x="6762" y="3857"/>
                    <a:pt x="3162" y="5400"/>
                    <a:pt x="2802" y="8486"/>
                  </a:cubicBezTo>
                  <a:cubicBezTo>
                    <a:pt x="2442" y="9257"/>
                    <a:pt x="2802" y="10414"/>
                    <a:pt x="2802" y="11186"/>
                  </a:cubicBezTo>
                  <a:cubicBezTo>
                    <a:pt x="3162" y="13114"/>
                    <a:pt x="3162" y="14271"/>
                    <a:pt x="1722" y="15043"/>
                  </a:cubicBezTo>
                  <a:cubicBezTo>
                    <a:pt x="282" y="16200"/>
                    <a:pt x="-438" y="17357"/>
                    <a:pt x="282" y="19671"/>
                  </a:cubicBezTo>
                  <a:cubicBezTo>
                    <a:pt x="642" y="20829"/>
                    <a:pt x="642" y="20829"/>
                    <a:pt x="642" y="20829"/>
                  </a:cubicBezTo>
                  <a:cubicBezTo>
                    <a:pt x="1362" y="19671"/>
                    <a:pt x="1362" y="19671"/>
                    <a:pt x="1362" y="19671"/>
                  </a:cubicBezTo>
                  <a:cubicBezTo>
                    <a:pt x="2082" y="19286"/>
                    <a:pt x="2802" y="18900"/>
                    <a:pt x="3162" y="18900"/>
                  </a:cubicBezTo>
                  <a:cubicBezTo>
                    <a:pt x="3162" y="18900"/>
                    <a:pt x="3162" y="18900"/>
                    <a:pt x="3522" y="18900"/>
                  </a:cubicBezTo>
                  <a:cubicBezTo>
                    <a:pt x="4242" y="18900"/>
                    <a:pt x="4602" y="19286"/>
                    <a:pt x="4962" y="20057"/>
                  </a:cubicBezTo>
                  <a:cubicBezTo>
                    <a:pt x="5322" y="20443"/>
                    <a:pt x="5322" y="20829"/>
                    <a:pt x="5682" y="21214"/>
                  </a:cubicBezTo>
                  <a:cubicBezTo>
                    <a:pt x="6042" y="21600"/>
                    <a:pt x="6762" y="21600"/>
                    <a:pt x="7122" y="21600"/>
                  </a:cubicBezTo>
                  <a:cubicBezTo>
                    <a:pt x="7842" y="21600"/>
                    <a:pt x="8562" y="21600"/>
                    <a:pt x="9642" y="21214"/>
                  </a:cubicBezTo>
                  <a:cubicBezTo>
                    <a:pt x="11082" y="20829"/>
                    <a:pt x="11082" y="19671"/>
                    <a:pt x="11082" y="18514"/>
                  </a:cubicBezTo>
                  <a:cubicBezTo>
                    <a:pt x="11082" y="18514"/>
                    <a:pt x="11082" y="18129"/>
                    <a:pt x="11442" y="17743"/>
                  </a:cubicBezTo>
                  <a:cubicBezTo>
                    <a:pt x="11442" y="16971"/>
                    <a:pt x="11802" y="16586"/>
                    <a:pt x="12522" y="16586"/>
                  </a:cubicBezTo>
                  <a:cubicBezTo>
                    <a:pt x="12882" y="16586"/>
                    <a:pt x="13242" y="16586"/>
                    <a:pt x="13242" y="16586"/>
                  </a:cubicBezTo>
                  <a:cubicBezTo>
                    <a:pt x="13602" y="16586"/>
                    <a:pt x="13962" y="16200"/>
                    <a:pt x="14322" y="16200"/>
                  </a:cubicBezTo>
                  <a:cubicBezTo>
                    <a:pt x="15042" y="15814"/>
                    <a:pt x="15402" y="15429"/>
                    <a:pt x="16122" y="15429"/>
                  </a:cubicBezTo>
                  <a:cubicBezTo>
                    <a:pt x="16122" y="15429"/>
                    <a:pt x="16122" y="15429"/>
                    <a:pt x="16122" y="15429"/>
                  </a:cubicBezTo>
                  <a:cubicBezTo>
                    <a:pt x="16842" y="15814"/>
                    <a:pt x="16842" y="15814"/>
                    <a:pt x="17202" y="16200"/>
                  </a:cubicBezTo>
                  <a:cubicBezTo>
                    <a:pt x="17202" y="16200"/>
                    <a:pt x="17562" y="16200"/>
                    <a:pt x="17562" y="16586"/>
                  </a:cubicBezTo>
                  <a:cubicBezTo>
                    <a:pt x="17922" y="16586"/>
                    <a:pt x="17922" y="16586"/>
                    <a:pt x="17922" y="16586"/>
                  </a:cubicBezTo>
                  <a:cubicBezTo>
                    <a:pt x="17922" y="16586"/>
                    <a:pt x="17922" y="16586"/>
                    <a:pt x="17922" y="16586"/>
                  </a:cubicBezTo>
                  <a:cubicBezTo>
                    <a:pt x="18282" y="16586"/>
                    <a:pt x="18282" y="16586"/>
                    <a:pt x="18282" y="16586"/>
                  </a:cubicBezTo>
                  <a:cubicBezTo>
                    <a:pt x="18282" y="16586"/>
                    <a:pt x="18642" y="16586"/>
                    <a:pt x="18642" y="16586"/>
                  </a:cubicBezTo>
                  <a:cubicBezTo>
                    <a:pt x="19002" y="16586"/>
                    <a:pt x="19002" y="16586"/>
                    <a:pt x="19362" y="16586"/>
                  </a:cubicBezTo>
                  <a:cubicBezTo>
                    <a:pt x="19722" y="16586"/>
                    <a:pt x="19722" y="16586"/>
                    <a:pt x="19722" y="16586"/>
                  </a:cubicBezTo>
                  <a:cubicBezTo>
                    <a:pt x="19722" y="16586"/>
                    <a:pt x="19722" y="16586"/>
                    <a:pt x="19722" y="16586"/>
                  </a:cubicBezTo>
                  <a:cubicBezTo>
                    <a:pt x="21162" y="16200"/>
                    <a:pt x="21162" y="13886"/>
                    <a:pt x="20802" y="8871"/>
                  </a:cubicBezTo>
                  <a:close/>
                </a:path>
              </a:pathLst>
            </a:custGeom>
            <a:solidFill>
              <a:schemeClr val="tx2"/>
            </a:solid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36" name="Shape">
              <a:extLst>
                <a:ext uri="{FF2B5EF4-FFF2-40B4-BE49-F238E27FC236}">
                  <a16:creationId xmlns:a16="http://schemas.microsoft.com/office/drawing/2014/main" id="{DDEFE922-C98D-AD4D-958C-7D3B90795285}"/>
                </a:ext>
              </a:extLst>
            </p:cNvPr>
            <p:cNvSpPr/>
            <p:nvPr/>
          </p:nvSpPr>
          <p:spPr>
            <a:xfrm>
              <a:off x="3667307" y="0"/>
              <a:ext cx="443883" cy="853087"/>
            </a:xfrm>
            <a:custGeom>
              <a:avLst/>
              <a:gdLst/>
              <a:ahLst/>
              <a:cxnLst>
                <a:cxn ang="0">
                  <a:pos x="wd2" y="hd2"/>
                </a:cxn>
                <a:cxn ang="5400000">
                  <a:pos x="wd2" y="hd2"/>
                </a:cxn>
                <a:cxn ang="10800000">
                  <a:pos x="wd2" y="hd2"/>
                </a:cxn>
                <a:cxn ang="16200000">
                  <a:pos x="wd2" y="hd2"/>
                </a:cxn>
              </a:cxnLst>
              <a:rect l="0" t="0" r="r" b="b"/>
              <a:pathLst>
                <a:path w="21385" h="21600" extrusionOk="0">
                  <a:moveTo>
                    <a:pt x="21037" y="14521"/>
                  </a:moveTo>
                  <a:cubicBezTo>
                    <a:pt x="21037" y="14521"/>
                    <a:pt x="21037" y="14430"/>
                    <a:pt x="21037" y="14430"/>
                  </a:cubicBezTo>
                  <a:cubicBezTo>
                    <a:pt x="20849" y="14339"/>
                    <a:pt x="20849" y="14339"/>
                    <a:pt x="20849" y="14158"/>
                  </a:cubicBezTo>
                  <a:cubicBezTo>
                    <a:pt x="20849" y="13704"/>
                    <a:pt x="20849" y="13160"/>
                    <a:pt x="21037" y="12615"/>
                  </a:cubicBezTo>
                  <a:cubicBezTo>
                    <a:pt x="21037" y="12343"/>
                    <a:pt x="21037" y="12343"/>
                    <a:pt x="21037" y="12343"/>
                  </a:cubicBezTo>
                  <a:cubicBezTo>
                    <a:pt x="20661" y="12343"/>
                    <a:pt x="20661" y="12343"/>
                    <a:pt x="20661" y="12343"/>
                  </a:cubicBezTo>
                  <a:cubicBezTo>
                    <a:pt x="20661" y="12343"/>
                    <a:pt x="20661" y="12343"/>
                    <a:pt x="20661" y="12343"/>
                  </a:cubicBezTo>
                  <a:cubicBezTo>
                    <a:pt x="20473" y="12343"/>
                    <a:pt x="20473" y="12343"/>
                    <a:pt x="20473" y="12343"/>
                  </a:cubicBezTo>
                  <a:cubicBezTo>
                    <a:pt x="20285" y="12252"/>
                    <a:pt x="20285" y="12161"/>
                    <a:pt x="20097" y="12161"/>
                  </a:cubicBezTo>
                  <a:cubicBezTo>
                    <a:pt x="19910" y="12071"/>
                    <a:pt x="19722" y="12071"/>
                    <a:pt x="19722" y="12071"/>
                  </a:cubicBezTo>
                  <a:cubicBezTo>
                    <a:pt x="19534" y="12071"/>
                    <a:pt x="19534" y="12071"/>
                    <a:pt x="19534" y="11980"/>
                  </a:cubicBezTo>
                  <a:cubicBezTo>
                    <a:pt x="19346" y="11980"/>
                    <a:pt x="19158" y="11798"/>
                    <a:pt x="19158" y="11617"/>
                  </a:cubicBezTo>
                  <a:cubicBezTo>
                    <a:pt x="19158" y="11617"/>
                    <a:pt x="19158" y="11526"/>
                    <a:pt x="19158" y="11526"/>
                  </a:cubicBezTo>
                  <a:cubicBezTo>
                    <a:pt x="19158" y="11435"/>
                    <a:pt x="19158" y="11345"/>
                    <a:pt x="18783" y="11163"/>
                  </a:cubicBezTo>
                  <a:cubicBezTo>
                    <a:pt x="18783" y="11163"/>
                    <a:pt x="18407" y="11072"/>
                    <a:pt x="18407" y="11072"/>
                  </a:cubicBezTo>
                  <a:cubicBezTo>
                    <a:pt x="18407" y="11072"/>
                    <a:pt x="18407" y="11072"/>
                    <a:pt x="18407" y="11072"/>
                  </a:cubicBezTo>
                  <a:cubicBezTo>
                    <a:pt x="18407" y="11072"/>
                    <a:pt x="18595" y="10982"/>
                    <a:pt x="18595" y="10982"/>
                  </a:cubicBezTo>
                  <a:cubicBezTo>
                    <a:pt x="19158" y="10982"/>
                    <a:pt x="19158" y="10982"/>
                    <a:pt x="19158" y="10982"/>
                  </a:cubicBezTo>
                  <a:cubicBezTo>
                    <a:pt x="18970" y="10800"/>
                    <a:pt x="18970" y="10800"/>
                    <a:pt x="18970" y="10800"/>
                  </a:cubicBezTo>
                  <a:cubicBezTo>
                    <a:pt x="18970" y="10618"/>
                    <a:pt x="18783" y="10528"/>
                    <a:pt x="18407" y="10346"/>
                  </a:cubicBezTo>
                  <a:cubicBezTo>
                    <a:pt x="18031" y="10346"/>
                    <a:pt x="17843" y="10346"/>
                    <a:pt x="17656" y="10346"/>
                  </a:cubicBezTo>
                  <a:cubicBezTo>
                    <a:pt x="17468" y="10346"/>
                    <a:pt x="17468" y="10346"/>
                    <a:pt x="17280" y="10255"/>
                  </a:cubicBezTo>
                  <a:cubicBezTo>
                    <a:pt x="17280" y="10255"/>
                    <a:pt x="17280" y="10255"/>
                    <a:pt x="17280" y="10255"/>
                  </a:cubicBezTo>
                  <a:cubicBezTo>
                    <a:pt x="17092" y="10255"/>
                    <a:pt x="17092" y="10255"/>
                    <a:pt x="16904" y="10255"/>
                  </a:cubicBezTo>
                  <a:cubicBezTo>
                    <a:pt x="16904" y="10255"/>
                    <a:pt x="16529" y="10255"/>
                    <a:pt x="16341" y="10437"/>
                  </a:cubicBezTo>
                  <a:cubicBezTo>
                    <a:pt x="16341" y="10618"/>
                    <a:pt x="16341" y="10709"/>
                    <a:pt x="16529" y="10800"/>
                  </a:cubicBezTo>
                  <a:cubicBezTo>
                    <a:pt x="16341" y="10891"/>
                    <a:pt x="16153" y="10891"/>
                    <a:pt x="15965" y="10891"/>
                  </a:cubicBezTo>
                  <a:cubicBezTo>
                    <a:pt x="15777" y="10982"/>
                    <a:pt x="15777" y="10982"/>
                    <a:pt x="15590" y="10982"/>
                  </a:cubicBezTo>
                  <a:cubicBezTo>
                    <a:pt x="15402" y="10982"/>
                    <a:pt x="15402" y="10982"/>
                    <a:pt x="15214" y="10891"/>
                  </a:cubicBezTo>
                  <a:cubicBezTo>
                    <a:pt x="15214" y="10891"/>
                    <a:pt x="15026" y="10800"/>
                    <a:pt x="14838" y="10800"/>
                  </a:cubicBezTo>
                  <a:cubicBezTo>
                    <a:pt x="14650" y="10709"/>
                    <a:pt x="14275" y="10618"/>
                    <a:pt x="14087" y="10437"/>
                  </a:cubicBezTo>
                  <a:cubicBezTo>
                    <a:pt x="13899" y="10255"/>
                    <a:pt x="13523" y="9983"/>
                    <a:pt x="13523" y="9711"/>
                  </a:cubicBezTo>
                  <a:cubicBezTo>
                    <a:pt x="13336" y="9529"/>
                    <a:pt x="13523" y="9439"/>
                    <a:pt x="14087" y="9348"/>
                  </a:cubicBezTo>
                  <a:cubicBezTo>
                    <a:pt x="14275" y="9257"/>
                    <a:pt x="14275" y="9257"/>
                    <a:pt x="14275" y="9257"/>
                  </a:cubicBezTo>
                  <a:cubicBezTo>
                    <a:pt x="14838" y="9076"/>
                    <a:pt x="15402" y="8803"/>
                    <a:pt x="15965" y="8622"/>
                  </a:cubicBezTo>
                  <a:cubicBezTo>
                    <a:pt x="16153" y="8531"/>
                    <a:pt x="16341" y="8440"/>
                    <a:pt x="16529" y="8350"/>
                  </a:cubicBezTo>
                  <a:cubicBezTo>
                    <a:pt x="16717" y="8259"/>
                    <a:pt x="17092" y="8077"/>
                    <a:pt x="17280" y="7987"/>
                  </a:cubicBezTo>
                  <a:cubicBezTo>
                    <a:pt x="17280" y="7987"/>
                    <a:pt x="17280" y="7987"/>
                    <a:pt x="17468" y="7987"/>
                  </a:cubicBezTo>
                  <a:cubicBezTo>
                    <a:pt x="17468" y="7987"/>
                    <a:pt x="17656" y="7896"/>
                    <a:pt x="17843" y="7805"/>
                  </a:cubicBezTo>
                  <a:cubicBezTo>
                    <a:pt x="17843" y="7805"/>
                    <a:pt x="17843" y="7714"/>
                    <a:pt x="17843" y="7624"/>
                  </a:cubicBezTo>
                  <a:cubicBezTo>
                    <a:pt x="18031" y="7624"/>
                    <a:pt x="18031" y="7624"/>
                    <a:pt x="18031" y="7624"/>
                  </a:cubicBezTo>
                  <a:cubicBezTo>
                    <a:pt x="18219" y="7533"/>
                    <a:pt x="18407" y="7442"/>
                    <a:pt x="18407" y="7351"/>
                  </a:cubicBezTo>
                  <a:cubicBezTo>
                    <a:pt x="18407" y="7261"/>
                    <a:pt x="18595" y="7170"/>
                    <a:pt x="18595" y="7079"/>
                  </a:cubicBezTo>
                  <a:cubicBezTo>
                    <a:pt x="18595" y="6988"/>
                    <a:pt x="18783" y="6988"/>
                    <a:pt x="18783" y="6897"/>
                  </a:cubicBezTo>
                  <a:cubicBezTo>
                    <a:pt x="18970" y="6716"/>
                    <a:pt x="18970" y="6534"/>
                    <a:pt x="18970" y="6444"/>
                  </a:cubicBezTo>
                  <a:cubicBezTo>
                    <a:pt x="18970" y="6353"/>
                    <a:pt x="18970" y="6353"/>
                    <a:pt x="18970" y="6353"/>
                  </a:cubicBezTo>
                  <a:cubicBezTo>
                    <a:pt x="18970" y="6081"/>
                    <a:pt x="18970" y="5718"/>
                    <a:pt x="18595" y="5355"/>
                  </a:cubicBezTo>
                  <a:cubicBezTo>
                    <a:pt x="18407" y="5082"/>
                    <a:pt x="18031" y="4901"/>
                    <a:pt x="17468" y="4810"/>
                  </a:cubicBezTo>
                  <a:cubicBezTo>
                    <a:pt x="17092" y="4629"/>
                    <a:pt x="17092" y="4629"/>
                    <a:pt x="17092" y="4629"/>
                  </a:cubicBezTo>
                  <a:cubicBezTo>
                    <a:pt x="16904" y="4538"/>
                    <a:pt x="16529" y="4447"/>
                    <a:pt x="16341" y="4356"/>
                  </a:cubicBezTo>
                  <a:cubicBezTo>
                    <a:pt x="15965" y="4175"/>
                    <a:pt x="15965" y="3993"/>
                    <a:pt x="15965" y="3721"/>
                  </a:cubicBezTo>
                  <a:cubicBezTo>
                    <a:pt x="15965" y="3630"/>
                    <a:pt x="15965" y="3630"/>
                    <a:pt x="15965" y="3630"/>
                  </a:cubicBezTo>
                  <a:cubicBezTo>
                    <a:pt x="15965" y="3267"/>
                    <a:pt x="15965" y="3267"/>
                    <a:pt x="16529" y="3086"/>
                  </a:cubicBezTo>
                  <a:cubicBezTo>
                    <a:pt x="16529" y="2995"/>
                    <a:pt x="16717" y="2995"/>
                    <a:pt x="16717" y="2995"/>
                  </a:cubicBezTo>
                  <a:cubicBezTo>
                    <a:pt x="16904" y="2995"/>
                    <a:pt x="17092" y="2904"/>
                    <a:pt x="17280" y="2904"/>
                  </a:cubicBezTo>
                  <a:cubicBezTo>
                    <a:pt x="17656" y="2723"/>
                    <a:pt x="17843" y="2541"/>
                    <a:pt x="18031" y="2269"/>
                  </a:cubicBezTo>
                  <a:cubicBezTo>
                    <a:pt x="18219" y="2178"/>
                    <a:pt x="18219" y="2087"/>
                    <a:pt x="18407" y="1997"/>
                  </a:cubicBezTo>
                  <a:cubicBezTo>
                    <a:pt x="18407" y="1997"/>
                    <a:pt x="18407" y="1997"/>
                    <a:pt x="18595" y="1906"/>
                  </a:cubicBezTo>
                  <a:cubicBezTo>
                    <a:pt x="18783" y="1815"/>
                    <a:pt x="18970" y="1724"/>
                    <a:pt x="18970" y="1634"/>
                  </a:cubicBezTo>
                  <a:cubicBezTo>
                    <a:pt x="19158" y="1452"/>
                    <a:pt x="18970" y="1180"/>
                    <a:pt x="18783" y="1089"/>
                  </a:cubicBezTo>
                  <a:cubicBezTo>
                    <a:pt x="18783" y="998"/>
                    <a:pt x="18783" y="908"/>
                    <a:pt x="18595" y="908"/>
                  </a:cubicBezTo>
                  <a:cubicBezTo>
                    <a:pt x="18595" y="726"/>
                    <a:pt x="18595" y="726"/>
                    <a:pt x="18595" y="726"/>
                  </a:cubicBezTo>
                  <a:cubicBezTo>
                    <a:pt x="18219" y="817"/>
                    <a:pt x="18219" y="817"/>
                    <a:pt x="18219" y="817"/>
                  </a:cubicBezTo>
                  <a:cubicBezTo>
                    <a:pt x="18031" y="817"/>
                    <a:pt x="17843" y="817"/>
                    <a:pt x="17656" y="908"/>
                  </a:cubicBezTo>
                  <a:cubicBezTo>
                    <a:pt x="17468" y="998"/>
                    <a:pt x="17280" y="998"/>
                    <a:pt x="17280" y="1089"/>
                  </a:cubicBezTo>
                  <a:cubicBezTo>
                    <a:pt x="17092" y="1089"/>
                    <a:pt x="16904" y="1180"/>
                    <a:pt x="16717" y="1271"/>
                  </a:cubicBezTo>
                  <a:cubicBezTo>
                    <a:pt x="16717" y="1271"/>
                    <a:pt x="16529" y="1361"/>
                    <a:pt x="16341" y="1361"/>
                  </a:cubicBezTo>
                  <a:cubicBezTo>
                    <a:pt x="16153" y="1452"/>
                    <a:pt x="15965" y="1452"/>
                    <a:pt x="15777" y="1543"/>
                  </a:cubicBezTo>
                  <a:cubicBezTo>
                    <a:pt x="15590" y="1634"/>
                    <a:pt x="15590" y="1634"/>
                    <a:pt x="15590" y="1634"/>
                  </a:cubicBezTo>
                  <a:cubicBezTo>
                    <a:pt x="15590" y="1724"/>
                    <a:pt x="15214" y="1815"/>
                    <a:pt x="15026" y="1906"/>
                  </a:cubicBezTo>
                  <a:cubicBezTo>
                    <a:pt x="15026" y="1906"/>
                    <a:pt x="14838" y="1815"/>
                    <a:pt x="14838" y="1724"/>
                  </a:cubicBezTo>
                  <a:cubicBezTo>
                    <a:pt x="14650" y="1634"/>
                    <a:pt x="14650" y="1543"/>
                    <a:pt x="14463" y="1452"/>
                  </a:cubicBezTo>
                  <a:cubicBezTo>
                    <a:pt x="14275" y="1180"/>
                    <a:pt x="14087" y="998"/>
                    <a:pt x="14463" y="908"/>
                  </a:cubicBezTo>
                  <a:cubicBezTo>
                    <a:pt x="14463" y="817"/>
                    <a:pt x="14650" y="635"/>
                    <a:pt x="14650" y="545"/>
                  </a:cubicBezTo>
                  <a:cubicBezTo>
                    <a:pt x="14463" y="454"/>
                    <a:pt x="14275" y="363"/>
                    <a:pt x="13899" y="363"/>
                  </a:cubicBezTo>
                  <a:cubicBezTo>
                    <a:pt x="13711" y="272"/>
                    <a:pt x="13523" y="272"/>
                    <a:pt x="13336" y="272"/>
                  </a:cubicBezTo>
                  <a:cubicBezTo>
                    <a:pt x="13148" y="272"/>
                    <a:pt x="12960" y="272"/>
                    <a:pt x="12960" y="272"/>
                  </a:cubicBezTo>
                  <a:cubicBezTo>
                    <a:pt x="12772" y="272"/>
                    <a:pt x="12772" y="182"/>
                    <a:pt x="12772" y="182"/>
                  </a:cubicBezTo>
                  <a:cubicBezTo>
                    <a:pt x="12584" y="0"/>
                    <a:pt x="12209" y="0"/>
                    <a:pt x="11833" y="0"/>
                  </a:cubicBezTo>
                  <a:cubicBezTo>
                    <a:pt x="11457" y="0"/>
                    <a:pt x="10706" y="91"/>
                    <a:pt x="10518" y="91"/>
                  </a:cubicBezTo>
                  <a:cubicBezTo>
                    <a:pt x="10518" y="91"/>
                    <a:pt x="10330" y="91"/>
                    <a:pt x="10143" y="182"/>
                  </a:cubicBezTo>
                  <a:cubicBezTo>
                    <a:pt x="9955" y="182"/>
                    <a:pt x="9767" y="272"/>
                    <a:pt x="9391" y="272"/>
                  </a:cubicBezTo>
                  <a:cubicBezTo>
                    <a:pt x="9391" y="363"/>
                    <a:pt x="9203" y="363"/>
                    <a:pt x="9016" y="363"/>
                  </a:cubicBezTo>
                  <a:cubicBezTo>
                    <a:pt x="8828" y="363"/>
                    <a:pt x="8640" y="363"/>
                    <a:pt x="8264" y="454"/>
                  </a:cubicBezTo>
                  <a:cubicBezTo>
                    <a:pt x="8077" y="545"/>
                    <a:pt x="7889" y="635"/>
                    <a:pt x="7701" y="726"/>
                  </a:cubicBezTo>
                  <a:cubicBezTo>
                    <a:pt x="7325" y="908"/>
                    <a:pt x="6950" y="1089"/>
                    <a:pt x="6574" y="1089"/>
                  </a:cubicBezTo>
                  <a:cubicBezTo>
                    <a:pt x="6386" y="1180"/>
                    <a:pt x="6386" y="1180"/>
                    <a:pt x="6386" y="1180"/>
                  </a:cubicBezTo>
                  <a:cubicBezTo>
                    <a:pt x="6198" y="1180"/>
                    <a:pt x="6198" y="1180"/>
                    <a:pt x="6198" y="1180"/>
                  </a:cubicBezTo>
                  <a:cubicBezTo>
                    <a:pt x="6010" y="1361"/>
                    <a:pt x="6010" y="1361"/>
                    <a:pt x="6010" y="1361"/>
                  </a:cubicBezTo>
                  <a:cubicBezTo>
                    <a:pt x="6010" y="1452"/>
                    <a:pt x="6010" y="1634"/>
                    <a:pt x="5823" y="1724"/>
                  </a:cubicBezTo>
                  <a:cubicBezTo>
                    <a:pt x="5635" y="1815"/>
                    <a:pt x="5447" y="1815"/>
                    <a:pt x="5259" y="1906"/>
                  </a:cubicBezTo>
                  <a:cubicBezTo>
                    <a:pt x="5259" y="1997"/>
                    <a:pt x="5071" y="2087"/>
                    <a:pt x="4883" y="2087"/>
                  </a:cubicBezTo>
                  <a:cubicBezTo>
                    <a:pt x="4883" y="2178"/>
                    <a:pt x="4696" y="2178"/>
                    <a:pt x="4696" y="2269"/>
                  </a:cubicBezTo>
                  <a:cubicBezTo>
                    <a:pt x="4696" y="2269"/>
                    <a:pt x="4696" y="2360"/>
                    <a:pt x="4696" y="2360"/>
                  </a:cubicBezTo>
                  <a:cubicBezTo>
                    <a:pt x="4508" y="2360"/>
                    <a:pt x="4508" y="2450"/>
                    <a:pt x="4320" y="2450"/>
                  </a:cubicBezTo>
                  <a:cubicBezTo>
                    <a:pt x="4320" y="2450"/>
                    <a:pt x="4320" y="2450"/>
                    <a:pt x="4320" y="2450"/>
                  </a:cubicBezTo>
                  <a:cubicBezTo>
                    <a:pt x="4132" y="2632"/>
                    <a:pt x="4132" y="2632"/>
                    <a:pt x="4132" y="2632"/>
                  </a:cubicBezTo>
                  <a:cubicBezTo>
                    <a:pt x="4320" y="2723"/>
                    <a:pt x="4320" y="2723"/>
                    <a:pt x="4320" y="2723"/>
                  </a:cubicBezTo>
                  <a:cubicBezTo>
                    <a:pt x="4320" y="2723"/>
                    <a:pt x="4320" y="2723"/>
                    <a:pt x="4320" y="2813"/>
                  </a:cubicBezTo>
                  <a:cubicBezTo>
                    <a:pt x="4508" y="2904"/>
                    <a:pt x="4508" y="2995"/>
                    <a:pt x="4508" y="3086"/>
                  </a:cubicBezTo>
                  <a:cubicBezTo>
                    <a:pt x="4696" y="3358"/>
                    <a:pt x="4508" y="3630"/>
                    <a:pt x="4320" y="3812"/>
                  </a:cubicBezTo>
                  <a:cubicBezTo>
                    <a:pt x="4320" y="3993"/>
                    <a:pt x="4132" y="4175"/>
                    <a:pt x="4132" y="4356"/>
                  </a:cubicBezTo>
                  <a:cubicBezTo>
                    <a:pt x="4132" y="4538"/>
                    <a:pt x="4132" y="4810"/>
                    <a:pt x="4320" y="4992"/>
                  </a:cubicBezTo>
                  <a:cubicBezTo>
                    <a:pt x="4320" y="5173"/>
                    <a:pt x="4508" y="5355"/>
                    <a:pt x="4320" y="5627"/>
                  </a:cubicBezTo>
                  <a:cubicBezTo>
                    <a:pt x="4320" y="5808"/>
                    <a:pt x="4320" y="6081"/>
                    <a:pt x="4508" y="6262"/>
                  </a:cubicBezTo>
                  <a:cubicBezTo>
                    <a:pt x="4696" y="6262"/>
                    <a:pt x="4696" y="6262"/>
                    <a:pt x="4696" y="6353"/>
                  </a:cubicBezTo>
                  <a:cubicBezTo>
                    <a:pt x="4883" y="6353"/>
                    <a:pt x="4883" y="6353"/>
                    <a:pt x="4883" y="6444"/>
                  </a:cubicBezTo>
                  <a:cubicBezTo>
                    <a:pt x="5071" y="6534"/>
                    <a:pt x="4883" y="6716"/>
                    <a:pt x="4883" y="6807"/>
                  </a:cubicBezTo>
                  <a:cubicBezTo>
                    <a:pt x="4696" y="6807"/>
                    <a:pt x="4696" y="6897"/>
                    <a:pt x="4508" y="6988"/>
                  </a:cubicBezTo>
                  <a:cubicBezTo>
                    <a:pt x="4508" y="7079"/>
                    <a:pt x="4320" y="7170"/>
                    <a:pt x="4132" y="7351"/>
                  </a:cubicBezTo>
                  <a:cubicBezTo>
                    <a:pt x="4132" y="7442"/>
                    <a:pt x="4132" y="7533"/>
                    <a:pt x="4132" y="7624"/>
                  </a:cubicBezTo>
                  <a:cubicBezTo>
                    <a:pt x="4132" y="7805"/>
                    <a:pt x="4132" y="7896"/>
                    <a:pt x="4132" y="7987"/>
                  </a:cubicBezTo>
                  <a:cubicBezTo>
                    <a:pt x="4132" y="8168"/>
                    <a:pt x="3569" y="8531"/>
                    <a:pt x="3381" y="8622"/>
                  </a:cubicBezTo>
                  <a:cubicBezTo>
                    <a:pt x="3193" y="8713"/>
                    <a:pt x="3005" y="8713"/>
                    <a:pt x="2817" y="8803"/>
                  </a:cubicBezTo>
                  <a:cubicBezTo>
                    <a:pt x="2630" y="8803"/>
                    <a:pt x="2442" y="8894"/>
                    <a:pt x="2254" y="8894"/>
                  </a:cubicBezTo>
                  <a:cubicBezTo>
                    <a:pt x="2066" y="8985"/>
                    <a:pt x="2066" y="9076"/>
                    <a:pt x="1878" y="9166"/>
                  </a:cubicBezTo>
                  <a:cubicBezTo>
                    <a:pt x="1878" y="9257"/>
                    <a:pt x="1690" y="9348"/>
                    <a:pt x="1690" y="9439"/>
                  </a:cubicBezTo>
                  <a:cubicBezTo>
                    <a:pt x="1503" y="9529"/>
                    <a:pt x="1315" y="9620"/>
                    <a:pt x="939" y="9711"/>
                  </a:cubicBezTo>
                  <a:cubicBezTo>
                    <a:pt x="939" y="9711"/>
                    <a:pt x="751" y="9802"/>
                    <a:pt x="563" y="9802"/>
                  </a:cubicBezTo>
                  <a:cubicBezTo>
                    <a:pt x="0" y="10074"/>
                    <a:pt x="0" y="10165"/>
                    <a:pt x="0" y="10528"/>
                  </a:cubicBezTo>
                  <a:cubicBezTo>
                    <a:pt x="0" y="10709"/>
                    <a:pt x="188" y="10800"/>
                    <a:pt x="376" y="10982"/>
                  </a:cubicBezTo>
                  <a:cubicBezTo>
                    <a:pt x="376" y="11072"/>
                    <a:pt x="563" y="11072"/>
                    <a:pt x="563" y="11163"/>
                  </a:cubicBezTo>
                  <a:cubicBezTo>
                    <a:pt x="563" y="11254"/>
                    <a:pt x="563" y="11254"/>
                    <a:pt x="751" y="11345"/>
                  </a:cubicBezTo>
                  <a:cubicBezTo>
                    <a:pt x="751" y="11435"/>
                    <a:pt x="751" y="11526"/>
                    <a:pt x="751" y="11526"/>
                  </a:cubicBezTo>
                  <a:cubicBezTo>
                    <a:pt x="939" y="11617"/>
                    <a:pt x="939" y="11617"/>
                    <a:pt x="939" y="11617"/>
                  </a:cubicBezTo>
                  <a:cubicBezTo>
                    <a:pt x="1127" y="11708"/>
                    <a:pt x="1127" y="11708"/>
                    <a:pt x="1127" y="11798"/>
                  </a:cubicBezTo>
                  <a:cubicBezTo>
                    <a:pt x="1315" y="11889"/>
                    <a:pt x="1315" y="11980"/>
                    <a:pt x="1315" y="12161"/>
                  </a:cubicBezTo>
                  <a:cubicBezTo>
                    <a:pt x="1315" y="12252"/>
                    <a:pt x="1315" y="12434"/>
                    <a:pt x="1503" y="12524"/>
                  </a:cubicBezTo>
                  <a:cubicBezTo>
                    <a:pt x="1503" y="12615"/>
                    <a:pt x="1878" y="12615"/>
                    <a:pt x="2254" y="12706"/>
                  </a:cubicBezTo>
                  <a:cubicBezTo>
                    <a:pt x="2442" y="12706"/>
                    <a:pt x="2630" y="12706"/>
                    <a:pt x="2817" y="12797"/>
                  </a:cubicBezTo>
                  <a:cubicBezTo>
                    <a:pt x="3381" y="12978"/>
                    <a:pt x="3569" y="13160"/>
                    <a:pt x="3944" y="13341"/>
                  </a:cubicBezTo>
                  <a:cubicBezTo>
                    <a:pt x="4320" y="13613"/>
                    <a:pt x="4320" y="13795"/>
                    <a:pt x="4320" y="14067"/>
                  </a:cubicBezTo>
                  <a:cubicBezTo>
                    <a:pt x="4320" y="14339"/>
                    <a:pt x="4508" y="14612"/>
                    <a:pt x="5071" y="14793"/>
                  </a:cubicBezTo>
                  <a:cubicBezTo>
                    <a:pt x="5447" y="14975"/>
                    <a:pt x="5823" y="15066"/>
                    <a:pt x="6198" y="15156"/>
                  </a:cubicBezTo>
                  <a:cubicBezTo>
                    <a:pt x="6950" y="15338"/>
                    <a:pt x="7701" y="15519"/>
                    <a:pt x="8264" y="15882"/>
                  </a:cubicBezTo>
                  <a:cubicBezTo>
                    <a:pt x="10706" y="21600"/>
                    <a:pt x="10706" y="21600"/>
                    <a:pt x="10706" y="21600"/>
                  </a:cubicBezTo>
                  <a:cubicBezTo>
                    <a:pt x="11270" y="21418"/>
                    <a:pt x="11270" y="21418"/>
                    <a:pt x="11270" y="21418"/>
                  </a:cubicBezTo>
                  <a:cubicBezTo>
                    <a:pt x="11645" y="21328"/>
                    <a:pt x="12021" y="21237"/>
                    <a:pt x="12397" y="21146"/>
                  </a:cubicBezTo>
                  <a:cubicBezTo>
                    <a:pt x="12584" y="21055"/>
                    <a:pt x="12772" y="20965"/>
                    <a:pt x="12772" y="20874"/>
                  </a:cubicBezTo>
                  <a:cubicBezTo>
                    <a:pt x="12960" y="20783"/>
                    <a:pt x="12960" y="20692"/>
                    <a:pt x="13148" y="20602"/>
                  </a:cubicBezTo>
                  <a:cubicBezTo>
                    <a:pt x="13336" y="20511"/>
                    <a:pt x="13523" y="20420"/>
                    <a:pt x="13523" y="20420"/>
                  </a:cubicBezTo>
                  <a:cubicBezTo>
                    <a:pt x="13899" y="20239"/>
                    <a:pt x="14087" y="20148"/>
                    <a:pt x="14275" y="20057"/>
                  </a:cubicBezTo>
                  <a:cubicBezTo>
                    <a:pt x="14650" y="19694"/>
                    <a:pt x="14838" y="19059"/>
                    <a:pt x="14463" y="18696"/>
                  </a:cubicBezTo>
                  <a:cubicBezTo>
                    <a:pt x="14463" y="18605"/>
                    <a:pt x="14463" y="18605"/>
                    <a:pt x="14463" y="18605"/>
                  </a:cubicBezTo>
                  <a:cubicBezTo>
                    <a:pt x="14275" y="18514"/>
                    <a:pt x="14275" y="18424"/>
                    <a:pt x="14087" y="18242"/>
                  </a:cubicBezTo>
                  <a:cubicBezTo>
                    <a:pt x="14087" y="18151"/>
                    <a:pt x="14087" y="18061"/>
                    <a:pt x="14087" y="17970"/>
                  </a:cubicBezTo>
                  <a:cubicBezTo>
                    <a:pt x="14087" y="17879"/>
                    <a:pt x="14087" y="17788"/>
                    <a:pt x="14087" y="17788"/>
                  </a:cubicBezTo>
                  <a:cubicBezTo>
                    <a:pt x="13899" y="17607"/>
                    <a:pt x="14087" y="17516"/>
                    <a:pt x="14275" y="17425"/>
                  </a:cubicBezTo>
                  <a:cubicBezTo>
                    <a:pt x="14275" y="17425"/>
                    <a:pt x="14275" y="17334"/>
                    <a:pt x="14275" y="17334"/>
                  </a:cubicBezTo>
                  <a:cubicBezTo>
                    <a:pt x="14650" y="17153"/>
                    <a:pt x="14838" y="17062"/>
                    <a:pt x="15214" y="17062"/>
                  </a:cubicBezTo>
                  <a:cubicBezTo>
                    <a:pt x="15402" y="17062"/>
                    <a:pt x="15590" y="17062"/>
                    <a:pt x="15777" y="16971"/>
                  </a:cubicBezTo>
                  <a:cubicBezTo>
                    <a:pt x="16153" y="16881"/>
                    <a:pt x="16153" y="16881"/>
                    <a:pt x="16153" y="16699"/>
                  </a:cubicBezTo>
                  <a:cubicBezTo>
                    <a:pt x="16341" y="16699"/>
                    <a:pt x="16341" y="16608"/>
                    <a:pt x="16341" y="16608"/>
                  </a:cubicBezTo>
                  <a:cubicBezTo>
                    <a:pt x="16341" y="16427"/>
                    <a:pt x="16529" y="16427"/>
                    <a:pt x="16717" y="16427"/>
                  </a:cubicBezTo>
                  <a:cubicBezTo>
                    <a:pt x="16717" y="16336"/>
                    <a:pt x="16717" y="16336"/>
                    <a:pt x="16904" y="16336"/>
                  </a:cubicBezTo>
                  <a:cubicBezTo>
                    <a:pt x="17092" y="16245"/>
                    <a:pt x="17280" y="16155"/>
                    <a:pt x="17468" y="16064"/>
                  </a:cubicBezTo>
                  <a:cubicBezTo>
                    <a:pt x="17656" y="15973"/>
                    <a:pt x="17843" y="15882"/>
                    <a:pt x="18031" y="15792"/>
                  </a:cubicBezTo>
                  <a:cubicBezTo>
                    <a:pt x="18407" y="15701"/>
                    <a:pt x="18595" y="15610"/>
                    <a:pt x="18970" y="15519"/>
                  </a:cubicBezTo>
                  <a:cubicBezTo>
                    <a:pt x="19158" y="15519"/>
                    <a:pt x="19346" y="15429"/>
                    <a:pt x="19534" y="15338"/>
                  </a:cubicBezTo>
                  <a:cubicBezTo>
                    <a:pt x="19722" y="15338"/>
                    <a:pt x="19910" y="15338"/>
                    <a:pt x="20097" y="15247"/>
                  </a:cubicBezTo>
                  <a:cubicBezTo>
                    <a:pt x="20097" y="15247"/>
                    <a:pt x="20285" y="15247"/>
                    <a:pt x="20285" y="15156"/>
                  </a:cubicBezTo>
                  <a:cubicBezTo>
                    <a:pt x="20473" y="15156"/>
                    <a:pt x="20473" y="15156"/>
                    <a:pt x="20661" y="15156"/>
                  </a:cubicBezTo>
                  <a:cubicBezTo>
                    <a:pt x="21037" y="15066"/>
                    <a:pt x="21037" y="14975"/>
                    <a:pt x="21224" y="14975"/>
                  </a:cubicBezTo>
                  <a:cubicBezTo>
                    <a:pt x="21600" y="14793"/>
                    <a:pt x="21224" y="14612"/>
                    <a:pt x="21037" y="14521"/>
                  </a:cubicBezTo>
                  <a:close/>
                  <a:moveTo>
                    <a:pt x="17280" y="11345"/>
                  </a:moveTo>
                  <a:cubicBezTo>
                    <a:pt x="17280" y="11345"/>
                    <a:pt x="17092" y="11435"/>
                    <a:pt x="17092" y="11435"/>
                  </a:cubicBezTo>
                  <a:cubicBezTo>
                    <a:pt x="17092" y="11435"/>
                    <a:pt x="17092" y="11345"/>
                    <a:pt x="17092" y="11345"/>
                  </a:cubicBezTo>
                  <a:cubicBezTo>
                    <a:pt x="17092" y="11254"/>
                    <a:pt x="17092" y="11254"/>
                    <a:pt x="17092" y="11163"/>
                  </a:cubicBezTo>
                  <a:cubicBezTo>
                    <a:pt x="17092" y="11163"/>
                    <a:pt x="17092" y="11163"/>
                    <a:pt x="17092" y="11163"/>
                  </a:cubicBezTo>
                  <a:cubicBezTo>
                    <a:pt x="17280" y="11254"/>
                    <a:pt x="17280" y="11345"/>
                    <a:pt x="17280" y="11345"/>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37" name="Shape">
              <a:extLst>
                <a:ext uri="{FF2B5EF4-FFF2-40B4-BE49-F238E27FC236}">
                  <a16:creationId xmlns:a16="http://schemas.microsoft.com/office/drawing/2014/main" id="{BF0EAE4D-0548-0146-A191-A596AC79A686}"/>
                </a:ext>
              </a:extLst>
            </p:cNvPr>
            <p:cNvSpPr/>
            <p:nvPr/>
          </p:nvSpPr>
          <p:spPr>
            <a:xfrm>
              <a:off x="3866808" y="487761"/>
              <a:ext cx="1746179" cy="1621262"/>
            </a:xfrm>
            <a:custGeom>
              <a:avLst/>
              <a:gdLst/>
              <a:ahLst/>
              <a:cxnLst>
                <a:cxn ang="0">
                  <a:pos x="wd2" y="hd2"/>
                </a:cxn>
                <a:cxn ang="5400000">
                  <a:pos x="wd2" y="hd2"/>
                </a:cxn>
                <a:cxn ang="10800000">
                  <a:pos x="wd2" y="hd2"/>
                </a:cxn>
                <a:cxn ang="16200000">
                  <a:pos x="wd2" y="hd2"/>
                </a:cxn>
              </a:cxnLst>
              <a:rect l="0" t="0" r="r" b="b"/>
              <a:pathLst>
                <a:path w="21600" h="21600" extrusionOk="0">
                  <a:moveTo>
                    <a:pt x="20205" y="20885"/>
                  </a:moveTo>
                  <a:cubicBezTo>
                    <a:pt x="21600" y="20885"/>
                    <a:pt x="21600" y="20885"/>
                    <a:pt x="21600" y="20885"/>
                  </a:cubicBezTo>
                  <a:cubicBezTo>
                    <a:pt x="21119" y="6342"/>
                    <a:pt x="21119" y="6342"/>
                    <a:pt x="21119" y="6342"/>
                  </a:cubicBezTo>
                  <a:cubicBezTo>
                    <a:pt x="20686" y="5007"/>
                    <a:pt x="20686" y="5007"/>
                    <a:pt x="20686" y="5007"/>
                  </a:cubicBezTo>
                  <a:cubicBezTo>
                    <a:pt x="20638" y="4816"/>
                    <a:pt x="20734" y="4721"/>
                    <a:pt x="20830" y="4625"/>
                  </a:cubicBezTo>
                  <a:cubicBezTo>
                    <a:pt x="20878" y="4577"/>
                    <a:pt x="20927" y="4482"/>
                    <a:pt x="20975" y="4387"/>
                  </a:cubicBezTo>
                  <a:cubicBezTo>
                    <a:pt x="21071" y="4148"/>
                    <a:pt x="21023" y="3910"/>
                    <a:pt x="20927" y="3624"/>
                  </a:cubicBezTo>
                  <a:cubicBezTo>
                    <a:pt x="20927" y="3576"/>
                    <a:pt x="20878" y="3528"/>
                    <a:pt x="20878" y="3481"/>
                  </a:cubicBezTo>
                  <a:cubicBezTo>
                    <a:pt x="20830" y="3338"/>
                    <a:pt x="20734" y="3147"/>
                    <a:pt x="20830" y="2956"/>
                  </a:cubicBezTo>
                  <a:cubicBezTo>
                    <a:pt x="20878" y="2909"/>
                    <a:pt x="21023" y="2670"/>
                    <a:pt x="21167" y="2575"/>
                  </a:cubicBezTo>
                  <a:cubicBezTo>
                    <a:pt x="21215" y="2527"/>
                    <a:pt x="21215" y="2527"/>
                    <a:pt x="21215" y="2527"/>
                  </a:cubicBezTo>
                  <a:cubicBezTo>
                    <a:pt x="21167" y="2432"/>
                    <a:pt x="21167" y="2432"/>
                    <a:pt x="21167" y="2432"/>
                  </a:cubicBezTo>
                  <a:cubicBezTo>
                    <a:pt x="21167" y="2432"/>
                    <a:pt x="21167" y="2384"/>
                    <a:pt x="21167" y="2384"/>
                  </a:cubicBezTo>
                  <a:cubicBezTo>
                    <a:pt x="21167" y="2336"/>
                    <a:pt x="21167" y="2336"/>
                    <a:pt x="21167" y="2289"/>
                  </a:cubicBezTo>
                  <a:cubicBezTo>
                    <a:pt x="21119" y="2241"/>
                    <a:pt x="21119" y="2241"/>
                    <a:pt x="21071" y="2193"/>
                  </a:cubicBezTo>
                  <a:cubicBezTo>
                    <a:pt x="21071" y="2146"/>
                    <a:pt x="21071" y="2146"/>
                    <a:pt x="21071" y="2146"/>
                  </a:cubicBezTo>
                  <a:cubicBezTo>
                    <a:pt x="21071" y="2146"/>
                    <a:pt x="21071" y="2146"/>
                    <a:pt x="21071" y="2098"/>
                  </a:cubicBezTo>
                  <a:cubicBezTo>
                    <a:pt x="21023" y="2098"/>
                    <a:pt x="21023" y="2050"/>
                    <a:pt x="21023" y="2003"/>
                  </a:cubicBezTo>
                  <a:cubicBezTo>
                    <a:pt x="20975" y="1955"/>
                    <a:pt x="20878" y="1907"/>
                    <a:pt x="20830" y="1907"/>
                  </a:cubicBezTo>
                  <a:cubicBezTo>
                    <a:pt x="20782" y="1907"/>
                    <a:pt x="20734" y="1907"/>
                    <a:pt x="20734" y="1955"/>
                  </a:cubicBezTo>
                  <a:cubicBezTo>
                    <a:pt x="20686" y="1955"/>
                    <a:pt x="20686" y="1955"/>
                    <a:pt x="20638" y="1955"/>
                  </a:cubicBezTo>
                  <a:cubicBezTo>
                    <a:pt x="20590" y="1955"/>
                    <a:pt x="20542" y="1907"/>
                    <a:pt x="20494" y="1907"/>
                  </a:cubicBezTo>
                  <a:cubicBezTo>
                    <a:pt x="20445" y="1907"/>
                    <a:pt x="20445" y="1907"/>
                    <a:pt x="20397" y="1907"/>
                  </a:cubicBezTo>
                  <a:cubicBezTo>
                    <a:pt x="20349" y="1860"/>
                    <a:pt x="20301" y="1860"/>
                    <a:pt x="20301" y="1860"/>
                  </a:cubicBezTo>
                  <a:cubicBezTo>
                    <a:pt x="20205" y="1860"/>
                    <a:pt x="20109" y="1907"/>
                    <a:pt x="20061" y="1907"/>
                  </a:cubicBezTo>
                  <a:cubicBezTo>
                    <a:pt x="20012" y="1907"/>
                    <a:pt x="20012" y="1907"/>
                    <a:pt x="19964" y="1907"/>
                  </a:cubicBezTo>
                  <a:cubicBezTo>
                    <a:pt x="19916" y="1907"/>
                    <a:pt x="19916" y="1907"/>
                    <a:pt x="19868" y="1907"/>
                  </a:cubicBezTo>
                  <a:cubicBezTo>
                    <a:pt x="19820" y="1907"/>
                    <a:pt x="19820" y="1907"/>
                    <a:pt x="19772" y="1907"/>
                  </a:cubicBezTo>
                  <a:cubicBezTo>
                    <a:pt x="19724" y="1907"/>
                    <a:pt x="19724" y="1907"/>
                    <a:pt x="19676" y="1860"/>
                  </a:cubicBezTo>
                  <a:cubicBezTo>
                    <a:pt x="19676" y="1860"/>
                    <a:pt x="19676" y="1812"/>
                    <a:pt x="19628" y="1812"/>
                  </a:cubicBezTo>
                  <a:cubicBezTo>
                    <a:pt x="19580" y="1764"/>
                    <a:pt x="19580" y="1764"/>
                    <a:pt x="19531" y="1764"/>
                  </a:cubicBezTo>
                  <a:cubicBezTo>
                    <a:pt x="19531" y="1764"/>
                    <a:pt x="19483" y="1717"/>
                    <a:pt x="19483" y="1717"/>
                  </a:cubicBezTo>
                  <a:cubicBezTo>
                    <a:pt x="19483" y="1717"/>
                    <a:pt x="19483" y="1717"/>
                    <a:pt x="19435" y="1717"/>
                  </a:cubicBezTo>
                  <a:cubicBezTo>
                    <a:pt x="19435" y="1669"/>
                    <a:pt x="19387" y="1669"/>
                    <a:pt x="19387" y="1621"/>
                  </a:cubicBezTo>
                  <a:cubicBezTo>
                    <a:pt x="19339" y="1621"/>
                    <a:pt x="19291" y="1574"/>
                    <a:pt x="19195" y="1574"/>
                  </a:cubicBezTo>
                  <a:cubicBezTo>
                    <a:pt x="19195" y="1574"/>
                    <a:pt x="19147" y="1621"/>
                    <a:pt x="19098" y="1621"/>
                  </a:cubicBezTo>
                  <a:cubicBezTo>
                    <a:pt x="19050" y="1621"/>
                    <a:pt x="19050" y="1621"/>
                    <a:pt x="19050" y="1621"/>
                  </a:cubicBezTo>
                  <a:cubicBezTo>
                    <a:pt x="19002" y="1621"/>
                    <a:pt x="19002" y="1621"/>
                    <a:pt x="19002" y="1621"/>
                  </a:cubicBezTo>
                  <a:cubicBezTo>
                    <a:pt x="18906" y="1621"/>
                    <a:pt x="18810" y="1621"/>
                    <a:pt x="18714" y="1621"/>
                  </a:cubicBezTo>
                  <a:cubicBezTo>
                    <a:pt x="18665" y="1621"/>
                    <a:pt x="18665" y="1621"/>
                    <a:pt x="18665" y="1621"/>
                  </a:cubicBezTo>
                  <a:cubicBezTo>
                    <a:pt x="18617" y="1621"/>
                    <a:pt x="18617" y="1621"/>
                    <a:pt x="18569" y="1574"/>
                  </a:cubicBezTo>
                  <a:cubicBezTo>
                    <a:pt x="18521" y="1526"/>
                    <a:pt x="18521" y="1526"/>
                    <a:pt x="18473" y="1478"/>
                  </a:cubicBezTo>
                  <a:cubicBezTo>
                    <a:pt x="18425" y="1430"/>
                    <a:pt x="18425" y="1430"/>
                    <a:pt x="18425" y="1383"/>
                  </a:cubicBezTo>
                  <a:cubicBezTo>
                    <a:pt x="18377" y="1335"/>
                    <a:pt x="18425" y="1287"/>
                    <a:pt x="18425" y="1240"/>
                  </a:cubicBezTo>
                  <a:cubicBezTo>
                    <a:pt x="18425" y="1192"/>
                    <a:pt x="18425" y="1144"/>
                    <a:pt x="18425" y="1097"/>
                  </a:cubicBezTo>
                  <a:cubicBezTo>
                    <a:pt x="18425" y="1001"/>
                    <a:pt x="18377" y="858"/>
                    <a:pt x="18088" y="811"/>
                  </a:cubicBezTo>
                  <a:cubicBezTo>
                    <a:pt x="18040" y="811"/>
                    <a:pt x="18040" y="811"/>
                    <a:pt x="18040" y="811"/>
                  </a:cubicBezTo>
                  <a:cubicBezTo>
                    <a:pt x="17944" y="811"/>
                    <a:pt x="17848" y="811"/>
                    <a:pt x="17751" y="763"/>
                  </a:cubicBezTo>
                  <a:cubicBezTo>
                    <a:pt x="17655" y="715"/>
                    <a:pt x="17607" y="715"/>
                    <a:pt x="17511" y="668"/>
                  </a:cubicBezTo>
                  <a:cubicBezTo>
                    <a:pt x="17367" y="572"/>
                    <a:pt x="17222" y="477"/>
                    <a:pt x="17030" y="477"/>
                  </a:cubicBezTo>
                  <a:cubicBezTo>
                    <a:pt x="16886" y="429"/>
                    <a:pt x="16741" y="429"/>
                    <a:pt x="16645" y="429"/>
                  </a:cubicBezTo>
                  <a:cubicBezTo>
                    <a:pt x="16453" y="429"/>
                    <a:pt x="16308" y="477"/>
                    <a:pt x="16164" y="525"/>
                  </a:cubicBezTo>
                  <a:cubicBezTo>
                    <a:pt x="16116" y="572"/>
                    <a:pt x="16116" y="572"/>
                    <a:pt x="16116" y="572"/>
                  </a:cubicBezTo>
                  <a:cubicBezTo>
                    <a:pt x="16020" y="620"/>
                    <a:pt x="15971" y="668"/>
                    <a:pt x="15875" y="715"/>
                  </a:cubicBezTo>
                  <a:cubicBezTo>
                    <a:pt x="15827" y="715"/>
                    <a:pt x="15731" y="715"/>
                    <a:pt x="15683" y="715"/>
                  </a:cubicBezTo>
                  <a:cubicBezTo>
                    <a:pt x="15635" y="715"/>
                    <a:pt x="15539" y="715"/>
                    <a:pt x="15490" y="715"/>
                  </a:cubicBezTo>
                  <a:cubicBezTo>
                    <a:pt x="15298" y="763"/>
                    <a:pt x="15106" y="906"/>
                    <a:pt x="14913" y="1001"/>
                  </a:cubicBezTo>
                  <a:cubicBezTo>
                    <a:pt x="14865" y="1049"/>
                    <a:pt x="14817" y="1097"/>
                    <a:pt x="14769" y="1144"/>
                  </a:cubicBezTo>
                  <a:cubicBezTo>
                    <a:pt x="14240" y="1478"/>
                    <a:pt x="13951" y="2146"/>
                    <a:pt x="14047" y="2718"/>
                  </a:cubicBezTo>
                  <a:cubicBezTo>
                    <a:pt x="14095" y="2813"/>
                    <a:pt x="14143" y="2956"/>
                    <a:pt x="14240" y="3052"/>
                  </a:cubicBezTo>
                  <a:cubicBezTo>
                    <a:pt x="14288" y="3147"/>
                    <a:pt x="14384" y="3242"/>
                    <a:pt x="14384" y="3385"/>
                  </a:cubicBezTo>
                  <a:cubicBezTo>
                    <a:pt x="14384" y="3624"/>
                    <a:pt x="14240" y="3862"/>
                    <a:pt x="14095" y="4053"/>
                  </a:cubicBezTo>
                  <a:cubicBezTo>
                    <a:pt x="13951" y="4291"/>
                    <a:pt x="13710" y="4434"/>
                    <a:pt x="13470" y="4530"/>
                  </a:cubicBezTo>
                  <a:cubicBezTo>
                    <a:pt x="13374" y="4577"/>
                    <a:pt x="13229" y="4625"/>
                    <a:pt x="13133" y="4625"/>
                  </a:cubicBezTo>
                  <a:cubicBezTo>
                    <a:pt x="13085" y="4625"/>
                    <a:pt x="13085" y="4625"/>
                    <a:pt x="13037" y="4625"/>
                  </a:cubicBezTo>
                  <a:cubicBezTo>
                    <a:pt x="12893" y="4577"/>
                    <a:pt x="12796" y="4577"/>
                    <a:pt x="12652" y="4482"/>
                  </a:cubicBezTo>
                  <a:cubicBezTo>
                    <a:pt x="12652" y="4482"/>
                    <a:pt x="12652" y="4482"/>
                    <a:pt x="12604" y="4434"/>
                  </a:cubicBezTo>
                  <a:cubicBezTo>
                    <a:pt x="12556" y="4434"/>
                    <a:pt x="12508" y="4387"/>
                    <a:pt x="12508" y="4339"/>
                  </a:cubicBezTo>
                  <a:cubicBezTo>
                    <a:pt x="12412" y="4244"/>
                    <a:pt x="12363" y="4196"/>
                    <a:pt x="12315" y="4148"/>
                  </a:cubicBezTo>
                  <a:cubicBezTo>
                    <a:pt x="12267" y="4101"/>
                    <a:pt x="12219" y="4101"/>
                    <a:pt x="12219" y="4053"/>
                  </a:cubicBezTo>
                  <a:cubicBezTo>
                    <a:pt x="12171" y="4053"/>
                    <a:pt x="12171" y="4005"/>
                    <a:pt x="12123" y="4005"/>
                  </a:cubicBezTo>
                  <a:cubicBezTo>
                    <a:pt x="12123" y="4005"/>
                    <a:pt x="12075" y="3958"/>
                    <a:pt x="12075" y="3958"/>
                  </a:cubicBezTo>
                  <a:cubicBezTo>
                    <a:pt x="12027" y="3910"/>
                    <a:pt x="11979" y="3862"/>
                    <a:pt x="11882" y="3815"/>
                  </a:cubicBezTo>
                  <a:cubicBezTo>
                    <a:pt x="11834" y="3815"/>
                    <a:pt x="11834" y="3767"/>
                    <a:pt x="11786" y="3767"/>
                  </a:cubicBezTo>
                  <a:cubicBezTo>
                    <a:pt x="11642" y="3719"/>
                    <a:pt x="11546" y="3672"/>
                    <a:pt x="11449" y="3672"/>
                  </a:cubicBezTo>
                  <a:cubicBezTo>
                    <a:pt x="11401" y="3624"/>
                    <a:pt x="11305" y="3576"/>
                    <a:pt x="11257" y="3576"/>
                  </a:cubicBezTo>
                  <a:cubicBezTo>
                    <a:pt x="11161" y="3528"/>
                    <a:pt x="11113" y="3481"/>
                    <a:pt x="11016" y="3433"/>
                  </a:cubicBezTo>
                  <a:cubicBezTo>
                    <a:pt x="10872" y="3433"/>
                    <a:pt x="10728" y="3385"/>
                    <a:pt x="10535" y="3290"/>
                  </a:cubicBezTo>
                  <a:cubicBezTo>
                    <a:pt x="10487" y="3290"/>
                    <a:pt x="10391" y="3242"/>
                    <a:pt x="10295" y="3242"/>
                  </a:cubicBezTo>
                  <a:cubicBezTo>
                    <a:pt x="10247" y="3242"/>
                    <a:pt x="10151" y="3242"/>
                    <a:pt x="10102" y="3195"/>
                  </a:cubicBezTo>
                  <a:cubicBezTo>
                    <a:pt x="9958" y="3147"/>
                    <a:pt x="9862" y="3147"/>
                    <a:pt x="9718" y="3147"/>
                  </a:cubicBezTo>
                  <a:cubicBezTo>
                    <a:pt x="9669" y="3147"/>
                    <a:pt x="9621" y="3099"/>
                    <a:pt x="9573" y="3099"/>
                  </a:cubicBezTo>
                  <a:cubicBezTo>
                    <a:pt x="9525" y="3099"/>
                    <a:pt x="9429" y="3099"/>
                    <a:pt x="9381" y="3099"/>
                  </a:cubicBezTo>
                  <a:cubicBezTo>
                    <a:pt x="9285" y="3052"/>
                    <a:pt x="9188" y="3052"/>
                    <a:pt x="9092" y="3052"/>
                  </a:cubicBezTo>
                  <a:cubicBezTo>
                    <a:pt x="8948" y="3052"/>
                    <a:pt x="8852" y="3004"/>
                    <a:pt x="8755" y="2909"/>
                  </a:cubicBezTo>
                  <a:cubicBezTo>
                    <a:pt x="8707" y="2909"/>
                    <a:pt x="8707" y="2909"/>
                    <a:pt x="8707" y="2909"/>
                  </a:cubicBezTo>
                  <a:cubicBezTo>
                    <a:pt x="8659" y="2861"/>
                    <a:pt x="8563" y="2813"/>
                    <a:pt x="8515" y="2766"/>
                  </a:cubicBezTo>
                  <a:cubicBezTo>
                    <a:pt x="8467" y="2718"/>
                    <a:pt x="8371" y="2623"/>
                    <a:pt x="8322" y="2479"/>
                  </a:cubicBezTo>
                  <a:cubicBezTo>
                    <a:pt x="8226" y="2289"/>
                    <a:pt x="8178" y="2098"/>
                    <a:pt x="8178" y="1955"/>
                  </a:cubicBezTo>
                  <a:cubicBezTo>
                    <a:pt x="8178" y="1907"/>
                    <a:pt x="8178" y="1860"/>
                    <a:pt x="8130" y="1860"/>
                  </a:cubicBezTo>
                  <a:cubicBezTo>
                    <a:pt x="8130" y="1669"/>
                    <a:pt x="8130" y="1478"/>
                    <a:pt x="7938" y="1335"/>
                  </a:cubicBezTo>
                  <a:cubicBezTo>
                    <a:pt x="7745" y="1192"/>
                    <a:pt x="7601" y="1192"/>
                    <a:pt x="7408" y="1192"/>
                  </a:cubicBezTo>
                  <a:cubicBezTo>
                    <a:pt x="7360" y="1192"/>
                    <a:pt x="7312" y="1192"/>
                    <a:pt x="7312" y="1192"/>
                  </a:cubicBezTo>
                  <a:cubicBezTo>
                    <a:pt x="7072" y="1192"/>
                    <a:pt x="6927" y="1144"/>
                    <a:pt x="6783" y="1049"/>
                  </a:cubicBezTo>
                  <a:cubicBezTo>
                    <a:pt x="6735" y="1001"/>
                    <a:pt x="6735" y="1001"/>
                    <a:pt x="6735" y="1001"/>
                  </a:cubicBezTo>
                  <a:cubicBezTo>
                    <a:pt x="6591" y="858"/>
                    <a:pt x="6446" y="763"/>
                    <a:pt x="6254" y="715"/>
                  </a:cubicBezTo>
                  <a:cubicBezTo>
                    <a:pt x="6158" y="715"/>
                    <a:pt x="6061" y="715"/>
                    <a:pt x="6013" y="668"/>
                  </a:cubicBezTo>
                  <a:cubicBezTo>
                    <a:pt x="5869" y="668"/>
                    <a:pt x="5773" y="620"/>
                    <a:pt x="5629" y="572"/>
                  </a:cubicBezTo>
                  <a:cubicBezTo>
                    <a:pt x="5580" y="572"/>
                    <a:pt x="5484" y="572"/>
                    <a:pt x="5436" y="572"/>
                  </a:cubicBezTo>
                  <a:cubicBezTo>
                    <a:pt x="5340" y="525"/>
                    <a:pt x="5244" y="477"/>
                    <a:pt x="5147" y="477"/>
                  </a:cubicBezTo>
                  <a:cubicBezTo>
                    <a:pt x="5099" y="477"/>
                    <a:pt x="5051" y="477"/>
                    <a:pt x="5003" y="525"/>
                  </a:cubicBezTo>
                  <a:cubicBezTo>
                    <a:pt x="4955" y="525"/>
                    <a:pt x="4907" y="572"/>
                    <a:pt x="4859" y="572"/>
                  </a:cubicBezTo>
                  <a:cubicBezTo>
                    <a:pt x="4811" y="572"/>
                    <a:pt x="4763" y="620"/>
                    <a:pt x="4763" y="620"/>
                  </a:cubicBezTo>
                  <a:cubicBezTo>
                    <a:pt x="4714" y="620"/>
                    <a:pt x="4618" y="668"/>
                    <a:pt x="4570" y="668"/>
                  </a:cubicBezTo>
                  <a:cubicBezTo>
                    <a:pt x="4522" y="668"/>
                    <a:pt x="4522" y="668"/>
                    <a:pt x="4474" y="620"/>
                  </a:cubicBezTo>
                  <a:cubicBezTo>
                    <a:pt x="4330" y="620"/>
                    <a:pt x="4089" y="620"/>
                    <a:pt x="3945" y="525"/>
                  </a:cubicBezTo>
                  <a:cubicBezTo>
                    <a:pt x="3849" y="477"/>
                    <a:pt x="3800" y="429"/>
                    <a:pt x="3704" y="381"/>
                  </a:cubicBezTo>
                  <a:cubicBezTo>
                    <a:pt x="3656" y="334"/>
                    <a:pt x="3608" y="286"/>
                    <a:pt x="3560" y="286"/>
                  </a:cubicBezTo>
                  <a:cubicBezTo>
                    <a:pt x="3416" y="191"/>
                    <a:pt x="3319" y="191"/>
                    <a:pt x="3223" y="143"/>
                  </a:cubicBezTo>
                  <a:cubicBezTo>
                    <a:pt x="3175" y="143"/>
                    <a:pt x="3127" y="143"/>
                    <a:pt x="3079" y="95"/>
                  </a:cubicBezTo>
                  <a:cubicBezTo>
                    <a:pt x="3079" y="95"/>
                    <a:pt x="3079" y="95"/>
                    <a:pt x="3079" y="95"/>
                  </a:cubicBezTo>
                  <a:cubicBezTo>
                    <a:pt x="2935" y="0"/>
                    <a:pt x="2935" y="0"/>
                    <a:pt x="2935" y="0"/>
                  </a:cubicBezTo>
                  <a:cubicBezTo>
                    <a:pt x="2935" y="143"/>
                    <a:pt x="2935" y="143"/>
                    <a:pt x="2935" y="143"/>
                  </a:cubicBezTo>
                  <a:cubicBezTo>
                    <a:pt x="2886" y="429"/>
                    <a:pt x="2838" y="715"/>
                    <a:pt x="2838" y="954"/>
                  </a:cubicBezTo>
                  <a:cubicBezTo>
                    <a:pt x="2838" y="1049"/>
                    <a:pt x="2838" y="1049"/>
                    <a:pt x="2886" y="1097"/>
                  </a:cubicBezTo>
                  <a:cubicBezTo>
                    <a:pt x="2935" y="1144"/>
                    <a:pt x="2935" y="1144"/>
                    <a:pt x="2935" y="1144"/>
                  </a:cubicBezTo>
                  <a:cubicBezTo>
                    <a:pt x="3031" y="1287"/>
                    <a:pt x="2983" y="1335"/>
                    <a:pt x="2935" y="1383"/>
                  </a:cubicBezTo>
                  <a:cubicBezTo>
                    <a:pt x="2935" y="1383"/>
                    <a:pt x="2886" y="1430"/>
                    <a:pt x="2790" y="1478"/>
                  </a:cubicBezTo>
                  <a:cubicBezTo>
                    <a:pt x="2790" y="1478"/>
                    <a:pt x="2790" y="1478"/>
                    <a:pt x="2742" y="1478"/>
                  </a:cubicBezTo>
                  <a:cubicBezTo>
                    <a:pt x="2742" y="1478"/>
                    <a:pt x="2694" y="1526"/>
                    <a:pt x="2646" y="1526"/>
                  </a:cubicBezTo>
                  <a:cubicBezTo>
                    <a:pt x="2646" y="1526"/>
                    <a:pt x="2598" y="1574"/>
                    <a:pt x="2550" y="1574"/>
                  </a:cubicBezTo>
                  <a:cubicBezTo>
                    <a:pt x="2502" y="1621"/>
                    <a:pt x="2453" y="1621"/>
                    <a:pt x="2405" y="1669"/>
                  </a:cubicBezTo>
                  <a:cubicBezTo>
                    <a:pt x="2309" y="1669"/>
                    <a:pt x="2213" y="1717"/>
                    <a:pt x="2165" y="1764"/>
                  </a:cubicBezTo>
                  <a:cubicBezTo>
                    <a:pt x="2117" y="1812"/>
                    <a:pt x="2069" y="1860"/>
                    <a:pt x="2020" y="1955"/>
                  </a:cubicBezTo>
                  <a:cubicBezTo>
                    <a:pt x="1972" y="2003"/>
                    <a:pt x="1924" y="2050"/>
                    <a:pt x="1828" y="2098"/>
                  </a:cubicBezTo>
                  <a:cubicBezTo>
                    <a:pt x="1828" y="2098"/>
                    <a:pt x="1828" y="2098"/>
                    <a:pt x="1780" y="2098"/>
                  </a:cubicBezTo>
                  <a:cubicBezTo>
                    <a:pt x="1732" y="2146"/>
                    <a:pt x="1732" y="2193"/>
                    <a:pt x="1684" y="2241"/>
                  </a:cubicBezTo>
                  <a:cubicBezTo>
                    <a:pt x="1684" y="2241"/>
                    <a:pt x="1684" y="2289"/>
                    <a:pt x="1684" y="2289"/>
                  </a:cubicBezTo>
                  <a:cubicBezTo>
                    <a:pt x="1684" y="2336"/>
                    <a:pt x="1684" y="2384"/>
                    <a:pt x="1588" y="2432"/>
                  </a:cubicBezTo>
                  <a:cubicBezTo>
                    <a:pt x="1539" y="2432"/>
                    <a:pt x="1491" y="2432"/>
                    <a:pt x="1443" y="2479"/>
                  </a:cubicBezTo>
                  <a:cubicBezTo>
                    <a:pt x="1347" y="2479"/>
                    <a:pt x="1299" y="2479"/>
                    <a:pt x="1203" y="2623"/>
                  </a:cubicBezTo>
                  <a:cubicBezTo>
                    <a:pt x="1203" y="2623"/>
                    <a:pt x="1203" y="2623"/>
                    <a:pt x="1155" y="2670"/>
                  </a:cubicBezTo>
                  <a:cubicBezTo>
                    <a:pt x="1155" y="2718"/>
                    <a:pt x="1106" y="2766"/>
                    <a:pt x="1106" y="2861"/>
                  </a:cubicBezTo>
                  <a:cubicBezTo>
                    <a:pt x="1106" y="2861"/>
                    <a:pt x="1106" y="2909"/>
                    <a:pt x="1155" y="2956"/>
                  </a:cubicBezTo>
                  <a:cubicBezTo>
                    <a:pt x="1155" y="3004"/>
                    <a:pt x="1155" y="3052"/>
                    <a:pt x="1155" y="3099"/>
                  </a:cubicBezTo>
                  <a:cubicBezTo>
                    <a:pt x="1155" y="3195"/>
                    <a:pt x="1203" y="3242"/>
                    <a:pt x="1203" y="3290"/>
                  </a:cubicBezTo>
                  <a:cubicBezTo>
                    <a:pt x="1251" y="3338"/>
                    <a:pt x="1251" y="3338"/>
                    <a:pt x="1251" y="3338"/>
                  </a:cubicBezTo>
                  <a:cubicBezTo>
                    <a:pt x="1299" y="3528"/>
                    <a:pt x="1299" y="3862"/>
                    <a:pt x="1155" y="4053"/>
                  </a:cubicBezTo>
                  <a:cubicBezTo>
                    <a:pt x="1155" y="4101"/>
                    <a:pt x="1058" y="4148"/>
                    <a:pt x="1010" y="4196"/>
                  </a:cubicBezTo>
                  <a:cubicBezTo>
                    <a:pt x="962" y="4244"/>
                    <a:pt x="914" y="4291"/>
                    <a:pt x="914" y="4339"/>
                  </a:cubicBezTo>
                  <a:cubicBezTo>
                    <a:pt x="866" y="4387"/>
                    <a:pt x="818" y="4434"/>
                    <a:pt x="818" y="4434"/>
                  </a:cubicBezTo>
                  <a:cubicBezTo>
                    <a:pt x="770" y="4482"/>
                    <a:pt x="770" y="4577"/>
                    <a:pt x="673" y="4625"/>
                  </a:cubicBezTo>
                  <a:cubicBezTo>
                    <a:pt x="529" y="4721"/>
                    <a:pt x="433" y="4768"/>
                    <a:pt x="337" y="4816"/>
                  </a:cubicBezTo>
                  <a:cubicBezTo>
                    <a:pt x="241" y="4864"/>
                    <a:pt x="144" y="4911"/>
                    <a:pt x="96" y="4959"/>
                  </a:cubicBezTo>
                  <a:cubicBezTo>
                    <a:pt x="0" y="5054"/>
                    <a:pt x="0" y="5054"/>
                    <a:pt x="0" y="5054"/>
                  </a:cubicBezTo>
                  <a:cubicBezTo>
                    <a:pt x="48" y="5102"/>
                    <a:pt x="48" y="5102"/>
                    <a:pt x="48" y="5102"/>
                  </a:cubicBezTo>
                  <a:cubicBezTo>
                    <a:pt x="192" y="5245"/>
                    <a:pt x="241" y="5388"/>
                    <a:pt x="337" y="5483"/>
                  </a:cubicBezTo>
                  <a:cubicBezTo>
                    <a:pt x="337" y="5531"/>
                    <a:pt x="385" y="5579"/>
                    <a:pt x="433" y="5626"/>
                  </a:cubicBezTo>
                  <a:cubicBezTo>
                    <a:pt x="481" y="5722"/>
                    <a:pt x="577" y="5817"/>
                    <a:pt x="577" y="5913"/>
                  </a:cubicBezTo>
                  <a:cubicBezTo>
                    <a:pt x="625" y="5960"/>
                    <a:pt x="577" y="6008"/>
                    <a:pt x="577" y="6056"/>
                  </a:cubicBezTo>
                  <a:cubicBezTo>
                    <a:pt x="577" y="6056"/>
                    <a:pt x="577" y="6103"/>
                    <a:pt x="577" y="6103"/>
                  </a:cubicBezTo>
                  <a:cubicBezTo>
                    <a:pt x="577" y="6199"/>
                    <a:pt x="625" y="6246"/>
                    <a:pt x="625" y="6342"/>
                  </a:cubicBezTo>
                  <a:cubicBezTo>
                    <a:pt x="673" y="6342"/>
                    <a:pt x="673" y="6389"/>
                    <a:pt x="673" y="6389"/>
                  </a:cubicBezTo>
                  <a:cubicBezTo>
                    <a:pt x="722" y="6485"/>
                    <a:pt x="722" y="6628"/>
                    <a:pt x="722" y="6723"/>
                  </a:cubicBezTo>
                  <a:cubicBezTo>
                    <a:pt x="770" y="7009"/>
                    <a:pt x="722" y="7200"/>
                    <a:pt x="673" y="7438"/>
                  </a:cubicBezTo>
                  <a:cubicBezTo>
                    <a:pt x="625" y="7677"/>
                    <a:pt x="577" y="7963"/>
                    <a:pt x="673" y="8106"/>
                  </a:cubicBezTo>
                  <a:cubicBezTo>
                    <a:pt x="722" y="8154"/>
                    <a:pt x="722" y="8154"/>
                    <a:pt x="770" y="8201"/>
                  </a:cubicBezTo>
                  <a:cubicBezTo>
                    <a:pt x="818" y="8249"/>
                    <a:pt x="866" y="8297"/>
                    <a:pt x="866" y="8344"/>
                  </a:cubicBezTo>
                  <a:cubicBezTo>
                    <a:pt x="914" y="8440"/>
                    <a:pt x="866" y="8583"/>
                    <a:pt x="818" y="8630"/>
                  </a:cubicBezTo>
                  <a:cubicBezTo>
                    <a:pt x="770" y="8821"/>
                    <a:pt x="770" y="8821"/>
                    <a:pt x="770" y="8821"/>
                  </a:cubicBezTo>
                  <a:cubicBezTo>
                    <a:pt x="722" y="8869"/>
                    <a:pt x="673" y="8964"/>
                    <a:pt x="673" y="9060"/>
                  </a:cubicBezTo>
                  <a:cubicBezTo>
                    <a:pt x="577" y="9298"/>
                    <a:pt x="529" y="9489"/>
                    <a:pt x="673" y="9679"/>
                  </a:cubicBezTo>
                  <a:cubicBezTo>
                    <a:pt x="722" y="9775"/>
                    <a:pt x="770" y="9870"/>
                    <a:pt x="770" y="9966"/>
                  </a:cubicBezTo>
                  <a:cubicBezTo>
                    <a:pt x="818" y="10156"/>
                    <a:pt x="818" y="10395"/>
                    <a:pt x="818" y="10633"/>
                  </a:cubicBezTo>
                  <a:cubicBezTo>
                    <a:pt x="722" y="10633"/>
                    <a:pt x="625" y="10728"/>
                    <a:pt x="529" y="10776"/>
                  </a:cubicBezTo>
                  <a:cubicBezTo>
                    <a:pt x="529" y="10776"/>
                    <a:pt x="481" y="10824"/>
                    <a:pt x="433" y="10824"/>
                  </a:cubicBezTo>
                  <a:cubicBezTo>
                    <a:pt x="289" y="10919"/>
                    <a:pt x="192" y="11015"/>
                    <a:pt x="144" y="11110"/>
                  </a:cubicBezTo>
                  <a:cubicBezTo>
                    <a:pt x="144" y="11158"/>
                    <a:pt x="144" y="11253"/>
                    <a:pt x="241" y="11348"/>
                  </a:cubicBezTo>
                  <a:cubicBezTo>
                    <a:pt x="289" y="11444"/>
                    <a:pt x="337" y="11539"/>
                    <a:pt x="433" y="11634"/>
                  </a:cubicBezTo>
                  <a:cubicBezTo>
                    <a:pt x="481" y="11682"/>
                    <a:pt x="529" y="11777"/>
                    <a:pt x="577" y="11825"/>
                  </a:cubicBezTo>
                  <a:cubicBezTo>
                    <a:pt x="625" y="11873"/>
                    <a:pt x="673" y="11921"/>
                    <a:pt x="722" y="11968"/>
                  </a:cubicBezTo>
                  <a:cubicBezTo>
                    <a:pt x="818" y="12111"/>
                    <a:pt x="914" y="12254"/>
                    <a:pt x="962" y="12397"/>
                  </a:cubicBezTo>
                  <a:cubicBezTo>
                    <a:pt x="1010" y="12540"/>
                    <a:pt x="1010" y="12683"/>
                    <a:pt x="1010" y="12874"/>
                  </a:cubicBezTo>
                  <a:cubicBezTo>
                    <a:pt x="1010" y="12970"/>
                    <a:pt x="1010" y="13065"/>
                    <a:pt x="1058" y="13160"/>
                  </a:cubicBezTo>
                  <a:cubicBezTo>
                    <a:pt x="1058" y="13208"/>
                    <a:pt x="1058" y="13208"/>
                    <a:pt x="1058" y="13208"/>
                  </a:cubicBezTo>
                  <a:cubicBezTo>
                    <a:pt x="1058" y="13256"/>
                    <a:pt x="1058" y="13256"/>
                    <a:pt x="1058" y="13256"/>
                  </a:cubicBezTo>
                  <a:cubicBezTo>
                    <a:pt x="1106" y="13256"/>
                    <a:pt x="1106" y="13256"/>
                    <a:pt x="1106" y="13303"/>
                  </a:cubicBezTo>
                  <a:cubicBezTo>
                    <a:pt x="1106" y="13303"/>
                    <a:pt x="1106" y="13351"/>
                    <a:pt x="1155" y="13351"/>
                  </a:cubicBezTo>
                  <a:cubicBezTo>
                    <a:pt x="1155" y="13351"/>
                    <a:pt x="1203" y="13399"/>
                    <a:pt x="1203" y="13399"/>
                  </a:cubicBezTo>
                  <a:cubicBezTo>
                    <a:pt x="1251" y="13399"/>
                    <a:pt x="1251" y="13446"/>
                    <a:pt x="1299" y="13446"/>
                  </a:cubicBezTo>
                  <a:cubicBezTo>
                    <a:pt x="1299" y="13494"/>
                    <a:pt x="1299" y="13542"/>
                    <a:pt x="1299" y="13542"/>
                  </a:cubicBezTo>
                  <a:cubicBezTo>
                    <a:pt x="1299" y="13589"/>
                    <a:pt x="1299" y="13637"/>
                    <a:pt x="1299" y="13637"/>
                  </a:cubicBezTo>
                  <a:cubicBezTo>
                    <a:pt x="1347" y="13685"/>
                    <a:pt x="1347" y="13685"/>
                    <a:pt x="1395" y="13732"/>
                  </a:cubicBezTo>
                  <a:cubicBezTo>
                    <a:pt x="1395" y="13732"/>
                    <a:pt x="1443" y="13732"/>
                    <a:pt x="1443" y="13732"/>
                  </a:cubicBezTo>
                  <a:cubicBezTo>
                    <a:pt x="1491" y="13780"/>
                    <a:pt x="1491" y="13780"/>
                    <a:pt x="1491" y="13780"/>
                  </a:cubicBezTo>
                  <a:cubicBezTo>
                    <a:pt x="1539" y="13828"/>
                    <a:pt x="1539" y="13828"/>
                    <a:pt x="1636" y="13828"/>
                  </a:cubicBezTo>
                  <a:cubicBezTo>
                    <a:pt x="1636" y="13828"/>
                    <a:pt x="1636" y="13828"/>
                    <a:pt x="1684" y="13828"/>
                  </a:cubicBezTo>
                  <a:cubicBezTo>
                    <a:pt x="1732" y="13828"/>
                    <a:pt x="1732" y="13828"/>
                    <a:pt x="1780" y="13828"/>
                  </a:cubicBezTo>
                  <a:cubicBezTo>
                    <a:pt x="1828" y="13780"/>
                    <a:pt x="1876" y="13780"/>
                    <a:pt x="1972" y="13780"/>
                  </a:cubicBezTo>
                  <a:cubicBezTo>
                    <a:pt x="2020" y="13780"/>
                    <a:pt x="2069" y="13780"/>
                    <a:pt x="2117" y="13780"/>
                  </a:cubicBezTo>
                  <a:cubicBezTo>
                    <a:pt x="3127" y="14114"/>
                    <a:pt x="3127" y="14114"/>
                    <a:pt x="3127" y="14114"/>
                  </a:cubicBezTo>
                  <a:cubicBezTo>
                    <a:pt x="3608" y="15354"/>
                    <a:pt x="3608" y="15354"/>
                    <a:pt x="3608" y="15354"/>
                  </a:cubicBezTo>
                  <a:cubicBezTo>
                    <a:pt x="3656" y="15354"/>
                    <a:pt x="3656" y="15354"/>
                    <a:pt x="3656" y="15354"/>
                  </a:cubicBezTo>
                  <a:cubicBezTo>
                    <a:pt x="5147" y="15640"/>
                    <a:pt x="5821" y="15830"/>
                    <a:pt x="5869" y="15926"/>
                  </a:cubicBezTo>
                  <a:cubicBezTo>
                    <a:pt x="6783" y="16784"/>
                    <a:pt x="6783" y="16784"/>
                    <a:pt x="6783" y="16784"/>
                  </a:cubicBezTo>
                  <a:cubicBezTo>
                    <a:pt x="9140" y="15449"/>
                    <a:pt x="9140" y="15449"/>
                    <a:pt x="9140" y="15449"/>
                  </a:cubicBezTo>
                  <a:cubicBezTo>
                    <a:pt x="20253" y="21600"/>
                    <a:pt x="20253" y="21600"/>
                    <a:pt x="20253" y="21600"/>
                  </a:cubicBezTo>
                  <a:cubicBezTo>
                    <a:pt x="20253" y="21457"/>
                    <a:pt x="20253" y="21457"/>
                    <a:pt x="20253" y="21457"/>
                  </a:cubicBezTo>
                  <a:lnTo>
                    <a:pt x="20205" y="20885"/>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38" name="Shape">
              <a:extLst>
                <a:ext uri="{FF2B5EF4-FFF2-40B4-BE49-F238E27FC236}">
                  <a16:creationId xmlns:a16="http://schemas.microsoft.com/office/drawing/2014/main" id="{972634AA-B408-344F-B2C6-C7962E9BBBDC}"/>
                </a:ext>
              </a:extLst>
            </p:cNvPr>
            <p:cNvSpPr/>
            <p:nvPr/>
          </p:nvSpPr>
          <p:spPr>
            <a:xfrm>
              <a:off x="4182149" y="4934871"/>
              <a:ext cx="135147" cy="154030"/>
            </a:xfrm>
            <a:custGeom>
              <a:avLst/>
              <a:gdLst/>
              <a:ahLst/>
              <a:cxnLst>
                <a:cxn ang="0">
                  <a:pos x="wd2" y="hd2"/>
                </a:cxn>
                <a:cxn ang="5400000">
                  <a:pos x="wd2" y="hd2"/>
                </a:cxn>
                <a:cxn ang="10800000">
                  <a:pos x="wd2" y="hd2"/>
                </a:cxn>
                <a:cxn ang="16200000">
                  <a:pos x="wd2" y="hd2"/>
                </a:cxn>
              </a:cxnLst>
              <a:rect l="0" t="0" r="r" b="b"/>
              <a:pathLst>
                <a:path w="21600" h="21600" extrusionOk="0">
                  <a:moveTo>
                    <a:pt x="18514" y="2512"/>
                  </a:moveTo>
                  <a:cubicBezTo>
                    <a:pt x="18514" y="1507"/>
                    <a:pt x="18514" y="502"/>
                    <a:pt x="17280" y="0"/>
                  </a:cubicBezTo>
                  <a:cubicBezTo>
                    <a:pt x="17280" y="0"/>
                    <a:pt x="16663" y="0"/>
                    <a:pt x="16663" y="0"/>
                  </a:cubicBezTo>
                  <a:cubicBezTo>
                    <a:pt x="14194" y="0"/>
                    <a:pt x="11109" y="2009"/>
                    <a:pt x="7406" y="4019"/>
                  </a:cubicBezTo>
                  <a:cubicBezTo>
                    <a:pt x="5554" y="5023"/>
                    <a:pt x="4320" y="5526"/>
                    <a:pt x="3703" y="6028"/>
                  </a:cubicBezTo>
                  <a:cubicBezTo>
                    <a:pt x="3086" y="6028"/>
                    <a:pt x="3086" y="6028"/>
                    <a:pt x="3086" y="6028"/>
                  </a:cubicBezTo>
                  <a:cubicBezTo>
                    <a:pt x="2469" y="6530"/>
                    <a:pt x="2469" y="6530"/>
                    <a:pt x="2469" y="6530"/>
                  </a:cubicBezTo>
                  <a:cubicBezTo>
                    <a:pt x="2469" y="7535"/>
                    <a:pt x="1234" y="9042"/>
                    <a:pt x="617" y="10047"/>
                  </a:cubicBezTo>
                  <a:cubicBezTo>
                    <a:pt x="0" y="10549"/>
                    <a:pt x="0" y="10549"/>
                    <a:pt x="0" y="10549"/>
                  </a:cubicBezTo>
                  <a:cubicBezTo>
                    <a:pt x="617" y="11051"/>
                    <a:pt x="617" y="11051"/>
                    <a:pt x="617" y="11051"/>
                  </a:cubicBezTo>
                  <a:cubicBezTo>
                    <a:pt x="617" y="11051"/>
                    <a:pt x="617" y="11553"/>
                    <a:pt x="617" y="11553"/>
                  </a:cubicBezTo>
                  <a:cubicBezTo>
                    <a:pt x="617" y="12056"/>
                    <a:pt x="1234" y="12558"/>
                    <a:pt x="1234" y="13060"/>
                  </a:cubicBezTo>
                  <a:cubicBezTo>
                    <a:pt x="1851" y="13563"/>
                    <a:pt x="1851" y="13563"/>
                    <a:pt x="1851" y="13563"/>
                  </a:cubicBezTo>
                  <a:cubicBezTo>
                    <a:pt x="1851" y="14065"/>
                    <a:pt x="1851" y="14065"/>
                    <a:pt x="1851" y="14065"/>
                  </a:cubicBezTo>
                  <a:cubicBezTo>
                    <a:pt x="3086" y="15572"/>
                    <a:pt x="3086" y="16577"/>
                    <a:pt x="2469" y="18084"/>
                  </a:cubicBezTo>
                  <a:cubicBezTo>
                    <a:pt x="2469" y="19088"/>
                    <a:pt x="2469" y="20093"/>
                    <a:pt x="2469" y="21098"/>
                  </a:cubicBezTo>
                  <a:cubicBezTo>
                    <a:pt x="2469" y="21600"/>
                    <a:pt x="2469" y="21600"/>
                    <a:pt x="2469" y="21600"/>
                  </a:cubicBezTo>
                  <a:cubicBezTo>
                    <a:pt x="11109" y="21600"/>
                    <a:pt x="11109" y="21600"/>
                    <a:pt x="11109" y="21600"/>
                  </a:cubicBezTo>
                  <a:cubicBezTo>
                    <a:pt x="11109" y="20595"/>
                    <a:pt x="11109" y="20595"/>
                    <a:pt x="11109" y="20595"/>
                  </a:cubicBezTo>
                  <a:cubicBezTo>
                    <a:pt x="11109" y="20093"/>
                    <a:pt x="11109" y="19088"/>
                    <a:pt x="11109" y="18084"/>
                  </a:cubicBezTo>
                  <a:cubicBezTo>
                    <a:pt x="11109" y="16577"/>
                    <a:pt x="10491" y="14567"/>
                    <a:pt x="11109" y="12558"/>
                  </a:cubicBezTo>
                  <a:cubicBezTo>
                    <a:pt x="11109" y="12056"/>
                    <a:pt x="11109" y="12056"/>
                    <a:pt x="11109" y="11553"/>
                  </a:cubicBezTo>
                  <a:cubicBezTo>
                    <a:pt x="11109" y="11051"/>
                    <a:pt x="10491" y="10549"/>
                    <a:pt x="11109" y="10549"/>
                  </a:cubicBezTo>
                  <a:cubicBezTo>
                    <a:pt x="11109" y="9544"/>
                    <a:pt x="12343" y="9042"/>
                    <a:pt x="12960" y="8540"/>
                  </a:cubicBezTo>
                  <a:cubicBezTo>
                    <a:pt x="13577" y="8037"/>
                    <a:pt x="14194" y="7535"/>
                    <a:pt x="14811" y="7033"/>
                  </a:cubicBezTo>
                  <a:cubicBezTo>
                    <a:pt x="14811" y="6530"/>
                    <a:pt x="14811" y="6530"/>
                    <a:pt x="14811" y="6028"/>
                  </a:cubicBezTo>
                  <a:cubicBezTo>
                    <a:pt x="15429" y="5526"/>
                    <a:pt x="16046" y="5023"/>
                    <a:pt x="17280" y="4521"/>
                  </a:cubicBezTo>
                  <a:cubicBezTo>
                    <a:pt x="17280" y="4521"/>
                    <a:pt x="17897" y="4019"/>
                    <a:pt x="18514" y="4019"/>
                  </a:cubicBezTo>
                  <a:cubicBezTo>
                    <a:pt x="21600" y="4019"/>
                    <a:pt x="21600" y="4019"/>
                    <a:pt x="21600" y="4019"/>
                  </a:cubicBezTo>
                  <a:lnTo>
                    <a:pt x="18514" y="2512"/>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39" name="Shape">
              <a:extLst>
                <a:ext uri="{FF2B5EF4-FFF2-40B4-BE49-F238E27FC236}">
                  <a16:creationId xmlns:a16="http://schemas.microsoft.com/office/drawing/2014/main" id="{CF46E1F0-CC76-A240-8626-B1AAC419D80F}"/>
                </a:ext>
              </a:extLst>
            </p:cNvPr>
            <p:cNvSpPr/>
            <p:nvPr/>
          </p:nvSpPr>
          <p:spPr>
            <a:xfrm>
              <a:off x="6095652" y="4688028"/>
              <a:ext cx="218420" cy="258692"/>
            </a:xfrm>
            <a:custGeom>
              <a:avLst/>
              <a:gdLst/>
              <a:ahLst/>
              <a:cxnLst>
                <a:cxn ang="0">
                  <a:pos x="wd2" y="hd2"/>
                </a:cxn>
                <a:cxn ang="5400000">
                  <a:pos x="wd2" y="hd2"/>
                </a:cxn>
                <a:cxn ang="10800000">
                  <a:pos x="wd2" y="hd2"/>
                </a:cxn>
                <a:cxn ang="16200000">
                  <a:pos x="wd2" y="hd2"/>
                </a:cxn>
              </a:cxnLst>
              <a:rect l="0" t="0" r="r" b="b"/>
              <a:pathLst>
                <a:path w="20946" h="21600" extrusionOk="0">
                  <a:moveTo>
                    <a:pt x="20483" y="7200"/>
                  </a:moveTo>
                  <a:cubicBezTo>
                    <a:pt x="20110" y="6900"/>
                    <a:pt x="19366" y="6600"/>
                    <a:pt x="18993" y="6300"/>
                  </a:cubicBezTo>
                  <a:cubicBezTo>
                    <a:pt x="18993" y="6300"/>
                    <a:pt x="18621" y="6300"/>
                    <a:pt x="18248" y="6000"/>
                  </a:cubicBezTo>
                  <a:cubicBezTo>
                    <a:pt x="17876" y="6000"/>
                    <a:pt x="17503" y="6000"/>
                    <a:pt x="17131" y="5700"/>
                  </a:cubicBezTo>
                  <a:cubicBezTo>
                    <a:pt x="16759" y="5400"/>
                    <a:pt x="16759" y="4500"/>
                    <a:pt x="17131" y="3600"/>
                  </a:cubicBezTo>
                  <a:cubicBezTo>
                    <a:pt x="17131" y="3300"/>
                    <a:pt x="17131" y="3000"/>
                    <a:pt x="17503" y="2700"/>
                  </a:cubicBezTo>
                  <a:cubicBezTo>
                    <a:pt x="17503" y="2700"/>
                    <a:pt x="17503" y="2400"/>
                    <a:pt x="17131" y="2100"/>
                  </a:cubicBezTo>
                  <a:cubicBezTo>
                    <a:pt x="17131" y="1800"/>
                    <a:pt x="17131" y="1500"/>
                    <a:pt x="17503" y="1200"/>
                  </a:cubicBezTo>
                  <a:cubicBezTo>
                    <a:pt x="17876" y="600"/>
                    <a:pt x="17876" y="600"/>
                    <a:pt x="17876" y="600"/>
                  </a:cubicBezTo>
                  <a:cubicBezTo>
                    <a:pt x="17131" y="300"/>
                    <a:pt x="17131" y="300"/>
                    <a:pt x="17131" y="300"/>
                  </a:cubicBezTo>
                  <a:cubicBezTo>
                    <a:pt x="17131" y="300"/>
                    <a:pt x="16759" y="0"/>
                    <a:pt x="16014" y="0"/>
                  </a:cubicBezTo>
                  <a:cubicBezTo>
                    <a:pt x="16014" y="0"/>
                    <a:pt x="16014" y="0"/>
                    <a:pt x="16014" y="0"/>
                  </a:cubicBezTo>
                  <a:cubicBezTo>
                    <a:pt x="15269" y="0"/>
                    <a:pt x="14897" y="300"/>
                    <a:pt x="14152" y="300"/>
                  </a:cubicBezTo>
                  <a:cubicBezTo>
                    <a:pt x="13779" y="600"/>
                    <a:pt x="13407" y="600"/>
                    <a:pt x="13034" y="900"/>
                  </a:cubicBezTo>
                  <a:cubicBezTo>
                    <a:pt x="12662" y="900"/>
                    <a:pt x="12662" y="900"/>
                    <a:pt x="12290" y="900"/>
                  </a:cubicBezTo>
                  <a:cubicBezTo>
                    <a:pt x="11545" y="900"/>
                    <a:pt x="11172" y="900"/>
                    <a:pt x="10800" y="1800"/>
                  </a:cubicBezTo>
                  <a:cubicBezTo>
                    <a:pt x="10800" y="2100"/>
                    <a:pt x="10800" y="2400"/>
                    <a:pt x="10800" y="2700"/>
                  </a:cubicBezTo>
                  <a:cubicBezTo>
                    <a:pt x="10428" y="3600"/>
                    <a:pt x="10428" y="3900"/>
                    <a:pt x="9310" y="4200"/>
                  </a:cubicBezTo>
                  <a:cubicBezTo>
                    <a:pt x="8566" y="4500"/>
                    <a:pt x="7821" y="4800"/>
                    <a:pt x="6703" y="4800"/>
                  </a:cubicBezTo>
                  <a:cubicBezTo>
                    <a:pt x="6331" y="4800"/>
                    <a:pt x="5959" y="4500"/>
                    <a:pt x="5586" y="4500"/>
                  </a:cubicBezTo>
                  <a:cubicBezTo>
                    <a:pt x="5214" y="4200"/>
                    <a:pt x="4841" y="3900"/>
                    <a:pt x="4469" y="3600"/>
                  </a:cubicBezTo>
                  <a:cubicBezTo>
                    <a:pt x="4097" y="3000"/>
                    <a:pt x="3724" y="2700"/>
                    <a:pt x="2979" y="2400"/>
                  </a:cubicBezTo>
                  <a:cubicBezTo>
                    <a:pt x="2607" y="2400"/>
                    <a:pt x="2607" y="2400"/>
                    <a:pt x="2607" y="2400"/>
                  </a:cubicBezTo>
                  <a:cubicBezTo>
                    <a:pt x="1490" y="2400"/>
                    <a:pt x="372" y="3600"/>
                    <a:pt x="372" y="3900"/>
                  </a:cubicBezTo>
                  <a:cubicBezTo>
                    <a:pt x="0" y="4200"/>
                    <a:pt x="0" y="4200"/>
                    <a:pt x="0" y="4200"/>
                  </a:cubicBezTo>
                  <a:cubicBezTo>
                    <a:pt x="372" y="4500"/>
                    <a:pt x="372" y="4500"/>
                    <a:pt x="372" y="4500"/>
                  </a:cubicBezTo>
                  <a:cubicBezTo>
                    <a:pt x="745" y="5400"/>
                    <a:pt x="1117" y="6000"/>
                    <a:pt x="2234" y="6900"/>
                  </a:cubicBezTo>
                  <a:cubicBezTo>
                    <a:pt x="2979" y="7500"/>
                    <a:pt x="2979" y="8100"/>
                    <a:pt x="2979" y="9000"/>
                  </a:cubicBezTo>
                  <a:cubicBezTo>
                    <a:pt x="2979" y="9000"/>
                    <a:pt x="2979" y="9300"/>
                    <a:pt x="2979" y="9600"/>
                  </a:cubicBezTo>
                  <a:cubicBezTo>
                    <a:pt x="2979" y="10800"/>
                    <a:pt x="2979" y="10800"/>
                    <a:pt x="2979" y="10800"/>
                  </a:cubicBezTo>
                  <a:cubicBezTo>
                    <a:pt x="2979" y="12000"/>
                    <a:pt x="2979" y="13500"/>
                    <a:pt x="2979" y="14700"/>
                  </a:cubicBezTo>
                  <a:cubicBezTo>
                    <a:pt x="2979" y="15300"/>
                    <a:pt x="2979" y="15300"/>
                    <a:pt x="2979" y="15300"/>
                  </a:cubicBezTo>
                  <a:cubicBezTo>
                    <a:pt x="3352" y="15300"/>
                    <a:pt x="3352" y="15300"/>
                    <a:pt x="3352" y="15300"/>
                  </a:cubicBezTo>
                  <a:cubicBezTo>
                    <a:pt x="3352" y="15300"/>
                    <a:pt x="3352" y="15300"/>
                    <a:pt x="3352" y="15300"/>
                  </a:cubicBezTo>
                  <a:cubicBezTo>
                    <a:pt x="4469" y="16200"/>
                    <a:pt x="6703" y="19200"/>
                    <a:pt x="7076" y="20400"/>
                  </a:cubicBezTo>
                  <a:cubicBezTo>
                    <a:pt x="7076" y="20400"/>
                    <a:pt x="7076" y="20700"/>
                    <a:pt x="7076" y="21000"/>
                  </a:cubicBezTo>
                  <a:cubicBezTo>
                    <a:pt x="7076" y="21600"/>
                    <a:pt x="7076" y="21600"/>
                    <a:pt x="7076" y="21600"/>
                  </a:cubicBezTo>
                  <a:cubicBezTo>
                    <a:pt x="7821" y="21600"/>
                    <a:pt x="7821" y="21600"/>
                    <a:pt x="7821" y="21600"/>
                  </a:cubicBezTo>
                  <a:cubicBezTo>
                    <a:pt x="7821" y="21600"/>
                    <a:pt x="8193" y="21600"/>
                    <a:pt x="8193" y="21600"/>
                  </a:cubicBezTo>
                  <a:cubicBezTo>
                    <a:pt x="8938" y="21600"/>
                    <a:pt x="9310" y="21300"/>
                    <a:pt x="9683" y="21000"/>
                  </a:cubicBezTo>
                  <a:cubicBezTo>
                    <a:pt x="9683" y="21000"/>
                    <a:pt x="9683" y="21000"/>
                    <a:pt x="10055" y="20700"/>
                  </a:cubicBezTo>
                  <a:cubicBezTo>
                    <a:pt x="10055" y="20700"/>
                    <a:pt x="10055" y="20400"/>
                    <a:pt x="10428" y="20400"/>
                  </a:cubicBezTo>
                  <a:cubicBezTo>
                    <a:pt x="10428" y="20400"/>
                    <a:pt x="10800" y="20400"/>
                    <a:pt x="10800" y="20400"/>
                  </a:cubicBezTo>
                  <a:cubicBezTo>
                    <a:pt x="11172" y="20400"/>
                    <a:pt x="11172" y="20400"/>
                    <a:pt x="11545" y="20100"/>
                  </a:cubicBezTo>
                  <a:cubicBezTo>
                    <a:pt x="11545" y="19800"/>
                    <a:pt x="11917" y="19800"/>
                    <a:pt x="12290" y="19500"/>
                  </a:cubicBezTo>
                  <a:cubicBezTo>
                    <a:pt x="12662" y="19200"/>
                    <a:pt x="12662" y="19200"/>
                    <a:pt x="13034" y="18900"/>
                  </a:cubicBezTo>
                  <a:cubicBezTo>
                    <a:pt x="13407" y="18600"/>
                    <a:pt x="13779" y="18000"/>
                    <a:pt x="13779" y="17700"/>
                  </a:cubicBezTo>
                  <a:cubicBezTo>
                    <a:pt x="13779" y="17400"/>
                    <a:pt x="13779" y="17100"/>
                    <a:pt x="14152" y="17100"/>
                  </a:cubicBezTo>
                  <a:cubicBezTo>
                    <a:pt x="14524" y="16500"/>
                    <a:pt x="14897" y="15900"/>
                    <a:pt x="15269" y="15300"/>
                  </a:cubicBezTo>
                  <a:cubicBezTo>
                    <a:pt x="16014" y="14400"/>
                    <a:pt x="16386" y="13200"/>
                    <a:pt x="16759" y="12300"/>
                  </a:cubicBezTo>
                  <a:cubicBezTo>
                    <a:pt x="17131" y="11400"/>
                    <a:pt x="17876" y="11100"/>
                    <a:pt x="18993" y="10500"/>
                  </a:cubicBezTo>
                  <a:cubicBezTo>
                    <a:pt x="19366" y="10200"/>
                    <a:pt x="19366" y="10200"/>
                    <a:pt x="19366" y="10200"/>
                  </a:cubicBezTo>
                  <a:cubicBezTo>
                    <a:pt x="20483" y="9300"/>
                    <a:pt x="21600" y="8400"/>
                    <a:pt x="20483" y="720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40" name="Shape">
              <a:extLst>
                <a:ext uri="{FF2B5EF4-FFF2-40B4-BE49-F238E27FC236}">
                  <a16:creationId xmlns:a16="http://schemas.microsoft.com/office/drawing/2014/main" id="{F73D5EA3-2D79-D34B-8063-D2E38F90E1B2}"/>
                </a:ext>
              </a:extLst>
            </p:cNvPr>
            <p:cNvSpPr/>
            <p:nvPr/>
          </p:nvSpPr>
          <p:spPr>
            <a:xfrm>
              <a:off x="5282629" y="1686426"/>
              <a:ext cx="1855582" cy="2314393"/>
            </a:xfrm>
            <a:custGeom>
              <a:avLst/>
              <a:gdLst/>
              <a:ahLst/>
              <a:cxnLst>
                <a:cxn ang="0">
                  <a:pos x="wd2" y="hd2"/>
                </a:cxn>
                <a:cxn ang="5400000">
                  <a:pos x="wd2" y="hd2"/>
                </a:cxn>
                <a:cxn ang="10800000">
                  <a:pos x="wd2" y="hd2"/>
                </a:cxn>
                <a:cxn ang="16200000">
                  <a:pos x="wd2" y="hd2"/>
                </a:cxn>
              </a:cxnLst>
              <a:rect l="0" t="0" r="r" b="b"/>
              <a:pathLst>
                <a:path w="21600" h="21600" extrusionOk="0">
                  <a:moveTo>
                    <a:pt x="21555" y="5550"/>
                  </a:moveTo>
                  <a:cubicBezTo>
                    <a:pt x="21555" y="5550"/>
                    <a:pt x="21555" y="5550"/>
                    <a:pt x="21555" y="5550"/>
                  </a:cubicBezTo>
                  <a:cubicBezTo>
                    <a:pt x="21509" y="5517"/>
                    <a:pt x="21464" y="5484"/>
                    <a:pt x="21419" y="5484"/>
                  </a:cubicBezTo>
                  <a:cubicBezTo>
                    <a:pt x="21374" y="5450"/>
                    <a:pt x="21328" y="5450"/>
                    <a:pt x="21328" y="5450"/>
                  </a:cubicBezTo>
                  <a:cubicBezTo>
                    <a:pt x="21328" y="5417"/>
                    <a:pt x="21283" y="5417"/>
                    <a:pt x="21283" y="5417"/>
                  </a:cubicBezTo>
                  <a:cubicBezTo>
                    <a:pt x="21238" y="5383"/>
                    <a:pt x="21192" y="5350"/>
                    <a:pt x="21057" y="5316"/>
                  </a:cubicBezTo>
                  <a:cubicBezTo>
                    <a:pt x="21057" y="5316"/>
                    <a:pt x="21011" y="5316"/>
                    <a:pt x="21011" y="5316"/>
                  </a:cubicBezTo>
                  <a:cubicBezTo>
                    <a:pt x="21011" y="5316"/>
                    <a:pt x="21011" y="5283"/>
                    <a:pt x="21011" y="5283"/>
                  </a:cubicBezTo>
                  <a:cubicBezTo>
                    <a:pt x="21011" y="5283"/>
                    <a:pt x="21011" y="5250"/>
                    <a:pt x="20966" y="5250"/>
                  </a:cubicBezTo>
                  <a:cubicBezTo>
                    <a:pt x="20966" y="5183"/>
                    <a:pt x="20875" y="5149"/>
                    <a:pt x="20830" y="5116"/>
                  </a:cubicBezTo>
                  <a:cubicBezTo>
                    <a:pt x="20785" y="5116"/>
                    <a:pt x="20785" y="5116"/>
                    <a:pt x="20785" y="5082"/>
                  </a:cubicBezTo>
                  <a:cubicBezTo>
                    <a:pt x="20694" y="5049"/>
                    <a:pt x="20649" y="5015"/>
                    <a:pt x="20604" y="4982"/>
                  </a:cubicBezTo>
                  <a:cubicBezTo>
                    <a:pt x="20558" y="4949"/>
                    <a:pt x="20558" y="4949"/>
                    <a:pt x="20558" y="4915"/>
                  </a:cubicBezTo>
                  <a:cubicBezTo>
                    <a:pt x="20513" y="4882"/>
                    <a:pt x="20468" y="4848"/>
                    <a:pt x="20332" y="4815"/>
                  </a:cubicBezTo>
                  <a:cubicBezTo>
                    <a:pt x="20332" y="4815"/>
                    <a:pt x="20287" y="4815"/>
                    <a:pt x="20287" y="4815"/>
                  </a:cubicBezTo>
                  <a:cubicBezTo>
                    <a:pt x="20287" y="4815"/>
                    <a:pt x="20242" y="4815"/>
                    <a:pt x="20196" y="4815"/>
                  </a:cubicBezTo>
                  <a:cubicBezTo>
                    <a:pt x="20196" y="4815"/>
                    <a:pt x="20151" y="4815"/>
                    <a:pt x="20151" y="4815"/>
                  </a:cubicBezTo>
                  <a:cubicBezTo>
                    <a:pt x="20106" y="4781"/>
                    <a:pt x="20060" y="4715"/>
                    <a:pt x="20060" y="4681"/>
                  </a:cubicBezTo>
                  <a:cubicBezTo>
                    <a:pt x="20060" y="4648"/>
                    <a:pt x="20060" y="4648"/>
                    <a:pt x="20060" y="4648"/>
                  </a:cubicBezTo>
                  <a:cubicBezTo>
                    <a:pt x="19970" y="4514"/>
                    <a:pt x="19925" y="4380"/>
                    <a:pt x="19879" y="4246"/>
                  </a:cubicBezTo>
                  <a:cubicBezTo>
                    <a:pt x="19834" y="4213"/>
                    <a:pt x="19834" y="4146"/>
                    <a:pt x="19834" y="4113"/>
                  </a:cubicBezTo>
                  <a:cubicBezTo>
                    <a:pt x="19834" y="4079"/>
                    <a:pt x="19834" y="4046"/>
                    <a:pt x="19834" y="3979"/>
                  </a:cubicBezTo>
                  <a:cubicBezTo>
                    <a:pt x="19834" y="3946"/>
                    <a:pt x="19789" y="3912"/>
                    <a:pt x="19789" y="3845"/>
                  </a:cubicBezTo>
                  <a:cubicBezTo>
                    <a:pt x="19743" y="3812"/>
                    <a:pt x="19743" y="3778"/>
                    <a:pt x="19743" y="3745"/>
                  </a:cubicBezTo>
                  <a:cubicBezTo>
                    <a:pt x="19743" y="3711"/>
                    <a:pt x="19698" y="3645"/>
                    <a:pt x="19698" y="3611"/>
                  </a:cubicBezTo>
                  <a:cubicBezTo>
                    <a:pt x="19653" y="3544"/>
                    <a:pt x="19653" y="3511"/>
                    <a:pt x="19653" y="3444"/>
                  </a:cubicBezTo>
                  <a:cubicBezTo>
                    <a:pt x="19608" y="3310"/>
                    <a:pt x="19608" y="3110"/>
                    <a:pt x="19653" y="2909"/>
                  </a:cubicBezTo>
                  <a:cubicBezTo>
                    <a:pt x="19653" y="2842"/>
                    <a:pt x="19608" y="2775"/>
                    <a:pt x="19608" y="2708"/>
                  </a:cubicBezTo>
                  <a:cubicBezTo>
                    <a:pt x="19608" y="2675"/>
                    <a:pt x="19562" y="2641"/>
                    <a:pt x="19562" y="2608"/>
                  </a:cubicBezTo>
                  <a:cubicBezTo>
                    <a:pt x="19562" y="2541"/>
                    <a:pt x="19562" y="2441"/>
                    <a:pt x="19517" y="2374"/>
                  </a:cubicBezTo>
                  <a:cubicBezTo>
                    <a:pt x="19517" y="2341"/>
                    <a:pt x="19517" y="2307"/>
                    <a:pt x="19562" y="2274"/>
                  </a:cubicBezTo>
                  <a:cubicBezTo>
                    <a:pt x="19562" y="2207"/>
                    <a:pt x="19562" y="2140"/>
                    <a:pt x="19517" y="2107"/>
                  </a:cubicBezTo>
                  <a:cubicBezTo>
                    <a:pt x="19472" y="2040"/>
                    <a:pt x="19426" y="1973"/>
                    <a:pt x="19381" y="1906"/>
                  </a:cubicBezTo>
                  <a:cubicBezTo>
                    <a:pt x="19336" y="1806"/>
                    <a:pt x="19245" y="1705"/>
                    <a:pt x="19200" y="1605"/>
                  </a:cubicBezTo>
                  <a:cubicBezTo>
                    <a:pt x="19155" y="1538"/>
                    <a:pt x="19155" y="1471"/>
                    <a:pt x="19155" y="1371"/>
                  </a:cubicBezTo>
                  <a:cubicBezTo>
                    <a:pt x="19109" y="1237"/>
                    <a:pt x="19109" y="1170"/>
                    <a:pt x="18974" y="1070"/>
                  </a:cubicBezTo>
                  <a:cubicBezTo>
                    <a:pt x="18928" y="1037"/>
                    <a:pt x="18838" y="1003"/>
                    <a:pt x="18792" y="970"/>
                  </a:cubicBezTo>
                  <a:cubicBezTo>
                    <a:pt x="18657" y="903"/>
                    <a:pt x="18566" y="836"/>
                    <a:pt x="18475" y="769"/>
                  </a:cubicBezTo>
                  <a:cubicBezTo>
                    <a:pt x="18430" y="736"/>
                    <a:pt x="18385" y="702"/>
                    <a:pt x="18385" y="669"/>
                  </a:cubicBezTo>
                  <a:cubicBezTo>
                    <a:pt x="18294" y="568"/>
                    <a:pt x="18204" y="435"/>
                    <a:pt x="17977" y="401"/>
                  </a:cubicBezTo>
                  <a:cubicBezTo>
                    <a:pt x="17977" y="401"/>
                    <a:pt x="17932" y="401"/>
                    <a:pt x="17887" y="401"/>
                  </a:cubicBezTo>
                  <a:cubicBezTo>
                    <a:pt x="17842" y="401"/>
                    <a:pt x="17796" y="401"/>
                    <a:pt x="17796" y="368"/>
                  </a:cubicBezTo>
                  <a:cubicBezTo>
                    <a:pt x="17706" y="334"/>
                    <a:pt x="17660" y="301"/>
                    <a:pt x="17615" y="267"/>
                  </a:cubicBezTo>
                  <a:cubicBezTo>
                    <a:pt x="17570" y="201"/>
                    <a:pt x="17525" y="134"/>
                    <a:pt x="17479" y="100"/>
                  </a:cubicBezTo>
                  <a:cubicBezTo>
                    <a:pt x="17389" y="0"/>
                    <a:pt x="17389" y="0"/>
                    <a:pt x="17389" y="0"/>
                  </a:cubicBezTo>
                  <a:cubicBezTo>
                    <a:pt x="17298" y="100"/>
                    <a:pt x="17298" y="100"/>
                    <a:pt x="17298" y="100"/>
                  </a:cubicBezTo>
                  <a:cubicBezTo>
                    <a:pt x="17208" y="167"/>
                    <a:pt x="17117" y="267"/>
                    <a:pt x="17026" y="301"/>
                  </a:cubicBezTo>
                  <a:cubicBezTo>
                    <a:pt x="16936" y="334"/>
                    <a:pt x="16891" y="334"/>
                    <a:pt x="16800" y="334"/>
                  </a:cubicBezTo>
                  <a:cubicBezTo>
                    <a:pt x="16709" y="334"/>
                    <a:pt x="16664" y="334"/>
                    <a:pt x="16574" y="401"/>
                  </a:cubicBezTo>
                  <a:cubicBezTo>
                    <a:pt x="16438" y="468"/>
                    <a:pt x="16392" y="568"/>
                    <a:pt x="16392" y="669"/>
                  </a:cubicBezTo>
                  <a:cubicBezTo>
                    <a:pt x="16302" y="802"/>
                    <a:pt x="16257" y="936"/>
                    <a:pt x="16075" y="970"/>
                  </a:cubicBezTo>
                  <a:cubicBezTo>
                    <a:pt x="16030" y="1003"/>
                    <a:pt x="15940" y="1003"/>
                    <a:pt x="15894" y="1003"/>
                  </a:cubicBezTo>
                  <a:cubicBezTo>
                    <a:pt x="15804" y="1003"/>
                    <a:pt x="15713" y="1003"/>
                    <a:pt x="15623" y="1070"/>
                  </a:cubicBezTo>
                  <a:cubicBezTo>
                    <a:pt x="15532" y="1137"/>
                    <a:pt x="15487" y="1204"/>
                    <a:pt x="15442" y="1271"/>
                  </a:cubicBezTo>
                  <a:cubicBezTo>
                    <a:pt x="15442" y="1337"/>
                    <a:pt x="15442" y="1371"/>
                    <a:pt x="15396" y="1404"/>
                  </a:cubicBezTo>
                  <a:cubicBezTo>
                    <a:pt x="15351" y="1505"/>
                    <a:pt x="15260" y="1538"/>
                    <a:pt x="15125" y="1572"/>
                  </a:cubicBezTo>
                  <a:cubicBezTo>
                    <a:pt x="15125" y="1572"/>
                    <a:pt x="15079" y="1572"/>
                    <a:pt x="15079" y="1572"/>
                  </a:cubicBezTo>
                  <a:cubicBezTo>
                    <a:pt x="14898" y="1572"/>
                    <a:pt x="14672" y="1471"/>
                    <a:pt x="14581" y="1404"/>
                  </a:cubicBezTo>
                  <a:cubicBezTo>
                    <a:pt x="14400" y="1271"/>
                    <a:pt x="14128" y="1271"/>
                    <a:pt x="13947" y="1271"/>
                  </a:cubicBezTo>
                  <a:cubicBezTo>
                    <a:pt x="13857" y="1271"/>
                    <a:pt x="13766" y="1271"/>
                    <a:pt x="13675" y="1271"/>
                  </a:cubicBezTo>
                  <a:cubicBezTo>
                    <a:pt x="13540" y="1271"/>
                    <a:pt x="13540" y="1271"/>
                    <a:pt x="13540" y="1271"/>
                  </a:cubicBezTo>
                  <a:cubicBezTo>
                    <a:pt x="13313" y="1271"/>
                    <a:pt x="13042" y="1271"/>
                    <a:pt x="12770" y="1271"/>
                  </a:cubicBezTo>
                  <a:cubicBezTo>
                    <a:pt x="12543" y="1271"/>
                    <a:pt x="12362" y="1271"/>
                    <a:pt x="12181" y="1271"/>
                  </a:cubicBezTo>
                  <a:cubicBezTo>
                    <a:pt x="12181" y="1237"/>
                    <a:pt x="12181" y="1237"/>
                    <a:pt x="12181" y="1204"/>
                  </a:cubicBezTo>
                  <a:cubicBezTo>
                    <a:pt x="12181" y="1103"/>
                    <a:pt x="12181" y="1070"/>
                    <a:pt x="12136" y="1037"/>
                  </a:cubicBezTo>
                  <a:cubicBezTo>
                    <a:pt x="12091" y="970"/>
                    <a:pt x="12091" y="970"/>
                    <a:pt x="12091" y="970"/>
                  </a:cubicBezTo>
                  <a:cubicBezTo>
                    <a:pt x="12045" y="1003"/>
                    <a:pt x="12045" y="1003"/>
                    <a:pt x="12045" y="1003"/>
                  </a:cubicBezTo>
                  <a:cubicBezTo>
                    <a:pt x="12045" y="1003"/>
                    <a:pt x="12045" y="1003"/>
                    <a:pt x="12045" y="1003"/>
                  </a:cubicBezTo>
                  <a:cubicBezTo>
                    <a:pt x="12000" y="1037"/>
                    <a:pt x="11955" y="1070"/>
                    <a:pt x="11909" y="1137"/>
                  </a:cubicBezTo>
                  <a:cubicBezTo>
                    <a:pt x="11864" y="1204"/>
                    <a:pt x="11819" y="1271"/>
                    <a:pt x="11728" y="1271"/>
                  </a:cubicBezTo>
                  <a:cubicBezTo>
                    <a:pt x="11728" y="1271"/>
                    <a:pt x="11728" y="1271"/>
                    <a:pt x="11683" y="1271"/>
                  </a:cubicBezTo>
                  <a:cubicBezTo>
                    <a:pt x="11683" y="1271"/>
                    <a:pt x="11638" y="1271"/>
                    <a:pt x="11592" y="1271"/>
                  </a:cubicBezTo>
                  <a:cubicBezTo>
                    <a:pt x="11592" y="1271"/>
                    <a:pt x="11547" y="1271"/>
                    <a:pt x="11502" y="1271"/>
                  </a:cubicBezTo>
                  <a:cubicBezTo>
                    <a:pt x="11457" y="1271"/>
                    <a:pt x="11411" y="1271"/>
                    <a:pt x="11366" y="1271"/>
                  </a:cubicBezTo>
                  <a:cubicBezTo>
                    <a:pt x="11230" y="1271"/>
                    <a:pt x="11094" y="1271"/>
                    <a:pt x="11004" y="1271"/>
                  </a:cubicBezTo>
                  <a:cubicBezTo>
                    <a:pt x="10777" y="1271"/>
                    <a:pt x="10777" y="1271"/>
                    <a:pt x="10777" y="1271"/>
                  </a:cubicBezTo>
                  <a:cubicBezTo>
                    <a:pt x="10234" y="1271"/>
                    <a:pt x="9600" y="1271"/>
                    <a:pt x="8921" y="1271"/>
                  </a:cubicBezTo>
                  <a:cubicBezTo>
                    <a:pt x="8332" y="1271"/>
                    <a:pt x="7743" y="1271"/>
                    <a:pt x="7155" y="1271"/>
                  </a:cubicBezTo>
                  <a:cubicBezTo>
                    <a:pt x="6430" y="1271"/>
                    <a:pt x="6430" y="1271"/>
                    <a:pt x="6430" y="1271"/>
                  </a:cubicBezTo>
                  <a:cubicBezTo>
                    <a:pt x="5932" y="1271"/>
                    <a:pt x="5479" y="1271"/>
                    <a:pt x="5026" y="1271"/>
                  </a:cubicBezTo>
                  <a:cubicBezTo>
                    <a:pt x="4619" y="1271"/>
                    <a:pt x="4211" y="1271"/>
                    <a:pt x="3804" y="1271"/>
                  </a:cubicBezTo>
                  <a:cubicBezTo>
                    <a:pt x="3713" y="1271"/>
                    <a:pt x="3713" y="1271"/>
                    <a:pt x="3713" y="1271"/>
                  </a:cubicBezTo>
                  <a:cubicBezTo>
                    <a:pt x="3804" y="3444"/>
                    <a:pt x="3804" y="3444"/>
                    <a:pt x="3804" y="3444"/>
                  </a:cubicBezTo>
                  <a:cubicBezTo>
                    <a:pt x="2536" y="3444"/>
                    <a:pt x="2536" y="3444"/>
                    <a:pt x="2536" y="3444"/>
                  </a:cubicBezTo>
                  <a:cubicBezTo>
                    <a:pt x="2536" y="3946"/>
                    <a:pt x="2536" y="3946"/>
                    <a:pt x="2536" y="3946"/>
                  </a:cubicBezTo>
                  <a:cubicBezTo>
                    <a:pt x="2581" y="4280"/>
                    <a:pt x="2581" y="4581"/>
                    <a:pt x="2581" y="4915"/>
                  </a:cubicBezTo>
                  <a:cubicBezTo>
                    <a:pt x="2581" y="5216"/>
                    <a:pt x="2581" y="5216"/>
                    <a:pt x="2581" y="5216"/>
                  </a:cubicBezTo>
                  <a:cubicBezTo>
                    <a:pt x="2626" y="5885"/>
                    <a:pt x="2626" y="6654"/>
                    <a:pt x="2672" y="7389"/>
                  </a:cubicBezTo>
                  <a:cubicBezTo>
                    <a:pt x="2672" y="7557"/>
                    <a:pt x="2672" y="7557"/>
                    <a:pt x="2672" y="7557"/>
                  </a:cubicBezTo>
                  <a:cubicBezTo>
                    <a:pt x="2672" y="7557"/>
                    <a:pt x="2672" y="7791"/>
                    <a:pt x="2672" y="7891"/>
                  </a:cubicBezTo>
                  <a:cubicBezTo>
                    <a:pt x="2672" y="7891"/>
                    <a:pt x="2672" y="7924"/>
                    <a:pt x="2672" y="7924"/>
                  </a:cubicBezTo>
                  <a:cubicBezTo>
                    <a:pt x="2717" y="7958"/>
                    <a:pt x="2717" y="8025"/>
                    <a:pt x="2717" y="8058"/>
                  </a:cubicBezTo>
                  <a:cubicBezTo>
                    <a:pt x="2672" y="8092"/>
                    <a:pt x="2672" y="8125"/>
                    <a:pt x="2626" y="8125"/>
                  </a:cubicBezTo>
                  <a:cubicBezTo>
                    <a:pt x="2626" y="8125"/>
                    <a:pt x="2626" y="8125"/>
                    <a:pt x="2581" y="8125"/>
                  </a:cubicBezTo>
                  <a:cubicBezTo>
                    <a:pt x="2536" y="8125"/>
                    <a:pt x="2491" y="8125"/>
                    <a:pt x="2445" y="8125"/>
                  </a:cubicBezTo>
                  <a:cubicBezTo>
                    <a:pt x="2445" y="8125"/>
                    <a:pt x="2400" y="8092"/>
                    <a:pt x="2355" y="8092"/>
                  </a:cubicBezTo>
                  <a:cubicBezTo>
                    <a:pt x="2355" y="8092"/>
                    <a:pt x="2355" y="8092"/>
                    <a:pt x="2309" y="8092"/>
                  </a:cubicBezTo>
                  <a:cubicBezTo>
                    <a:pt x="2219" y="8092"/>
                    <a:pt x="2174" y="8125"/>
                    <a:pt x="2083" y="8159"/>
                  </a:cubicBezTo>
                  <a:cubicBezTo>
                    <a:pt x="2038" y="8192"/>
                    <a:pt x="1992" y="8225"/>
                    <a:pt x="1902" y="8225"/>
                  </a:cubicBezTo>
                  <a:cubicBezTo>
                    <a:pt x="1902" y="8225"/>
                    <a:pt x="1902" y="8225"/>
                    <a:pt x="1902" y="8225"/>
                  </a:cubicBezTo>
                  <a:cubicBezTo>
                    <a:pt x="1857" y="8225"/>
                    <a:pt x="1811" y="8225"/>
                    <a:pt x="1766" y="8225"/>
                  </a:cubicBezTo>
                  <a:cubicBezTo>
                    <a:pt x="1721" y="8225"/>
                    <a:pt x="1675" y="8192"/>
                    <a:pt x="1630" y="8192"/>
                  </a:cubicBezTo>
                  <a:cubicBezTo>
                    <a:pt x="1540" y="8192"/>
                    <a:pt x="1449" y="8225"/>
                    <a:pt x="1404" y="8292"/>
                  </a:cubicBezTo>
                  <a:cubicBezTo>
                    <a:pt x="1313" y="8393"/>
                    <a:pt x="1358" y="8459"/>
                    <a:pt x="1404" y="8560"/>
                  </a:cubicBezTo>
                  <a:cubicBezTo>
                    <a:pt x="1404" y="8627"/>
                    <a:pt x="1449" y="8693"/>
                    <a:pt x="1358" y="8760"/>
                  </a:cubicBezTo>
                  <a:cubicBezTo>
                    <a:pt x="1358" y="8827"/>
                    <a:pt x="1268" y="8861"/>
                    <a:pt x="1223" y="8928"/>
                  </a:cubicBezTo>
                  <a:cubicBezTo>
                    <a:pt x="1132" y="8961"/>
                    <a:pt x="1042" y="9028"/>
                    <a:pt x="1042" y="9095"/>
                  </a:cubicBezTo>
                  <a:cubicBezTo>
                    <a:pt x="996" y="9128"/>
                    <a:pt x="996" y="9162"/>
                    <a:pt x="996" y="9195"/>
                  </a:cubicBezTo>
                  <a:cubicBezTo>
                    <a:pt x="996" y="9262"/>
                    <a:pt x="996" y="9295"/>
                    <a:pt x="996" y="9329"/>
                  </a:cubicBezTo>
                  <a:cubicBezTo>
                    <a:pt x="951" y="9362"/>
                    <a:pt x="906" y="9362"/>
                    <a:pt x="815" y="9396"/>
                  </a:cubicBezTo>
                  <a:cubicBezTo>
                    <a:pt x="770" y="9396"/>
                    <a:pt x="725" y="9396"/>
                    <a:pt x="679" y="9429"/>
                  </a:cubicBezTo>
                  <a:cubicBezTo>
                    <a:pt x="589" y="9529"/>
                    <a:pt x="679" y="9596"/>
                    <a:pt x="770" y="9663"/>
                  </a:cubicBezTo>
                  <a:cubicBezTo>
                    <a:pt x="860" y="9730"/>
                    <a:pt x="951" y="9797"/>
                    <a:pt x="906" y="9864"/>
                  </a:cubicBezTo>
                  <a:cubicBezTo>
                    <a:pt x="860" y="9931"/>
                    <a:pt x="770" y="9931"/>
                    <a:pt x="725" y="9964"/>
                  </a:cubicBezTo>
                  <a:cubicBezTo>
                    <a:pt x="679" y="9964"/>
                    <a:pt x="634" y="9998"/>
                    <a:pt x="634" y="9998"/>
                  </a:cubicBezTo>
                  <a:cubicBezTo>
                    <a:pt x="543" y="10031"/>
                    <a:pt x="453" y="10098"/>
                    <a:pt x="408" y="10165"/>
                  </a:cubicBezTo>
                  <a:cubicBezTo>
                    <a:pt x="226" y="10298"/>
                    <a:pt x="272" y="10399"/>
                    <a:pt x="408" y="10566"/>
                  </a:cubicBezTo>
                  <a:cubicBezTo>
                    <a:pt x="408" y="10566"/>
                    <a:pt x="408" y="10599"/>
                    <a:pt x="453" y="10599"/>
                  </a:cubicBezTo>
                  <a:cubicBezTo>
                    <a:pt x="498" y="10666"/>
                    <a:pt x="543" y="10700"/>
                    <a:pt x="543" y="10767"/>
                  </a:cubicBezTo>
                  <a:cubicBezTo>
                    <a:pt x="498" y="10833"/>
                    <a:pt x="453" y="10833"/>
                    <a:pt x="408" y="10867"/>
                  </a:cubicBezTo>
                  <a:cubicBezTo>
                    <a:pt x="362" y="10867"/>
                    <a:pt x="362" y="10867"/>
                    <a:pt x="317" y="10900"/>
                  </a:cubicBezTo>
                  <a:cubicBezTo>
                    <a:pt x="136" y="10967"/>
                    <a:pt x="0" y="11168"/>
                    <a:pt x="0" y="11335"/>
                  </a:cubicBezTo>
                  <a:cubicBezTo>
                    <a:pt x="0" y="11402"/>
                    <a:pt x="0" y="11502"/>
                    <a:pt x="136" y="11536"/>
                  </a:cubicBezTo>
                  <a:cubicBezTo>
                    <a:pt x="181" y="11569"/>
                    <a:pt x="181" y="11569"/>
                    <a:pt x="226" y="11569"/>
                  </a:cubicBezTo>
                  <a:cubicBezTo>
                    <a:pt x="272" y="11569"/>
                    <a:pt x="272" y="11569"/>
                    <a:pt x="317" y="11536"/>
                  </a:cubicBezTo>
                  <a:cubicBezTo>
                    <a:pt x="362" y="11536"/>
                    <a:pt x="408" y="11502"/>
                    <a:pt x="408" y="11435"/>
                  </a:cubicBezTo>
                  <a:cubicBezTo>
                    <a:pt x="408" y="11435"/>
                    <a:pt x="453" y="11435"/>
                    <a:pt x="453" y="11435"/>
                  </a:cubicBezTo>
                  <a:cubicBezTo>
                    <a:pt x="543" y="11435"/>
                    <a:pt x="634" y="11469"/>
                    <a:pt x="679" y="11502"/>
                  </a:cubicBezTo>
                  <a:cubicBezTo>
                    <a:pt x="725" y="11569"/>
                    <a:pt x="725" y="11669"/>
                    <a:pt x="679" y="11770"/>
                  </a:cubicBezTo>
                  <a:cubicBezTo>
                    <a:pt x="634" y="11870"/>
                    <a:pt x="725" y="11970"/>
                    <a:pt x="815" y="12037"/>
                  </a:cubicBezTo>
                  <a:cubicBezTo>
                    <a:pt x="860" y="12071"/>
                    <a:pt x="906" y="12137"/>
                    <a:pt x="951" y="12171"/>
                  </a:cubicBezTo>
                  <a:cubicBezTo>
                    <a:pt x="996" y="12271"/>
                    <a:pt x="996" y="12338"/>
                    <a:pt x="951" y="12438"/>
                  </a:cubicBezTo>
                  <a:cubicBezTo>
                    <a:pt x="906" y="12539"/>
                    <a:pt x="906" y="12639"/>
                    <a:pt x="996" y="12706"/>
                  </a:cubicBezTo>
                  <a:cubicBezTo>
                    <a:pt x="1087" y="12773"/>
                    <a:pt x="1132" y="12806"/>
                    <a:pt x="1223" y="12806"/>
                  </a:cubicBezTo>
                  <a:cubicBezTo>
                    <a:pt x="1268" y="12806"/>
                    <a:pt x="1313" y="12840"/>
                    <a:pt x="1358" y="12840"/>
                  </a:cubicBezTo>
                  <a:cubicBezTo>
                    <a:pt x="1449" y="12907"/>
                    <a:pt x="1494" y="12973"/>
                    <a:pt x="1494" y="13074"/>
                  </a:cubicBezTo>
                  <a:cubicBezTo>
                    <a:pt x="1494" y="13207"/>
                    <a:pt x="1449" y="13274"/>
                    <a:pt x="1404" y="13375"/>
                  </a:cubicBezTo>
                  <a:cubicBezTo>
                    <a:pt x="1404" y="13408"/>
                    <a:pt x="1404" y="13408"/>
                    <a:pt x="1404" y="13408"/>
                  </a:cubicBezTo>
                  <a:cubicBezTo>
                    <a:pt x="1313" y="13542"/>
                    <a:pt x="1449" y="13642"/>
                    <a:pt x="1585" y="13709"/>
                  </a:cubicBezTo>
                  <a:cubicBezTo>
                    <a:pt x="1630" y="13742"/>
                    <a:pt x="1630" y="13742"/>
                    <a:pt x="1675" y="13776"/>
                  </a:cubicBezTo>
                  <a:cubicBezTo>
                    <a:pt x="1766" y="13876"/>
                    <a:pt x="1857" y="13976"/>
                    <a:pt x="1947" y="14077"/>
                  </a:cubicBezTo>
                  <a:cubicBezTo>
                    <a:pt x="1992" y="14144"/>
                    <a:pt x="2038" y="14211"/>
                    <a:pt x="2083" y="14244"/>
                  </a:cubicBezTo>
                  <a:cubicBezTo>
                    <a:pt x="2128" y="14311"/>
                    <a:pt x="2174" y="14344"/>
                    <a:pt x="2219" y="14411"/>
                  </a:cubicBezTo>
                  <a:cubicBezTo>
                    <a:pt x="2355" y="14545"/>
                    <a:pt x="2491" y="14679"/>
                    <a:pt x="2400" y="14879"/>
                  </a:cubicBezTo>
                  <a:cubicBezTo>
                    <a:pt x="2400" y="14913"/>
                    <a:pt x="2400" y="14913"/>
                    <a:pt x="2400" y="14913"/>
                  </a:cubicBezTo>
                  <a:cubicBezTo>
                    <a:pt x="2355" y="14980"/>
                    <a:pt x="2355" y="15013"/>
                    <a:pt x="2355" y="15046"/>
                  </a:cubicBezTo>
                  <a:cubicBezTo>
                    <a:pt x="2355" y="15080"/>
                    <a:pt x="2355" y="15113"/>
                    <a:pt x="2400" y="15113"/>
                  </a:cubicBezTo>
                  <a:cubicBezTo>
                    <a:pt x="2400" y="15180"/>
                    <a:pt x="2400" y="15180"/>
                    <a:pt x="2400" y="15247"/>
                  </a:cubicBezTo>
                  <a:cubicBezTo>
                    <a:pt x="2355" y="15280"/>
                    <a:pt x="2309" y="15314"/>
                    <a:pt x="2264" y="15347"/>
                  </a:cubicBezTo>
                  <a:cubicBezTo>
                    <a:pt x="2174" y="15381"/>
                    <a:pt x="2083" y="15448"/>
                    <a:pt x="2128" y="15548"/>
                  </a:cubicBezTo>
                  <a:cubicBezTo>
                    <a:pt x="2174" y="15581"/>
                    <a:pt x="2174" y="15581"/>
                    <a:pt x="2219" y="15615"/>
                  </a:cubicBezTo>
                  <a:cubicBezTo>
                    <a:pt x="2264" y="15615"/>
                    <a:pt x="2264" y="15648"/>
                    <a:pt x="2309" y="15648"/>
                  </a:cubicBezTo>
                  <a:cubicBezTo>
                    <a:pt x="2309" y="15682"/>
                    <a:pt x="2309" y="15715"/>
                    <a:pt x="2309" y="15749"/>
                  </a:cubicBezTo>
                  <a:cubicBezTo>
                    <a:pt x="2264" y="15782"/>
                    <a:pt x="2264" y="15815"/>
                    <a:pt x="2309" y="15849"/>
                  </a:cubicBezTo>
                  <a:cubicBezTo>
                    <a:pt x="2309" y="15882"/>
                    <a:pt x="2400" y="15916"/>
                    <a:pt x="2445" y="15916"/>
                  </a:cubicBezTo>
                  <a:cubicBezTo>
                    <a:pt x="2536" y="15916"/>
                    <a:pt x="2581" y="15916"/>
                    <a:pt x="2717" y="15882"/>
                  </a:cubicBezTo>
                  <a:cubicBezTo>
                    <a:pt x="2808" y="15849"/>
                    <a:pt x="2898" y="15849"/>
                    <a:pt x="2989" y="15849"/>
                  </a:cubicBezTo>
                  <a:cubicBezTo>
                    <a:pt x="3079" y="15849"/>
                    <a:pt x="3170" y="15882"/>
                    <a:pt x="3215" y="15949"/>
                  </a:cubicBezTo>
                  <a:cubicBezTo>
                    <a:pt x="3260" y="15983"/>
                    <a:pt x="3215" y="16050"/>
                    <a:pt x="3170" y="16116"/>
                  </a:cubicBezTo>
                  <a:cubicBezTo>
                    <a:pt x="3125" y="16217"/>
                    <a:pt x="3079" y="16317"/>
                    <a:pt x="3215" y="16350"/>
                  </a:cubicBezTo>
                  <a:cubicBezTo>
                    <a:pt x="3260" y="16350"/>
                    <a:pt x="3306" y="16384"/>
                    <a:pt x="3442" y="16384"/>
                  </a:cubicBezTo>
                  <a:cubicBezTo>
                    <a:pt x="3487" y="16384"/>
                    <a:pt x="3487" y="16384"/>
                    <a:pt x="3487" y="16384"/>
                  </a:cubicBezTo>
                  <a:cubicBezTo>
                    <a:pt x="3532" y="16384"/>
                    <a:pt x="3577" y="16384"/>
                    <a:pt x="3623" y="16384"/>
                  </a:cubicBezTo>
                  <a:cubicBezTo>
                    <a:pt x="3804" y="16417"/>
                    <a:pt x="3985" y="16451"/>
                    <a:pt x="4075" y="16518"/>
                  </a:cubicBezTo>
                  <a:cubicBezTo>
                    <a:pt x="4121" y="16551"/>
                    <a:pt x="4121" y="16585"/>
                    <a:pt x="4166" y="16618"/>
                  </a:cubicBezTo>
                  <a:cubicBezTo>
                    <a:pt x="4166" y="16685"/>
                    <a:pt x="4211" y="16718"/>
                    <a:pt x="4257" y="16752"/>
                  </a:cubicBezTo>
                  <a:cubicBezTo>
                    <a:pt x="4302" y="16785"/>
                    <a:pt x="4392" y="16785"/>
                    <a:pt x="4438" y="16785"/>
                  </a:cubicBezTo>
                  <a:cubicBezTo>
                    <a:pt x="4483" y="16819"/>
                    <a:pt x="4574" y="16819"/>
                    <a:pt x="4574" y="16852"/>
                  </a:cubicBezTo>
                  <a:cubicBezTo>
                    <a:pt x="4619" y="16919"/>
                    <a:pt x="4619" y="16952"/>
                    <a:pt x="4574" y="17019"/>
                  </a:cubicBezTo>
                  <a:cubicBezTo>
                    <a:pt x="4528" y="17053"/>
                    <a:pt x="4483" y="17086"/>
                    <a:pt x="4528" y="17153"/>
                  </a:cubicBezTo>
                  <a:cubicBezTo>
                    <a:pt x="4528" y="17186"/>
                    <a:pt x="4574" y="17220"/>
                    <a:pt x="4709" y="17320"/>
                  </a:cubicBezTo>
                  <a:cubicBezTo>
                    <a:pt x="4755" y="17354"/>
                    <a:pt x="4755" y="17354"/>
                    <a:pt x="4755" y="17354"/>
                  </a:cubicBezTo>
                  <a:cubicBezTo>
                    <a:pt x="4845" y="17420"/>
                    <a:pt x="4936" y="17487"/>
                    <a:pt x="5072" y="17554"/>
                  </a:cubicBezTo>
                  <a:cubicBezTo>
                    <a:pt x="5117" y="17588"/>
                    <a:pt x="5208" y="17621"/>
                    <a:pt x="5253" y="17621"/>
                  </a:cubicBezTo>
                  <a:cubicBezTo>
                    <a:pt x="5343" y="17621"/>
                    <a:pt x="5389" y="17621"/>
                    <a:pt x="5479" y="17654"/>
                  </a:cubicBezTo>
                  <a:cubicBezTo>
                    <a:pt x="5525" y="17688"/>
                    <a:pt x="5525" y="17721"/>
                    <a:pt x="5570" y="17788"/>
                  </a:cubicBezTo>
                  <a:cubicBezTo>
                    <a:pt x="5615" y="17822"/>
                    <a:pt x="5615" y="17889"/>
                    <a:pt x="5660" y="17922"/>
                  </a:cubicBezTo>
                  <a:cubicBezTo>
                    <a:pt x="5751" y="17955"/>
                    <a:pt x="5796" y="17989"/>
                    <a:pt x="5842" y="18022"/>
                  </a:cubicBezTo>
                  <a:cubicBezTo>
                    <a:pt x="5887" y="18056"/>
                    <a:pt x="5932" y="18056"/>
                    <a:pt x="5932" y="18089"/>
                  </a:cubicBezTo>
                  <a:cubicBezTo>
                    <a:pt x="6068" y="18189"/>
                    <a:pt x="6068" y="18223"/>
                    <a:pt x="6023" y="18256"/>
                  </a:cubicBezTo>
                  <a:cubicBezTo>
                    <a:pt x="5977" y="18290"/>
                    <a:pt x="5932" y="18323"/>
                    <a:pt x="5932" y="18357"/>
                  </a:cubicBezTo>
                  <a:cubicBezTo>
                    <a:pt x="5887" y="18457"/>
                    <a:pt x="5977" y="18490"/>
                    <a:pt x="6068" y="18490"/>
                  </a:cubicBezTo>
                  <a:cubicBezTo>
                    <a:pt x="6113" y="18524"/>
                    <a:pt x="6158" y="18524"/>
                    <a:pt x="6158" y="18557"/>
                  </a:cubicBezTo>
                  <a:cubicBezTo>
                    <a:pt x="6204" y="18591"/>
                    <a:pt x="6204" y="18624"/>
                    <a:pt x="6249" y="18691"/>
                  </a:cubicBezTo>
                  <a:cubicBezTo>
                    <a:pt x="6249" y="18758"/>
                    <a:pt x="6249" y="18791"/>
                    <a:pt x="6340" y="18858"/>
                  </a:cubicBezTo>
                  <a:cubicBezTo>
                    <a:pt x="6385" y="18892"/>
                    <a:pt x="6475" y="18892"/>
                    <a:pt x="6521" y="18892"/>
                  </a:cubicBezTo>
                  <a:cubicBezTo>
                    <a:pt x="6611" y="18892"/>
                    <a:pt x="6657" y="18892"/>
                    <a:pt x="6747" y="18959"/>
                  </a:cubicBezTo>
                  <a:cubicBezTo>
                    <a:pt x="6747" y="18959"/>
                    <a:pt x="6747" y="18959"/>
                    <a:pt x="6792" y="18992"/>
                  </a:cubicBezTo>
                  <a:cubicBezTo>
                    <a:pt x="6792" y="18992"/>
                    <a:pt x="6792" y="19025"/>
                    <a:pt x="6838" y="19025"/>
                  </a:cubicBezTo>
                  <a:cubicBezTo>
                    <a:pt x="6883" y="19025"/>
                    <a:pt x="6883" y="19059"/>
                    <a:pt x="6928" y="19059"/>
                  </a:cubicBezTo>
                  <a:cubicBezTo>
                    <a:pt x="6974" y="19059"/>
                    <a:pt x="6974" y="19059"/>
                    <a:pt x="7019" y="19092"/>
                  </a:cubicBezTo>
                  <a:cubicBezTo>
                    <a:pt x="7109" y="19159"/>
                    <a:pt x="7155" y="19226"/>
                    <a:pt x="7200" y="19360"/>
                  </a:cubicBezTo>
                  <a:cubicBezTo>
                    <a:pt x="7200" y="19393"/>
                    <a:pt x="7200" y="19393"/>
                    <a:pt x="7200" y="19393"/>
                  </a:cubicBezTo>
                  <a:cubicBezTo>
                    <a:pt x="7245" y="19627"/>
                    <a:pt x="7291" y="19761"/>
                    <a:pt x="7472" y="19928"/>
                  </a:cubicBezTo>
                  <a:cubicBezTo>
                    <a:pt x="7517" y="19962"/>
                    <a:pt x="7608" y="19995"/>
                    <a:pt x="7653" y="20062"/>
                  </a:cubicBezTo>
                  <a:cubicBezTo>
                    <a:pt x="7698" y="20062"/>
                    <a:pt x="7743" y="20095"/>
                    <a:pt x="7789" y="20129"/>
                  </a:cubicBezTo>
                  <a:cubicBezTo>
                    <a:pt x="7834" y="20196"/>
                    <a:pt x="7834" y="20229"/>
                    <a:pt x="7879" y="20296"/>
                  </a:cubicBezTo>
                  <a:cubicBezTo>
                    <a:pt x="7879" y="20329"/>
                    <a:pt x="7879" y="20363"/>
                    <a:pt x="7925" y="20430"/>
                  </a:cubicBezTo>
                  <a:cubicBezTo>
                    <a:pt x="7970" y="20497"/>
                    <a:pt x="8151" y="20563"/>
                    <a:pt x="8287" y="20630"/>
                  </a:cubicBezTo>
                  <a:cubicBezTo>
                    <a:pt x="8377" y="20630"/>
                    <a:pt x="8468" y="20664"/>
                    <a:pt x="8513" y="20697"/>
                  </a:cubicBezTo>
                  <a:cubicBezTo>
                    <a:pt x="8558" y="20731"/>
                    <a:pt x="8649" y="20731"/>
                    <a:pt x="8694" y="20731"/>
                  </a:cubicBezTo>
                  <a:cubicBezTo>
                    <a:pt x="8740" y="20731"/>
                    <a:pt x="8785" y="20731"/>
                    <a:pt x="8875" y="20664"/>
                  </a:cubicBezTo>
                  <a:cubicBezTo>
                    <a:pt x="8921" y="20664"/>
                    <a:pt x="8921" y="20664"/>
                    <a:pt x="8921" y="20664"/>
                  </a:cubicBezTo>
                  <a:cubicBezTo>
                    <a:pt x="8966" y="20597"/>
                    <a:pt x="8966" y="20597"/>
                    <a:pt x="8966" y="20597"/>
                  </a:cubicBezTo>
                  <a:cubicBezTo>
                    <a:pt x="9057" y="20563"/>
                    <a:pt x="9147" y="20530"/>
                    <a:pt x="9238" y="20530"/>
                  </a:cubicBezTo>
                  <a:cubicBezTo>
                    <a:pt x="9283" y="20530"/>
                    <a:pt x="9283" y="20530"/>
                    <a:pt x="9374" y="20530"/>
                  </a:cubicBezTo>
                  <a:cubicBezTo>
                    <a:pt x="9419" y="20530"/>
                    <a:pt x="9419" y="20530"/>
                    <a:pt x="9419" y="20530"/>
                  </a:cubicBezTo>
                  <a:cubicBezTo>
                    <a:pt x="9464" y="20563"/>
                    <a:pt x="9555" y="20563"/>
                    <a:pt x="9600" y="20597"/>
                  </a:cubicBezTo>
                  <a:cubicBezTo>
                    <a:pt x="9645" y="20597"/>
                    <a:pt x="9645" y="20630"/>
                    <a:pt x="9691" y="20630"/>
                  </a:cubicBezTo>
                  <a:cubicBezTo>
                    <a:pt x="9736" y="20664"/>
                    <a:pt x="9736" y="20697"/>
                    <a:pt x="9781" y="20697"/>
                  </a:cubicBezTo>
                  <a:cubicBezTo>
                    <a:pt x="9826" y="20697"/>
                    <a:pt x="9826" y="20697"/>
                    <a:pt x="9826" y="20697"/>
                  </a:cubicBezTo>
                  <a:cubicBezTo>
                    <a:pt x="9962" y="20697"/>
                    <a:pt x="10008" y="20597"/>
                    <a:pt x="10053" y="20530"/>
                  </a:cubicBezTo>
                  <a:cubicBezTo>
                    <a:pt x="10098" y="20497"/>
                    <a:pt x="10098" y="20463"/>
                    <a:pt x="10143" y="20430"/>
                  </a:cubicBezTo>
                  <a:cubicBezTo>
                    <a:pt x="10189" y="20396"/>
                    <a:pt x="10234" y="20363"/>
                    <a:pt x="10325" y="20363"/>
                  </a:cubicBezTo>
                  <a:cubicBezTo>
                    <a:pt x="10325" y="20363"/>
                    <a:pt x="10325" y="20363"/>
                    <a:pt x="10325" y="20363"/>
                  </a:cubicBezTo>
                  <a:cubicBezTo>
                    <a:pt x="10415" y="20396"/>
                    <a:pt x="10506" y="20430"/>
                    <a:pt x="10506" y="20497"/>
                  </a:cubicBezTo>
                  <a:cubicBezTo>
                    <a:pt x="10642" y="20697"/>
                    <a:pt x="10823" y="20831"/>
                    <a:pt x="11049" y="20998"/>
                  </a:cubicBezTo>
                  <a:cubicBezTo>
                    <a:pt x="11094" y="21032"/>
                    <a:pt x="11140" y="21065"/>
                    <a:pt x="11185" y="21098"/>
                  </a:cubicBezTo>
                  <a:cubicBezTo>
                    <a:pt x="11275" y="21165"/>
                    <a:pt x="11321" y="21165"/>
                    <a:pt x="11366" y="21199"/>
                  </a:cubicBezTo>
                  <a:cubicBezTo>
                    <a:pt x="11411" y="21199"/>
                    <a:pt x="11411" y="21199"/>
                    <a:pt x="11457" y="21199"/>
                  </a:cubicBezTo>
                  <a:cubicBezTo>
                    <a:pt x="11547" y="21232"/>
                    <a:pt x="11547" y="21266"/>
                    <a:pt x="11547" y="21333"/>
                  </a:cubicBezTo>
                  <a:cubicBezTo>
                    <a:pt x="11547" y="21333"/>
                    <a:pt x="11547" y="21366"/>
                    <a:pt x="11547" y="21366"/>
                  </a:cubicBezTo>
                  <a:cubicBezTo>
                    <a:pt x="11638" y="21500"/>
                    <a:pt x="11728" y="21500"/>
                    <a:pt x="11909" y="21500"/>
                  </a:cubicBezTo>
                  <a:cubicBezTo>
                    <a:pt x="12045" y="21500"/>
                    <a:pt x="12091" y="21466"/>
                    <a:pt x="12181" y="21433"/>
                  </a:cubicBezTo>
                  <a:cubicBezTo>
                    <a:pt x="12181" y="21399"/>
                    <a:pt x="12226" y="21366"/>
                    <a:pt x="12317" y="21333"/>
                  </a:cubicBezTo>
                  <a:cubicBezTo>
                    <a:pt x="12362" y="21333"/>
                    <a:pt x="12408" y="21299"/>
                    <a:pt x="12453" y="21299"/>
                  </a:cubicBezTo>
                  <a:cubicBezTo>
                    <a:pt x="12543" y="21299"/>
                    <a:pt x="12589" y="21333"/>
                    <a:pt x="12679" y="21366"/>
                  </a:cubicBezTo>
                  <a:cubicBezTo>
                    <a:pt x="12725" y="21399"/>
                    <a:pt x="12815" y="21433"/>
                    <a:pt x="12860" y="21433"/>
                  </a:cubicBezTo>
                  <a:cubicBezTo>
                    <a:pt x="12951" y="21433"/>
                    <a:pt x="12996" y="21433"/>
                    <a:pt x="13042" y="21399"/>
                  </a:cubicBezTo>
                  <a:cubicBezTo>
                    <a:pt x="13087" y="21366"/>
                    <a:pt x="13177" y="21333"/>
                    <a:pt x="13223" y="21333"/>
                  </a:cubicBezTo>
                  <a:cubicBezTo>
                    <a:pt x="13268" y="21333"/>
                    <a:pt x="13313" y="21333"/>
                    <a:pt x="13313" y="21366"/>
                  </a:cubicBezTo>
                  <a:cubicBezTo>
                    <a:pt x="13358" y="21366"/>
                    <a:pt x="13358" y="21399"/>
                    <a:pt x="13404" y="21433"/>
                  </a:cubicBezTo>
                  <a:cubicBezTo>
                    <a:pt x="13404" y="21466"/>
                    <a:pt x="13404" y="21466"/>
                    <a:pt x="13404" y="21466"/>
                  </a:cubicBezTo>
                  <a:cubicBezTo>
                    <a:pt x="13449" y="21500"/>
                    <a:pt x="13449" y="21500"/>
                    <a:pt x="13449" y="21500"/>
                  </a:cubicBezTo>
                  <a:cubicBezTo>
                    <a:pt x="13449" y="21500"/>
                    <a:pt x="13449" y="21533"/>
                    <a:pt x="13449" y="21533"/>
                  </a:cubicBezTo>
                  <a:cubicBezTo>
                    <a:pt x="13540" y="21600"/>
                    <a:pt x="13540" y="21600"/>
                    <a:pt x="13540" y="21600"/>
                  </a:cubicBezTo>
                  <a:cubicBezTo>
                    <a:pt x="13585" y="21567"/>
                    <a:pt x="13585" y="21567"/>
                    <a:pt x="13585" y="21567"/>
                  </a:cubicBezTo>
                  <a:cubicBezTo>
                    <a:pt x="13630" y="21567"/>
                    <a:pt x="13630" y="21567"/>
                    <a:pt x="13630" y="21567"/>
                  </a:cubicBezTo>
                  <a:cubicBezTo>
                    <a:pt x="13630" y="21567"/>
                    <a:pt x="13630" y="21567"/>
                    <a:pt x="13675" y="21567"/>
                  </a:cubicBezTo>
                  <a:cubicBezTo>
                    <a:pt x="13766" y="21567"/>
                    <a:pt x="13766" y="21567"/>
                    <a:pt x="13766" y="21567"/>
                  </a:cubicBezTo>
                  <a:cubicBezTo>
                    <a:pt x="13766" y="21533"/>
                    <a:pt x="13766" y="21533"/>
                    <a:pt x="13766" y="21533"/>
                  </a:cubicBezTo>
                  <a:cubicBezTo>
                    <a:pt x="13766" y="21500"/>
                    <a:pt x="13811" y="21500"/>
                    <a:pt x="13811" y="21466"/>
                  </a:cubicBezTo>
                  <a:cubicBezTo>
                    <a:pt x="13811" y="21466"/>
                    <a:pt x="13857" y="21433"/>
                    <a:pt x="13857" y="21433"/>
                  </a:cubicBezTo>
                  <a:cubicBezTo>
                    <a:pt x="13947" y="21366"/>
                    <a:pt x="14083" y="21366"/>
                    <a:pt x="14219" y="21366"/>
                  </a:cubicBezTo>
                  <a:cubicBezTo>
                    <a:pt x="14400" y="21366"/>
                    <a:pt x="14491" y="21333"/>
                    <a:pt x="14626" y="21266"/>
                  </a:cubicBezTo>
                  <a:cubicBezTo>
                    <a:pt x="14717" y="21232"/>
                    <a:pt x="14762" y="21232"/>
                    <a:pt x="14808" y="21232"/>
                  </a:cubicBezTo>
                  <a:cubicBezTo>
                    <a:pt x="14853" y="21232"/>
                    <a:pt x="14898" y="21266"/>
                    <a:pt x="14943" y="21299"/>
                  </a:cubicBezTo>
                  <a:cubicBezTo>
                    <a:pt x="14989" y="21299"/>
                    <a:pt x="14989" y="21299"/>
                    <a:pt x="14989" y="21299"/>
                  </a:cubicBezTo>
                  <a:cubicBezTo>
                    <a:pt x="15079" y="21333"/>
                    <a:pt x="15170" y="21333"/>
                    <a:pt x="15260" y="21333"/>
                  </a:cubicBezTo>
                  <a:cubicBezTo>
                    <a:pt x="15351" y="21333"/>
                    <a:pt x="15396" y="21333"/>
                    <a:pt x="15487" y="21333"/>
                  </a:cubicBezTo>
                  <a:cubicBezTo>
                    <a:pt x="15487" y="21333"/>
                    <a:pt x="15487" y="21333"/>
                    <a:pt x="15487" y="21333"/>
                  </a:cubicBezTo>
                  <a:cubicBezTo>
                    <a:pt x="16619" y="20396"/>
                    <a:pt x="16619" y="20396"/>
                    <a:pt x="16619" y="20396"/>
                  </a:cubicBezTo>
                  <a:cubicBezTo>
                    <a:pt x="18475" y="20396"/>
                    <a:pt x="18475" y="20396"/>
                    <a:pt x="18475" y="20396"/>
                  </a:cubicBezTo>
                  <a:cubicBezTo>
                    <a:pt x="18430" y="20296"/>
                    <a:pt x="18430" y="20296"/>
                    <a:pt x="18430" y="20296"/>
                  </a:cubicBezTo>
                  <a:cubicBezTo>
                    <a:pt x="18430" y="20229"/>
                    <a:pt x="18430" y="20129"/>
                    <a:pt x="18430" y="20028"/>
                  </a:cubicBezTo>
                  <a:cubicBezTo>
                    <a:pt x="18430" y="19995"/>
                    <a:pt x="18430" y="19962"/>
                    <a:pt x="18475" y="19928"/>
                  </a:cubicBezTo>
                  <a:cubicBezTo>
                    <a:pt x="18475" y="19794"/>
                    <a:pt x="18430" y="19661"/>
                    <a:pt x="18249" y="19594"/>
                  </a:cubicBezTo>
                  <a:cubicBezTo>
                    <a:pt x="18204" y="19594"/>
                    <a:pt x="18158" y="19560"/>
                    <a:pt x="18113" y="19560"/>
                  </a:cubicBezTo>
                  <a:cubicBezTo>
                    <a:pt x="18113" y="19560"/>
                    <a:pt x="18068" y="19594"/>
                    <a:pt x="18023" y="19594"/>
                  </a:cubicBezTo>
                  <a:cubicBezTo>
                    <a:pt x="18023" y="19594"/>
                    <a:pt x="17977" y="19594"/>
                    <a:pt x="17932" y="19594"/>
                  </a:cubicBezTo>
                  <a:cubicBezTo>
                    <a:pt x="17887" y="19594"/>
                    <a:pt x="17842" y="19594"/>
                    <a:pt x="17842" y="19594"/>
                  </a:cubicBezTo>
                  <a:cubicBezTo>
                    <a:pt x="17796" y="19527"/>
                    <a:pt x="17751" y="19493"/>
                    <a:pt x="17706" y="19460"/>
                  </a:cubicBezTo>
                  <a:cubicBezTo>
                    <a:pt x="17660" y="19427"/>
                    <a:pt x="17660" y="19393"/>
                    <a:pt x="17615" y="19360"/>
                  </a:cubicBezTo>
                  <a:cubicBezTo>
                    <a:pt x="17570" y="19326"/>
                    <a:pt x="17570" y="19259"/>
                    <a:pt x="17525" y="19226"/>
                  </a:cubicBezTo>
                  <a:cubicBezTo>
                    <a:pt x="17525" y="19159"/>
                    <a:pt x="17525" y="19126"/>
                    <a:pt x="17479" y="19092"/>
                  </a:cubicBezTo>
                  <a:cubicBezTo>
                    <a:pt x="17434" y="18925"/>
                    <a:pt x="17298" y="18724"/>
                    <a:pt x="17208" y="18524"/>
                  </a:cubicBezTo>
                  <a:cubicBezTo>
                    <a:pt x="17208" y="18490"/>
                    <a:pt x="17208" y="18490"/>
                    <a:pt x="17208" y="18490"/>
                  </a:cubicBezTo>
                  <a:cubicBezTo>
                    <a:pt x="17162" y="18357"/>
                    <a:pt x="17117" y="18223"/>
                    <a:pt x="16936" y="18156"/>
                  </a:cubicBezTo>
                  <a:cubicBezTo>
                    <a:pt x="16800" y="18089"/>
                    <a:pt x="16800" y="18089"/>
                    <a:pt x="16755" y="18022"/>
                  </a:cubicBezTo>
                  <a:cubicBezTo>
                    <a:pt x="16709" y="17989"/>
                    <a:pt x="16709" y="17989"/>
                    <a:pt x="16709" y="17989"/>
                  </a:cubicBezTo>
                  <a:cubicBezTo>
                    <a:pt x="16664" y="17955"/>
                    <a:pt x="16619" y="17922"/>
                    <a:pt x="16574" y="17889"/>
                  </a:cubicBezTo>
                  <a:cubicBezTo>
                    <a:pt x="16528" y="17889"/>
                    <a:pt x="16528" y="17855"/>
                    <a:pt x="16483" y="17855"/>
                  </a:cubicBezTo>
                  <a:cubicBezTo>
                    <a:pt x="16347" y="17755"/>
                    <a:pt x="16257" y="17621"/>
                    <a:pt x="16121" y="17521"/>
                  </a:cubicBezTo>
                  <a:cubicBezTo>
                    <a:pt x="16030" y="17387"/>
                    <a:pt x="15940" y="17253"/>
                    <a:pt x="15758" y="17153"/>
                  </a:cubicBezTo>
                  <a:cubicBezTo>
                    <a:pt x="15713" y="17120"/>
                    <a:pt x="15713" y="17120"/>
                    <a:pt x="15713" y="17120"/>
                  </a:cubicBezTo>
                  <a:cubicBezTo>
                    <a:pt x="15668" y="17086"/>
                    <a:pt x="15623" y="17019"/>
                    <a:pt x="15532" y="17019"/>
                  </a:cubicBezTo>
                  <a:cubicBezTo>
                    <a:pt x="15487" y="17019"/>
                    <a:pt x="15487" y="17019"/>
                    <a:pt x="15442" y="17019"/>
                  </a:cubicBezTo>
                  <a:cubicBezTo>
                    <a:pt x="15396" y="17019"/>
                    <a:pt x="15351" y="17019"/>
                    <a:pt x="15351" y="17019"/>
                  </a:cubicBezTo>
                  <a:cubicBezTo>
                    <a:pt x="15306" y="17019"/>
                    <a:pt x="15260" y="17019"/>
                    <a:pt x="15215" y="17019"/>
                  </a:cubicBezTo>
                  <a:cubicBezTo>
                    <a:pt x="15215" y="17019"/>
                    <a:pt x="15170" y="17019"/>
                    <a:pt x="15170" y="17019"/>
                  </a:cubicBezTo>
                  <a:cubicBezTo>
                    <a:pt x="14943" y="16986"/>
                    <a:pt x="14717" y="16852"/>
                    <a:pt x="14762" y="16752"/>
                  </a:cubicBezTo>
                  <a:cubicBezTo>
                    <a:pt x="14762" y="16718"/>
                    <a:pt x="14808" y="16685"/>
                    <a:pt x="14853" y="16651"/>
                  </a:cubicBezTo>
                  <a:cubicBezTo>
                    <a:pt x="14853" y="16618"/>
                    <a:pt x="14898" y="16585"/>
                    <a:pt x="14898" y="16551"/>
                  </a:cubicBezTo>
                  <a:cubicBezTo>
                    <a:pt x="14943" y="16518"/>
                    <a:pt x="14943" y="16451"/>
                    <a:pt x="14943" y="16417"/>
                  </a:cubicBezTo>
                  <a:cubicBezTo>
                    <a:pt x="14943" y="16384"/>
                    <a:pt x="14943" y="16317"/>
                    <a:pt x="14989" y="16284"/>
                  </a:cubicBezTo>
                  <a:cubicBezTo>
                    <a:pt x="15034" y="16183"/>
                    <a:pt x="15125" y="16150"/>
                    <a:pt x="15170" y="16150"/>
                  </a:cubicBezTo>
                  <a:cubicBezTo>
                    <a:pt x="15260" y="16150"/>
                    <a:pt x="15351" y="16217"/>
                    <a:pt x="15442" y="16250"/>
                  </a:cubicBezTo>
                  <a:cubicBezTo>
                    <a:pt x="15487" y="16250"/>
                    <a:pt x="15532" y="16284"/>
                    <a:pt x="15577" y="16284"/>
                  </a:cubicBezTo>
                  <a:cubicBezTo>
                    <a:pt x="15623" y="16284"/>
                    <a:pt x="15623" y="16317"/>
                    <a:pt x="15668" y="16317"/>
                  </a:cubicBezTo>
                  <a:cubicBezTo>
                    <a:pt x="15849" y="16317"/>
                    <a:pt x="15940" y="16183"/>
                    <a:pt x="16030" y="16083"/>
                  </a:cubicBezTo>
                  <a:cubicBezTo>
                    <a:pt x="16166" y="15949"/>
                    <a:pt x="16121" y="15749"/>
                    <a:pt x="16121" y="15581"/>
                  </a:cubicBezTo>
                  <a:cubicBezTo>
                    <a:pt x="16075" y="15515"/>
                    <a:pt x="16075" y="15414"/>
                    <a:pt x="16075" y="15347"/>
                  </a:cubicBezTo>
                  <a:cubicBezTo>
                    <a:pt x="16075" y="15314"/>
                    <a:pt x="16075" y="15247"/>
                    <a:pt x="16075" y="15180"/>
                  </a:cubicBezTo>
                  <a:cubicBezTo>
                    <a:pt x="16075" y="15013"/>
                    <a:pt x="16075" y="14846"/>
                    <a:pt x="16121" y="14679"/>
                  </a:cubicBezTo>
                  <a:cubicBezTo>
                    <a:pt x="16166" y="14612"/>
                    <a:pt x="16166" y="14612"/>
                    <a:pt x="16166" y="14612"/>
                  </a:cubicBezTo>
                  <a:cubicBezTo>
                    <a:pt x="16211" y="14411"/>
                    <a:pt x="16302" y="14244"/>
                    <a:pt x="16302" y="14043"/>
                  </a:cubicBezTo>
                  <a:cubicBezTo>
                    <a:pt x="16347" y="14010"/>
                    <a:pt x="16347" y="14010"/>
                    <a:pt x="16347" y="14010"/>
                  </a:cubicBezTo>
                  <a:cubicBezTo>
                    <a:pt x="16347" y="13843"/>
                    <a:pt x="16392" y="13575"/>
                    <a:pt x="16619" y="13542"/>
                  </a:cubicBezTo>
                  <a:cubicBezTo>
                    <a:pt x="16664" y="13542"/>
                    <a:pt x="16664" y="13542"/>
                    <a:pt x="16664" y="13542"/>
                  </a:cubicBezTo>
                  <a:cubicBezTo>
                    <a:pt x="16755" y="13542"/>
                    <a:pt x="16800" y="13575"/>
                    <a:pt x="16891" y="13575"/>
                  </a:cubicBezTo>
                  <a:cubicBezTo>
                    <a:pt x="16981" y="13642"/>
                    <a:pt x="17026" y="13642"/>
                    <a:pt x="17072" y="13642"/>
                  </a:cubicBezTo>
                  <a:cubicBezTo>
                    <a:pt x="17117" y="13642"/>
                    <a:pt x="17162" y="13609"/>
                    <a:pt x="17162" y="13609"/>
                  </a:cubicBezTo>
                  <a:cubicBezTo>
                    <a:pt x="17162" y="13609"/>
                    <a:pt x="17162" y="13609"/>
                    <a:pt x="17162" y="13609"/>
                  </a:cubicBezTo>
                  <a:cubicBezTo>
                    <a:pt x="17162" y="13575"/>
                    <a:pt x="17162" y="13575"/>
                    <a:pt x="17162" y="13575"/>
                  </a:cubicBezTo>
                  <a:cubicBezTo>
                    <a:pt x="17162" y="13575"/>
                    <a:pt x="17162" y="13542"/>
                    <a:pt x="17162" y="13375"/>
                  </a:cubicBezTo>
                  <a:cubicBezTo>
                    <a:pt x="17162" y="13341"/>
                    <a:pt x="17162" y="13308"/>
                    <a:pt x="17162" y="13274"/>
                  </a:cubicBezTo>
                  <a:cubicBezTo>
                    <a:pt x="17162" y="13174"/>
                    <a:pt x="17208" y="13040"/>
                    <a:pt x="17253" y="12907"/>
                  </a:cubicBezTo>
                  <a:cubicBezTo>
                    <a:pt x="17253" y="12840"/>
                    <a:pt x="17253" y="12806"/>
                    <a:pt x="17253" y="12739"/>
                  </a:cubicBezTo>
                  <a:cubicBezTo>
                    <a:pt x="17253" y="12706"/>
                    <a:pt x="17253" y="12639"/>
                    <a:pt x="17298" y="12572"/>
                  </a:cubicBezTo>
                  <a:cubicBezTo>
                    <a:pt x="17298" y="12505"/>
                    <a:pt x="17343" y="12472"/>
                    <a:pt x="17389" y="12472"/>
                  </a:cubicBezTo>
                  <a:cubicBezTo>
                    <a:pt x="17434" y="12438"/>
                    <a:pt x="17479" y="12438"/>
                    <a:pt x="17525" y="12405"/>
                  </a:cubicBezTo>
                  <a:cubicBezTo>
                    <a:pt x="17660" y="12271"/>
                    <a:pt x="17796" y="12071"/>
                    <a:pt x="17887" y="11903"/>
                  </a:cubicBezTo>
                  <a:cubicBezTo>
                    <a:pt x="17932" y="11803"/>
                    <a:pt x="17932" y="11803"/>
                    <a:pt x="17932" y="11803"/>
                  </a:cubicBezTo>
                  <a:cubicBezTo>
                    <a:pt x="17932" y="11803"/>
                    <a:pt x="17977" y="11770"/>
                    <a:pt x="17977" y="11770"/>
                  </a:cubicBezTo>
                  <a:cubicBezTo>
                    <a:pt x="18023" y="11669"/>
                    <a:pt x="18068" y="11602"/>
                    <a:pt x="18158" y="11569"/>
                  </a:cubicBezTo>
                  <a:cubicBezTo>
                    <a:pt x="18249" y="11536"/>
                    <a:pt x="18340" y="11536"/>
                    <a:pt x="18385" y="11536"/>
                  </a:cubicBezTo>
                  <a:cubicBezTo>
                    <a:pt x="18521" y="11536"/>
                    <a:pt x="18611" y="11536"/>
                    <a:pt x="18657" y="11368"/>
                  </a:cubicBezTo>
                  <a:cubicBezTo>
                    <a:pt x="18702" y="11302"/>
                    <a:pt x="18702" y="11235"/>
                    <a:pt x="18702" y="11168"/>
                  </a:cubicBezTo>
                  <a:cubicBezTo>
                    <a:pt x="18702" y="11034"/>
                    <a:pt x="18702" y="10967"/>
                    <a:pt x="18747" y="10867"/>
                  </a:cubicBezTo>
                  <a:cubicBezTo>
                    <a:pt x="18883" y="10633"/>
                    <a:pt x="18928" y="10466"/>
                    <a:pt x="19019" y="10232"/>
                  </a:cubicBezTo>
                  <a:cubicBezTo>
                    <a:pt x="19109" y="10098"/>
                    <a:pt x="19064" y="9964"/>
                    <a:pt x="19064" y="9797"/>
                  </a:cubicBezTo>
                  <a:cubicBezTo>
                    <a:pt x="19064" y="9763"/>
                    <a:pt x="19019" y="9730"/>
                    <a:pt x="19019" y="9663"/>
                  </a:cubicBezTo>
                  <a:cubicBezTo>
                    <a:pt x="19019" y="9596"/>
                    <a:pt x="19019" y="9496"/>
                    <a:pt x="19019" y="9396"/>
                  </a:cubicBezTo>
                  <a:cubicBezTo>
                    <a:pt x="19019" y="9295"/>
                    <a:pt x="19019" y="9195"/>
                    <a:pt x="19019" y="9095"/>
                  </a:cubicBezTo>
                  <a:cubicBezTo>
                    <a:pt x="18974" y="8861"/>
                    <a:pt x="18974" y="8794"/>
                    <a:pt x="19109" y="8627"/>
                  </a:cubicBezTo>
                  <a:cubicBezTo>
                    <a:pt x="19200" y="8493"/>
                    <a:pt x="19200" y="8393"/>
                    <a:pt x="19245" y="8292"/>
                  </a:cubicBezTo>
                  <a:cubicBezTo>
                    <a:pt x="19245" y="8225"/>
                    <a:pt x="19245" y="8192"/>
                    <a:pt x="19291" y="8125"/>
                  </a:cubicBezTo>
                  <a:cubicBezTo>
                    <a:pt x="19291" y="8058"/>
                    <a:pt x="19336" y="7991"/>
                    <a:pt x="19381" y="7924"/>
                  </a:cubicBezTo>
                  <a:cubicBezTo>
                    <a:pt x="19426" y="7824"/>
                    <a:pt x="19517" y="7724"/>
                    <a:pt x="19517" y="7624"/>
                  </a:cubicBezTo>
                  <a:cubicBezTo>
                    <a:pt x="19517" y="7523"/>
                    <a:pt x="19517" y="7456"/>
                    <a:pt x="19472" y="7389"/>
                  </a:cubicBezTo>
                  <a:cubicBezTo>
                    <a:pt x="19426" y="7323"/>
                    <a:pt x="19426" y="7256"/>
                    <a:pt x="19472" y="7122"/>
                  </a:cubicBezTo>
                  <a:cubicBezTo>
                    <a:pt x="19472" y="7122"/>
                    <a:pt x="19517" y="7089"/>
                    <a:pt x="19517" y="7089"/>
                  </a:cubicBezTo>
                  <a:cubicBezTo>
                    <a:pt x="19517" y="7055"/>
                    <a:pt x="19562" y="7055"/>
                    <a:pt x="19562" y="7022"/>
                  </a:cubicBezTo>
                  <a:cubicBezTo>
                    <a:pt x="19562" y="6988"/>
                    <a:pt x="19562" y="6955"/>
                    <a:pt x="19562" y="6921"/>
                  </a:cubicBezTo>
                  <a:cubicBezTo>
                    <a:pt x="19562" y="6921"/>
                    <a:pt x="19562" y="6888"/>
                    <a:pt x="19562" y="6854"/>
                  </a:cubicBezTo>
                  <a:cubicBezTo>
                    <a:pt x="19608" y="6754"/>
                    <a:pt x="19653" y="6754"/>
                    <a:pt x="19743" y="6754"/>
                  </a:cubicBezTo>
                  <a:cubicBezTo>
                    <a:pt x="19789" y="6754"/>
                    <a:pt x="19789" y="6754"/>
                    <a:pt x="19834" y="6754"/>
                  </a:cubicBezTo>
                  <a:cubicBezTo>
                    <a:pt x="20060" y="6754"/>
                    <a:pt x="20151" y="6721"/>
                    <a:pt x="20151" y="6587"/>
                  </a:cubicBezTo>
                  <a:cubicBezTo>
                    <a:pt x="20151" y="6520"/>
                    <a:pt x="20196" y="6453"/>
                    <a:pt x="20196" y="6386"/>
                  </a:cubicBezTo>
                  <a:cubicBezTo>
                    <a:pt x="20242" y="6386"/>
                    <a:pt x="20242" y="6420"/>
                    <a:pt x="20242" y="6420"/>
                  </a:cubicBezTo>
                  <a:cubicBezTo>
                    <a:pt x="20332" y="6420"/>
                    <a:pt x="20423" y="6353"/>
                    <a:pt x="20513" y="6320"/>
                  </a:cubicBezTo>
                  <a:cubicBezTo>
                    <a:pt x="20558" y="6286"/>
                    <a:pt x="20604" y="6253"/>
                    <a:pt x="20649" y="6219"/>
                  </a:cubicBezTo>
                  <a:cubicBezTo>
                    <a:pt x="20740" y="6219"/>
                    <a:pt x="20785" y="6219"/>
                    <a:pt x="20875" y="6219"/>
                  </a:cubicBezTo>
                  <a:cubicBezTo>
                    <a:pt x="20966" y="6186"/>
                    <a:pt x="21102" y="6186"/>
                    <a:pt x="21192" y="6152"/>
                  </a:cubicBezTo>
                  <a:cubicBezTo>
                    <a:pt x="21283" y="6085"/>
                    <a:pt x="21283" y="6019"/>
                    <a:pt x="21283" y="5952"/>
                  </a:cubicBezTo>
                  <a:cubicBezTo>
                    <a:pt x="21328" y="5885"/>
                    <a:pt x="21328" y="5851"/>
                    <a:pt x="21374" y="5785"/>
                  </a:cubicBezTo>
                  <a:cubicBezTo>
                    <a:pt x="21374" y="5785"/>
                    <a:pt x="21464" y="5718"/>
                    <a:pt x="21555" y="5651"/>
                  </a:cubicBezTo>
                  <a:cubicBezTo>
                    <a:pt x="21600" y="5617"/>
                    <a:pt x="21600" y="5617"/>
                    <a:pt x="21600" y="5617"/>
                  </a:cubicBezTo>
                  <a:lnTo>
                    <a:pt x="21555" y="5550"/>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41" name="Shape">
              <a:extLst>
                <a:ext uri="{FF2B5EF4-FFF2-40B4-BE49-F238E27FC236}">
                  <a16:creationId xmlns:a16="http://schemas.microsoft.com/office/drawing/2014/main" id="{3817799E-2238-D247-8DFC-9EF60BBC92EB}"/>
                </a:ext>
              </a:extLst>
            </p:cNvPr>
            <p:cNvSpPr/>
            <p:nvPr/>
          </p:nvSpPr>
          <p:spPr>
            <a:xfrm>
              <a:off x="6172879" y="3909981"/>
              <a:ext cx="612555" cy="677336"/>
            </a:xfrm>
            <a:custGeom>
              <a:avLst/>
              <a:gdLst/>
              <a:ahLst/>
              <a:cxnLst>
                <a:cxn ang="0">
                  <a:pos x="wd2" y="hd2"/>
                </a:cxn>
                <a:cxn ang="5400000">
                  <a:pos x="wd2" y="hd2"/>
                </a:cxn>
                <a:cxn ang="10800000">
                  <a:pos x="wd2" y="hd2"/>
                </a:cxn>
                <a:cxn ang="16200000">
                  <a:pos x="wd2" y="hd2"/>
                </a:cxn>
              </a:cxnLst>
              <a:rect l="0" t="0" r="r" b="b"/>
              <a:pathLst>
                <a:path w="21491" h="21600" extrusionOk="0">
                  <a:moveTo>
                    <a:pt x="21463" y="9257"/>
                  </a:moveTo>
                  <a:cubicBezTo>
                    <a:pt x="21463" y="9143"/>
                    <a:pt x="21327" y="8914"/>
                    <a:pt x="21190" y="8800"/>
                  </a:cubicBezTo>
                  <a:cubicBezTo>
                    <a:pt x="21190" y="8571"/>
                    <a:pt x="21053" y="8343"/>
                    <a:pt x="21053" y="8229"/>
                  </a:cubicBezTo>
                  <a:cubicBezTo>
                    <a:pt x="20916" y="8000"/>
                    <a:pt x="21053" y="7657"/>
                    <a:pt x="21053" y="7429"/>
                  </a:cubicBezTo>
                  <a:cubicBezTo>
                    <a:pt x="21190" y="7086"/>
                    <a:pt x="21190" y="6743"/>
                    <a:pt x="21053" y="6514"/>
                  </a:cubicBezTo>
                  <a:cubicBezTo>
                    <a:pt x="21053" y="6400"/>
                    <a:pt x="20916" y="6286"/>
                    <a:pt x="20916" y="6286"/>
                  </a:cubicBezTo>
                  <a:cubicBezTo>
                    <a:pt x="20780" y="6171"/>
                    <a:pt x="20780" y="6171"/>
                    <a:pt x="20643" y="6057"/>
                  </a:cubicBezTo>
                  <a:cubicBezTo>
                    <a:pt x="20506" y="5943"/>
                    <a:pt x="20506" y="5943"/>
                    <a:pt x="20506" y="5943"/>
                  </a:cubicBezTo>
                  <a:cubicBezTo>
                    <a:pt x="20506" y="5714"/>
                    <a:pt x="20370" y="5600"/>
                    <a:pt x="20096" y="5371"/>
                  </a:cubicBezTo>
                  <a:cubicBezTo>
                    <a:pt x="19823" y="5143"/>
                    <a:pt x="19823" y="5143"/>
                    <a:pt x="19823" y="4800"/>
                  </a:cubicBezTo>
                  <a:cubicBezTo>
                    <a:pt x="19823" y="4686"/>
                    <a:pt x="19823" y="4686"/>
                    <a:pt x="19823" y="4686"/>
                  </a:cubicBezTo>
                  <a:cubicBezTo>
                    <a:pt x="19823" y="4571"/>
                    <a:pt x="19823" y="4457"/>
                    <a:pt x="19686" y="4343"/>
                  </a:cubicBezTo>
                  <a:cubicBezTo>
                    <a:pt x="19686" y="4229"/>
                    <a:pt x="19686" y="4229"/>
                    <a:pt x="19686" y="4229"/>
                  </a:cubicBezTo>
                  <a:cubicBezTo>
                    <a:pt x="19549" y="4229"/>
                    <a:pt x="19549" y="4229"/>
                    <a:pt x="19549" y="4229"/>
                  </a:cubicBezTo>
                  <a:cubicBezTo>
                    <a:pt x="19413" y="4229"/>
                    <a:pt x="19413" y="4229"/>
                    <a:pt x="19276" y="4229"/>
                  </a:cubicBezTo>
                  <a:cubicBezTo>
                    <a:pt x="19139" y="4114"/>
                    <a:pt x="19139" y="3886"/>
                    <a:pt x="19139" y="3657"/>
                  </a:cubicBezTo>
                  <a:cubicBezTo>
                    <a:pt x="19139" y="3429"/>
                    <a:pt x="19139" y="3429"/>
                    <a:pt x="19139" y="3429"/>
                  </a:cubicBezTo>
                  <a:cubicBezTo>
                    <a:pt x="19139" y="3429"/>
                    <a:pt x="19139" y="3429"/>
                    <a:pt x="19139" y="3314"/>
                  </a:cubicBezTo>
                  <a:cubicBezTo>
                    <a:pt x="19139" y="3200"/>
                    <a:pt x="19139" y="3200"/>
                    <a:pt x="19139" y="3086"/>
                  </a:cubicBezTo>
                  <a:cubicBezTo>
                    <a:pt x="19139" y="2971"/>
                    <a:pt x="19139" y="2971"/>
                    <a:pt x="19139" y="2857"/>
                  </a:cubicBezTo>
                  <a:cubicBezTo>
                    <a:pt x="19276" y="2857"/>
                    <a:pt x="19276" y="2743"/>
                    <a:pt x="19276" y="2629"/>
                  </a:cubicBezTo>
                  <a:cubicBezTo>
                    <a:pt x="19276" y="2286"/>
                    <a:pt x="19139" y="2171"/>
                    <a:pt x="18729" y="2171"/>
                  </a:cubicBezTo>
                  <a:cubicBezTo>
                    <a:pt x="18729" y="2057"/>
                    <a:pt x="18592" y="2057"/>
                    <a:pt x="18592" y="2057"/>
                  </a:cubicBezTo>
                  <a:cubicBezTo>
                    <a:pt x="18456" y="2057"/>
                    <a:pt x="18456" y="2057"/>
                    <a:pt x="18319" y="2057"/>
                  </a:cubicBezTo>
                  <a:cubicBezTo>
                    <a:pt x="18319" y="1943"/>
                    <a:pt x="18182" y="1943"/>
                    <a:pt x="18046" y="1829"/>
                  </a:cubicBezTo>
                  <a:cubicBezTo>
                    <a:pt x="18046" y="1714"/>
                    <a:pt x="18046" y="1714"/>
                    <a:pt x="18046" y="1714"/>
                  </a:cubicBezTo>
                  <a:cubicBezTo>
                    <a:pt x="17772" y="1486"/>
                    <a:pt x="17772" y="1143"/>
                    <a:pt x="17772" y="914"/>
                  </a:cubicBezTo>
                  <a:cubicBezTo>
                    <a:pt x="17772" y="686"/>
                    <a:pt x="17635" y="571"/>
                    <a:pt x="17635" y="343"/>
                  </a:cubicBezTo>
                  <a:cubicBezTo>
                    <a:pt x="17499" y="0"/>
                    <a:pt x="17499" y="0"/>
                    <a:pt x="17499" y="0"/>
                  </a:cubicBezTo>
                  <a:cubicBezTo>
                    <a:pt x="15448" y="1829"/>
                    <a:pt x="15448" y="1829"/>
                    <a:pt x="15448" y="1829"/>
                  </a:cubicBezTo>
                  <a:cubicBezTo>
                    <a:pt x="15311" y="1829"/>
                    <a:pt x="15038" y="1943"/>
                    <a:pt x="14765" y="1943"/>
                  </a:cubicBezTo>
                  <a:cubicBezTo>
                    <a:pt x="14491" y="1943"/>
                    <a:pt x="14218" y="1829"/>
                    <a:pt x="14081" y="1829"/>
                  </a:cubicBezTo>
                  <a:cubicBezTo>
                    <a:pt x="13944" y="1714"/>
                    <a:pt x="13944" y="1714"/>
                    <a:pt x="13944" y="1714"/>
                  </a:cubicBezTo>
                  <a:cubicBezTo>
                    <a:pt x="13671" y="1600"/>
                    <a:pt x="13534" y="1600"/>
                    <a:pt x="13397" y="1600"/>
                  </a:cubicBezTo>
                  <a:cubicBezTo>
                    <a:pt x="13124" y="1600"/>
                    <a:pt x="12987" y="1600"/>
                    <a:pt x="12851" y="1714"/>
                  </a:cubicBezTo>
                  <a:cubicBezTo>
                    <a:pt x="12441" y="1829"/>
                    <a:pt x="12167" y="1943"/>
                    <a:pt x="11620" y="1943"/>
                  </a:cubicBezTo>
                  <a:cubicBezTo>
                    <a:pt x="11210" y="2057"/>
                    <a:pt x="10800" y="2057"/>
                    <a:pt x="10527" y="2286"/>
                  </a:cubicBezTo>
                  <a:cubicBezTo>
                    <a:pt x="10390" y="2286"/>
                    <a:pt x="10390" y="2400"/>
                    <a:pt x="10390" y="2400"/>
                  </a:cubicBezTo>
                  <a:cubicBezTo>
                    <a:pt x="10253" y="2514"/>
                    <a:pt x="10253" y="2514"/>
                    <a:pt x="10116" y="2629"/>
                  </a:cubicBezTo>
                  <a:cubicBezTo>
                    <a:pt x="9980" y="2629"/>
                    <a:pt x="9980" y="2629"/>
                    <a:pt x="9980" y="2629"/>
                  </a:cubicBezTo>
                  <a:cubicBezTo>
                    <a:pt x="9843" y="2629"/>
                    <a:pt x="9843" y="2629"/>
                    <a:pt x="9706" y="2629"/>
                  </a:cubicBezTo>
                  <a:cubicBezTo>
                    <a:pt x="9570" y="2629"/>
                    <a:pt x="9570" y="2629"/>
                    <a:pt x="9570" y="2629"/>
                  </a:cubicBezTo>
                  <a:cubicBezTo>
                    <a:pt x="9433" y="2629"/>
                    <a:pt x="9433" y="2629"/>
                    <a:pt x="9296" y="2514"/>
                  </a:cubicBezTo>
                  <a:cubicBezTo>
                    <a:pt x="9296" y="2400"/>
                    <a:pt x="9296" y="2400"/>
                    <a:pt x="9296" y="2400"/>
                  </a:cubicBezTo>
                  <a:cubicBezTo>
                    <a:pt x="9159" y="2400"/>
                    <a:pt x="9159" y="2286"/>
                    <a:pt x="9159" y="2286"/>
                  </a:cubicBezTo>
                  <a:cubicBezTo>
                    <a:pt x="9159" y="2171"/>
                    <a:pt x="9023" y="2057"/>
                    <a:pt x="9023" y="1943"/>
                  </a:cubicBezTo>
                  <a:cubicBezTo>
                    <a:pt x="9023" y="1943"/>
                    <a:pt x="8886" y="1829"/>
                    <a:pt x="8613" y="1829"/>
                  </a:cubicBezTo>
                  <a:cubicBezTo>
                    <a:pt x="8476" y="1829"/>
                    <a:pt x="8339" y="1943"/>
                    <a:pt x="8066" y="2057"/>
                  </a:cubicBezTo>
                  <a:cubicBezTo>
                    <a:pt x="7792" y="2171"/>
                    <a:pt x="7656" y="2286"/>
                    <a:pt x="7519" y="2286"/>
                  </a:cubicBezTo>
                  <a:cubicBezTo>
                    <a:pt x="7382" y="2286"/>
                    <a:pt x="7246" y="2171"/>
                    <a:pt x="6972" y="2057"/>
                  </a:cubicBezTo>
                  <a:cubicBezTo>
                    <a:pt x="6835" y="1943"/>
                    <a:pt x="6562" y="1829"/>
                    <a:pt x="6289" y="1829"/>
                  </a:cubicBezTo>
                  <a:cubicBezTo>
                    <a:pt x="6152" y="1829"/>
                    <a:pt x="6015" y="1829"/>
                    <a:pt x="5878" y="1943"/>
                  </a:cubicBezTo>
                  <a:cubicBezTo>
                    <a:pt x="5605" y="2057"/>
                    <a:pt x="5468" y="2171"/>
                    <a:pt x="5332" y="2286"/>
                  </a:cubicBezTo>
                  <a:cubicBezTo>
                    <a:pt x="5332" y="2286"/>
                    <a:pt x="5332" y="2286"/>
                    <a:pt x="5195" y="2400"/>
                  </a:cubicBezTo>
                  <a:cubicBezTo>
                    <a:pt x="5058" y="2514"/>
                    <a:pt x="5058" y="2514"/>
                    <a:pt x="5058" y="2514"/>
                  </a:cubicBezTo>
                  <a:cubicBezTo>
                    <a:pt x="5195" y="2629"/>
                    <a:pt x="5195" y="2629"/>
                    <a:pt x="5195" y="2629"/>
                  </a:cubicBezTo>
                  <a:cubicBezTo>
                    <a:pt x="5332" y="2971"/>
                    <a:pt x="5058" y="3429"/>
                    <a:pt x="4785" y="3886"/>
                  </a:cubicBezTo>
                  <a:cubicBezTo>
                    <a:pt x="4511" y="4343"/>
                    <a:pt x="4375" y="4571"/>
                    <a:pt x="4511" y="4800"/>
                  </a:cubicBezTo>
                  <a:cubicBezTo>
                    <a:pt x="4511" y="4800"/>
                    <a:pt x="4648" y="4914"/>
                    <a:pt x="4648" y="4914"/>
                  </a:cubicBezTo>
                  <a:cubicBezTo>
                    <a:pt x="4785" y="5029"/>
                    <a:pt x="4785" y="5029"/>
                    <a:pt x="4922" y="5143"/>
                  </a:cubicBezTo>
                  <a:cubicBezTo>
                    <a:pt x="4922" y="5371"/>
                    <a:pt x="4922" y="5486"/>
                    <a:pt x="4785" y="5600"/>
                  </a:cubicBezTo>
                  <a:cubicBezTo>
                    <a:pt x="4785" y="5714"/>
                    <a:pt x="4785" y="5714"/>
                    <a:pt x="4785" y="5714"/>
                  </a:cubicBezTo>
                  <a:cubicBezTo>
                    <a:pt x="4785" y="5714"/>
                    <a:pt x="4648" y="5829"/>
                    <a:pt x="4648" y="5943"/>
                  </a:cubicBezTo>
                  <a:cubicBezTo>
                    <a:pt x="4511" y="6171"/>
                    <a:pt x="4375" y="6514"/>
                    <a:pt x="4375" y="6743"/>
                  </a:cubicBezTo>
                  <a:cubicBezTo>
                    <a:pt x="4375" y="6857"/>
                    <a:pt x="4375" y="6857"/>
                    <a:pt x="4375" y="6857"/>
                  </a:cubicBezTo>
                  <a:cubicBezTo>
                    <a:pt x="4511" y="6971"/>
                    <a:pt x="4511" y="6971"/>
                    <a:pt x="4511" y="6971"/>
                  </a:cubicBezTo>
                  <a:cubicBezTo>
                    <a:pt x="4648" y="6971"/>
                    <a:pt x="4785" y="7086"/>
                    <a:pt x="5058" y="7086"/>
                  </a:cubicBezTo>
                  <a:cubicBezTo>
                    <a:pt x="5058" y="7086"/>
                    <a:pt x="5058" y="7086"/>
                    <a:pt x="5058" y="7086"/>
                  </a:cubicBezTo>
                  <a:cubicBezTo>
                    <a:pt x="5742" y="7314"/>
                    <a:pt x="6425" y="7543"/>
                    <a:pt x="6562" y="8000"/>
                  </a:cubicBezTo>
                  <a:cubicBezTo>
                    <a:pt x="6562" y="8229"/>
                    <a:pt x="6425" y="8457"/>
                    <a:pt x="6152" y="8686"/>
                  </a:cubicBezTo>
                  <a:cubicBezTo>
                    <a:pt x="5605" y="9143"/>
                    <a:pt x="5195" y="9600"/>
                    <a:pt x="4785" y="10171"/>
                  </a:cubicBezTo>
                  <a:cubicBezTo>
                    <a:pt x="4375" y="10514"/>
                    <a:pt x="4101" y="10971"/>
                    <a:pt x="3691" y="11314"/>
                  </a:cubicBezTo>
                  <a:cubicBezTo>
                    <a:pt x="3418" y="11543"/>
                    <a:pt x="3281" y="11543"/>
                    <a:pt x="3144" y="11543"/>
                  </a:cubicBezTo>
                  <a:cubicBezTo>
                    <a:pt x="3008" y="11657"/>
                    <a:pt x="2871" y="11657"/>
                    <a:pt x="2734" y="11657"/>
                  </a:cubicBezTo>
                  <a:cubicBezTo>
                    <a:pt x="2461" y="11771"/>
                    <a:pt x="2461" y="11886"/>
                    <a:pt x="2461" y="12114"/>
                  </a:cubicBezTo>
                  <a:cubicBezTo>
                    <a:pt x="2461" y="12229"/>
                    <a:pt x="2461" y="12229"/>
                    <a:pt x="2461" y="12343"/>
                  </a:cubicBezTo>
                  <a:cubicBezTo>
                    <a:pt x="2324" y="12686"/>
                    <a:pt x="2051" y="12686"/>
                    <a:pt x="1777" y="12800"/>
                  </a:cubicBezTo>
                  <a:cubicBezTo>
                    <a:pt x="1504" y="12914"/>
                    <a:pt x="1230" y="13029"/>
                    <a:pt x="1230" y="13371"/>
                  </a:cubicBezTo>
                  <a:cubicBezTo>
                    <a:pt x="1230" y="13600"/>
                    <a:pt x="1230" y="13829"/>
                    <a:pt x="1230" y="14057"/>
                  </a:cubicBezTo>
                  <a:cubicBezTo>
                    <a:pt x="1230" y="14400"/>
                    <a:pt x="1230" y="14743"/>
                    <a:pt x="957" y="15086"/>
                  </a:cubicBezTo>
                  <a:cubicBezTo>
                    <a:pt x="684" y="15771"/>
                    <a:pt x="547" y="16343"/>
                    <a:pt x="410" y="17029"/>
                  </a:cubicBezTo>
                  <a:cubicBezTo>
                    <a:pt x="137" y="17714"/>
                    <a:pt x="137" y="18514"/>
                    <a:pt x="0" y="19543"/>
                  </a:cubicBezTo>
                  <a:cubicBezTo>
                    <a:pt x="0" y="19886"/>
                    <a:pt x="0" y="19886"/>
                    <a:pt x="0" y="19886"/>
                  </a:cubicBezTo>
                  <a:cubicBezTo>
                    <a:pt x="0" y="20114"/>
                    <a:pt x="0" y="20457"/>
                    <a:pt x="0" y="20800"/>
                  </a:cubicBezTo>
                  <a:cubicBezTo>
                    <a:pt x="0" y="21257"/>
                    <a:pt x="0" y="21257"/>
                    <a:pt x="0" y="21257"/>
                  </a:cubicBezTo>
                  <a:cubicBezTo>
                    <a:pt x="410" y="21143"/>
                    <a:pt x="410" y="21143"/>
                    <a:pt x="410" y="21143"/>
                  </a:cubicBezTo>
                  <a:cubicBezTo>
                    <a:pt x="547" y="21143"/>
                    <a:pt x="684" y="21143"/>
                    <a:pt x="684" y="21029"/>
                  </a:cubicBezTo>
                  <a:cubicBezTo>
                    <a:pt x="957" y="21029"/>
                    <a:pt x="957" y="21143"/>
                    <a:pt x="957" y="21257"/>
                  </a:cubicBezTo>
                  <a:cubicBezTo>
                    <a:pt x="957" y="21371"/>
                    <a:pt x="1094" y="21371"/>
                    <a:pt x="1094" y="21486"/>
                  </a:cubicBezTo>
                  <a:cubicBezTo>
                    <a:pt x="1230" y="21600"/>
                    <a:pt x="1367" y="21600"/>
                    <a:pt x="1367" y="21600"/>
                  </a:cubicBezTo>
                  <a:cubicBezTo>
                    <a:pt x="1504" y="21600"/>
                    <a:pt x="1504" y="21600"/>
                    <a:pt x="1504" y="21600"/>
                  </a:cubicBezTo>
                  <a:cubicBezTo>
                    <a:pt x="1777" y="21600"/>
                    <a:pt x="2051" y="21486"/>
                    <a:pt x="2324" y="21143"/>
                  </a:cubicBezTo>
                  <a:cubicBezTo>
                    <a:pt x="2461" y="21029"/>
                    <a:pt x="2461" y="20914"/>
                    <a:pt x="2597" y="20800"/>
                  </a:cubicBezTo>
                  <a:cubicBezTo>
                    <a:pt x="2734" y="20571"/>
                    <a:pt x="2871" y="20457"/>
                    <a:pt x="3144" y="20343"/>
                  </a:cubicBezTo>
                  <a:cubicBezTo>
                    <a:pt x="3281" y="20343"/>
                    <a:pt x="3281" y="20343"/>
                    <a:pt x="3418" y="20343"/>
                  </a:cubicBezTo>
                  <a:cubicBezTo>
                    <a:pt x="3418" y="20343"/>
                    <a:pt x="3554" y="20343"/>
                    <a:pt x="3554" y="20343"/>
                  </a:cubicBezTo>
                  <a:cubicBezTo>
                    <a:pt x="3554" y="20343"/>
                    <a:pt x="3691" y="20343"/>
                    <a:pt x="3691" y="20343"/>
                  </a:cubicBezTo>
                  <a:cubicBezTo>
                    <a:pt x="3691" y="20343"/>
                    <a:pt x="3828" y="20343"/>
                    <a:pt x="3965" y="20229"/>
                  </a:cubicBezTo>
                  <a:cubicBezTo>
                    <a:pt x="4101" y="20229"/>
                    <a:pt x="4238" y="20114"/>
                    <a:pt x="4375" y="20114"/>
                  </a:cubicBezTo>
                  <a:cubicBezTo>
                    <a:pt x="4511" y="20000"/>
                    <a:pt x="4648" y="20000"/>
                    <a:pt x="4922" y="20000"/>
                  </a:cubicBezTo>
                  <a:cubicBezTo>
                    <a:pt x="4922" y="20000"/>
                    <a:pt x="5058" y="20000"/>
                    <a:pt x="5058" y="20000"/>
                  </a:cubicBezTo>
                  <a:cubicBezTo>
                    <a:pt x="5468" y="20000"/>
                    <a:pt x="5878" y="20000"/>
                    <a:pt x="6289" y="19886"/>
                  </a:cubicBezTo>
                  <a:cubicBezTo>
                    <a:pt x="6289" y="19886"/>
                    <a:pt x="6289" y="19886"/>
                    <a:pt x="6289" y="19886"/>
                  </a:cubicBezTo>
                  <a:cubicBezTo>
                    <a:pt x="6425" y="19886"/>
                    <a:pt x="6699" y="19886"/>
                    <a:pt x="6835" y="19886"/>
                  </a:cubicBezTo>
                  <a:cubicBezTo>
                    <a:pt x="6972" y="19886"/>
                    <a:pt x="6972" y="19886"/>
                    <a:pt x="6972" y="19886"/>
                  </a:cubicBezTo>
                  <a:cubicBezTo>
                    <a:pt x="7246" y="19886"/>
                    <a:pt x="7519" y="19886"/>
                    <a:pt x="7792" y="19886"/>
                  </a:cubicBezTo>
                  <a:cubicBezTo>
                    <a:pt x="7929" y="19886"/>
                    <a:pt x="8066" y="19886"/>
                    <a:pt x="8203" y="19886"/>
                  </a:cubicBezTo>
                  <a:cubicBezTo>
                    <a:pt x="8339" y="19886"/>
                    <a:pt x="8339" y="19886"/>
                    <a:pt x="8476" y="19886"/>
                  </a:cubicBezTo>
                  <a:cubicBezTo>
                    <a:pt x="8476" y="19886"/>
                    <a:pt x="8613" y="19886"/>
                    <a:pt x="8613" y="19886"/>
                  </a:cubicBezTo>
                  <a:cubicBezTo>
                    <a:pt x="9159" y="20000"/>
                    <a:pt x="9159" y="20000"/>
                    <a:pt x="9159" y="20000"/>
                  </a:cubicBezTo>
                  <a:cubicBezTo>
                    <a:pt x="8886" y="19543"/>
                    <a:pt x="8886" y="19543"/>
                    <a:pt x="8886" y="19543"/>
                  </a:cubicBezTo>
                  <a:cubicBezTo>
                    <a:pt x="8749" y="19429"/>
                    <a:pt x="8749" y="19429"/>
                    <a:pt x="8749" y="19429"/>
                  </a:cubicBezTo>
                  <a:cubicBezTo>
                    <a:pt x="8749" y="19314"/>
                    <a:pt x="8749" y="19200"/>
                    <a:pt x="8749" y="18971"/>
                  </a:cubicBezTo>
                  <a:cubicBezTo>
                    <a:pt x="8749" y="18743"/>
                    <a:pt x="8749" y="18743"/>
                    <a:pt x="8749" y="18743"/>
                  </a:cubicBezTo>
                  <a:cubicBezTo>
                    <a:pt x="8749" y="18514"/>
                    <a:pt x="8749" y="18514"/>
                    <a:pt x="8886" y="18286"/>
                  </a:cubicBezTo>
                  <a:cubicBezTo>
                    <a:pt x="8886" y="18286"/>
                    <a:pt x="8886" y="18171"/>
                    <a:pt x="9023" y="18171"/>
                  </a:cubicBezTo>
                  <a:cubicBezTo>
                    <a:pt x="9023" y="18057"/>
                    <a:pt x="9159" y="17943"/>
                    <a:pt x="9159" y="17829"/>
                  </a:cubicBezTo>
                  <a:cubicBezTo>
                    <a:pt x="9159" y="17829"/>
                    <a:pt x="9296" y="17829"/>
                    <a:pt x="9296" y="17829"/>
                  </a:cubicBezTo>
                  <a:cubicBezTo>
                    <a:pt x="9433" y="17714"/>
                    <a:pt x="9570" y="17714"/>
                    <a:pt x="9706" y="17486"/>
                  </a:cubicBezTo>
                  <a:cubicBezTo>
                    <a:pt x="9980" y="17257"/>
                    <a:pt x="9843" y="17029"/>
                    <a:pt x="9843" y="16800"/>
                  </a:cubicBezTo>
                  <a:cubicBezTo>
                    <a:pt x="9843" y="16571"/>
                    <a:pt x="9843" y="16457"/>
                    <a:pt x="9980" y="16457"/>
                  </a:cubicBezTo>
                  <a:cubicBezTo>
                    <a:pt x="10116" y="16343"/>
                    <a:pt x="10253" y="16343"/>
                    <a:pt x="10527" y="16343"/>
                  </a:cubicBezTo>
                  <a:cubicBezTo>
                    <a:pt x="10800" y="16229"/>
                    <a:pt x="11210" y="16229"/>
                    <a:pt x="11484" y="16114"/>
                  </a:cubicBezTo>
                  <a:cubicBezTo>
                    <a:pt x="11620" y="16000"/>
                    <a:pt x="11620" y="16000"/>
                    <a:pt x="11757" y="15886"/>
                  </a:cubicBezTo>
                  <a:cubicBezTo>
                    <a:pt x="11894" y="15771"/>
                    <a:pt x="12030" y="15771"/>
                    <a:pt x="12167" y="15771"/>
                  </a:cubicBezTo>
                  <a:cubicBezTo>
                    <a:pt x="12167" y="15771"/>
                    <a:pt x="12304" y="15771"/>
                    <a:pt x="12441" y="15771"/>
                  </a:cubicBezTo>
                  <a:cubicBezTo>
                    <a:pt x="12441" y="15771"/>
                    <a:pt x="12577" y="15771"/>
                    <a:pt x="12577" y="15771"/>
                  </a:cubicBezTo>
                  <a:cubicBezTo>
                    <a:pt x="12851" y="15886"/>
                    <a:pt x="12987" y="15886"/>
                    <a:pt x="13124" y="15886"/>
                  </a:cubicBezTo>
                  <a:cubicBezTo>
                    <a:pt x="13397" y="15886"/>
                    <a:pt x="13671" y="15771"/>
                    <a:pt x="13944" y="15429"/>
                  </a:cubicBezTo>
                  <a:cubicBezTo>
                    <a:pt x="13944" y="15429"/>
                    <a:pt x="13944" y="15429"/>
                    <a:pt x="13944" y="15429"/>
                  </a:cubicBezTo>
                  <a:cubicBezTo>
                    <a:pt x="14081" y="15200"/>
                    <a:pt x="14354" y="14971"/>
                    <a:pt x="14491" y="14857"/>
                  </a:cubicBezTo>
                  <a:cubicBezTo>
                    <a:pt x="14765" y="15086"/>
                    <a:pt x="15038" y="15314"/>
                    <a:pt x="15175" y="15429"/>
                  </a:cubicBezTo>
                  <a:cubicBezTo>
                    <a:pt x="15311" y="15429"/>
                    <a:pt x="15448" y="15543"/>
                    <a:pt x="15585" y="15543"/>
                  </a:cubicBezTo>
                  <a:cubicBezTo>
                    <a:pt x="15722" y="15543"/>
                    <a:pt x="15858" y="15429"/>
                    <a:pt x="15995" y="15314"/>
                  </a:cubicBezTo>
                  <a:cubicBezTo>
                    <a:pt x="15995" y="15314"/>
                    <a:pt x="15995" y="15314"/>
                    <a:pt x="15995" y="15314"/>
                  </a:cubicBezTo>
                  <a:cubicBezTo>
                    <a:pt x="16132" y="15429"/>
                    <a:pt x="16268" y="15543"/>
                    <a:pt x="16405" y="15543"/>
                  </a:cubicBezTo>
                  <a:cubicBezTo>
                    <a:pt x="16405" y="15543"/>
                    <a:pt x="16405" y="15657"/>
                    <a:pt x="16542" y="15657"/>
                  </a:cubicBezTo>
                  <a:cubicBezTo>
                    <a:pt x="16542" y="15771"/>
                    <a:pt x="16678" y="15771"/>
                    <a:pt x="16815" y="15886"/>
                  </a:cubicBezTo>
                  <a:cubicBezTo>
                    <a:pt x="17089" y="16229"/>
                    <a:pt x="17089" y="16229"/>
                    <a:pt x="17089" y="16229"/>
                  </a:cubicBezTo>
                  <a:cubicBezTo>
                    <a:pt x="17225" y="15886"/>
                    <a:pt x="17225" y="15886"/>
                    <a:pt x="17225" y="15886"/>
                  </a:cubicBezTo>
                  <a:cubicBezTo>
                    <a:pt x="17362" y="15771"/>
                    <a:pt x="17499" y="15429"/>
                    <a:pt x="17499" y="15200"/>
                  </a:cubicBezTo>
                  <a:cubicBezTo>
                    <a:pt x="18046" y="14971"/>
                    <a:pt x="18046" y="14514"/>
                    <a:pt x="18046" y="14057"/>
                  </a:cubicBezTo>
                  <a:cubicBezTo>
                    <a:pt x="18046" y="13943"/>
                    <a:pt x="18046" y="13943"/>
                    <a:pt x="18046" y="13829"/>
                  </a:cubicBezTo>
                  <a:cubicBezTo>
                    <a:pt x="18182" y="13829"/>
                    <a:pt x="18319" y="13829"/>
                    <a:pt x="18319" y="13829"/>
                  </a:cubicBezTo>
                  <a:cubicBezTo>
                    <a:pt x="18456" y="13829"/>
                    <a:pt x="18592" y="13829"/>
                    <a:pt x="18592" y="13714"/>
                  </a:cubicBezTo>
                  <a:cubicBezTo>
                    <a:pt x="19413" y="13486"/>
                    <a:pt x="19413" y="13486"/>
                    <a:pt x="19413" y="13486"/>
                  </a:cubicBezTo>
                  <a:cubicBezTo>
                    <a:pt x="18729" y="13371"/>
                    <a:pt x="18729" y="13371"/>
                    <a:pt x="18729" y="13371"/>
                  </a:cubicBezTo>
                  <a:cubicBezTo>
                    <a:pt x="18729" y="13371"/>
                    <a:pt x="18729" y="13257"/>
                    <a:pt x="18866" y="13257"/>
                  </a:cubicBezTo>
                  <a:cubicBezTo>
                    <a:pt x="18866" y="13143"/>
                    <a:pt x="19003" y="13029"/>
                    <a:pt x="19003" y="13029"/>
                  </a:cubicBezTo>
                  <a:cubicBezTo>
                    <a:pt x="19139" y="12914"/>
                    <a:pt x="19276" y="12800"/>
                    <a:pt x="19276" y="12571"/>
                  </a:cubicBezTo>
                  <a:cubicBezTo>
                    <a:pt x="19413" y="12229"/>
                    <a:pt x="19413" y="12229"/>
                    <a:pt x="19823" y="12000"/>
                  </a:cubicBezTo>
                  <a:cubicBezTo>
                    <a:pt x="19823" y="11886"/>
                    <a:pt x="19959" y="11886"/>
                    <a:pt x="19959" y="11886"/>
                  </a:cubicBezTo>
                  <a:cubicBezTo>
                    <a:pt x="20096" y="11657"/>
                    <a:pt x="20233" y="11543"/>
                    <a:pt x="20506" y="11543"/>
                  </a:cubicBezTo>
                  <a:cubicBezTo>
                    <a:pt x="20643" y="11429"/>
                    <a:pt x="20643" y="11429"/>
                    <a:pt x="20643" y="11429"/>
                  </a:cubicBezTo>
                  <a:cubicBezTo>
                    <a:pt x="20643" y="11200"/>
                    <a:pt x="20643" y="11200"/>
                    <a:pt x="20643" y="11200"/>
                  </a:cubicBezTo>
                  <a:cubicBezTo>
                    <a:pt x="20780" y="10971"/>
                    <a:pt x="20780" y="10743"/>
                    <a:pt x="21053" y="10400"/>
                  </a:cubicBezTo>
                  <a:cubicBezTo>
                    <a:pt x="21190" y="10171"/>
                    <a:pt x="21600" y="9714"/>
                    <a:pt x="21463" y="9257"/>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42" name="Shape">
              <a:extLst>
                <a:ext uri="{FF2B5EF4-FFF2-40B4-BE49-F238E27FC236}">
                  <a16:creationId xmlns:a16="http://schemas.microsoft.com/office/drawing/2014/main" id="{4077314F-0675-724A-88FF-683884168EA9}"/>
                </a:ext>
              </a:extLst>
            </p:cNvPr>
            <p:cNvSpPr/>
            <p:nvPr/>
          </p:nvSpPr>
          <p:spPr>
            <a:xfrm>
              <a:off x="6910237" y="2284772"/>
              <a:ext cx="759979" cy="677336"/>
            </a:xfrm>
            <a:custGeom>
              <a:avLst/>
              <a:gdLst/>
              <a:ahLst/>
              <a:cxnLst>
                <a:cxn ang="0">
                  <a:pos x="wd2" y="hd2"/>
                </a:cxn>
                <a:cxn ang="5400000">
                  <a:pos x="wd2" y="hd2"/>
                </a:cxn>
                <a:cxn ang="10800000">
                  <a:pos x="wd2" y="hd2"/>
                </a:cxn>
                <a:cxn ang="16200000">
                  <a:pos x="wd2" y="hd2"/>
                </a:cxn>
              </a:cxnLst>
              <a:rect l="0" t="0" r="r" b="b"/>
              <a:pathLst>
                <a:path w="21556" h="21600" extrusionOk="0">
                  <a:moveTo>
                    <a:pt x="21446" y="19771"/>
                  </a:moveTo>
                  <a:cubicBezTo>
                    <a:pt x="21446" y="19771"/>
                    <a:pt x="21336" y="19543"/>
                    <a:pt x="21005" y="19543"/>
                  </a:cubicBezTo>
                  <a:cubicBezTo>
                    <a:pt x="21005" y="19543"/>
                    <a:pt x="21005" y="19543"/>
                    <a:pt x="21005" y="19543"/>
                  </a:cubicBezTo>
                  <a:cubicBezTo>
                    <a:pt x="20895" y="19543"/>
                    <a:pt x="20785" y="19543"/>
                    <a:pt x="20785" y="19543"/>
                  </a:cubicBezTo>
                  <a:cubicBezTo>
                    <a:pt x="20785" y="19543"/>
                    <a:pt x="20785" y="19543"/>
                    <a:pt x="20785" y="19543"/>
                  </a:cubicBezTo>
                  <a:cubicBezTo>
                    <a:pt x="20785" y="19543"/>
                    <a:pt x="20785" y="19543"/>
                    <a:pt x="20674" y="19543"/>
                  </a:cubicBezTo>
                  <a:cubicBezTo>
                    <a:pt x="20674" y="19429"/>
                    <a:pt x="20564" y="19314"/>
                    <a:pt x="20564" y="19200"/>
                  </a:cubicBezTo>
                  <a:cubicBezTo>
                    <a:pt x="20344" y="18857"/>
                    <a:pt x="20123" y="18514"/>
                    <a:pt x="19683" y="18400"/>
                  </a:cubicBezTo>
                  <a:cubicBezTo>
                    <a:pt x="19462" y="18286"/>
                    <a:pt x="19352" y="18171"/>
                    <a:pt x="19242" y="17943"/>
                  </a:cubicBezTo>
                  <a:cubicBezTo>
                    <a:pt x="19242" y="17829"/>
                    <a:pt x="19242" y="17829"/>
                    <a:pt x="19242" y="17714"/>
                  </a:cubicBezTo>
                  <a:cubicBezTo>
                    <a:pt x="19132" y="17371"/>
                    <a:pt x="19021" y="16914"/>
                    <a:pt x="18580" y="16686"/>
                  </a:cubicBezTo>
                  <a:cubicBezTo>
                    <a:pt x="18470" y="16571"/>
                    <a:pt x="18470" y="16571"/>
                    <a:pt x="18470" y="16571"/>
                  </a:cubicBezTo>
                  <a:cubicBezTo>
                    <a:pt x="18250" y="16457"/>
                    <a:pt x="18250" y="16457"/>
                    <a:pt x="18140" y="16229"/>
                  </a:cubicBezTo>
                  <a:cubicBezTo>
                    <a:pt x="18029" y="16114"/>
                    <a:pt x="17919" y="15886"/>
                    <a:pt x="17589" y="15657"/>
                  </a:cubicBezTo>
                  <a:cubicBezTo>
                    <a:pt x="17478" y="15657"/>
                    <a:pt x="17478" y="15543"/>
                    <a:pt x="17368" y="15543"/>
                  </a:cubicBezTo>
                  <a:cubicBezTo>
                    <a:pt x="17258" y="15543"/>
                    <a:pt x="17148" y="15429"/>
                    <a:pt x="17038" y="15429"/>
                  </a:cubicBezTo>
                  <a:cubicBezTo>
                    <a:pt x="16927" y="15314"/>
                    <a:pt x="16817" y="15200"/>
                    <a:pt x="16817" y="15086"/>
                  </a:cubicBezTo>
                  <a:cubicBezTo>
                    <a:pt x="16707" y="15086"/>
                    <a:pt x="16707" y="14971"/>
                    <a:pt x="16707" y="14971"/>
                  </a:cubicBezTo>
                  <a:cubicBezTo>
                    <a:pt x="16597" y="14743"/>
                    <a:pt x="16487" y="14629"/>
                    <a:pt x="16376" y="14514"/>
                  </a:cubicBezTo>
                  <a:cubicBezTo>
                    <a:pt x="16046" y="14171"/>
                    <a:pt x="16046" y="14171"/>
                    <a:pt x="16046" y="14171"/>
                  </a:cubicBezTo>
                  <a:cubicBezTo>
                    <a:pt x="15936" y="14057"/>
                    <a:pt x="15825" y="13943"/>
                    <a:pt x="15825" y="13829"/>
                  </a:cubicBezTo>
                  <a:cubicBezTo>
                    <a:pt x="15825" y="13714"/>
                    <a:pt x="15825" y="13714"/>
                    <a:pt x="15825" y="13714"/>
                  </a:cubicBezTo>
                  <a:cubicBezTo>
                    <a:pt x="15715" y="13600"/>
                    <a:pt x="15715" y="13600"/>
                    <a:pt x="15715" y="13486"/>
                  </a:cubicBezTo>
                  <a:cubicBezTo>
                    <a:pt x="15715" y="13486"/>
                    <a:pt x="15605" y="13371"/>
                    <a:pt x="15605" y="13257"/>
                  </a:cubicBezTo>
                  <a:cubicBezTo>
                    <a:pt x="15495" y="13257"/>
                    <a:pt x="15495" y="13257"/>
                    <a:pt x="15495" y="13143"/>
                  </a:cubicBezTo>
                  <a:cubicBezTo>
                    <a:pt x="15385" y="13143"/>
                    <a:pt x="15385" y="13143"/>
                    <a:pt x="15385" y="13143"/>
                  </a:cubicBezTo>
                  <a:cubicBezTo>
                    <a:pt x="15274" y="12914"/>
                    <a:pt x="15164" y="12686"/>
                    <a:pt x="14834" y="12686"/>
                  </a:cubicBezTo>
                  <a:cubicBezTo>
                    <a:pt x="14834" y="12686"/>
                    <a:pt x="14723" y="12571"/>
                    <a:pt x="14613" y="12571"/>
                  </a:cubicBezTo>
                  <a:cubicBezTo>
                    <a:pt x="14393" y="12571"/>
                    <a:pt x="14283" y="12571"/>
                    <a:pt x="14172" y="12571"/>
                  </a:cubicBezTo>
                  <a:cubicBezTo>
                    <a:pt x="13952" y="12457"/>
                    <a:pt x="13842" y="12229"/>
                    <a:pt x="13621" y="12000"/>
                  </a:cubicBezTo>
                  <a:cubicBezTo>
                    <a:pt x="13511" y="11886"/>
                    <a:pt x="13401" y="11771"/>
                    <a:pt x="13401" y="11657"/>
                  </a:cubicBezTo>
                  <a:cubicBezTo>
                    <a:pt x="13291" y="11543"/>
                    <a:pt x="12960" y="11314"/>
                    <a:pt x="12629" y="11314"/>
                  </a:cubicBezTo>
                  <a:cubicBezTo>
                    <a:pt x="12629" y="11314"/>
                    <a:pt x="12519" y="11314"/>
                    <a:pt x="12519" y="11429"/>
                  </a:cubicBezTo>
                  <a:cubicBezTo>
                    <a:pt x="12409" y="11429"/>
                    <a:pt x="12409" y="11429"/>
                    <a:pt x="12299" y="11429"/>
                  </a:cubicBezTo>
                  <a:cubicBezTo>
                    <a:pt x="12189" y="11429"/>
                    <a:pt x="12189" y="11543"/>
                    <a:pt x="12078" y="11543"/>
                  </a:cubicBezTo>
                  <a:cubicBezTo>
                    <a:pt x="12078" y="11543"/>
                    <a:pt x="12078" y="11543"/>
                    <a:pt x="11968" y="11429"/>
                  </a:cubicBezTo>
                  <a:cubicBezTo>
                    <a:pt x="11968" y="11429"/>
                    <a:pt x="11968" y="11429"/>
                    <a:pt x="11858" y="11314"/>
                  </a:cubicBezTo>
                  <a:cubicBezTo>
                    <a:pt x="11858" y="11200"/>
                    <a:pt x="11858" y="11086"/>
                    <a:pt x="11748" y="11086"/>
                  </a:cubicBezTo>
                  <a:cubicBezTo>
                    <a:pt x="11638" y="10857"/>
                    <a:pt x="11638" y="10743"/>
                    <a:pt x="11638" y="10514"/>
                  </a:cubicBezTo>
                  <a:cubicBezTo>
                    <a:pt x="11638" y="10286"/>
                    <a:pt x="11527" y="10057"/>
                    <a:pt x="11307" y="9714"/>
                  </a:cubicBezTo>
                  <a:cubicBezTo>
                    <a:pt x="11197" y="9600"/>
                    <a:pt x="10976" y="9486"/>
                    <a:pt x="10756" y="9486"/>
                  </a:cubicBezTo>
                  <a:cubicBezTo>
                    <a:pt x="10646" y="9486"/>
                    <a:pt x="10536" y="9486"/>
                    <a:pt x="10536" y="9486"/>
                  </a:cubicBezTo>
                  <a:cubicBezTo>
                    <a:pt x="10425" y="9600"/>
                    <a:pt x="10315" y="9714"/>
                    <a:pt x="10315" y="9829"/>
                  </a:cubicBezTo>
                  <a:cubicBezTo>
                    <a:pt x="10315" y="9714"/>
                    <a:pt x="10315" y="9714"/>
                    <a:pt x="10315" y="9714"/>
                  </a:cubicBezTo>
                  <a:cubicBezTo>
                    <a:pt x="10205" y="9486"/>
                    <a:pt x="10095" y="9371"/>
                    <a:pt x="9985" y="9257"/>
                  </a:cubicBezTo>
                  <a:cubicBezTo>
                    <a:pt x="9985" y="9143"/>
                    <a:pt x="9985" y="9143"/>
                    <a:pt x="9874" y="9029"/>
                  </a:cubicBezTo>
                  <a:cubicBezTo>
                    <a:pt x="9874" y="9029"/>
                    <a:pt x="9874" y="8914"/>
                    <a:pt x="9874" y="8800"/>
                  </a:cubicBezTo>
                  <a:cubicBezTo>
                    <a:pt x="9764" y="8571"/>
                    <a:pt x="9764" y="8457"/>
                    <a:pt x="9544" y="8229"/>
                  </a:cubicBezTo>
                  <a:cubicBezTo>
                    <a:pt x="9434" y="8114"/>
                    <a:pt x="9323" y="8114"/>
                    <a:pt x="9213" y="8114"/>
                  </a:cubicBezTo>
                  <a:cubicBezTo>
                    <a:pt x="9213" y="8114"/>
                    <a:pt x="9213" y="8114"/>
                    <a:pt x="9213" y="8114"/>
                  </a:cubicBezTo>
                  <a:cubicBezTo>
                    <a:pt x="9103" y="8114"/>
                    <a:pt x="9103" y="8114"/>
                    <a:pt x="9103" y="8114"/>
                  </a:cubicBezTo>
                  <a:cubicBezTo>
                    <a:pt x="9103" y="8114"/>
                    <a:pt x="8993" y="7886"/>
                    <a:pt x="8993" y="7771"/>
                  </a:cubicBezTo>
                  <a:cubicBezTo>
                    <a:pt x="8993" y="7657"/>
                    <a:pt x="8993" y="7543"/>
                    <a:pt x="8883" y="7429"/>
                  </a:cubicBezTo>
                  <a:cubicBezTo>
                    <a:pt x="8883" y="7314"/>
                    <a:pt x="8883" y="7086"/>
                    <a:pt x="8772" y="6971"/>
                  </a:cubicBezTo>
                  <a:cubicBezTo>
                    <a:pt x="8772" y="6857"/>
                    <a:pt x="8772" y="6743"/>
                    <a:pt x="8772" y="6743"/>
                  </a:cubicBezTo>
                  <a:cubicBezTo>
                    <a:pt x="8772" y="6514"/>
                    <a:pt x="8772" y="6400"/>
                    <a:pt x="8662" y="6286"/>
                  </a:cubicBezTo>
                  <a:cubicBezTo>
                    <a:pt x="8662" y="6057"/>
                    <a:pt x="8662" y="5943"/>
                    <a:pt x="8552" y="5714"/>
                  </a:cubicBezTo>
                  <a:cubicBezTo>
                    <a:pt x="8552" y="5600"/>
                    <a:pt x="8552" y="5600"/>
                    <a:pt x="8552" y="5600"/>
                  </a:cubicBezTo>
                  <a:cubicBezTo>
                    <a:pt x="8552" y="5143"/>
                    <a:pt x="8442" y="4800"/>
                    <a:pt x="8332" y="4343"/>
                  </a:cubicBezTo>
                  <a:cubicBezTo>
                    <a:pt x="8332" y="4343"/>
                    <a:pt x="8332" y="4229"/>
                    <a:pt x="8221" y="4229"/>
                  </a:cubicBezTo>
                  <a:cubicBezTo>
                    <a:pt x="8221" y="4114"/>
                    <a:pt x="8221" y="4000"/>
                    <a:pt x="8111" y="3886"/>
                  </a:cubicBezTo>
                  <a:cubicBezTo>
                    <a:pt x="8111" y="3657"/>
                    <a:pt x="8001" y="3429"/>
                    <a:pt x="8001" y="3314"/>
                  </a:cubicBezTo>
                  <a:cubicBezTo>
                    <a:pt x="7891" y="3200"/>
                    <a:pt x="7891" y="3086"/>
                    <a:pt x="7780" y="2971"/>
                  </a:cubicBezTo>
                  <a:cubicBezTo>
                    <a:pt x="7780" y="2857"/>
                    <a:pt x="7670" y="2743"/>
                    <a:pt x="7670" y="2514"/>
                  </a:cubicBezTo>
                  <a:cubicBezTo>
                    <a:pt x="7450" y="2057"/>
                    <a:pt x="7340" y="1486"/>
                    <a:pt x="7009" y="1029"/>
                  </a:cubicBezTo>
                  <a:cubicBezTo>
                    <a:pt x="7009" y="914"/>
                    <a:pt x="6899" y="800"/>
                    <a:pt x="6789" y="686"/>
                  </a:cubicBezTo>
                  <a:cubicBezTo>
                    <a:pt x="6789" y="571"/>
                    <a:pt x="6678" y="457"/>
                    <a:pt x="6678" y="229"/>
                  </a:cubicBezTo>
                  <a:cubicBezTo>
                    <a:pt x="6458" y="0"/>
                    <a:pt x="6458" y="0"/>
                    <a:pt x="6458" y="0"/>
                  </a:cubicBezTo>
                  <a:cubicBezTo>
                    <a:pt x="6348" y="229"/>
                    <a:pt x="6348" y="229"/>
                    <a:pt x="6348" y="229"/>
                  </a:cubicBezTo>
                  <a:cubicBezTo>
                    <a:pt x="6127" y="343"/>
                    <a:pt x="6017" y="571"/>
                    <a:pt x="5907" y="686"/>
                  </a:cubicBezTo>
                  <a:cubicBezTo>
                    <a:pt x="5797" y="914"/>
                    <a:pt x="5687" y="1029"/>
                    <a:pt x="5687" y="1257"/>
                  </a:cubicBezTo>
                  <a:cubicBezTo>
                    <a:pt x="5687" y="1486"/>
                    <a:pt x="5576" y="1714"/>
                    <a:pt x="5356" y="1829"/>
                  </a:cubicBezTo>
                  <a:cubicBezTo>
                    <a:pt x="5136" y="2057"/>
                    <a:pt x="4915" y="2057"/>
                    <a:pt x="4695" y="2057"/>
                  </a:cubicBezTo>
                  <a:cubicBezTo>
                    <a:pt x="4474" y="2057"/>
                    <a:pt x="4364" y="2057"/>
                    <a:pt x="4144" y="2171"/>
                  </a:cubicBezTo>
                  <a:cubicBezTo>
                    <a:pt x="4034" y="2171"/>
                    <a:pt x="3923" y="2286"/>
                    <a:pt x="3703" y="2400"/>
                  </a:cubicBezTo>
                  <a:cubicBezTo>
                    <a:pt x="3593" y="2629"/>
                    <a:pt x="3372" y="2743"/>
                    <a:pt x="3152" y="2743"/>
                  </a:cubicBezTo>
                  <a:cubicBezTo>
                    <a:pt x="3042" y="2743"/>
                    <a:pt x="3042" y="2743"/>
                    <a:pt x="3042" y="2743"/>
                  </a:cubicBezTo>
                  <a:cubicBezTo>
                    <a:pt x="3042" y="2857"/>
                    <a:pt x="3042" y="2857"/>
                    <a:pt x="3042" y="2857"/>
                  </a:cubicBezTo>
                  <a:cubicBezTo>
                    <a:pt x="2932" y="3086"/>
                    <a:pt x="2932" y="3200"/>
                    <a:pt x="2932" y="3429"/>
                  </a:cubicBezTo>
                  <a:cubicBezTo>
                    <a:pt x="2821" y="3771"/>
                    <a:pt x="2821" y="3886"/>
                    <a:pt x="2160" y="4000"/>
                  </a:cubicBezTo>
                  <a:cubicBezTo>
                    <a:pt x="2050" y="4000"/>
                    <a:pt x="2050" y="4000"/>
                    <a:pt x="1940" y="4000"/>
                  </a:cubicBezTo>
                  <a:cubicBezTo>
                    <a:pt x="1940" y="4000"/>
                    <a:pt x="1940" y="4000"/>
                    <a:pt x="1940" y="4000"/>
                  </a:cubicBezTo>
                  <a:cubicBezTo>
                    <a:pt x="1609" y="4000"/>
                    <a:pt x="1499" y="4000"/>
                    <a:pt x="1499" y="4343"/>
                  </a:cubicBezTo>
                  <a:cubicBezTo>
                    <a:pt x="1389" y="4457"/>
                    <a:pt x="1389" y="4457"/>
                    <a:pt x="1499" y="4571"/>
                  </a:cubicBezTo>
                  <a:cubicBezTo>
                    <a:pt x="1499" y="4686"/>
                    <a:pt x="1499" y="4800"/>
                    <a:pt x="1499" y="4800"/>
                  </a:cubicBezTo>
                  <a:cubicBezTo>
                    <a:pt x="1389" y="4914"/>
                    <a:pt x="1389" y="5029"/>
                    <a:pt x="1389" y="5143"/>
                  </a:cubicBezTo>
                  <a:cubicBezTo>
                    <a:pt x="1278" y="5143"/>
                    <a:pt x="1278" y="5143"/>
                    <a:pt x="1278" y="5257"/>
                  </a:cubicBezTo>
                  <a:cubicBezTo>
                    <a:pt x="1058" y="5714"/>
                    <a:pt x="1168" y="5943"/>
                    <a:pt x="1278" y="6286"/>
                  </a:cubicBezTo>
                  <a:cubicBezTo>
                    <a:pt x="1278" y="6400"/>
                    <a:pt x="1389" y="6629"/>
                    <a:pt x="1389" y="6971"/>
                  </a:cubicBezTo>
                  <a:cubicBezTo>
                    <a:pt x="1278" y="7314"/>
                    <a:pt x="1168" y="7657"/>
                    <a:pt x="1058" y="8000"/>
                  </a:cubicBezTo>
                  <a:cubicBezTo>
                    <a:pt x="948" y="8229"/>
                    <a:pt x="838" y="8457"/>
                    <a:pt x="727" y="8686"/>
                  </a:cubicBezTo>
                  <a:cubicBezTo>
                    <a:pt x="727" y="8914"/>
                    <a:pt x="617" y="9029"/>
                    <a:pt x="617" y="9257"/>
                  </a:cubicBezTo>
                  <a:cubicBezTo>
                    <a:pt x="617" y="9600"/>
                    <a:pt x="507" y="9943"/>
                    <a:pt x="287" y="10286"/>
                  </a:cubicBezTo>
                  <a:cubicBezTo>
                    <a:pt x="-44" y="10971"/>
                    <a:pt x="-44" y="11200"/>
                    <a:pt x="66" y="12000"/>
                  </a:cubicBezTo>
                  <a:cubicBezTo>
                    <a:pt x="176" y="12343"/>
                    <a:pt x="176" y="12686"/>
                    <a:pt x="176" y="13029"/>
                  </a:cubicBezTo>
                  <a:cubicBezTo>
                    <a:pt x="66" y="13371"/>
                    <a:pt x="66" y="13714"/>
                    <a:pt x="176" y="14057"/>
                  </a:cubicBezTo>
                  <a:cubicBezTo>
                    <a:pt x="176" y="14171"/>
                    <a:pt x="176" y="14171"/>
                    <a:pt x="176" y="14171"/>
                  </a:cubicBezTo>
                  <a:cubicBezTo>
                    <a:pt x="397" y="14171"/>
                    <a:pt x="397" y="14171"/>
                    <a:pt x="397" y="14171"/>
                  </a:cubicBezTo>
                  <a:cubicBezTo>
                    <a:pt x="507" y="14286"/>
                    <a:pt x="727" y="14286"/>
                    <a:pt x="838" y="14286"/>
                  </a:cubicBezTo>
                  <a:cubicBezTo>
                    <a:pt x="1058" y="14400"/>
                    <a:pt x="1278" y="14400"/>
                    <a:pt x="1499" y="14400"/>
                  </a:cubicBezTo>
                  <a:cubicBezTo>
                    <a:pt x="1609" y="14400"/>
                    <a:pt x="1719" y="14400"/>
                    <a:pt x="1829" y="14400"/>
                  </a:cubicBezTo>
                  <a:cubicBezTo>
                    <a:pt x="2050" y="14286"/>
                    <a:pt x="2050" y="14286"/>
                    <a:pt x="2050" y="14286"/>
                  </a:cubicBezTo>
                  <a:cubicBezTo>
                    <a:pt x="2050" y="14171"/>
                    <a:pt x="2050" y="14171"/>
                    <a:pt x="2050" y="14171"/>
                  </a:cubicBezTo>
                  <a:cubicBezTo>
                    <a:pt x="2050" y="14057"/>
                    <a:pt x="2050" y="13943"/>
                    <a:pt x="2160" y="13829"/>
                  </a:cubicBezTo>
                  <a:cubicBezTo>
                    <a:pt x="2270" y="13714"/>
                    <a:pt x="2491" y="13600"/>
                    <a:pt x="2711" y="13600"/>
                  </a:cubicBezTo>
                  <a:cubicBezTo>
                    <a:pt x="2821" y="13600"/>
                    <a:pt x="2821" y="13600"/>
                    <a:pt x="2821" y="13600"/>
                  </a:cubicBezTo>
                  <a:cubicBezTo>
                    <a:pt x="2932" y="13600"/>
                    <a:pt x="2932" y="13600"/>
                    <a:pt x="2932" y="13600"/>
                  </a:cubicBezTo>
                  <a:cubicBezTo>
                    <a:pt x="3152" y="14057"/>
                    <a:pt x="3372" y="14514"/>
                    <a:pt x="3483" y="14743"/>
                  </a:cubicBezTo>
                  <a:cubicBezTo>
                    <a:pt x="3813" y="15200"/>
                    <a:pt x="3813" y="15200"/>
                    <a:pt x="3813" y="15200"/>
                  </a:cubicBezTo>
                  <a:cubicBezTo>
                    <a:pt x="3923" y="14629"/>
                    <a:pt x="3923" y="14629"/>
                    <a:pt x="3923" y="14629"/>
                  </a:cubicBezTo>
                  <a:cubicBezTo>
                    <a:pt x="3923" y="14286"/>
                    <a:pt x="4034" y="13829"/>
                    <a:pt x="4144" y="13486"/>
                  </a:cubicBezTo>
                  <a:cubicBezTo>
                    <a:pt x="4254" y="13143"/>
                    <a:pt x="4254" y="13143"/>
                    <a:pt x="4254" y="13143"/>
                  </a:cubicBezTo>
                  <a:cubicBezTo>
                    <a:pt x="4254" y="13029"/>
                    <a:pt x="4254" y="13029"/>
                    <a:pt x="4254" y="12914"/>
                  </a:cubicBezTo>
                  <a:cubicBezTo>
                    <a:pt x="4364" y="12686"/>
                    <a:pt x="4364" y="12343"/>
                    <a:pt x="4474" y="12343"/>
                  </a:cubicBezTo>
                  <a:cubicBezTo>
                    <a:pt x="4474" y="12229"/>
                    <a:pt x="4585" y="12229"/>
                    <a:pt x="4585" y="12229"/>
                  </a:cubicBezTo>
                  <a:cubicBezTo>
                    <a:pt x="4585" y="12229"/>
                    <a:pt x="4585" y="12229"/>
                    <a:pt x="4585" y="12229"/>
                  </a:cubicBezTo>
                  <a:cubicBezTo>
                    <a:pt x="4695" y="12229"/>
                    <a:pt x="4695" y="12229"/>
                    <a:pt x="4805" y="12343"/>
                  </a:cubicBezTo>
                  <a:cubicBezTo>
                    <a:pt x="4805" y="12457"/>
                    <a:pt x="4805" y="12457"/>
                    <a:pt x="4915" y="12571"/>
                  </a:cubicBezTo>
                  <a:cubicBezTo>
                    <a:pt x="5136" y="12800"/>
                    <a:pt x="5246" y="12800"/>
                    <a:pt x="5356" y="12914"/>
                  </a:cubicBezTo>
                  <a:cubicBezTo>
                    <a:pt x="5466" y="12914"/>
                    <a:pt x="5576" y="12914"/>
                    <a:pt x="5576" y="12914"/>
                  </a:cubicBezTo>
                  <a:cubicBezTo>
                    <a:pt x="5907" y="13029"/>
                    <a:pt x="5907" y="13143"/>
                    <a:pt x="6127" y="13257"/>
                  </a:cubicBezTo>
                  <a:cubicBezTo>
                    <a:pt x="6127" y="13371"/>
                    <a:pt x="6127" y="13371"/>
                    <a:pt x="6127" y="13371"/>
                  </a:cubicBezTo>
                  <a:cubicBezTo>
                    <a:pt x="6348" y="13600"/>
                    <a:pt x="6458" y="13714"/>
                    <a:pt x="6678" y="13714"/>
                  </a:cubicBezTo>
                  <a:cubicBezTo>
                    <a:pt x="6789" y="13714"/>
                    <a:pt x="7009" y="13600"/>
                    <a:pt x="7229" y="13486"/>
                  </a:cubicBezTo>
                  <a:cubicBezTo>
                    <a:pt x="7229" y="13486"/>
                    <a:pt x="7340" y="13371"/>
                    <a:pt x="7450" y="13371"/>
                  </a:cubicBezTo>
                  <a:cubicBezTo>
                    <a:pt x="7780" y="13143"/>
                    <a:pt x="8111" y="13029"/>
                    <a:pt x="8442" y="13029"/>
                  </a:cubicBezTo>
                  <a:cubicBezTo>
                    <a:pt x="8552" y="13029"/>
                    <a:pt x="8552" y="13029"/>
                    <a:pt x="8662" y="13029"/>
                  </a:cubicBezTo>
                  <a:cubicBezTo>
                    <a:pt x="8772" y="13143"/>
                    <a:pt x="8772" y="13143"/>
                    <a:pt x="8883" y="13371"/>
                  </a:cubicBezTo>
                  <a:cubicBezTo>
                    <a:pt x="8883" y="13486"/>
                    <a:pt x="8883" y="13486"/>
                    <a:pt x="8883" y="13486"/>
                  </a:cubicBezTo>
                  <a:cubicBezTo>
                    <a:pt x="9103" y="13486"/>
                    <a:pt x="9103" y="13486"/>
                    <a:pt x="9103" y="13486"/>
                  </a:cubicBezTo>
                  <a:cubicBezTo>
                    <a:pt x="9213" y="13486"/>
                    <a:pt x="9323" y="13486"/>
                    <a:pt x="9434" y="13486"/>
                  </a:cubicBezTo>
                  <a:cubicBezTo>
                    <a:pt x="9654" y="13371"/>
                    <a:pt x="9764" y="13371"/>
                    <a:pt x="9874" y="13371"/>
                  </a:cubicBezTo>
                  <a:cubicBezTo>
                    <a:pt x="9985" y="13371"/>
                    <a:pt x="10095" y="13371"/>
                    <a:pt x="10205" y="13486"/>
                  </a:cubicBezTo>
                  <a:cubicBezTo>
                    <a:pt x="10205" y="13486"/>
                    <a:pt x="10315" y="13486"/>
                    <a:pt x="10425" y="13600"/>
                  </a:cubicBezTo>
                  <a:cubicBezTo>
                    <a:pt x="10536" y="13600"/>
                    <a:pt x="10646" y="13714"/>
                    <a:pt x="10756" y="13714"/>
                  </a:cubicBezTo>
                  <a:cubicBezTo>
                    <a:pt x="10976" y="13714"/>
                    <a:pt x="11197" y="13714"/>
                    <a:pt x="11417" y="13829"/>
                  </a:cubicBezTo>
                  <a:cubicBezTo>
                    <a:pt x="11748" y="13829"/>
                    <a:pt x="12078" y="13829"/>
                    <a:pt x="12409" y="14057"/>
                  </a:cubicBezTo>
                  <a:cubicBezTo>
                    <a:pt x="12519" y="14171"/>
                    <a:pt x="12519" y="14171"/>
                    <a:pt x="12519" y="14171"/>
                  </a:cubicBezTo>
                  <a:cubicBezTo>
                    <a:pt x="12740" y="14400"/>
                    <a:pt x="12960" y="14629"/>
                    <a:pt x="13291" y="14743"/>
                  </a:cubicBezTo>
                  <a:cubicBezTo>
                    <a:pt x="13511" y="14857"/>
                    <a:pt x="13621" y="14971"/>
                    <a:pt x="13842" y="14971"/>
                  </a:cubicBezTo>
                  <a:cubicBezTo>
                    <a:pt x="14283" y="15200"/>
                    <a:pt x="14613" y="15429"/>
                    <a:pt x="14944" y="15886"/>
                  </a:cubicBezTo>
                  <a:cubicBezTo>
                    <a:pt x="15274" y="16571"/>
                    <a:pt x="15825" y="17143"/>
                    <a:pt x="16376" y="17714"/>
                  </a:cubicBezTo>
                  <a:cubicBezTo>
                    <a:pt x="16817" y="18171"/>
                    <a:pt x="17258" y="18629"/>
                    <a:pt x="17699" y="19200"/>
                  </a:cubicBezTo>
                  <a:cubicBezTo>
                    <a:pt x="17699" y="19314"/>
                    <a:pt x="17809" y="19314"/>
                    <a:pt x="17809" y="19429"/>
                  </a:cubicBezTo>
                  <a:cubicBezTo>
                    <a:pt x="17809" y="19543"/>
                    <a:pt x="17919" y="19657"/>
                    <a:pt x="18029" y="19771"/>
                  </a:cubicBezTo>
                  <a:cubicBezTo>
                    <a:pt x="18029" y="19886"/>
                    <a:pt x="18140" y="19886"/>
                    <a:pt x="18250" y="19886"/>
                  </a:cubicBezTo>
                  <a:cubicBezTo>
                    <a:pt x="18360" y="20000"/>
                    <a:pt x="18470" y="20000"/>
                    <a:pt x="18470" y="20114"/>
                  </a:cubicBezTo>
                  <a:cubicBezTo>
                    <a:pt x="18580" y="20229"/>
                    <a:pt x="18691" y="20457"/>
                    <a:pt x="18801" y="20571"/>
                  </a:cubicBezTo>
                  <a:cubicBezTo>
                    <a:pt x="18801" y="20800"/>
                    <a:pt x="18911" y="21029"/>
                    <a:pt x="19021" y="21143"/>
                  </a:cubicBezTo>
                  <a:cubicBezTo>
                    <a:pt x="19242" y="21257"/>
                    <a:pt x="19242" y="21257"/>
                    <a:pt x="19242" y="21257"/>
                  </a:cubicBezTo>
                  <a:cubicBezTo>
                    <a:pt x="19352" y="21143"/>
                    <a:pt x="19352" y="21143"/>
                    <a:pt x="19352" y="21143"/>
                  </a:cubicBezTo>
                  <a:cubicBezTo>
                    <a:pt x="19352" y="21029"/>
                    <a:pt x="19462" y="21029"/>
                    <a:pt x="19462" y="20914"/>
                  </a:cubicBezTo>
                  <a:cubicBezTo>
                    <a:pt x="19572" y="21029"/>
                    <a:pt x="19683" y="21143"/>
                    <a:pt x="19793" y="21257"/>
                  </a:cubicBezTo>
                  <a:cubicBezTo>
                    <a:pt x="20013" y="21486"/>
                    <a:pt x="20123" y="21600"/>
                    <a:pt x="20234" y="21600"/>
                  </a:cubicBezTo>
                  <a:cubicBezTo>
                    <a:pt x="20344" y="21600"/>
                    <a:pt x="20344" y="21600"/>
                    <a:pt x="20344" y="21600"/>
                  </a:cubicBezTo>
                  <a:cubicBezTo>
                    <a:pt x="20454" y="21600"/>
                    <a:pt x="20564" y="21486"/>
                    <a:pt x="20674" y="21257"/>
                  </a:cubicBezTo>
                  <a:cubicBezTo>
                    <a:pt x="20674" y="21143"/>
                    <a:pt x="20674" y="21029"/>
                    <a:pt x="20674" y="20914"/>
                  </a:cubicBezTo>
                  <a:cubicBezTo>
                    <a:pt x="20674" y="20800"/>
                    <a:pt x="20785" y="20686"/>
                    <a:pt x="20895" y="20571"/>
                  </a:cubicBezTo>
                  <a:cubicBezTo>
                    <a:pt x="20895" y="20457"/>
                    <a:pt x="21005" y="20343"/>
                    <a:pt x="21115" y="20343"/>
                  </a:cubicBezTo>
                  <a:cubicBezTo>
                    <a:pt x="21225" y="20229"/>
                    <a:pt x="21336" y="20229"/>
                    <a:pt x="21446" y="20114"/>
                  </a:cubicBezTo>
                  <a:cubicBezTo>
                    <a:pt x="21556" y="19886"/>
                    <a:pt x="21556" y="19886"/>
                    <a:pt x="21556" y="19886"/>
                  </a:cubicBezTo>
                  <a:lnTo>
                    <a:pt x="21446" y="19771"/>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43" name="Shape">
              <a:extLst>
                <a:ext uri="{FF2B5EF4-FFF2-40B4-BE49-F238E27FC236}">
                  <a16:creationId xmlns:a16="http://schemas.microsoft.com/office/drawing/2014/main" id="{4084A22D-0F67-4346-ADCA-9AC39288AC89}"/>
                </a:ext>
              </a:extLst>
            </p:cNvPr>
            <p:cNvSpPr/>
            <p:nvPr/>
          </p:nvSpPr>
          <p:spPr>
            <a:xfrm>
              <a:off x="6545313" y="2663921"/>
              <a:ext cx="1701959" cy="1350723"/>
            </a:xfrm>
            <a:custGeom>
              <a:avLst/>
              <a:gdLst/>
              <a:ahLst/>
              <a:cxnLst>
                <a:cxn ang="0">
                  <a:pos x="wd2" y="hd2"/>
                </a:cxn>
                <a:cxn ang="5400000">
                  <a:pos x="wd2" y="hd2"/>
                </a:cxn>
                <a:cxn ang="10800000">
                  <a:pos x="wd2" y="hd2"/>
                </a:cxn>
                <a:cxn ang="16200000">
                  <a:pos x="wd2" y="hd2"/>
                </a:cxn>
              </a:cxnLst>
              <a:rect l="0" t="0" r="r" b="b"/>
              <a:pathLst>
                <a:path w="21556" h="21600" extrusionOk="0">
                  <a:moveTo>
                    <a:pt x="20175" y="12949"/>
                  </a:moveTo>
                  <a:cubicBezTo>
                    <a:pt x="15737" y="11001"/>
                    <a:pt x="15737" y="11001"/>
                    <a:pt x="15737" y="11001"/>
                  </a:cubicBezTo>
                  <a:cubicBezTo>
                    <a:pt x="15688" y="10943"/>
                    <a:pt x="15540" y="10829"/>
                    <a:pt x="15540" y="10829"/>
                  </a:cubicBezTo>
                  <a:cubicBezTo>
                    <a:pt x="15490" y="10714"/>
                    <a:pt x="15392" y="10599"/>
                    <a:pt x="15293" y="10542"/>
                  </a:cubicBezTo>
                  <a:cubicBezTo>
                    <a:pt x="15244" y="10485"/>
                    <a:pt x="15145" y="10428"/>
                    <a:pt x="15096" y="10370"/>
                  </a:cubicBezTo>
                  <a:cubicBezTo>
                    <a:pt x="14997" y="10256"/>
                    <a:pt x="14849" y="10198"/>
                    <a:pt x="14800" y="9969"/>
                  </a:cubicBezTo>
                  <a:cubicBezTo>
                    <a:pt x="14800" y="9969"/>
                    <a:pt x="14800" y="9969"/>
                    <a:pt x="14800" y="9969"/>
                  </a:cubicBezTo>
                  <a:cubicBezTo>
                    <a:pt x="14751" y="9912"/>
                    <a:pt x="14751" y="9912"/>
                    <a:pt x="14751" y="9912"/>
                  </a:cubicBezTo>
                  <a:cubicBezTo>
                    <a:pt x="14652" y="9855"/>
                    <a:pt x="14603" y="9625"/>
                    <a:pt x="14553" y="9454"/>
                  </a:cubicBezTo>
                  <a:cubicBezTo>
                    <a:pt x="14553" y="9339"/>
                    <a:pt x="14553" y="9339"/>
                    <a:pt x="14553" y="9339"/>
                  </a:cubicBezTo>
                  <a:cubicBezTo>
                    <a:pt x="14455" y="9339"/>
                    <a:pt x="14455" y="9339"/>
                    <a:pt x="14455" y="9339"/>
                  </a:cubicBezTo>
                  <a:cubicBezTo>
                    <a:pt x="14405" y="9339"/>
                    <a:pt x="14356" y="9339"/>
                    <a:pt x="14356" y="9339"/>
                  </a:cubicBezTo>
                  <a:cubicBezTo>
                    <a:pt x="14307" y="9282"/>
                    <a:pt x="14307" y="9224"/>
                    <a:pt x="14307" y="9224"/>
                  </a:cubicBezTo>
                  <a:cubicBezTo>
                    <a:pt x="14307" y="9167"/>
                    <a:pt x="14307" y="9167"/>
                    <a:pt x="14257" y="9110"/>
                  </a:cubicBezTo>
                  <a:cubicBezTo>
                    <a:pt x="14257" y="9053"/>
                    <a:pt x="14208" y="8995"/>
                    <a:pt x="14159" y="8995"/>
                  </a:cubicBezTo>
                  <a:cubicBezTo>
                    <a:pt x="14109" y="8938"/>
                    <a:pt x="14109" y="8881"/>
                    <a:pt x="14060" y="8823"/>
                  </a:cubicBezTo>
                  <a:cubicBezTo>
                    <a:pt x="14011" y="8766"/>
                    <a:pt x="14011" y="8651"/>
                    <a:pt x="13961" y="8537"/>
                  </a:cubicBezTo>
                  <a:cubicBezTo>
                    <a:pt x="13961" y="8480"/>
                    <a:pt x="13912" y="8422"/>
                    <a:pt x="13912" y="8365"/>
                  </a:cubicBezTo>
                  <a:cubicBezTo>
                    <a:pt x="13715" y="7964"/>
                    <a:pt x="13814" y="7792"/>
                    <a:pt x="14011" y="7506"/>
                  </a:cubicBezTo>
                  <a:cubicBezTo>
                    <a:pt x="14060" y="7391"/>
                    <a:pt x="14060" y="7391"/>
                    <a:pt x="14060" y="7391"/>
                  </a:cubicBezTo>
                  <a:cubicBezTo>
                    <a:pt x="14011" y="7334"/>
                    <a:pt x="14011" y="7334"/>
                    <a:pt x="14011" y="7334"/>
                  </a:cubicBezTo>
                  <a:cubicBezTo>
                    <a:pt x="13961" y="7334"/>
                    <a:pt x="13961" y="7276"/>
                    <a:pt x="13961" y="7276"/>
                  </a:cubicBezTo>
                  <a:cubicBezTo>
                    <a:pt x="13863" y="7162"/>
                    <a:pt x="13863" y="7162"/>
                    <a:pt x="13814" y="7105"/>
                  </a:cubicBezTo>
                  <a:cubicBezTo>
                    <a:pt x="13764" y="7105"/>
                    <a:pt x="13764" y="7105"/>
                    <a:pt x="13715" y="7105"/>
                  </a:cubicBezTo>
                  <a:cubicBezTo>
                    <a:pt x="13666" y="7105"/>
                    <a:pt x="13616" y="7105"/>
                    <a:pt x="13567" y="7162"/>
                  </a:cubicBezTo>
                  <a:cubicBezTo>
                    <a:pt x="13518" y="7162"/>
                    <a:pt x="13468" y="7219"/>
                    <a:pt x="13468" y="7219"/>
                  </a:cubicBezTo>
                  <a:cubicBezTo>
                    <a:pt x="13370" y="7219"/>
                    <a:pt x="13271" y="7276"/>
                    <a:pt x="13222" y="7276"/>
                  </a:cubicBezTo>
                  <a:cubicBezTo>
                    <a:pt x="13074" y="7276"/>
                    <a:pt x="12926" y="7276"/>
                    <a:pt x="12778" y="7506"/>
                  </a:cubicBezTo>
                  <a:cubicBezTo>
                    <a:pt x="12729" y="7448"/>
                    <a:pt x="12679" y="7448"/>
                    <a:pt x="12630" y="7448"/>
                  </a:cubicBezTo>
                  <a:cubicBezTo>
                    <a:pt x="12531" y="7448"/>
                    <a:pt x="12433" y="7448"/>
                    <a:pt x="12433" y="7391"/>
                  </a:cubicBezTo>
                  <a:cubicBezTo>
                    <a:pt x="12334" y="7276"/>
                    <a:pt x="12383" y="7105"/>
                    <a:pt x="12383" y="6990"/>
                  </a:cubicBezTo>
                  <a:cubicBezTo>
                    <a:pt x="12383" y="6933"/>
                    <a:pt x="12383" y="6875"/>
                    <a:pt x="12383" y="6875"/>
                  </a:cubicBezTo>
                  <a:cubicBezTo>
                    <a:pt x="12383" y="6818"/>
                    <a:pt x="12383" y="6761"/>
                    <a:pt x="12383" y="6646"/>
                  </a:cubicBezTo>
                  <a:cubicBezTo>
                    <a:pt x="12383" y="6417"/>
                    <a:pt x="12383" y="6188"/>
                    <a:pt x="12531" y="5959"/>
                  </a:cubicBezTo>
                  <a:cubicBezTo>
                    <a:pt x="12581" y="5844"/>
                    <a:pt x="12581" y="5844"/>
                    <a:pt x="12581" y="5844"/>
                  </a:cubicBezTo>
                  <a:cubicBezTo>
                    <a:pt x="12729" y="5615"/>
                    <a:pt x="12827" y="5443"/>
                    <a:pt x="12926" y="5271"/>
                  </a:cubicBezTo>
                  <a:cubicBezTo>
                    <a:pt x="12926" y="5214"/>
                    <a:pt x="12975" y="5099"/>
                    <a:pt x="12975" y="5042"/>
                  </a:cubicBezTo>
                  <a:cubicBezTo>
                    <a:pt x="13024" y="4927"/>
                    <a:pt x="13123" y="4813"/>
                    <a:pt x="13172" y="4641"/>
                  </a:cubicBezTo>
                  <a:cubicBezTo>
                    <a:pt x="13222" y="4584"/>
                    <a:pt x="13222" y="4584"/>
                    <a:pt x="13222" y="4584"/>
                  </a:cubicBezTo>
                  <a:cubicBezTo>
                    <a:pt x="13123" y="4526"/>
                    <a:pt x="13123" y="4526"/>
                    <a:pt x="13123" y="4526"/>
                  </a:cubicBezTo>
                  <a:cubicBezTo>
                    <a:pt x="13074" y="4469"/>
                    <a:pt x="13024" y="4354"/>
                    <a:pt x="13024" y="4240"/>
                  </a:cubicBezTo>
                  <a:cubicBezTo>
                    <a:pt x="12975" y="4125"/>
                    <a:pt x="12975" y="4068"/>
                    <a:pt x="12926" y="3953"/>
                  </a:cubicBezTo>
                  <a:cubicBezTo>
                    <a:pt x="12877" y="3953"/>
                    <a:pt x="12827" y="3896"/>
                    <a:pt x="12778" y="3896"/>
                  </a:cubicBezTo>
                  <a:cubicBezTo>
                    <a:pt x="12729" y="3896"/>
                    <a:pt x="12729" y="3839"/>
                    <a:pt x="12679" y="3781"/>
                  </a:cubicBezTo>
                  <a:cubicBezTo>
                    <a:pt x="12630" y="3781"/>
                    <a:pt x="12630" y="3724"/>
                    <a:pt x="12581" y="3667"/>
                  </a:cubicBezTo>
                  <a:cubicBezTo>
                    <a:pt x="12581" y="3610"/>
                    <a:pt x="12581" y="3552"/>
                    <a:pt x="12531" y="3552"/>
                  </a:cubicBezTo>
                  <a:cubicBezTo>
                    <a:pt x="12383" y="3266"/>
                    <a:pt x="12137" y="2979"/>
                    <a:pt x="11940" y="2750"/>
                  </a:cubicBezTo>
                  <a:cubicBezTo>
                    <a:pt x="11693" y="2521"/>
                    <a:pt x="11496" y="2234"/>
                    <a:pt x="11298" y="1891"/>
                  </a:cubicBezTo>
                  <a:cubicBezTo>
                    <a:pt x="11151" y="1604"/>
                    <a:pt x="11003" y="1547"/>
                    <a:pt x="10805" y="1432"/>
                  </a:cubicBezTo>
                  <a:cubicBezTo>
                    <a:pt x="10707" y="1375"/>
                    <a:pt x="10657" y="1375"/>
                    <a:pt x="10559" y="1318"/>
                  </a:cubicBezTo>
                  <a:cubicBezTo>
                    <a:pt x="10460" y="1203"/>
                    <a:pt x="10312" y="1089"/>
                    <a:pt x="10214" y="1031"/>
                  </a:cubicBezTo>
                  <a:cubicBezTo>
                    <a:pt x="10214" y="974"/>
                    <a:pt x="10214" y="974"/>
                    <a:pt x="10214" y="974"/>
                  </a:cubicBezTo>
                  <a:cubicBezTo>
                    <a:pt x="10016" y="802"/>
                    <a:pt x="9868" y="802"/>
                    <a:pt x="9720" y="802"/>
                  </a:cubicBezTo>
                  <a:cubicBezTo>
                    <a:pt x="9622" y="802"/>
                    <a:pt x="9523" y="802"/>
                    <a:pt x="9424" y="802"/>
                  </a:cubicBezTo>
                  <a:cubicBezTo>
                    <a:pt x="9375" y="745"/>
                    <a:pt x="9326" y="745"/>
                    <a:pt x="9277" y="688"/>
                  </a:cubicBezTo>
                  <a:cubicBezTo>
                    <a:pt x="9227" y="688"/>
                    <a:pt x="9227" y="630"/>
                    <a:pt x="9178" y="630"/>
                  </a:cubicBezTo>
                  <a:cubicBezTo>
                    <a:pt x="9129" y="630"/>
                    <a:pt x="9079" y="630"/>
                    <a:pt x="9030" y="630"/>
                  </a:cubicBezTo>
                  <a:cubicBezTo>
                    <a:pt x="8981" y="630"/>
                    <a:pt x="8931" y="630"/>
                    <a:pt x="8833" y="630"/>
                  </a:cubicBezTo>
                  <a:cubicBezTo>
                    <a:pt x="8783" y="688"/>
                    <a:pt x="8734" y="688"/>
                    <a:pt x="8635" y="688"/>
                  </a:cubicBezTo>
                  <a:cubicBezTo>
                    <a:pt x="8635" y="688"/>
                    <a:pt x="8635" y="688"/>
                    <a:pt x="8635" y="688"/>
                  </a:cubicBezTo>
                  <a:cubicBezTo>
                    <a:pt x="8635" y="688"/>
                    <a:pt x="8586" y="688"/>
                    <a:pt x="8586" y="688"/>
                  </a:cubicBezTo>
                  <a:cubicBezTo>
                    <a:pt x="8586" y="630"/>
                    <a:pt x="8586" y="516"/>
                    <a:pt x="8488" y="458"/>
                  </a:cubicBezTo>
                  <a:cubicBezTo>
                    <a:pt x="8488" y="401"/>
                    <a:pt x="8438" y="401"/>
                    <a:pt x="8389" y="401"/>
                  </a:cubicBezTo>
                  <a:cubicBezTo>
                    <a:pt x="8290" y="401"/>
                    <a:pt x="8142" y="458"/>
                    <a:pt x="7945" y="630"/>
                  </a:cubicBezTo>
                  <a:cubicBezTo>
                    <a:pt x="7896" y="630"/>
                    <a:pt x="7846" y="688"/>
                    <a:pt x="7797" y="688"/>
                  </a:cubicBezTo>
                  <a:cubicBezTo>
                    <a:pt x="7748" y="745"/>
                    <a:pt x="7649" y="802"/>
                    <a:pt x="7600" y="802"/>
                  </a:cubicBezTo>
                  <a:cubicBezTo>
                    <a:pt x="7551" y="802"/>
                    <a:pt x="7452" y="745"/>
                    <a:pt x="7403" y="630"/>
                  </a:cubicBezTo>
                  <a:cubicBezTo>
                    <a:pt x="7353" y="630"/>
                    <a:pt x="7353" y="573"/>
                    <a:pt x="7353" y="573"/>
                  </a:cubicBezTo>
                  <a:cubicBezTo>
                    <a:pt x="7255" y="458"/>
                    <a:pt x="7255" y="458"/>
                    <a:pt x="7107" y="401"/>
                  </a:cubicBezTo>
                  <a:cubicBezTo>
                    <a:pt x="7107" y="401"/>
                    <a:pt x="7057" y="344"/>
                    <a:pt x="7057" y="344"/>
                  </a:cubicBezTo>
                  <a:cubicBezTo>
                    <a:pt x="6959" y="344"/>
                    <a:pt x="6909" y="286"/>
                    <a:pt x="6811" y="229"/>
                  </a:cubicBezTo>
                  <a:cubicBezTo>
                    <a:pt x="6811" y="172"/>
                    <a:pt x="6761" y="172"/>
                    <a:pt x="6761" y="115"/>
                  </a:cubicBezTo>
                  <a:cubicBezTo>
                    <a:pt x="6712" y="0"/>
                    <a:pt x="6712" y="0"/>
                    <a:pt x="6712" y="0"/>
                  </a:cubicBezTo>
                  <a:cubicBezTo>
                    <a:pt x="6614" y="57"/>
                    <a:pt x="6614" y="57"/>
                    <a:pt x="6614" y="57"/>
                  </a:cubicBezTo>
                  <a:cubicBezTo>
                    <a:pt x="6564" y="115"/>
                    <a:pt x="6564" y="115"/>
                    <a:pt x="6564" y="115"/>
                  </a:cubicBezTo>
                  <a:cubicBezTo>
                    <a:pt x="6564" y="115"/>
                    <a:pt x="6564" y="115"/>
                    <a:pt x="6564" y="115"/>
                  </a:cubicBezTo>
                  <a:cubicBezTo>
                    <a:pt x="6564" y="115"/>
                    <a:pt x="6515" y="172"/>
                    <a:pt x="6515" y="401"/>
                  </a:cubicBezTo>
                  <a:cubicBezTo>
                    <a:pt x="6515" y="458"/>
                    <a:pt x="6515" y="458"/>
                    <a:pt x="6515" y="516"/>
                  </a:cubicBezTo>
                  <a:cubicBezTo>
                    <a:pt x="6466" y="688"/>
                    <a:pt x="6466" y="688"/>
                    <a:pt x="6466" y="688"/>
                  </a:cubicBezTo>
                  <a:cubicBezTo>
                    <a:pt x="6416" y="917"/>
                    <a:pt x="6367" y="1203"/>
                    <a:pt x="6318" y="1432"/>
                  </a:cubicBezTo>
                  <a:cubicBezTo>
                    <a:pt x="6219" y="1375"/>
                    <a:pt x="6071" y="1146"/>
                    <a:pt x="5972" y="802"/>
                  </a:cubicBezTo>
                  <a:cubicBezTo>
                    <a:pt x="5972" y="745"/>
                    <a:pt x="5972" y="745"/>
                    <a:pt x="5972" y="745"/>
                  </a:cubicBezTo>
                  <a:cubicBezTo>
                    <a:pt x="5874" y="745"/>
                    <a:pt x="5874" y="745"/>
                    <a:pt x="5874" y="745"/>
                  </a:cubicBezTo>
                  <a:cubicBezTo>
                    <a:pt x="5775" y="745"/>
                    <a:pt x="5627" y="745"/>
                    <a:pt x="5578" y="859"/>
                  </a:cubicBezTo>
                  <a:cubicBezTo>
                    <a:pt x="5529" y="917"/>
                    <a:pt x="5479" y="974"/>
                    <a:pt x="5479" y="1089"/>
                  </a:cubicBezTo>
                  <a:cubicBezTo>
                    <a:pt x="5430" y="1146"/>
                    <a:pt x="5381" y="1146"/>
                    <a:pt x="5282" y="1146"/>
                  </a:cubicBezTo>
                  <a:cubicBezTo>
                    <a:pt x="5183" y="1146"/>
                    <a:pt x="5085" y="1089"/>
                    <a:pt x="4986" y="1089"/>
                  </a:cubicBezTo>
                  <a:cubicBezTo>
                    <a:pt x="4937" y="1089"/>
                    <a:pt x="4888" y="1031"/>
                    <a:pt x="4838" y="1031"/>
                  </a:cubicBezTo>
                  <a:cubicBezTo>
                    <a:pt x="4690" y="1031"/>
                    <a:pt x="4690" y="1031"/>
                    <a:pt x="4690" y="1031"/>
                  </a:cubicBezTo>
                  <a:cubicBezTo>
                    <a:pt x="4690" y="1203"/>
                    <a:pt x="4690" y="1203"/>
                    <a:pt x="4690" y="1203"/>
                  </a:cubicBezTo>
                  <a:cubicBezTo>
                    <a:pt x="4740" y="1432"/>
                    <a:pt x="4789" y="1662"/>
                    <a:pt x="4690" y="1891"/>
                  </a:cubicBezTo>
                  <a:cubicBezTo>
                    <a:pt x="4592" y="2292"/>
                    <a:pt x="4493" y="2578"/>
                    <a:pt x="4394" y="2922"/>
                  </a:cubicBezTo>
                  <a:cubicBezTo>
                    <a:pt x="4296" y="3151"/>
                    <a:pt x="4296" y="3323"/>
                    <a:pt x="4296" y="3495"/>
                  </a:cubicBezTo>
                  <a:cubicBezTo>
                    <a:pt x="4296" y="3610"/>
                    <a:pt x="4345" y="3724"/>
                    <a:pt x="4296" y="3839"/>
                  </a:cubicBezTo>
                  <a:cubicBezTo>
                    <a:pt x="4246" y="4068"/>
                    <a:pt x="4148" y="4068"/>
                    <a:pt x="4000" y="4068"/>
                  </a:cubicBezTo>
                  <a:cubicBezTo>
                    <a:pt x="3951" y="4068"/>
                    <a:pt x="3852" y="4068"/>
                    <a:pt x="3753" y="4125"/>
                  </a:cubicBezTo>
                  <a:cubicBezTo>
                    <a:pt x="3605" y="4240"/>
                    <a:pt x="3556" y="4354"/>
                    <a:pt x="3507" y="4469"/>
                  </a:cubicBezTo>
                  <a:cubicBezTo>
                    <a:pt x="3507" y="4526"/>
                    <a:pt x="3408" y="4755"/>
                    <a:pt x="3408" y="4755"/>
                  </a:cubicBezTo>
                  <a:cubicBezTo>
                    <a:pt x="3309" y="5042"/>
                    <a:pt x="3211" y="5386"/>
                    <a:pt x="3063" y="5558"/>
                  </a:cubicBezTo>
                  <a:cubicBezTo>
                    <a:pt x="3014" y="5672"/>
                    <a:pt x="2964" y="5672"/>
                    <a:pt x="2915" y="5672"/>
                  </a:cubicBezTo>
                  <a:cubicBezTo>
                    <a:pt x="2866" y="5729"/>
                    <a:pt x="2816" y="5787"/>
                    <a:pt x="2767" y="5901"/>
                  </a:cubicBezTo>
                  <a:cubicBezTo>
                    <a:pt x="2767" y="6016"/>
                    <a:pt x="2767" y="6131"/>
                    <a:pt x="2767" y="6188"/>
                  </a:cubicBezTo>
                  <a:cubicBezTo>
                    <a:pt x="2767" y="6302"/>
                    <a:pt x="2718" y="6360"/>
                    <a:pt x="2718" y="6474"/>
                  </a:cubicBezTo>
                  <a:cubicBezTo>
                    <a:pt x="2668" y="6703"/>
                    <a:pt x="2668" y="6875"/>
                    <a:pt x="2668" y="7105"/>
                  </a:cubicBezTo>
                  <a:cubicBezTo>
                    <a:pt x="2668" y="7162"/>
                    <a:pt x="2668" y="7219"/>
                    <a:pt x="2668" y="7276"/>
                  </a:cubicBezTo>
                  <a:cubicBezTo>
                    <a:pt x="2668" y="7448"/>
                    <a:pt x="2668" y="7620"/>
                    <a:pt x="2668" y="7677"/>
                  </a:cubicBezTo>
                  <a:cubicBezTo>
                    <a:pt x="2619" y="7735"/>
                    <a:pt x="2570" y="7735"/>
                    <a:pt x="2570" y="7735"/>
                  </a:cubicBezTo>
                  <a:cubicBezTo>
                    <a:pt x="2471" y="7735"/>
                    <a:pt x="2422" y="7677"/>
                    <a:pt x="2372" y="7620"/>
                  </a:cubicBezTo>
                  <a:cubicBezTo>
                    <a:pt x="2274" y="7563"/>
                    <a:pt x="2224" y="7506"/>
                    <a:pt x="2126" y="7506"/>
                  </a:cubicBezTo>
                  <a:cubicBezTo>
                    <a:pt x="2126" y="7506"/>
                    <a:pt x="2077" y="7506"/>
                    <a:pt x="2077" y="7506"/>
                  </a:cubicBezTo>
                  <a:cubicBezTo>
                    <a:pt x="1830" y="7620"/>
                    <a:pt x="1781" y="8079"/>
                    <a:pt x="1731" y="8365"/>
                  </a:cubicBezTo>
                  <a:cubicBezTo>
                    <a:pt x="1731" y="8422"/>
                    <a:pt x="1731" y="8422"/>
                    <a:pt x="1731" y="8422"/>
                  </a:cubicBezTo>
                  <a:cubicBezTo>
                    <a:pt x="1682" y="8766"/>
                    <a:pt x="1633" y="9053"/>
                    <a:pt x="1534" y="9339"/>
                  </a:cubicBezTo>
                  <a:cubicBezTo>
                    <a:pt x="1485" y="9511"/>
                    <a:pt x="1485" y="9511"/>
                    <a:pt x="1485" y="9511"/>
                  </a:cubicBezTo>
                  <a:cubicBezTo>
                    <a:pt x="1435" y="9797"/>
                    <a:pt x="1435" y="10084"/>
                    <a:pt x="1435" y="10370"/>
                  </a:cubicBezTo>
                  <a:cubicBezTo>
                    <a:pt x="1435" y="10485"/>
                    <a:pt x="1485" y="10599"/>
                    <a:pt x="1485" y="10657"/>
                  </a:cubicBezTo>
                  <a:cubicBezTo>
                    <a:pt x="1485" y="10771"/>
                    <a:pt x="1485" y="10943"/>
                    <a:pt x="1485" y="11058"/>
                  </a:cubicBezTo>
                  <a:cubicBezTo>
                    <a:pt x="1534" y="11344"/>
                    <a:pt x="1583" y="11688"/>
                    <a:pt x="1435" y="11917"/>
                  </a:cubicBezTo>
                  <a:cubicBezTo>
                    <a:pt x="1386" y="12032"/>
                    <a:pt x="1238" y="12261"/>
                    <a:pt x="1041" y="12261"/>
                  </a:cubicBezTo>
                  <a:cubicBezTo>
                    <a:pt x="992" y="12261"/>
                    <a:pt x="992" y="12261"/>
                    <a:pt x="942" y="12261"/>
                  </a:cubicBezTo>
                  <a:cubicBezTo>
                    <a:pt x="893" y="12204"/>
                    <a:pt x="844" y="12204"/>
                    <a:pt x="794" y="12146"/>
                  </a:cubicBezTo>
                  <a:cubicBezTo>
                    <a:pt x="696" y="12089"/>
                    <a:pt x="597" y="12032"/>
                    <a:pt x="498" y="12032"/>
                  </a:cubicBezTo>
                  <a:cubicBezTo>
                    <a:pt x="400" y="12032"/>
                    <a:pt x="301" y="12146"/>
                    <a:pt x="252" y="12261"/>
                  </a:cubicBezTo>
                  <a:cubicBezTo>
                    <a:pt x="203" y="12318"/>
                    <a:pt x="203" y="12433"/>
                    <a:pt x="203" y="12490"/>
                  </a:cubicBezTo>
                  <a:cubicBezTo>
                    <a:pt x="203" y="12547"/>
                    <a:pt x="203" y="12662"/>
                    <a:pt x="203" y="12719"/>
                  </a:cubicBezTo>
                  <a:cubicBezTo>
                    <a:pt x="203" y="12777"/>
                    <a:pt x="153" y="12834"/>
                    <a:pt x="104" y="12834"/>
                  </a:cubicBezTo>
                  <a:cubicBezTo>
                    <a:pt x="104" y="12891"/>
                    <a:pt x="55" y="12949"/>
                    <a:pt x="5" y="13006"/>
                  </a:cubicBezTo>
                  <a:cubicBezTo>
                    <a:pt x="-44" y="13292"/>
                    <a:pt x="252" y="13464"/>
                    <a:pt x="449" y="13521"/>
                  </a:cubicBezTo>
                  <a:cubicBezTo>
                    <a:pt x="498" y="13579"/>
                    <a:pt x="548" y="13579"/>
                    <a:pt x="548" y="13579"/>
                  </a:cubicBezTo>
                  <a:cubicBezTo>
                    <a:pt x="597" y="13579"/>
                    <a:pt x="646" y="13579"/>
                    <a:pt x="696" y="13521"/>
                  </a:cubicBezTo>
                  <a:cubicBezTo>
                    <a:pt x="696" y="13521"/>
                    <a:pt x="745" y="13521"/>
                    <a:pt x="794" y="13521"/>
                  </a:cubicBezTo>
                  <a:cubicBezTo>
                    <a:pt x="844" y="13521"/>
                    <a:pt x="844" y="13521"/>
                    <a:pt x="893" y="13521"/>
                  </a:cubicBezTo>
                  <a:cubicBezTo>
                    <a:pt x="942" y="13579"/>
                    <a:pt x="1041" y="13636"/>
                    <a:pt x="1090" y="13751"/>
                  </a:cubicBezTo>
                  <a:cubicBezTo>
                    <a:pt x="1140" y="13808"/>
                    <a:pt x="1140" y="13808"/>
                    <a:pt x="1140" y="13808"/>
                  </a:cubicBezTo>
                  <a:cubicBezTo>
                    <a:pt x="1288" y="13923"/>
                    <a:pt x="1435" y="14152"/>
                    <a:pt x="1534" y="14381"/>
                  </a:cubicBezTo>
                  <a:cubicBezTo>
                    <a:pt x="1633" y="14610"/>
                    <a:pt x="1781" y="14782"/>
                    <a:pt x="1929" y="14954"/>
                  </a:cubicBezTo>
                  <a:cubicBezTo>
                    <a:pt x="1929" y="14954"/>
                    <a:pt x="1978" y="15011"/>
                    <a:pt x="1978" y="15011"/>
                  </a:cubicBezTo>
                  <a:cubicBezTo>
                    <a:pt x="2027" y="15068"/>
                    <a:pt x="2077" y="15126"/>
                    <a:pt x="2126" y="15183"/>
                  </a:cubicBezTo>
                  <a:cubicBezTo>
                    <a:pt x="2175" y="15298"/>
                    <a:pt x="2175" y="15298"/>
                    <a:pt x="2175" y="15298"/>
                  </a:cubicBezTo>
                  <a:cubicBezTo>
                    <a:pt x="2224" y="15412"/>
                    <a:pt x="2274" y="15412"/>
                    <a:pt x="2372" y="15469"/>
                  </a:cubicBezTo>
                  <a:cubicBezTo>
                    <a:pt x="2570" y="15641"/>
                    <a:pt x="2619" y="15813"/>
                    <a:pt x="2718" y="16042"/>
                  </a:cubicBezTo>
                  <a:cubicBezTo>
                    <a:pt x="2718" y="16100"/>
                    <a:pt x="2718" y="16100"/>
                    <a:pt x="2718" y="16100"/>
                  </a:cubicBezTo>
                  <a:cubicBezTo>
                    <a:pt x="2816" y="16444"/>
                    <a:pt x="2915" y="16787"/>
                    <a:pt x="3014" y="17074"/>
                  </a:cubicBezTo>
                  <a:cubicBezTo>
                    <a:pt x="3014" y="17131"/>
                    <a:pt x="3063" y="17246"/>
                    <a:pt x="3063" y="17303"/>
                  </a:cubicBezTo>
                  <a:cubicBezTo>
                    <a:pt x="3063" y="17360"/>
                    <a:pt x="3112" y="17475"/>
                    <a:pt x="3161" y="17532"/>
                  </a:cubicBezTo>
                  <a:cubicBezTo>
                    <a:pt x="3161" y="17647"/>
                    <a:pt x="3211" y="17647"/>
                    <a:pt x="3260" y="17704"/>
                  </a:cubicBezTo>
                  <a:cubicBezTo>
                    <a:pt x="3309" y="17761"/>
                    <a:pt x="3359" y="17819"/>
                    <a:pt x="3359" y="17876"/>
                  </a:cubicBezTo>
                  <a:cubicBezTo>
                    <a:pt x="3408" y="17933"/>
                    <a:pt x="3408" y="17933"/>
                    <a:pt x="3408" y="17933"/>
                  </a:cubicBezTo>
                  <a:cubicBezTo>
                    <a:pt x="3408" y="17933"/>
                    <a:pt x="3408" y="17933"/>
                    <a:pt x="3408" y="17933"/>
                  </a:cubicBezTo>
                  <a:cubicBezTo>
                    <a:pt x="3457" y="17933"/>
                    <a:pt x="3457" y="17933"/>
                    <a:pt x="3507" y="17933"/>
                  </a:cubicBezTo>
                  <a:cubicBezTo>
                    <a:pt x="3556" y="17933"/>
                    <a:pt x="3556" y="17933"/>
                    <a:pt x="3605" y="17933"/>
                  </a:cubicBezTo>
                  <a:cubicBezTo>
                    <a:pt x="3655" y="17933"/>
                    <a:pt x="3704" y="17933"/>
                    <a:pt x="3704" y="17933"/>
                  </a:cubicBezTo>
                  <a:cubicBezTo>
                    <a:pt x="3753" y="17933"/>
                    <a:pt x="3803" y="17933"/>
                    <a:pt x="3852" y="17933"/>
                  </a:cubicBezTo>
                  <a:cubicBezTo>
                    <a:pt x="4049" y="18048"/>
                    <a:pt x="4049" y="18220"/>
                    <a:pt x="4049" y="18506"/>
                  </a:cubicBezTo>
                  <a:cubicBezTo>
                    <a:pt x="4049" y="18563"/>
                    <a:pt x="4049" y="18621"/>
                    <a:pt x="4049" y="18678"/>
                  </a:cubicBezTo>
                  <a:cubicBezTo>
                    <a:pt x="4000" y="18850"/>
                    <a:pt x="4000" y="19022"/>
                    <a:pt x="4049" y="19194"/>
                  </a:cubicBezTo>
                  <a:cubicBezTo>
                    <a:pt x="4098" y="19308"/>
                    <a:pt x="4148" y="19423"/>
                    <a:pt x="4246" y="19480"/>
                  </a:cubicBezTo>
                  <a:cubicBezTo>
                    <a:pt x="4246" y="19537"/>
                    <a:pt x="4296" y="19595"/>
                    <a:pt x="4345" y="19652"/>
                  </a:cubicBezTo>
                  <a:cubicBezTo>
                    <a:pt x="4345" y="19709"/>
                    <a:pt x="4345" y="19709"/>
                    <a:pt x="4345" y="19709"/>
                  </a:cubicBezTo>
                  <a:cubicBezTo>
                    <a:pt x="5775" y="19709"/>
                    <a:pt x="5775" y="19709"/>
                    <a:pt x="5775" y="19709"/>
                  </a:cubicBezTo>
                  <a:cubicBezTo>
                    <a:pt x="7501" y="21256"/>
                    <a:pt x="7501" y="21256"/>
                    <a:pt x="7501" y="21256"/>
                  </a:cubicBezTo>
                  <a:cubicBezTo>
                    <a:pt x="9474" y="21600"/>
                    <a:pt x="9474" y="21600"/>
                    <a:pt x="9474" y="21600"/>
                  </a:cubicBezTo>
                  <a:cubicBezTo>
                    <a:pt x="10066" y="20569"/>
                    <a:pt x="10066" y="20569"/>
                    <a:pt x="10066" y="20569"/>
                  </a:cubicBezTo>
                  <a:cubicBezTo>
                    <a:pt x="11249" y="19996"/>
                    <a:pt x="11249" y="19996"/>
                    <a:pt x="11249" y="19996"/>
                  </a:cubicBezTo>
                  <a:cubicBezTo>
                    <a:pt x="11841" y="20569"/>
                    <a:pt x="11841" y="20569"/>
                    <a:pt x="11841" y="20569"/>
                  </a:cubicBezTo>
                  <a:cubicBezTo>
                    <a:pt x="11890" y="20569"/>
                    <a:pt x="11890" y="20569"/>
                    <a:pt x="11890" y="20569"/>
                  </a:cubicBezTo>
                  <a:cubicBezTo>
                    <a:pt x="11940" y="20569"/>
                    <a:pt x="12038" y="20569"/>
                    <a:pt x="12088" y="20569"/>
                  </a:cubicBezTo>
                  <a:cubicBezTo>
                    <a:pt x="12186" y="20569"/>
                    <a:pt x="12285" y="20569"/>
                    <a:pt x="12383" y="20569"/>
                  </a:cubicBezTo>
                  <a:cubicBezTo>
                    <a:pt x="12433" y="20569"/>
                    <a:pt x="12531" y="20569"/>
                    <a:pt x="12630" y="20569"/>
                  </a:cubicBezTo>
                  <a:cubicBezTo>
                    <a:pt x="12778" y="20569"/>
                    <a:pt x="12877" y="20454"/>
                    <a:pt x="12975" y="20397"/>
                  </a:cubicBezTo>
                  <a:cubicBezTo>
                    <a:pt x="13074" y="20282"/>
                    <a:pt x="13172" y="20225"/>
                    <a:pt x="13271" y="20225"/>
                  </a:cubicBezTo>
                  <a:cubicBezTo>
                    <a:pt x="13370" y="20168"/>
                    <a:pt x="13468" y="20168"/>
                    <a:pt x="13616" y="20168"/>
                  </a:cubicBezTo>
                  <a:cubicBezTo>
                    <a:pt x="13764" y="20110"/>
                    <a:pt x="13961" y="20110"/>
                    <a:pt x="14109" y="19996"/>
                  </a:cubicBezTo>
                  <a:cubicBezTo>
                    <a:pt x="14208" y="19938"/>
                    <a:pt x="14307" y="19824"/>
                    <a:pt x="14356" y="19709"/>
                  </a:cubicBezTo>
                  <a:cubicBezTo>
                    <a:pt x="14405" y="19595"/>
                    <a:pt x="14405" y="19537"/>
                    <a:pt x="14504" y="19480"/>
                  </a:cubicBezTo>
                  <a:cubicBezTo>
                    <a:pt x="14603" y="19308"/>
                    <a:pt x="14849" y="19194"/>
                    <a:pt x="15046" y="19079"/>
                  </a:cubicBezTo>
                  <a:cubicBezTo>
                    <a:pt x="15046" y="19079"/>
                    <a:pt x="15096" y="19022"/>
                    <a:pt x="15145" y="19022"/>
                  </a:cubicBezTo>
                  <a:cubicBezTo>
                    <a:pt x="15342" y="18907"/>
                    <a:pt x="15540" y="18793"/>
                    <a:pt x="15688" y="18793"/>
                  </a:cubicBezTo>
                  <a:cubicBezTo>
                    <a:pt x="15688" y="18793"/>
                    <a:pt x="15737" y="18793"/>
                    <a:pt x="15737" y="18793"/>
                  </a:cubicBezTo>
                  <a:cubicBezTo>
                    <a:pt x="15737" y="18793"/>
                    <a:pt x="15737" y="18793"/>
                    <a:pt x="15737" y="18793"/>
                  </a:cubicBezTo>
                  <a:cubicBezTo>
                    <a:pt x="17315" y="18793"/>
                    <a:pt x="17315" y="18793"/>
                    <a:pt x="17315" y="18793"/>
                  </a:cubicBezTo>
                  <a:cubicBezTo>
                    <a:pt x="21556" y="12891"/>
                    <a:pt x="21556" y="12891"/>
                    <a:pt x="21556" y="12891"/>
                  </a:cubicBezTo>
                  <a:lnTo>
                    <a:pt x="20175" y="12949"/>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44" name="Shape">
              <a:extLst>
                <a:ext uri="{FF2B5EF4-FFF2-40B4-BE49-F238E27FC236}">
                  <a16:creationId xmlns:a16="http://schemas.microsoft.com/office/drawing/2014/main" id="{C2CD2030-DFE2-3C44-B32D-D4EA0D76F2F1}"/>
                </a:ext>
              </a:extLst>
            </p:cNvPr>
            <p:cNvSpPr/>
            <p:nvPr/>
          </p:nvSpPr>
          <p:spPr>
            <a:xfrm>
              <a:off x="6168588" y="4530049"/>
              <a:ext cx="1233481" cy="1271733"/>
            </a:xfrm>
            <a:custGeom>
              <a:avLst/>
              <a:gdLst/>
              <a:ahLst/>
              <a:cxnLst>
                <a:cxn ang="0">
                  <a:pos x="wd2" y="hd2"/>
                </a:cxn>
                <a:cxn ang="5400000">
                  <a:pos x="wd2" y="hd2"/>
                </a:cxn>
                <a:cxn ang="10800000">
                  <a:pos x="wd2" y="hd2"/>
                </a:cxn>
                <a:cxn ang="16200000">
                  <a:pos x="wd2" y="hd2"/>
                </a:cxn>
              </a:cxnLst>
              <a:rect l="0" t="0" r="r" b="b"/>
              <a:pathLst>
                <a:path w="21600" h="21600" extrusionOk="0">
                  <a:moveTo>
                    <a:pt x="21464" y="18923"/>
                  </a:moveTo>
                  <a:cubicBezTo>
                    <a:pt x="21396" y="18740"/>
                    <a:pt x="21259" y="18619"/>
                    <a:pt x="20987" y="18558"/>
                  </a:cubicBezTo>
                  <a:cubicBezTo>
                    <a:pt x="20782" y="18497"/>
                    <a:pt x="20646" y="18436"/>
                    <a:pt x="20442" y="18314"/>
                  </a:cubicBezTo>
                  <a:cubicBezTo>
                    <a:pt x="20237" y="18132"/>
                    <a:pt x="20169" y="17888"/>
                    <a:pt x="20033" y="17584"/>
                  </a:cubicBezTo>
                  <a:cubicBezTo>
                    <a:pt x="19965" y="17341"/>
                    <a:pt x="19897" y="17037"/>
                    <a:pt x="19828" y="16732"/>
                  </a:cubicBezTo>
                  <a:cubicBezTo>
                    <a:pt x="19828" y="16550"/>
                    <a:pt x="19760" y="16367"/>
                    <a:pt x="19692" y="16246"/>
                  </a:cubicBezTo>
                  <a:cubicBezTo>
                    <a:pt x="19692" y="16124"/>
                    <a:pt x="19624" y="16063"/>
                    <a:pt x="19624" y="15941"/>
                  </a:cubicBezTo>
                  <a:cubicBezTo>
                    <a:pt x="19556" y="15820"/>
                    <a:pt x="19488" y="15698"/>
                    <a:pt x="19488" y="15576"/>
                  </a:cubicBezTo>
                  <a:cubicBezTo>
                    <a:pt x="19488" y="15515"/>
                    <a:pt x="19488" y="15515"/>
                    <a:pt x="19488" y="15515"/>
                  </a:cubicBezTo>
                  <a:cubicBezTo>
                    <a:pt x="19420" y="15455"/>
                    <a:pt x="19420" y="15394"/>
                    <a:pt x="19420" y="15333"/>
                  </a:cubicBezTo>
                  <a:cubicBezTo>
                    <a:pt x="19351" y="15272"/>
                    <a:pt x="19351" y="15211"/>
                    <a:pt x="19283" y="15211"/>
                  </a:cubicBezTo>
                  <a:cubicBezTo>
                    <a:pt x="19283" y="15211"/>
                    <a:pt x="19283" y="15150"/>
                    <a:pt x="19283" y="15150"/>
                  </a:cubicBezTo>
                  <a:cubicBezTo>
                    <a:pt x="19215" y="15090"/>
                    <a:pt x="19215" y="14907"/>
                    <a:pt x="19283" y="14846"/>
                  </a:cubicBezTo>
                  <a:cubicBezTo>
                    <a:pt x="19283" y="14725"/>
                    <a:pt x="19351" y="14664"/>
                    <a:pt x="19420" y="14542"/>
                  </a:cubicBezTo>
                  <a:cubicBezTo>
                    <a:pt x="19488" y="14420"/>
                    <a:pt x="19556" y="14299"/>
                    <a:pt x="19556" y="14116"/>
                  </a:cubicBezTo>
                  <a:cubicBezTo>
                    <a:pt x="19556" y="13934"/>
                    <a:pt x="19556" y="13751"/>
                    <a:pt x="19488" y="13690"/>
                  </a:cubicBezTo>
                  <a:cubicBezTo>
                    <a:pt x="19420" y="13629"/>
                    <a:pt x="19351" y="13568"/>
                    <a:pt x="19351" y="13508"/>
                  </a:cubicBezTo>
                  <a:cubicBezTo>
                    <a:pt x="19283" y="13508"/>
                    <a:pt x="19283" y="13508"/>
                    <a:pt x="19283" y="13508"/>
                  </a:cubicBezTo>
                  <a:cubicBezTo>
                    <a:pt x="19215" y="13447"/>
                    <a:pt x="19215" y="13447"/>
                    <a:pt x="19215" y="13386"/>
                  </a:cubicBezTo>
                  <a:cubicBezTo>
                    <a:pt x="19215" y="13386"/>
                    <a:pt x="19215" y="13386"/>
                    <a:pt x="19215" y="13325"/>
                  </a:cubicBezTo>
                  <a:cubicBezTo>
                    <a:pt x="19215" y="13143"/>
                    <a:pt x="19283" y="12960"/>
                    <a:pt x="19420" y="12777"/>
                  </a:cubicBezTo>
                  <a:cubicBezTo>
                    <a:pt x="19420" y="12777"/>
                    <a:pt x="19488" y="12717"/>
                    <a:pt x="19488" y="12717"/>
                  </a:cubicBezTo>
                  <a:cubicBezTo>
                    <a:pt x="19624" y="12534"/>
                    <a:pt x="19760" y="12352"/>
                    <a:pt x="19760" y="12169"/>
                  </a:cubicBezTo>
                  <a:cubicBezTo>
                    <a:pt x="19760" y="11926"/>
                    <a:pt x="19556" y="11743"/>
                    <a:pt x="19420" y="11621"/>
                  </a:cubicBezTo>
                  <a:cubicBezTo>
                    <a:pt x="19351" y="11561"/>
                    <a:pt x="19283" y="11500"/>
                    <a:pt x="19215" y="11500"/>
                  </a:cubicBezTo>
                  <a:cubicBezTo>
                    <a:pt x="19215" y="11439"/>
                    <a:pt x="19147" y="11378"/>
                    <a:pt x="19147" y="11317"/>
                  </a:cubicBezTo>
                  <a:cubicBezTo>
                    <a:pt x="19079" y="11256"/>
                    <a:pt x="19011" y="11195"/>
                    <a:pt x="18943" y="11135"/>
                  </a:cubicBezTo>
                  <a:cubicBezTo>
                    <a:pt x="18874" y="11013"/>
                    <a:pt x="18738" y="11013"/>
                    <a:pt x="18670" y="11013"/>
                  </a:cubicBezTo>
                  <a:cubicBezTo>
                    <a:pt x="18602" y="10952"/>
                    <a:pt x="18602" y="10952"/>
                    <a:pt x="18534" y="10952"/>
                  </a:cubicBezTo>
                  <a:cubicBezTo>
                    <a:pt x="18466" y="10952"/>
                    <a:pt x="18466" y="10830"/>
                    <a:pt x="18397" y="10709"/>
                  </a:cubicBezTo>
                  <a:cubicBezTo>
                    <a:pt x="18397" y="10709"/>
                    <a:pt x="18397" y="10648"/>
                    <a:pt x="18397" y="10587"/>
                  </a:cubicBezTo>
                  <a:cubicBezTo>
                    <a:pt x="18397" y="10465"/>
                    <a:pt x="18397" y="10405"/>
                    <a:pt x="18397" y="10283"/>
                  </a:cubicBezTo>
                  <a:cubicBezTo>
                    <a:pt x="18329" y="10161"/>
                    <a:pt x="18329" y="10100"/>
                    <a:pt x="18329" y="9979"/>
                  </a:cubicBezTo>
                  <a:cubicBezTo>
                    <a:pt x="18329" y="9796"/>
                    <a:pt x="18397" y="9614"/>
                    <a:pt x="18534" y="9431"/>
                  </a:cubicBezTo>
                  <a:cubicBezTo>
                    <a:pt x="18670" y="9309"/>
                    <a:pt x="18670" y="9127"/>
                    <a:pt x="18738" y="8944"/>
                  </a:cubicBezTo>
                  <a:cubicBezTo>
                    <a:pt x="18806" y="8823"/>
                    <a:pt x="18806" y="8823"/>
                    <a:pt x="18806" y="8823"/>
                  </a:cubicBezTo>
                  <a:cubicBezTo>
                    <a:pt x="18806" y="8701"/>
                    <a:pt x="18874" y="8579"/>
                    <a:pt x="18874" y="8518"/>
                  </a:cubicBezTo>
                  <a:cubicBezTo>
                    <a:pt x="18943" y="8397"/>
                    <a:pt x="18943" y="8336"/>
                    <a:pt x="19011" y="8214"/>
                  </a:cubicBezTo>
                  <a:cubicBezTo>
                    <a:pt x="19011" y="8153"/>
                    <a:pt x="19011" y="8153"/>
                    <a:pt x="19011" y="8153"/>
                  </a:cubicBezTo>
                  <a:cubicBezTo>
                    <a:pt x="19079" y="8092"/>
                    <a:pt x="19079" y="8032"/>
                    <a:pt x="19079" y="7910"/>
                  </a:cubicBezTo>
                  <a:cubicBezTo>
                    <a:pt x="19147" y="7849"/>
                    <a:pt x="19147" y="7788"/>
                    <a:pt x="19147" y="7727"/>
                  </a:cubicBezTo>
                  <a:cubicBezTo>
                    <a:pt x="19215" y="7606"/>
                    <a:pt x="19215" y="7606"/>
                    <a:pt x="19215" y="7606"/>
                  </a:cubicBezTo>
                  <a:cubicBezTo>
                    <a:pt x="16626" y="5719"/>
                    <a:pt x="16626" y="5719"/>
                    <a:pt x="16626" y="5719"/>
                  </a:cubicBezTo>
                  <a:cubicBezTo>
                    <a:pt x="16626" y="5719"/>
                    <a:pt x="16558" y="5719"/>
                    <a:pt x="16558" y="5719"/>
                  </a:cubicBezTo>
                  <a:cubicBezTo>
                    <a:pt x="16490" y="5659"/>
                    <a:pt x="16421" y="5659"/>
                    <a:pt x="16353" y="5598"/>
                  </a:cubicBezTo>
                  <a:cubicBezTo>
                    <a:pt x="16353" y="5537"/>
                    <a:pt x="16353" y="5476"/>
                    <a:pt x="16353" y="5415"/>
                  </a:cubicBezTo>
                  <a:cubicBezTo>
                    <a:pt x="16353" y="5415"/>
                    <a:pt x="16353" y="5354"/>
                    <a:pt x="16285" y="5294"/>
                  </a:cubicBezTo>
                  <a:cubicBezTo>
                    <a:pt x="16285" y="5233"/>
                    <a:pt x="16217" y="5233"/>
                    <a:pt x="16081" y="5172"/>
                  </a:cubicBezTo>
                  <a:cubicBezTo>
                    <a:pt x="16013" y="5172"/>
                    <a:pt x="15944" y="5111"/>
                    <a:pt x="15944" y="5050"/>
                  </a:cubicBezTo>
                  <a:cubicBezTo>
                    <a:pt x="15876" y="4989"/>
                    <a:pt x="15944" y="4868"/>
                    <a:pt x="16013" y="4807"/>
                  </a:cubicBezTo>
                  <a:cubicBezTo>
                    <a:pt x="16013" y="4685"/>
                    <a:pt x="16081" y="4624"/>
                    <a:pt x="16081" y="4563"/>
                  </a:cubicBezTo>
                  <a:cubicBezTo>
                    <a:pt x="16081" y="4381"/>
                    <a:pt x="15944" y="4198"/>
                    <a:pt x="15808" y="4016"/>
                  </a:cubicBezTo>
                  <a:cubicBezTo>
                    <a:pt x="15672" y="3833"/>
                    <a:pt x="15399" y="3712"/>
                    <a:pt x="15195" y="3590"/>
                  </a:cubicBezTo>
                  <a:cubicBezTo>
                    <a:pt x="15059" y="3590"/>
                    <a:pt x="14991" y="3529"/>
                    <a:pt x="14854" y="3468"/>
                  </a:cubicBezTo>
                  <a:cubicBezTo>
                    <a:pt x="14037" y="2981"/>
                    <a:pt x="13151" y="2495"/>
                    <a:pt x="12333" y="2069"/>
                  </a:cubicBezTo>
                  <a:cubicBezTo>
                    <a:pt x="12333" y="2069"/>
                    <a:pt x="12333" y="2069"/>
                    <a:pt x="12333" y="2069"/>
                  </a:cubicBezTo>
                  <a:cubicBezTo>
                    <a:pt x="11856" y="1765"/>
                    <a:pt x="11379" y="1521"/>
                    <a:pt x="10902" y="1278"/>
                  </a:cubicBezTo>
                  <a:cubicBezTo>
                    <a:pt x="10630" y="1095"/>
                    <a:pt x="10289" y="974"/>
                    <a:pt x="10016" y="791"/>
                  </a:cubicBezTo>
                  <a:cubicBezTo>
                    <a:pt x="9608" y="548"/>
                    <a:pt x="9199" y="365"/>
                    <a:pt x="8790" y="122"/>
                  </a:cubicBezTo>
                  <a:cubicBezTo>
                    <a:pt x="8654" y="61"/>
                    <a:pt x="8654" y="61"/>
                    <a:pt x="8654" y="61"/>
                  </a:cubicBezTo>
                  <a:cubicBezTo>
                    <a:pt x="8585" y="183"/>
                    <a:pt x="8585" y="183"/>
                    <a:pt x="8585" y="183"/>
                  </a:cubicBezTo>
                  <a:cubicBezTo>
                    <a:pt x="8585" y="183"/>
                    <a:pt x="8585" y="183"/>
                    <a:pt x="8585" y="183"/>
                  </a:cubicBezTo>
                  <a:cubicBezTo>
                    <a:pt x="8517" y="304"/>
                    <a:pt x="8517" y="365"/>
                    <a:pt x="8449" y="426"/>
                  </a:cubicBezTo>
                  <a:cubicBezTo>
                    <a:pt x="8449" y="426"/>
                    <a:pt x="8449" y="487"/>
                    <a:pt x="8449" y="487"/>
                  </a:cubicBezTo>
                  <a:cubicBezTo>
                    <a:pt x="8313" y="548"/>
                    <a:pt x="8313" y="669"/>
                    <a:pt x="8313" y="730"/>
                  </a:cubicBezTo>
                  <a:cubicBezTo>
                    <a:pt x="8313" y="791"/>
                    <a:pt x="8245" y="852"/>
                    <a:pt x="8245" y="852"/>
                  </a:cubicBezTo>
                  <a:cubicBezTo>
                    <a:pt x="8245" y="913"/>
                    <a:pt x="8177" y="913"/>
                    <a:pt x="8177" y="913"/>
                  </a:cubicBezTo>
                  <a:cubicBezTo>
                    <a:pt x="8109" y="913"/>
                    <a:pt x="7972" y="974"/>
                    <a:pt x="7904" y="1095"/>
                  </a:cubicBezTo>
                  <a:cubicBezTo>
                    <a:pt x="7836" y="1156"/>
                    <a:pt x="7904" y="1217"/>
                    <a:pt x="7904" y="1278"/>
                  </a:cubicBezTo>
                  <a:cubicBezTo>
                    <a:pt x="7904" y="1278"/>
                    <a:pt x="7904" y="1278"/>
                    <a:pt x="7904" y="1278"/>
                  </a:cubicBezTo>
                  <a:cubicBezTo>
                    <a:pt x="7904" y="1278"/>
                    <a:pt x="7904" y="1278"/>
                    <a:pt x="7904" y="1278"/>
                  </a:cubicBezTo>
                  <a:cubicBezTo>
                    <a:pt x="7904" y="1278"/>
                    <a:pt x="7904" y="1278"/>
                    <a:pt x="7904" y="1278"/>
                  </a:cubicBezTo>
                  <a:cubicBezTo>
                    <a:pt x="7836" y="1339"/>
                    <a:pt x="7836" y="1339"/>
                    <a:pt x="7836" y="1399"/>
                  </a:cubicBezTo>
                  <a:cubicBezTo>
                    <a:pt x="7836" y="1399"/>
                    <a:pt x="7768" y="1399"/>
                    <a:pt x="7768" y="1399"/>
                  </a:cubicBezTo>
                  <a:cubicBezTo>
                    <a:pt x="7768" y="1460"/>
                    <a:pt x="7700" y="1460"/>
                    <a:pt x="7700" y="1521"/>
                  </a:cubicBezTo>
                  <a:cubicBezTo>
                    <a:pt x="7700" y="1521"/>
                    <a:pt x="7700" y="1582"/>
                    <a:pt x="7700" y="1643"/>
                  </a:cubicBezTo>
                  <a:cubicBezTo>
                    <a:pt x="7632" y="1643"/>
                    <a:pt x="7563" y="1643"/>
                    <a:pt x="7495" y="1704"/>
                  </a:cubicBezTo>
                  <a:cubicBezTo>
                    <a:pt x="7495" y="1765"/>
                    <a:pt x="7495" y="1825"/>
                    <a:pt x="7495" y="1886"/>
                  </a:cubicBezTo>
                  <a:cubicBezTo>
                    <a:pt x="7427" y="1886"/>
                    <a:pt x="7427" y="1947"/>
                    <a:pt x="7427" y="1947"/>
                  </a:cubicBezTo>
                  <a:cubicBezTo>
                    <a:pt x="7427" y="1947"/>
                    <a:pt x="7427" y="1947"/>
                    <a:pt x="7427" y="1947"/>
                  </a:cubicBezTo>
                  <a:cubicBezTo>
                    <a:pt x="7427" y="1947"/>
                    <a:pt x="7427" y="1947"/>
                    <a:pt x="7359" y="1947"/>
                  </a:cubicBezTo>
                  <a:cubicBezTo>
                    <a:pt x="7291" y="1947"/>
                    <a:pt x="7291" y="1947"/>
                    <a:pt x="7223" y="1947"/>
                  </a:cubicBezTo>
                  <a:cubicBezTo>
                    <a:pt x="7086" y="2069"/>
                    <a:pt x="7086" y="2190"/>
                    <a:pt x="7086" y="2251"/>
                  </a:cubicBezTo>
                  <a:cubicBezTo>
                    <a:pt x="7155" y="2434"/>
                    <a:pt x="7495" y="2495"/>
                    <a:pt x="7700" y="2555"/>
                  </a:cubicBezTo>
                  <a:cubicBezTo>
                    <a:pt x="7700" y="2555"/>
                    <a:pt x="7768" y="2555"/>
                    <a:pt x="7768" y="2555"/>
                  </a:cubicBezTo>
                  <a:cubicBezTo>
                    <a:pt x="7904" y="2555"/>
                    <a:pt x="7972" y="2555"/>
                    <a:pt x="8109" y="2495"/>
                  </a:cubicBezTo>
                  <a:cubicBezTo>
                    <a:pt x="8177" y="2495"/>
                    <a:pt x="8177" y="2495"/>
                    <a:pt x="8245" y="2434"/>
                  </a:cubicBezTo>
                  <a:cubicBezTo>
                    <a:pt x="8245" y="2555"/>
                    <a:pt x="8177" y="2616"/>
                    <a:pt x="7972" y="2738"/>
                  </a:cubicBezTo>
                  <a:cubicBezTo>
                    <a:pt x="7972" y="2738"/>
                    <a:pt x="7904" y="2738"/>
                    <a:pt x="7904" y="2738"/>
                  </a:cubicBezTo>
                  <a:cubicBezTo>
                    <a:pt x="7836" y="2799"/>
                    <a:pt x="7768" y="2799"/>
                    <a:pt x="7768" y="2799"/>
                  </a:cubicBezTo>
                  <a:cubicBezTo>
                    <a:pt x="7700" y="2860"/>
                    <a:pt x="7632" y="2921"/>
                    <a:pt x="7632" y="2921"/>
                  </a:cubicBezTo>
                  <a:cubicBezTo>
                    <a:pt x="7563" y="2981"/>
                    <a:pt x="7563" y="2981"/>
                    <a:pt x="7563" y="2981"/>
                  </a:cubicBezTo>
                  <a:cubicBezTo>
                    <a:pt x="7495" y="3042"/>
                    <a:pt x="7427" y="3042"/>
                    <a:pt x="7359" y="3042"/>
                  </a:cubicBezTo>
                  <a:cubicBezTo>
                    <a:pt x="7359" y="3042"/>
                    <a:pt x="7359" y="3042"/>
                    <a:pt x="7359" y="3042"/>
                  </a:cubicBezTo>
                  <a:cubicBezTo>
                    <a:pt x="7291" y="3042"/>
                    <a:pt x="7291" y="3042"/>
                    <a:pt x="7291" y="2981"/>
                  </a:cubicBezTo>
                  <a:cubicBezTo>
                    <a:pt x="7291" y="2981"/>
                    <a:pt x="7223" y="2921"/>
                    <a:pt x="7155" y="2860"/>
                  </a:cubicBezTo>
                  <a:cubicBezTo>
                    <a:pt x="7086" y="2799"/>
                    <a:pt x="7018" y="2738"/>
                    <a:pt x="6882" y="2738"/>
                  </a:cubicBezTo>
                  <a:cubicBezTo>
                    <a:pt x="6746" y="2738"/>
                    <a:pt x="6678" y="2860"/>
                    <a:pt x="6609" y="2921"/>
                  </a:cubicBezTo>
                  <a:cubicBezTo>
                    <a:pt x="6541" y="2981"/>
                    <a:pt x="6473" y="2981"/>
                    <a:pt x="6473" y="2981"/>
                  </a:cubicBezTo>
                  <a:cubicBezTo>
                    <a:pt x="6473" y="2981"/>
                    <a:pt x="6337" y="2981"/>
                    <a:pt x="6337" y="2981"/>
                  </a:cubicBezTo>
                  <a:cubicBezTo>
                    <a:pt x="6269" y="2981"/>
                    <a:pt x="6201" y="2921"/>
                    <a:pt x="6201" y="2921"/>
                  </a:cubicBezTo>
                  <a:cubicBezTo>
                    <a:pt x="6201" y="2921"/>
                    <a:pt x="6132" y="2921"/>
                    <a:pt x="6132" y="2921"/>
                  </a:cubicBezTo>
                  <a:cubicBezTo>
                    <a:pt x="6064" y="2921"/>
                    <a:pt x="5996" y="2921"/>
                    <a:pt x="5996" y="2860"/>
                  </a:cubicBezTo>
                  <a:cubicBezTo>
                    <a:pt x="5860" y="2799"/>
                    <a:pt x="5860" y="2799"/>
                    <a:pt x="5860" y="2799"/>
                  </a:cubicBezTo>
                  <a:cubicBezTo>
                    <a:pt x="5792" y="2860"/>
                    <a:pt x="5792" y="2860"/>
                    <a:pt x="5792" y="2860"/>
                  </a:cubicBezTo>
                  <a:cubicBezTo>
                    <a:pt x="5792" y="2860"/>
                    <a:pt x="5724" y="2921"/>
                    <a:pt x="5724" y="2921"/>
                  </a:cubicBezTo>
                  <a:cubicBezTo>
                    <a:pt x="5724" y="2860"/>
                    <a:pt x="5724" y="2860"/>
                    <a:pt x="5724" y="2860"/>
                  </a:cubicBezTo>
                  <a:cubicBezTo>
                    <a:pt x="5724" y="2738"/>
                    <a:pt x="5724" y="2616"/>
                    <a:pt x="5587" y="2555"/>
                  </a:cubicBezTo>
                  <a:cubicBezTo>
                    <a:pt x="5587" y="2495"/>
                    <a:pt x="5519" y="2495"/>
                    <a:pt x="5451" y="2495"/>
                  </a:cubicBezTo>
                  <a:cubicBezTo>
                    <a:pt x="5247" y="2495"/>
                    <a:pt x="5110" y="2677"/>
                    <a:pt x="4974" y="2799"/>
                  </a:cubicBezTo>
                  <a:cubicBezTo>
                    <a:pt x="4974" y="2799"/>
                    <a:pt x="4974" y="2799"/>
                    <a:pt x="4974" y="2799"/>
                  </a:cubicBezTo>
                  <a:cubicBezTo>
                    <a:pt x="4906" y="2860"/>
                    <a:pt x="4906" y="2860"/>
                    <a:pt x="4838" y="2921"/>
                  </a:cubicBezTo>
                  <a:cubicBezTo>
                    <a:pt x="4838" y="2921"/>
                    <a:pt x="4770" y="2921"/>
                    <a:pt x="4770" y="2981"/>
                  </a:cubicBezTo>
                  <a:cubicBezTo>
                    <a:pt x="4770" y="2981"/>
                    <a:pt x="4702" y="2981"/>
                    <a:pt x="4702" y="3042"/>
                  </a:cubicBezTo>
                  <a:cubicBezTo>
                    <a:pt x="4633" y="3042"/>
                    <a:pt x="4565" y="3103"/>
                    <a:pt x="4565" y="3103"/>
                  </a:cubicBezTo>
                  <a:cubicBezTo>
                    <a:pt x="4497" y="3164"/>
                    <a:pt x="4497" y="3225"/>
                    <a:pt x="4497" y="3225"/>
                  </a:cubicBezTo>
                  <a:cubicBezTo>
                    <a:pt x="4429" y="3225"/>
                    <a:pt x="4429" y="3164"/>
                    <a:pt x="4429" y="3164"/>
                  </a:cubicBezTo>
                  <a:cubicBezTo>
                    <a:pt x="4429" y="3103"/>
                    <a:pt x="4429" y="3042"/>
                    <a:pt x="4429" y="3042"/>
                  </a:cubicBezTo>
                  <a:cubicBezTo>
                    <a:pt x="4429" y="2921"/>
                    <a:pt x="4497" y="2799"/>
                    <a:pt x="4361" y="2738"/>
                  </a:cubicBezTo>
                  <a:cubicBezTo>
                    <a:pt x="4361" y="2677"/>
                    <a:pt x="4293" y="2677"/>
                    <a:pt x="4225" y="2616"/>
                  </a:cubicBezTo>
                  <a:cubicBezTo>
                    <a:pt x="4293" y="2616"/>
                    <a:pt x="4293" y="2555"/>
                    <a:pt x="4293" y="2555"/>
                  </a:cubicBezTo>
                  <a:cubicBezTo>
                    <a:pt x="4293" y="2434"/>
                    <a:pt x="4361" y="2373"/>
                    <a:pt x="4361" y="2251"/>
                  </a:cubicBezTo>
                  <a:cubicBezTo>
                    <a:pt x="4293" y="2190"/>
                    <a:pt x="4293" y="2130"/>
                    <a:pt x="4225" y="2069"/>
                  </a:cubicBezTo>
                  <a:cubicBezTo>
                    <a:pt x="4225" y="2069"/>
                    <a:pt x="4225" y="2069"/>
                    <a:pt x="4225" y="2069"/>
                  </a:cubicBezTo>
                  <a:cubicBezTo>
                    <a:pt x="4225" y="2069"/>
                    <a:pt x="4225" y="2008"/>
                    <a:pt x="4225" y="2008"/>
                  </a:cubicBezTo>
                  <a:cubicBezTo>
                    <a:pt x="4225" y="2008"/>
                    <a:pt x="4225" y="1947"/>
                    <a:pt x="4293" y="1886"/>
                  </a:cubicBezTo>
                  <a:cubicBezTo>
                    <a:pt x="4293" y="1825"/>
                    <a:pt x="4293" y="1825"/>
                    <a:pt x="4293" y="1765"/>
                  </a:cubicBezTo>
                  <a:cubicBezTo>
                    <a:pt x="4293" y="1643"/>
                    <a:pt x="4293" y="1582"/>
                    <a:pt x="4361" y="1521"/>
                  </a:cubicBezTo>
                  <a:cubicBezTo>
                    <a:pt x="4429" y="1460"/>
                    <a:pt x="4429" y="1460"/>
                    <a:pt x="4429" y="1460"/>
                  </a:cubicBezTo>
                  <a:cubicBezTo>
                    <a:pt x="4497" y="1339"/>
                    <a:pt x="4497" y="1278"/>
                    <a:pt x="4497" y="1095"/>
                  </a:cubicBezTo>
                  <a:cubicBezTo>
                    <a:pt x="4497" y="974"/>
                    <a:pt x="4565" y="913"/>
                    <a:pt x="4565" y="791"/>
                  </a:cubicBezTo>
                  <a:cubicBezTo>
                    <a:pt x="4633" y="608"/>
                    <a:pt x="4702" y="426"/>
                    <a:pt x="4633" y="243"/>
                  </a:cubicBezTo>
                  <a:cubicBezTo>
                    <a:pt x="4633" y="183"/>
                    <a:pt x="4633" y="183"/>
                    <a:pt x="4633" y="122"/>
                  </a:cubicBezTo>
                  <a:cubicBezTo>
                    <a:pt x="4633" y="61"/>
                    <a:pt x="4633" y="61"/>
                    <a:pt x="4633" y="61"/>
                  </a:cubicBezTo>
                  <a:cubicBezTo>
                    <a:pt x="4497" y="61"/>
                    <a:pt x="4497" y="61"/>
                    <a:pt x="4497" y="61"/>
                  </a:cubicBezTo>
                  <a:cubicBezTo>
                    <a:pt x="4497" y="61"/>
                    <a:pt x="4429" y="61"/>
                    <a:pt x="4429" y="61"/>
                  </a:cubicBezTo>
                  <a:cubicBezTo>
                    <a:pt x="4361" y="61"/>
                    <a:pt x="4293" y="61"/>
                    <a:pt x="4293" y="61"/>
                  </a:cubicBezTo>
                  <a:cubicBezTo>
                    <a:pt x="4225" y="0"/>
                    <a:pt x="4225" y="0"/>
                    <a:pt x="4156" y="0"/>
                  </a:cubicBezTo>
                  <a:cubicBezTo>
                    <a:pt x="4088" y="0"/>
                    <a:pt x="4020" y="0"/>
                    <a:pt x="3952" y="0"/>
                  </a:cubicBezTo>
                  <a:cubicBezTo>
                    <a:pt x="3816" y="0"/>
                    <a:pt x="3679" y="0"/>
                    <a:pt x="3543" y="0"/>
                  </a:cubicBezTo>
                  <a:cubicBezTo>
                    <a:pt x="3475" y="61"/>
                    <a:pt x="3475" y="61"/>
                    <a:pt x="3475" y="61"/>
                  </a:cubicBezTo>
                  <a:cubicBezTo>
                    <a:pt x="3407" y="61"/>
                    <a:pt x="3271" y="61"/>
                    <a:pt x="3203" y="61"/>
                  </a:cubicBezTo>
                  <a:cubicBezTo>
                    <a:pt x="2998" y="61"/>
                    <a:pt x="2794" y="61"/>
                    <a:pt x="2589" y="61"/>
                  </a:cubicBezTo>
                  <a:cubicBezTo>
                    <a:pt x="2521" y="61"/>
                    <a:pt x="2521" y="61"/>
                    <a:pt x="2521" y="61"/>
                  </a:cubicBezTo>
                  <a:cubicBezTo>
                    <a:pt x="2385" y="61"/>
                    <a:pt x="2317" y="122"/>
                    <a:pt x="2180" y="183"/>
                  </a:cubicBezTo>
                  <a:cubicBezTo>
                    <a:pt x="2180" y="183"/>
                    <a:pt x="2112" y="243"/>
                    <a:pt x="2044" y="243"/>
                  </a:cubicBezTo>
                  <a:cubicBezTo>
                    <a:pt x="1976" y="243"/>
                    <a:pt x="1976" y="243"/>
                    <a:pt x="1976" y="243"/>
                  </a:cubicBezTo>
                  <a:cubicBezTo>
                    <a:pt x="1840" y="304"/>
                    <a:pt x="1840" y="304"/>
                    <a:pt x="1840" y="304"/>
                  </a:cubicBezTo>
                  <a:cubicBezTo>
                    <a:pt x="1840" y="426"/>
                    <a:pt x="1840" y="426"/>
                    <a:pt x="1840" y="426"/>
                  </a:cubicBezTo>
                  <a:cubicBezTo>
                    <a:pt x="1840" y="426"/>
                    <a:pt x="1840" y="426"/>
                    <a:pt x="1840" y="426"/>
                  </a:cubicBezTo>
                  <a:cubicBezTo>
                    <a:pt x="1908" y="487"/>
                    <a:pt x="1908" y="548"/>
                    <a:pt x="1908" y="608"/>
                  </a:cubicBezTo>
                  <a:cubicBezTo>
                    <a:pt x="1976" y="669"/>
                    <a:pt x="2044" y="730"/>
                    <a:pt x="2112" y="730"/>
                  </a:cubicBezTo>
                  <a:cubicBezTo>
                    <a:pt x="2112" y="791"/>
                    <a:pt x="2180" y="791"/>
                    <a:pt x="2249" y="852"/>
                  </a:cubicBezTo>
                  <a:cubicBezTo>
                    <a:pt x="2385" y="1034"/>
                    <a:pt x="2453" y="1339"/>
                    <a:pt x="2453" y="1521"/>
                  </a:cubicBezTo>
                  <a:cubicBezTo>
                    <a:pt x="2521" y="1643"/>
                    <a:pt x="2521" y="1643"/>
                    <a:pt x="2521" y="1643"/>
                  </a:cubicBezTo>
                  <a:cubicBezTo>
                    <a:pt x="2521" y="2008"/>
                    <a:pt x="2657" y="2738"/>
                    <a:pt x="2317" y="2860"/>
                  </a:cubicBezTo>
                  <a:cubicBezTo>
                    <a:pt x="2249" y="2860"/>
                    <a:pt x="2249" y="2860"/>
                    <a:pt x="2249" y="2860"/>
                  </a:cubicBezTo>
                  <a:cubicBezTo>
                    <a:pt x="2180" y="2860"/>
                    <a:pt x="2180" y="2860"/>
                    <a:pt x="2112" y="2799"/>
                  </a:cubicBezTo>
                  <a:cubicBezTo>
                    <a:pt x="2112" y="2799"/>
                    <a:pt x="2044" y="2799"/>
                    <a:pt x="2044" y="2799"/>
                  </a:cubicBezTo>
                  <a:cubicBezTo>
                    <a:pt x="1976" y="2799"/>
                    <a:pt x="1976" y="2799"/>
                    <a:pt x="1976" y="2799"/>
                  </a:cubicBezTo>
                  <a:cubicBezTo>
                    <a:pt x="1976" y="2799"/>
                    <a:pt x="1976" y="2799"/>
                    <a:pt x="1976" y="2799"/>
                  </a:cubicBezTo>
                  <a:cubicBezTo>
                    <a:pt x="1976" y="2799"/>
                    <a:pt x="1976" y="2799"/>
                    <a:pt x="1976" y="2799"/>
                  </a:cubicBezTo>
                  <a:cubicBezTo>
                    <a:pt x="1976" y="2860"/>
                    <a:pt x="1976" y="2860"/>
                    <a:pt x="1976" y="2860"/>
                  </a:cubicBezTo>
                  <a:cubicBezTo>
                    <a:pt x="1908" y="2860"/>
                    <a:pt x="1908" y="2860"/>
                    <a:pt x="1908" y="2860"/>
                  </a:cubicBezTo>
                  <a:cubicBezTo>
                    <a:pt x="1908" y="2860"/>
                    <a:pt x="1908" y="2860"/>
                    <a:pt x="1908" y="2860"/>
                  </a:cubicBezTo>
                  <a:cubicBezTo>
                    <a:pt x="1840" y="2921"/>
                    <a:pt x="1840" y="3042"/>
                    <a:pt x="1840" y="3103"/>
                  </a:cubicBezTo>
                  <a:cubicBezTo>
                    <a:pt x="1840" y="3164"/>
                    <a:pt x="1840" y="3225"/>
                    <a:pt x="1840" y="3225"/>
                  </a:cubicBezTo>
                  <a:cubicBezTo>
                    <a:pt x="1840" y="3286"/>
                    <a:pt x="1840" y="3346"/>
                    <a:pt x="1772" y="3407"/>
                  </a:cubicBezTo>
                  <a:cubicBezTo>
                    <a:pt x="1772" y="3590"/>
                    <a:pt x="1703" y="3772"/>
                    <a:pt x="1840" y="3894"/>
                  </a:cubicBezTo>
                  <a:cubicBezTo>
                    <a:pt x="1908" y="3955"/>
                    <a:pt x="1976" y="3955"/>
                    <a:pt x="2044" y="3955"/>
                  </a:cubicBezTo>
                  <a:cubicBezTo>
                    <a:pt x="2112" y="3955"/>
                    <a:pt x="2112" y="3955"/>
                    <a:pt x="2180" y="3955"/>
                  </a:cubicBezTo>
                  <a:cubicBezTo>
                    <a:pt x="2249" y="4016"/>
                    <a:pt x="2385" y="4137"/>
                    <a:pt x="2385" y="4198"/>
                  </a:cubicBezTo>
                  <a:cubicBezTo>
                    <a:pt x="2589" y="4381"/>
                    <a:pt x="2453" y="4503"/>
                    <a:pt x="2249" y="4746"/>
                  </a:cubicBezTo>
                  <a:cubicBezTo>
                    <a:pt x="2112" y="4746"/>
                    <a:pt x="2112" y="4746"/>
                    <a:pt x="2112" y="4746"/>
                  </a:cubicBezTo>
                  <a:cubicBezTo>
                    <a:pt x="1976" y="4868"/>
                    <a:pt x="1840" y="4989"/>
                    <a:pt x="1772" y="5172"/>
                  </a:cubicBezTo>
                  <a:cubicBezTo>
                    <a:pt x="1703" y="5354"/>
                    <a:pt x="1567" y="5537"/>
                    <a:pt x="1499" y="5719"/>
                  </a:cubicBezTo>
                  <a:cubicBezTo>
                    <a:pt x="1363" y="5841"/>
                    <a:pt x="1295" y="5963"/>
                    <a:pt x="1226" y="6145"/>
                  </a:cubicBezTo>
                  <a:cubicBezTo>
                    <a:pt x="1226" y="6145"/>
                    <a:pt x="1226" y="6206"/>
                    <a:pt x="1226" y="6267"/>
                  </a:cubicBezTo>
                  <a:cubicBezTo>
                    <a:pt x="1158" y="6328"/>
                    <a:pt x="1158" y="6450"/>
                    <a:pt x="1090" y="6510"/>
                  </a:cubicBezTo>
                  <a:cubicBezTo>
                    <a:pt x="1022" y="6510"/>
                    <a:pt x="954" y="6571"/>
                    <a:pt x="886" y="6632"/>
                  </a:cubicBezTo>
                  <a:cubicBezTo>
                    <a:pt x="886" y="6693"/>
                    <a:pt x="818" y="6693"/>
                    <a:pt x="750" y="6754"/>
                  </a:cubicBezTo>
                  <a:cubicBezTo>
                    <a:pt x="750" y="6754"/>
                    <a:pt x="681" y="6754"/>
                    <a:pt x="681" y="6815"/>
                  </a:cubicBezTo>
                  <a:cubicBezTo>
                    <a:pt x="681" y="6815"/>
                    <a:pt x="613" y="6815"/>
                    <a:pt x="613" y="6815"/>
                  </a:cubicBezTo>
                  <a:cubicBezTo>
                    <a:pt x="545" y="6815"/>
                    <a:pt x="545" y="6875"/>
                    <a:pt x="477" y="6875"/>
                  </a:cubicBezTo>
                  <a:cubicBezTo>
                    <a:pt x="477" y="6875"/>
                    <a:pt x="477" y="6875"/>
                    <a:pt x="477" y="6936"/>
                  </a:cubicBezTo>
                  <a:cubicBezTo>
                    <a:pt x="409" y="6997"/>
                    <a:pt x="273" y="6997"/>
                    <a:pt x="204" y="6997"/>
                  </a:cubicBezTo>
                  <a:cubicBezTo>
                    <a:pt x="0" y="6997"/>
                    <a:pt x="0" y="6997"/>
                    <a:pt x="0" y="6997"/>
                  </a:cubicBezTo>
                  <a:cubicBezTo>
                    <a:pt x="0" y="7119"/>
                    <a:pt x="0" y="7119"/>
                    <a:pt x="0" y="7119"/>
                  </a:cubicBezTo>
                  <a:cubicBezTo>
                    <a:pt x="0" y="7180"/>
                    <a:pt x="0" y="7241"/>
                    <a:pt x="0" y="7301"/>
                  </a:cubicBezTo>
                  <a:cubicBezTo>
                    <a:pt x="0" y="7545"/>
                    <a:pt x="0" y="7727"/>
                    <a:pt x="136" y="8032"/>
                  </a:cubicBezTo>
                  <a:cubicBezTo>
                    <a:pt x="204" y="8214"/>
                    <a:pt x="273" y="8397"/>
                    <a:pt x="273" y="8640"/>
                  </a:cubicBezTo>
                  <a:cubicBezTo>
                    <a:pt x="273" y="8823"/>
                    <a:pt x="273" y="9005"/>
                    <a:pt x="341" y="9188"/>
                  </a:cubicBezTo>
                  <a:cubicBezTo>
                    <a:pt x="341" y="9248"/>
                    <a:pt x="341" y="9248"/>
                    <a:pt x="409" y="9309"/>
                  </a:cubicBezTo>
                  <a:cubicBezTo>
                    <a:pt x="545" y="9674"/>
                    <a:pt x="613" y="9918"/>
                    <a:pt x="273" y="10039"/>
                  </a:cubicBezTo>
                  <a:cubicBezTo>
                    <a:pt x="204" y="10039"/>
                    <a:pt x="204" y="10039"/>
                    <a:pt x="204" y="10039"/>
                  </a:cubicBezTo>
                  <a:cubicBezTo>
                    <a:pt x="204" y="10100"/>
                    <a:pt x="204" y="10100"/>
                    <a:pt x="204" y="10100"/>
                  </a:cubicBezTo>
                  <a:cubicBezTo>
                    <a:pt x="136" y="10587"/>
                    <a:pt x="341" y="11074"/>
                    <a:pt x="886" y="11256"/>
                  </a:cubicBezTo>
                  <a:cubicBezTo>
                    <a:pt x="1431" y="11439"/>
                    <a:pt x="1635" y="11804"/>
                    <a:pt x="1703" y="12291"/>
                  </a:cubicBezTo>
                  <a:cubicBezTo>
                    <a:pt x="1703" y="12412"/>
                    <a:pt x="1772" y="12473"/>
                    <a:pt x="1772" y="12534"/>
                  </a:cubicBezTo>
                  <a:cubicBezTo>
                    <a:pt x="1840" y="12534"/>
                    <a:pt x="1840" y="12595"/>
                    <a:pt x="1840" y="12656"/>
                  </a:cubicBezTo>
                  <a:cubicBezTo>
                    <a:pt x="1908" y="12717"/>
                    <a:pt x="1840" y="12777"/>
                    <a:pt x="1840" y="12838"/>
                  </a:cubicBezTo>
                  <a:cubicBezTo>
                    <a:pt x="1840" y="12899"/>
                    <a:pt x="1840" y="13021"/>
                    <a:pt x="1840" y="13082"/>
                  </a:cubicBezTo>
                  <a:cubicBezTo>
                    <a:pt x="1908" y="13203"/>
                    <a:pt x="1908" y="13264"/>
                    <a:pt x="1976" y="13386"/>
                  </a:cubicBezTo>
                  <a:cubicBezTo>
                    <a:pt x="1976" y="13386"/>
                    <a:pt x="1976" y="13386"/>
                    <a:pt x="2044" y="13447"/>
                  </a:cubicBezTo>
                  <a:cubicBezTo>
                    <a:pt x="2112" y="13629"/>
                    <a:pt x="2180" y="13751"/>
                    <a:pt x="2249" y="13873"/>
                  </a:cubicBezTo>
                  <a:cubicBezTo>
                    <a:pt x="2317" y="14177"/>
                    <a:pt x="2453" y="14481"/>
                    <a:pt x="2657" y="14725"/>
                  </a:cubicBezTo>
                  <a:cubicBezTo>
                    <a:pt x="2794" y="14968"/>
                    <a:pt x="2930" y="15090"/>
                    <a:pt x="2930" y="15272"/>
                  </a:cubicBezTo>
                  <a:cubicBezTo>
                    <a:pt x="2998" y="15333"/>
                    <a:pt x="2998" y="15333"/>
                    <a:pt x="2998" y="15333"/>
                  </a:cubicBezTo>
                  <a:cubicBezTo>
                    <a:pt x="3203" y="15333"/>
                    <a:pt x="3203" y="15333"/>
                    <a:pt x="3203" y="15333"/>
                  </a:cubicBezTo>
                  <a:cubicBezTo>
                    <a:pt x="3407" y="15333"/>
                    <a:pt x="3543" y="15333"/>
                    <a:pt x="3611" y="15455"/>
                  </a:cubicBezTo>
                  <a:cubicBezTo>
                    <a:pt x="3748" y="15515"/>
                    <a:pt x="3816" y="15576"/>
                    <a:pt x="3816" y="15637"/>
                  </a:cubicBezTo>
                  <a:cubicBezTo>
                    <a:pt x="3884" y="15759"/>
                    <a:pt x="3952" y="15881"/>
                    <a:pt x="4088" y="15941"/>
                  </a:cubicBezTo>
                  <a:cubicBezTo>
                    <a:pt x="4225" y="16002"/>
                    <a:pt x="4361" y="16063"/>
                    <a:pt x="4429" y="16063"/>
                  </a:cubicBezTo>
                  <a:cubicBezTo>
                    <a:pt x="4565" y="16063"/>
                    <a:pt x="4633" y="16124"/>
                    <a:pt x="4702" y="16124"/>
                  </a:cubicBezTo>
                  <a:cubicBezTo>
                    <a:pt x="4702" y="16124"/>
                    <a:pt x="4702" y="16124"/>
                    <a:pt x="4702" y="16124"/>
                  </a:cubicBezTo>
                  <a:cubicBezTo>
                    <a:pt x="4702" y="16185"/>
                    <a:pt x="4702" y="16185"/>
                    <a:pt x="4702" y="16185"/>
                  </a:cubicBezTo>
                  <a:cubicBezTo>
                    <a:pt x="4770" y="16246"/>
                    <a:pt x="4770" y="16246"/>
                    <a:pt x="4770" y="16246"/>
                  </a:cubicBezTo>
                  <a:cubicBezTo>
                    <a:pt x="4770" y="16246"/>
                    <a:pt x="4838" y="16306"/>
                    <a:pt x="4906" y="16306"/>
                  </a:cubicBezTo>
                  <a:cubicBezTo>
                    <a:pt x="4906" y="16306"/>
                    <a:pt x="4906" y="16306"/>
                    <a:pt x="4974" y="16306"/>
                  </a:cubicBezTo>
                  <a:cubicBezTo>
                    <a:pt x="4974" y="16306"/>
                    <a:pt x="4974" y="16306"/>
                    <a:pt x="4974" y="16306"/>
                  </a:cubicBezTo>
                  <a:cubicBezTo>
                    <a:pt x="5110" y="16306"/>
                    <a:pt x="5110" y="16306"/>
                    <a:pt x="5110" y="16306"/>
                  </a:cubicBezTo>
                  <a:cubicBezTo>
                    <a:pt x="5179" y="16367"/>
                    <a:pt x="5247" y="16428"/>
                    <a:pt x="5315" y="16428"/>
                  </a:cubicBezTo>
                  <a:cubicBezTo>
                    <a:pt x="5383" y="16428"/>
                    <a:pt x="5451" y="16489"/>
                    <a:pt x="5519" y="16489"/>
                  </a:cubicBezTo>
                  <a:cubicBezTo>
                    <a:pt x="5519" y="16489"/>
                    <a:pt x="5587" y="16489"/>
                    <a:pt x="5656" y="16489"/>
                  </a:cubicBezTo>
                  <a:cubicBezTo>
                    <a:pt x="5724" y="16550"/>
                    <a:pt x="5792" y="16611"/>
                    <a:pt x="5860" y="16611"/>
                  </a:cubicBezTo>
                  <a:cubicBezTo>
                    <a:pt x="5860" y="16672"/>
                    <a:pt x="5928" y="16672"/>
                    <a:pt x="5928" y="16732"/>
                  </a:cubicBezTo>
                  <a:cubicBezTo>
                    <a:pt x="6064" y="16793"/>
                    <a:pt x="6132" y="16793"/>
                    <a:pt x="6269" y="16793"/>
                  </a:cubicBezTo>
                  <a:cubicBezTo>
                    <a:pt x="6405" y="16793"/>
                    <a:pt x="6541" y="16854"/>
                    <a:pt x="6609" y="16915"/>
                  </a:cubicBezTo>
                  <a:cubicBezTo>
                    <a:pt x="6678" y="16915"/>
                    <a:pt x="6678" y="16976"/>
                    <a:pt x="6746" y="17037"/>
                  </a:cubicBezTo>
                  <a:cubicBezTo>
                    <a:pt x="6746" y="17037"/>
                    <a:pt x="6746" y="17097"/>
                    <a:pt x="6814" y="17158"/>
                  </a:cubicBezTo>
                  <a:cubicBezTo>
                    <a:pt x="6882" y="17158"/>
                    <a:pt x="6950" y="17158"/>
                    <a:pt x="7018" y="17158"/>
                  </a:cubicBezTo>
                  <a:cubicBezTo>
                    <a:pt x="7086" y="17158"/>
                    <a:pt x="7086" y="17158"/>
                    <a:pt x="7155" y="17158"/>
                  </a:cubicBezTo>
                  <a:cubicBezTo>
                    <a:pt x="7155" y="17158"/>
                    <a:pt x="7223" y="17158"/>
                    <a:pt x="7223" y="17158"/>
                  </a:cubicBezTo>
                  <a:cubicBezTo>
                    <a:pt x="7291" y="17158"/>
                    <a:pt x="7291" y="17158"/>
                    <a:pt x="7291" y="17158"/>
                  </a:cubicBezTo>
                  <a:cubicBezTo>
                    <a:pt x="7563" y="17158"/>
                    <a:pt x="7700" y="17219"/>
                    <a:pt x="7904" y="17280"/>
                  </a:cubicBezTo>
                  <a:cubicBezTo>
                    <a:pt x="7972" y="17341"/>
                    <a:pt x="7972" y="17341"/>
                    <a:pt x="7972" y="17341"/>
                  </a:cubicBezTo>
                  <a:cubicBezTo>
                    <a:pt x="8109" y="17341"/>
                    <a:pt x="8245" y="17402"/>
                    <a:pt x="8381" y="17402"/>
                  </a:cubicBezTo>
                  <a:cubicBezTo>
                    <a:pt x="8381" y="17402"/>
                    <a:pt x="8449" y="17402"/>
                    <a:pt x="8449" y="17402"/>
                  </a:cubicBezTo>
                  <a:cubicBezTo>
                    <a:pt x="8517" y="17402"/>
                    <a:pt x="8517" y="17341"/>
                    <a:pt x="8585" y="17280"/>
                  </a:cubicBezTo>
                  <a:cubicBezTo>
                    <a:pt x="8654" y="17280"/>
                    <a:pt x="8654" y="17219"/>
                    <a:pt x="8790" y="17219"/>
                  </a:cubicBezTo>
                  <a:cubicBezTo>
                    <a:pt x="8858" y="17219"/>
                    <a:pt x="8994" y="17219"/>
                    <a:pt x="9062" y="17523"/>
                  </a:cubicBezTo>
                  <a:cubicBezTo>
                    <a:pt x="9062" y="17584"/>
                    <a:pt x="9062" y="17584"/>
                    <a:pt x="9062" y="17584"/>
                  </a:cubicBezTo>
                  <a:cubicBezTo>
                    <a:pt x="9131" y="17584"/>
                    <a:pt x="9131" y="17584"/>
                    <a:pt x="9131" y="17584"/>
                  </a:cubicBezTo>
                  <a:cubicBezTo>
                    <a:pt x="9608" y="17949"/>
                    <a:pt x="9812" y="19288"/>
                    <a:pt x="9812" y="19714"/>
                  </a:cubicBezTo>
                  <a:cubicBezTo>
                    <a:pt x="9812" y="19775"/>
                    <a:pt x="9744" y="19835"/>
                    <a:pt x="9744" y="19896"/>
                  </a:cubicBezTo>
                  <a:cubicBezTo>
                    <a:pt x="9676" y="20079"/>
                    <a:pt x="9608" y="20261"/>
                    <a:pt x="9676" y="20444"/>
                  </a:cubicBezTo>
                  <a:cubicBezTo>
                    <a:pt x="9812" y="20566"/>
                    <a:pt x="9880" y="20626"/>
                    <a:pt x="9948" y="20687"/>
                  </a:cubicBezTo>
                  <a:cubicBezTo>
                    <a:pt x="10085" y="20809"/>
                    <a:pt x="10153" y="20931"/>
                    <a:pt x="10221" y="21052"/>
                  </a:cubicBezTo>
                  <a:cubicBezTo>
                    <a:pt x="10221" y="21113"/>
                    <a:pt x="10221" y="21174"/>
                    <a:pt x="10289" y="21235"/>
                  </a:cubicBezTo>
                  <a:cubicBezTo>
                    <a:pt x="10289" y="21357"/>
                    <a:pt x="10289" y="21357"/>
                    <a:pt x="10289" y="21357"/>
                  </a:cubicBezTo>
                  <a:cubicBezTo>
                    <a:pt x="10493" y="21357"/>
                    <a:pt x="10493" y="21357"/>
                    <a:pt x="10493" y="21357"/>
                  </a:cubicBezTo>
                  <a:cubicBezTo>
                    <a:pt x="10562" y="21357"/>
                    <a:pt x="10698" y="21357"/>
                    <a:pt x="10766" y="21357"/>
                  </a:cubicBezTo>
                  <a:cubicBezTo>
                    <a:pt x="10834" y="21357"/>
                    <a:pt x="10834" y="21357"/>
                    <a:pt x="10834" y="21357"/>
                  </a:cubicBezTo>
                  <a:cubicBezTo>
                    <a:pt x="10902" y="21357"/>
                    <a:pt x="10902" y="21357"/>
                    <a:pt x="10902" y="21357"/>
                  </a:cubicBezTo>
                  <a:cubicBezTo>
                    <a:pt x="11038" y="21357"/>
                    <a:pt x="11175" y="21357"/>
                    <a:pt x="11243" y="21357"/>
                  </a:cubicBezTo>
                  <a:cubicBezTo>
                    <a:pt x="11447" y="21357"/>
                    <a:pt x="11584" y="21357"/>
                    <a:pt x="11788" y="21296"/>
                  </a:cubicBezTo>
                  <a:cubicBezTo>
                    <a:pt x="11856" y="21235"/>
                    <a:pt x="11924" y="21174"/>
                    <a:pt x="11992" y="21174"/>
                  </a:cubicBezTo>
                  <a:cubicBezTo>
                    <a:pt x="12129" y="21113"/>
                    <a:pt x="12197" y="21052"/>
                    <a:pt x="12265" y="21052"/>
                  </a:cubicBezTo>
                  <a:cubicBezTo>
                    <a:pt x="12333" y="21052"/>
                    <a:pt x="12401" y="21113"/>
                    <a:pt x="12538" y="21113"/>
                  </a:cubicBezTo>
                  <a:cubicBezTo>
                    <a:pt x="12606" y="21174"/>
                    <a:pt x="12674" y="21296"/>
                    <a:pt x="12742" y="21357"/>
                  </a:cubicBezTo>
                  <a:cubicBezTo>
                    <a:pt x="12878" y="21478"/>
                    <a:pt x="12946" y="21539"/>
                    <a:pt x="13219" y="21539"/>
                  </a:cubicBezTo>
                  <a:cubicBezTo>
                    <a:pt x="13219" y="21539"/>
                    <a:pt x="13287" y="21539"/>
                    <a:pt x="13355" y="21539"/>
                  </a:cubicBezTo>
                  <a:cubicBezTo>
                    <a:pt x="13355" y="21539"/>
                    <a:pt x="13423" y="21478"/>
                    <a:pt x="13423" y="21478"/>
                  </a:cubicBezTo>
                  <a:cubicBezTo>
                    <a:pt x="13423" y="21478"/>
                    <a:pt x="13423" y="21478"/>
                    <a:pt x="13423" y="21478"/>
                  </a:cubicBezTo>
                  <a:cubicBezTo>
                    <a:pt x="13491" y="21478"/>
                    <a:pt x="13491" y="21539"/>
                    <a:pt x="13560" y="21539"/>
                  </a:cubicBezTo>
                  <a:cubicBezTo>
                    <a:pt x="13560" y="21539"/>
                    <a:pt x="13628" y="21600"/>
                    <a:pt x="13696" y="21600"/>
                  </a:cubicBezTo>
                  <a:cubicBezTo>
                    <a:pt x="13696" y="21600"/>
                    <a:pt x="13696" y="21600"/>
                    <a:pt x="13764" y="21539"/>
                  </a:cubicBezTo>
                  <a:cubicBezTo>
                    <a:pt x="13832" y="21539"/>
                    <a:pt x="13900" y="21539"/>
                    <a:pt x="13968" y="21478"/>
                  </a:cubicBezTo>
                  <a:cubicBezTo>
                    <a:pt x="13968" y="21417"/>
                    <a:pt x="14037" y="21417"/>
                    <a:pt x="14105" y="21357"/>
                  </a:cubicBezTo>
                  <a:cubicBezTo>
                    <a:pt x="14173" y="21357"/>
                    <a:pt x="14241" y="21357"/>
                    <a:pt x="14377" y="21357"/>
                  </a:cubicBezTo>
                  <a:cubicBezTo>
                    <a:pt x="14514" y="21357"/>
                    <a:pt x="14650" y="21417"/>
                    <a:pt x="14854" y="21478"/>
                  </a:cubicBezTo>
                  <a:cubicBezTo>
                    <a:pt x="14991" y="21539"/>
                    <a:pt x="14991" y="21539"/>
                    <a:pt x="14991" y="21539"/>
                  </a:cubicBezTo>
                  <a:cubicBezTo>
                    <a:pt x="15127" y="21600"/>
                    <a:pt x="15195" y="21600"/>
                    <a:pt x="15331" y="21600"/>
                  </a:cubicBezTo>
                  <a:cubicBezTo>
                    <a:pt x="15536" y="21600"/>
                    <a:pt x="15672" y="21539"/>
                    <a:pt x="15876" y="21357"/>
                  </a:cubicBezTo>
                  <a:cubicBezTo>
                    <a:pt x="16013" y="21296"/>
                    <a:pt x="16013" y="21174"/>
                    <a:pt x="16081" y="21113"/>
                  </a:cubicBezTo>
                  <a:cubicBezTo>
                    <a:pt x="16149" y="20992"/>
                    <a:pt x="16217" y="20870"/>
                    <a:pt x="16353" y="20809"/>
                  </a:cubicBezTo>
                  <a:cubicBezTo>
                    <a:pt x="16490" y="20748"/>
                    <a:pt x="16558" y="20687"/>
                    <a:pt x="16626" y="20687"/>
                  </a:cubicBezTo>
                  <a:cubicBezTo>
                    <a:pt x="16762" y="20687"/>
                    <a:pt x="16830" y="20748"/>
                    <a:pt x="16967" y="20809"/>
                  </a:cubicBezTo>
                  <a:cubicBezTo>
                    <a:pt x="17035" y="20870"/>
                    <a:pt x="17103" y="20870"/>
                    <a:pt x="17171" y="20931"/>
                  </a:cubicBezTo>
                  <a:cubicBezTo>
                    <a:pt x="17239" y="20931"/>
                    <a:pt x="17307" y="20992"/>
                    <a:pt x="17375" y="20992"/>
                  </a:cubicBezTo>
                  <a:cubicBezTo>
                    <a:pt x="17580" y="20992"/>
                    <a:pt x="17648" y="20870"/>
                    <a:pt x="17784" y="20748"/>
                  </a:cubicBezTo>
                  <a:cubicBezTo>
                    <a:pt x="17852" y="20748"/>
                    <a:pt x="17921" y="20687"/>
                    <a:pt x="17989" y="20626"/>
                  </a:cubicBezTo>
                  <a:cubicBezTo>
                    <a:pt x="18125" y="20505"/>
                    <a:pt x="18261" y="20505"/>
                    <a:pt x="18329" y="20505"/>
                  </a:cubicBezTo>
                  <a:cubicBezTo>
                    <a:pt x="18397" y="20505"/>
                    <a:pt x="18466" y="20505"/>
                    <a:pt x="18534" y="20505"/>
                  </a:cubicBezTo>
                  <a:cubicBezTo>
                    <a:pt x="18602" y="20505"/>
                    <a:pt x="18670" y="20505"/>
                    <a:pt x="18738" y="20505"/>
                  </a:cubicBezTo>
                  <a:cubicBezTo>
                    <a:pt x="18738" y="20505"/>
                    <a:pt x="18806" y="20505"/>
                    <a:pt x="18806" y="20505"/>
                  </a:cubicBezTo>
                  <a:cubicBezTo>
                    <a:pt x="19011" y="20505"/>
                    <a:pt x="19147" y="20383"/>
                    <a:pt x="19283" y="20322"/>
                  </a:cubicBezTo>
                  <a:cubicBezTo>
                    <a:pt x="19283" y="20261"/>
                    <a:pt x="19351" y="20201"/>
                    <a:pt x="19488" y="20140"/>
                  </a:cubicBezTo>
                  <a:cubicBezTo>
                    <a:pt x="19624" y="20079"/>
                    <a:pt x="19692" y="20018"/>
                    <a:pt x="19828" y="20018"/>
                  </a:cubicBezTo>
                  <a:cubicBezTo>
                    <a:pt x="19965" y="19957"/>
                    <a:pt x="20101" y="19957"/>
                    <a:pt x="20237" y="19835"/>
                  </a:cubicBezTo>
                  <a:cubicBezTo>
                    <a:pt x="20374" y="19775"/>
                    <a:pt x="20510" y="19653"/>
                    <a:pt x="20646" y="19592"/>
                  </a:cubicBezTo>
                  <a:cubicBezTo>
                    <a:pt x="20850" y="19410"/>
                    <a:pt x="21123" y="19166"/>
                    <a:pt x="21396" y="19105"/>
                  </a:cubicBezTo>
                  <a:cubicBezTo>
                    <a:pt x="21600" y="19045"/>
                    <a:pt x="21600" y="19045"/>
                    <a:pt x="21600" y="19045"/>
                  </a:cubicBezTo>
                  <a:lnTo>
                    <a:pt x="21464" y="18923"/>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45" name="Shape">
              <a:extLst>
                <a:ext uri="{FF2B5EF4-FFF2-40B4-BE49-F238E27FC236}">
                  <a16:creationId xmlns:a16="http://schemas.microsoft.com/office/drawing/2014/main" id="{CB7FC1F2-82D1-E240-9A44-2BE2BA44D9EB}"/>
                </a:ext>
              </a:extLst>
            </p:cNvPr>
            <p:cNvSpPr/>
            <p:nvPr/>
          </p:nvSpPr>
          <p:spPr>
            <a:xfrm>
              <a:off x="7521018" y="2908790"/>
              <a:ext cx="189008" cy="225121"/>
            </a:xfrm>
            <a:custGeom>
              <a:avLst/>
              <a:gdLst/>
              <a:ahLst/>
              <a:cxnLst>
                <a:cxn ang="0">
                  <a:pos x="wd2" y="hd2"/>
                </a:cxn>
                <a:cxn ang="5400000">
                  <a:pos x="wd2" y="hd2"/>
                </a:cxn>
                <a:cxn ang="10800000">
                  <a:pos x="wd2" y="hd2"/>
                </a:cxn>
                <a:cxn ang="16200000">
                  <a:pos x="wd2" y="hd2"/>
                </a:cxn>
              </a:cxnLst>
              <a:rect l="0" t="0" r="r" b="b"/>
              <a:pathLst>
                <a:path w="21146" h="21600" extrusionOk="0">
                  <a:moveTo>
                    <a:pt x="15444" y="12343"/>
                  </a:moveTo>
                  <a:cubicBezTo>
                    <a:pt x="15876" y="12000"/>
                    <a:pt x="16740" y="11657"/>
                    <a:pt x="17172" y="11657"/>
                  </a:cubicBezTo>
                  <a:cubicBezTo>
                    <a:pt x="17604" y="11314"/>
                    <a:pt x="17604" y="11314"/>
                    <a:pt x="18036" y="10971"/>
                  </a:cubicBezTo>
                  <a:cubicBezTo>
                    <a:pt x="19764" y="10286"/>
                    <a:pt x="21060" y="8571"/>
                    <a:pt x="21060" y="7200"/>
                  </a:cubicBezTo>
                  <a:cubicBezTo>
                    <a:pt x="21492" y="5829"/>
                    <a:pt x="20196" y="4457"/>
                    <a:pt x="19332" y="3429"/>
                  </a:cubicBezTo>
                  <a:cubicBezTo>
                    <a:pt x="19332" y="3086"/>
                    <a:pt x="18900" y="2743"/>
                    <a:pt x="18468" y="2400"/>
                  </a:cubicBezTo>
                  <a:cubicBezTo>
                    <a:pt x="18468" y="2057"/>
                    <a:pt x="18036" y="1714"/>
                    <a:pt x="17604" y="1029"/>
                  </a:cubicBezTo>
                  <a:cubicBezTo>
                    <a:pt x="16740" y="0"/>
                    <a:pt x="16740" y="0"/>
                    <a:pt x="16740" y="0"/>
                  </a:cubicBezTo>
                  <a:cubicBezTo>
                    <a:pt x="15876" y="686"/>
                    <a:pt x="15876" y="686"/>
                    <a:pt x="15876" y="686"/>
                  </a:cubicBezTo>
                  <a:cubicBezTo>
                    <a:pt x="15876" y="686"/>
                    <a:pt x="15444" y="1029"/>
                    <a:pt x="15012" y="1029"/>
                  </a:cubicBezTo>
                  <a:cubicBezTo>
                    <a:pt x="14580" y="1371"/>
                    <a:pt x="14148" y="1371"/>
                    <a:pt x="13716" y="1714"/>
                  </a:cubicBezTo>
                  <a:cubicBezTo>
                    <a:pt x="13284" y="2400"/>
                    <a:pt x="13284" y="2743"/>
                    <a:pt x="13284" y="3086"/>
                  </a:cubicBezTo>
                  <a:cubicBezTo>
                    <a:pt x="13284" y="3429"/>
                    <a:pt x="13284" y="3771"/>
                    <a:pt x="12852" y="4114"/>
                  </a:cubicBezTo>
                  <a:cubicBezTo>
                    <a:pt x="12420" y="4800"/>
                    <a:pt x="11988" y="4800"/>
                    <a:pt x="11556" y="4800"/>
                  </a:cubicBezTo>
                  <a:cubicBezTo>
                    <a:pt x="11124" y="4800"/>
                    <a:pt x="10692" y="4457"/>
                    <a:pt x="9828" y="4114"/>
                  </a:cubicBezTo>
                  <a:cubicBezTo>
                    <a:pt x="9828" y="3771"/>
                    <a:pt x="9396" y="3429"/>
                    <a:pt x="9396" y="3429"/>
                  </a:cubicBezTo>
                  <a:cubicBezTo>
                    <a:pt x="8532" y="3086"/>
                    <a:pt x="8532" y="3086"/>
                    <a:pt x="8532" y="3086"/>
                  </a:cubicBezTo>
                  <a:cubicBezTo>
                    <a:pt x="8100" y="3429"/>
                    <a:pt x="8100" y="3429"/>
                    <a:pt x="8100" y="3429"/>
                  </a:cubicBezTo>
                  <a:cubicBezTo>
                    <a:pt x="6804" y="4457"/>
                    <a:pt x="6372" y="5829"/>
                    <a:pt x="5508" y="6857"/>
                  </a:cubicBezTo>
                  <a:cubicBezTo>
                    <a:pt x="5076" y="7200"/>
                    <a:pt x="5076" y="7543"/>
                    <a:pt x="4644" y="8229"/>
                  </a:cubicBezTo>
                  <a:cubicBezTo>
                    <a:pt x="4212" y="9257"/>
                    <a:pt x="2916" y="10286"/>
                    <a:pt x="2052" y="11314"/>
                  </a:cubicBezTo>
                  <a:cubicBezTo>
                    <a:pt x="1188" y="12000"/>
                    <a:pt x="1188" y="12000"/>
                    <a:pt x="1188" y="12000"/>
                  </a:cubicBezTo>
                  <a:cubicBezTo>
                    <a:pt x="-108" y="13714"/>
                    <a:pt x="324" y="15086"/>
                    <a:pt x="324" y="16800"/>
                  </a:cubicBezTo>
                  <a:cubicBezTo>
                    <a:pt x="324" y="17143"/>
                    <a:pt x="324" y="17486"/>
                    <a:pt x="324" y="17829"/>
                  </a:cubicBezTo>
                  <a:cubicBezTo>
                    <a:pt x="324" y="17829"/>
                    <a:pt x="324" y="18171"/>
                    <a:pt x="324" y="18514"/>
                  </a:cubicBezTo>
                  <a:cubicBezTo>
                    <a:pt x="-108" y="19886"/>
                    <a:pt x="-108" y="20571"/>
                    <a:pt x="324" y="20914"/>
                  </a:cubicBezTo>
                  <a:cubicBezTo>
                    <a:pt x="756" y="21257"/>
                    <a:pt x="1620" y="21257"/>
                    <a:pt x="2484" y="21257"/>
                  </a:cubicBezTo>
                  <a:cubicBezTo>
                    <a:pt x="2484" y="21600"/>
                    <a:pt x="2916" y="21600"/>
                    <a:pt x="3348" y="21600"/>
                  </a:cubicBezTo>
                  <a:cubicBezTo>
                    <a:pt x="3780" y="21600"/>
                    <a:pt x="3780" y="21600"/>
                    <a:pt x="3780" y="21600"/>
                  </a:cubicBezTo>
                  <a:cubicBezTo>
                    <a:pt x="4212" y="21257"/>
                    <a:pt x="4212" y="21257"/>
                    <a:pt x="4212" y="21257"/>
                  </a:cubicBezTo>
                  <a:cubicBezTo>
                    <a:pt x="5076" y="20571"/>
                    <a:pt x="6372" y="20229"/>
                    <a:pt x="7668" y="20229"/>
                  </a:cubicBezTo>
                  <a:cubicBezTo>
                    <a:pt x="8100" y="20229"/>
                    <a:pt x="8964" y="20229"/>
                    <a:pt x="9828" y="19886"/>
                  </a:cubicBezTo>
                  <a:cubicBezTo>
                    <a:pt x="10260" y="19886"/>
                    <a:pt x="10260" y="19886"/>
                    <a:pt x="10692" y="19543"/>
                  </a:cubicBezTo>
                  <a:cubicBezTo>
                    <a:pt x="11124" y="19543"/>
                    <a:pt x="11556" y="19200"/>
                    <a:pt x="11988" y="19200"/>
                  </a:cubicBezTo>
                  <a:cubicBezTo>
                    <a:pt x="12420" y="19200"/>
                    <a:pt x="12420" y="19200"/>
                    <a:pt x="12852" y="19543"/>
                  </a:cubicBezTo>
                  <a:cubicBezTo>
                    <a:pt x="13284" y="19543"/>
                    <a:pt x="13716" y="19886"/>
                    <a:pt x="13716" y="20229"/>
                  </a:cubicBezTo>
                  <a:cubicBezTo>
                    <a:pt x="14580" y="19886"/>
                    <a:pt x="14580" y="19886"/>
                    <a:pt x="14580" y="19886"/>
                  </a:cubicBezTo>
                  <a:cubicBezTo>
                    <a:pt x="14148" y="20229"/>
                    <a:pt x="14148" y="20229"/>
                    <a:pt x="14148" y="20229"/>
                  </a:cubicBezTo>
                  <a:cubicBezTo>
                    <a:pt x="14148" y="20571"/>
                    <a:pt x="14148" y="20571"/>
                    <a:pt x="14148" y="20571"/>
                  </a:cubicBezTo>
                  <a:cubicBezTo>
                    <a:pt x="14580" y="20571"/>
                    <a:pt x="14580" y="20571"/>
                    <a:pt x="14580" y="20571"/>
                  </a:cubicBezTo>
                  <a:cubicBezTo>
                    <a:pt x="14580" y="20571"/>
                    <a:pt x="14580" y="20571"/>
                    <a:pt x="14580" y="20571"/>
                  </a:cubicBezTo>
                  <a:cubicBezTo>
                    <a:pt x="15444" y="20571"/>
                    <a:pt x="15444" y="20571"/>
                    <a:pt x="15444" y="20571"/>
                  </a:cubicBezTo>
                  <a:cubicBezTo>
                    <a:pt x="17172" y="18514"/>
                    <a:pt x="17172" y="18514"/>
                    <a:pt x="17172" y="18514"/>
                  </a:cubicBezTo>
                  <a:cubicBezTo>
                    <a:pt x="18036" y="17486"/>
                    <a:pt x="18900" y="16457"/>
                    <a:pt x="19764" y="15429"/>
                  </a:cubicBezTo>
                  <a:cubicBezTo>
                    <a:pt x="20196" y="14743"/>
                    <a:pt x="20196" y="14743"/>
                    <a:pt x="20196" y="14743"/>
                  </a:cubicBezTo>
                  <a:cubicBezTo>
                    <a:pt x="19764" y="14400"/>
                    <a:pt x="19764" y="14400"/>
                    <a:pt x="19764" y="14400"/>
                  </a:cubicBezTo>
                  <a:cubicBezTo>
                    <a:pt x="18900" y="13714"/>
                    <a:pt x="18036" y="13029"/>
                    <a:pt x="15876" y="12686"/>
                  </a:cubicBezTo>
                  <a:cubicBezTo>
                    <a:pt x="15444" y="12686"/>
                    <a:pt x="15444" y="12686"/>
                    <a:pt x="15444" y="12686"/>
                  </a:cubicBezTo>
                  <a:cubicBezTo>
                    <a:pt x="15444" y="12686"/>
                    <a:pt x="15012" y="12686"/>
                    <a:pt x="14580" y="12686"/>
                  </a:cubicBezTo>
                  <a:cubicBezTo>
                    <a:pt x="14580" y="12686"/>
                    <a:pt x="14148" y="12686"/>
                    <a:pt x="14148" y="12686"/>
                  </a:cubicBezTo>
                  <a:cubicBezTo>
                    <a:pt x="14148" y="12686"/>
                    <a:pt x="14580" y="12686"/>
                    <a:pt x="14580" y="12686"/>
                  </a:cubicBezTo>
                  <a:cubicBezTo>
                    <a:pt x="15012" y="12343"/>
                    <a:pt x="15012" y="12343"/>
                    <a:pt x="15444" y="12343"/>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46" name="Shape">
              <a:extLst>
                <a:ext uri="{FF2B5EF4-FFF2-40B4-BE49-F238E27FC236}">
                  <a16:creationId xmlns:a16="http://schemas.microsoft.com/office/drawing/2014/main" id="{0373070C-178F-694C-8A96-57E79EFCAA6C}"/>
                </a:ext>
              </a:extLst>
            </p:cNvPr>
            <p:cNvSpPr/>
            <p:nvPr/>
          </p:nvSpPr>
          <p:spPr>
            <a:xfrm>
              <a:off x="5068109" y="6506763"/>
              <a:ext cx="1018963" cy="1078208"/>
            </a:xfrm>
            <a:custGeom>
              <a:avLst/>
              <a:gdLst/>
              <a:ahLst/>
              <a:cxnLst>
                <a:cxn ang="0">
                  <a:pos x="wd2" y="hd2"/>
                </a:cxn>
                <a:cxn ang="5400000">
                  <a:pos x="wd2" y="hd2"/>
                </a:cxn>
                <a:cxn ang="10800000">
                  <a:pos x="wd2" y="hd2"/>
                </a:cxn>
                <a:cxn ang="16200000">
                  <a:pos x="wd2" y="hd2"/>
                </a:cxn>
              </a:cxnLst>
              <a:rect l="0" t="0" r="r" b="b"/>
              <a:pathLst>
                <a:path w="21600" h="21600" extrusionOk="0">
                  <a:moveTo>
                    <a:pt x="21518" y="10262"/>
                  </a:moveTo>
                  <a:cubicBezTo>
                    <a:pt x="21518" y="10262"/>
                    <a:pt x="21518" y="10262"/>
                    <a:pt x="21518" y="10262"/>
                  </a:cubicBezTo>
                  <a:cubicBezTo>
                    <a:pt x="21435" y="10190"/>
                    <a:pt x="21435" y="10190"/>
                    <a:pt x="21435" y="10190"/>
                  </a:cubicBezTo>
                  <a:cubicBezTo>
                    <a:pt x="21353" y="10190"/>
                    <a:pt x="21353" y="10118"/>
                    <a:pt x="21353" y="10047"/>
                  </a:cubicBezTo>
                  <a:cubicBezTo>
                    <a:pt x="21353" y="10047"/>
                    <a:pt x="21353" y="10047"/>
                    <a:pt x="21353" y="9975"/>
                  </a:cubicBezTo>
                  <a:cubicBezTo>
                    <a:pt x="21353" y="9903"/>
                    <a:pt x="21353" y="9903"/>
                    <a:pt x="21353" y="9831"/>
                  </a:cubicBezTo>
                  <a:cubicBezTo>
                    <a:pt x="21270" y="9616"/>
                    <a:pt x="20940" y="9544"/>
                    <a:pt x="20776" y="9472"/>
                  </a:cubicBezTo>
                  <a:cubicBezTo>
                    <a:pt x="20693" y="9401"/>
                    <a:pt x="20611" y="9401"/>
                    <a:pt x="20611" y="9401"/>
                  </a:cubicBezTo>
                  <a:cubicBezTo>
                    <a:pt x="20281" y="9257"/>
                    <a:pt x="19951" y="9257"/>
                    <a:pt x="19539" y="9257"/>
                  </a:cubicBezTo>
                  <a:cubicBezTo>
                    <a:pt x="19539" y="9257"/>
                    <a:pt x="19456" y="9257"/>
                    <a:pt x="19456" y="9257"/>
                  </a:cubicBezTo>
                  <a:cubicBezTo>
                    <a:pt x="19374" y="9257"/>
                    <a:pt x="19374" y="9257"/>
                    <a:pt x="19292" y="9257"/>
                  </a:cubicBezTo>
                  <a:cubicBezTo>
                    <a:pt x="19209" y="9257"/>
                    <a:pt x="19127" y="9257"/>
                    <a:pt x="19044" y="9185"/>
                  </a:cubicBezTo>
                  <a:cubicBezTo>
                    <a:pt x="18962" y="9185"/>
                    <a:pt x="18962" y="9042"/>
                    <a:pt x="18962" y="8970"/>
                  </a:cubicBezTo>
                  <a:cubicBezTo>
                    <a:pt x="18879" y="8898"/>
                    <a:pt x="18879" y="8898"/>
                    <a:pt x="18879" y="8827"/>
                  </a:cubicBezTo>
                  <a:cubicBezTo>
                    <a:pt x="18797" y="8755"/>
                    <a:pt x="18715" y="8611"/>
                    <a:pt x="18550" y="8468"/>
                  </a:cubicBezTo>
                  <a:cubicBezTo>
                    <a:pt x="18550" y="8396"/>
                    <a:pt x="18467" y="8396"/>
                    <a:pt x="18385" y="8324"/>
                  </a:cubicBezTo>
                  <a:cubicBezTo>
                    <a:pt x="18302" y="8252"/>
                    <a:pt x="18220" y="8181"/>
                    <a:pt x="18220" y="7965"/>
                  </a:cubicBezTo>
                  <a:cubicBezTo>
                    <a:pt x="18137" y="7822"/>
                    <a:pt x="18220" y="7678"/>
                    <a:pt x="18220" y="7463"/>
                  </a:cubicBezTo>
                  <a:cubicBezTo>
                    <a:pt x="18220" y="7391"/>
                    <a:pt x="18220" y="7320"/>
                    <a:pt x="18302" y="7248"/>
                  </a:cubicBezTo>
                  <a:cubicBezTo>
                    <a:pt x="18302" y="7248"/>
                    <a:pt x="18302" y="7176"/>
                    <a:pt x="18302" y="7104"/>
                  </a:cubicBezTo>
                  <a:cubicBezTo>
                    <a:pt x="18302" y="6889"/>
                    <a:pt x="18385" y="6674"/>
                    <a:pt x="18137" y="6602"/>
                  </a:cubicBezTo>
                  <a:cubicBezTo>
                    <a:pt x="18055" y="6530"/>
                    <a:pt x="18055" y="6530"/>
                    <a:pt x="18055" y="6530"/>
                  </a:cubicBezTo>
                  <a:cubicBezTo>
                    <a:pt x="17313" y="6602"/>
                    <a:pt x="17313" y="6602"/>
                    <a:pt x="17313" y="6602"/>
                  </a:cubicBezTo>
                  <a:cubicBezTo>
                    <a:pt x="17313" y="6530"/>
                    <a:pt x="17313" y="6458"/>
                    <a:pt x="17313" y="6387"/>
                  </a:cubicBezTo>
                  <a:cubicBezTo>
                    <a:pt x="17395" y="6100"/>
                    <a:pt x="17395" y="5741"/>
                    <a:pt x="16983" y="5526"/>
                  </a:cubicBezTo>
                  <a:cubicBezTo>
                    <a:pt x="16901" y="5526"/>
                    <a:pt x="16818" y="5454"/>
                    <a:pt x="16736" y="5454"/>
                  </a:cubicBezTo>
                  <a:cubicBezTo>
                    <a:pt x="16653" y="5454"/>
                    <a:pt x="16571" y="5454"/>
                    <a:pt x="16489" y="5454"/>
                  </a:cubicBezTo>
                  <a:cubicBezTo>
                    <a:pt x="16406" y="5382"/>
                    <a:pt x="16406" y="5382"/>
                    <a:pt x="16406" y="5382"/>
                  </a:cubicBezTo>
                  <a:cubicBezTo>
                    <a:pt x="16324" y="5310"/>
                    <a:pt x="16241" y="5239"/>
                    <a:pt x="16076" y="5239"/>
                  </a:cubicBezTo>
                  <a:cubicBezTo>
                    <a:pt x="15911" y="5239"/>
                    <a:pt x="15829" y="5095"/>
                    <a:pt x="15747" y="5023"/>
                  </a:cubicBezTo>
                  <a:cubicBezTo>
                    <a:pt x="15664" y="5023"/>
                    <a:pt x="15664" y="5023"/>
                    <a:pt x="15664" y="4951"/>
                  </a:cubicBezTo>
                  <a:cubicBezTo>
                    <a:pt x="15499" y="4880"/>
                    <a:pt x="15334" y="4808"/>
                    <a:pt x="15252" y="4664"/>
                  </a:cubicBezTo>
                  <a:cubicBezTo>
                    <a:pt x="15169" y="4593"/>
                    <a:pt x="15169" y="4521"/>
                    <a:pt x="15087" y="4449"/>
                  </a:cubicBezTo>
                  <a:cubicBezTo>
                    <a:pt x="15087" y="4377"/>
                    <a:pt x="15005" y="4377"/>
                    <a:pt x="15005" y="4306"/>
                  </a:cubicBezTo>
                  <a:cubicBezTo>
                    <a:pt x="14922" y="4234"/>
                    <a:pt x="14922" y="4234"/>
                    <a:pt x="14922" y="4234"/>
                  </a:cubicBezTo>
                  <a:cubicBezTo>
                    <a:pt x="14675" y="4019"/>
                    <a:pt x="14510" y="3732"/>
                    <a:pt x="14345" y="3445"/>
                  </a:cubicBezTo>
                  <a:cubicBezTo>
                    <a:pt x="14345" y="3373"/>
                    <a:pt x="14345" y="3229"/>
                    <a:pt x="14345" y="3157"/>
                  </a:cubicBezTo>
                  <a:cubicBezTo>
                    <a:pt x="14345" y="3086"/>
                    <a:pt x="14345" y="2942"/>
                    <a:pt x="14263" y="2870"/>
                  </a:cubicBezTo>
                  <a:cubicBezTo>
                    <a:pt x="14263" y="2799"/>
                    <a:pt x="14180" y="2727"/>
                    <a:pt x="14098" y="2655"/>
                  </a:cubicBezTo>
                  <a:cubicBezTo>
                    <a:pt x="14098" y="2583"/>
                    <a:pt x="14015" y="2583"/>
                    <a:pt x="14015" y="2512"/>
                  </a:cubicBezTo>
                  <a:cubicBezTo>
                    <a:pt x="13768" y="2081"/>
                    <a:pt x="13521" y="1794"/>
                    <a:pt x="13356" y="1507"/>
                  </a:cubicBezTo>
                  <a:cubicBezTo>
                    <a:pt x="13108" y="1220"/>
                    <a:pt x="12861" y="1005"/>
                    <a:pt x="12696" y="718"/>
                  </a:cubicBezTo>
                  <a:cubicBezTo>
                    <a:pt x="12696" y="646"/>
                    <a:pt x="12696" y="502"/>
                    <a:pt x="12696" y="431"/>
                  </a:cubicBezTo>
                  <a:cubicBezTo>
                    <a:pt x="12696" y="359"/>
                    <a:pt x="12696" y="359"/>
                    <a:pt x="12696" y="287"/>
                  </a:cubicBezTo>
                  <a:cubicBezTo>
                    <a:pt x="12614" y="0"/>
                    <a:pt x="12614" y="0"/>
                    <a:pt x="12614" y="0"/>
                  </a:cubicBezTo>
                  <a:cubicBezTo>
                    <a:pt x="12366" y="215"/>
                    <a:pt x="12366" y="215"/>
                    <a:pt x="12366" y="215"/>
                  </a:cubicBezTo>
                  <a:cubicBezTo>
                    <a:pt x="12284" y="287"/>
                    <a:pt x="12119" y="287"/>
                    <a:pt x="11954" y="287"/>
                  </a:cubicBezTo>
                  <a:cubicBezTo>
                    <a:pt x="11789" y="287"/>
                    <a:pt x="11707" y="287"/>
                    <a:pt x="11624" y="359"/>
                  </a:cubicBezTo>
                  <a:cubicBezTo>
                    <a:pt x="11377" y="431"/>
                    <a:pt x="11130" y="574"/>
                    <a:pt x="11130" y="789"/>
                  </a:cubicBezTo>
                  <a:cubicBezTo>
                    <a:pt x="11047" y="789"/>
                    <a:pt x="11047" y="789"/>
                    <a:pt x="11047" y="789"/>
                  </a:cubicBezTo>
                  <a:cubicBezTo>
                    <a:pt x="10965" y="789"/>
                    <a:pt x="10882" y="718"/>
                    <a:pt x="10800" y="718"/>
                  </a:cubicBezTo>
                  <a:cubicBezTo>
                    <a:pt x="10718" y="646"/>
                    <a:pt x="10718" y="574"/>
                    <a:pt x="10553" y="574"/>
                  </a:cubicBezTo>
                  <a:cubicBezTo>
                    <a:pt x="10553" y="574"/>
                    <a:pt x="10470" y="574"/>
                    <a:pt x="10470" y="646"/>
                  </a:cubicBezTo>
                  <a:cubicBezTo>
                    <a:pt x="10223" y="646"/>
                    <a:pt x="10058" y="789"/>
                    <a:pt x="9893" y="933"/>
                  </a:cubicBezTo>
                  <a:cubicBezTo>
                    <a:pt x="9811" y="1005"/>
                    <a:pt x="9811" y="1005"/>
                    <a:pt x="9728" y="1076"/>
                  </a:cubicBezTo>
                  <a:cubicBezTo>
                    <a:pt x="9398" y="1292"/>
                    <a:pt x="9151" y="1507"/>
                    <a:pt x="8821" y="1722"/>
                  </a:cubicBezTo>
                  <a:cubicBezTo>
                    <a:pt x="8079" y="502"/>
                    <a:pt x="8079" y="502"/>
                    <a:pt x="8079" y="502"/>
                  </a:cubicBezTo>
                  <a:cubicBezTo>
                    <a:pt x="4369" y="1220"/>
                    <a:pt x="4369" y="1220"/>
                    <a:pt x="4369" y="1220"/>
                  </a:cubicBezTo>
                  <a:cubicBezTo>
                    <a:pt x="2391" y="1363"/>
                    <a:pt x="2391" y="1363"/>
                    <a:pt x="2391" y="1363"/>
                  </a:cubicBezTo>
                  <a:cubicBezTo>
                    <a:pt x="2391" y="10047"/>
                    <a:pt x="2391" y="10047"/>
                    <a:pt x="2391" y="10047"/>
                  </a:cubicBezTo>
                  <a:cubicBezTo>
                    <a:pt x="165" y="10047"/>
                    <a:pt x="165" y="10047"/>
                    <a:pt x="165" y="10047"/>
                  </a:cubicBezTo>
                  <a:cubicBezTo>
                    <a:pt x="0" y="16720"/>
                    <a:pt x="0" y="16720"/>
                    <a:pt x="0" y="16720"/>
                  </a:cubicBezTo>
                  <a:cubicBezTo>
                    <a:pt x="82" y="16792"/>
                    <a:pt x="82" y="16792"/>
                    <a:pt x="82" y="16792"/>
                  </a:cubicBezTo>
                  <a:cubicBezTo>
                    <a:pt x="824" y="16936"/>
                    <a:pt x="1237" y="17653"/>
                    <a:pt x="1484" y="18299"/>
                  </a:cubicBezTo>
                  <a:cubicBezTo>
                    <a:pt x="1566" y="18514"/>
                    <a:pt x="1649" y="18801"/>
                    <a:pt x="1731" y="19017"/>
                  </a:cubicBezTo>
                  <a:cubicBezTo>
                    <a:pt x="1814" y="19304"/>
                    <a:pt x="1814" y="19304"/>
                    <a:pt x="1814" y="19304"/>
                  </a:cubicBezTo>
                  <a:cubicBezTo>
                    <a:pt x="1979" y="19662"/>
                    <a:pt x="2061" y="19950"/>
                    <a:pt x="1731" y="20308"/>
                  </a:cubicBezTo>
                  <a:cubicBezTo>
                    <a:pt x="1402" y="20595"/>
                    <a:pt x="1402" y="20954"/>
                    <a:pt x="1402" y="21313"/>
                  </a:cubicBezTo>
                  <a:cubicBezTo>
                    <a:pt x="1402" y="21313"/>
                    <a:pt x="1402" y="21385"/>
                    <a:pt x="1402" y="21456"/>
                  </a:cubicBezTo>
                  <a:cubicBezTo>
                    <a:pt x="1402" y="21600"/>
                    <a:pt x="1402" y="21600"/>
                    <a:pt x="1402" y="21600"/>
                  </a:cubicBezTo>
                  <a:cubicBezTo>
                    <a:pt x="1649" y="21600"/>
                    <a:pt x="1649" y="21600"/>
                    <a:pt x="1649" y="21600"/>
                  </a:cubicBezTo>
                  <a:cubicBezTo>
                    <a:pt x="1649" y="21600"/>
                    <a:pt x="1731" y="21600"/>
                    <a:pt x="1731" y="21528"/>
                  </a:cubicBezTo>
                  <a:cubicBezTo>
                    <a:pt x="1896" y="21528"/>
                    <a:pt x="1979" y="21456"/>
                    <a:pt x="2061" y="21456"/>
                  </a:cubicBezTo>
                  <a:cubicBezTo>
                    <a:pt x="2226" y="21456"/>
                    <a:pt x="2308" y="21528"/>
                    <a:pt x="2391" y="21528"/>
                  </a:cubicBezTo>
                  <a:cubicBezTo>
                    <a:pt x="2473" y="21600"/>
                    <a:pt x="2556" y="21600"/>
                    <a:pt x="2638" y="21600"/>
                  </a:cubicBezTo>
                  <a:cubicBezTo>
                    <a:pt x="2721" y="21600"/>
                    <a:pt x="2721" y="21600"/>
                    <a:pt x="2803" y="21600"/>
                  </a:cubicBezTo>
                  <a:cubicBezTo>
                    <a:pt x="2803" y="21600"/>
                    <a:pt x="2885" y="21600"/>
                    <a:pt x="2968" y="21600"/>
                  </a:cubicBezTo>
                  <a:cubicBezTo>
                    <a:pt x="3050" y="21600"/>
                    <a:pt x="3133" y="21600"/>
                    <a:pt x="3215" y="21600"/>
                  </a:cubicBezTo>
                  <a:cubicBezTo>
                    <a:pt x="3298" y="21600"/>
                    <a:pt x="3380" y="21600"/>
                    <a:pt x="3463" y="21600"/>
                  </a:cubicBezTo>
                  <a:cubicBezTo>
                    <a:pt x="3545" y="21600"/>
                    <a:pt x="3545" y="21600"/>
                    <a:pt x="3627" y="21600"/>
                  </a:cubicBezTo>
                  <a:cubicBezTo>
                    <a:pt x="3710" y="21600"/>
                    <a:pt x="3710" y="21600"/>
                    <a:pt x="3792" y="21600"/>
                  </a:cubicBezTo>
                  <a:cubicBezTo>
                    <a:pt x="3875" y="21600"/>
                    <a:pt x="3957" y="21528"/>
                    <a:pt x="3957" y="21456"/>
                  </a:cubicBezTo>
                  <a:cubicBezTo>
                    <a:pt x="3957" y="21385"/>
                    <a:pt x="3957" y="21313"/>
                    <a:pt x="4040" y="21313"/>
                  </a:cubicBezTo>
                  <a:cubicBezTo>
                    <a:pt x="4040" y="21241"/>
                    <a:pt x="4122" y="21241"/>
                    <a:pt x="4287" y="21241"/>
                  </a:cubicBezTo>
                  <a:cubicBezTo>
                    <a:pt x="4369" y="21241"/>
                    <a:pt x="4369" y="21241"/>
                    <a:pt x="4369" y="21241"/>
                  </a:cubicBezTo>
                  <a:cubicBezTo>
                    <a:pt x="4369" y="21241"/>
                    <a:pt x="4452" y="21241"/>
                    <a:pt x="4534" y="21169"/>
                  </a:cubicBezTo>
                  <a:cubicBezTo>
                    <a:pt x="4699" y="21169"/>
                    <a:pt x="4782" y="21026"/>
                    <a:pt x="4864" y="20882"/>
                  </a:cubicBezTo>
                  <a:cubicBezTo>
                    <a:pt x="4864" y="20882"/>
                    <a:pt x="4864" y="20882"/>
                    <a:pt x="4864" y="20811"/>
                  </a:cubicBezTo>
                  <a:cubicBezTo>
                    <a:pt x="4947" y="20667"/>
                    <a:pt x="4947" y="20595"/>
                    <a:pt x="5111" y="20524"/>
                  </a:cubicBezTo>
                  <a:cubicBezTo>
                    <a:pt x="5194" y="20452"/>
                    <a:pt x="5276" y="20452"/>
                    <a:pt x="5359" y="20452"/>
                  </a:cubicBezTo>
                  <a:cubicBezTo>
                    <a:pt x="5441" y="20380"/>
                    <a:pt x="5524" y="20380"/>
                    <a:pt x="5689" y="20237"/>
                  </a:cubicBezTo>
                  <a:cubicBezTo>
                    <a:pt x="5771" y="20165"/>
                    <a:pt x="5853" y="20021"/>
                    <a:pt x="5936" y="19878"/>
                  </a:cubicBezTo>
                  <a:cubicBezTo>
                    <a:pt x="6018" y="19806"/>
                    <a:pt x="6101" y="19734"/>
                    <a:pt x="6183" y="19662"/>
                  </a:cubicBezTo>
                  <a:cubicBezTo>
                    <a:pt x="6266" y="19519"/>
                    <a:pt x="6348" y="19447"/>
                    <a:pt x="6431" y="19304"/>
                  </a:cubicBezTo>
                  <a:cubicBezTo>
                    <a:pt x="6513" y="19088"/>
                    <a:pt x="6595" y="18873"/>
                    <a:pt x="6595" y="18658"/>
                  </a:cubicBezTo>
                  <a:cubicBezTo>
                    <a:pt x="6595" y="18586"/>
                    <a:pt x="6595" y="18586"/>
                    <a:pt x="6595" y="18586"/>
                  </a:cubicBezTo>
                  <a:cubicBezTo>
                    <a:pt x="6678" y="18155"/>
                    <a:pt x="6925" y="17868"/>
                    <a:pt x="7255" y="17868"/>
                  </a:cubicBezTo>
                  <a:cubicBezTo>
                    <a:pt x="7337" y="17797"/>
                    <a:pt x="7502" y="17797"/>
                    <a:pt x="7585" y="17797"/>
                  </a:cubicBezTo>
                  <a:cubicBezTo>
                    <a:pt x="7832" y="17797"/>
                    <a:pt x="8079" y="17868"/>
                    <a:pt x="8244" y="18084"/>
                  </a:cubicBezTo>
                  <a:cubicBezTo>
                    <a:pt x="8492" y="18299"/>
                    <a:pt x="8821" y="18586"/>
                    <a:pt x="9151" y="18658"/>
                  </a:cubicBezTo>
                  <a:cubicBezTo>
                    <a:pt x="9234" y="18730"/>
                    <a:pt x="9234" y="18730"/>
                    <a:pt x="9316" y="18730"/>
                  </a:cubicBezTo>
                  <a:cubicBezTo>
                    <a:pt x="9398" y="18730"/>
                    <a:pt x="9398" y="18730"/>
                    <a:pt x="9481" y="18730"/>
                  </a:cubicBezTo>
                  <a:cubicBezTo>
                    <a:pt x="9563" y="18730"/>
                    <a:pt x="9646" y="18658"/>
                    <a:pt x="9728" y="18658"/>
                  </a:cubicBezTo>
                  <a:cubicBezTo>
                    <a:pt x="9728" y="18658"/>
                    <a:pt x="9728" y="18658"/>
                    <a:pt x="9728" y="18658"/>
                  </a:cubicBezTo>
                  <a:cubicBezTo>
                    <a:pt x="9893" y="18658"/>
                    <a:pt x="9976" y="18730"/>
                    <a:pt x="10058" y="18873"/>
                  </a:cubicBezTo>
                  <a:cubicBezTo>
                    <a:pt x="10305" y="19088"/>
                    <a:pt x="10635" y="19088"/>
                    <a:pt x="10965" y="19160"/>
                  </a:cubicBezTo>
                  <a:cubicBezTo>
                    <a:pt x="11047" y="19160"/>
                    <a:pt x="11047" y="19160"/>
                    <a:pt x="11047" y="19160"/>
                  </a:cubicBezTo>
                  <a:cubicBezTo>
                    <a:pt x="11130" y="19160"/>
                    <a:pt x="11130" y="19160"/>
                    <a:pt x="11130" y="19160"/>
                  </a:cubicBezTo>
                  <a:cubicBezTo>
                    <a:pt x="11295" y="19160"/>
                    <a:pt x="11377" y="19088"/>
                    <a:pt x="11542" y="19088"/>
                  </a:cubicBezTo>
                  <a:cubicBezTo>
                    <a:pt x="11624" y="19017"/>
                    <a:pt x="11707" y="18945"/>
                    <a:pt x="11789" y="18945"/>
                  </a:cubicBezTo>
                  <a:cubicBezTo>
                    <a:pt x="11872" y="18945"/>
                    <a:pt x="11954" y="18945"/>
                    <a:pt x="11954" y="18945"/>
                  </a:cubicBezTo>
                  <a:cubicBezTo>
                    <a:pt x="12037" y="19017"/>
                    <a:pt x="12037" y="19017"/>
                    <a:pt x="12119" y="19017"/>
                  </a:cubicBezTo>
                  <a:cubicBezTo>
                    <a:pt x="12202" y="19017"/>
                    <a:pt x="12284" y="19088"/>
                    <a:pt x="12366" y="19088"/>
                  </a:cubicBezTo>
                  <a:cubicBezTo>
                    <a:pt x="12449" y="19088"/>
                    <a:pt x="12449" y="19088"/>
                    <a:pt x="12531" y="19017"/>
                  </a:cubicBezTo>
                  <a:cubicBezTo>
                    <a:pt x="12696" y="18945"/>
                    <a:pt x="12861" y="18801"/>
                    <a:pt x="12944" y="18658"/>
                  </a:cubicBezTo>
                  <a:cubicBezTo>
                    <a:pt x="13026" y="18658"/>
                    <a:pt x="13026" y="18658"/>
                    <a:pt x="13026" y="18658"/>
                  </a:cubicBezTo>
                  <a:cubicBezTo>
                    <a:pt x="13191" y="18443"/>
                    <a:pt x="13191" y="18227"/>
                    <a:pt x="13273" y="18084"/>
                  </a:cubicBezTo>
                  <a:cubicBezTo>
                    <a:pt x="13356" y="17940"/>
                    <a:pt x="13356" y="17797"/>
                    <a:pt x="13438" y="17653"/>
                  </a:cubicBezTo>
                  <a:cubicBezTo>
                    <a:pt x="13521" y="17510"/>
                    <a:pt x="13603" y="17366"/>
                    <a:pt x="13603" y="17151"/>
                  </a:cubicBezTo>
                  <a:cubicBezTo>
                    <a:pt x="13685" y="17007"/>
                    <a:pt x="13768" y="16864"/>
                    <a:pt x="13850" y="16720"/>
                  </a:cubicBezTo>
                  <a:cubicBezTo>
                    <a:pt x="13933" y="16505"/>
                    <a:pt x="14180" y="16433"/>
                    <a:pt x="14427" y="16361"/>
                  </a:cubicBezTo>
                  <a:cubicBezTo>
                    <a:pt x="14510" y="16361"/>
                    <a:pt x="14592" y="16361"/>
                    <a:pt x="14675" y="16361"/>
                  </a:cubicBezTo>
                  <a:cubicBezTo>
                    <a:pt x="14757" y="16361"/>
                    <a:pt x="14922" y="16361"/>
                    <a:pt x="15087" y="16218"/>
                  </a:cubicBezTo>
                  <a:cubicBezTo>
                    <a:pt x="15252" y="16074"/>
                    <a:pt x="15499" y="15931"/>
                    <a:pt x="15747" y="15787"/>
                  </a:cubicBezTo>
                  <a:cubicBezTo>
                    <a:pt x="15829" y="15716"/>
                    <a:pt x="15829" y="15716"/>
                    <a:pt x="15829" y="15716"/>
                  </a:cubicBezTo>
                  <a:cubicBezTo>
                    <a:pt x="16076" y="15572"/>
                    <a:pt x="16076" y="15500"/>
                    <a:pt x="16076" y="15285"/>
                  </a:cubicBezTo>
                  <a:cubicBezTo>
                    <a:pt x="16076" y="15213"/>
                    <a:pt x="16076" y="15213"/>
                    <a:pt x="16076" y="15213"/>
                  </a:cubicBezTo>
                  <a:cubicBezTo>
                    <a:pt x="16159" y="14783"/>
                    <a:pt x="16241" y="14280"/>
                    <a:pt x="16571" y="13993"/>
                  </a:cubicBezTo>
                  <a:cubicBezTo>
                    <a:pt x="16818" y="13850"/>
                    <a:pt x="17066" y="13706"/>
                    <a:pt x="17231" y="13563"/>
                  </a:cubicBezTo>
                  <a:cubicBezTo>
                    <a:pt x="17478" y="13419"/>
                    <a:pt x="17725" y="13276"/>
                    <a:pt x="17973" y="13132"/>
                  </a:cubicBezTo>
                  <a:cubicBezTo>
                    <a:pt x="18055" y="13060"/>
                    <a:pt x="18137" y="12989"/>
                    <a:pt x="18220" y="12917"/>
                  </a:cubicBezTo>
                  <a:cubicBezTo>
                    <a:pt x="18385" y="12845"/>
                    <a:pt x="18467" y="12773"/>
                    <a:pt x="18550" y="12630"/>
                  </a:cubicBezTo>
                  <a:cubicBezTo>
                    <a:pt x="18797" y="12415"/>
                    <a:pt x="18797" y="12415"/>
                    <a:pt x="18797" y="12415"/>
                  </a:cubicBezTo>
                  <a:cubicBezTo>
                    <a:pt x="18879" y="12343"/>
                    <a:pt x="18962" y="12199"/>
                    <a:pt x="19044" y="12056"/>
                  </a:cubicBezTo>
                  <a:cubicBezTo>
                    <a:pt x="19127" y="12056"/>
                    <a:pt x="19127" y="11984"/>
                    <a:pt x="19209" y="11912"/>
                  </a:cubicBezTo>
                  <a:cubicBezTo>
                    <a:pt x="19374" y="11769"/>
                    <a:pt x="19539" y="11625"/>
                    <a:pt x="19704" y="11553"/>
                  </a:cubicBezTo>
                  <a:cubicBezTo>
                    <a:pt x="19786" y="11553"/>
                    <a:pt x="19786" y="11482"/>
                    <a:pt x="19869" y="11482"/>
                  </a:cubicBezTo>
                  <a:cubicBezTo>
                    <a:pt x="19951" y="11482"/>
                    <a:pt x="20034" y="11553"/>
                    <a:pt x="20034" y="11553"/>
                  </a:cubicBezTo>
                  <a:cubicBezTo>
                    <a:pt x="20116" y="11553"/>
                    <a:pt x="20198" y="11553"/>
                    <a:pt x="20281" y="11553"/>
                  </a:cubicBezTo>
                  <a:cubicBezTo>
                    <a:pt x="20363" y="11553"/>
                    <a:pt x="20446" y="11482"/>
                    <a:pt x="20528" y="11482"/>
                  </a:cubicBezTo>
                  <a:cubicBezTo>
                    <a:pt x="20611" y="11410"/>
                    <a:pt x="20611" y="11410"/>
                    <a:pt x="20693" y="11338"/>
                  </a:cubicBezTo>
                  <a:cubicBezTo>
                    <a:pt x="20776" y="11266"/>
                    <a:pt x="20776" y="11266"/>
                    <a:pt x="20858" y="11195"/>
                  </a:cubicBezTo>
                  <a:cubicBezTo>
                    <a:pt x="20940" y="11195"/>
                    <a:pt x="20940" y="11195"/>
                    <a:pt x="20940" y="11195"/>
                  </a:cubicBezTo>
                  <a:cubicBezTo>
                    <a:pt x="21023" y="11123"/>
                    <a:pt x="21105" y="11051"/>
                    <a:pt x="21105" y="10979"/>
                  </a:cubicBezTo>
                  <a:cubicBezTo>
                    <a:pt x="21188" y="10908"/>
                    <a:pt x="21188" y="10908"/>
                    <a:pt x="21188" y="10908"/>
                  </a:cubicBezTo>
                  <a:cubicBezTo>
                    <a:pt x="21188" y="10836"/>
                    <a:pt x="21188" y="10764"/>
                    <a:pt x="21270" y="10692"/>
                  </a:cubicBezTo>
                  <a:cubicBezTo>
                    <a:pt x="21353" y="10692"/>
                    <a:pt x="21353" y="10621"/>
                    <a:pt x="21435" y="10621"/>
                  </a:cubicBezTo>
                  <a:cubicBezTo>
                    <a:pt x="21518" y="10549"/>
                    <a:pt x="21600" y="10549"/>
                    <a:pt x="21600" y="10405"/>
                  </a:cubicBezTo>
                  <a:cubicBezTo>
                    <a:pt x="21600" y="10334"/>
                    <a:pt x="21600" y="10334"/>
                    <a:pt x="21600" y="10334"/>
                  </a:cubicBezTo>
                  <a:lnTo>
                    <a:pt x="21518" y="10262"/>
                  </a:lnTo>
                  <a:close/>
                </a:path>
              </a:pathLst>
            </a:custGeom>
            <a:solidFill>
              <a:schemeClr val="tx2"/>
            </a:solid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47" name="Shape">
              <a:extLst>
                <a:ext uri="{FF2B5EF4-FFF2-40B4-BE49-F238E27FC236}">
                  <a16:creationId xmlns:a16="http://schemas.microsoft.com/office/drawing/2014/main" id="{96937610-C90A-4E4B-88CA-763B9FC3AC3C}"/>
                </a:ext>
              </a:extLst>
            </p:cNvPr>
            <p:cNvSpPr/>
            <p:nvPr/>
          </p:nvSpPr>
          <p:spPr>
            <a:xfrm>
              <a:off x="4197165" y="3781624"/>
              <a:ext cx="2164203" cy="2217632"/>
            </a:xfrm>
            <a:custGeom>
              <a:avLst/>
              <a:gdLst/>
              <a:ahLst/>
              <a:cxnLst>
                <a:cxn ang="0">
                  <a:pos x="wd2" y="hd2"/>
                </a:cxn>
                <a:cxn ang="5400000">
                  <a:pos x="wd2" y="hd2"/>
                </a:cxn>
                <a:cxn ang="10800000">
                  <a:pos x="wd2" y="hd2"/>
                </a:cxn>
                <a:cxn ang="16200000">
                  <a:pos x="wd2" y="hd2"/>
                </a:cxn>
              </a:cxnLst>
              <a:rect l="0" t="0" r="r" b="b"/>
              <a:pathLst>
                <a:path w="21576" h="21600" extrusionOk="0">
                  <a:moveTo>
                    <a:pt x="21561" y="3699"/>
                  </a:moveTo>
                  <a:cubicBezTo>
                    <a:pt x="21561" y="3559"/>
                    <a:pt x="21329" y="3489"/>
                    <a:pt x="21135" y="3420"/>
                  </a:cubicBezTo>
                  <a:cubicBezTo>
                    <a:pt x="21057" y="3385"/>
                    <a:pt x="20980" y="3385"/>
                    <a:pt x="20941" y="3350"/>
                  </a:cubicBezTo>
                  <a:cubicBezTo>
                    <a:pt x="20941" y="3280"/>
                    <a:pt x="20980" y="3175"/>
                    <a:pt x="21018" y="3071"/>
                  </a:cubicBezTo>
                  <a:cubicBezTo>
                    <a:pt x="21057" y="3036"/>
                    <a:pt x="21057" y="3036"/>
                    <a:pt x="21057" y="3001"/>
                  </a:cubicBezTo>
                  <a:cubicBezTo>
                    <a:pt x="21096" y="2966"/>
                    <a:pt x="21096" y="2966"/>
                    <a:pt x="21096" y="2966"/>
                  </a:cubicBezTo>
                  <a:cubicBezTo>
                    <a:pt x="21096" y="2931"/>
                    <a:pt x="21135" y="2896"/>
                    <a:pt x="21096" y="2826"/>
                  </a:cubicBezTo>
                  <a:cubicBezTo>
                    <a:pt x="21096" y="2792"/>
                    <a:pt x="21057" y="2792"/>
                    <a:pt x="21018" y="2757"/>
                  </a:cubicBezTo>
                  <a:cubicBezTo>
                    <a:pt x="21018" y="2757"/>
                    <a:pt x="20980" y="2722"/>
                    <a:pt x="20980" y="2687"/>
                  </a:cubicBezTo>
                  <a:cubicBezTo>
                    <a:pt x="20980" y="2652"/>
                    <a:pt x="21018" y="2547"/>
                    <a:pt x="21057" y="2443"/>
                  </a:cubicBezTo>
                  <a:cubicBezTo>
                    <a:pt x="21173" y="2233"/>
                    <a:pt x="21212" y="2129"/>
                    <a:pt x="21173" y="2059"/>
                  </a:cubicBezTo>
                  <a:cubicBezTo>
                    <a:pt x="21173" y="2059"/>
                    <a:pt x="21135" y="2024"/>
                    <a:pt x="21135" y="2024"/>
                  </a:cubicBezTo>
                  <a:cubicBezTo>
                    <a:pt x="21096" y="2024"/>
                    <a:pt x="21096" y="2024"/>
                    <a:pt x="21096" y="2024"/>
                  </a:cubicBezTo>
                  <a:cubicBezTo>
                    <a:pt x="21096" y="2024"/>
                    <a:pt x="21096" y="2024"/>
                    <a:pt x="21096" y="2024"/>
                  </a:cubicBezTo>
                  <a:cubicBezTo>
                    <a:pt x="21057" y="2024"/>
                    <a:pt x="21057" y="2024"/>
                    <a:pt x="21018" y="2024"/>
                  </a:cubicBezTo>
                  <a:cubicBezTo>
                    <a:pt x="21018" y="2024"/>
                    <a:pt x="21018" y="2024"/>
                    <a:pt x="21018" y="2024"/>
                  </a:cubicBezTo>
                  <a:cubicBezTo>
                    <a:pt x="20863" y="2024"/>
                    <a:pt x="20786" y="2024"/>
                    <a:pt x="20747" y="1884"/>
                  </a:cubicBezTo>
                  <a:cubicBezTo>
                    <a:pt x="20747" y="1849"/>
                    <a:pt x="20747" y="1849"/>
                    <a:pt x="20747" y="1815"/>
                  </a:cubicBezTo>
                  <a:cubicBezTo>
                    <a:pt x="20708" y="1745"/>
                    <a:pt x="20708" y="1745"/>
                    <a:pt x="20631" y="1710"/>
                  </a:cubicBezTo>
                  <a:cubicBezTo>
                    <a:pt x="20592" y="1710"/>
                    <a:pt x="20592" y="1675"/>
                    <a:pt x="20553" y="1675"/>
                  </a:cubicBezTo>
                  <a:cubicBezTo>
                    <a:pt x="20514" y="1675"/>
                    <a:pt x="20475" y="1640"/>
                    <a:pt x="20437" y="1605"/>
                  </a:cubicBezTo>
                  <a:cubicBezTo>
                    <a:pt x="20398" y="1570"/>
                    <a:pt x="20320" y="1535"/>
                    <a:pt x="20282" y="1466"/>
                  </a:cubicBezTo>
                  <a:cubicBezTo>
                    <a:pt x="20126" y="1326"/>
                    <a:pt x="19932" y="1152"/>
                    <a:pt x="19855" y="977"/>
                  </a:cubicBezTo>
                  <a:cubicBezTo>
                    <a:pt x="19816" y="907"/>
                    <a:pt x="19739" y="837"/>
                    <a:pt x="19661" y="837"/>
                  </a:cubicBezTo>
                  <a:cubicBezTo>
                    <a:pt x="19661" y="837"/>
                    <a:pt x="19661" y="837"/>
                    <a:pt x="19661" y="837"/>
                  </a:cubicBezTo>
                  <a:cubicBezTo>
                    <a:pt x="19661" y="837"/>
                    <a:pt x="19661" y="837"/>
                    <a:pt x="19661" y="837"/>
                  </a:cubicBezTo>
                  <a:cubicBezTo>
                    <a:pt x="19622" y="837"/>
                    <a:pt x="19545" y="837"/>
                    <a:pt x="19506" y="907"/>
                  </a:cubicBezTo>
                  <a:cubicBezTo>
                    <a:pt x="19467" y="942"/>
                    <a:pt x="19428" y="977"/>
                    <a:pt x="19428" y="1012"/>
                  </a:cubicBezTo>
                  <a:cubicBezTo>
                    <a:pt x="19390" y="1117"/>
                    <a:pt x="19351" y="1152"/>
                    <a:pt x="19234" y="1152"/>
                  </a:cubicBezTo>
                  <a:cubicBezTo>
                    <a:pt x="19234" y="1152"/>
                    <a:pt x="19234" y="1152"/>
                    <a:pt x="19196" y="1152"/>
                  </a:cubicBezTo>
                  <a:cubicBezTo>
                    <a:pt x="19196" y="1152"/>
                    <a:pt x="19157" y="1152"/>
                    <a:pt x="19118" y="1117"/>
                  </a:cubicBezTo>
                  <a:cubicBezTo>
                    <a:pt x="19079" y="1082"/>
                    <a:pt x="19079" y="1082"/>
                    <a:pt x="19041" y="1082"/>
                  </a:cubicBezTo>
                  <a:cubicBezTo>
                    <a:pt x="19002" y="1047"/>
                    <a:pt x="18924" y="1012"/>
                    <a:pt x="18885" y="1012"/>
                  </a:cubicBezTo>
                  <a:cubicBezTo>
                    <a:pt x="18847" y="1012"/>
                    <a:pt x="18847" y="1012"/>
                    <a:pt x="18847" y="1012"/>
                  </a:cubicBezTo>
                  <a:cubicBezTo>
                    <a:pt x="18769" y="977"/>
                    <a:pt x="18769" y="977"/>
                    <a:pt x="18730" y="977"/>
                  </a:cubicBezTo>
                  <a:cubicBezTo>
                    <a:pt x="18614" y="977"/>
                    <a:pt x="18575" y="1047"/>
                    <a:pt x="18459" y="1117"/>
                  </a:cubicBezTo>
                  <a:cubicBezTo>
                    <a:pt x="18459" y="1117"/>
                    <a:pt x="18459" y="1117"/>
                    <a:pt x="18459" y="1117"/>
                  </a:cubicBezTo>
                  <a:cubicBezTo>
                    <a:pt x="18381" y="1186"/>
                    <a:pt x="18304" y="1221"/>
                    <a:pt x="18265" y="1221"/>
                  </a:cubicBezTo>
                  <a:cubicBezTo>
                    <a:pt x="18226" y="1221"/>
                    <a:pt x="18187" y="1221"/>
                    <a:pt x="18110" y="1186"/>
                  </a:cubicBezTo>
                  <a:cubicBezTo>
                    <a:pt x="18071" y="1152"/>
                    <a:pt x="17994" y="1117"/>
                    <a:pt x="17955" y="1082"/>
                  </a:cubicBezTo>
                  <a:cubicBezTo>
                    <a:pt x="17800" y="1047"/>
                    <a:pt x="17683" y="977"/>
                    <a:pt x="17606" y="872"/>
                  </a:cubicBezTo>
                  <a:cubicBezTo>
                    <a:pt x="17567" y="837"/>
                    <a:pt x="17567" y="803"/>
                    <a:pt x="17567" y="768"/>
                  </a:cubicBezTo>
                  <a:cubicBezTo>
                    <a:pt x="17567" y="698"/>
                    <a:pt x="17528" y="663"/>
                    <a:pt x="17489" y="593"/>
                  </a:cubicBezTo>
                  <a:cubicBezTo>
                    <a:pt x="17451" y="558"/>
                    <a:pt x="17412" y="523"/>
                    <a:pt x="17373" y="489"/>
                  </a:cubicBezTo>
                  <a:cubicBezTo>
                    <a:pt x="17334" y="454"/>
                    <a:pt x="17296" y="419"/>
                    <a:pt x="17257" y="384"/>
                  </a:cubicBezTo>
                  <a:cubicBezTo>
                    <a:pt x="17218" y="349"/>
                    <a:pt x="17179" y="314"/>
                    <a:pt x="17179" y="279"/>
                  </a:cubicBezTo>
                  <a:cubicBezTo>
                    <a:pt x="17140" y="244"/>
                    <a:pt x="17140" y="244"/>
                    <a:pt x="17140" y="244"/>
                  </a:cubicBezTo>
                  <a:cubicBezTo>
                    <a:pt x="17102" y="279"/>
                    <a:pt x="17102" y="279"/>
                    <a:pt x="17102" y="279"/>
                  </a:cubicBezTo>
                  <a:cubicBezTo>
                    <a:pt x="17063" y="279"/>
                    <a:pt x="17063" y="279"/>
                    <a:pt x="17024" y="279"/>
                  </a:cubicBezTo>
                  <a:cubicBezTo>
                    <a:pt x="16985" y="279"/>
                    <a:pt x="16947" y="279"/>
                    <a:pt x="16908" y="244"/>
                  </a:cubicBezTo>
                  <a:cubicBezTo>
                    <a:pt x="16869" y="244"/>
                    <a:pt x="16791" y="244"/>
                    <a:pt x="16753" y="244"/>
                  </a:cubicBezTo>
                  <a:cubicBezTo>
                    <a:pt x="16675" y="244"/>
                    <a:pt x="16597" y="314"/>
                    <a:pt x="16597" y="349"/>
                  </a:cubicBezTo>
                  <a:cubicBezTo>
                    <a:pt x="16559" y="349"/>
                    <a:pt x="16520" y="349"/>
                    <a:pt x="16520" y="349"/>
                  </a:cubicBezTo>
                  <a:cubicBezTo>
                    <a:pt x="16481" y="349"/>
                    <a:pt x="16442" y="349"/>
                    <a:pt x="16404" y="349"/>
                  </a:cubicBezTo>
                  <a:cubicBezTo>
                    <a:pt x="16365" y="349"/>
                    <a:pt x="16365" y="349"/>
                    <a:pt x="16326" y="349"/>
                  </a:cubicBezTo>
                  <a:cubicBezTo>
                    <a:pt x="16287" y="349"/>
                    <a:pt x="16287" y="349"/>
                    <a:pt x="16248" y="349"/>
                  </a:cubicBezTo>
                  <a:cubicBezTo>
                    <a:pt x="16132" y="349"/>
                    <a:pt x="16055" y="314"/>
                    <a:pt x="15977" y="244"/>
                  </a:cubicBezTo>
                  <a:cubicBezTo>
                    <a:pt x="15938" y="209"/>
                    <a:pt x="15938" y="209"/>
                    <a:pt x="15938" y="209"/>
                  </a:cubicBezTo>
                  <a:cubicBezTo>
                    <a:pt x="15899" y="174"/>
                    <a:pt x="15822" y="105"/>
                    <a:pt x="15744" y="105"/>
                  </a:cubicBezTo>
                  <a:cubicBezTo>
                    <a:pt x="15667" y="105"/>
                    <a:pt x="15628" y="140"/>
                    <a:pt x="15589" y="174"/>
                  </a:cubicBezTo>
                  <a:cubicBezTo>
                    <a:pt x="15550" y="209"/>
                    <a:pt x="15512" y="209"/>
                    <a:pt x="15512" y="244"/>
                  </a:cubicBezTo>
                  <a:cubicBezTo>
                    <a:pt x="15473" y="244"/>
                    <a:pt x="15434" y="244"/>
                    <a:pt x="15434" y="244"/>
                  </a:cubicBezTo>
                  <a:cubicBezTo>
                    <a:pt x="15357" y="244"/>
                    <a:pt x="15318" y="209"/>
                    <a:pt x="15279" y="140"/>
                  </a:cubicBezTo>
                  <a:cubicBezTo>
                    <a:pt x="15240" y="70"/>
                    <a:pt x="15163" y="0"/>
                    <a:pt x="15085" y="0"/>
                  </a:cubicBezTo>
                  <a:cubicBezTo>
                    <a:pt x="15046" y="0"/>
                    <a:pt x="15046" y="0"/>
                    <a:pt x="15046" y="0"/>
                  </a:cubicBezTo>
                  <a:cubicBezTo>
                    <a:pt x="14930" y="0"/>
                    <a:pt x="14891" y="105"/>
                    <a:pt x="14852" y="209"/>
                  </a:cubicBezTo>
                  <a:cubicBezTo>
                    <a:pt x="14852" y="279"/>
                    <a:pt x="14814" y="349"/>
                    <a:pt x="14736" y="384"/>
                  </a:cubicBezTo>
                  <a:cubicBezTo>
                    <a:pt x="14697" y="419"/>
                    <a:pt x="14659" y="419"/>
                    <a:pt x="14581" y="419"/>
                  </a:cubicBezTo>
                  <a:cubicBezTo>
                    <a:pt x="14542" y="419"/>
                    <a:pt x="14503" y="419"/>
                    <a:pt x="14465" y="454"/>
                  </a:cubicBezTo>
                  <a:cubicBezTo>
                    <a:pt x="14348" y="454"/>
                    <a:pt x="14310" y="454"/>
                    <a:pt x="14232" y="454"/>
                  </a:cubicBezTo>
                  <a:cubicBezTo>
                    <a:pt x="14154" y="454"/>
                    <a:pt x="14116" y="454"/>
                    <a:pt x="13999" y="419"/>
                  </a:cubicBezTo>
                  <a:cubicBezTo>
                    <a:pt x="13999" y="419"/>
                    <a:pt x="13999" y="419"/>
                    <a:pt x="13999" y="419"/>
                  </a:cubicBezTo>
                  <a:cubicBezTo>
                    <a:pt x="13922" y="384"/>
                    <a:pt x="13844" y="384"/>
                    <a:pt x="13805" y="384"/>
                  </a:cubicBezTo>
                  <a:cubicBezTo>
                    <a:pt x="13728" y="384"/>
                    <a:pt x="13689" y="384"/>
                    <a:pt x="13611" y="419"/>
                  </a:cubicBezTo>
                  <a:cubicBezTo>
                    <a:pt x="13456" y="523"/>
                    <a:pt x="13340" y="593"/>
                    <a:pt x="13146" y="663"/>
                  </a:cubicBezTo>
                  <a:cubicBezTo>
                    <a:pt x="13069" y="663"/>
                    <a:pt x="13030" y="698"/>
                    <a:pt x="12952" y="733"/>
                  </a:cubicBezTo>
                  <a:cubicBezTo>
                    <a:pt x="12875" y="803"/>
                    <a:pt x="12797" y="837"/>
                    <a:pt x="12681" y="872"/>
                  </a:cubicBezTo>
                  <a:cubicBezTo>
                    <a:pt x="12681" y="872"/>
                    <a:pt x="12642" y="872"/>
                    <a:pt x="12642" y="872"/>
                  </a:cubicBezTo>
                  <a:cubicBezTo>
                    <a:pt x="12564" y="872"/>
                    <a:pt x="12487" y="803"/>
                    <a:pt x="12409" y="768"/>
                  </a:cubicBezTo>
                  <a:cubicBezTo>
                    <a:pt x="12371" y="733"/>
                    <a:pt x="12332" y="698"/>
                    <a:pt x="12293" y="698"/>
                  </a:cubicBezTo>
                  <a:cubicBezTo>
                    <a:pt x="12215" y="663"/>
                    <a:pt x="12177" y="663"/>
                    <a:pt x="12138" y="663"/>
                  </a:cubicBezTo>
                  <a:cubicBezTo>
                    <a:pt x="12138" y="663"/>
                    <a:pt x="12099" y="663"/>
                    <a:pt x="12060" y="663"/>
                  </a:cubicBezTo>
                  <a:cubicBezTo>
                    <a:pt x="11944" y="733"/>
                    <a:pt x="11866" y="907"/>
                    <a:pt x="11789" y="1047"/>
                  </a:cubicBezTo>
                  <a:cubicBezTo>
                    <a:pt x="11750" y="1152"/>
                    <a:pt x="11711" y="1221"/>
                    <a:pt x="11673" y="1256"/>
                  </a:cubicBezTo>
                  <a:cubicBezTo>
                    <a:pt x="11634" y="1361"/>
                    <a:pt x="11556" y="1396"/>
                    <a:pt x="11440" y="1396"/>
                  </a:cubicBezTo>
                  <a:cubicBezTo>
                    <a:pt x="11324" y="1396"/>
                    <a:pt x="11207" y="1361"/>
                    <a:pt x="11091" y="1326"/>
                  </a:cubicBezTo>
                  <a:cubicBezTo>
                    <a:pt x="11013" y="1291"/>
                    <a:pt x="10936" y="1291"/>
                    <a:pt x="10819" y="1256"/>
                  </a:cubicBezTo>
                  <a:cubicBezTo>
                    <a:pt x="10781" y="1256"/>
                    <a:pt x="10742" y="1256"/>
                    <a:pt x="10664" y="1256"/>
                  </a:cubicBezTo>
                  <a:cubicBezTo>
                    <a:pt x="10548" y="1256"/>
                    <a:pt x="10548" y="1256"/>
                    <a:pt x="10548" y="1256"/>
                  </a:cubicBezTo>
                  <a:cubicBezTo>
                    <a:pt x="10509" y="1256"/>
                    <a:pt x="10432" y="1256"/>
                    <a:pt x="10393" y="1256"/>
                  </a:cubicBezTo>
                  <a:cubicBezTo>
                    <a:pt x="10238" y="1256"/>
                    <a:pt x="10160" y="1186"/>
                    <a:pt x="10044" y="1117"/>
                  </a:cubicBezTo>
                  <a:cubicBezTo>
                    <a:pt x="10005" y="1117"/>
                    <a:pt x="10005" y="1117"/>
                    <a:pt x="10005" y="1117"/>
                  </a:cubicBezTo>
                  <a:cubicBezTo>
                    <a:pt x="9927" y="1047"/>
                    <a:pt x="9811" y="1047"/>
                    <a:pt x="9734" y="1047"/>
                  </a:cubicBezTo>
                  <a:cubicBezTo>
                    <a:pt x="9656" y="1047"/>
                    <a:pt x="9656" y="1047"/>
                    <a:pt x="9656" y="1047"/>
                  </a:cubicBezTo>
                  <a:cubicBezTo>
                    <a:pt x="9617" y="1047"/>
                    <a:pt x="9578" y="1047"/>
                    <a:pt x="9540" y="1047"/>
                  </a:cubicBezTo>
                  <a:cubicBezTo>
                    <a:pt x="9423" y="1047"/>
                    <a:pt x="9385" y="977"/>
                    <a:pt x="9307" y="872"/>
                  </a:cubicBezTo>
                  <a:cubicBezTo>
                    <a:pt x="9307" y="837"/>
                    <a:pt x="9307" y="837"/>
                    <a:pt x="9268" y="803"/>
                  </a:cubicBezTo>
                  <a:cubicBezTo>
                    <a:pt x="9113" y="593"/>
                    <a:pt x="8880" y="454"/>
                    <a:pt x="8648" y="314"/>
                  </a:cubicBezTo>
                  <a:cubicBezTo>
                    <a:pt x="8531" y="279"/>
                    <a:pt x="8454" y="279"/>
                    <a:pt x="8376" y="279"/>
                  </a:cubicBezTo>
                  <a:cubicBezTo>
                    <a:pt x="8221" y="279"/>
                    <a:pt x="8027" y="349"/>
                    <a:pt x="7833" y="523"/>
                  </a:cubicBezTo>
                  <a:cubicBezTo>
                    <a:pt x="7756" y="628"/>
                    <a:pt x="7678" y="733"/>
                    <a:pt x="7601" y="837"/>
                  </a:cubicBezTo>
                  <a:cubicBezTo>
                    <a:pt x="7562" y="907"/>
                    <a:pt x="7562" y="907"/>
                    <a:pt x="7562" y="907"/>
                  </a:cubicBezTo>
                  <a:cubicBezTo>
                    <a:pt x="7523" y="942"/>
                    <a:pt x="7523" y="977"/>
                    <a:pt x="7484" y="1012"/>
                  </a:cubicBezTo>
                  <a:cubicBezTo>
                    <a:pt x="7407" y="1082"/>
                    <a:pt x="7368" y="1152"/>
                    <a:pt x="7329" y="1221"/>
                  </a:cubicBezTo>
                  <a:cubicBezTo>
                    <a:pt x="7290" y="1361"/>
                    <a:pt x="7290" y="1466"/>
                    <a:pt x="7290" y="1605"/>
                  </a:cubicBezTo>
                  <a:cubicBezTo>
                    <a:pt x="7290" y="1640"/>
                    <a:pt x="7290" y="1640"/>
                    <a:pt x="7290" y="1640"/>
                  </a:cubicBezTo>
                  <a:cubicBezTo>
                    <a:pt x="7290" y="1815"/>
                    <a:pt x="7252" y="1954"/>
                    <a:pt x="7213" y="2059"/>
                  </a:cubicBezTo>
                  <a:cubicBezTo>
                    <a:pt x="7213" y="2094"/>
                    <a:pt x="7213" y="2094"/>
                    <a:pt x="7213" y="2094"/>
                  </a:cubicBezTo>
                  <a:cubicBezTo>
                    <a:pt x="7213" y="2094"/>
                    <a:pt x="7213" y="2094"/>
                    <a:pt x="7213" y="2094"/>
                  </a:cubicBezTo>
                  <a:cubicBezTo>
                    <a:pt x="7368" y="2373"/>
                    <a:pt x="7174" y="2792"/>
                    <a:pt x="7058" y="3001"/>
                  </a:cubicBezTo>
                  <a:cubicBezTo>
                    <a:pt x="7019" y="3036"/>
                    <a:pt x="7019" y="3106"/>
                    <a:pt x="6980" y="3141"/>
                  </a:cubicBezTo>
                  <a:cubicBezTo>
                    <a:pt x="6864" y="3350"/>
                    <a:pt x="6748" y="3524"/>
                    <a:pt x="6748" y="3769"/>
                  </a:cubicBezTo>
                  <a:cubicBezTo>
                    <a:pt x="6748" y="4048"/>
                    <a:pt x="6670" y="4327"/>
                    <a:pt x="6592" y="4606"/>
                  </a:cubicBezTo>
                  <a:cubicBezTo>
                    <a:pt x="6554" y="4781"/>
                    <a:pt x="6515" y="4990"/>
                    <a:pt x="6476" y="5199"/>
                  </a:cubicBezTo>
                  <a:cubicBezTo>
                    <a:pt x="6476" y="5304"/>
                    <a:pt x="6437" y="5409"/>
                    <a:pt x="6399" y="5513"/>
                  </a:cubicBezTo>
                  <a:cubicBezTo>
                    <a:pt x="6360" y="5758"/>
                    <a:pt x="6321" y="5967"/>
                    <a:pt x="6321" y="6176"/>
                  </a:cubicBezTo>
                  <a:cubicBezTo>
                    <a:pt x="6321" y="6246"/>
                    <a:pt x="6321" y="6316"/>
                    <a:pt x="6360" y="6386"/>
                  </a:cubicBezTo>
                  <a:cubicBezTo>
                    <a:pt x="6399" y="6525"/>
                    <a:pt x="6437" y="6665"/>
                    <a:pt x="6360" y="6805"/>
                  </a:cubicBezTo>
                  <a:cubicBezTo>
                    <a:pt x="6282" y="6874"/>
                    <a:pt x="6205" y="6979"/>
                    <a:pt x="6088" y="7084"/>
                  </a:cubicBezTo>
                  <a:cubicBezTo>
                    <a:pt x="6050" y="7119"/>
                    <a:pt x="6011" y="7153"/>
                    <a:pt x="5972" y="7188"/>
                  </a:cubicBezTo>
                  <a:cubicBezTo>
                    <a:pt x="5856" y="7293"/>
                    <a:pt x="5778" y="7398"/>
                    <a:pt x="5662" y="7537"/>
                  </a:cubicBezTo>
                  <a:cubicBezTo>
                    <a:pt x="5623" y="7607"/>
                    <a:pt x="5545" y="7677"/>
                    <a:pt x="5507" y="7747"/>
                  </a:cubicBezTo>
                  <a:cubicBezTo>
                    <a:pt x="5429" y="7816"/>
                    <a:pt x="5352" y="7886"/>
                    <a:pt x="5274" y="7956"/>
                  </a:cubicBezTo>
                  <a:cubicBezTo>
                    <a:pt x="5119" y="8165"/>
                    <a:pt x="4964" y="8340"/>
                    <a:pt x="4770" y="8479"/>
                  </a:cubicBezTo>
                  <a:cubicBezTo>
                    <a:pt x="4731" y="8549"/>
                    <a:pt x="4654" y="8584"/>
                    <a:pt x="4615" y="8619"/>
                  </a:cubicBezTo>
                  <a:cubicBezTo>
                    <a:pt x="4576" y="8619"/>
                    <a:pt x="4576" y="8619"/>
                    <a:pt x="4576" y="8619"/>
                  </a:cubicBezTo>
                  <a:cubicBezTo>
                    <a:pt x="4576" y="8654"/>
                    <a:pt x="4576" y="8654"/>
                    <a:pt x="4576" y="8654"/>
                  </a:cubicBezTo>
                  <a:cubicBezTo>
                    <a:pt x="4537" y="8933"/>
                    <a:pt x="4576" y="9247"/>
                    <a:pt x="4576" y="9526"/>
                  </a:cubicBezTo>
                  <a:cubicBezTo>
                    <a:pt x="4576" y="9631"/>
                    <a:pt x="4576" y="9631"/>
                    <a:pt x="4576" y="9631"/>
                  </a:cubicBezTo>
                  <a:cubicBezTo>
                    <a:pt x="4615" y="9945"/>
                    <a:pt x="4576" y="10050"/>
                    <a:pt x="4460" y="10294"/>
                  </a:cubicBezTo>
                  <a:cubicBezTo>
                    <a:pt x="4421" y="10329"/>
                    <a:pt x="4421" y="10399"/>
                    <a:pt x="4382" y="10468"/>
                  </a:cubicBezTo>
                  <a:cubicBezTo>
                    <a:pt x="4382" y="10538"/>
                    <a:pt x="4343" y="10608"/>
                    <a:pt x="4343" y="10643"/>
                  </a:cubicBezTo>
                  <a:cubicBezTo>
                    <a:pt x="4266" y="10678"/>
                    <a:pt x="4227" y="10713"/>
                    <a:pt x="4149" y="10713"/>
                  </a:cubicBezTo>
                  <a:cubicBezTo>
                    <a:pt x="4111" y="10713"/>
                    <a:pt x="4033" y="10748"/>
                    <a:pt x="3994" y="10748"/>
                  </a:cubicBezTo>
                  <a:cubicBezTo>
                    <a:pt x="3994" y="10783"/>
                    <a:pt x="3994" y="10783"/>
                    <a:pt x="3994" y="10783"/>
                  </a:cubicBezTo>
                  <a:cubicBezTo>
                    <a:pt x="3955" y="10783"/>
                    <a:pt x="3955" y="10783"/>
                    <a:pt x="3955" y="10783"/>
                  </a:cubicBezTo>
                  <a:cubicBezTo>
                    <a:pt x="3955" y="10887"/>
                    <a:pt x="3800" y="10957"/>
                    <a:pt x="3684" y="11027"/>
                  </a:cubicBezTo>
                  <a:cubicBezTo>
                    <a:pt x="3606" y="11062"/>
                    <a:pt x="3568" y="11132"/>
                    <a:pt x="3529" y="11166"/>
                  </a:cubicBezTo>
                  <a:cubicBezTo>
                    <a:pt x="3374" y="11271"/>
                    <a:pt x="3257" y="11411"/>
                    <a:pt x="3102" y="11550"/>
                  </a:cubicBezTo>
                  <a:cubicBezTo>
                    <a:pt x="3064" y="11585"/>
                    <a:pt x="3064" y="11585"/>
                    <a:pt x="3025" y="11620"/>
                  </a:cubicBezTo>
                  <a:cubicBezTo>
                    <a:pt x="2947" y="11725"/>
                    <a:pt x="2870" y="11829"/>
                    <a:pt x="2753" y="11829"/>
                  </a:cubicBezTo>
                  <a:cubicBezTo>
                    <a:pt x="2753" y="11829"/>
                    <a:pt x="2753" y="11829"/>
                    <a:pt x="2753" y="11829"/>
                  </a:cubicBezTo>
                  <a:cubicBezTo>
                    <a:pt x="2715" y="11829"/>
                    <a:pt x="2676" y="11795"/>
                    <a:pt x="2637" y="11725"/>
                  </a:cubicBezTo>
                  <a:cubicBezTo>
                    <a:pt x="2598" y="11655"/>
                    <a:pt x="2598" y="11550"/>
                    <a:pt x="2637" y="11480"/>
                  </a:cubicBezTo>
                  <a:cubicBezTo>
                    <a:pt x="2637" y="11341"/>
                    <a:pt x="2637" y="11236"/>
                    <a:pt x="2559" y="11166"/>
                  </a:cubicBezTo>
                  <a:cubicBezTo>
                    <a:pt x="2521" y="11132"/>
                    <a:pt x="2521" y="11132"/>
                    <a:pt x="2521" y="11132"/>
                  </a:cubicBezTo>
                  <a:cubicBezTo>
                    <a:pt x="2482" y="11132"/>
                    <a:pt x="2482" y="11132"/>
                    <a:pt x="2482" y="11132"/>
                  </a:cubicBezTo>
                  <a:cubicBezTo>
                    <a:pt x="2404" y="11166"/>
                    <a:pt x="2366" y="11166"/>
                    <a:pt x="2327" y="11201"/>
                  </a:cubicBezTo>
                  <a:cubicBezTo>
                    <a:pt x="2249" y="11236"/>
                    <a:pt x="2210" y="11271"/>
                    <a:pt x="2133" y="11271"/>
                  </a:cubicBezTo>
                  <a:cubicBezTo>
                    <a:pt x="2094" y="11271"/>
                    <a:pt x="2094" y="11271"/>
                    <a:pt x="2055" y="11271"/>
                  </a:cubicBezTo>
                  <a:cubicBezTo>
                    <a:pt x="2055" y="11271"/>
                    <a:pt x="2017" y="11271"/>
                    <a:pt x="2017" y="11271"/>
                  </a:cubicBezTo>
                  <a:cubicBezTo>
                    <a:pt x="1978" y="11271"/>
                    <a:pt x="1978" y="11271"/>
                    <a:pt x="1939" y="11271"/>
                  </a:cubicBezTo>
                  <a:cubicBezTo>
                    <a:pt x="1861" y="11271"/>
                    <a:pt x="1823" y="11341"/>
                    <a:pt x="1823" y="11376"/>
                  </a:cubicBezTo>
                  <a:cubicBezTo>
                    <a:pt x="1784" y="11446"/>
                    <a:pt x="1784" y="11515"/>
                    <a:pt x="1784" y="11550"/>
                  </a:cubicBezTo>
                  <a:cubicBezTo>
                    <a:pt x="1784" y="11620"/>
                    <a:pt x="1784" y="11690"/>
                    <a:pt x="1551" y="11690"/>
                  </a:cubicBezTo>
                  <a:cubicBezTo>
                    <a:pt x="1435" y="11690"/>
                    <a:pt x="1396" y="11655"/>
                    <a:pt x="1318" y="11620"/>
                  </a:cubicBezTo>
                  <a:cubicBezTo>
                    <a:pt x="1318" y="11585"/>
                    <a:pt x="1280" y="11550"/>
                    <a:pt x="1202" y="11550"/>
                  </a:cubicBezTo>
                  <a:cubicBezTo>
                    <a:pt x="1202" y="11550"/>
                    <a:pt x="1202" y="11515"/>
                    <a:pt x="1202" y="11515"/>
                  </a:cubicBezTo>
                  <a:cubicBezTo>
                    <a:pt x="1163" y="11411"/>
                    <a:pt x="1163" y="11411"/>
                    <a:pt x="1163" y="11411"/>
                  </a:cubicBezTo>
                  <a:cubicBezTo>
                    <a:pt x="1086" y="11480"/>
                    <a:pt x="1086" y="11480"/>
                    <a:pt x="1086" y="11480"/>
                  </a:cubicBezTo>
                  <a:cubicBezTo>
                    <a:pt x="1047" y="11515"/>
                    <a:pt x="1008" y="11515"/>
                    <a:pt x="1008" y="11515"/>
                  </a:cubicBezTo>
                  <a:cubicBezTo>
                    <a:pt x="969" y="11515"/>
                    <a:pt x="931" y="11515"/>
                    <a:pt x="892" y="11515"/>
                  </a:cubicBezTo>
                  <a:cubicBezTo>
                    <a:pt x="814" y="11550"/>
                    <a:pt x="814" y="11620"/>
                    <a:pt x="776" y="11655"/>
                  </a:cubicBezTo>
                  <a:cubicBezTo>
                    <a:pt x="776" y="11690"/>
                    <a:pt x="776" y="11690"/>
                    <a:pt x="737" y="11725"/>
                  </a:cubicBezTo>
                  <a:cubicBezTo>
                    <a:pt x="737" y="11760"/>
                    <a:pt x="698" y="11795"/>
                    <a:pt x="620" y="11829"/>
                  </a:cubicBezTo>
                  <a:cubicBezTo>
                    <a:pt x="582" y="11864"/>
                    <a:pt x="543" y="11899"/>
                    <a:pt x="504" y="11934"/>
                  </a:cubicBezTo>
                  <a:cubicBezTo>
                    <a:pt x="504" y="11969"/>
                    <a:pt x="504" y="12004"/>
                    <a:pt x="504" y="12039"/>
                  </a:cubicBezTo>
                  <a:cubicBezTo>
                    <a:pt x="504" y="12074"/>
                    <a:pt x="504" y="12074"/>
                    <a:pt x="504" y="12109"/>
                  </a:cubicBezTo>
                  <a:cubicBezTo>
                    <a:pt x="504" y="12248"/>
                    <a:pt x="504" y="12388"/>
                    <a:pt x="504" y="12492"/>
                  </a:cubicBezTo>
                  <a:cubicBezTo>
                    <a:pt x="504" y="12527"/>
                    <a:pt x="504" y="12527"/>
                    <a:pt x="504" y="12527"/>
                  </a:cubicBezTo>
                  <a:cubicBezTo>
                    <a:pt x="504" y="12597"/>
                    <a:pt x="543" y="12667"/>
                    <a:pt x="543" y="12737"/>
                  </a:cubicBezTo>
                  <a:cubicBezTo>
                    <a:pt x="0" y="12737"/>
                    <a:pt x="0" y="12737"/>
                    <a:pt x="0" y="12737"/>
                  </a:cubicBezTo>
                  <a:cubicBezTo>
                    <a:pt x="78" y="12841"/>
                    <a:pt x="78" y="12841"/>
                    <a:pt x="78" y="12841"/>
                  </a:cubicBezTo>
                  <a:cubicBezTo>
                    <a:pt x="78" y="12876"/>
                    <a:pt x="78" y="12876"/>
                    <a:pt x="116" y="12876"/>
                  </a:cubicBezTo>
                  <a:cubicBezTo>
                    <a:pt x="116" y="12911"/>
                    <a:pt x="155" y="12946"/>
                    <a:pt x="194" y="12981"/>
                  </a:cubicBezTo>
                  <a:cubicBezTo>
                    <a:pt x="194" y="12981"/>
                    <a:pt x="233" y="13016"/>
                    <a:pt x="233" y="13051"/>
                  </a:cubicBezTo>
                  <a:cubicBezTo>
                    <a:pt x="233" y="13121"/>
                    <a:pt x="233" y="13121"/>
                    <a:pt x="233" y="13121"/>
                  </a:cubicBezTo>
                  <a:cubicBezTo>
                    <a:pt x="310" y="13121"/>
                    <a:pt x="310" y="13121"/>
                    <a:pt x="310" y="13121"/>
                  </a:cubicBezTo>
                  <a:cubicBezTo>
                    <a:pt x="349" y="13121"/>
                    <a:pt x="349" y="13121"/>
                    <a:pt x="349" y="13121"/>
                  </a:cubicBezTo>
                  <a:cubicBezTo>
                    <a:pt x="388" y="13121"/>
                    <a:pt x="427" y="13121"/>
                    <a:pt x="427" y="13121"/>
                  </a:cubicBezTo>
                  <a:cubicBezTo>
                    <a:pt x="465" y="13121"/>
                    <a:pt x="465" y="13086"/>
                    <a:pt x="504" y="13086"/>
                  </a:cubicBezTo>
                  <a:cubicBezTo>
                    <a:pt x="504" y="13086"/>
                    <a:pt x="504" y="13051"/>
                    <a:pt x="543" y="13051"/>
                  </a:cubicBezTo>
                  <a:cubicBezTo>
                    <a:pt x="543" y="13051"/>
                    <a:pt x="582" y="13051"/>
                    <a:pt x="582" y="13051"/>
                  </a:cubicBezTo>
                  <a:cubicBezTo>
                    <a:pt x="582" y="13051"/>
                    <a:pt x="620" y="13051"/>
                    <a:pt x="620" y="13051"/>
                  </a:cubicBezTo>
                  <a:cubicBezTo>
                    <a:pt x="620" y="13051"/>
                    <a:pt x="659" y="13051"/>
                    <a:pt x="698" y="13051"/>
                  </a:cubicBezTo>
                  <a:cubicBezTo>
                    <a:pt x="776" y="13051"/>
                    <a:pt x="814" y="13016"/>
                    <a:pt x="853" y="13016"/>
                  </a:cubicBezTo>
                  <a:cubicBezTo>
                    <a:pt x="892" y="12981"/>
                    <a:pt x="892" y="12981"/>
                    <a:pt x="931" y="12946"/>
                  </a:cubicBezTo>
                  <a:cubicBezTo>
                    <a:pt x="1047" y="12911"/>
                    <a:pt x="1163" y="12911"/>
                    <a:pt x="1241" y="12911"/>
                  </a:cubicBezTo>
                  <a:cubicBezTo>
                    <a:pt x="1241" y="12911"/>
                    <a:pt x="2133" y="12911"/>
                    <a:pt x="2133" y="12911"/>
                  </a:cubicBezTo>
                  <a:cubicBezTo>
                    <a:pt x="2249" y="12911"/>
                    <a:pt x="2366" y="12911"/>
                    <a:pt x="2482" y="12911"/>
                  </a:cubicBezTo>
                  <a:cubicBezTo>
                    <a:pt x="2870" y="12911"/>
                    <a:pt x="2870" y="12911"/>
                    <a:pt x="2870" y="12911"/>
                  </a:cubicBezTo>
                  <a:cubicBezTo>
                    <a:pt x="3180" y="12911"/>
                    <a:pt x="3529" y="12911"/>
                    <a:pt x="3839" y="12911"/>
                  </a:cubicBezTo>
                  <a:cubicBezTo>
                    <a:pt x="4033" y="12911"/>
                    <a:pt x="4266" y="12911"/>
                    <a:pt x="4460" y="12911"/>
                  </a:cubicBezTo>
                  <a:cubicBezTo>
                    <a:pt x="4498" y="12911"/>
                    <a:pt x="4537" y="12911"/>
                    <a:pt x="4576" y="12911"/>
                  </a:cubicBezTo>
                  <a:cubicBezTo>
                    <a:pt x="4654" y="12911"/>
                    <a:pt x="4692" y="12911"/>
                    <a:pt x="4770" y="12911"/>
                  </a:cubicBezTo>
                  <a:cubicBezTo>
                    <a:pt x="4770" y="12911"/>
                    <a:pt x="4809" y="12911"/>
                    <a:pt x="4809" y="12911"/>
                  </a:cubicBezTo>
                  <a:cubicBezTo>
                    <a:pt x="4847" y="12911"/>
                    <a:pt x="4847" y="12911"/>
                    <a:pt x="4847" y="12911"/>
                  </a:cubicBezTo>
                  <a:cubicBezTo>
                    <a:pt x="5003" y="12911"/>
                    <a:pt x="5041" y="12946"/>
                    <a:pt x="5041" y="13121"/>
                  </a:cubicBezTo>
                  <a:cubicBezTo>
                    <a:pt x="5080" y="13155"/>
                    <a:pt x="5080" y="13155"/>
                    <a:pt x="5080" y="13155"/>
                  </a:cubicBezTo>
                  <a:cubicBezTo>
                    <a:pt x="5119" y="13155"/>
                    <a:pt x="5119" y="13155"/>
                    <a:pt x="5119" y="13155"/>
                  </a:cubicBezTo>
                  <a:cubicBezTo>
                    <a:pt x="5119" y="13190"/>
                    <a:pt x="5119" y="13190"/>
                    <a:pt x="5119" y="13190"/>
                  </a:cubicBezTo>
                  <a:cubicBezTo>
                    <a:pt x="5158" y="13190"/>
                    <a:pt x="5158" y="13190"/>
                    <a:pt x="5158" y="13190"/>
                  </a:cubicBezTo>
                  <a:cubicBezTo>
                    <a:pt x="5158" y="13225"/>
                    <a:pt x="5158" y="13295"/>
                    <a:pt x="5158" y="13330"/>
                  </a:cubicBezTo>
                  <a:cubicBezTo>
                    <a:pt x="5158" y="13365"/>
                    <a:pt x="5158" y="13365"/>
                    <a:pt x="5158" y="13365"/>
                  </a:cubicBezTo>
                  <a:cubicBezTo>
                    <a:pt x="5158" y="13400"/>
                    <a:pt x="5158" y="13469"/>
                    <a:pt x="5196" y="13539"/>
                  </a:cubicBezTo>
                  <a:cubicBezTo>
                    <a:pt x="5196" y="13574"/>
                    <a:pt x="5196" y="13574"/>
                    <a:pt x="5158" y="13609"/>
                  </a:cubicBezTo>
                  <a:cubicBezTo>
                    <a:pt x="5158" y="13644"/>
                    <a:pt x="5158" y="13679"/>
                    <a:pt x="5158" y="13714"/>
                  </a:cubicBezTo>
                  <a:cubicBezTo>
                    <a:pt x="5196" y="13749"/>
                    <a:pt x="5196" y="13784"/>
                    <a:pt x="5235" y="13818"/>
                  </a:cubicBezTo>
                  <a:cubicBezTo>
                    <a:pt x="5235" y="13818"/>
                    <a:pt x="5235" y="13853"/>
                    <a:pt x="5274" y="13853"/>
                  </a:cubicBezTo>
                  <a:cubicBezTo>
                    <a:pt x="5274" y="13888"/>
                    <a:pt x="5274" y="13923"/>
                    <a:pt x="5313" y="13958"/>
                  </a:cubicBezTo>
                  <a:cubicBezTo>
                    <a:pt x="5352" y="14063"/>
                    <a:pt x="5429" y="14167"/>
                    <a:pt x="5429" y="14272"/>
                  </a:cubicBezTo>
                  <a:cubicBezTo>
                    <a:pt x="5468" y="14307"/>
                    <a:pt x="5468" y="14342"/>
                    <a:pt x="5429" y="14377"/>
                  </a:cubicBezTo>
                  <a:cubicBezTo>
                    <a:pt x="5429" y="14412"/>
                    <a:pt x="5429" y="14447"/>
                    <a:pt x="5468" y="14516"/>
                  </a:cubicBezTo>
                  <a:cubicBezTo>
                    <a:pt x="5507" y="14551"/>
                    <a:pt x="5545" y="14586"/>
                    <a:pt x="5584" y="14656"/>
                  </a:cubicBezTo>
                  <a:cubicBezTo>
                    <a:pt x="5623" y="14656"/>
                    <a:pt x="5623" y="14691"/>
                    <a:pt x="5662" y="14691"/>
                  </a:cubicBezTo>
                  <a:cubicBezTo>
                    <a:pt x="5701" y="14761"/>
                    <a:pt x="5739" y="14830"/>
                    <a:pt x="5778" y="14865"/>
                  </a:cubicBezTo>
                  <a:cubicBezTo>
                    <a:pt x="5817" y="14900"/>
                    <a:pt x="5817" y="14935"/>
                    <a:pt x="5856" y="14970"/>
                  </a:cubicBezTo>
                  <a:cubicBezTo>
                    <a:pt x="5894" y="15005"/>
                    <a:pt x="5933" y="15075"/>
                    <a:pt x="5972" y="15110"/>
                  </a:cubicBezTo>
                  <a:cubicBezTo>
                    <a:pt x="6011" y="15214"/>
                    <a:pt x="6088" y="15284"/>
                    <a:pt x="6166" y="15389"/>
                  </a:cubicBezTo>
                  <a:cubicBezTo>
                    <a:pt x="6205" y="15424"/>
                    <a:pt x="6243" y="15458"/>
                    <a:pt x="6282" y="15458"/>
                  </a:cubicBezTo>
                  <a:cubicBezTo>
                    <a:pt x="6321" y="15458"/>
                    <a:pt x="6360" y="15424"/>
                    <a:pt x="6399" y="15424"/>
                  </a:cubicBezTo>
                  <a:cubicBezTo>
                    <a:pt x="6437" y="15424"/>
                    <a:pt x="6476" y="15424"/>
                    <a:pt x="6515" y="15424"/>
                  </a:cubicBezTo>
                  <a:cubicBezTo>
                    <a:pt x="6554" y="15424"/>
                    <a:pt x="6554" y="15424"/>
                    <a:pt x="6592" y="15424"/>
                  </a:cubicBezTo>
                  <a:cubicBezTo>
                    <a:pt x="6631" y="15424"/>
                    <a:pt x="6631" y="15458"/>
                    <a:pt x="6670" y="15458"/>
                  </a:cubicBezTo>
                  <a:cubicBezTo>
                    <a:pt x="6709" y="15493"/>
                    <a:pt x="6709" y="15493"/>
                    <a:pt x="6709" y="15493"/>
                  </a:cubicBezTo>
                  <a:cubicBezTo>
                    <a:pt x="6748" y="15458"/>
                    <a:pt x="6748" y="15458"/>
                    <a:pt x="6748" y="15458"/>
                  </a:cubicBezTo>
                  <a:cubicBezTo>
                    <a:pt x="6786" y="15458"/>
                    <a:pt x="6786" y="15424"/>
                    <a:pt x="6786" y="15424"/>
                  </a:cubicBezTo>
                  <a:cubicBezTo>
                    <a:pt x="6825" y="15389"/>
                    <a:pt x="6825" y="15389"/>
                    <a:pt x="6903" y="15354"/>
                  </a:cubicBezTo>
                  <a:cubicBezTo>
                    <a:pt x="6903" y="15354"/>
                    <a:pt x="6941" y="15354"/>
                    <a:pt x="6941" y="15354"/>
                  </a:cubicBezTo>
                  <a:cubicBezTo>
                    <a:pt x="6980" y="15354"/>
                    <a:pt x="7019" y="15354"/>
                    <a:pt x="7058" y="15389"/>
                  </a:cubicBezTo>
                  <a:cubicBezTo>
                    <a:pt x="7058" y="15389"/>
                    <a:pt x="7097" y="15389"/>
                    <a:pt x="7135" y="15389"/>
                  </a:cubicBezTo>
                  <a:cubicBezTo>
                    <a:pt x="7135" y="15389"/>
                    <a:pt x="7174" y="15389"/>
                    <a:pt x="7174" y="15389"/>
                  </a:cubicBezTo>
                  <a:cubicBezTo>
                    <a:pt x="7174" y="15389"/>
                    <a:pt x="7174" y="15389"/>
                    <a:pt x="7174" y="15389"/>
                  </a:cubicBezTo>
                  <a:cubicBezTo>
                    <a:pt x="7213" y="15389"/>
                    <a:pt x="7213" y="15389"/>
                    <a:pt x="7213" y="15389"/>
                  </a:cubicBezTo>
                  <a:cubicBezTo>
                    <a:pt x="7252" y="15354"/>
                    <a:pt x="7252" y="15354"/>
                    <a:pt x="7252" y="15354"/>
                  </a:cubicBezTo>
                  <a:cubicBezTo>
                    <a:pt x="7252" y="15354"/>
                    <a:pt x="7252" y="15354"/>
                    <a:pt x="7290" y="15319"/>
                  </a:cubicBezTo>
                  <a:cubicBezTo>
                    <a:pt x="7290" y="15319"/>
                    <a:pt x="7368" y="15284"/>
                    <a:pt x="7446" y="15284"/>
                  </a:cubicBezTo>
                  <a:cubicBezTo>
                    <a:pt x="7446" y="15284"/>
                    <a:pt x="7446" y="15284"/>
                    <a:pt x="7446" y="15284"/>
                  </a:cubicBezTo>
                  <a:cubicBezTo>
                    <a:pt x="7484" y="15284"/>
                    <a:pt x="7523" y="15284"/>
                    <a:pt x="7523" y="15319"/>
                  </a:cubicBezTo>
                  <a:cubicBezTo>
                    <a:pt x="7523" y="15354"/>
                    <a:pt x="7523" y="15354"/>
                    <a:pt x="7562" y="15389"/>
                  </a:cubicBezTo>
                  <a:cubicBezTo>
                    <a:pt x="7601" y="15389"/>
                    <a:pt x="7678" y="15389"/>
                    <a:pt x="7756" y="15389"/>
                  </a:cubicBezTo>
                  <a:cubicBezTo>
                    <a:pt x="7833" y="15389"/>
                    <a:pt x="7989" y="15389"/>
                    <a:pt x="8066" y="15389"/>
                  </a:cubicBezTo>
                  <a:cubicBezTo>
                    <a:pt x="8105" y="15354"/>
                    <a:pt x="8105" y="15354"/>
                    <a:pt x="8105" y="15354"/>
                  </a:cubicBezTo>
                  <a:cubicBezTo>
                    <a:pt x="8182" y="15354"/>
                    <a:pt x="8182" y="15354"/>
                    <a:pt x="8182" y="15354"/>
                  </a:cubicBezTo>
                  <a:cubicBezTo>
                    <a:pt x="8182" y="15284"/>
                    <a:pt x="8182" y="15284"/>
                    <a:pt x="8182" y="15284"/>
                  </a:cubicBezTo>
                  <a:cubicBezTo>
                    <a:pt x="8182" y="15284"/>
                    <a:pt x="8182" y="15249"/>
                    <a:pt x="8182" y="15214"/>
                  </a:cubicBezTo>
                  <a:cubicBezTo>
                    <a:pt x="8182" y="15144"/>
                    <a:pt x="8182" y="15040"/>
                    <a:pt x="8182" y="14970"/>
                  </a:cubicBezTo>
                  <a:cubicBezTo>
                    <a:pt x="8221" y="14935"/>
                    <a:pt x="8221" y="14900"/>
                    <a:pt x="8260" y="14865"/>
                  </a:cubicBezTo>
                  <a:cubicBezTo>
                    <a:pt x="8299" y="14795"/>
                    <a:pt x="8338" y="14761"/>
                    <a:pt x="8338" y="14691"/>
                  </a:cubicBezTo>
                  <a:cubicBezTo>
                    <a:pt x="8338" y="14656"/>
                    <a:pt x="8338" y="14621"/>
                    <a:pt x="8338" y="14551"/>
                  </a:cubicBezTo>
                  <a:cubicBezTo>
                    <a:pt x="8338" y="14447"/>
                    <a:pt x="8299" y="14307"/>
                    <a:pt x="8376" y="14237"/>
                  </a:cubicBezTo>
                  <a:cubicBezTo>
                    <a:pt x="8376" y="14237"/>
                    <a:pt x="8454" y="14202"/>
                    <a:pt x="8803" y="14202"/>
                  </a:cubicBezTo>
                  <a:cubicBezTo>
                    <a:pt x="8842" y="14202"/>
                    <a:pt x="9036" y="14202"/>
                    <a:pt x="9074" y="14202"/>
                  </a:cubicBezTo>
                  <a:cubicBezTo>
                    <a:pt x="9113" y="14202"/>
                    <a:pt x="9152" y="14202"/>
                    <a:pt x="9191" y="14202"/>
                  </a:cubicBezTo>
                  <a:cubicBezTo>
                    <a:pt x="9268" y="14202"/>
                    <a:pt x="9268" y="14202"/>
                    <a:pt x="9268" y="14202"/>
                  </a:cubicBezTo>
                  <a:cubicBezTo>
                    <a:pt x="9268" y="14132"/>
                    <a:pt x="9268" y="14132"/>
                    <a:pt x="9268" y="14132"/>
                  </a:cubicBezTo>
                  <a:cubicBezTo>
                    <a:pt x="9268" y="14098"/>
                    <a:pt x="9268" y="14098"/>
                    <a:pt x="9268" y="14098"/>
                  </a:cubicBezTo>
                  <a:cubicBezTo>
                    <a:pt x="9307" y="14098"/>
                    <a:pt x="9346" y="14098"/>
                    <a:pt x="9385" y="14098"/>
                  </a:cubicBezTo>
                  <a:cubicBezTo>
                    <a:pt x="9423" y="14098"/>
                    <a:pt x="9462" y="14098"/>
                    <a:pt x="9501" y="14098"/>
                  </a:cubicBezTo>
                  <a:cubicBezTo>
                    <a:pt x="9540" y="14098"/>
                    <a:pt x="9540" y="14098"/>
                    <a:pt x="9578" y="14098"/>
                  </a:cubicBezTo>
                  <a:cubicBezTo>
                    <a:pt x="9578" y="14202"/>
                    <a:pt x="9540" y="14237"/>
                    <a:pt x="9501" y="14307"/>
                  </a:cubicBezTo>
                  <a:cubicBezTo>
                    <a:pt x="9501" y="14377"/>
                    <a:pt x="9501" y="14447"/>
                    <a:pt x="9462" y="14481"/>
                  </a:cubicBezTo>
                  <a:cubicBezTo>
                    <a:pt x="9462" y="14551"/>
                    <a:pt x="9462" y="14551"/>
                    <a:pt x="9462" y="14551"/>
                  </a:cubicBezTo>
                  <a:cubicBezTo>
                    <a:pt x="9462" y="14551"/>
                    <a:pt x="10044" y="14551"/>
                    <a:pt x="10083" y="14551"/>
                  </a:cubicBezTo>
                  <a:cubicBezTo>
                    <a:pt x="10160" y="14551"/>
                    <a:pt x="10160" y="14551"/>
                    <a:pt x="10160" y="14551"/>
                  </a:cubicBezTo>
                  <a:cubicBezTo>
                    <a:pt x="10238" y="14551"/>
                    <a:pt x="10276" y="14551"/>
                    <a:pt x="10354" y="14551"/>
                  </a:cubicBezTo>
                  <a:cubicBezTo>
                    <a:pt x="10432" y="14516"/>
                    <a:pt x="10509" y="14516"/>
                    <a:pt x="10587" y="14516"/>
                  </a:cubicBezTo>
                  <a:cubicBezTo>
                    <a:pt x="10858" y="14516"/>
                    <a:pt x="10936" y="14586"/>
                    <a:pt x="10936" y="14656"/>
                  </a:cubicBezTo>
                  <a:cubicBezTo>
                    <a:pt x="10975" y="14795"/>
                    <a:pt x="10936" y="14900"/>
                    <a:pt x="10897" y="15040"/>
                  </a:cubicBezTo>
                  <a:cubicBezTo>
                    <a:pt x="10897" y="15144"/>
                    <a:pt x="10858" y="15249"/>
                    <a:pt x="10858" y="15389"/>
                  </a:cubicBezTo>
                  <a:cubicBezTo>
                    <a:pt x="10897" y="15458"/>
                    <a:pt x="10897" y="15528"/>
                    <a:pt x="10936" y="15598"/>
                  </a:cubicBezTo>
                  <a:cubicBezTo>
                    <a:pt x="10975" y="15773"/>
                    <a:pt x="11052" y="15947"/>
                    <a:pt x="10975" y="16191"/>
                  </a:cubicBezTo>
                  <a:cubicBezTo>
                    <a:pt x="10936" y="16296"/>
                    <a:pt x="10936" y="16436"/>
                    <a:pt x="10936" y="16540"/>
                  </a:cubicBezTo>
                  <a:cubicBezTo>
                    <a:pt x="10936" y="16645"/>
                    <a:pt x="10936" y="16645"/>
                    <a:pt x="10936" y="16645"/>
                  </a:cubicBezTo>
                  <a:cubicBezTo>
                    <a:pt x="10936" y="16715"/>
                    <a:pt x="10897" y="16750"/>
                    <a:pt x="10897" y="16819"/>
                  </a:cubicBezTo>
                  <a:cubicBezTo>
                    <a:pt x="10897" y="16889"/>
                    <a:pt x="10858" y="16959"/>
                    <a:pt x="10897" y="17064"/>
                  </a:cubicBezTo>
                  <a:cubicBezTo>
                    <a:pt x="10897" y="17203"/>
                    <a:pt x="11013" y="17343"/>
                    <a:pt x="11091" y="17447"/>
                  </a:cubicBezTo>
                  <a:cubicBezTo>
                    <a:pt x="11168" y="17517"/>
                    <a:pt x="11246" y="17587"/>
                    <a:pt x="11285" y="17692"/>
                  </a:cubicBezTo>
                  <a:cubicBezTo>
                    <a:pt x="11324" y="17727"/>
                    <a:pt x="11324" y="17762"/>
                    <a:pt x="11362" y="17796"/>
                  </a:cubicBezTo>
                  <a:cubicBezTo>
                    <a:pt x="11401" y="17901"/>
                    <a:pt x="11440" y="18006"/>
                    <a:pt x="11440" y="18110"/>
                  </a:cubicBezTo>
                  <a:cubicBezTo>
                    <a:pt x="11440" y="18180"/>
                    <a:pt x="11440" y="18285"/>
                    <a:pt x="11440" y="18390"/>
                  </a:cubicBezTo>
                  <a:cubicBezTo>
                    <a:pt x="11440" y="18459"/>
                    <a:pt x="11440" y="18529"/>
                    <a:pt x="11440" y="18599"/>
                  </a:cubicBezTo>
                  <a:cubicBezTo>
                    <a:pt x="11401" y="18599"/>
                    <a:pt x="11401" y="18599"/>
                    <a:pt x="11401" y="18599"/>
                  </a:cubicBezTo>
                  <a:cubicBezTo>
                    <a:pt x="11401" y="18599"/>
                    <a:pt x="11401" y="18599"/>
                    <a:pt x="11401" y="18599"/>
                  </a:cubicBezTo>
                  <a:cubicBezTo>
                    <a:pt x="11401" y="18599"/>
                    <a:pt x="11362" y="18634"/>
                    <a:pt x="11324" y="18669"/>
                  </a:cubicBezTo>
                  <a:cubicBezTo>
                    <a:pt x="11285" y="18669"/>
                    <a:pt x="11285" y="18669"/>
                    <a:pt x="11285" y="18669"/>
                  </a:cubicBezTo>
                  <a:cubicBezTo>
                    <a:pt x="11285" y="18704"/>
                    <a:pt x="11285" y="18704"/>
                    <a:pt x="11285" y="18704"/>
                  </a:cubicBezTo>
                  <a:cubicBezTo>
                    <a:pt x="11324" y="18739"/>
                    <a:pt x="11324" y="18739"/>
                    <a:pt x="11362" y="18808"/>
                  </a:cubicBezTo>
                  <a:cubicBezTo>
                    <a:pt x="11362" y="18843"/>
                    <a:pt x="11401" y="18843"/>
                    <a:pt x="11401" y="18878"/>
                  </a:cubicBezTo>
                  <a:cubicBezTo>
                    <a:pt x="11401" y="18913"/>
                    <a:pt x="11401" y="18948"/>
                    <a:pt x="11362" y="18983"/>
                  </a:cubicBezTo>
                  <a:cubicBezTo>
                    <a:pt x="11285" y="19192"/>
                    <a:pt x="11285" y="19192"/>
                    <a:pt x="11285" y="19192"/>
                  </a:cubicBezTo>
                  <a:cubicBezTo>
                    <a:pt x="11479" y="19053"/>
                    <a:pt x="11479" y="19053"/>
                    <a:pt x="11479" y="19053"/>
                  </a:cubicBezTo>
                  <a:cubicBezTo>
                    <a:pt x="11556" y="18983"/>
                    <a:pt x="11711" y="18913"/>
                    <a:pt x="11789" y="18913"/>
                  </a:cubicBezTo>
                  <a:cubicBezTo>
                    <a:pt x="11828" y="18913"/>
                    <a:pt x="11828" y="18913"/>
                    <a:pt x="11828" y="18913"/>
                  </a:cubicBezTo>
                  <a:cubicBezTo>
                    <a:pt x="11828" y="18913"/>
                    <a:pt x="11866" y="18948"/>
                    <a:pt x="11866" y="18948"/>
                  </a:cubicBezTo>
                  <a:cubicBezTo>
                    <a:pt x="11866" y="18948"/>
                    <a:pt x="11905" y="18983"/>
                    <a:pt x="11905" y="18983"/>
                  </a:cubicBezTo>
                  <a:cubicBezTo>
                    <a:pt x="12138" y="19088"/>
                    <a:pt x="12138" y="19088"/>
                    <a:pt x="12138" y="19088"/>
                  </a:cubicBezTo>
                  <a:cubicBezTo>
                    <a:pt x="12022" y="18913"/>
                    <a:pt x="12022" y="18913"/>
                    <a:pt x="12022" y="18913"/>
                  </a:cubicBezTo>
                  <a:cubicBezTo>
                    <a:pt x="12060" y="18913"/>
                    <a:pt x="12060" y="18913"/>
                    <a:pt x="12060" y="18878"/>
                  </a:cubicBezTo>
                  <a:cubicBezTo>
                    <a:pt x="12099" y="18878"/>
                    <a:pt x="12099" y="18878"/>
                    <a:pt x="12099" y="18878"/>
                  </a:cubicBezTo>
                  <a:cubicBezTo>
                    <a:pt x="12138" y="18878"/>
                    <a:pt x="12138" y="18878"/>
                    <a:pt x="12138" y="18913"/>
                  </a:cubicBezTo>
                  <a:cubicBezTo>
                    <a:pt x="12177" y="18948"/>
                    <a:pt x="12177" y="18948"/>
                    <a:pt x="12215" y="18983"/>
                  </a:cubicBezTo>
                  <a:cubicBezTo>
                    <a:pt x="12215" y="18983"/>
                    <a:pt x="12254" y="19018"/>
                    <a:pt x="12293" y="19018"/>
                  </a:cubicBezTo>
                  <a:cubicBezTo>
                    <a:pt x="12332" y="19018"/>
                    <a:pt x="12409" y="18983"/>
                    <a:pt x="12487" y="18948"/>
                  </a:cubicBezTo>
                  <a:cubicBezTo>
                    <a:pt x="12526" y="18913"/>
                    <a:pt x="12526" y="18878"/>
                    <a:pt x="12564" y="18878"/>
                  </a:cubicBezTo>
                  <a:cubicBezTo>
                    <a:pt x="12564" y="18843"/>
                    <a:pt x="12603" y="18808"/>
                    <a:pt x="12642" y="18808"/>
                  </a:cubicBezTo>
                  <a:cubicBezTo>
                    <a:pt x="12642" y="18808"/>
                    <a:pt x="12681" y="18774"/>
                    <a:pt x="12758" y="18774"/>
                  </a:cubicBezTo>
                  <a:cubicBezTo>
                    <a:pt x="12797" y="18774"/>
                    <a:pt x="12797" y="18774"/>
                    <a:pt x="12836" y="18774"/>
                  </a:cubicBezTo>
                  <a:cubicBezTo>
                    <a:pt x="12836" y="18774"/>
                    <a:pt x="12836" y="18774"/>
                    <a:pt x="12875" y="18774"/>
                  </a:cubicBezTo>
                  <a:cubicBezTo>
                    <a:pt x="12875" y="18808"/>
                    <a:pt x="12875" y="18808"/>
                    <a:pt x="12875" y="18808"/>
                  </a:cubicBezTo>
                  <a:cubicBezTo>
                    <a:pt x="12875" y="18808"/>
                    <a:pt x="12875" y="18808"/>
                    <a:pt x="12875" y="18808"/>
                  </a:cubicBezTo>
                  <a:cubicBezTo>
                    <a:pt x="12875" y="18843"/>
                    <a:pt x="12913" y="18843"/>
                    <a:pt x="12952" y="18843"/>
                  </a:cubicBezTo>
                  <a:cubicBezTo>
                    <a:pt x="13030" y="18878"/>
                    <a:pt x="13069" y="18878"/>
                    <a:pt x="13107" y="18878"/>
                  </a:cubicBezTo>
                  <a:cubicBezTo>
                    <a:pt x="13146" y="18878"/>
                    <a:pt x="13185" y="18878"/>
                    <a:pt x="13224" y="18843"/>
                  </a:cubicBezTo>
                  <a:cubicBezTo>
                    <a:pt x="13262" y="18843"/>
                    <a:pt x="13262" y="18808"/>
                    <a:pt x="13301" y="18774"/>
                  </a:cubicBezTo>
                  <a:cubicBezTo>
                    <a:pt x="13301" y="18739"/>
                    <a:pt x="13340" y="18704"/>
                    <a:pt x="13379" y="18704"/>
                  </a:cubicBezTo>
                  <a:cubicBezTo>
                    <a:pt x="13379" y="18704"/>
                    <a:pt x="13379" y="18704"/>
                    <a:pt x="13379" y="18704"/>
                  </a:cubicBezTo>
                  <a:cubicBezTo>
                    <a:pt x="13418" y="18704"/>
                    <a:pt x="13495" y="18739"/>
                    <a:pt x="13534" y="18774"/>
                  </a:cubicBezTo>
                  <a:cubicBezTo>
                    <a:pt x="13573" y="18808"/>
                    <a:pt x="13573" y="18843"/>
                    <a:pt x="13611" y="18843"/>
                  </a:cubicBezTo>
                  <a:cubicBezTo>
                    <a:pt x="13611" y="18843"/>
                    <a:pt x="13650" y="18843"/>
                    <a:pt x="13650" y="18878"/>
                  </a:cubicBezTo>
                  <a:cubicBezTo>
                    <a:pt x="13689" y="18878"/>
                    <a:pt x="13728" y="18878"/>
                    <a:pt x="13767" y="18913"/>
                  </a:cubicBezTo>
                  <a:cubicBezTo>
                    <a:pt x="13805" y="18948"/>
                    <a:pt x="13805" y="19018"/>
                    <a:pt x="13805" y="19122"/>
                  </a:cubicBezTo>
                  <a:cubicBezTo>
                    <a:pt x="13767" y="19157"/>
                    <a:pt x="13767" y="19227"/>
                    <a:pt x="13767" y="19262"/>
                  </a:cubicBezTo>
                  <a:cubicBezTo>
                    <a:pt x="13767" y="19367"/>
                    <a:pt x="13844" y="19367"/>
                    <a:pt x="13883" y="19367"/>
                  </a:cubicBezTo>
                  <a:cubicBezTo>
                    <a:pt x="13961" y="19367"/>
                    <a:pt x="13961" y="19332"/>
                    <a:pt x="13999" y="19297"/>
                  </a:cubicBezTo>
                  <a:cubicBezTo>
                    <a:pt x="14038" y="19297"/>
                    <a:pt x="14038" y="19262"/>
                    <a:pt x="14077" y="19262"/>
                  </a:cubicBezTo>
                  <a:cubicBezTo>
                    <a:pt x="14116" y="19227"/>
                    <a:pt x="14193" y="19192"/>
                    <a:pt x="14271" y="19157"/>
                  </a:cubicBezTo>
                  <a:cubicBezTo>
                    <a:pt x="14310" y="19157"/>
                    <a:pt x="14348" y="19157"/>
                    <a:pt x="14387" y="19122"/>
                  </a:cubicBezTo>
                  <a:cubicBezTo>
                    <a:pt x="14503" y="19088"/>
                    <a:pt x="14620" y="19088"/>
                    <a:pt x="14736" y="19088"/>
                  </a:cubicBezTo>
                  <a:cubicBezTo>
                    <a:pt x="14814" y="19053"/>
                    <a:pt x="14814" y="19053"/>
                    <a:pt x="14814" y="19053"/>
                  </a:cubicBezTo>
                  <a:cubicBezTo>
                    <a:pt x="14814" y="19088"/>
                    <a:pt x="14814" y="19157"/>
                    <a:pt x="14814" y="19192"/>
                  </a:cubicBezTo>
                  <a:cubicBezTo>
                    <a:pt x="14814" y="19367"/>
                    <a:pt x="14814" y="19506"/>
                    <a:pt x="14969" y="19611"/>
                  </a:cubicBezTo>
                  <a:cubicBezTo>
                    <a:pt x="15046" y="19681"/>
                    <a:pt x="15163" y="19716"/>
                    <a:pt x="15240" y="19716"/>
                  </a:cubicBezTo>
                  <a:cubicBezTo>
                    <a:pt x="15279" y="19751"/>
                    <a:pt x="15279" y="19751"/>
                    <a:pt x="15279" y="19751"/>
                  </a:cubicBezTo>
                  <a:cubicBezTo>
                    <a:pt x="15395" y="19751"/>
                    <a:pt x="15434" y="19785"/>
                    <a:pt x="15550" y="19820"/>
                  </a:cubicBezTo>
                  <a:cubicBezTo>
                    <a:pt x="15667" y="19890"/>
                    <a:pt x="15783" y="19890"/>
                    <a:pt x="15899" y="19890"/>
                  </a:cubicBezTo>
                  <a:cubicBezTo>
                    <a:pt x="16016" y="19925"/>
                    <a:pt x="16093" y="19925"/>
                    <a:pt x="16171" y="19960"/>
                  </a:cubicBezTo>
                  <a:cubicBezTo>
                    <a:pt x="16248" y="19960"/>
                    <a:pt x="16287" y="19960"/>
                    <a:pt x="16326" y="19960"/>
                  </a:cubicBezTo>
                  <a:cubicBezTo>
                    <a:pt x="16442" y="19960"/>
                    <a:pt x="16597" y="19925"/>
                    <a:pt x="16714" y="19716"/>
                  </a:cubicBezTo>
                  <a:cubicBezTo>
                    <a:pt x="16714" y="19716"/>
                    <a:pt x="16714" y="19681"/>
                    <a:pt x="16714" y="19681"/>
                  </a:cubicBezTo>
                  <a:cubicBezTo>
                    <a:pt x="16753" y="19576"/>
                    <a:pt x="16791" y="19506"/>
                    <a:pt x="16869" y="19506"/>
                  </a:cubicBezTo>
                  <a:cubicBezTo>
                    <a:pt x="16869" y="19506"/>
                    <a:pt x="16869" y="19506"/>
                    <a:pt x="16908" y="19506"/>
                  </a:cubicBezTo>
                  <a:cubicBezTo>
                    <a:pt x="16908" y="19506"/>
                    <a:pt x="16947" y="19506"/>
                    <a:pt x="16947" y="19541"/>
                  </a:cubicBezTo>
                  <a:cubicBezTo>
                    <a:pt x="16985" y="19576"/>
                    <a:pt x="16985" y="19646"/>
                    <a:pt x="16985" y="19716"/>
                  </a:cubicBezTo>
                  <a:cubicBezTo>
                    <a:pt x="16947" y="19751"/>
                    <a:pt x="16947" y="19751"/>
                    <a:pt x="16947" y="19751"/>
                  </a:cubicBezTo>
                  <a:cubicBezTo>
                    <a:pt x="17024" y="19785"/>
                    <a:pt x="17024" y="19785"/>
                    <a:pt x="17024" y="19785"/>
                  </a:cubicBezTo>
                  <a:cubicBezTo>
                    <a:pt x="17102" y="19820"/>
                    <a:pt x="17140" y="19890"/>
                    <a:pt x="17179" y="19925"/>
                  </a:cubicBezTo>
                  <a:cubicBezTo>
                    <a:pt x="17218" y="19960"/>
                    <a:pt x="17218" y="20030"/>
                    <a:pt x="17257" y="20065"/>
                  </a:cubicBezTo>
                  <a:cubicBezTo>
                    <a:pt x="17257" y="20134"/>
                    <a:pt x="17257" y="20169"/>
                    <a:pt x="17334" y="20204"/>
                  </a:cubicBezTo>
                  <a:cubicBezTo>
                    <a:pt x="17334" y="20239"/>
                    <a:pt x="17451" y="20309"/>
                    <a:pt x="17489" y="20309"/>
                  </a:cubicBezTo>
                  <a:cubicBezTo>
                    <a:pt x="17489" y="20309"/>
                    <a:pt x="17489" y="20309"/>
                    <a:pt x="17528" y="20309"/>
                  </a:cubicBezTo>
                  <a:cubicBezTo>
                    <a:pt x="17528" y="20309"/>
                    <a:pt x="17528" y="20309"/>
                    <a:pt x="17528" y="20309"/>
                  </a:cubicBezTo>
                  <a:cubicBezTo>
                    <a:pt x="17567" y="20309"/>
                    <a:pt x="17567" y="20309"/>
                    <a:pt x="17567" y="20309"/>
                  </a:cubicBezTo>
                  <a:cubicBezTo>
                    <a:pt x="17567" y="20309"/>
                    <a:pt x="17567" y="20309"/>
                    <a:pt x="17606" y="20274"/>
                  </a:cubicBezTo>
                  <a:cubicBezTo>
                    <a:pt x="17606" y="20274"/>
                    <a:pt x="17606" y="20274"/>
                    <a:pt x="17645" y="20274"/>
                  </a:cubicBezTo>
                  <a:cubicBezTo>
                    <a:pt x="17683" y="20274"/>
                    <a:pt x="17722" y="20309"/>
                    <a:pt x="17761" y="20344"/>
                  </a:cubicBezTo>
                  <a:cubicBezTo>
                    <a:pt x="17800" y="20379"/>
                    <a:pt x="17838" y="20379"/>
                    <a:pt x="17916" y="20414"/>
                  </a:cubicBezTo>
                  <a:cubicBezTo>
                    <a:pt x="18032" y="20414"/>
                    <a:pt x="18071" y="20448"/>
                    <a:pt x="18110" y="20483"/>
                  </a:cubicBezTo>
                  <a:cubicBezTo>
                    <a:pt x="18149" y="20483"/>
                    <a:pt x="18187" y="20518"/>
                    <a:pt x="18187" y="20518"/>
                  </a:cubicBezTo>
                  <a:cubicBezTo>
                    <a:pt x="18226" y="20518"/>
                    <a:pt x="18226" y="20553"/>
                    <a:pt x="18265" y="20553"/>
                  </a:cubicBezTo>
                  <a:cubicBezTo>
                    <a:pt x="18343" y="20588"/>
                    <a:pt x="18381" y="20623"/>
                    <a:pt x="18420" y="20728"/>
                  </a:cubicBezTo>
                  <a:cubicBezTo>
                    <a:pt x="18459" y="20867"/>
                    <a:pt x="18459" y="20902"/>
                    <a:pt x="18575" y="20972"/>
                  </a:cubicBezTo>
                  <a:cubicBezTo>
                    <a:pt x="18692" y="21042"/>
                    <a:pt x="18769" y="21077"/>
                    <a:pt x="18808" y="21181"/>
                  </a:cubicBezTo>
                  <a:cubicBezTo>
                    <a:pt x="18808" y="21216"/>
                    <a:pt x="18847" y="21251"/>
                    <a:pt x="18847" y="21321"/>
                  </a:cubicBezTo>
                  <a:cubicBezTo>
                    <a:pt x="18847" y="21391"/>
                    <a:pt x="18885" y="21460"/>
                    <a:pt x="18924" y="21530"/>
                  </a:cubicBezTo>
                  <a:cubicBezTo>
                    <a:pt x="18963" y="21600"/>
                    <a:pt x="19041" y="21600"/>
                    <a:pt x="19118" y="21600"/>
                  </a:cubicBezTo>
                  <a:cubicBezTo>
                    <a:pt x="19196" y="21600"/>
                    <a:pt x="19196" y="21600"/>
                    <a:pt x="19196" y="21600"/>
                  </a:cubicBezTo>
                  <a:cubicBezTo>
                    <a:pt x="19234" y="21600"/>
                    <a:pt x="19234" y="21600"/>
                    <a:pt x="19234" y="21600"/>
                  </a:cubicBezTo>
                  <a:cubicBezTo>
                    <a:pt x="19312" y="21600"/>
                    <a:pt x="19312" y="21600"/>
                    <a:pt x="19312" y="21600"/>
                  </a:cubicBezTo>
                  <a:cubicBezTo>
                    <a:pt x="19312" y="21565"/>
                    <a:pt x="19312" y="21565"/>
                    <a:pt x="19312" y="21565"/>
                  </a:cubicBezTo>
                  <a:cubicBezTo>
                    <a:pt x="19390" y="21460"/>
                    <a:pt x="19428" y="21426"/>
                    <a:pt x="19545" y="21426"/>
                  </a:cubicBezTo>
                  <a:cubicBezTo>
                    <a:pt x="19545" y="21426"/>
                    <a:pt x="19545" y="21426"/>
                    <a:pt x="19545" y="21426"/>
                  </a:cubicBezTo>
                  <a:cubicBezTo>
                    <a:pt x="19583" y="21426"/>
                    <a:pt x="19622" y="21426"/>
                    <a:pt x="19622" y="21426"/>
                  </a:cubicBezTo>
                  <a:cubicBezTo>
                    <a:pt x="19700" y="21426"/>
                    <a:pt x="19700" y="21460"/>
                    <a:pt x="19739" y="21460"/>
                  </a:cubicBezTo>
                  <a:cubicBezTo>
                    <a:pt x="19777" y="21460"/>
                    <a:pt x="19816" y="21426"/>
                    <a:pt x="19816" y="21426"/>
                  </a:cubicBezTo>
                  <a:cubicBezTo>
                    <a:pt x="19894" y="21356"/>
                    <a:pt x="19894" y="21286"/>
                    <a:pt x="19855" y="21181"/>
                  </a:cubicBezTo>
                  <a:cubicBezTo>
                    <a:pt x="19855" y="21146"/>
                    <a:pt x="19855" y="21111"/>
                    <a:pt x="19855" y="21111"/>
                  </a:cubicBezTo>
                  <a:cubicBezTo>
                    <a:pt x="19855" y="20902"/>
                    <a:pt x="19855" y="20658"/>
                    <a:pt x="19855" y="20414"/>
                  </a:cubicBezTo>
                  <a:cubicBezTo>
                    <a:pt x="19855" y="20414"/>
                    <a:pt x="19855" y="20379"/>
                    <a:pt x="19855" y="20379"/>
                  </a:cubicBezTo>
                  <a:cubicBezTo>
                    <a:pt x="19855" y="20309"/>
                    <a:pt x="19855" y="20239"/>
                    <a:pt x="19739" y="20204"/>
                  </a:cubicBezTo>
                  <a:cubicBezTo>
                    <a:pt x="19739" y="20204"/>
                    <a:pt x="19700" y="20204"/>
                    <a:pt x="19700" y="20204"/>
                  </a:cubicBezTo>
                  <a:cubicBezTo>
                    <a:pt x="19622" y="20204"/>
                    <a:pt x="19545" y="20239"/>
                    <a:pt x="19506" y="20274"/>
                  </a:cubicBezTo>
                  <a:cubicBezTo>
                    <a:pt x="19506" y="20309"/>
                    <a:pt x="19467" y="20344"/>
                    <a:pt x="19467" y="20344"/>
                  </a:cubicBezTo>
                  <a:cubicBezTo>
                    <a:pt x="19467" y="20414"/>
                    <a:pt x="19428" y="20448"/>
                    <a:pt x="19351" y="20448"/>
                  </a:cubicBezTo>
                  <a:cubicBezTo>
                    <a:pt x="19273" y="20448"/>
                    <a:pt x="19079" y="20414"/>
                    <a:pt x="19002" y="20379"/>
                  </a:cubicBezTo>
                  <a:cubicBezTo>
                    <a:pt x="18963" y="20344"/>
                    <a:pt x="18924" y="20309"/>
                    <a:pt x="18924" y="20239"/>
                  </a:cubicBezTo>
                  <a:cubicBezTo>
                    <a:pt x="18924" y="20204"/>
                    <a:pt x="18885" y="20169"/>
                    <a:pt x="18885" y="20134"/>
                  </a:cubicBezTo>
                  <a:cubicBezTo>
                    <a:pt x="18808" y="20030"/>
                    <a:pt x="18692" y="19960"/>
                    <a:pt x="18575" y="19925"/>
                  </a:cubicBezTo>
                  <a:cubicBezTo>
                    <a:pt x="18498" y="19890"/>
                    <a:pt x="18420" y="19855"/>
                    <a:pt x="18381" y="19785"/>
                  </a:cubicBezTo>
                  <a:cubicBezTo>
                    <a:pt x="18265" y="19681"/>
                    <a:pt x="18226" y="19367"/>
                    <a:pt x="18265" y="19227"/>
                  </a:cubicBezTo>
                  <a:cubicBezTo>
                    <a:pt x="18304" y="19227"/>
                    <a:pt x="18304" y="19192"/>
                    <a:pt x="18304" y="19157"/>
                  </a:cubicBezTo>
                  <a:cubicBezTo>
                    <a:pt x="18343" y="19088"/>
                    <a:pt x="18381" y="19018"/>
                    <a:pt x="18381" y="18948"/>
                  </a:cubicBezTo>
                  <a:cubicBezTo>
                    <a:pt x="18420" y="18808"/>
                    <a:pt x="18459" y="18739"/>
                    <a:pt x="18498" y="18634"/>
                  </a:cubicBezTo>
                  <a:cubicBezTo>
                    <a:pt x="18653" y="18459"/>
                    <a:pt x="18614" y="18355"/>
                    <a:pt x="18575" y="18215"/>
                  </a:cubicBezTo>
                  <a:cubicBezTo>
                    <a:pt x="18575" y="18145"/>
                    <a:pt x="18536" y="18076"/>
                    <a:pt x="18536" y="18006"/>
                  </a:cubicBezTo>
                  <a:cubicBezTo>
                    <a:pt x="18536" y="17901"/>
                    <a:pt x="18536" y="17796"/>
                    <a:pt x="18575" y="17692"/>
                  </a:cubicBezTo>
                  <a:cubicBezTo>
                    <a:pt x="18614" y="17622"/>
                    <a:pt x="18614" y="17552"/>
                    <a:pt x="18614" y="17482"/>
                  </a:cubicBezTo>
                  <a:cubicBezTo>
                    <a:pt x="18614" y="17308"/>
                    <a:pt x="18498" y="17099"/>
                    <a:pt x="18420" y="16994"/>
                  </a:cubicBezTo>
                  <a:cubicBezTo>
                    <a:pt x="18420" y="16994"/>
                    <a:pt x="18381" y="16959"/>
                    <a:pt x="18381" y="16924"/>
                  </a:cubicBezTo>
                  <a:cubicBezTo>
                    <a:pt x="18343" y="16889"/>
                    <a:pt x="18343" y="16889"/>
                    <a:pt x="18343" y="16854"/>
                  </a:cubicBezTo>
                  <a:cubicBezTo>
                    <a:pt x="18343" y="16819"/>
                    <a:pt x="18381" y="16819"/>
                    <a:pt x="18420" y="16784"/>
                  </a:cubicBezTo>
                  <a:cubicBezTo>
                    <a:pt x="18614" y="16645"/>
                    <a:pt x="18769" y="16540"/>
                    <a:pt x="18885" y="16331"/>
                  </a:cubicBezTo>
                  <a:cubicBezTo>
                    <a:pt x="18924" y="16226"/>
                    <a:pt x="18924" y="16087"/>
                    <a:pt x="18924" y="15982"/>
                  </a:cubicBezTo>
                  <a:cubicBezTo>
                    <a:pt x="18924" y="15947"/>
                    <a:pt x="18924" y="15947"/>
                    <a:pt x="18924" y="15947"/>
                  </a:cubicBezTo>
                  <a:cubicBezTo>
                    <a:pt x="20824" y="15633"/>
                    <a:pt x="20824" y="15633"/>
                    <a:pt x="20824" y="15633"/>
                  </a:cubicBezTo>
                  <a:cubicBezTo>
                    <a:pt x="20824" y="15563"/>
                    <a:pt x="20824" y="15563"/>
                    <a:pt x="20824" y="15563"/>
                  </a:cubicBezTo>
                  <a:cubicBezTo>
                    <a:pt x="20786" y="15424"/>
                    <a:pt x="20669" y="15319"/>
                    <a:pt x="20592" y="15214"/>
                  </a:cubicBezTo>
                  <a:cubicBezTo>
                    <a:pt x="20553" y="15179"/>
                    <a:pt x="20514" y="15110"/>
                    <a:pt x="20475" y="15075"/>
                  </a:cubicBezTo>
                  <a:cubicBezTo>
                    <a:pt x="20437" y="15005"/>
                    <a:pt x="20398" y="14970"/>
                    <a:pt x="20398" y="14865"/>
                  </a:cubicBezTo>
                  <a:cubicBezTo>
                    <a:pt x="20398" y="14865"/>
                    <a:pt x="20398" y="14830"/>
                    <a:pt x="20398" y="14795"/>
                  </a:cubicBezTo>
                  <a:cubicBezTo>
                    <a:pt x="20359" y="14586"/>
                    <a:pt x="20243" y="14447"/>
                    <a:pt x="20049" y="14307"/>
                  </a:cubicBezTo>
                  <a:cubicBezTo>
                    <a:pt x="20010" y="14307"/>
                    <a:pt x="20010" y="14307"/>
                    <a:pt x="20010" y="14307"/>
                  </a:cubicBezTo>
                  <a:cubicBezTo>
                    <a:pt x="19855" y="14202"/>
                    <a:pt x="19816" y="14202"/>
                    <a:pt x="19739" y="14063"/>
                  </a:cubicBezTo>
                  <a:cubicBezTo>
                    <a:pt x="19700" y="13993"/>
                    <a:pt x="19700" y="13923"/>
                    <a:pt x="19700" y="13853"/>
                  </a:cubicBezTo>
                  <a:cubicBezTo>
                    <a:pt x="19661" y="13818"/>
                    <a:pt x="19661" y="13749"/>
                    <a:pt x="19622" y="13679"/>
                  </a:cubicBezTo>
                  <a:cubicBezTo>
                    <a:pt x="19622" y="13574"/>
                    <a:pt x="19545" y="13504"/>
                    <a:pt x="19467" y="13435"/>
                  </a:cubicBezTo>
                  <a:cubicBezTo>
                    <a:pt x="19428" y="13330"/>
                    <a:pt x="19390" y="13260"/>
                    <a:pt x="19351" y="13190"/>
                  </a:cubicBezTo>
                  <a:cubicBezTo>
                    <a:pt x="19312" y="13086"/>
                    <a:pt x="19351" y="13016"/>
                    <a:pt x="19390" y="12946"/>
                  </a:cubicBezTo>
                  <a:cubicBezTo>
                    <a:pt x="19390" y="12876"/>
                    <a:pt x="19428" y="12841"/>
                    <a:pt x="19428" y="12806"/>
                  </a:cubicBezTo>
                  <a:cubicBezTo>
                    <a:pt x="19506" y="12597"/>
                    <a:pt x="19428" y="12458"/>
                    <a:pt x="19351" y="12318"/>
                  </a:cubicBezTo>
                  <a:cubicBezTo>
                    <a:pt x="19312" y="12283"/>
                    <a:pt x="19273" y="12213"/>
                    <a:pt x="19234" y="12178"/>
                  </a:cubicBezTo>
                  <a:cubicBezTo>
                    <a:pt x="19157" y="11934"/>
                    <a:pt x="19118" y="11655"/>
                    <a:pt x="19196" y="11446"/>
                  </a:cubicBezTo>
                  <a:cubicBezTo>
                    <a:pt x="19196" y="11446"/>
                    <a:pt x="19234" y="11411"/>
                    <a:pt x="19234" y="11376"/>
                  </a:cubicBezTo>
                  <a:cubicBezTo>
                    <a:pt x="19273" y="11306"/>
                    <a:pt x="19312" y="11201"/>
                    <a:pt x="19273" y="11097"/>
                  </a:cubicBezTo>
                  <a:cubicBezTo>
                    <a:pt x="19234" y="11027"/>
                    <a:pt x="19196" y="11027"/>
                    <a:pt x="19196" y="10992"/>
                  </a:cubicBezTo>
                  <a:cubicBezTo>
                    <a:pt x="19196" y="10992"/>
                    <a:pt x="19157" y="10992"/>
                    <a:pt x="19157" y="10957"/>
                  </a:cubicBezTo>
                  <a:cubicBezTo>
                    <a:pt x="19157" y="10817"/>
                    <a:pt x="19157" y="10643"/>
                    <a:pt x="19234" y="10608"/>
                  </a:cubicBezTo>
                  <a:cubicBezTo>
                    <a:pt x="19234" y="10573"/>
                    <a:pt x="19234" y="10573"/>
                    <a:pt x="19234" y="10573"/>
                  </a:cubicBezTo>
                  <a:cubicBezTo>
                    <a:pt x="19234" y="10538"/>
                    <a:pt x="19234" y="10538"/>
                    <a:pt x="19234" y="10538"/>
                  </a:cubicBezTo>
                  <a:cubicBezTo>
                    <a:pt x="19234" y="10364"/>
                    <a:pt x="19234" y="10189"/>
                    <a:pt x="19234" y="10085"/>
                  </a:cubicBezTo>
                  <a:cubicBezTo>
                    <a:pt x="19234" y="9945"/>
                    <a:pt x="19234" y="9945"/>
                    <a:pt x="19234" y="9945"/>
                  </a:cubicBezTo>
                  <a:cubicBezTo>
                    <a:pt x="19234" y="9910"/>
                    <a:pt x="19234" y="9875"/>
                    <a:pt x="19234" y="9875"/>
                  </a:cubicBezTo>
                  <a:cubicBezTo>
                    <a:pt x="19234" y="9771"/>
                    <a:pt x="19234" y="9701"/>
                    <a:pt x="19157" y="9631"/>
                  </a:cubicBezTo>
                  <a:cubicBezTo>
                    <a:pt x="19079" y="9526"/>
                    <a:pt x="19002" y="9457"/>
                    <a:pt x="18963" y="9352"/>
                  </a:cubicBezTo>
                  <a:cubicBezTo>
                    <a:pt x="18847" y="9177"/>
                    <a:pt x="18769" y="8933"/>
                    <a:pt x="19041" y="8828"/>
                  </a:cubicBezTo>
                  <a:cubicBezTo>
                    <a:pt x="19234" y="8724"/>
                    <a:pt x="19196" y="8584"/>
                    <a:pt x="19157" y="8445"/>
                  </a:cubicBezTo>
                  <a:cubicBezTo>
                    <a:pt x="19157" y="8375"/>
                    <a:pt x="19157" y="8270"/>
                    <a:pt x="19157" y="8200"/>
                  </a:cubicBezTo>
                  <a:cubicBezTo>
                    <a:pt x="19196" y="7956"/>
                    <a:pt x="19545" y="7816"/>
                    <a:pt x="19700" y="7747"/>
                  </a:cubicBezTo>
                  <a:cubicBezTo>
                    <a:pt x="19739" y="7747"/>
                    <a:pt x="19739" y="7747"/>
                    <a:pt x="19739" y="7747"/>
                  </a:cubicBezTo>
                  <a:cubicBezTo>
                    <a:pt x="19739" y="7677"/>
                    <a:pt x="19739" y="7677"/>
                    <a:pt x="19739" y="7677"/>
                  </a:cubicBezTo>
                  <a:cubicBezTo>
                    <a:pt x="19739" y="7677"/>
                    <a:pt x="19739" y="7642"/>
                    <a:pt x="19739" y="7607"/>
                  </a:cubicBezTo>
                  <a:cubicBezTo>
                    <a:pt x="19700" y="7537"/>
                    <a:pt x="19739" y="7433"/>
                    <a:pt x="19739" y="7328"/>
                  </a:cubicBezTo>
                  <a:cubicBezTo>
                    <a:pt x="19739" y="7223"/>
                    <a:pt x="19739" y="7223"/>
                    <a:pt x="19739" y="7223"/>
                  </a:cubicBezTo>
                  <a:cubicBezTo>
                    <a:pt x="19739" y="6909"/>
                    <a:pt x="19777" y="6665"/>
                    <a:pt x="19816" y="6456"/>
                  </a:cubicBezTo>
                  <a:cubicBezTo>
                    <a:pt x="19855" y="6246"/>
                    <a:pt x="19932" y="6072"/>
                    <a:pt x="20010" y="5862"/>
                  </a:cubicBezTo>
                  <a:cubicBezTo>
                    <a:pt x="20049" y="5758"/>
                    <a:pt x="20049" y="5653"/>
                    <a:pt x="20049" y="5548"/>
                  </a:cubicBezTo>
                  <a:cubicBezTo>
                    <a:pt x="20049" y="5479"/>
                    <a:pt x="20049" y="5409"/>
                    <a:pt x="20049" y="5339"/>
                  </a:cubicBezTo>
                  <a:cubicBezTo>
                    <a:pt x="20088" y="5234"/>
                    <a:pt x="20165" y="5199"/>
                    <a:pt x="20204" y="5164"/>
                  </a:cubicBezTo>
                  <a:cubicBezTo>
                    <a:pt x="20282" y="5164"/>
                    <a:pt x="20359" y="5130"/>
                    <a:pt x="20398" y="5025"/>
                  </a:cubicBezTo>
                  <a:cubicBezTo>
                    <a:pt x="20398" y="5025"/>
                    <a:pt x="20398" y="4990"/>
                    <a:pt x="20398" y="4955"/>
                  </a:cubicBezTo>
                  <a:cubicBezTo>
                    <a:pt x="20437" y="4920"/>
                    <a:pt x="20437" y="4850"/>
                    <a:pt x="20514" y="4850"/>
                  </a:cubicBezTo>
                  <a:cubicBezTo>
                    <a:pt x="20553" y="4816"/>
                    <a:pt x="20553" y="4816"/>
                    <a:pt x="20592" y="4816"/>
                  </a:cubicBezTo>
                  <a:cubicBezTo>
                    <a:pt x="20631" y="4816"/>
                    <a:pt x="20708" y="4781"/>
                    <a:pt x="20747" y="4746"/>
                  </a:cubicBezTo>
                  <a:cubicBezTo>
                    <a:pt x="20863" y="4606"/>
                    <a:pt x="20980" y="4467"/>
                    <a:pt x="21057" y="4362"/>
                  </a:cubicBezTo>
                  <a:cubicBezTo>
                    <a:pt x="21173" y="4222"/>
                    <a:pt x="21329" y="4048"/>
                    <a:pt x="21445" y="3908"/>
                  </a:cubicBezTo>
                  <a:cubicBezTo>
                    <a:pt x="21561" y="3838"/>
                    <a:pt x="21600" y="3769"/>
                    <a:pt x="21561" y="3699"/>
                  </a:cubicBezTo>
                  <a:close/>
                </a:path>
              </a:pathLst>
            </a:custGeom>
            <a:solidFill>
              <a:schemeClr val="tx2"/>
            </a:solid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48" name="Shape">
              <a:extLst>
                <a:ext uri="{FF2B5EF4-FFF2-40B4-BE49-F238E27FC236}">
                  <a16:creationId xmlns:a16="http://schemas.microsoft.com/office/drawing/2014/main" id="{87EC486A-C15A-1B4A-8E8E-593870A6A3E4}"/>
                </a:ext>
              </a:extLst>
            </p:cNvPr>
            <p:cNvSpPr/>
            <p:nvPr/>
          </p:nvSpPr>
          <p:spPr>
            <a:xfrm>
              <a:off x="4149972" y="5102724"/>
              <a:ext cx="1391251" cy="1429713"/>
            </a:xfrm>
            <a:custGeom>
              <a:avLst/>
              <a:gdLst/>
              <a:ahLst/>
              <a:cxnLst>
                <a:cxn ang="0">
                  <a:pos x="wd2" y="hd2"/>
                </a:cxn>
                <a:cxn ang="5400000">
                  <a:pos x="wd2" y="hd2"/>
                </a:cxn>
                <a:cxn ang="10800000">
                  <a:pos x="wd2" y="hd2"/>
                </a:cxn>
                <a:cxn ang="16200000">
                  <a:pos x="wd2" y="hd2"/>
                </a:cxn>
              </a:cxnLst>
              <a:rect l="0" t="0" r="r" b="b"/>
              <a:pathLst>
                <a:path w="21585" h="21600" extrusionOk="0">
                  <a:moveTo>
                    <a:pt x="21540" y="11531"/>
                  </a:moveTo>
                  <a:cubicBezTo>
                    <a:pt x="21540" y="11477"/>
                    <a:pt x="21540" y="11477"/>
                    <a:pt x="21479" y="11423"/>
                  </a:cubicBezTo>
                  <a:cubicBezTo>
                    <a:pt x="21479" y="11423"/>
                    <a:pt x="21419" y="11368"/>
                    <a:pt x="21419" y="11314"/>
                  </a:cubicBezTo>
                  <a:cubicBezTo>
                    <a:pt x="21419" y="11098"/>
                    <a:pt x="21419" y="10881"/>
                    <a:pt x="21419" y="10665"/>
                  </a:cubicBezTo>
                  <a:cubicBezTo>
                    <a:pt x="21479" y="10502"/>
                    <a:pt x="21479" y="10502"/>
                    <a:pt x="21479" y="10502"/>
                  </a:cubicBezTo>
                  <a:cubicBezTo>
                    <a:pt x="21479" y="10448"/>
                    <a:pt x="21479" y="10448"/>
                    <a:pt x="21479" y="10394"/>
                  </a:cubicBezTo>
                  <a:cubicBezTo>
                    <a:pt x="21479" y="10340"/>
                    <a:pt x="21419" y="10286"/>
                    <a:pt x="21479" y="10232"/>
                  </a:cubicBezTo>
                  <a:cubicBezTo>
                    <a:pt x="21479" y="10177"/>
                    <a:pt x="21479" y="10177"/>
                    <a:pt x="21479" y="10123"/>
                  </a:cubicBezTo>
                  <a:cubicBezTo>
                    <a:pt x="21540" y="10123"/>
                    <a:pt x="21540" y="10069"/>
                    <a:pt x="21540" y="10015"/>
                  </a:cubicBezTo>
                  <a:cubicBezTo>
                    <a:pt x="21600" y="9907"/>
                    <a:pt x="21600" y="9853"/>
                    <a:pt x="21540" y="9744"/>
                  </a:cubicBezTo>
                  <a:cubicBezTo>
                    <a:pt x="21540" y="9690"/>
                    <a:pt x="21540" y="9636"/>
                    <a:pt x="21540" y="9528"/>
                  </a:cubicBezTo>
                  <a:cubicBezTo>
                    <a:pt x="21540" y="9474"/>
                    <a:pt x="21540" y="9365"/>
                    <a:pt x="21479" y="9311"/>
                  </a:cubicBezTo>
                  <a:cubicBezTo>
                    <a:pt x="21479" y="9095"/>
                    <a:pt x="21479" y="9095"/>
                    <a:pt x="21479" y="9095"/>
                  </a:cubicBezTo>
                  <a:cubicBezTo>
                    <a:pt x="21298" y="9257"/>
                    <a:pt x="21298" y="9257"/>
                    <a:pt x="21298" y="9257"/>
                  </a:cubicBezTo>
                  <a:cubicBezTo>
                    <a:pt x="21298" y="9257"/>
                    <a:pt x="21298" y="9257"/>
                    <a:pt x="21298" y="9257"/>
                  </a:cubicBezTo>
                  <a:cubicBezTo>
                    <a:pt x="21238" y="9257"/>
                    <a:pt x="21178" y="9257"/>
                    <a:pt x="21117" y="9257"/>
                  </a:cubicBezTo>
                  <a:cubicBezTo>
                    <a:pt x="20997" y="9257"/>
                    <a:pt x="20936" y="9257"/>
                    <a:pt x="20876" y="9257"/>
                  </a:cubicBezTo>
                  <a:cubicBezTo>
                    <a:pt x="20816" y="9257"/>
                    <a:pt x="20816" y="9203"/>
                    <a:pt x="20755" y="9203"/>
                  </a:cubicBezTo>
                  <a:cubicBezTo>
                    <a:pt x="20755" y="9149"/>
                    <a:pt x="20755" y="9149"/>
                    <a:pt x="20755" y="9149"/>
                  </a:cubicBezTo>
                  <a:cubicBezTo>
                    <a:pt x="20695" y="9149"/>
                    <a:pt x="20695" y="9149"/>
                    <a:pt x="20695" y="9149"/>
                  </a:cubicBezTo>
                  <a:cubicBezTo>
                    <a:pt x="20635" y="9149"/>
                    <a:pt x="20635" y="9149"/>
                    <a:pt x="20574" y="9149"/>
                  </a:cubicBezTo>
                  <a:cubicBezTo>
                    <a:pt x="20514" y="9149"/>
                    <a:pt x="20393" y="9149"/>
                    <a:pt x="20393" y="9149"/>
                  </a:cubicBezTo>
                  <a:cubicBezTo>
                    <a:pt x="20333" y="9203"/>
                    <a:pt x="20273" y="9257"/>
                    <a:pt x="20212" y="9257"/>
                  </a:cubicBezTo>
                  <a:cubicBezTo>
                    <a:pt x="20212" y="9311"/>
                    <a:pt x="20212" y="9365"/>
                    <a:pt x="20152" y="9365"/>
                  </a:cubicBezTo>
                  <a:cubicBezTo>
                    <a:pt x="20031" y="9474"/>
                    <a:pt x="19911" y="9474"/>
                    <a:pt x="19850" y="9474"/>
                  </a:cubicBezTo>
                  <a:cubicBezTo>
                    <a:pt x="19790" y="9474"/>
                    <a:pt x="19730" y="9474"/>
                    <a:pt x="19730" y="9474"/>
                  </a:cubicBezTo>
                  <a:cubicBezTo>
                    <a:pt x="19669" y="9420"/>
                    <a:pt x="19669" y="9420"/>
                    <a:pt x="19669" y="9365"/>
                  </a:cubicBezTo>
                  <a:cubicBezTo>
                    <a:pt x="19609" y="9311"/>
                    <a:pt x="19609" y="9311"/>
                    <a:pt x="19609" y="9311"/>
                  </a:cubicBezTo>
                  <a:cubicBezTo>
                    <a:pt x="19549" y="9311"/>
                    <a:pt x="19549" y="9311"/>
                    <a:pt x="19549" y="9311"/>
                  </a:cubicBezTo>
                  <a:cubicBezTo>
                    <a:pt x="19488" y="9311"/>
                    <a:pt x="19488" y="9311"/>
                    <a:pt x="19488" y="9311"/>
                  </a:cubicBezTo>
                  <a:cubicBezTo>
                    <a:pt x="19428" y="9365"/>
                    <a:pt x="19428" y="9365"/>
                    <a:pt x="19428" y="9365"/>
                  </a:cubicBezTo>
                  <a:cubicBezTo>
                    <a:pt x="19368" y="9420"/>
                    <a:pt x="19368" y="9420"/>
                    <a:pt x="19307" y="9474"/>
                  </a:cubicBezTo>
                  <a:cubicBezTo>
                    <a:pt x="19307" y="9474"/>
                    <a:pt x="19247" y="9420"/>
                    <a:pt x="19187" y="9420"/>
                  </a:cubicBezTo>
                  <a:cubicBezTo>
                    <a:pt x="19187" y="9365"/>
                    <a:pt x="19126" y="9365"/>
                    <a:pt x="19126" y="9365"/>
                  </a:cubicBezTo>
                  <a:cubicBezTo>
                    <a:pt x="19066" y="9365"/>
                    <a:pt x="19066" y="9365"/>
                    <a:pt x="19066" y="9365"/>
                  </a:cubicBezTo>
                  <a:cubicBezTo>
                    <a:pt x="18945" y="9365"/>
                    <a:pt x="18644" y="9474"/>
                    <a:pt x="18583" y="9582"/>
                  </a:cubicBezTo>
                  <a:cubicBezTo>
                    <a:pt x="18523" y="9582"/>
                    <a:pt x="18523" y="9636"/>
                    <a:pt x="18523" y="9636"/>
                  </a:cubicBezTo>
                  <a:cubicBezTo>
                    <a:pt x="18523" y="9690"/>
                    <a:pt x="18463" y="9744"/>
                    <a:pt x="18463" y="9744"/>
                  </a:cubicBezTo>
                  <a:cubicBezTo>
                    <a:pt x="18463" y="9744"/>
                    <a:pt x="18402" y="9690"/>
                    <a:pt x="18402" y="9636"/>
                  </a:cubicBezTo>
                  <a:cubicBezTo>
                    <a:pt x="18402" y="9636"/>
                    <a:pt x="18402" y="9528"/>
                    <a:pt x="18463" y="9474"/>
                  </a:cubicBezTo>
                  <a:cubicBezTo>
                    <a:pt x="18463" y="9420"/>
                    <a:pt x="18463" y="9365"/>
                    <a:pt x="18463" y="9311"/>
                  </a:cubicBezTo>
                  <a:cubicBezTo>
                    <a:pt x="18463" y="9257"/>
                    <a:pt x="18463" y="9203"/>
                    <a:pt x="18402" y="9203"/>
                  </a:cubicBezTo>
                  <a:cubicBezTo>
                    <a:pt x="18342" y="9095"/>
                    <a:pt x="18342" y="9041"/>
                    <a:pt x="18342" y="8986"/>
                  </a:cubicBezTo>
                  <a:cubicBezTo>
                    <a:pt x="18342" y="8986"/>
                    <a:pt x="18402" y="8932"/>
                    <a:pt x="18463" y="8932"/>
                  </a:cubicBezTo>
                  <a:cubicBezTo>
                    <a:pt x="18523" y="8878"/>
                    <a:pt x="18523" y="8878"/>
                    <a:pt x="18523" y="8878"/>
                  </a:cubicBezTo>
                  <a:cubicBezTo>
                    <a:pt x="18523" y="8824"/>
                    <a:pt x="18523" y="8824"/>
                    <a:pt x="18523" y="8824"/>
                  </a:cubicBezTo>
                  <a:cubicBezTo>
                    <a:pt x="18523" y="8716"/>
                    <a:pt x="18523" y="8662"/>
                    <a:pt x="18523" y="8499"/>
                  </a:cubicBezTo>
                  <a:cubicBezTo>
                    <a:pt x="18523" y="8391"/>
                    <a:pt x="18523" y="8229"/>
                    <a:pt x="18523" y="8120"/>
                  </a:cubicBezTo>
                  <a:cubicBezTo>
                    <a:pt x="18583" y="7958"/>
                    <a:pt x="18463" y="7795"/>
                    <a:pt x="18402" y="7633"/>
                  </a:cubicBezTo>
                  <a:cubicBezTo>
                    <a:pt x="18402" y="7579"/>
                    <a:pt x="18342" y="7525"/>
                    <a:pt x="18342" y="7471"/>
                  </a:cubicBezTo>
                  <a:cubicBezTo>
                    <a:pt x="18282" y="7308"/>
                    <a:pt x="18161" y="7146"/>
                    <a:pt x="18040" y="7038"/>
                  </a:cubicBezTo>
                  <a:cubicBezTo>
                    <a:pt x="17859" y="6875"/>
                    <a:pt x="17678" y="6713"/>
                    <a:pt x="17678" y="6496"/>
                  </a:cubicBezTo>
                  <a:cubicBezTo>
                    <a:pt x="17678" y="6334"/>
                    <a:pt x="17678" y="6226"/>
                    <a:pt x="17739" y="6117"/>
                  </a:cubicBezTo>
                  <a:cubicBezTo>
                    <a:pt x="17739" y="6009"/>
                    <a:pt x="17739" y="5955"/>
                    <a:pt x="17739" y="5847"/>
                  </a:cubicBezTo>
                  <a:cubicBezTo>
                    <a:pt x="17739" y="5684"/>
                    <a:pt x="17739" y="5684"/>
                    <a:pt x="17739" y="5684"/>
                  </a:cubicBezTo>
                  <a:cubicBezTo>
                    <a:pt x="17739" y="5522"/>
                    <a:pt x="17739" y="5305"/>
                    <a:pt x="17799" y="5143"/>
                  </a:cubicBezTo>
                  <a:cubicBezTo>
                    <a:pt x="17920" y="4764"/>
                    <a:pt x="17859" y="4493"/>
                    <a:pt x="17739" y="4223"/>
                  </a:cubicBezTo>
                  <a:cubicBezTo>
                    <a:pt x="17739" y="4114"/>
                    <a:pt x="17678" y="4006"/>
                    <a:pt x="17678" y="3898"/>
                  </a:cubicBezTo>
                  <a:cubicBezTo>
                    <a:pt x="17618" y="3681"/>
                    <a:pt x="17678" y="3519"/>
                    <a:pt x="17739" y="3356"/>
                  </a:cubicBezTo>
                  <a:cubicBezTo>
                    <a:pt x="17799" y="3140"/>
                    <a:pt x="17859" y="2977"/>
                    <a:pt x="17799" y="2761"/>
                  </a:cubicBezTo>
                  <a:cubicBezTo>
                    <a:pt x="17739" y="2544"/>
                    <a:pt x="17437" y="2544"/>
                    <a:pt x="17196" y="2544"/>
                  </a:cubicBezTo>
                  <a:cubicBezTo>
                    <a:pt x="17075" y="2544"/>
                    <a:pt x="16954" y="2544"/>
                    <a:pt x="16834" y="2544"/>
                  </a:cubicBezTo>
                  <a:cubicBezTo>
                    <a:pt x="16713" y="2544"/>
                    <a:pt x="16592" y="2598"/>
                    <a:pt x="16532" y="2598"/>
                  </a:cubicBezTo>
                  <a:cubicBezTo>
                    <a:pt x="16351" y="2598"/>
                    <a:pt x="16170" y="2598"/>
                    <a:pt x="15989" y="2544"/>
                  </a:cubicBezTo>
                  <a:cubicBezTo>
                    <a:pt x="15989" y="2544"/>
                    <a:pt x="15868" y="2544"/>
                    <a:pt x="15808" y="2544"/>
                  </a:cubicBezTo>
                  <a:cubicBezTo>
                    <a:pt x="15687" y="2544"/>
                    <a:pt x="15566" y="2598"/>
                    <a:pt x="15506" y="2598"/>
                  </a:cubicBezTo>
                  <a:cubicBezTo>
                    <a:pt x="15506" y="2544"/>
                    <a:pt x="15506" y="2382"/>
                    <a:pt x="15566" y="2274"/>
                  </a:cubicBezTo>
                  <a:cubicBezTo>
                    <a:pt x="15566" y="2165"/>
                    <a:pt x="15627" y="2111"/>
                    <a:pt x="15627" y="2003"/>
                  </a:cubicBezTo>
                  <a:cubicBezTo>
                    <a:pt x="15627" y="1895"/>
                    <a:pt x="15627" y="1895"/>
                    <a:pt x="15627" y="1895"/>
                  </a:cubicBezTo>
                  <a:cubicBezTo>
                    <a:pt x="15506" y="1895"/>
                    <a:pt x="15506" y="1895"/>
                    <a:pt x="15506" y="1895"/>
                  </a:cubicBezTo>
                  <a:cubicBezTo>
                    <a:pt x="15446" y="1895"/>
                    <a:pt x="15385" y="1895"/>
                    <a:pt x="15325" y="1895"/>
                  </a:cubicBezTo>
                  <a:cubicBezTo>
                    <a:pt x="15325" y="1895"/>
                    <a:pt x="15265" y="1895"/>
                    <a:pt x="15265" y="1841"/>
                  </a:cubicBezTo>
                  <a:cubicBezTo>
                    <a:pt x="15144" y="1841"/>
                    <a:pt x="15144" y="1841"/>
                    <a:pt x="15144" y="1841"/>
                  </a:cubicBezTo>
                  <a:cubicBezTo>
                    <a:pt x="15084" y="1949"/>
                    <a:pt x="15084" y="1949"/>
                    <a:pt x="15084" y="1949"/>
                  </a:cubicBezTo>
                  <a:cubicBezTo>
                    <a:pt x="15084" y="2003"/>
                    <a:pt x="15084" y="2003"/>
                    <a:pt x="15084" y="2003"/>
                  </a:cubicBezTo>
                  <a:cubicBezTo>
                    <a:pt x="15023" y="2057"/>
                    <a:pt x="14903" y="2057"/>
                    <a:pt x="14842" y="2057"/>
                  </a:cubicBezTo>
                  <a:cubicBezTo>
                    <a:pt x="14782" y="2057"/>
                    <a:pt x="14480" y="2003"/>
                    <a:pt x="14420" y="2003"/>
                  </a:cubicBezTo>
                  <a:cubicBezTo>
                    <a:pt x="14058" y="2003"/>
                    <a:pt x="13817" y="2057"/>
                    <a:pt x="13756" y="2111"/>
                  </a:cubicBezTo>
                  <a:cubicBezTo>
                    <a:pt x="13696" y="2111"/>
                    <a:pt x="13696" y="2111"/>
                    <a:pt x="13696" y="2111"/>
                  </a:cubicBezTo>
                  <a:cubicBezTo>
                    <a:pt x="13696" y="2111"/>
                    <a:pt x="13696" y="2111"/>
                    <a:pt x="13696" y="2111"/>
                  </a:cubicBezTo>
                  <a:cubicBezTo>
                    <a:pt x="13636" y="2165"/>
                    <a:pt x="13636" y="2274"/>
                    <a:pt x="13636" y="2598"/>
                  </a:cubicBezTo>
                  <a:cubicBezTo>
                    <a:pt x="13636" y="2707"/>
                    <a:pt x="13636" y="2761"/>
                    <a:pt x="13636" y="2815"/>
                  </a:cubicBezTo>
                  <a:cubicBezTo>
                    <a:pt x="13636" y="2923"/>
                    <a:pt x="13575" y="2977"/>
                    <a:pt x="13575" y="3086"/>
                  </a:cubicBezTo>
                  <a:cubicBezTo>
                    <a:pt x="13515" y="3140"/>
                    <a:pt x="13455" y="3194"/>
                    <a:pt x="13455" y="3248"/>
                  </a:cubicBezTo>
                  <a:cubicBezTo>
                    <a:pt x="13394" y="3356"/>
                    <a:pt x="13394" y="3519"/>
                    <a:pt x="13455" y="3627"/>
                  </a:cubicBezTo>
                  <a:cubicBezTo>
                    <a:pt x="13455" y="3681"/>
                    <a:pt x="13455" y="3789"/>
                    <a:pt x="13455" y="3844"/>
                  </a:cubicBezTo>
                  <a:cubicBezTo>
                    <a:pt x="13394" y="3844"/>
                    <a:pt x="13334" y="3844"/>
                    <a:pt x="13274" y="3844"/>
                  </a:cubicBezTo>
                  <a:cubicBezTo>
                    <a:pt x="13274" y="3844"/>
                    <a:pt x="13274" y="3844"/>
                    <a:pt x="13274" y="3844"/>
                  </a:cubicBezTo>
                  <a:cubicBezTo>
                    <a:pt x="13093" y="3898"/>
                    <a:pt x="12912" y="3898"/>
                    <a:pt x="12791" y="3898"/>
                  </a:cubicBezTo>
                  <a:cubicBezTo>
                    <a:pt x="12670" y="3898"/>
                    <a:pt x="12550" y="3898"/>
                    <a:pt x="12489" y="3844"/>
                  </a:cubicBezTo>
                  <a:cubicBezTo>
                    <a:pt x="12489" y="3844"/>
                    <a:pt x="12489" y="3789"/>
                    <a:pt x="12429" y="3789"/>
                  </a:cubicBezTo>
                  <a:cubicBezTo>
                    <a:pt x="12429" y="3789"/>
                    <a:pt x="12429" y="3735"/>
                    <a:pt x="12429" y="3735"/>
                  </a:cubicBezTo>
                  <a:cubicBezTo>
                    <a:pt x="12369" y="3681"/>
                    <a:pt x="12369" y="3681"/>
                    <a:pt x="12369" y="3681"/>
                  </a:cubicBezTo>
                  <a:cubicBezTo>
                    <a:pt x="12369" y="3681"/>
                    <a:pt x="12369" y="3681"/>
                    <a:pt x="12369" y="3681"/>
                  </a:cubicBezTo>
                  <a:cubicBezTo>
                    <a:pt x="12308" y="3681"/>
                    <a:pt x="12308" y="3681"/>
                    <a:pt x="12308" y="3681"/>
                  </a:cubicBezTo>
                  <a:cubicBezTo>
                    <a:pt x="12188" y="3681"/>
                    <a:pt x="12127" y="3735"/>
                    <a:pt x="12007" y="3789"/>
                  </a:cubicBezTo>
                  <a:cubicBezTo>
                    <a:pt x="12007" y="3789"/>
                    <a:pt x="11946" y="3844"/>
                    <a:pt x="11946" y="3844"/>
                  </a:cubicBezTo>
                  <a:cubicBezTo>
                    <a:pt x="11946" y="3844"/>
                    <a:pt x="11946" y="3844"/>
                    <a:pt x="11886" y="3844"/>
                  </a:cubicBezTo>
                  <a:cubicBezTo>
                    <a:pt x="11886" y="3844"/>
                    <a:pt x="11826" y="3844"/>
                    <a:pt x="11826" y="3844"/>
                  </a:cubicBezTo>
                  <a:cubicBezTo>
                    <a:pt x="11765" y="3844"/>
                    <a:pt x="11705" y="3844"/>
                    <a:pt x="11705" y="3844"/>
                  </a:cubicBezTo>
                  <a:cubicBezTo>
                    <a:pt x="11645" y="3844"/>
                    <a:pt x="11584" y="3844"/>
                    <a:pt x="11524" y="3844"/>
                  </a:cubicBezTo>
                  <a:cubicBezTo>
                    <a:pt x="11524" y="3844"/>
                    <a:pt x="11464" y="3844"/>
                    <a:pt x="11464" y="3844"/>
                  </a:cubicBezTo>
                  <a:cubicBezTo>
                    <a:pt x="11343" y="3844"/>
                    <a:pt x="11343" y="3898"/>
                    <a:pt x="11283" y="3952"/>
                  </a:cubicBezTo>
                  <a:cubicBezTo>
                    <a:pt x="11283" y="3952"/>
                    <a:pt x="11222" y="3952"/>
                    <a:pt x="11222" y="4006"/>
                  </a:cubicBezTo>
                  <a:cubicBezTo>
                    <a:pt x="11162" y="4006"/>
                    <a:pt x="11162" y="4006"/>
                    <a:pt x="11162" y="4006"/>
                  </a:cubicBezTo>
                  <a:cubicBezTo>
                    <a:pt x="11162" y="4006"/>
                    <a:pt x="11102" y="4006"/>
                    <a:pt x="11102" y="4006"/>
                  </a:cubicBezTo>
                  <a:cubicBezTo>
                    <a:pt x="11102" y="3952"/>
                    <a:pt x="11041" y="3952"/>
                    <a:pt x="10981" y="3952"/>
                  </a:cubicBezTo>
                  <a:cubicBezTo>
                    <a:pt x="10981" y="3898"/>
                    <a:pt x="10921" y="3898"/>
                    <a:pt x="10860" y="3898"/>
                  </a:cubicBezTo>
                  <a:cubicBezTo>
                    <a:pt x="10800" y="3898"/>
                    <a:pt x="10740" y="3898"/>
                    <a:pt x="10679" y="3952"/>
                  </a:cubicBezTo>
                  <a:cubicBezTo>
                    <a:pt x="10619" y="3952"/>
                    <a:pt x="10559" y="3952"/>
                    <a:pt x="10498" y="3952"/>
                  </a:cubicBezTo>
                  <a:cubicBezTo>
                    <a:pt x="10498" y="3952"/>
                    <a:pt x="10378" y="3952"/>
                    <a:pt x="10317" y="3844"/>
                  </a:cubicBezTo>
                  <a:cubicBezTo>
                    <a:pt x="10197" y="3735"/>
                    <a:pt x="10076" y="3627"/>
                    <a:pt x="10016" y="3465"/>
                  </a:cubicBezTo>
                  <a:cubicBezTo>
                    <a:pt x="9955" y="3356"/>
                    <a:pt x="9895" y="3302"/>
                    <a:pt x="9835" y="3194"/>
                  </a:cubicBezTo>
                  <a:cubicBezTo>
                    <a:pt x="9835" y="3194"/>
                    <a:pt x="9774" y="3140"/>
                    <a:pt x="9714" y="3086"/>
                  </a:cubicBezTo>
                  <a:cubicBezTo>
                    <a:pt x="9654" y="2977"/>
                    <a:pt x="9593" y="2923"/>
                    <a:pt x="9533" y="2815"/>
                  </a:cubicBezTo>
                  <a:cubicBezTo>
                    <a:pt x="9533" y="2815"/>
                    <a:pt x="9473" y="2761"/>
                    <a:pt x="9412" y="2707"/>
                  </a:cubicBezTo>
                  <a:cubicBezTo>
                    <a:pt x="9352" y="2653"/>
                    <a:pt x="9292" y="2598"/>
                    <a:pt x="9231" y="2544"/>
                  </a:cubicBezTo>
                  <a:cubicBezTo>
                    <a:pt x="9231" y="2436"/>
                    <a:pt x="9231" y="2382"/>
                    <a:pt x="9231" y="2328"/>
                  </a:cubicBezTo>
                  <a:cubicBezTo>
                    <a:pt x="9231" y="2274"/>
                    <a:pt x="9231" y="2220"/>
                    <a:pt x="9231" y="2165"/>
                  </a:cubicBezTo>
                  <a:cubicBezTo>
                    <a:pt x="9171" y="2003"/>
                    <a:pt x="9111" y="1841"/>
                    <a:pt x="8990" y="1624"/>
                  </a:cubicBezTo>
                  <a:cubicBezTo>
                    <a:pt x="8990" y="1624"/>
                    <a:pt x="8930" y="1570"/>
                    <a:pt x="8930" y="1516"/>
                  </a:cubicBezTo>
                  <a:cubicBezTo>
                    <a:pt x="8930" y="1462"/>
                    <a:pt x="8869" y="1462"/>
                    <a:pt x="8869" y="1408"/>
                  </a:cubicBezTo>
                  <a:cubicBezTo>
                    <a:pt x="8869" y="1408"/>
                    <a:pt x="8809" y="1353"/>
                    <a:pt x="8809" y="1299"/>
                  </a:cubicBezTo>
                  <a:cubicBezTo>
                    <a:pt x="8809" y="1245"/>
                    <a:pt x="8809" y="1191"/>
                    <a:pt x="8809" y="1137"/>
                  </a:cubicBezTo>
                  <a:cubicBezTo>
                    <a:pt x="8809" y="1083"/>
                    <a:pt x="8809" y="1083"/>
                    <a:pt x="8809" y="1029"/>
                  </a:cubicBezTo>
                  <a:cubicBezTo>
                    <a:pt x="8809" y="920"/>
                    <a:pt x="8809" y="812"/>
                    <a:pt x="8749" y="704"/>
                  </a:cubicBezTo>
                  <a:cubicBezTo>
                    <a:pt x="8749" y="650"/>
                    <a:pt x="8749" y="595"/>
                    <a:pt x="8749" y="541"/>
                  </a:cubicBezTo>
                  <a:cubicBezTo>
                    <a:pt x="8749" y="487"/>
                    <a:pt x="8749" y="487"/>
                    <a:pt x="8749" y="487"/>
                  </a:cubicBezTo>
                  <a:cubicBezTo>
                    <a:pt x="8688" y="433"/>
                    <a:pt x="8688" y="433"/>
                    <a:pt x="8688" y="433"/>
                  </a:cubicBezTo>
                  <a:cubicBezTo>
                    <a:pt x="8628" y="433"/>
                    <a:pt x="8628" y="433"/>
                    <a:pt x="8628" y="433"/>
                  </a:cubicBezTo>
                  <a:cubicBezTo>
                    <a:pt x="8628" y="433"/>
                    <a:pt x="8628" y="433"/>
                    <a:pt x="8628" y="433"/>
                  </a:cubicBezTo>
                  <a:cubicBezTo>
                    <a:pt x="8628" y="217"/>
                    <a:pt x="8568" y="0"/>
                    <a:pt x="8326" y="0"/>
                  </a:cubicBezTo>
                  <a:cubicBezTo>
                    <a:pt x="8266" y="0"/>
                    <a:pt x="8266" y="0"/>
                    <a:pt x="8206" y="54"/>
                  </a:cubicBezTo>
                  <a:cubicBezTo>
                    <a:pt x="8206" y="54"/>
                    <a:pt x="8145" y="54"/>
                    <a:pt x="8145" y="54"/>
                  </a:cubicBezTo>
                  <a:cubicBezTo>
                    <a:pt x="8025" y="54"/>
                    <a:pt x="7964" y="0"/>
                    <a:pt x="7844" y="0"/>
                  </a:cubicBezTo>
                  <a:cubicBezTo>
                    <a:pt x="7783" y="0"/>
                    <a:pt x="7723" y="0"/>
                    <a:pt x="7663" y="0"/>
                  </a:cubicBezTo>
                  <a:cubicBezTo>
                    <a:pt x="7361" y="0"/>
                    <a:pt x="6999" y="0"/>
                    <a:pt x="6697" y="0"/>
                  </a:cubicBezTo>
                  <a:cubicBezTo>
                    <a:pt x="6154" y="0"/>
                    <a:pt x="5672" y="0"/>
                    <a:pt x="5189" y="0"/>
                  </a:cubicBezTo>
                  <a:cubicBezTo>
                    <a:pt x="4585" y="0"/>
                    <a:pt x="4585" y="0"/>
                    <a:pt x="4585" y="0"/>
                  </a:cubicBezTo>
                  <a:cubicBezTo>
                    <a:pt x="4404" y="0"/>
                    <a:pt x="4223" y="0"/>
                    <a:pt x="4042" y="0"/>
                  </a:cubicBezTo>
                  <a:cubicBezTo>
                    <a:pt x="2655" y="0"/>
                    <a:pt x="2655" y="0"/>
                    <a:pt x="2655" y="0"/>
                  </a:cubicBezTo>
                  <a:cubicBezTo>
                    <a:pt x="2534" y="0"/>
                    <a:pt x="2293" y="54"/>
                    <a:pt x="2172" y="108"/>
                  </a:cubicBezTo>
                  <a:cubicBezTo>
                    <a:pt x="2112" y="108"/>
                    <a:pt x="2051" y="162"/>
                    <a:pt x="2051" y="162"/>
                  </a:cubicBezTo>
                  <a:cubicBezTo>
                    <a:pt x="1991" y="217"/>
                    <a:pt x="1931" y="271"/>
                    <a:pt x="1810" y="271"/>
                  </a:cubicBezTo>
                  <a:cubicBezTo>
                    <a:pt x="1750" y="271"/>
                    <a:pt x="1750" y="271"/>
                    <a:pt x="1750" y="271"/>
                  </a:cubicBezTo>
                  <a:cubicBezTo>
                    <a:pt x="1750" y="271"/>
                    <a:pt x="1689" y="271"/>
                    <a:pt x="1689" y="271"/>
                  </a:cubicBezTo>
                  <a:cubicBezTo>
                    <a:pt x="1629" y="217"/>
                    <a:pt x="1629" y="217"/>
                    <a:pt x="1629" y="217"/>
                  </a:cubicBezTo>
                  <a:cubicBezTo>
                    <a:pt x="1629" y="217"/>
                    <a:pt x="1629" y="217"/>
                    <a:pt x="1629" y="217"/>
                  </a:cubicBezTo>
                  <a:cubicBezTo>
                    <a:pt x="1629" y="217"/>
                    <a:pt x="1569" y="271"/>
                    <a:pt x="1569" y="271"/>
                  </a:cubicBezTo>
                  <a:cubicBezTo>
                    <a:pt x="1508" y="271"/>
                    <a:pt x="1508" y="271"/>
                    <a:pt x="1448" y="325"/>
                  </a:cubicBezTo>
                  <a:cubicBezTo>
                    <a:pt x="1448" y="325"/>
                    <a:pt x="1448" y="325"/>
                    <a:pt x="1388" y="325"/>
                  </a:cubicBezTo>
                  <a:cubicBezTo>
                    <a:pt x="1327" y="379"/>
                    <a:pt x="1327" y="379"/>
                    <a:pt x="1267" y="379"/>
                  </a:cubicBezTo>
                  <a:cubicBezTo>
                    <a:pt x="1207" y="379"/>
                    <a:pt x="1146" y="325"/>
                    <a:pt x="1086" y="325"/>
                  </a:cubicBezTo>
                  <a:cubicBezTo>
                    <a:pt x="965" y="271"/>
                    <a:pt x="965" y="271"/>
                    <a:pt x="965" y="271"/>
                  </a:cubicBezTo>
                  <a:cubicBezTo>
                    <a:pt x="905" y="379"/>
                    <a:pt x="905" y="379"/>
                    <a:pt x="905" y="379"/>
                  </a:cubicBezTo>
                  <a:cubicBezTo>
                    <a:pt x="905" y="433"/>
                    <a:pt x="905" y="433"/>
                    <a:pt x="905" y="487"/>
                  </a:cubicBezTo>
                  <a:cubicBezTo>
                    <a:pt x="965" y="595"/>
                    <a:pt x="965" y="650"/>
                    <a:pt x="1026" y="758"/>
                  </a:cubicBezTo>
                  <a:cubicBezTo>
                    <a:pt x="1086" y="812"/>
                    <a:pt x="1086" y="812"/>
                    <a:pt x="1086" y="812"/>
                  </a:cubicBezTo>
                  <a:cubicBezTo>
                    <a:pt x="1207" y="974"/>
                    <a:pt x="1327" y="1191"/>
                    <a:pt x="1388" y="1353"/>
                  </a:cubicBezTo>
                  <a:cubicBezTo>
                    <a:pt x="1508" y="1570"/>
                    <a:pt x="1629" y="1732"/>
                    <a:pt x="1810" y="1895"/>
                  </a:cubicBezTo>
                  <a:cubicBezTo>
                    <a:pt x="1870" y="1949"/>
                    <a:pt x="1870" y="1949"/>
                    <a:pt x="1870" y="2057"/>
                  </a:cubicBezTo>
                  <a:cubicBezTo>
                    <a:pt x="1870" y="2057"/>
                    <a:pt x="1870" y="2111"/>
                    <a:pt x="1870" y="2165"/>
                  </a:cubicBezTo>
                  <a:cubicBezTo>
                    <a:pt x="1870" y="2220"/>
                    <a:pt x="1870" y="2274"/>
                    <a:pt x="1870" y="2328"/>
                  </a:cubicBezTo>
                  <a:cubicBezTo>
                    <a:pt x="1870" y="2436"/>
                    <a:pt x="1931" y="2544"/>
                    <a:pt x="1991" y="2653"/>
                  </a:cubicBezTo>
                  <a:cubicBezTo>
                    <a:pt x="2051" y="2761"/>
                    <a:pt x="2051" y="2815"/>
                    <a:pt x="2112" y="2923"/>
                  </a:cubicBezTo>
                  <a:cubicBezTo>
                    <a:pt x="2112" y="3086"/>
                    <a:pt x="2232" y="3248"/>
                    <a:pt x="2293" y="3411"/>
                  </a:cubicBezTo>
                  <a:cubicBezTo>
                    <a:pt x="2353" y="3519"/>
                    <a:pt x="2353" y="3573"/>
                    <a:pt x="2413" y="3681"/>
                  </a:cubicBezTo>
                  <a:cubicBezTo>
                    <a:pt x="2413" y="3735"/>
                    <a:pt x="2474" y="3789"/>
                    <a:pt x="2474" y="3844"/>
                  </a:cubicBezTo>
                  <a:cubicBezTo>
                    <a:pt x="2534" y="3952"/>
                    <a:pt x="2594" y="4006"/>
                    <a:pt x="2594" y="4060"/>
                  </a:cubicBezTo>
                  <a:cubicBezTo>
                    <a:pt x="2655" y="4114"/>
                    <a:pt x="2655" y="4114"/>
                    <a:pt x="2715" y="4168"/>
                  </a:cubicBezTo>
                  <a:cubicBezTo>
                    <a:pt x="2715" y="4277"/>
                    <a:pt x="2775" y="4331"/>
                    <a:pt x="2775" y="4439"/>
                  </a:cubicBezTo>
                  <a:cubicBezTo>
                    <a:pt x="2775" y="4493"/>
                    <a:pt x="2775" y="4493"/>
                    <a:pt x="2775" y="4493"/>
                  </a:cubicBezTo>
                  <a:cubicBezTo>
                    <a:pt x="2836" y="4493"/>
                    <a:pt x="2836" y="4547"/>
                    <a:pt x="2775" y="4602"/>
                  </a:cubicBezTo>
                  <a:cubicBezTo>
                    <a:pt x="2775" y="4656"/>
                    <a:pt x="2775" y="4710"/>
                    <a:pt x="2775" y="4764"/>
                  </a:cubicBezTo>
                  <a:cubicBezTo>
                    <a:pt x="2836" y="4818"/>
                    <a:pt x="2836" y="4872"/>
                    <a:pt x="2896" y="4872"/>
                  </a:cubicBezTo>
                  <a:cubicBezTo>
                    <a:pt x="2896" y="4926"/>
                    <a:pt x="2896" y="4926"/>
                    <a:pt x="2896" y="4926"/>
                  </a:cubicBezTo>
                  <a:cubicBezTo>
                    <a:pt x="2896" y="4980"/>
                    <a:pt x="2896" y="5089"/>
                    <a:pt x="2836" y="5089"/>
                  </a:cubicBezTo>
                  <a:cubicBezTo>
                    <a:pt x="2775" y="5197"/>
                    <a:pt x="2655" y="5251"/>
                    <a:pt x="2534" y="5305"/>
                  </a:cubicBezTo>
                  <a:cubicBezTo>
                    <a:pt x="2534" y="5359"/>
                    <a:pt x="2474" y="5359"/>
                    <a:pt x="2413" y="5414"/>
                  </a:cubicBezTo>
                  <a:cubicBezTo>
                    <a:pt x="2232" y="5522"/>
                    <a:pt x="2172" y="5738"/>
                    <a:pt x="2232" y="5955"/>
                  </a:cubicBezTo>
                  <a:cubicBezTo>
                    <a:pt x="2293" y="6009"/>
                    <a:pt x="2293" y="6009"/>
                    <a:pt x="2293" y="6063"/>
                  </a:cubicBezTo>
                  <a:cubicBezTo>
                    <a:pt x="2353" y="6117"/>
                    <a:pt x="2353" y="6117"/>
                    <a:pt x="2353" y="6171"/>
                  </a:cubicBezTo>
                  <a:cubicBezTo>
                    <a:pt x="2413" y="6171"/>
                    <a:pt x="2413" y="6226"/>
                    <a:pt x="2413" y="6226"/>
                  </a:cubicBezTo>
                  <a:cubicBezTo>
                    <a:pt x="2413" y="6280"/>
                    <a:pt x="2413" y="6334"/>
                    <a:pt x="2474" y="6442"/>
                  </a:cubicBezTo>
                  <a:cubicBezTo>
                    <a:pt x="2534" y="6496"/>
                    <a:pt x="2534" y="6550"/>
                    <a:pt x="2534" y="6605"/>
                  </a:cubicBezTo>
                  <a:cubicBezTo>
                    <a:pt x="2534" y="6659"/>
                    <a:pt x="2534" y="6659"/>
                    <a:pt x="2534" y="6713"/>
                  </a:cubicBezTo>
                  <a:cubicBezTo>
                    <a:pt x="2534" y="6767"/>
                    <a:pt x="2534" y="6875"/>
                    <a:pt x="2594" y="6983"/>
                  </a:cubicBezTo>
                  <a:cubicBezTo>
                    <a:pt x="2594" y="7038"/>
                    <a:pt x="2655" y="7038"/>
                    <a:pt x="2655" y="7092"/>
                  </a:cubicBezTo>
                  <a:cubicBezTo>
                    <a:pt x="2715" y="7092"/>
                    <a:pt x="2715" y="7146"/>
                    <a:pt x="2715" y="7146"/>
                  </a:cubicBezTo>
                  <a:cubicBezTo>
                    <a:pt x="2775" y="7200"/>
                    <a:pt x="2775" y="7254"/>
                    <a:pt x="2775" y="7254"/>
                  </a:cubicBezTo>
                  <a:cubicBezTo>
                    <a:pt x="2775" y="7308"/>
                    <a:pt x="2775" y="7362"/>
                    <a:pt x="2775" y="7417"/>
                  </a:cubicBezTo>
                  <a:cubicBezTo>
                    <a:pt x="2836" y="7471"/>
                    <a:pt x="2896" y="7579"/>
                    <a:pt x="2896" y="7633"/>
                  </a:cubicBezTo>
                  <a:cubicBezTo>
                    <a:pt x="2956" y="7741"/>
                    <a:pt x="2956" y="7795"/>
                    <a:pt x="3017" y="7850"/>
                  </a:cubicBezTo>
                  <a:cubicBezTo>
                    <a:pt x="3017" y="7850"/>
                    <a:pt x="3017" y="7904"/>
                    <a:pt x="3017" y="7904"/>
                  </a:cubicBezTo>
                  <a:cubicBezTo>
                    <a:pt x="3017" y="7958"/>
                    <a:pt x="3017" y="8012"/>
                    <a:pt x="3077" y="8066"/>
                  </a:cubicBezTo>
                  <a:cubicBezTo>
                    <a:pt x="3137" y="8174"/>
                    <a:pt x="3198" y="8229"/>
                    <a:pt x="3258" y="8283"/>
                  </a:cubicBezTo>
                  <a:cubicBezTo>
                    <a:pt x="3318" y="8337"/>
                    <a:pt x="3379" y="8391"/>
                    <a:pt x="3379" y="8445"/>
                  </a:cubicBezTo>
                  <a:cubicBezTo>
                    <a:pt x="3439" y="8499"/>
                    <a:pt x="3439" y="8553"/>
                    <a:pt x="3439" y="8662"/>
                  </a:cubicBezTo>
                  <a:cubicBezTo>
                    <a:pt x="3439" y="8716"/>
                    <a:pt x="3439" y="8770"/>
                    <a:pt x="3439" y="8824"/>
                  </a:cubicBezTo>
                  <a:cubicBezTo>
                    <a:pt x="3499" y="8932"/>
                    <a:pt x="3560" y="8986"/>
                    <a:pt x="3620" y="8986"/>
                  </a:cubicBezTo>
                  <a:cubicBezTo>
                    <a:pt x="3620" y="9041"/>
                    <a:pt x="3620" y="9041"/>
                    <a:pt x="3620" y="9041"/>
                  </a:cubicBezTo>
                  <a:cubicBezTo>
                    <a:pt x="3680" y="9149"/>
                    <a:pt x="3620" y="9257"/>
                    <a:pt x="3620" y="9420"/>
                  </a:cubicBezTo>
                  <a:cubicBezTo>
                    <a:pt x="3560" y="9474"/>
                    <a:pt x="3560" y="9582"/>
                    <a:pt x="3560" y="9690"/>
                  </a:cubicBezTo>
                  <a:cubicBezTo>
                    <a:pt x="3560" y="9744"/>
                    <a:pt x="3560" y="9744"/>
                    <a:pt x="3560" y="9744"/>
                  </a:cubicBezTo>
                  <a:cubicBezTo>
                    <a:pt x="3560" y="10015"/>
                    <a:pt x="3560" y="10232"/>
                    <a:pt x="3499" y="10502"/>
                  </a:cubicBezTo>
                  <a:cubicBezTo>
                    <a:pt x="3499" y="10719"/>
                    <a:pt x="3439" y="10881"/>
                    <a:pt x="3379" y="11152"/>
                  </a:cubicBezTo>
                  <a:cubicBezTo>
                    <a:pt x="3318" y="11260"/>
                    <a:pt x="3318" y="11260"/>
                    <a:pt x="3318" y="11260"/>
                  </a:cubicBezTo>
                  <a:cubicBezTo>
                    <a:pt x="3258" y="11477"/>
                    <a:pt x="3017" y="11693"/>
                    <a:pt x="2836" y="11856"/>
                  </a:cubicBezTo>
                  <a:cubicBezTo>
                    <a:pt x="2715" y="11910"/>
                    <a:pt x="2655" y="11964"/>
                    <a:pt x="2534" y="12018"/>
                  </a:cubicBezTo>
                  <a:cubicBezTo>
                    <a:pt x="2534" y="12018"/>
                    <a:pt x="2474" y="12072"/>
                    <a:pt x="2474" y="12072"/>
                  </a:cubicBezTo>
                  <a:cubicBezTo>
                    <a:pt x="2413" y="12072"/>
                    <a:pt x="2293" y="12126"/>
                    <a:pt x="2232" y="12180"/>
                  </a:cubicBezTo>
                  <a:cubicBezTo>
                    <a:pt x="2112" y="12343"/>
                    <a:pt x="2112" y="12451"/>
                    <a:pt x="2112" y="12614"/>
                  </a:cubicBezTo>
                  <a:cubicBezTo>
                    <a:pt x="2112" y="12668"/>
                    <a:pt x="2112" y="12668"/>
                    <a:pt x="2112" y="12668"/>
                  </a:cubicBezTo>
                  <a:cubicBezTo>
                    <a:pt x="2112" y="12722"/>
                    <a:pt x="2112" y="12722"/>
                    <a:pt x="2051" y="12722"/>
                  </a:cubicBezTo>
                  <a:cubicBezTo>
                    <a:pt x="1991" y="12776"/>
                    <a:pt x="1991" y="12776"/>
                    <a:pt x="1931" y="12830"/>
                  </a:cubicBezTo>
                  <a:cubicBezTo>
                    <a:pt x="1870" y="12884"/>
                    <a:pt x="1810" y="12992"/>
                    <a:pt x="1750" y="13047"/>
                  </a:cubicBezTo>
                  <a:cubicBezTo>
                    <a:pt x="1689" y="13101"/>
                    <a:pt x="1629" y="13155"/>
                    <a:pt x="1569" y="13209"/>
                  </a:cubicBezTo>
                  <a:cubicBezTo>
                    <a:pt x="1448" y="13371"/>
                    <a:pt x="1327" y="13534"/>
                    <a:pt x="1327" y="13696"/>
                  </a:cubicBezTo>
                  <a:cubicBezTo>
                    <a:pt x="1327" y="13805"/>
                    <a:pt x="1327" y="13859"/>
                    <a:pt x="1327" y="13913"/>
                  </a:cubicBezTo>
                  <a:cubicBezTo>
                    <a:pt x="1327" y="14021"/>
                    <a:pt x="1327" y="14129"/>
                    <a:pt x="1267" y="14238"/>
                  </a:cubicBezTo>
                  <a:cubicBezTo>
                    <a:pt x="1267" y="14238"/>
                    <a:pt x="1267" y="14292"/>
                    <a:pt x="1207" y="14292"/>
                  </a:cubicBezTo>
                  <a:cubicBezTo>
                    <a:pt x="1207" y="14346"/>
                    <a:pt x="1207" y="14346"/>
                    <a:pt x="1207" y="14346"/>
                  </a:cubicBezTo>
                  <a:cubicBezTo>
                    <a:pt x="1146" y="14454"/>
                    <a:pt x="1086" y="14508"/>
                    <a:pt x="1086" y="14562"/>
                  </a:cubicBezTo>
                  <a:cubicBezTo>
                    <a:pt x="1026" y="14671"/>
                    <a:pt x="1026" y="14779"/>
                    <a:pt x="1026" y="14887"/>
                  </a:cubicBezTo>
                  <a:cubicBezTo>
                    <a:pt x="1026" y="14941"/>
                    <a:pt x="1026" y="14995"/>
                    <a:pt x="1026" y="15050"/>
                  </a:cubicBezTo>
                  <a:cubicBezTo>
                    <a:pt x="1026" y="15104"/>
                    <a:pt x="1026" y="15158"/>
                    <a:pt x="1026" y="15158"/>
                  </a:cubicBezTo>
                  <a:cubicBezTo>
                    <a:pt x="965" y="15266"/>
                    <a:pt x="965" y="15374"/>
                    <a:pt x="965" y="15483"/>
                  </a:cubicBezTo>
                  <a:cubicBezTo>
                    <a:pt x="965" y="15699"/>
                    <a:pt x="905" y="15970"/>
                    <a:pt x="784" y="16186"/>
                  </a:cubicBezTo>
                  <a:cubicBezTo>
                    <a:pt x="664" y="16403"/>
                    <a:pt x="543" y="16674"/>
                    <a:pt x="543" y="16998"/>
                  </a:cubicBezTo>
                  <a:cubicBezTo>
                    <a:pt x="543" y="17053"/>
                    <a:pt x="543" y="17053"/>
                    <a:pt x="543" y="17107"/>
                  </a:cubicBezTo>
                  <a:cubicBezTo>
                    <a:pt x="543" y="17161"/>
                    <a:pt x="543" y="17215"/>
                    <a:pt x="483" y="17323"/>
                  </a:cubicBezTo>
                  <a:cubicBezTo>
                    <a:pt x="422" y="17323"/>
                    <a:pt x="362" y="17377"/>
                    <a:pt x="302" y="17432"/>
                  </a:cubicBezTo>
                  <a:cubicBezTo>
                    <a:pt x="241" y="17486"/>
                    <a:pt x="181" y="17594"/>
                    <a:pt x="121" y="17702"/>
                  </a:cubicBezTo>
                  <a:cubicBezTo>
                    <a:pt x="0" y="17865"/>
                    <a:pt x="60" y="18027"/>
                    <a:pt x="60" y="18135"/>
                  </a:cubicBezTo>
                  <a:cubicBezTo>
                    <a:pt x="60" y="18189"/>
                    <a:pt x="121" y="18244"/>
                    <a:pt x="121" y="18244"/>
                  </a:cubicBezTo>
                  <a:cubicBezTo>
                    <a:pt x="121" y="18514"/>
                    <a:pt x="181" y="18731"/>
                    <a:pt x="181" y="18947"/>
                  </a:cubicBezTo>
                  <a:cubicBezTo>
                    <a:pt x="181" y="19110"/>
                    <a:pt x="181" y="19272"/>
                    <a:pt x="121" y="19380"/>
                  </a:cubicBezTo>
                  <a:cubicBezTo>
                    <a:pt x="60" y="19705"/>
                    <a:pt x="0" y="19922"/>
                    <a:pt x="0" y="20192"/>
                  </a:cubicBezTo>
                  <a:cubicBezTo>
                    <a:pt x="0" y="20463"/>
                    <a:pt x="0" y="20463"/>
                    <a:pt x="0" y="20463"/>
                  </a:cubicBezTo>
                  <a:cubicBezTo>
                    <a:pt x="181" y="20355"/>
                    <a:pt x="181" y="20355"/>
                    <a:pt x="181" y="20355"/>
                  </a:cubicBezTo>
                  <a:cubicBezTo>
                    <a:pt x="422" y="20247"/>
                    <a:pt x="603" y="20138"/>
                    <a:pt x="784" y="20138"/>
                  </a:cubicBezTo>
                  <a:cubicBezTo>
                    <a:pt x="845" y="20138"/>
                    <a:pt x="845" y="20138"/>
                    <a:pt x="905" y="20138"/>
                  </a:cubicBezTo>
                  <a:cubicBezTo>
                    <a:pt x="965" y="20138"/>
                    <a:pt x="1026" y="20192"/>
                    <a:pt x="1086" y="20247"/>
                  </a:cubicBezTo>
                  <a:cubicBezTo>
                    <a:pt x="1146" y="20301"/>
                    <a:pt x="1207" y="20301"/>
                    <a:pt x="1327" y="20355"/>
                  </a:cubicBezTo>
                  <a:cubicBezTo>
                    <a:pt x="1327" y="20355"/>
                    <a:pt x="1327" y="20355"/>
                    <a:pt x="1388" y="20355"/>
                  </a:cubicBezTo>
                  <a:cubicBezTo>
                    <a:pt x="1508" y="20355"/>
                    <a:pt x="1750" y="20301"/>
                    <a:pt x="1870" y="20247"/>
                  </a:cubicBezTo>
                  <a:cubicBezTo>
                    <a:pt x="1931" y="20192"/>
                    <a:pt x="1991" y="20138"/>
                    <a:pt x="2051" y="20084"/>
                  </a:cubicBezTo>
                  <a:cubicBezTo>
                    <a:pt x="2112" y="19976"/>
                    <a:pt x="2172" y="19922"/>
                    <a:pt x="2232" y="19922"/>
                  </a:cubicBezTo>
                  <a:cubicBezTo>
                    <a:pt x="2293" y="19868"/>
                    <a:pt x="2655" y="19814"/>
                    <a:pt x="2775" y="19814"/>
                  </a:cubicBezTo>
                  <a:cubicBezTo>
                    <a:pt x="2775" y="19814"/>
                    <a:pt x="2775" y="19814"/>
                    <a:pt x="2775" y="19814"/>
                  </a:cubicBezTo>
                  <a:cubicBezTo>
                    <a:pt x="3017" y="19814"/>
                    <a:pt x="3198" y="19976"/>
                    <a:pt x="3318" y="20138"/>
                  </a:cubicBezTo>
                  <a:cubicBezTo>
                    <a:pt x="3379" y="20247"/>
                    <a:pt x="3439" y="20301"/>
                    <a:pt x="3499" y="20355"/>
                  </a:cubicBezTo>
                  <a:cubicBezTo>
                    <a:pt x="3620" y="20409"/>
                    <a:pt x="3801" y="20517"/>
                    <a:pt x="3922" y="20571"/>
                  </a:cubicBezTo>
                  <a:cubicBezTo>
                    <a:pt x="4103" y="20626"/>
                    <a:pt x="4284" y="20680"/>
                    <a:pt x="4585" y="20680"/>
                  </a:cubicBezTo>
                  <a:cubicBezTo>
                    <a:pt x="4827" y="20680"/>
                    <a:pt x="5008" y="20626"/>
                    <a:pt x="5189" y="20626"/>
                  </a:cubicBezTo>
                  <a:cubicBezTo>
                    <a:pt x="5309" y="20626"/>
                    <a:pt x="5430" y="20626"/>
                    <a:pt x="5551" y="20626"/>
                  </a:cubicBezTo>
                  <a:cubicBezTo>
                    <a:pt x="11765" y="20626"/>
                    <a:pt x="11765" y="20626"/>
                    <a:pt x="11765" y="20626"/>
                  </a:cubicBezTo>
                  <a:cubicBezTo>
                    <a:pt x="11946" y="20842"/>
                    <a:pt x="12067" y="21113"/>
                    <a:pt x="12308" y="21275"/>
                  </a:cubicBezTo>
                  <a:cubicBezTo>
                    <a:pt x="12429" y="21383"/>
                    <a:pt x="12670" y="21438"/>
                    <a:pt x="12791" y="21438"/>
                  </a:cubicBezTo>
                  <a:cubicBezTo>
                    <a:pt x="12851" y="21438"/>
                    <a:pt x="12912" y="21438"/>
                    <a:pt x="12972" y="21383"/>
                  </a:cubicBezTo>
                  <a:cubicBezTo>
                    <a:pt x="13032" y="21383"/>
                    <a:pt x="13093" y="21383"/>
                    <a:pt x="13153" y="21383"/>
                  </a:cubicBezTo>
                  <a:cubicBezTo>
                    <a:pt x="13455" y="21383"/>
                    <a:pt x="13696" y="21438"/>
                    <a:pt x="13937" y="21492"/>
                  </a:cubicBezTo>
                  <a:cubicBezTo>
                    <a:pt x="13998" y="21492"/>
                    <a:pt x="14058" y="21492"/>
                    <a:pt x="14118" y="21492"/>
                  </a:cubicBezTo>
                  <a:cubicBezTo>
                    <a:pt x="14299" y="21492"/>
                    <a:pt x="14420" y="21438"/>
                    <a:pt x="14601" y="21438"/>
                  </a:cubicBezTo>
                  <a:cubicBezTo>
                    <a:pt x="14661" y="21383"/>
                    <a:pt x="14782" y="21383"/>
                    <a:pt x="14903" y="21383"/>
                  </a:cubicBezTo>
                  <a:cubicBezTo>
                    <a:pt x="14963" y="21383"/>
                    <a:pt x="14963" y="21383"/>
                    <a:pt x="14963" y="21383"/>
                  </a:cubicBezTo>
                  <a:cubicBezTo>
                    <a:pt x="15144" y="21383"/>
                    <a:pt x="15325" y="21438"/>
                    <a:pt x="15446" y="21492"/>
                  </a:cubicBezTo>
                  <a:cubicBezTo>
                    <a:pt x="15566" y="21492"/>
                    <a:pt x="15687" y="21546"/>
                    <a:pt x="15808" y="21546"/>
                  </a:cubicBezTo>
                  <a:cubicBezTo>
                    <a:pt x="15868" y="21600"/>
                    <a:pt x="15928" y="21600"/>
                    <a:pt x="15928" y="21600"/>
                  </a:cubicBezTo>
                  <a:cubicBezTo>
                    <a:pt x="16049" y="21600"/>
                    <a:pt x="16170" y="21546"/>
                    <a:pt x="16230" y="21546"/>
                  </a:cubicBezTo>
                  <a:cubicBezTo>
                    <a:pt x="16291" y="21546"/>
                    <a:pt x="16411" y="21546"/>
                    <a:pt x="16472" y="21546"/>
                  </a:cubicBezTo>
                  <a:cubicBezTo>
                    <a:pt x="16532" y="21546"/>
                    <a:pt x="16592" y="21546"/>
                    <a:pt x="16653" y="21546"/>
                  </a:cubicBezTo>
                  <a:cubicBezTo>
                    <a:pt x="16773" y="21546"/>
                    <a:pt x="16773" y="21546"/>
                    <a:pt x="16773" y="21546"/>
                  </a:cubicBezTo>
                  <a:cubicBezTo>
                    <a:pt x="16894" y="21600"/>
                    <a:pt x="16954" y="21600"/>
                    <a:pt x="17075" y="21600"/>
                  </a:cubicBezTo>
                  <a:cubicBezTo>
                    <a:pt x="17196" y="21600"/>
                    <a:pt x="17256" y="21600"/>
                    <a:pt x="17377" y="21546"/>
                  </a:cubicBezTo>
                  <a:cubicBezTo>
                    <a:pt x="17618" y="21492"/>
                    <a:pt x="17859" y="21383"/>
                    <a:pt x="18101" y="21383"/>
                  </a:cubicBezTo>
                  <a:cubicBezTo>
                    <a:pt x="18342" y="21329"/>
                    <a:pt x="18342" y="21329"/>
                    <a:pt x="18342" y="21329"/>
                  </a:cubicBezTo>
                  <a:cubicBezTo>
                    <a:pt x="18825" y="21329"/>
                    <a:pt x="19247" y="21275"/>
                    <a:pt x="19669" y="21113"/>
                  </a:cubicBezTo>
                  <a:cubicBezTo>
                    <a:pt x="19790" y="21113"/>
                    <a:pt x="19911" y="21059"/>
                    <a:pt x="20031" y="21059"/>
                  </a:cubicBezTo>
                  <a:cubicBezTo>
                    <a:pt x="20212" y="21005"/>
                    <a:pt x="20212" y="21005"/>
                    <a:pt x="20212" y="21005"/>
                  </a:cubicBezTo>
                  <a:cubicBezTo>
                    <a:pt x="18221" y="19002"/>
                    <a:pt x="18221" y="19002"/>
                    <a:pt x="18221" y="19002"/>
                  </a:cubicBezTo>
                  <a:cubicBezTo>
                    <a:pt x="18221" y="18947"/>
                    <a:pt x="18221" y="18568"/>
                    <a:pt x="17920" y="18460"/>
                  </a:cubicBezTo>
                  <a:cubicBezTo>
                    <a:pt x="18040" y="12776"/>
                    <a:pt x="18040" y="12776"/>
                    <a:pt x="18040" y="12776"/>
                  </a:cubicBezTo>
                  <a:cubicBezTo>
                    <a:pt x="19971" y="12776"/>
                    <a:pt x="19971" y="12776"/>
                    <a:pt x="19971" y="12776"/>
                  </a:cubicBezTo>
                  <a:cubicBezTo>
                    <a:pt x="20273" y="12776"/>
                    <a:pt x="20574" y="12776"/>
                    <a:pt x="20876" y="12776"/>
                  </a:cubicBezTo>
                  <a:cubicBezTo>
                    <a:pt x="21238" y="12776"/>
                    <a:pt x="21238" y="12776"/>
                    <a:pt x="21238" y="12776"/>
                  </a:cubicBezTo>
                  <a:cubicBezTo>
                    <a:pt x="21238" y="12776"/>
                    <a:pt x="21298" y="12776"/>
                    <a:pt x="21298" y="12776"/>
                  </a:cubicBezTo>
                  <a:cubicBezTo>
                    <a:pt x="21479" y="12776"/>
                    <a:pt x="21479" y="12776"/>
                    <a:pt x="21479" y="12776"/>
                  </a:cubicBezTo>
                  <a:cubicBezTo>
                    <a:pt x="21419" y="12614"/>
                    <a:pt x="21419" y="12614"/>
                    <a:pt x="21419" y="12614"/>
                  </a:cubicBezTo>
                  <a:cubicBezTo>
                    <a:pt x="21419" y="12614"/>
                    <a:pt x="21359" y="12614"/>
                    <a:pt x="21359" y="12559"/>
                  </a:cubicBezTo>
                  <a:cubicBezTo>
                    <a:pt x="21298" y="12505"/>
                    <a:pt x="21298" y="12451"/>
                    <a:pt x="21298" y="12343"/>
                  </a:cubicBezTo>
                  <a:cubicBezTo>
                    <a:pt x="21298" y="12235"/>
                    <a:pt x="21359" y="12072"/>
                    <a:pt x="21479" y="11910"/>
                  </a:cubicBezTo>
                  <a:cubicBezTo>
                    <a:pt x="21540" y="11802"/>
                    <a:pt x="21600" y="11693"/>
                    <a:pt x="21540" y="11531"/>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49" name="Shape">
              <a:extLst>
                <a:ext uri="{FF2B5EF4-FFF2-40B4-BE49-F238E27FC236}">
                  <a16:creationId xmlns:a16="http://schemas.microsoft.com/office/drawing/2014/main" id="{66614292-0993-0B40-A722-D546DD1DF7AF}"/>
                </a:ext>
              </a:extLst>
            </p:cNvPr>
            <p:cNvSpPr/>
            <p:nvPr/>
          </p:nvSpPr>
          <p:spPr>
            <a:xfrm>
              <a:off x="6511816" y="5541116"/>
              <a:ext cx="345376" cy="898507"/>
            </a:xfrm>
            <a:custGeom>
              <a:avLst/>
              <a:gdLst/>
              <a:ahLst/>
              <a:cxnLst>
                <a:cxn ang="0">
                  <a:pos x="wd2" y="hd2"/>
                </a:cxn>
                <a:cxn ang="5400000">
                  <a:pos x="wd2" y="hd2"/>
                </a:cxn>
                <a:cxn ang="10800000">
                  <a:pos x="wd2" y="hd2"/>
                </a:cxn>
                <a:cxn ang="16200000">
                  <a:pos x="wd2" y="hd2"/>
                </a:cxn>
              </a:cxnLst>
              <a:rect l="0" t="0" r="r" b="b"/>
              <a:pathLst>
                <a:path w="21600" h="21600" extrusionOk="0">
                  <a:moveTo>
                    <a:pt x="21357" y="17125"/>
                  </a:moveTo>
                  <a:cubicBezTo>
                    <a:pt x="21357" y="16953"/>
                    <a:pt x="21357" y="16695"/>
                    <a:pt x="21357" y="16523"/>
                  </a:cubicBezTo>
                  <a:cubicBezTo>
                    <a:pt x="21357" y="16437"/>
                    <a:pt x="21357" y="16351"/>
                    <a:pt x="21357" y="16265"/>
                  </a:cubicBezTo>
                  <a:cubicBezTo>
                    <a:pt x="21357" y="16178"/>
                    <a:pt x="21357" y="16178"/>
                    <a:pt x="21357" y="16178"/>
                  </a:cubicBezTo>
                  <a:cubicBezTo>
                    <a:pt x="21357" y="15834"/>
                    <a:pt x="21600" y="15576"/>
                    <a:pt x="21357" y="15318"/>
                  </a:cubicBezTo>
                  <a:cubicBezTo>
                    <a:pt x="20872" y="14457"/>
                    <a:pt x="19658" y="12908"/>
                    <a:pt x="16746" y="12392"/>
                  </a:cubicBezTo>
                  <a:cubicBezTo>
                    <a:pt x="15533" y="12134"/>
                    <a:pt x="15533" y="12134"/>
                    <a:pt x="15533" y="12134"/>
                  </a:cubicBezTo>
                  <a:cubicBezTo>
                    <a:pt x="16261" y="12736"/>
                    <a:pt x="16261" y="12736"/>
                    <a:pt x="16261" y="12736"/>
                  </a:cubicBezTo>
                  <a:cubicBezTo>
                    <a:pt x="16503" y="12994"/>
                    <a:pt x="16989" y="13339"/>
                    <a:pt x="16746" y="13425"/>
                  </a:cubicBezTo>
                  <a:cubicBezTo>
                    <a:pt x="16746" y="13425"/>
                    <a:pt x="16746" y="13425"/>
                    <a:pt x="16746" y="13425"/>
                  </a:cubicBezTo>
                  <a:cubicBezTo>
                    <a:pt x="16746" y="13425"/>
                    <a:pt x="16503" y="13339"/>
                    <a:pt x="16503" y="13167"/>
                  </a:cubicBezTo>
                  <a:cubicBezTo>
                    <a:pt x="16261" y="12994"/>
                    <a:pt x="16018" y="12736"/>
                    <a:pt x="15047" y="12736"/>
                  </a:cubicBezTo>
                  <a:cubicBezTo>
                    <a:pt x="14319" y="12736"/>
                    <a:pt x="14076" y="12994"/>
                    <a:pt x="14076" y="13080"/>
                  </a:cubicBezTo>
                  <a:cubicBezTo>
                    <a:pt x="13834" y="13167"/>
                    <a:pt x="13834" y="13167"/>
                    <a:pt x="13834" y="13253"/>
                  </a:cubicBezTo>
                  <a:cubicBezTo>
                    <a:pt x="13834" y="13253"/>
                    <a:pt x="13348" y="13167"/>
                    <a:pt x="13106" y="12736"/>
                  </a:cubicBezTo>
                  <a:cubicBezTo>
                    <a:pt x="12620" y="12392"/>
                    <a:pt x="12620" y="11962"/>
                    <a:pt x="12620" y="11531"/>
                  </a:cubicBezTo>
                  <a:cubicBezTo>
                    <a:pt x="12378" y="11273"/>
                    <a:pt x="12378" y="10929"/>
                    <a:pt x="12378" y="10671"/>
                  </a:cubicBezTo>
                  <a:cubicBezTo>
                    <a:pt x="12135" y="10241"/>
                    <a:pt x="11649" y="9724"/>
                    <a:pt x="11164" y="9294"/>
                  </a:cubicBezTo>
                  <a:cubicBezTo>
                    <a:pt x="10921" y="8864"/>
                    <a:pt x="10436" y="8433"/>
                    <a:pt x="10193" y="8003"/>
                  </a:cubicBezTo>
                  <a:cubicBezTo>
                    <a:pt x="10193" y="7573"/>
                    <a:pt x="10436" y="7143"/>
                    <a:pt x="10921" y="6712"/>
                  </a:cubicBezTo>
                  <a:cubicBezTo>
                    <a:pt x="11407" y="6368"/>
                    <a:pt x="11649" y="5938"/>
                    <a:pt x="11649" y="5508"/>
                  </a:cubicBezTo>
                  <a:cubicBezTo>
                    <a:pt x="11649" y="5249"/>
                    <a:pt x="11407" y="4991"/>
                    <a:pt x="11407" y="4819"/>
                  </a:cubicBezTo>
                  <a:cubicBezTo>
                    <a:pt x="11164" y="4561"/>
                    <a:pt x="11164" y="4303"/>
                    <a:pt x="11164" y="4131"/>
                  </a:cubicBezTo>
                  <a:cubicBezTo>
                    <a:pt x="11164" y="3873"/>
                    <a:pt x="11164" y="3700"/>
                    <a:pt x="11407" y="3442"/>
                  </a:cubicBezTo>
                  <a:cubicBezTo>
                    <a:pt x="11649" y="3012"/>
                    <a:pt x="11649" y="2582"/>
                    <a:pt x="11164" y="2151"/>
                  </a:cubicBezTo>
                  <a:cubicBezTo>
                    <a:pt x="11164" y="2065"/>
                    <a:pt x="10921" y="1979"/>
                    <a:pt x="10679" y="1807"/>
                  </a:cubicBezTo>
                  <a:cubicBezTo>
                    <a:pt x="9951" y="1463"/>
                    <a:pt x="9222" y="1033"/>
                    <a:pt x="9222" y="775"/>
                  </a:cubicBezTo>
                  <a:cubicBezTo>
                    <a:pt x="9465" y="688"/>
                    <a:pt x="9465" y="602"/>
                    <a:pt x="9708" y="602"/>
                  </a:cubicBezTo>
                  <a:cubicBezTo>
                    <a:pt x="9951" y="516"/>
                    <a:pt x="10193" y="516"/>
                    <a:pt x="10436" y="516"/>
                  </a:cubicBezTo>
                  <a:cubicBezTo>
                    <a:pt x="11164" y="516"/>
                    <a:pt x="11164" y="516"/>
                    <a:pt x="11164" y="516"/>
                  </a:cubicBezTo>
                  <a:cubicBezTo>
                    <a:pt x="10679" y="258"/>
                    <a:pt x="10679" y="258"/>
                    <a:pt x="10679" y="258"/>
                  </a:cubicBezTo>
                  <a:cubicBezTo>
                    <a:pt x="10436" y="86"/>
                    <a:pt x="10193" y="0"/>
                    <a:pt x="9951" y="0"/>
                  </a:cubicBezTo>
                  <a:cubicBezTo>
                    <a:pt x="9465" y="0"/>
                    <a:pt x="9222" y="86"/>
                    <a:pt x="9222" y="172"/>
                  </a:cubicBezTo>
                  <a:cubicBezTo>
                    <a:pt x="8980" y="258"/>
                    <a:pt x="8980" y="258"/>
                    <a:pt x="8737" y="258"/>
                  </a:cubicBezTo>
                  <a:cubicBezTo>
                    <a:pt x="8494" y="258"/>
                    <a:pt x="8494" y="258"/>
                    <a:pt x="8494" y="258"/>
                  </a:cubicBezTo>
                  <a:cubicBezTo>
                    <a:pt x="8009" y="258"/>
                    <a:pt x="7524" y="258"/>
                    <a:pt x="7281" y="172"/>
                  </a:cubicBezTo>
                  <a:cubicBezTo>
                    <a:pt x="7038" y="172"/>
                    <a:pt x="7038" y="172"/>
                    <a:pt x="7038" y="172"/>
                  </a:cubicBezTo>
                  <a:cubicBezTo>
                    <a:pt x="6067" y="86"/>
                    <a:pt x="5582" y="0"/>
                    <a:pt x="4611" y="0"/>
                  </a:cubicBezTo>
                  <a:cubicBezTo>
                    <a:pt x="4611" y="0"/>
                    <a:pt x="4611" y="0"/>
                    <a:pt x="4369" y="0"/>
                  </a:cubicBezTo>
                  <a:cubicBezTo>
                    <a:pt x="4369" y="0"/>
                    <a:pt x="4126" y="0"/>
                    <a:pt x="4126" y="0"/>
                  </a:cubicBezTo>
                  <a:cubicBezTo>
                    <a:pt x="2912" y="0"/>
                    <a:pt x="2912" y="0"/>
                    <a:pt x="2912" y="0"/>
                  </a:cubicBezTo>
                  <a:cubicBezTo>
                    <a:pt x="3398" y="258"/>
                    <a:pt x="3398" y="258"/>
                    <a:pt x="3398" y="258"/>
                  </a:cubicBezTo>
                  <a:cubicBezTo>
                    <a:pt x="3640" y="344"/>
                    <a:pt x="3883" y="430"/>
                    <a:pt x="3883" y="516"/>
                  </a:cubicBezTo>
                  <a:cubicBezTo>
                    <a:pt x="4126" y="602"/>
                    <a:pt x="4369" y="688"/>
                    <a:pt x="4611" y="775"/>
                  </a:cubicBezTo>
                  <a:cubicBezTo>
                    <a:pt x="5097" y="947"/>
                    <a:pt x="4854" y="1033"/>
                    <a:pt x="4854" y="1119"/>
                  </a:cubicBezTo>
                  <a:cubicBezTo>
                    <a:pt x="4611" y="1119"/>
                    <a:pt x="4611" y="1205"/>
                    <a:pt x="4611" y="1377"/>
                  </a:cubicBezTo>
                  <a:cubicBezTo>
                    <a:pt x="4611" y="1635"/>
                    <a:pt x="4854" y="1721"/>
                    <a:pt x="5582" y="1807"/>
                  </a:cubicBezTo>
                  <a:cubicBezTo>
                    <a:pt x="5825" y="1807"/>
                    <a:pt x="6067" y="1807"/>
                    <a:pt x="6310" y="1893"/>
                  </a:cubicBezTo>
                  <a:cubicBezTo>
                    <a:pt x="6553" y="1979"/>
                    <a:pt x="6553" y="2151"/>
                    <a:pt x="6553" y="2237"/>
                  </a:cubicBezTo>
                  <a:cubicBezTo>
                    <a:pt x="6553" y="2410"/>
                    <a:pt x="6553" y="2668"/>
                    <a:pt x="7281" y="2754"/>
                  </a:cubicBezTo>
                  <a:cubicBezTo>
                    <a:pt x="7281" y="3184"/>
                    <a:pt x="6553" y="3356"/>
                    <a:pt x="5582" y="3528"/>
                  </a:cubicBezTo>
                  <a:cubicBezTo>
                    <a:pt x="5339" y="3528"/>
                    <a:pt x="5097" y="3614"/>
                    <a:pt x="4854" y="3614"/>
                  </a:cubicBezTo>
                  <a:cubicBezTo>
                    <a:pt x="4369" y="3700"/>
                    <a:pt x="4126" y="3786"/>
                    <a:pt x="4126" y="3873"/>
                  </a:cubicBezTo>
                  <a:cubicBezTo>
                    <a:pt x="4126" y="3959"/>
                    <a:pt x="4126" y="4045"/>
                    <a:pt x="4369" y="4217"/>
                  </a:cubicBezTo>
                  <a:cubicBezTo>
                    <a:pt x="4611" y="4303"/>
                    <a:pt x="4854" y="4389"/>
                    <a:pt x="5097" y="4561"/>
                  </a:cubicBezTo>
                  <a:cubicBezTo>
                    <a:pt x="5097" y="4733"/>
                    <a:pt x="4854" y="4819"/>
                    <a:pt x="4611" y="4905"/>
                  </a:cubicBezTo>
                  <a:cubicBezTo>
                    <a:pt x="4611" y="4991"/>
                    <a:pt x="4369" y="5077"/>
                    <a:pt x="4369" y="5163"/>
                  </a:cubicBezTo>
                  <a:cubicBezTo>
                    <a:pt x="4126" y="5335"/>
                    <a:pt x="4369" y="5508"/>
                    <a:pt x="4369" y="5680"/>
                  </a:cubicBezTo>
                  <a:cubicBezTo>
                    <a:pt x="4369" y="5680"/>
                    <a:pt x="4369" y="5766"/>
                    <a:pt x="4611" y="5852"/>
                  </a:cubicBezTo>
                  <a:cubicBezTo>
                    <a:pt x="4611" y="6110"/>
                    <a:pt x="4369" y="6368"/>
                    <a:pt x="4369" y="6626"/>
                  </a:cubicBezTo>
                  <a:cubicBezTo>
                    <a:pt x="4126" y="6884"/>
                    <a:pt x="4126" y="7057"/>
                    <a:pt x="4126" y="7229"/>
                  </a:cubicBezTo>
                  <a:cubicBezTo>
                    <a:pt x="3883" y="7659"/>
                    <a:pt x="4611" y="7745"/>
                    <a:pt x="5097" y="7831"/>
                  </a:cubicBezTo>
                  <a:cubicBezTo>
                    <a:pt x="5582" y="7831"/>
                    <a:pt x="5825" y="7917"/>
                    <a:pt x="6067" y="8003"/>
                  </a:cubicBezTo>
                  <a:cubicBezTo>
                    <a:pt x="6067" y="8433"/>
                    <a:pt x="5097" y="8520"/>
                    <a:pt x="3640" y="8692"/>
                  </a:cubicBezTo>
                  <a:cubicBezTo>
                    <a:pt x="3155" y="8692"/>
                    <a:pt x="2670" y="8778"/>
                    <a:pt x="2184" y="8864"/>
                  </a:cubicBezTo>
                  <a:cubicBezTo>
                    <a:pt x="1942" y="8864"/>
                    <a:pt x="1942" y="8864"/>
                    <a:pt x="1942" y="8864"/>
                  </a:cubicBezTo>
                  <a:cubicBezTo>
                    <a:pt x="1942" y="8950"/>
                    <a:pt x="1942" y="8950"/>
                    <a:pt x="1942" y="8950"/>
                  </a:cubicBezTo>
                  <a:cubicBezTo>
                    <a:pt x="1942" y="9208"/>
                    <a:pt x="1942" y="9380"/>
                    <a:pt x="1942" y="9552"/>
                  </a:cubicBezTo>
                  <a:cubicBezTo>
                    <a:pt x="2184" y="9982"/>
                    <a:pt x="2184" y="10327"/>
                    <a:pt x="1456" y="10843"/>
                  </a:cubicBezTo>
                  <a:cubicBezTo>
                    <a:pt x="1456" y="10929"/>
                    <a:pt x="1213" y="11015"/>
                    <a:pt x="971" y="11101"/>
                  </a:cubicBezTo>
                  <a:cubicBezTo>
                    <a:pt x="485" y="11273"/>
                    <a:pt x="243" y="11359"/>
                    <a:pt x="0" y="11445"/>
                  </a:cubicBezTo>
                  <a:cubicBezTo>
                    <a:pt x="0" y="11704"/>
                    <a:pt x="243" y="11876"/>
                    <a:pt x="485" y="12048"/>
                  </a:cubicBezTo>
                  <a:cubicBezTo>
                    <a:pt x="485" y="12134"/>
                    <a:pt x="728" y="12134"/>
                    <a:pt x="728" y="12220"/>
                  </a:cubicBezTo>
                  <a:cubicBezTo>
                    <a:pt x="728" y="12306"/>
                    <a:pt x="971" y="12306"/>
                    <a:pt x="971" y="12392"/>
                  </a:cubicBezTo>
                  <a:cubicBezTo>
                    <a:pt x="1213" y="12564"/>
                    <a:pt x="1213" y="12736"/>
                    <a:pt x="2184" y="12736"/>
                  </a:cubicBezTo>
                  <a:cubicBezTo>
                    <a:pt x="2184" y="12736"/>
                    <a:pt x="2184" y="12736"/>
                    <a:pt x="2427" y="12736"/>
                  </a:cubicBezTo>
                  <a:cubicBezTo>
                    <a:pt x="2670" y="12736"/>
                    <a:pt x="2670" y="12736"/>
                    <a:pt x="2912" y="12736"/>
                  </a:cubicBezTo>
                  <a:cubicBezTo>
                    <a:pt x="2912" y="12736"/>
                    <a:pt x="2912" y="12736"/>
                    <a:pt x="2912" y="12736"/>
                  </a:cubicBezTo>
                  <a:cubicBezTo>
                    <a:pt x="3155" y="12736"/>
                    <a:pt x="3398" y="12822"/>
                    <a:pt x="3640" y="12908"/>
                  </a:cubicBezTo>
                  <a:cubicBezTo>
                    <a:pt x="3883" y="12994"/>
                    <a:pt x="4126" y="13253"/>
                    <a:pt x="4369" y="13425"/>
                  </a:cubicBezTo>
                  <a:cubicBezTo>
                    <a:pt x="5097" y="13855"/>
                    <a:pt x="5825" y="14199"/>
                    <a:pt x="6553" y="14285"/>
                  </a:cubicBezTo>
                  <a:cubicBezTo>
                    <a:pt x="6553" y="14285"/>
                    <a:pt x="6553" y="14285"/>
                    <a:pt x="6553" y="14285"/>
                  </a:cubicBezTo>
                  <a:cubicBezTo>
                    <a:pt x="7281" y="14285"/>
                    <a:pt x="8009" y="14113"/>
                    <a:pt x="8737" y="14027"/>
                  </a:cubicBezTo>
                  <a:cubicBezTo>
                    <a:pt x="9222" y="13941"/>
                    <a:pt x="9951" y="13855"/>
                    <a:pt x="10679" y="13855"/>
                  </a:cubicBezTo>
                  <a:cubicBezTo>
                    <a:pt x="11164" y="13855"/>
                    <a:pt x="11649" y="14027"/>
                    <a:pt x="12135" y="14199"/>
                  </a:cubicBezTo>
                  <a:cubicBezTo>
                    <a:pt x="13591" y="14974"/>
                    <a:pt x="12863" y="16006"/>
                    <a:pt x="11892" y="16695"/>
                  </a:cubicBezTo>
                  <a:cubicBezTo>
                    <a:pt x="11892" y="16781"/>
                    <a:pt x="11649" y="16953"/>
                    <a:pt x="11649" y="17039"/>
                  </a:cubicBezTo>
                  <a:cubicBezTo>
                    <a:pt x="11649" y="17211"/>
                    <a:pt x="11407" y="17383"/>
                    <a:pt x="11164" y="17469"/>
                  </a:cubicBezTo>
                  <a:cubicBezTo>
                    <a:pt x="11164" y="17555"/>
                    <a:pt x="10921" y="17641"/>
                    <a:pt x="10921" y="17641"/>
                  </a:cubicBezTo>
                  <a:cubicBezTo>
                    <a:pt x="10436" y="17900"/>
                    <a:pt x="10436" y="17986"/>
                    <a:pt x="10921" y="18244"/>
                  </a:cubicBezTo>
                  <a:cubicBezTo>
                    <a:pt x="10921" y="18330"/>
                    <a:pt x="11164" y="18416"/>
                    <a:pt x="11164" y="18416"/>
                  </a:cubicBezTo>
                  <a:cubicBezTo>
                    <a:pt x="11407" y="18502"/>
                    <a:pt x="11407" y="18588"/>
                    <a:pt x="11649" y="18760"/>
                  </a:cubicBezTo>
                  <a:cubicBezTo>
                    <a:pt x="11649" y="18846"/>
                    <a:pt x="11649" y="18846"/>
                    <a:pt x="11649" y="18932"/>
                  </a:cubicBezTo>
                  <a:cubicBezTo>
                    <a:pt x="11649" y="19018"/>
                    <a:pt x="11649" y="19104"/>
                    <a:pt x="11649" y="19190"/>
                  </a:cubicBezTo>
                  <a:cubicBezTo>
                    <a:pt x="12135" y="19621"/>
                    <a:pt x="13106" y="19879"/>
                    <a:pt x="14076" y="20137"/>
                  </a:cubicBezTo>
                  <a:cubicBezTo>
                    <a:pt x="14319" y="20223"/>
                    <a:pt x="14562" y="20309"/>
                    <a:pt x="14804" y="20395"/>
                  </a:cubicBezTo>
                  <a:cubicBezTo>
                    <a:pt x="15775" y="20653"/>
                    <a:pt x="15533" y="20739"/>
                    <a:pt x="15533" y="20912"/>
                  </a:cubicBezTo>
                  <a:cubicBezTo>
                    <a:pt x="15533" y="20998"/>
                    <a:pt x="15533" y="21084"/>
                    <a:pt x="15533" y="21256"/>
                  </a:cubicBezTo>
                  <a:cubicBezTo>
                    <a:pt x="15533" y="21428"/>
                    <a:pt x="15533" y="21514"/>
                    <a:pt x="15775" y="21600"/>
                  </a:cubicBezTo>
                  <a:cubicBezTo>
                    <a:pt x="16018" y="21600"/>
                    <a:pt x="16018" y="21600"/>
                    <a:pt x="16261" y="21600"/>
                  </a:cubicBezTo>
                  <a:cubicBezTo>
                    <a:pt x="16503" y="21600"/>
                    <a:pt x="16746" y="21600"/>
                    <a:pt x="16989" y="21600"/>
                  </a:cubicBezTo>
                  <a:cubicBezTo>
                    <a:pt x="17231" y="21600"/>
                    <a:pt x="17231" y="21600"/>
                    <a:pt x="17231" y="21600"/>
                  </a:cubicBezTo>
                  <a:cubicBezTo>
                    <a:pt x="17231" y="21428"/>
                    <a:pt x="17231" y="21428"/>
                    <a:pt x="17231" y="21428"/>
                  </a:cubicBezTo>
                  <a:cubicBezTo>
                    <a:pt x="17231" y="21084"/>
                    <a:pt x="17231" y="20825"/>
                    <a:pt x="16989" y="20567"/>
                  </a:cubicBezTo>
                  <a:cubicBezTo>
                    <a:pt x="16746" y="20395"/>
                    <a:pt x="16746" y="20309"/>
                    <a:pt x="16503" y="20137"/>
                  </a:cubicBezTo>
                  <a:cubicBezTo>
                    <a:pt x="16503" y="19879"/>
                    <a:pt x="16746" y="19621"/>
                    <a:pt x="17231" y="19363"/>
                  </a:cubicBezTo>
                  <a:cubicBezTo>
                    <a:pt x="17231" y="19363"/>
                    <a:pt x="17474" y="19190"/>
                    <a:pt x="17474" y="19104"/>
                  </a:cubicBezTo>
                  <a:cubicBezTo>
                    <a:pt x="17960" y="18846"/>
                    <a:pt x="18445" y="18846"/>
                    <a:pt x="18930" y="18760"/>
                  </a:cubicBezTo>
                  <a:cubicBezTo>
                    <a:pt x="19173" y="18760"/>
                    <a:pt x="19658" y="18760"/>
                    <a:pt x="20144" y="18674"/>
                  </a:cubicBezTo>
                  <a:cubicBezTo>
                    <a:pt x="21115" y="18588"/>
                    <a:pt x="21357" y="18244"/>
                    <a:pt x="21600" y="17727"/>
                  </a:cubicBezTo>
                  <a:cubicBezTo>
                    <a:pt x="21600" y="17555"/>
                    <a:pt x="21600" y="17383"/>
                    <a:pt x="21357" y="17125"/>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50" name="Shape">
              <a:extLst>
                <a:ext uri="{FF2B5EF4-FFF2-40B4-BE49-F238E27FC236}">
                  <a16:creationId xmlns:a16="http://schemas.microsoft.com/office/drawing/2014/main" id="{60A2A7F5-B00F-C44D-9D5F-BFA6EA700578}"/>
                </a:ext>
              </a:extLst>
            </p:cNvPr>
            <p:cNvSpPr/>
            <p:nvPr/>
          </p:nvSpPr>
          <p:spPr>
            <a:xfrm>
              <a:off x="5306225" y="5387085"/>
              <a:ext cx="1325724" cy="1163122"/>
            </a:xfrm>
            <a:custGeom>
              <a:avLst/>
              <a:gdLst/>
              <a:ahLst/>
              <a:cxnLst>
                <a:cxn ang="0">
                  <a:pos x="wd2" y="hd2"/>
                </a:cxn>
                <a:cxn ang="5400000">
                  <a:pos x="wd2" y="hd2"/>
                </a:cxn>
                <a:cxn ang="10800000">
                  <a:pos x="wd2" y="hd2"/>
                </a:cxn>
                <a:cxn ang="16200000">
                  <a:pos x="wd2" y="hd2"/>
                </a:cxn>
              </a:cxnLst>
              <a:rect l="0" t="0" r="r" b="b"/>
              <a:pathLst>
                <a:path w="21600" h="21600" extrusionOk="0">
                  <a:moveTo>
                    <a:pt x="21473" y="4918"/>
                  </a:moveTo>
                  <a:cubicBezTo>
                    <a:pt x="21347" y="4852"/>
                    <a:pt x="21347" y="4719"/>
                    <a:pt x="21347" y="4586"/>
                  </a:cubicBezTo>
                  <a:cubicBezTo>
                    <a:pt x="21347" y="4519"/>
                    <a:pt x="21347" y="4386"/>
                    <a:pt x="21283" y="4320"/>
                  </a:cubicBezTo>
                  <a:cubicBezTo>
                    <a:pt x="21220" y="4254"/>
                    <a:pt x="21157" y="4187"/>
                    <a:pt x="21093" y="4187"/>
                  </a:cubicBezTo>
                  <a:cubicBezTo>
                    <a:pt x="20967" y="4187"/>
                    <a:pt x="20840" y="4121"/>
                    <a:pt x="20840" y="3921"/>
                  </a:cubicBezTo>
                  <a:cubicBezTo>
                    <a:pt x="20840" y="3788"/>
                    <a:pt x="20903" y="3722"/>
                    <a:pt x="20903" y="3722"/>
                  </a:cubicBezTo>
                  <a:cubicBezTo>
                    <a:pt x="20967" y="3589"/>
                    <a:pt x="20903" y="3522"/>
                    <a:pt x="20840" y="3390"/>
                  </a:cubicBezTo>
                  <a:cubicBezTo>
                    <a:pt x="20777" y="3323"/>
                    <a:pt x="20713" y="3257"/>
                    <a:pt x="20713" y="3190"/>
                  </a:cubicBezTo>
                  <a:cubicBezTo>
                    <a:pt x="20587" y="3124"/>
                    <a:pt x="20523" y="2991"/>
                    <a:pt x="20460" y="2858"/>
                  </a:cubicBezTo>
                  <a:cubicBezTo>
                    <a:pt x="20396" y="2791"/>
                    <a:pt x="20396" y="2791"/>
                    <a:pt x="20396" y="2791"/>
                  </a:cubicBezTo>
                  <a:cubicBezTo>
                    <a:pt x="20396" y="2791"/>
                    <a:pt x="20396" y="2791"/>
                    <a:pt x="20396" y="2791"/>
                  </a:cubicBezTo>
                  <a:cubicBezTo>
                    <a:pt x="20396" y="2791"/>
                    <a:pt x="20333" y="2725"/>
                    <a:pt x="20333" y="2658"/>
                  </a:cubicBezTo>
                  <a:cubicBezTo>
                    <a:pt x="20333" y="2658"/>
                    <a:pt x="20270" y="2592"/>
                    <a:pt x="20270" y="2526"/>
                  </a:cubicBezTo>
                  <a:cubicBezTo>
                    <a:pt x="20143" y="2459"/>
                    <a:pt x="20016" y="2459"/>
                    <a:pt x="19890" y="2459"/>
                  </a:cubicBezTo>
                  <a:cubicBezTo>
                    <a:pt x="19826" y="2459"/>
                    <a:pt x="19700" y="2393"/>
                    <a:pt x="19573" y="2326"/>
                  </a:cubicBezTo>
                  <a:cubicBezTo>
                    <a:pt x="19573" y="2326"/>
                    <a:pt x="19510" y="2260"/>
                    <a:pt x="19510" y="2260"/>
                  </a:cubicBezTo>
                  <a:cubicBezTo>
                    <a:pt x="19446" y="2193"/>
                    <a:pt x="19383" y="2193"/>
                    <a:pt x="19320" y="2127"/>
                  </a:cubicBezTo>
                  <a:cubicBezTo>
                    <a:pt x="19256" y="2127"/>
                    <a:pt x="19256" y="2127"/>
                    <a:pt x="19193" y="2060"/>
                  </a:cubicBezTo>
                  <a:cubicBezTo>
                    <a:pt x="19130" y="2060"/>
                    <a:pt x="19066" y="2060"/>
                    <a:pt x="19066" y="2060"/>
                  </a:cubicBezTo>
                  <a:cubicBezTo>
                    <a:pt x="18940" y="1994"/>
                    <a:pt x="18876" y="1927"/>
                    <a:pt x="18750" y="1927"/>
                  </a:cubicBezTo>
                  <a:cubicBezTo>
                    <a:pt x="18686" y="1861"/>
                    <a:pt x="18686" y="1861"/>
                    <a:pt x="18686" y="1861"/>
                  </a:cubicBezTo>
                  <a:cubicBezTo>
                    <a:pt x="18623" y="1861"/>
                    <a:pt x="18623" y="1861"/>
                    <a:pt x="18623" y="1861"/>
                  </a:cubicBezTo>
                  <a:cubicBezTo>
                    <a:pt x="18623" y="1861"/>
                    <a:pt x="18623" y="1861"/>
                    <a:pt x="18623" y="1861"/>
                  </a:cubicBezTo>
                  <a:cubicBezTo>
                    <a:pt x="18560" y="1861"/>
                    <a:pt x="18560" y="1861"/>
                    <a:pt x="18560" y="1861"/>
                  </a:cubicBezTo>
                  <a:cubicBezTo>
                    <a:pt x="18496" y="1861"/>
                    <a:pt x="18496" y="1794"/>
                    <a:pt x="18496" y="1794"/>
                  </a:cubicBezTo>
                  <a:cubicBezTo>
                    <a:pt x="18496" y="1728"/>
                    <a:pt x="18496" y="1728"/>
                    <a:pt x="18496" y="1728"/>
                  </a:cubicBezTo>
                  <a:cubicBezTo>
                    <a:pt x="18433" y="1728"/>
                    <a:pt x="18433" y="1728"/>
                    <a:pt x="18433" y="1728"/>
                  </a:cubicBezTo>
                  <a:cubicBezTo>
                    <a:pt x="18370" y="1662"/>
                    <a:pt x="18306" y="1662"/>
                    <a:pt x="18179" y="1662"/>
                  </a:cubicBezTo>
                  <a:cubicBezTo>
                    <a:pt x="18116" y="1595"/>
                    <a:pt x="17989" y="1595"/>
                    <a:pt x="17863" y="1529"/>
                  </a:cubicBezTo>
                  <a:cubicBezTo>
                    <a:pt x="17799" y="1462"/>
                    <a:pt x="17736" y="1329"/>
                    <a:pt x="17673" y="1196"/>
                  </a:cubicBezTo>
                  <a:cubicBezTo>
                    <a:pt x="17609" y="1130"/>
                    <a:pt x="17546" y="997"/>
                    <a:pt x="17483" y="930"/>
                  </a:cubicBezTo>
                  <a:cubicBezTo>
                    <a:pt x="17356" y="864"/>
                    <a:pt x="17229" y="864"/>
                    <a:pt x="17039" y="864"/>
                  </a:cubicBezTo>
                  <a:cubicBezTo>
                    <a:pt x="16913" y="864"/>
                    <a:pt x="16913" y="864"/>
                    <a:pt x="16913" y="864"/>
                  </a:cubicBezTo>
                  <a:cubicBezTo>
                    <a:pt x="16786" y="864"/>
                    <a:pt x="16786" y="864"/>
                    <a:pt x="16786" y="864"/>
                  </a:cubicBezTo>
                  <a:cubicBezTo>
                    <a:pt x="16786" y="864"/>
                    <a:pt x="16786" y="997"/>
                    <a:pt x="16786" y="997"/>
                  </a:cubicBezTo>
                  <a:cubicBezTo>
                    <a:pt x="16786" y="997"/>
                    <a:pt x="16786" y="997"/>
                    <a:pt x="16786" y="997"/>
                  </a:cubicBezTo>
                  <a:cubicBezTo>
                    <a:pt x="16659" y="997"/>
                    <a:pt x="16533" y="997"/>
                    <a:pt x="16469" y="864"/>
                  </a:cubicBezTo>
                  <a:cubicBezTo>
                    <a:pt x="16406" y="864"/>
                    <a:pt x="16406" y="798"/>
                    <a:pt x="16406" y="731"/>
                  </a:cubicBezTo>
                  <a:cubicBezTo>
                    <a:pt x="16343" y="665"/>
                    <a:pt x="16279" y="598"/>
                    <a:pt x="16216" y="532"/>
                  </a:cubicBezTo>
                  <a:cubicBezTo>
                    <a:pt x="16152" y="532"/>
                    <a:pt x="16152" y="532"/>
                    <a:pt x="16089" y="532"/>
                  </a:cubicBezTo>
                  <a:cubicBezTo>
                    <a:pt x="16026" y="532"/>
                    <a:pt x="15962" y="532"/>
                    <a:pt x="15962" y="532"/>
                  </a:cubicBezTo>
                  <a:cubicBezTo>
                    <a:pt x="15899" y="532"/>
                    <a:pt x="15899" y="532"/>
                    <a:pt x="15899" y="532"/>
                  </a:cubicBezTo>
                  <a:cubicBezTo>
                    <a:pt x="15836" y="532"/>
                    <a:pt x="15836" y="532"/>
                    <a:pt x="15772" y="465"/>
                  </a:cubicBezTo>
                  <a:cubicBezTo>
                    <a:pt x="15772" y="465"/>
                    <a:pt x="15836" y="332"/>
                    <a:pt x="15836" y="266"/>
                  </a:cubicBezTo>
                  <a:cubicBezTo>
                    <a:pt x="15962" y="0"/>
                    <a:pt x="15962" y="0"/>
                    <a:pt x="15962" y="0"/>
                  </a:cubicBezTo>
                  <a:cubicBezTo>
                    <a:pt x="12859" y="598"/>
                    <a:pt x="12859" y="598"/>
                    <a:pt x="12859" y="598"/>
                  </a:cubicBezTo>
                  <a:cubicBezTo>
                    <a:pt x="12859" y="665"/>
                    <a:pt x="12859" y="665"/>
                    <a:pt x="12859" y="665"/>
                  </a:cubicBezTo>
                  <a:cubicBezTo>
                    <a:pt x="12859" y="930"/>
                    <a:pt x="12859" y="1130"/>
                    <a:pt x="12732" y="1329"/>
                  </a:cubicBezTo>
                  <a:cubicBezTo>
                    <a:pt x="12542" y="1662"/>
                    <a:pt x="12352" y="1927"/>
                    <a:pt x="11972" y="2193"/>
                  </a:cubicBezTo>
                  <a:cubicBezTo>
                    <a:pt x="11909" y="2193"/>
                    <a:pt x="11909" y="2260"/>
                    <a:pt x="11845" y="2326"/>
                  </a:cubicBezTo>
                  <a:cubicBezTo>
                    <a:pt x="11845" y="2393"/>
                    <a:pt x="11845" y="2393"/>
                    <a:pt x="11845" y="2393"/>
                  </a:cubicBezTo>
                  <a:cubicBezTo>
                    <a:pt x="11909" y="2459"/>
                    <a:pt x="11909" y="2459"/>
                    <a:pt x="11909" y="2459"/>
                  </a:cubicBezTo>
                  <a:cubicBezTo>
                    <a:pt x="11909" y="2459"/>
                    <a:pt x="11909" y="2459"/>
                    <a:pt x="11972" y="2526"/>
                  </a:cubicBezTo>
                  <a:cubicBezTo>
                    <a:pt x="11972" y="2526"/>
                    <a:pt x="12035" y="2592"/>
                    <a:pt x="12035" y="2592"/>
                  </a:cubicBezTo>
                  <a:cubicBezTo>
                    <a:pt x="12162" y="2858"/>
                    <a:pt x="12352" y="3190"/>
                    <a:pt x="12352" y="3522"/>
                  </a:cubicBezTo>
                  <a:cubicBezTo>
                    <a:pt x="12352" y="3655"/>
                    <a:pt x="12289" y="3788"/>
                    <a:pt x="12289" y="3921"/>
                  </a:cubicBezTo>
                  <a:cubicBezTo>
                    <a:pt x="12225" y="4121"/>
                    <a:pt x="12162" y="4320"/>
                    <a:pt x="12225" y="4519"/>
                  </a:cubicBezTo>
                  <a:cubicBezTo>
                    <a:pt x="12225" y="4652"/>
                    <a:pt x="12225" y="4785"/>
                    <a:pt x="12289" y="4918"/>
                  </a:cubicBezTo>
                  <a:cubicBezTo>
                    <a:pt x="12289" y="5184"/>
                    <a:pt x="12352" y="5383"/>
                    <a:pt x="12162" y="5716"/>
                  </a:cubicBezTo>
                  <a:cubicBezTo>
                    <a:pt x="12035" y="5915"/>
                    <a:pt x="12035" y="6048"/>
                    <a:pt x="11972" y="6314"/>
                  </a:cubicBezTo>
                  <a:cubicBezTo>
                    <a:pt x="11972" y="6447"/>
                    <a:pt x="11909" y="6580"/>
                    <a:pt x="11845" y="6713"/>
                  </a:cubicBezTo>
                  <a:cubicBezTo>
                    <a:pt x="11845" y="6779"/>
                    <a:pt x="11782" y="6779"/>
                    <a:pt x="11782" y="6846"/>
                  </a:cubicBezTo>
                  <a:cubicBezTo>
                    <a:pt x="11655" y="7111"/>
                    <a:pt x="11782" y="7710"/>
                    <a:pt x="11909" y="7909"/>
                  </a:cubicBezTo>
                  <a:cubicBezTo>
                    <a:pt x="12035" y="8042"/>
                    <a:pt x="12162" y="8108"/>
                    <a:pt x="12289" y="8175"/>
                  </a:cubicBezTo>
                  <a:cubicBezTo>
                    <a:pt x="12479" y="8308"/>
                    <a:pt x="12605" y="8374"/>
                    <a:pt x="12732" y="8574"/>
                  </a:cubicBezTo>
                  <a:cubicBezTo>
                    <a:pt x="12795" y="8640"/>
                    <a:pt x="12795" y="8706"/>
                    <a:pt x="12859" y="8773"/>
                  </a:cubicBezTo>
                  <a:cubicBezTo>
                    <a:pt x="12859" y="8906"/>
                    <a:pt x="12922" y="8972"/>
                    <a:pt x="12985" y="9039"/>
                  </a:cubicBezTo>
                  <a:cubicBezTo>
                    <a:pt x="13112" y="9172"/>
                    <a:pt x="13429" y="9238"/>
                    <a:pt x="13555" y="9238"/>
                  </a:cubicBezTo>
                  <a:cubicBezTo>
                    <a:pt x="13745" y="9238"/>
                    <a:pt x="13745" y="9105"/>
                    <a:pt x="13809" y="9039"/>
                  </a:cubicBezTo>
                  <a:cubicBezTo>
                    <a:pt x="13809" y="8972"/>
                    <a:pt x="13809" y="8906"/>
                    <a:pt x="13809" y="8906"/>
                  </a:cubicBezTo>
                  <a:cubicBezTo>
                    <a:pt x="13872" y="8773"/>
                    <a:pt x="13999" y="8773"/>
                    <a:pt x="14126" y="8773"/>
                  </a:cubicBezTo>
                  <a:cubicBezTo>
                    <a:pt x="14126" y="8773"/>
                    <a:pt x="14189" y="8773"/>
                    <a:pt x="14189" y="8773"/>
                  </a:cubicBezTo>
                  <a:cubicBezTo>
                    <a:pt x="14316" y="8773"/>
                    <a:pt x="14316" y="8906"/>
                    <a:pt x="14316" y="9039"/>
                  </a:cubicBezTo>
                  <a:cubicBezTo>
                    <a:pt x="14316" y="9039"/>
                    <a:pt x="14316" y="9105"/>
                    <a:pt x="14316" y="9105"/>
                  </a:cubicBezTo>
                  <a:cubicBezTo>
                    <a:pt x="14316" y="9570"/>
                    <a:pt x="14379" y="10036"/>
                    <a:pt x="14379" y="10434"/>
                  </a:cubicBezTo>
                  <a:cubicBezTo>
                    <a:pt x="14379" y="10434"/>
                    <a:pt x="14379" y="10501"/>
                    <a:pt x="14379" y="10567"/>
                  </a:cubicBezTo>
                  <a:cubicBezTo>
                    <a:pt x="14379" y="10700"/>
                    <a:pt x="14442" y="10900"/>
                    <a:pt x="14316" y="10966"/>
                  </a:cubicBezTo>
                  <a:cubicBezTo>
                    <a:pt x="14316" y="11033"/>
                    <a:pt x="14252" y="11033"/>
                    <a:pt x="14189" y="11033"/>
                  </a:cubicBezTo>
                  <a:cubicBezTo>
                    <a:pt x="14126" y="11033"/>
                    <a:pt x="14062" y="11033"/>
                    <a:pt x="13999" y="11033"/>
                  </a:cubicBezTo>
                  <a:cubicBezTo>
                    <a:pt x="13999" y="11033"/>
                    <a:pt x="13935" y="10966"/>
                    <a:pt x="13872" y="10966"/>
                  </a:cubicBezTo>
                  <a:cubicBezTo>
                    <a:pt x="13872" y="10966"/>
                    <a:pt x="13872" y="10966"/>
                    <a:pt x="13872" y="10966"/>
                  </a:cubicBezTo>
                  <a:cubicBezTo>
                    <a:pt x="13619" y="11033"/>
                    <a:pt x="13492" y="11232"/>
                    <a:pt x="13492" y="11298"/>
                  </a:cubicBezTo>
                  <a:cubicBezTo>
                    <a:pt x="13429" y="11298"/>
                    <a:pt x="13365" y="11298"/>
                    <a:pt x="13302" y="11298"/>
                  </a:cubicBezTo>
                  <a:cubicBezTo>
                    <a:pt x="13175" y="11298"/>
                    <a:pt x="13175" y="11298"/>
                    <a:pt x="13175" y="11298"/>
                  </a:cubicBezTo>
                  <a:cubicBezTo>
                    <a:pt x="13049" y="11298"/>
                    <a:pt x="12922" y="11298"/>
                    <a:pt x="12859" y="11232"/>
                  </a:cubicBezTo>
                  <a:cubicBezTo>
                    <a:pt x="12795" y="11099"/>
                    <a:pt x="12795" y="10966"/>
                    <a:pt x="12732" y="10833"/>
                  </a:cubicBezTo>
                  <a:cubicBezTo>
                    <a:pt x="12732" y="10700"/>
                    <a:pt x="12732" y="10634"/>
                    <a:pt x="12669" y="10567"/>
                  </a:cubicBezTo>
                  <a:cubicBezTo>
                    <a:pt x="12605" y="10368"/>
                    <a:pt x="12479" y="10235"/>
                    <a:pt x="12289" y="10169"/>
                  </a:cubicBezTo>
                  <a:cubicBezTo>
                    <a:pt x="12099" y="10036"/>
                    <a:pt x="12099" y="9969"/>
                    <a:pt x="12035" y="9703"/>
                  </a:cubicBezTo>
                  <a:cubicBezTo>
                    <a:pt x="11972" y="9504"/>
                    <a:pt x="11972" y="9438"/>
                    <a:pt x="11782" y="9371"/>
                  </a:cubicBezTo>
                  <a:cubicBezTo>
                    <a:pt x="11782" y="9305"/>
                    <a:pt x="11718" y="9305"/>
                    <a:pt x="11718" y="9305"/>
                  </a:cubicBezTo>
                  <a:cubicBezTo>
                    <a:pt x="11655" y="9238"/>
                    <a:pt x="11592" y="9238"/>
                    <a:pt x="11528" y="9172"/>
                  </a:cubicBezTo>
                  <a:cubicBezTo>
                    <a:pt x="11465" y="9105"/>
                    <a:pt x="11402" y="9039"/>
                    <a:pt x="11212" y="9039"/>
                  </a:cubicBezTo>
                  <a:cubicBezTo>
                    <a:pt x="11085" y="9039"/>
                    <a:pt x="11022" y="8972"/>
                    <a:pt x="10958" y="8906"/>
                  </a:cubicBezTo>
                  <a:cubicBezTo>
                    <a:pt x="10895" y="8906"/>
                    <a:pt x="10832" y="8839"/>
                    <a:pt x="10768" y="8839"/>
                  </a:cubicBezTo>
                  <a:cubicBezTo>
                    <a:pt x="10705" y="8839"/>
                    <a:pt x="10705" y="8839"/>
                    <a:pt x="10705" y="8839"/>
                  </a:cubicBezTo>
                  <a:cubicBezTo>
                    <a:pt x="10642" y="8839"/>
                    <a:pt x="10642" y="8839"/>
                    <a:pt x="10578" y="8906"/>
                  </a:cubicBezTo>
                  <a:cubicBezTo>
                    <a:pt x="10578" y="8906"/>
                    <a:pt x="10578" y="8906"/>
                    <a:pt x="10578" y="8906"/>
                  </a:cubicBezTo>
                  <a:cubicBezTo>
                    <a:pt x="10515" y="8906"/>
                    <a:pt x="10515" y="8906"/>
                    <a:pt x="10515" y="8906"/>
                  </a:cubicBezTo>
                  <a:cubicBezTo>
                    <a:pt x="10452" y="8839"/>
                    <a:pt x="10262" y="8773"/>
                    <a:pt x="10262" y="8706"/>
                  </a:cubicBezTo>
                  <a:cubicBezTo>
                    <a:pt x="10198" y="8640"/>
                    <a:pt x="10198" y="8507"/>
                    <a:pt x="10135" y="8441"/>
                  </a:cubicBezTo>
                  <a:cubicBezTo>
                    <a:pt x="10135" y="8308"/>
                    <a:pt x="10135" y="8241"/>
                    <a:pt x="10072" y="8175"/>
                  </a:cubicBezTo>
                  <a:cubicBezTo>
                    <a:pt x="10008" y="8042"/>
                    <a:pt x="9882" y="7975"/>
                    <a:pt x="9755" y="7909"/>
                  </a:cubicBezTo>
                  <a:cubicBezTo>
                    <a:pt x="9755" y="7909"/>
                    <a:pt x="9691" y="7842"/>
                    <a:pt x="9691" y="7842"/>
                  </a:cubicBezTo>
                  <a:cubicBezTo>
                    <a:pt x="9691" y="7842"/>
                    <a:pt x="9691" y="7842"/>
                    <a:pt x="9691" y="7842"/>
                  </a:cubicBezTo>
                  <a:cubicBezTo>
                    <a:pt x="9755" y="7577"/>
                    <a:pt x="9755" y="7444"/>
                    <a:pt x="9691" y="7377"/>
                  </a:cubicBezTo>
                  <a:cubicBezTo>
                    <a:pt x="9628" y="7377"/>
                    <a:pt x="9565" y="7311"/>
                    <a:pt x="9565" y="7311"/>
                  </a:cubicBezTo>
                  <a:cubicBezTo>
                    <a:pt x="9501" y="7311"/>
                    <a:pt x="9501" y="7311"/>
                    <a:pt x="9501" y="7311"/>
                  </a:cubicBezTo>
                  <a:cubicBezTo>
                    <a:pt x="9375" y="7377"/>
                    <a:pt x="9311" y="7510"/>
                    <a:pt x="9248" y="7710"/>
                  </a:cubicBezTo>
                  <a:cubicBezTo>
                    <a:pt x="9248" y="7710"/>
                    <a:pt x="9185" y="7776"/>
                    <a:pt x="9185" y="7776"/>
                  </a:cubicBezTo>
                  <a:cubicBezTo>
                    <a:pt x="9121" y="7975"/>
                    <a:pt x="8931" y="8241"/>
                    <a:pt x="8615" y="8241"/>
                  </a:cubicBezTo>
                  <a:cubicBezTo>
                    <a:pt x="8551" y="8241"/>
                    <a:pt x="8488" y="8241"/>
                    <a:pt x="8361" y="8175"/>
                  </a:cubicBezTo>
                  <a:cubicBezTo>
                    <a:pt x="8235" y="8108"/>
                    <a:pt x="8108" y="8108"/>
                    <a:pt x="7918" y="8108"/>
                  </a:cubicBezTo>
                  <a:cubicBezTo>
                    <a:pt x="7728" y="8108"/>
                    <a:pt x="7538" y="8042"/>
                    <a:pt x="7348" y="7975"/>
                  </a:cubicBezTo>
                  <a:cubicBezTo>
                    <a:pt x="7221" y="7842"/>
                    <a:pt x="7094" y="7842"/>
                    <a:pt x="6904" y="7776"/>
                  </a:cubicBezTo>
                  <a:cubicBezTo>
                    <a:pt x="6841" y="7776"/>
                    <a:pt x="6841" y="7776"/>
                    <a:pt x="6841" y="7776"/>
                  </a:cubicBezTo>
                  <a:cubicBezTo>
                    <a:pt x="6714" y="7710"/>
                    <a:pt x="6524" y="7710"/>
                    <a:pt x="6398" y="7577"/>
                  </a:cubicBezTo>
                  <a:cubicBezTo>
                    <a:pt x="6144" y="7377"/>
                    <a:pt x="6144" y="7111"/>
                    <a:pt x="6208" y="6779"/>
                  </a:cubicBezTo>
                  <a:cubicBezTo>
                    <a:pt x="6208" y="6646"/>
                    <a:pt x="6208" y="6646"/>
                    <a:pt x="6208" y="6646"/>
                  </a:cubicBezTo>
                  <a:cubicBezTo>
                    <a:pt x="6144" y="6513"/>
                    <a:pt x="6144" y="6513"/>
                    <a:pt x="6144" y="6513"/>
                  </a:cubicBezTo>
                  <a:cubicBezTo>
                    <a:pt x="6018" y="6513"/>
                    <a:pt x="6018" y="6513"/>
                    <a:pt x="6018" y="6513"/>
                  </a:cubicBezTo>
                  <a:cubicBezTo>
                    <a:pt x="5828" y="6513"/>
                    <a:pt x="5638" y="6580"/>
                    <a:pt x="5448" y="6646"/>
                  </a:cubicBezTo>
                  <a:cubicBezTo>
                    <a:pt x="5384" y="6646"/>
                    <a:pt x="5321" y="6713"/>
                    <a:pt x="5257" y="6713"/>
                  </a:cubicBezTo>
                  <a:cubicBezTo>
                    <a:pt x="5131" y="6779"/>
                    <a:pt x="5004" y="6779"/>
                    <a:pt x="4877" y="6846"/>
                  </a:cubicBezTo>
                  <a:cubicBezTo>
                    <a:pt x="4877" y="6912"/>
                    <a:pt x="4814" y="6912"/>
                    <a:pt x="4814" y="6978"/>
                  </a:cubicBezTo>
                  <a:cubicBezTo>
                    <a:pt x="4751" y="7045"/>
                    <a:pt x="4687" y="7111"/>
                    <a:pt x="4624" y="7111"/>
                  </a:cubicBezTo>
                  <a:cubicBezTo>
                    <a:pt x="4497" y="7111"/>
                    <a:pt x="4497" y="6978"/>
                    <a:pt x="4497" y="6912"/>
                  </a:cubicBezTo>
                  <a:cubicBezTo>
                    <a:pt x="4434" y="6779"/>
                    <a:pt x="4497" y="6713"/>
                    <a:pt x="4497" y="6646"/>
                  </a:cubicBezTo>
                  <a:cubicBezTo>
                    <a:pt x="4497" y="6513"/>
                    <a:pt x="4561" y="6314"/>
                    <a:pt x="4434" y="6181"/>
                  </a:cubicBezTo>
                  <a:cubicBezTo>
                    <a:pt x="4371" y="6181"/>
                    <a:pt x="4371" y="6181"/>
                    <a:pt x="4307" y="6114"/>
                  </a:cubicBezTo>
                  <a:cubicBezTo>
                    <a:pt x="4244" y="6114"/>
                    <a:pt x="4181" y="6114"/>
                    <a:pt x="4181" y="6048"/>
                  </a:cubicBezTo>
                  <a:cubicBezTo>
                    <a:pt x="4117" y="6048"/>
                    <a:pt x="4117" y="6048"/>
                    <a:pt x="4054" y="5982"/>
                  </a:cubicBezTo>
                  <a:cubicBezTo>
                    <a:pt x="3991" y="5849"/>
                    <a:pt x="3864" y="5782"/>
                    <a:pt x="3801" y="5782"/>
                  </a:cubicBezTo>
                  <a:cubicBezTo>
                    <a:pt x="3801" y="5782"/>
                    <a:pt x="3674" y="5849"/>
                    <a:pt x="3674" y="5849"/>
                  </a:cubicBezTo>
                  <a:cubicBezTo>
                    <a:pt x="3737" y="6048"/>
                    <a:pt x="3737" y="6048"/>
                    <a:pt x="3737" y="6048"/>
                  </a:cubicBezTo>
                  <a:cubicBezTo>
                    <a:pt x="3737" y="6181"/>
                    <a:pt x="3737" y="6314"/>
                    <a:pt x="3737" y="6447"/>
                  </a:cubicBezTo>
                  <a:cubicBezTo>
                    <a:pt x="3737" y="6580"/>
                    <a:pt x="3801" y="6646"/>
                    <a:pt x="3801" y="6713"/>
                  </a:cubicBezTo>
                  <a:cubicBezTo>
                    <a:pt x="3801" y="6846"/>
                    <a:pt x="3864" y="6912"/>
                    <a:pt x="3801" y="7045"/>
                  </a:cubicBezTo>
                  <a:cubicBezTo>
                    <a:pt x="3801" y="7111"/>
                    <a:pt x="3737" y="7111"/>
                    <a:pt x="3737" y="7178"/>
                  </a:cubicBezTo>
                  <a:cubicBezTo>
                    <a:pt x="3737" y="7244"/>
                    <a:pt x="3674" y="7244"/>
                    <a:pt x="3674" y="7311"/>
                  </a:cubicBezTo>
                  <a:cubicBezTo>
                    <a:pt x="3674" y="7377"/>
                    <a:pt x="3674" y="7444"/>
                    <a:pt x="3674" y="7510"/>
                  </a:cubicBezTo>
                  <a:cubicBezTo>
                    <a:pt x="3674" y="7577"/>
                    <a:pt x="3674" y="7577"/>
                    <a:pt x="3674" y="7643"/>
                  </a:cubicBezTo>
                  <a:cubicBezTo>
                    <a:pt x="3674" y="7710"/>
                    <a:pt x="3674" y="7776"/>
                    <a:pt x="3674" y="7842"/>
                  </a:cubicBezTo>
                  <a:cubicBezTo>
                    <a:pt x="3674" y="8108"/>
                    <a:pt x="3611" y="8374"/>
                    <a:pt x="3674" y="8640"/>
                  </a:cubicBezTo>
                  <a:cubicBezTo>
                    <a:pt x="3674" y="8706"/>
                    <a:pt x="3737" y="8773"/>
                    <a:pt x="3737" y="8839"/>
                  </a:cubicBezTo>
                  <a:cubicBezTo>
                    <a:pt x="3737" y="8839"/>
                    <a:pt x="3737" y="8839"/>
                    <a:pt x="3801" y="8906"/>
                  </a:cubicBezTo>
                  <a:cubicBezTo>
                    <a:pt x="3864" y="9105"/>
                    <a:pt x="3801" y="9238"/>
                    <a:pt x="3674" y="9371"/>
                  </a:cubicBezTo>
                  <a:cubicBezTo>
                    <a:pt x="3547" y="9570"/>
                    <a:pt x="3547" y="9770"/>
                    <a:pt x="3547" y="9903"/>
                  </a:cubicBezTo>
                  <a:cubicBezTo>
                    <a:pt x="3547" y="10036"/>
                    <a:pt x="3547" y="10102"/>
                    <a:pt x="3611" y="10169"/>
                  </a:cubicBezTo>
                  <a:cubicBezTo>
                    <a:pt x="3611" y="10235"/>
                    <a:pt x="3674" y="10368"/>
                    <a:pt x="3674" y="10368"/>
                  </a:cubicBezTo>
                  <a:cubicBezTo>
                    <a:pt x="3611" y="10434"/>
                    <a:pt x="3547" y="10434"/>
                    <a:pt x="3484" y="10434"/>
                  </a:cubicBezTo>
                  <a:cubicBezTo>
                    <a:pt x="3104" y="10434"/>
                    <a:pt x="3104" y="10434"/>
                    <a:pt x="3104" y="10434"/>
                  </a:cubicBezTo>
                  <a:cubicBezTo>
                    <a:pt x="2724" y="10434"/>
                    <a:pt x="2407" y="10434"/>
                    <a:pt x="2027" y="10434"/>
                  </a:cubicBezTo>
                  <a:cubicBezTo>
                    <a:pt x="63" y="10434"/>
                    <a:pt x="63" y="10434"/>
                    <a:pt x="63" y="10434"/>
                  </a:cubicBezTo>
                  <a:cubicBezTo>
                    <a:pt x="0" y="17413"/>
                    <a:pt x="0" y="17413"/>
                    <a:pt x="0" y="17413"/>
                  </a:cubicBezTo>
                  <a:cubicBezTo>
                    <a:pt x="63" y="17413"/>
                    <a:pt x="63" y="17413"/>
                    <a:pt x="63" y="17413"/>
                  </a:cubicBezTo>
                  <a:cubicBezTo>
                    <a:pt x="253" y="17612"/>
                    <a:pt x="253" y="17878"/>
                    <a:pt x="253" y="18011"/>
                  </a:cubicBezTo>
                  <a:cubicBezTo>
                    <a:pt x="253" y="18078"/>
                    <a:pt x="253" y="18078"/>
                    <a:pt x="253" y="18078"/>
                  </a:cubicBezTo>
                  <a:cubicBezTo>
                    <a:pt x="2407" y="20537"/>
                    <a:pt x="2407" y="20537"/>
                    <a:pt x="2407" y="20537"/>
                  </a:cubicBezTo>
                  <a:cubicBezTo>
                    <a:pt x="2534" y="20470"/>
                    <a:pt x="2534" y="20470"/>
                    <a:pt x="2534" y="20470"/>
                  </a:cubicBezTo>
                  <a:cubicBezTo>
                    <a:pt x="2597" y="20470"/>
                    <a:pt x="2660" y="20470"/>
                    <a:pt x="2724" y="20470"/>
                  </a:cubicBezTo>
                  <a:cubicBezTo>
                    <a:pt x="2850" y="20404"/>
                    <a:pt x="2977" y="20404"/>
                    <a:pt x="3167" y="20404"/>
                  </a:cubicBezTo>
                  <a:cubicBezTo>
                    <a:pt x="3167" y="20404"/>
                    <a:pt x="3167" y="20404"/>
                    <a:pt x="3167" y="20404"/>
                  </a:cubicBezTo>
                  <a:cubicBezTo>
                    <a:pt x="3294" y="20404"/>
                    <a:pt x="3421" y="20404"/>
                    <a:pt x="3484" y="20337"/>
                  </a:cubicBezTo>
                  <a:cubicBezTo>
                    <a:pt x="3611" y="20337"/>
                    <a:pt x="3674" y="20337"/>
                    <a:pt x="3737" y="20337"/>
                  </a:cubicBezTo>
                  <a:cubicBezTo>
                    <a:pt x="3864" y="20337"/>
                    <a:pt x="3991" y="20337"/>
                    <a:pt x="4117" y="20271"/>
                  </a:cubicBezTo>
                  <a:cubicBezTo>
                    <a:pt x="4181" y="20271"/>
                    <a:pt x="4307" y="20271"/>
                    <a:pt x="4371" y="20271"/>
                  </a:cubicBezTo>
                  <a:cubicBezTo>
                    <a:pt x="4497" y="20271"/>
                    <a:pt x="4561" y="20271"/>
                    <a:pt x="4687" y="20271"/>
                  </a:cubicBezTo>
                  <a:cubicBezTo>
                    <a:pt x="4751" y="20337"/>
                    <a:pt x="4751" y="20337"/>
                    <a:pt x="4751" y="20337"/>
                  </a:cubicBezTo>
                  <a:cubicBezTo>
                    <a:pt x="4751" y="20337"/>
                    <a:pt x="4814" y="20337"/>
                    <a:pt x="4814" y="20337"/>
                  </a:cubicBezTo>
                  <a:cubicBezTo>
                    <a:pt x="4877" y="20337"/>
                    <a:pt x="4877" y="20337"/>
                    <a:pt x="4877" y="20337"/>
                  </a:cubicBezTo>
                  <a:cubicBezTo>
                    <a:pt x="4941" y="20337"/>
                    <a:pt x="4941" y="20337"/>
                    <a:pt x="5004" y="20337"/>
                  </a:cubicBezTo>
                  <a:cubicBezTo>
                    <a:pt x="5004" y="20337"/>
                    <a:pt x="5067" y="20337"/>
                    <a:pt x="5067" y="20337"/>
                  </a:cubicBezTo>
                  <a:cubicBezTo>
                    <a:pt x="5131" y="20337"/>
                    <a:pt x="5131" y="20337"/>
                    <a:pt x="5194" y="20404"/>
                  </a:cubicBezTo>
                  <a:cubicBezTo>
                    <a:pt x="5194" y="20404"/>
                    <a:pt x="5257" y="20470"/>
                    <a:pt x="5257" y="20470"/>
                  </a:cubicBezTo>
                  <a:cubicBezTo>
                    <a:pt x="5321" y="20470"/>
                    <a:pt x="5384" y="20470"/>
                    <a:pt x="5384" y="20537"/>
                  </a:cubicBezTo>
                  <a:cubicBezTo>
                    <a:pt x="5448" y="20537"/>
                    <a:pt x="5511" y="20537"/>
                    <a:pt x="5511" y="20537"/>
                  </a:cubicBezTo>
                  <a:cubicBezTo>
                    <a:pt x="5638" y="20603"/>
                    <a:pt x="5701" y="20670"/>
                    <a:pt x="5701" y="20736"/>
                  </a:cubicBezTo>
                  <a:cubicBezTo>
                    <a:pt x="5701" y="20802"/>
                    <a:pt x="5701" y="20802"/>
                    <a:pt x="5701" y="20802"/>
                  </a:cubicBezTo>
                  <a:cubicBezTo>
                    <a:pt x="5764" y="20802"/>
                    <a:pt x="5764" y="20802"/>
                    <a:pt x="5764" y="20802"/>
                  </a:cubicBezTo>
                  <a:cubicBezTo>
                    <a:pt x="5891" y="20869"/>
                    <a:pt x="5954" y="20935"/>
                    <a:pt x="6081" y="21002"/>
                  </a:cubicBezTo>
                  <a:cubicBezTo>
                    <a:pt x="6144" y="21068"/>
                    <a:pt x="6144" y="21068"/>
                    <a:pt x="6144" y="21068"/>
                  </a:cubicBezTo>
                  <a:cubicBezTo>
                    <a:pt x="6208" y="21068"/>
                    <a:pt x="6271" y="21135"/>
                    <a:pt x="6334" y="21135"/>
                  </a:cubicBezTo>
                  <a:cubicBezTo>
                    <a:pt x="6334" y="21135"/>
                    <a:pt x="6334" y="21135"/>
                    <a:pt x="6334" y="21135"/>
                  </a:cubicBezTo>
                  <a:cubicBezTo>
                    <a:pt x="6398" y="21135"/>
                    <a:pt x="6398" y="21135"/>
                    <a:pt x="6398" y="21135"/>
                  </a:cubicBezTo>
                  <a:cubicBezTo>
                    <a:pt x="6398" y="21135"/>
                    <a:pt x="6398" y="21135"/>
                    <a:pt x="6398" y="21135"/>
                  </a:cubicBezTo>
                  <a:cubicBezTo>
                    <a:pt x="6398" y="21135"/>
                    <a:pt x="6398" y="21068"/>
                    <a:pt x="6398" y="21068"/>
                  </a:cubicBezTo>
                  <a:cubicBezTo>
                    <a:pt x="6461" y="21068"/>
                    <a:pt x="6461" y="21002"/>
                    <a:pt x="6524" y="21002"/>
                  </a:cubicBezTo>
                  <a:cubicBezTo>
                    <a:pt x="6524" y="21002"/>
                    <a:pt x="6588" y="21002"/>
                    <a:pt x="6588" y="21002"/>
                  </a:cubicBezTo>
                  <a:cubicBezTo>
                    <a:pt x="6714" y="21002"/>
                    <a:pt x="6778" y="21135"/>
                    <a:pt x="6904" y="21201"/>
                  </a:cubicBezTo>
                  <a:cubicBezTo>
                    <a:pt x="6968" y="21334"/>
                    <a:pt x="7031" y="21467"/>
                    <a:pt x="7221" y="21467"/>
                  </a:cubicBezTo>
                  <a:cubicBezTo>
                    <a:pt x="7284" y="21467"/>
                    <a:pt x="7411" y="21401"/>
                    <a:pt x="7474" y="21334"/>
                  </a:cubicBezTo>
                  <a:cubicBezTo>
                    <a:pt x="7538" y="21268"/>
                    <a:pt x="7665" y="21201"/>
                    <a:pt x="7728" y="21201"/>
                  </a:cubicBezTo>
                  <a:cubicBezTo>
                    <a:pt x="7791" y="21201"/>
                    <a:pt x="7791" y="21201"/>
                    <a:pt x="7791" y="21201"/>
                  </a:cubicBezTo>
                  <a:cubicBezTo>
                    <a:pt x="7918" y="21201"/>
                    <a:pt x="8045" y="21268"/>
                    <a:pt x="8108" y="21401"/>
                  </a:cubicBezTo>
                  <a:cubicBezTo>
                    <a:pt x="8235" y="21467"/>
                    <a:pt x="8298" y="21600"/>
                    <a:pt x="8488" y="21600"/>
                  </a:cubicBezTo>
                  <a:cubicBezTo>
                    <a:pt x="8488" y="21600"/>
                    <a:pt x="8488" y="21600"/>
                    <a:pt x="8488" y="21600"/>
                  </a:cubicBezTo>
                  <a:cubicBezTo>
                    <a:pt x="8551" y="21600"/>
                    <a:pt x="8615" y="21534"/>
                    <a:pt x="8678" y="21467"/>
                  </a:cubicBezTo>
                  <a:cubicBezTo>
                    <a:pt x="8741" y="21467"/>
                    <a:pt x="8741" y="21467"/>
                    <a:pt x="8741" y="21401"/>
                  </a:cubicBezTo>
                  <a:cubicBezTo>
                    <a:pt x="8805" y="21401"/>
                    <a:pt x="8931" y="21334"/>
                    <a:pt x="8995" y="21334"/>
                  </a:cubicBezTo>
                  <a:cubicBezTo>
                    <a:pt x="9058" y="21268"/>
                    <a:pt x="9121" y="21268"/>
                    <a:pt x="9185" y="21268"/>
                  </a:cubicBezTo>
                  <a:cubicBezTo>
                    <a:pt x="9375" y="21135"/>
                    <a:pt x="9501" y="20869"/>
                    <a:pt x="9628" y="20670"/>
                  </a:cubicBezTo>
                  <a:cubicBezTo>
                    <a:pt x="9628" y="20603"/>
                    <a:pt x="9691" y="20537"/>
                    <a:pt x="9691" y="20537"/>
                  </a:cubicBezTo>
                  <a:cubicBezTo>
                    <a:pt x="9755" y="20404"/>
                    <a:pt x="9882" y="20337"/>
                    <a:pt x="9945" y="20204"/>
                  </a:cubicBezTo>
                  <a:cubicBezTo>
                    <a:pt x="10072" y="20071"/>
                    <a:pt x="10198" y="19872"/>
                    <a:pt x="10262" y="19673"/>
                  </a:cubicBezTo>
                  <a:cubicBezTo>
                    <a:pt x="10262" y="19673"/>
                    <a:pt x="10325" y="19606"/>
                    <a:pt x="10325" y="19540"/>
                  </a:cubicBezTo>
                  <a:cubicBezTo>
                    <a:pt x="10388" y="19473"/>
                    <a:pt x="10388" y="19340"/>
                    <a:pt x="10452" y="19274"/>
                  </a:cubicBezTo>
                  <a:cubicBezTo>
                    <a:pt x="10578" y="19141"/>
                    <a:pt x="10642" y="19074"/>
                    <a:pt x="10768" y="19008"/>
                  </a:cubicBezTo>
                  <a:cubicBezTo>
                    <a:pt x="10768" y="19008"/>
                    <a:pt x="10832" y="19008"/>
                    <a:pt x="10895" y="18942"/>
                  </a:cubicBezTo>
                  <a:cubicBezTo>
                    <a:pt x="10958" y="18875"/>
                    <a:pt x="11085" y="18809"/>
                    <a:pt x="11212" y="18742"/>
                  </a:cubicBezTo>
                  <a:cubicBezTo>
                    <a:pt x="11275" y="18676"/>
                    <a:pt x="11465" y="18543"/>
                    <a:pt x="11592" y="18476"/>
                  </a:cubicBezTo>
                  <a:cubicBezTo>
                    <a:pt x="11845" y="18343"/>
                    <a:pt x="12099" y="18210"/>
                    <a:pt x="12289" y="18144"/>
                  </a:cubicBezTo>
                  <a:cubicBezTo>
                    <a:pt x="12605" y="18011"/>
                    <a:pt x="12605" y="17812"/>
                    <a:pt x="12542" y="17546"/>
                  </a:cubicBezTo>
                  <a:cubicBezTo>
                    <a:pt x="12542" y="17413"/>
                    <a:pt x="12542" y="17346"/>
                    <a:pt x="12542" y="17214"/>
                  </a:cubicBezTo>
                  <a:cubicBezTo>
                    <a:pt x="12605" y="17081"/>
                    <a:pt x="12669" y="17014"/>
                    <a:pt x="12795" y="16948"/>
                  </a:cubicBezTo>
                  <a:cubicBezTo>
                    <a:pt x="12795" y="16948"/>
                    <a:pt x="12859" y="16881"/>
                    <a:pt x="12859" y="16881"/>
                  </a:cubicBezTo>
                  <a:cubicBezTo>
                    <a:pt x="12922" y="16815"/>
                    <a:pt x="12985" y="16748"/>
                    <a:pt x="13049" y="16682"/>
                  </a:cubicBezTo>
                  <a:cubicBezTo>
                    <a:pt x="13239" y="16482"/>
                    <a:pt x="13429" y="16350"/>
                    <a:pt x="13682" y="16350"/>
                  </a:cubicBezTo>
                  <a:cubicBezTo>
                    <a:pt x="13809" y="16350"/>
                    <a:pt x="13809" y="16350"/>
                    <a:pt x="13809" y="16350"/>
                  </a:cubicBezTo>
                  <a:cubicBezTo>
                    <a:pt x="13935" y="16350"/>
                    <a:pt x="14062" y="16283"/>
                    <a:pt x="14189" y="16283"/>
                  </a:cubicBezTo>
                  <a:cubicBezTo>
                    <a:pt x="14316" y="16217"/>
                    <a:pt x="14379" y="16217"/>
                    <a:pt x="14506" y="16217"/>
                  </a:cubicBezTo>
                  <a:cubicBezTo>
                    <a:pt x="14569" y="16217"/>
                    <a:pt x="14632" y="16217"/>
                    <a:pt x="14759" y="16217"/>
                  </a:cubicBezTo>
                  <a:cubicBezTo>
                    <a:pt x="14759" y="16217"/>
                    <a:pt x="14759" y="16217"/>
                    <a:pt x="14822" y="16217"/>
                  </a:cubicBezTo>
                  <a:cubicBezTo>
                    <a:pt x="14822" y="16217"/>
                    <a:pt x="14886" y="16217"/>
                    <a:pt x="14949" y="16217"/>
                  </a:cubicBezTo>
                  <a:cubicBezTo>
                    <a:pt x="14949" y="16217"/>
                    <a:pt x="15012" y="16217"/>
                    <a:pt x="15012" y="16217"/>
                  </a:cubicBezTo>
                  <a:cubicBezTo>
                    <a:pt x="15076" y="16217"/>
                    <a:pt x="15139" y="16217"/>
                    <a:pt x="15202" y="16217"/>
                  </a:cubicBezTo>
                  <a:cubicBezTo>
                    <a:pt x="15329" y="16283"/>
                    <a:pt x="15329" y="16283"/>
                    <a:pt x="15329" y="16283"/>
                  </a:cubicBezTo>
                  <a:cubicBezTo>
                    <a:pt x="15329" y="15951"/>
                    <a:pt x="15329" y="15951"/>
                    <a:pt x="15329" y="15951"/>
                  </a:cubicBezTo>
                  <a:cubicBezTo>
                    <a:pt x="15329" y="15751"/>
                    <a:pt x="15266" y="15552"/>
                    <a:pt x="15139" y="15353"/>
                  </a:cubicBezTo>
                  <a:cubicBezTo>
                    <a:pt x="15076" y="15286"/>
                    <a:pt x="14949" y="14954"/>
                    <a:pt x="15012" y="14887"/>
                  </a:cubicBezTo>
                  <a:cubicBezTo>
                    <a:pt x="15012" y="14887"/>
                    <a:pt x="15076" y="14887"/>
                    <a:pt x="15076" y="14887"/>
                  </a:cubicBezTo>
                  <a:cubicBezTo>
                    <a:pt x="15139" y="14887"/>
                    <a:pt x="15139" y="14887"/>
                    <a:pt x="15139" y="14887"/>
                  </a:cubicBezTo>
                  <a:cubicBezTo>
                    <a:pt x="20143" y="12761"/>
                    <a:pt x="20143" y="12761"/>
                    <a:pt x="20143" y="12761"/>
                  </a:cubicBezTo>
                  <a:cubicBezTo>
                    <a:pt x="20016" y="12628"/>
                    <a:pt x="20016" y="12628"/>
                    <a:pt x="20016" y="12628"/>
                  </a:cubicBezTo>
                  <a:cubicBezTo>
                    <a:pt x="19953" y="12561"/>
                    <a:pt x="19953" y="12495"/>
                    <a:pt x="19890" y="12428"/>
                  </a:cubicBezTo>
                  <a:cubicBezTo>
                    <a:pt x="19890" y="12362"/>
                    <a:pt x="19890" y="12362"/>
                    <a:pt x="19826" y="12295"/>
                  </a:cubicBezTo>
                  <a:cubicBezTo>
                    <a:pt x="19826" y="12229"/>
                    <a:pt x="19826" y="12162"/>
                    <a:pt x="19763" y="12162"/>
                  </a:cubicBezTo>
                  <a:cubicBezTo>
                    <a:pt x="19700" y="12030"/>
                    <a:pt x="19636" y="11897"/>
                    <a:pt x="19700" y="11697"/>
                  </a:cubicBezTo>
                  <a:cubicBezTo>
                    <a:pt x="19700" y="11631"/>
                    <a:pt x="19826" y="11564"/>
                    <a:pt x="19890" y="11498"/>
                  </a:cubicBezTo>
                  <a:cubicBezTo>
                    <a:pt x="19953" y="11431"/>
                    <a:pt x="20016" y="11298"/>
                    <a:pt x="20080" y="11232"/>
                  </a:cubicBezTo>
                  <a:cubicBezTo>
                    <a:pt x="20270" y="10833"/>
                    <a:pt x="20206" y="10567"/>
                    <a:pt x="20206" y="10235"/>
                  </a:cubicBezTo>
                  <a:cubicBezTo>
                    <a:pt x="20206" y="10102"/>
                    <a:pt x="20143" y="9903"/>
                    <a:pt x="20143" y="9770"/>
                  </a:cubicBezTo>
                  <a:cubicBezTo>
                    <a:pt x="20270" y="9637"/>
                    <a:pt x="20460" y="9637"/>
                    <a:pt x="20587" y="9570"/>
                  </a:cubicBezTo>
                  <a:cubicBezTo>
                    <a:pt x="20903" y="9504"/>
                    <a:pt x="21157" y="9438"/>
                    <a:pt x="21220" y="9105"/>
                  </a:cubicBezTo>
                  <a:cubicBezTo>
                    <a:pt x="21283" y="9039"/>
                    <a:pt x="21283" y="9039"/>
                    <a:pt x="21283" y="9039"/>
                  </a:cubicBezTo>
                  <a:cubicBezTo>
                    <a:pt x="21220" y="8972"/>
                    <a:pt x="21220" y="8972"/>
                    <a:pt x="21220" y="8972"/>
                  </a:cubicBezTo>
                  <a:cubicBezTo>
                    <a:pt x="21157" y="8906"/>
                    <a:pt x="21030" y="8906"/>
                    <a:pt x="20967" y="8839"/>
                  </a:cubicBezTo>
                  <a:cubicBezTo>
                    <a:pt x="20840" y="8773"/>
                    <a:pt x="20713" y="8706"/>
                    <a:pt x="20713" y="8441"/>
                  </a:cubicBezTo>
                  <a:cubicBezTo>
                    <a:pt x="20713" y="8308"/>
                    <a:pt x="20777" y="8108"/>
                    <a:pt x="20777" y="7975"/>
                  </a:cubicBezTo>
                  <a:cubicBezTo>
                    <a:pt x="20840" y="7776"/>
                    <a:pt x="20840" y="7577"/>
                    <a:pt x="20840" y="7377"/>
                  </a:cubicBezTo>
                  <a:cubicBezTo>
                    <a:pt x="20840" y="7311"/>
                    <a:pt x="20840" y="7244"/>
                    <a:pt x="20840" y="7178"/>
                  </a:cubicBezTo>
                  <a:cubicBezTo>
                    <a:pt x="20777" y="7111"/>
                    <a:pt x="20777" y="6978"/>
                    <a:pt x="20840" y="6846"/>
                  </a:cubicBezTo>
                  <a:cubicBezTo>
                    <a:pt x="20840" y="6779"/>
                    <a:pt x="20840" y="6713"/>
                    <a:pt x="20903" y="6713"/>
                  </a:cubicBezTo>
                  <a:cubicBezTo>
                    <a:pt x="20903" y="6580"/>
                    <a:pt x="20967" y="6513"/>
                    <a:pt x="20967" y="6380"/>
                  </a:cubicBezTo>
                  <a:cubicBezTo>
                    <a:pt x="20967" y="6247"/>
                    <a:pt x="20840" y="6181"/>
                    <a:pt x="20840" y="6048"/>
                  </a:cubicBezTo>
                  <a:cubicBezTo>
                    <a:pt x="20777" y="5982"/>
                    <a:pt x="20713" y="5915"/>
                    <a:pt x="20713" y="5849"/>
                  </a:cubicBezTo>
                  <a:cubicBezTo>
                    <a:pt x="20777" y="5849"/>
                    <a:pt x="20777" y="5782"/>
                    <a:pt x="20903" y="5716"/>
                  </a:cubicBezTo>
                  <a:cubicBezTo>
                    <a:pt x="20967" y="5649"/>
                    <a:pt x="21030" y="5583"/>
                    <a:pt x="21093" y="5583"/>
                  </a:cubicBezTo>
                  <a:cubicBezTo>
                    <a:pt x="21347" y="5450"/>
                    <a:pt x="21537" y="5383"/>
                    <a:pt x="21537" y="5051"/>
                  </a:cubicBezTo>
                  <a:cubicBezTo>
                    <a:pt x="21600" y="4985"/>
                    <a:pt x="21600" y="4985"/>
                    <a:pt x="21600" y="4985"/>
                  </a:cubicBezTo>
                  <a:lnTo>
                    <a:pt x="21473" y="4918"/>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51" name="Shape">
              <a:extLst>
                <a:ext uri="{FF2B5EF4-FFF2-40B4-BE49-F238E27FC236}">
                  <a16:creationId xmlns:a16="http://schemas.microsoft.com/office/drawing/2014/main" id="{FED54E44-EEEE-C940-A55C-CC99E6580A83}"/>
                </a:ext>
              </a:extLst>
            </p:cNvPr>
            <p:cNvSpPr/>
            <p:nvPr/>
          </p:nvSpPr>
          <p:spPr>
            <a:xfrm>
              <a:off x="5664469" y="6259920"/>
              <a:ext cx="870945" cy="805695"/>
            </a:xfrm>
            <a:custGeom>
              <a:avLst/>
              <a:gdLst/>
              <a:ahLst/>
              <a:cxnLst>
                <a:cxn ang="0">
                  <a:pos x="wd2" y="hd2"/>
                </a:cxn>
                <a:cxn ang="5400000">
                  <a:pos x="wd2" y="hd2"/>
                </a:cxn>
                <a:cxn ang="10800000">
                  <a:pos x="wd2" y="hd2"/>
                </a:cxn>
                <a:cxn ang="16200000">
                  <a:pos x="wd2" y="hd2"/>
                </a:cxn>
              </a:cxnLst>
              <a:rect l="0" t="0" r="r" b="b"/>
              <a:pathLst>
                <a:path w="21600" h="21600" extrusionOk="0">
                  <a:moveTo>
                    <a:pt x="21504" y="5952"/>
                  </a:moveTo>
                  <a:cubicBezTo>
                    <a:pt x="21504" y="5856"/>
                    <a:pt x="21600" y="5760"/>
                    <a:pt x="21600" y="5664"/>
                  </a:cubicBezTo>
                  <a:cubicBezTo>
                    <a:pt x="21600" y="5472"/>
                    <a:pt x="21600" y="5280"/>
                    <a:pt x="21504" y="4992"/>
                  </a:cubicBezTo>
                  <a:cubicBezTo>
                    <a:pt x="21504" y="4896"/>
                    <a:pt x="21407" y="4800"/>
                    <a:pt x="21407" y="4704"/>
                  </a:cubicBezTo>
                  <a:cubicBezTo>
                    <a:pt x="21311" y="4512"/>
                    <a:pt x="21214" y="4416"/>
                    <a:pt x="21311" y="4128"/>
                  </a:cubicBezTo>
                  <a:cubicBezTo>
                    <a:pt x="21311" y="4032"/>
                    <a:pt x="21311" y="3936"/>
                    <a:pt x="21311" y="3936"/>
                  </a:cubicBezTo>
                  <a:cubicBezTo>
                    <a:pt x="21407" y="3552"/>
                    <a:pt x="21311" y="3552"/>
                    <a:pt x="21118" y="3360"/>
                  </a:cubicBezTo>
                  <a:cubicBezTo>
                    <a:pt x="20925" y="3264"/>
                    <a:pt x="20829" y="3168"/>
                    <a:pt x="20732" y="3072"/>
                  </a:cubicBezTo>
                  <a:cubicBezTo>
                    <a:pt x="20636" y="2976"/>
                    <a:pt x="20443" y="2784"/>
                    <a:pt x="20346" y="2688"/>
                  </a:cubicBezTo>
                  <a:cubicBezTo>
                    <a:pt x="20154" y="2688"/>
                    <a:pt x="19961" y="2592"/>
                    <a:pt x="19768" y="2592"/>
                  </a:cubicBezTo>
                  <a:cubicBezTo>
                    <a:pt x="19671" y="2592"/>
                    <a:pt x="19575" y="2592"/>
                    <a:pt x="19479" y="2592"/>
                  </a:cubicBezTo>
                  <a:cubicBezTo>
                    <a:pt x="19382" y="2592"/>
                    <a:pt x="19286" y="2592"/>
                    <a:pt x="19189" y="2592"/>
                  </a:cubicBezTo>
                  <a:cubicBezTo>
                    <a:pt x="18900" y="2592"/>
                    <a:pt x="18804" y="2496"/>
                    <a:pt x="18611" y="2304"/>
                  </a:cubicBezTo>
                  <a:cubicBezTo>
                    <a:pt x="18514" y="2208"/>
                    <a:pt x="18514" y="2208"/>
                    <a:pt x="18514" y="2208"/>
                  </a:cubicBezTo>
                  <a:cubicBezTo>
                    <a:pt x="18225" y="1824"/>
                    <a:pt x="17936" y="1728"/>
                    <a:pt x="17550" y="1728"/>
                  </a:cubicBezTo>
                  <a:cubicBezTo>
                    <a:pt x="17261" y="1632"/>
                    <a:pt x="17164" y="1536"/>
                    <a:pt x="16971" y="1440"/>
                  </a:cubicBezTo>
                  <a:cubicBezTo>
                    <a:pt x="16875" y="1344"/>
                    <a:pt x="16779" y="1344"/>
                    <a:pt x="16682" y="1248"/>
                  </a:cubicBezTo>
                  <a:cubicBezTo>
                    <a:pt x="16682" y="1248"/>
                    <a:pt x="16682" y="1248"/>
                    <a:pt x="16682" y="1248"/>
                  </a:cubicBezTo>
                  <a:cubicBezTo>
                    <a:pt x="14657" y="1248"/>
                    <a:pt x="14657" y="1248"/>
                    <a:pt x="14657" y="1248"/>
                  </a:cubicBezTo>
                  <a:cubicBezTo>
                    <a:pt x="14464" y="96"/>
                    <a:pt x="14464" y="96"/>
                    <a:pt x="14464" y="96"/>
                  </a:cubicBezTo>
                  <a:cubicBezTo>
                    <a:pt x="14368" y="0"/>
                    <a:pt x="14368" y="0"/>
                    <a:pt x="14368" y="0"/>
                  </a:cubicBezTo>
                  <a:cubicBezTo>
                    <a:pt x="14271" y="0"/>
                    <a:pt x="14175" y="0"/>
                    <a:pt x="14079" y="0"/>
                  </a:cubicBezTo>
                  <a:cubicBezTo>
                    <a:pt x="13982" y="0"/>
                    <a:pt x="13886" y="0"/>
                    <a:pt x="13886" y="0"/>
                  </a:cubicBezTo>
                  <a:cubicBezTo>
                    <a:pt x="13789" y="0"/>
                    <a:pt x="13693" y="0"/>
                    <a:pt x="13693" y="0"/>
                  </a:cubicBezTo>
                  <a:cubicBezTo>
                    <a:pt x="13596" y="0"/>
                    <a:pt x="13596" y="0"/>
                    <a:pt x="13596" y="0"/>
                  </a:cubicBezTo>
                  <a:cubicBezTo>
                    <a:pt x="13404" y="0"/>
                    <a:pt x="13307" y="0"/>
                    <a:pt x="13211" y="0"/>
                  </a:cubicBezTo>
                  <a:cubicBezTo>
                    <a:pt x="13018" y="0"/>
                    <a:pt x="12921" y="0"/>
                    <a:pt x="12729" y="0"/>
                  </a:cubicBezTo>
                  <a:cubicBezTo>
                    <a:pt x="12439" y="96"/>
                    <a:pt x="12343" y="96"/>
                    <a:pt x="12150" y="96"/>
                  </a:cubicBezTo>
                  <a:cubicBezTo>
                    <a:pt x="11957" y="96"/>
                    <a:pt x="11957" y="96"/>
                    <a:pt x="11957" y="96"/>
                  </a:cubicBezTo>
                  <a:cubicBezTo>
                    <a:pt x="11571" y="96"/>
                    <a:pt x="11282" y="384"/>
                    <a:pt x="11089" y="576"/>
                  </a:cubicBezTo>
                  <a:cubicBezTo>
                    <a:pt x="10993" y="672"/>
                    <a:pt x="10993" y="672"/>
                    <a:pt x="10993" y="672"/>
                  </a:cubicBezTo>
                  <a:cubicBezTo>
                    <a:pt x="10896" y="768"/>
                    <a:pt x="10800" y="864"/>
                    <a:pt x="10704" y="960"/>
                  </a:cubicBezTo>
                  <a:cubicBezTo>
                    <a:pt x="10607" y="960"/>
                    <a:pt x="10607" y="960"/>
                    <a:pt x="10511" y="1056"/>
                  </a:cubicBezTo>
                  <a:cubicBezTo>
                    <a:pt x="10414" y="1152"/>
                    <a:pt x="10221" y="1248"/>
                    <a:pt x="10221" y="1440"/>
                  </a:cubicBezTo>
                  <a:cubicBezTo>
                    <a:pt x="10221" y="1632"/>
                    <a:pt x="10221" y="1728"/>
                    <a:pt x="10221" y="1920"/>
                  </a:cubicBezTo>
                  <a:cubicBezTo>
                    <a:pt x="10221" y="2304"/>
                    <a:pt x="10221" y="2592"/>
                    <a:pt x="9836" y="2688"/>
                  </a:cubicBezTo>
                  <a:cubicBezTo>
                    <a:pt x="9546" y="2784"/>
                    <a:pt x="9161" y="2976"/>
                    <a:pt x="8775" y="3264"/>
                  </a:cubicBezTo>
                  <a:cubicBezTo>
                    <a:pt x="8486" y="3360"/>
                    <a:pt x="8293" y="3456"/>
                    <a:pt x="8100" y="3648"/>
                  </a:cubicBezTo>
                  <a:cubicBezTo>
                    <a:pt x="8004" y="3744"/>
                    <a:pt x="7811" y="3840"/>
                    <a:pt x="7618" y="3936"/>
                  </a:cubicBezTo>
                  <a:cubicBezTo>
                    <a:pt x="7618" y="3936"/>
                    <a:pt x="7521" y="4032"/>
                    <a:pt x="7521" y="4032"/>
                  </a:cubicBezTo>
                  <a:cubicBezTo>
                    <a:pt x="7329" y="4128"/>
                    <a:pt x="7136" y="4224"/>
                    <a:pt x="7039" y="4416"/>
                  </a:cubicBezTo>
                  <a:cubicBezTo>
                    <a:pt x="6943" y="4512"/>
                    <a:pt x="6846" y="4704"/>
                    <a:pt x="6846" y="4800"/>
                  </a:cubicBezTo>
                  <a:cubicBezTo>
                    <a:pt x="6750" y="4896"/>
                    <a:pt x="6750" y="4896"/>
                    <a:pt x="6750" y="4992"/>
                  </a:cubicBezTo>
                  <a:cubicBezTo>
                    <a:pt x="6557" y="5280"/>
                    <a:pt x="6461" y="5472"/>
                    <a:pt x="6268" y="5760"/>
                  </a:cubicBezTo>
                  <a:cubicBezTo>
                    <a:pt x="6075" y="5856"/>
                    <a:pt x="5979" y="6048"/>
                    <a:pt x="5882" y="6240"/>
                  </a:cubicBezTo>
                  <a:cubicBezTo>
                    <a:pt x="5786" y="6432"/>
                    <a:pt x="5786" y="6432"/>
                    <a:pt x="5786" y="6432"/>
                  </a:cubicBezTo>
                  <a:cubicBezTo>
                    <a:pt x="5593" y="6720"/>
                    <a:pt x="5304" y="7104"/>
                    <a:pt x="5014" y="7200"/>
                  </a:cubicBezTo>
                  <a:cubicBezTo>
                    <a:pt x="5014" y="7296"/>
                    <a:pt x="4918" y="7296"/>
                    <a:pt x="4821" y="7296"/>
                  </a:cubicBezTo>
                  <a:cubicBezTo>
                    <a:pt x="4725" y="7392"/>
                    <a:pt x="4532" y="7392"/>
                    <a:pt x="4436" y="7488"/>
                  </a:cubicBezTo>
                  <a:cubicBezTo>
                    <a:pt x="4436" y="7488"/>
                    <a:pt x="4339" y="7584"/>
                    <a:pt x="4339" y="7584"/>
                  </a:cubicBezTo>
                  <a:cubicBezTo>
                    <a:pt x="4243" y="7680"/>
                    <a:pt x="4146" y="7776"/>
                    <a:pt x="4050" y="7776"/>
                  </a:cubicBezTo>
                  <a:cubicBezTo>
                    <a:pt x="4050" y="7776"/>
                    <a:pt x="4050" y="7776"/>
                    <a:pt x="4050" y="7776"/>
                  </a:cubicBezTo>
                  <a:cubicBezTo>
                    <a:pt x="3761" y="7680"/>
                    <a:pt x="3664" y="7584"/>
                    <a:pt x="3471" y="7392"/>
                  </a:cubicBezTo>
                  <a:cubicBezTo>
                    <a:pt x="3375" y="7296"/>
                    <a:pt x="3182" y="7104"/>
                    <a:pt x="2989" y="7104"/>
                  </a:cubicBezTo>
                  <a:cubicBezTo>
                    <a:pt x="2893" y="7104"/>
                    <a:pt x="2893" y="7104"/>
                    <a:pt x="2893" y="7104"/>
                  </a:cubicBezTo>
                  <a:cubicBezTo>
                    <a:pt x="2796" y="7104"/>
                    <a:pt x="2604" y="7200"/>
                    <a:pt x="2507" y="7296"/>
                  </a:cubicBezTo>
                  <a:cubicBezTo>
                    <a:pt x="2314" y="7488"/>
                    <a:pt x="2218" y="7488"/>
                    <a:pt x="2121" y="7488"/>
                  </a:cubicBezTo>
                  <a:cubicBezTo>
                    <a:pt x="1929" y="7488"/>
                    <a:pt x="1832" y="7392"/>
                    <a:pt x="1639" y="7200"/>
                  </a:cubicBezTo>
                  <a:cubicBezTo>
                    <a:pt x="1543" y="7008"/>
                    <a:pt x="1350" y="6912"/>
                    <a:pt x="1157" y="6912"/>
                  </a:cubicBezTo>
                  <a:cubicBezTo>
                    <a:pt x="1157" y="6912"/>
                    <a:pt x="1061" y="6912"/>
                    <a:pt x="1061" y="6912"/>
                  </a:cubicBezTo>
                  <a:cubicBezTo>
                    <a:pt x="964" y="6912"/>
                    <a:pt x="964" y="6912"/>
                    <a:pt x="868" y="7008"/>
                  </a:cubicBezTo>
                  <a:cubicBezTo>
                    <a:pt x="868" y="7008"/>
                    <a:pt x="771" y="7008"/>
                    <a:pt x="771" y="7008"/>
                  </a:cubicBezTo>
                  <a:cubicBezTo>
                    <a:pt x="675" y="7008"/>
                    <a:pt x="579" y="7008"/>
                    <a:pt x="482" y="6912"/>
                  </a:cubicBezTo>
                  <a:cubicBezTo>
                    <a:pt x="386" y="6912"/>
                    <a:pt x="386" y="6912"/>
                    <a:pt x="386" y="6912"/>
                  </a:cubicBezTo>
                  <a:cubicBezTo>
                    <a:pt x="0" y="6624"/>
                    <a:pt x="0" y="6624"/>
                    <a:pt x="0" y="6624"/>
                  </a:cubicBezTo>
                  <a:cubicBezTo>
                    <a:pt x="0" y="7008"/>
                    <a:pt x="0" y="7008"/>
                    <a:pt x="0" y="7008"/>
                  </a:cubicBezTo>
                  <a:cubicBezTo>
                    <a:pt x="0" y="7104"/>
                    <a:pt x="0" y="7104"/>
                    <a:pt x="0" y="7200"/>
                  </a:cubicBezTo>
                  <a:cubicBezTo>
                    <a:pt x="0" y="7296"/>
                    <a:pt x="0" y="7488"/>
                    <a:pt x="96" y="7584"/>
                  </a:cubicBezTo>
                  <a:cubicBezTo>
                    <a:pt x="289" y="7968"/>
                    <a:pt x="579" y="8256"/>
                    <a:pt x="771" y="8640"/>
                  </a:cubicBezTo>
                  <a:cubicBezTo>
                    <a:pt x="1061" y="9024"/>
                    <a:pt x="1350" y="9504"/>
                    <a:pt x="1543" y="9984"/>
                  </a:cubicBezTo>
                  <a:cubicBezTo>
                    <a:pt x="1639" y="10080"/>
                    <a:pt x="1639" y="10176"/>
                    <a:pt x="1736" y="10176"/>
                  </a:cubicBezTo>
                  <a:cubicBezTo>
                    <a:pt x="1832" y="10272"/>
                    <a:pt x="1832" y="10368"/>
                    <a:pt x="1929" y="10464"/>
                  </a:cubicBezTo>
                  <a:cubicBezTo>
                    <a:pt x="1929" y="10560"/>
                    <a:pt x="1929" y="10752"/>
                    <a:pt x="1929" y="10848"/>
                  </a:cubicBezTo>
                  <a:cubicBezTo>
                    <a:pt x="1929" y="10944"/>
                    <a:pt x="1929" y="11136"/>
                    <a:pt x="2025" y="11232"/>
                  </a:cubicBezTo>
                  <a:cubicBezTo>
                    <a:pt x="2121" y="11712"/>
                    <a:pt x="2411" y="12000"/>
                    <a:pt x="2700" y="12384"/>
                  </a:cubicBezTo>
                  <a:cubicBezTo>
                    <a:pt x="2700" y="12384"/>
                    <a:pt x="2700" y="12384"/>
                    <a:pt x="2700" y="12384"/>
                  </a:cubicBezTo>
                  <a:cubicBezTo>
                    <a:pt x="2796" y="12480"/>
                    <a:pt x="2796" y="12576"/>
                    <a:pt x="2893" y="12672"/>
                  </a:cubicBezTo>
                  <a:cubicBezTo>
                    <a:pt x="2893" y="12768"/>
                    <a:pt x="2989" y="12864"/>
                    <a:pt x="3086" y="12960"/>
                  </a:cubicBezTo>
                  <a:cubicBezTo>
                    <a:pt x="3182" y="13056"/>
                    <a:pt x="3279" y="13152"/>
                    <a:pt x="3471" y="13344"/>
                  </a:cubicBezTo>
                  <a:cubicBezTo>
                    <a:pt x="3568" y="13344"/>
                    <a:pt x="3568" y="13344"/>
                    <a:pt x="3568" y="13440"/>
                  </a:cubicBezTo>
                  <a:cubicBezTo>
                    <a:pt x="3761" y="13536"/>
                    <a:pt x="3857" y="13632"/>
                    <a:pt x="4050" y="13632"/>
                  </a:cubicBezTo>
                  <a:cubicBezTo>
                    <a:pt x="4146" y="13728"/>
                    <a:pt x="4243" y="13728"/>
                    <a:pt x="4436" y="13824"/>
                  </a:cubicBezTo>
                  <a:cubicBezTo>
                    <a:pt x="4532" y="13920"/>
                    <a:pt x="4532" y="13920"/>
                    <a:pt x="4532" y="13920"/>
                  </a:cubicBezTo>
                  <a:cubicBezTo>
                    <a:pt x="4629" y="13920"/>
                    <a:pt x="4725" y="14016"/>
                    <a:pt x="4821" y="14016"/>
                  </a:cubicBezTo>
                  <a:cubicBezTo>
                    <a:pt x="4918" y="14016"/>
                    <a:pt x="5014" y="14016"/>
                    <a:pt x="5111" y="14112"/>
                  </a:cubicBezTo>
                  <a:cubicBezTo>
                    <a:pt x="5496" y="14304"/>
                    <a:pt x="5496" y="14688"/>
                    <a:pt x="5496" y="15168"/>
                  </a:cubicBezTo>
                  <a:cubicBezTo>
                    <a:pt x="5496" y="15456"/>
                    <a:pt x="5496" y="15456"/>
                    <a:pt x="5496" y="15456"/>
                  </a:cubicBezTo>
                  <a:cubicBezTo>
                    <a:pt x="6364" y="15456"/>
                    <a:pt x="6364" y="15456"/>
                    <a:pt x="6364" y="15456"/>
                  </a:cubicBezTo>
                  <a:cubicBezTo>
                    <a:pt x="6654" y="15552"/>
                    <a:pt x="6654" y="15744"/>
                    <a:pt x="6557" y="16128"/>
                  </a:cubicBezTo>
                  <a:cubicBezTo>
                    <a:pt x="6557" y="16224"/>
                    <a:pt x="6557" y="16320"/>
                    <a:pt x="6557" y="16320"/>
                  </a:cubicBezTo>
                  <a:cubicBezTo>
                    <a:pt x="6557" y="16416"/>
                    <a:pt x="6557" y="16512"/>
                    <a:pt x="6557" y="16608"/>
                  </a:cubicBezTo>
                  <a:cubicBezTo>
                    <a:pt x="6461" y="16896"/>
                    <a:pt x="6461" y="17088"/>
                    <a:pt x="6461" y="17280"/>
                  </a:cubicBezTo>
                  <a:cubicBezTo>
                    <a:pt x="6461" y="17568"/>
                    <a:pt x="6654" y="17664"/>
                    <a:pt x="6750" y="17760"/>
                  </a:cubicBezTo>
                  <a:cubicBezTo>
                    <a:pt x="6846" y="17856"/>
                    <a:pt x="6846" y="17856"/>
                    <a:pt x="6943" y="17952"/>
                  </a:cubicBezTo>
                  <a:cubicBezTo>
                    <a:pt x="7039" y="18048"/>
                    <a:pt x="7232" y="18240"/>
                    <a:pt x="7329" y="18432"/>
                  </a:cubicBezTo>
                  <a:cubicBezTo>
                    <a:pt x="7329" y="18528"/>
                    <a:pt x="7329" y="18624"/>
                    <a:pt x="7329" y="18624"/>
                  </a:cubicBezTo>
                  <a:cubicBezTo>
                    <a:pt x="7425" y="18816"/>
                    <a:pt x="7425" y="18912"/>
                    <a:pt x="7521" y="19008"/>
                  </a:cubicBezTo>
                  <a:cubicBezTo>
                    <a:pt x="7618" y="19008"/>
                    <a:pt x="7714" y="19008"/>
                    <a:pt x="7811" y="19008"/>
                  </a:cubicBezTo>
                  <a:cubicBezTo>
                    <a:pt x="7907" y="19008"/>
                    <a:pt x="7907" y="19008"/>
                    <a:pt x="8004" y="19008"/>
                  </a:cubicBezTo>
                  <a:cubicBezTo>
                    <a:pt x="8100" y="19008"/>
                    <a:pt x="8100" y="19008"/>
                    <a:pt x="8100" y="19008"/>
                  </a:cubicBezTo>
                  <a:cubicBezTo>
                    <a:pt x="8100" y="19008"/>
                    <a:pt x="8196" y="19008"/>
                    <a:pt x="8196" y="19008"/>
                  </a:cubicBezTo>
                  <a:cubicBezTo>
                    <a:pt x="8582" y="19008"/>
                    <a:pt x="8968" y="19104"/>
                    <a:pt x="9354" y="19200"/>
                  </a:cubicBezTo>
                  <a:cubicBezTo>
                    <a:pt x="9354" y="19296"/>
                    <a:pt x="9450" y="19296"/>
                    <a:pt x="9450" y="19296"/>
                  </a:cubicBezTo>
                  <a:cubicBezTo>
                    <a:pt x="9739" y="19392"/>
                    <a:pt x="10125" y="19584"/>
                    <a:pt x="10125" y="19776"/>
                  </a:cubicBezTo>
                  <a:cubicBezTo>
                    <a:pt x="10125" y="19872"/>
                    <a:pt x="10125" y="19872"/>
                    <a:pt x="10125" y="19968"/>
                  </a:cubicBezTo>
                  <a:cubicBezTo>
                    <a:pt x="10125" y="19968"/>
                    <a:pt x="10125" y="19968"/>
                    <a:pt x="10125" y="20064"/>
                  </a:cubicBezTo>
                  <a:cubicBezTo>
                    <a:pt x="10029" y="20160"/>
                    <a:pt x="10029" y="20160"/>
                    <a:pt x="10029" y="20160"/>
                  </a:cubicBezTo>
                  <a:cubicBezTo>
                    <a:pt x="10414" y="20352"/>
                    <a:pt x="10414" y="20352"/>
                    <a:pt x="10414" y="20352"/>
                  </a:cubicBezTo>
                  <a:cubicBezTo>
                    <a:pt x="10414" y="20352"/>
                    <a:pt x="10414" y="20352"/>
                    <a:pt x="10414" y="20352"/>
                  </a:cubicBezTo>
                  <a:cubicBezTo>
                    <a:pt x="10414" y="20448"/>
                    <a:pt x="10414" y="20448"/>
                    <a:pt x="10414" y="20448"/>
                  </a:cubicBezTo>
                  <a:cubicBezTo>
                    <a:pt x="10511" y="20544"/>
                    <a:pt x="10511" y="20544"/>
                    <a:pt x="10511" y="20544"/>
                  </a:cubicBezTo>
                  <a:cubicBezTo>
                    <a:pt x="10607" y="20544"/>
                    <a:pt x="10607" y="20544"/>
                    <a:pt x="10607" y="20544"/>
                  </a:cubicBezTo>
                  <a:cubicBezTo>
                    <a:pt x="10800" y="20544"/>
                    <a:pt x="10896" y="20640"/>
                    <a:pt x="11089" y="20736"/>
                  </a:cubicBezTo>
                  <a:cubicBezTo>
                    <a:pt x="11186" y="20736"/>
                    <a:pt x="11282" y="20832"/>
                    <a:pt x="11379" y="20832"/>
                  </a:cubicBezTo>
                  <a:cubicBezTo>
                    <a:pt x="11475" y="20832"/>
                    <a:pt x="11668" y="20832"/>
                    <a:pt x="11764" y="20832"/>
                  </a:cubicBezTo>
                  <a:cubicBezTo>
                    <a:pt x="12150" y="20832"/>
                    <a:pt x="12150" y="20832"/>
                    <a:pt x="12150" y="20832"/>
                  </a:cubicBezTo>
                  <a:cubicBezTo>
                    <a:pt x="12246" y="20832"/>
                    <a:pt x="12343" y="20832"/>
                    <a:pt x="12536" y="20832"/>
                  </a:cubicBezTo>
                  <a:cubicBezTo>
                    <a:pt x="12729" y="20832"/>
                    <a:pt x="12825" y="20928"/>
                    <a:pt x="12921" y="21024"/>
                  </a:cubicBezTo>
                  <a:cubicBezTo>
                    <a:pt x="13018" y="21120"/>
                    <a:pt x="13211" y="21216"/>
                    <a:pt x="13404" y="21312"/>
                  </a:cubicBezTo>
                  <a:cubicBezTo>
                    <a:pt x="13596" y="21312"/>
                    <a:pt x="13693" y="21312"/>
                    <a:pt x="13886" y="21312"/>
                  </a:cubicBezTo>
                  <a:cubicBezTo>
                    <a:pt x="13982" y="21312"/>
                    <a:pt x="14175" y="21312"/>
                    <a:pt x="14271" y="21312"/>
                  </a:cubicBezTo>
                  <a:cubicBezTo>
                    <a:pt x="14368" y="21312"/>
                    <a:pt x="14464" y="21216"/>
                    <a:pt x="14561" y="21216"/>
                  </a:cubicBezTo>
                  <a:cubicBezTo>
                    <a:pt x="14754" y="21120"/>
                    <a:pt x="14946" y="21120"/>
                    <a:pt x="15236" y="21120"/>
                  </a:cubicBezTo>
                  <a:cubicBezTo>
                    <a:pt x="15236" y="21120"/>
                    <a:pt x="15332" y="21120"/>
                    <a:pt x="15429" y="21120"/>
                  </a:cubicBezTo>
                  <a:cubicBezTo>
                    <a:pt x="15718" y="21216"/>
                    <a:pt x="15911" y="21312"/>
                    <a:pt x="16200" y="21504"/>
                  </a:cubicBezTo>
                  <a:cubicBezTo>
                    <a:pt x="16393" y="21600"/>
                    <a:pt x="16393" y="21600"/>
                    <a:pt x="16393" y="21600"/>
                  </a:cubicBezTo>
                  <a:cubicBezTo>
                    <a:pt x="19093" y="18720"/>
                    <a:pt x="19093" y="18720"/>
                    <a:pt x="19093" y="18720"/>
                  </a:cubicBezTo>
                  <a:cubicBezTo>
                    <a:pt x="19093" y="18624"/>
                    <a:pt x="19189" y="18624"/>
                    <a:pt x="19286" y="18528"/>
                  </a:cubicBezTo>
                  <a:cubicBezTo>
                    <a:pt x="19286" y="18528"/>
                    <a:pt x="19382" y="18432"/>
                    <a:pt x="19479" y="18336"/>
                  </a:cubicBezTo>
                  <a:cubicBezTo>
                    <a:pt x="19575" y="18144"/>
                    <a:pt x="19575" y="18048"/>
                    <a:pt x="19575" y="17760"/>
                  </a:cubicBezTo>
                  <a:cubicBezTo>
                    <a:pt x="19575" y="17760"/>
                    <a:pt x="19575" y="17664"/>
                    <a:pt x="19575" y="17568"/>
                  </a:cubicBezTo>
                  <a:cubicBezTo>
                    <a:pt x="19575" y="17376"/>
                    <a:pt x="19575" y="17376"/>
                    <a:pt x="19671" y="17280"/>
                  </a:cubicBezTo>
                  <a:cubicBezTo>
                    <a:pt x="19671" y="17280"/>
                    <a:pt x="19768" y="17184"/>
                    <a:pt x="19768" y="17184"/>
                  </a:cubicBezTo>
                  <a:cubicBezTo>
                    <a:pt x="19961" y="16896"/>
                    <a:pt x="19864" y="16704"/>
                    <a:pt x="19864" y="16416"/>
                  </a:cubicBezTo>
                  <a:cubicBezTo>
                    <a:pt x="19864" y="16320"/>
                    <a:pt x="19864" y="16224"/>
                    <a:pt x="19864" y="16032"/>
                  </a:cubicBezTo>
                  <a:cubicBezTo>
                    <a:pt x="19864" y="15840"/>
                    <a:pt x="19961" y="15840"/>
                    <a:pt x="20057" y="15744"/>
                  </a:cubicBezTo>
                  <a:cubicBezTo>
                    <a:pt x="20154" y="15648"/>
                    <a:pt x="20250" y="15648"/>
                    <a:pt x="20250" y="15648"/>
                  </a:cubicBezTo>
                  <a:cubicBezTo>
                    <a:pt x="20346" y="15552"/>
                    <a:pt x="20443" y="15552"/>
                    <a:pt x="20539" y="15360"/>
                  </a:cubicBezTo>
                  <a:cubicBezTo>
                    <a:pt x="20732" y="15072"/>
                    <a:pt x="20829" y="14784"/>
                    <a:pt x="21021" y="14496"/>
                  </a:cubicBezTo>
                  <a:cubicBezTo>
                    <a:pt x="21021" y="14304"/>
                    <a:pt x="21118" y="14208"/>
                    <a:pt x="21214" y="14112"/>
                  </a:cubicBezTo>
                  <a:cubicBezTo>
                    <a:pt x="21311" y="13920"/>
                    <a:pt x="21504" y="13728"/>
                    <a:pt x="21504" y="13440"/>
                  </a:cubicBezTo>
                  <a:cubicBezTo>
                    <a:pt x="21504" y="13152"/>
                    <a:pt x="21407" y="12960"/>
                    <a:pt x="21214" y="12864"/>
                  </a:cubicBezTo>
                  <a:cubicBezTo>
                    <a:pt x="21118" y="12768"/>
                    <a:pt x="21118" y="12672"/>
                    <a:pt x="21021" y="12576"/>
                  </a:cubicBezTo>
                  <a:cubicBezTo>
                    <a:pt x="20829" y="12288"/>
                    <a:pt x="20925" y="11808"/>
                    <a:pt x="21021" y="11520"/>
                  </a:cubicBezTo>
                  <a:cubicBezTo>
                    <a:pt x="21021" y="11424"/>
                    <a:pt x="21021" y="11424"/>
                    <a:pt x="21021" y="11328"/>
                  </a:cubicBezTo>
                  <a:cubicBezTo>
                    <a:pt x="21021" y="11232"/>
                    <a:pt x="21118" y="11136"/>
                    <a:pt x="21021" y="10944"/>
                  </a:cubicBezTo>
                  <a:cubicBezTo>
                    <a:pt x="21021" y="10848"/>
                    <a:pt x="20925" y="10752"/>
                    <a:pt x="20829" y="10656"/>
                  </a:cubicBezTo>
                  <a:cubicBezTo>
                    <a:pt x="20732" y="10560"/>
                    <a:pt x="20732" y="10464"/>
                    <a:pt x="20732" y="10368"/>
                  </a:cubicBezTo>
                  <a:cubicBezTo>
                    <a:pt x="20636" y="10176"/>
                    <a:pt x="20732" y="10176"/>
                    <a:pt x="20925" y="10080"/>
                  </a:cubicBezTo>
                  <a:cubicBezTo>
                    <a:pt x="20925" y="10080"/>
                    <a:pt x="21021" y="10080"/>
                    <a:pt x="21118" y="9984"/>
                  </a:cubicBezTo>
                  <a:cubicBezTo>
                    <a:pt x="21118" y="9888"/>
                    <a:pt x="21118" y="9792"/>
                    <a:pt x="21118" y="9600"/>
                  </a:cubicBezTo>
                  <a:cubicBezTo>
                    <a:pt x="21118" y="9504"/>
                    <a:pt x="21118" y="9408"/>
                    <a:pt x="21214" y="9312"/>
                  </a:cubicBezTo>
                  <a:cubicBezTo>
                    <a:pt x="21214" y="9216"/>
                    <a:pt x="21311" y="9120"/>
                    <a:pt x="21311" y="9120"/>
                  </a:cubicBezTo>
                  <a:cubicBezTo>
                    <a:pt x="21407" y="9024"/>
                    <a:pt x="21407" y="8928"/>
                    <a:pt x="21504" y="8928"/>
                  </a:cubicBezTo>
                  <a:cubicBezTo>
                    <a:pt x="21600" y="8736"/>
                    <a:pt x="21600" y="8448"/>
                    <a:pt x="21504" y="8064"/>
                  </a:cubicBezTo>
                  <a:cubicBezTo>
                    <a:pt x="21504" y="7968"/>
                    <a:pt x="21504" y="7776"/>
                    <a:pt x="21504" y="7680"/>
                  </a:cubicBezTo>
                  <a:cubicBezTo>
                    <a:pt x="21504" y="7392"/>
                    <a:pt x="21504" y="7104"/>
                    <a:pt x="21504" y="6816"/>
                  </a:cubicBezTo>
                  <a:cubicBezTo>
                    <a:pt x="21504" y="6528"/>
                    <a:pt x="21504" y="6240"/>
                    <a:pt x="21504" y="5952"/>
                  </a:cubicBezTo>
                  <a:close/>
                </a:path>
              </a:pathLst>
            </a:custGeom>
            <a:solidFill>
              <a:schemeClr val="tx2"/>
            </a:solid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52" name="Shape">
              <a:extLst>
                <a:ext uri="{FF2B5EF4-FFF2-40B4-BE49-F238E27FC236}">
                  <a16:creationId xmlns:a16="http://schemas.microsoft.com/office/drawing/2014/main" id="{619FEBAB-E6D2-D54A-B39C-EC96574DD85D}"/>
                </a:ext>
              </a:extLst>
            </p:cNvPr>
            <p:cNvSpPr/>
            <p:nvPr/>
          </p:nvSpPr>
          <p:spPr>
            <a:xfrm>
              <a:off x="2849991" y="1637057"/>
              <a:ext cx="1767630" cy="1392192"/>
            </a:xfrm>
            <a:custGeom>
              <a:avLst/>
              <a:gdLst/>
              <a:ahLst/>
              <a:cxnLst>
                <a:cxn ang="0">
                  <a:pos x="wd2" y="hd2"/>
                </a:cxn>
                <a:cxn ang="5400000">
                  <a:pos x="wd2" y="hd2"/>
                </a:cxn>
                <a:cxn ang="10800000">
                  <a:pos x="wd2" y="hd2"/>
                </a:cxn>
                <a:cxn ang="16200000">
                  <a:pos x="wd2" y="hd2"/>
                </a:cxn>
              </a:cxnLst>
              <a:rect l="0" t="0" r="r" b="b"/>
              <a:pathLst>
                <a:path w="21600" h="21600" extrusionOk="0">
                  <a:moveTo>
                    <a:pt x="21077" y="4997"/>
                  </a:moveTo>
                  <a:cubicBezTo>
                    <a:pt x="20934" y="4553"/>
                    <a:pt x="20934" y="4553"/>
                    <a:pt x="20934" y="4553"/>
                  </a:cubicBezTo>
                  <a:cubicBezTo>
                    <a:pt x="20411" y="3609"/>
                    <a:pt x="20411" y="3609"/>
                    <a:pt x="20411" y="3609"/>
                  </a:cubicBezTo>
                  <a:cubicBezTo>
                    <a:pt x="20411" y="3554"/>
                    <a:pt x="20411" y="2277"/>
                    <a:pt x="20173" y="1222"/>
                  </a:cubicBezTo>
                  <a:cubicBezTo>
                    <a:pt x="20125" y="1055"/>
                    <a:pt x="20125" y="1055"/>
                    <a:pt x="20125" y="1055"/>
                  </a:cubicBezTo>
                  <a:cubicBezTo>
                    <a:pt x="20030" y="1111"/>
                    <a:pt x="20030" y="1111"/>
                    <a:pt x="20030" y="1111"/>
                  </a:cubicBezTo>
                  <a:cubicBezTo>
                    <a:pt x="19126" y="1721"/>
                    <a:pt x="19126" y="1721"/>
                    <a:pt x="19126" y="1721"/>
                  </a:cubicBezTo>
                  <a:cubicBezTo>
                    <a:pt x="18222" y="722"/>
                    <a:pt x="18222" y="722"/>
                    <a:pt x="18222" y="722"/>
                  </a:cubicBezTo>
                  <a:cubicBezTo>
                    <a:pt x="18032" y="500"/>
                    <a:pt x="16081" y="56"/>
                    <a:pt x="16033" y="56"/>
                  </a:cubicBezTo>
                  <a:cubicBezTo>
                    <a:pt x="15986" y="0"/>
                    <a:pt x="15986" y="0"/>
                    <a:pt x="15986" y="0"/>
                  </a:cubicBezTo>
                  <a:cubicBezTo>
                    <a:pt x="10372" y="4498"/>
                    <a:pt x="10372" y="4498"/>
                    <a:pt x="10372" y="4498"/>
                  </a:cubicBezTo>
                  <a:cubicBezTo>
                    <a:pt x="9658" y="4997"/>
                    <a:pt x="7803" y="7441"/>
                    <a:pt x="7803" y="7441"/>
                  </a:cubicBezTo>
                  <a:cubicBezTo>
                    <a:pt x="5519" y="7996"/>
                    <a:pt x="5519" y="7996"/>
                    <a:pt x="5519" y="7996"/>
                  </a:cubicBezTo>
                  <a:cubicBezTo>
                    <a:pt x="5567" y="8107"/>
                    <a:pt x="5567" y="8107"/>
                    <a:pt x="5567" y="8107"/>
                  </a:cubicBezTo>
                  <a:cubicBezTo>
                    <a:pt x="5614" y="8218"/>
                    <a:pt x="5567" y="8329"/>
                    <a:pt x="5567" y="8440"/>
                  </a:cubicBezTo>
                  <a:cubicBezTo>
                    <a:pt x="5567" y="8496"/>
                    <a:pt x="5567" y="8551"/>
                    <a:pt x="5567" y="8607"/>
                  </a:cubicBezTo>
                  <a:cubicBezTo>
                    <a:pt x="5519" y="8829"/>
                    <a:pt x="5567" y="8995"/>
                    <a:pt x="5567" y="9217"/>
                  </a:cubicBezTo>
                  <a:cubicBezTo>
                    <a:pt x="5567" y="9384"/>
                    <a:pt x="5567" y="9551"/>
                    <a:pt x="5567" y="9773"/>
                  </a:cubicBezTo>
                  <a:cubicBezTo>
                    <a:pt x="5519" y="10550"/>
                    <a:pt x="5519" y="11328"/>
                    <a:pt x="5519" y="12105"/>
                  </a:cubicBezTo>
                  <a:cubicBezTo>
                    <a:pt x="5519" y="12438"/>
                    <a:pt x="5519" y="12438"/>
                    <a:pt x="5519" y="12438"/>
                  </a:cubicBezTo>
                  <a:cubicBezTo>
                    <a:pt x="5519" y="12771"/>
                    <a:pt x="5424" y="13049"/>
                    <a:pt x="5281" y="13326"/>
                  </a:cubicBezTo>
                  <a:cubicBezTo>
                    <a:pt x="5233" y="13438"/>
                    <a:pt x="5233" y="13604"/>
                    <a:pt x="5186" y="13771"/>
                  </a:cubicBezTo>
                  <a:cubicBezTo>
                    <a:pt x="5186" y="13937"/>
                    <a:pt x="5186" y="14104"/>
                    <a:pt x="5091" y="14215"/>
                  </a:cubicBezTo>
                  <a:cubicBezTo>
                    <a:pt x="5043" y="14326"/>
                    <a:pt x="4996" y="14326"/>
                    <a:pt x="4948" y="14381"/>
                  </a:cubicBezTo>
                  <a:cubicBezTo>
                    <a:pt x="4900" y="14381"/>
                    <a:pt x="4853" y="14381"/>
                    <a:pt x="4853" y="14437"/>
                  </a:cubicBezTo>
                  <a:cubicBezTo>
                    <a:pt x="4758" y="14493"/>
                    <a:pt x="4758" y="14548"/>
                    <a:pt x="4710" y="14604"/>
                  </a:cubicBezTo>
                  <a:cubicBezTo>
                    <a:pt x="4710" y="14659"/>
                    <a:pt x="4663" y="14715"/>
                    <a:pt x="4663" y="14715"/>
                  </a:cubicBezTo>
                  <a:cubicBezTo>
                    <a:pt x="4615" y="14826"/>
                    <a:pt x="4567" y="14826"/>
                    <a:pt x="4472" y="14826"/>
                  </a:cubicBezTo>
                  <a:cubicBezTo>
                    <a:pt x="4425" y="14826"/>
                    <a:pt x="4377" y="14826"/>
                    <a:pt x="4330" y="14826"/>
                  </a:cubicBezTo>
                  <a:cubicBezTo>
                    <a:pt x="4282" y="14826"/>
                    <a:pt x="4187" y="14770"/>
                    <a:pt x="4139" y="14770"/>
                  </a:cubicBezTo>
                  <a:cubicBezTo>
                    <a:pt x="4092" y="14770"/>
                    <a:pt x="4092" y="14770"/>
                    <a:pt x="4044" y="14826"/>
                  </a:cubicBezTo>
                  <a:cubicBezTo>
                    <a:pt x="3996" y="14826"/>
                    <a:pt x="3949" y="14881"/>
                    <a:pt x="3901" y="14881"/>
                  </a:cubicBezTo>
                  <a:cubicBezTo>
                    <a:pt x="3854" y="14937"/>
                    <a:pt x="3806" y="14937"/>
                    <a:pt x="3759" y="14992"/>
                  </a:cubicBezTo>
                  <a:cubicBezTo>
                    <a:pt x="3711" y="14992"/>
                    <a:pt x="3663" y="14992"/>
                    <a:pt x="3568" y="14992"/>
                  </a:cubicBezTo>
                  <a:cubicBezTo>
                    <a:pt x="3568" y="14992"/>
                    <a:pt x="3521" y="14992"/>
                    <a:pt x="3473" y="14992"/>
                  </a:cubicBezTo>
                  <a:cubicBezTo>
                    <a:pt x="3426" y="14992"/>
                    <a:pt x="3426" y="14992"/>
                    <a:pt x="3426" y="14992"/>
                  </a:cubicBezTo>
                  <a:cubicBezTo>
                    <a:pt x="3378" y="14992"/>
                    <a:pt x="3330" y="14992"/>
                    <a:pt x="3330" y="14992"/>
                  </a:cubicBezTo>
                  <a:cubicBezTo>
                    <a:pt x="3188" y="14992"/>
                    <a:pt x="3093" y="14992"/>
                    <a:pt x="2997" y="14992"/>
                  </a:cubicBezTo>
                  <a:cubicBezTo>
                    <a:pt x="2902" y="14992"/>
                    <a:pt x="2807" y="14992"/>
                    <a:pt x="2712" y="14992"/>
                  </a:cubicBezTo>
                  <a:cubicBezTo>
                    <a:pt x="2664" y="14992"/>
                    <a:pt x="2664" y="14992"/>
                    <a:pt x="2664" y="14992"/>
                  </a:cubicBezTo>
                  <a:cubicBezTo>
                    <a:pt x="2569" y="14992"/>
                    <a:pt x="2522" y="14992"/>
                    <a:pt x="2426" y="14992"/>
                  </a:cubicBezTo>
                  <a:cubicBezTo>
                    <a:pt x="2331" y="14992"/>
                    <a:pt x="2236" y="14992"/>
                    <a:pt x="2141" y="14992"/>
                  </a:cubicBezTo>
                  <a:cubicBezTo>
                    <a:pt x="2093" y="14992"/>
                    <a:pt x="1998" y="14992"/>
                    <a:pt x="1903" y="14992"/>
                  </a:cubicBezTo>
                  <a:cubicBezTo>
                    <a:pt x="1618" y="15048"/>
                    <a:pt x="1522" y="15159"/>
                    <a:pt x="1332" y="15381"/>
                  </a:cubicBezTo>
                  <a:cubicBezTo>
                    <a:pt x="1237" y="15548"/>
                    <a:pt x="1094" y="15603"/>
                    <a:pt x="904" y="15603"/>
                  </a:cubicBezTo>
                  <a:cubicBezTo>
                    <a:pt x="761" y="15603"/>
                    <a:pt x="761" y="15603"/>
                    <a:pt x="761" y="15603"/>
                  </a:cubicBezTo>
                  <a:cubicBezTo>
                    <a:pt x="714" y="15603"/>
                    <a:pt x="666" y="15603"/>
                    <a:pt x="619" y="15603"/>
                  </a:cubicBezTo>
                  <a:cubicBezTo>
                    <a:pt x="571" y="15603"/>
                    <a:pt x="523" y="15603"/>
                    <a:pt x="428" y="15603"/>
                  </a:cubicBezTo>
                  <a:cubicBezTo>
                    <a:pt x="381" y="15603"/>
                    <a:pt x="285" y="15603"/>
                    <a:pt x="190" y="15548"/>
                  </a:cubicBezTo>
                  <a:cubicBezTo>
                    <a:pt x="48" y="15548"/>
                    <a:pt x="48" y="15548"/>
                    <a:pt x="48" y="15548"/>
                  </a:cubicBezTo>
                  <a:cubicBezTo>
                    <a:pt x="95" y="15714"/>
                    <a:pt x="95" y="15714"/>
                    <a:pt x="95" y="15714"/>
                  </a:cubicBezTo>
                  <a:cubicBezTo>
                    <a:pt x="95" y="15881"/>
                    <a:pt x="48" y="16103"/>
                    <a:pt x="48" y="16269"/>
                  </a:cubicBezTo>
                  <a:cubicBezTo>
                    <a:pt x="48" y="16325"/>
                    <a:pt x="48" y="16325"/>
                    <a:pt x="48" y="16325"/>
                  </a:cubicBezTo>
                  <a:cubicBezTo>
                    <a:pt x="48" y="16325"/>
                    <a:pt x="0" y="16380"/>
                    <a:pt x="0" y="16380"/>
                  </a:cubicBezTo>
                  <a:cubicBezTo>
                    <a:pt x="0" y="16492"/>
                    <a:pt x="0" y="16547"/>
                    <a:pt x="48" y="16603"/>
                  </a:cubicBezTo>
                  <a:cubicBezTo>
                    <a:pt x="95" y="16658"/>
                    <a:pt x="95" y="16658"/>
                    <a:pt x="143" y="16714"/>
                  </a:cubicBezTo>
                  <a:cubicBezTo>
                    <a:pt x="190" y="16714"/>
                    <a:pt x="238" y="16714"/>
                    <a:pt x="238" y="16769"/>
                  </a:cubicBezTo>
                  <a:cubicBezTo>
                    <a:pt x="285" y="16825"/>
                    <a:pt x="285" y="16880"/>
                    <a:pt x="285" y="16991"/>
                  </a:cubicBezTo>
                  <a:cubicBezTo>
                    <a:pt x="285" y="16991"/>
                    <a:pt x="285" y="16991"/>
                    <a:pt x="285" y="16991"/>
                  </a:cubicBezTo>
                  <a:cubicBezTo>
                    <a:pt x="333" y="17102"/>
                    <a:pt x="333" y="17158"/>
                    <a:pt x="333" y="17213"/>
                  </a:cubicBezTo>
                  <a:cubicBezTo>
                    <a:pt x="333" y="17380"/>
                    <a:pt x="333" y="17491"/>
                    <a:pt x="476" y="17658"/>
                  </a:cubicBezTo>
                  <a:cubicBezTo>
                    <a:pt x="571" y="17713"/>
                    <a:pt x="571" y="17713"/>
                    <a:pt x="571" y="17713"/>
                  </a:cubicBezTo>
                  <a:cubicBezTo>
                    <a:pt x="714" y="17880"/>
                    <a:pt x="856" y="17991"/>
                    <a:pt x="999" y="18102"/>
                  </a:cubicBezTo>
                  <a:cubicBezTo>
                    <a:pt x="1047" y="18157"/>
                    <a:pt x="1094" y="18213"/>
                    <a:pt x="1142" y="18213"/>
                  </a:cubicBezTo>
                  <a:cubicBezTo>
                    <a:pt x="1237" y="18268"/>
                    <a:pt x="1332" y="18324"/>
                    <a:pt x="1427" y="18435"/>
                  </a:cubicBezTo>
                  <a:cubicBezTo>
                    <a:pt x="1475" y="18546"/>
                    <a:pt x="1522" y="18602"/>
                    <a:pt x="1522" y="18602"/>
                  </a:cubicBezTo>
                  <a:cubicBezTo>
                    <a:pt x="1475" y="18713"/>
                    <a:pt x="1285" y="18713"/>
                    <a:pt x="1237" y="18713"/>
                  </a:cubicBezTo>
                  <a:cubicBezTo>
                    <a:pt x="1094" y="18713"/>
                    <a:pt x="1094" y="18713"/>
                    <a:pt x="1094" y="18713"/>
                  </a:cubicBezTo>
                  <a:cubicBezTo>
                    <a:pt x="1094" y="18824"/>
                    <a:pt x="1094" y="18824"/>
                    <a:pt x="1094" y="18824"/>
                  </a:cubicBezTo>
                  <a:cubicBezTo>
                    <a:pt x="1094" y="18935"/>
                    <a:pt x="1142" y="18990"/>
                    <a:pt x="1142" y="19101"/>
                  </a:cubicBezTo>
                  <a:cubicBezTo>
                    <a:pt x="1142" y="19157"/>
                    <a:pt x="1142" y="19157"/>
                    <a:pt x="1142" y="19157"/>
                  </a:cubicBezTo>
                  <a:cubicBezTo>
                    <a:pt x="1189" y="19157"/>
                    <a:pt x="1189" y="19157"/>
                    <a:pt x="1189" y="19157"/>
                  </a:cubicBezTo>
                  <a:cubicBezTo>
                    <a:pt x="1427" y="19212"/>
                    <a:pt x="1522" y="19434"/>
                    <a:pt x="1665" y="19601"/>
                  </a:cubicBezTo>
                  <a:cubicBezTo>
                    <a:pt x="1760" y="19712"/>
                    <a:pt x="1808" y="19768"/>
                    <a:pt x="1856" y="19823"/>
                  </a:cubicBezTo>
                  <a:cubicBezTo>
                    <a:pt x="1951" y="19934"/>
                    <a:pt x="2046" y="19990"/>
                    <a:pt x="2141" y="19990"/>
                  </a:cubicBezTo>
                  <a:cubicBezTo>
                    <a:pt x="2189" y="19990"/>
                    <a:pt x="2236" y="19990"/>
                    <a:pt x="2284" y="19934"/>
                  </a:cubicBezTo>
                  <a:cubicBezTo>
                    <a:pt x="2284" y="19934"/>
                    <a:pt x="2331" y="19879"/>
                    <a:pt x="2379" y="19879"/>
                  </a:cubicBezTo>
                  <a:cubicBezTo>
                    <a:pt x="2426" y="19823"/>
                    <a:pt x="2522" y="19712"/>
                    <a:pt x="2569" y="19712"/>
                  </a:cubicBezTo>
                  <a:cubicBezTo>
                    <a:pt x="2617" y="19712"/>
                    <a:pt x="2617" y="19712"/>
                    <a:pt x="2617" y="19712"/>
                  </a:cubicBezTo>
                  <a:cubicBezTo>
                    <a:pt x="2712" y="19768"/>
                    <a:pt x="2855" y="20045"/>
                    <a:pt x="2855" y="20156"/>
                  </a:cubicBezTo>
                  <a:cubicBezTo>
                    <a:pt x="2855" y="20212"/>
                    <a:pt x="2807" y="20267"/>
                    <a:pt x="2712" y="20323"/>
                  </a:cubicBezTo>
                  <a:cubicBezTo>
                    <a:pt x="2664" y="20378"/>
                    <a:pt x="2617" y="20378"/>
                    <a:pt x="2617" y="20489"/>
                  </a:cubicBezTo>
                  <a:cubicBezTo>
                    <a:pt x="2617" y="20601"/>
                    <a:pt x="2664" y="20656"/>
                    <a:pt x="2807" y="20823"/>
                  </a:cubicBezTo>
                  <a:cubicBezTo>
                    <a:pt x="2807" y="20878"/>
                    <a:pt x="2855" y="20878"/>
                    <a:pt x="2855" y="20934"/>
                  </a:cubicBezTo>
                  <a:cubicBezTo>
                    <a:pt x="2902" y="20989"/>
                    <a:pt x="2902" y="20989"/>
                    <a:pt x="2902" y="20989"/>
                  </a:cubicBezTo>
                  <a:cubicBezTo>
                    <a:pt x="2950" y="20989"/>
                    <a:pt x="2950" y="21045"/>
                    <a:pt x="2997" y="21100"/>
                  </a:cubicBezTo>
                  <a:cubicBezTo>
                    <a:pt x="3188" y="21433"/>
                    <a:pt x="3188" y="21433"/>
                    <a:pt x="3188" y="21433"/>
                  </a:cubicBezTo>
                  <a:cubicBezTo>
                    <a:pt x="3140" y="21045"/>
                    <a:pt x="3140" y="21045"/>
                    <a:pt x="3140" y="21045"/>
                  </a:cubicBezTo>
                  <a:cubicBezTo>
                    <a:pt x="3140" y="20989"/>
                    <a:pt x="3140" y="20934"/>
                    <a:pt x="3140" y="20878"/>
                  </a:cubicBezTo>
                  <a:cubicBezTo>
                    <a:pt x="3140" y="20878"/>
                    <a:pt x="3140" y="20823"/>
                    <a:pt x="3093" y="20823"/>
                  </a:cubicBezTo>
                  <a:cubicBezTo>
                    <a:pt x="3045" y="20712"/>
                    <a:pt x="3045" y="20656"/>
                    <a:pt x="3045" y="20601"/>
                  </a:cubicBezTo>
                  <a:cubicBezTo>
                    <a:pt x="3093" y="20601"/>
                    <a:pt x="3188" y="20545"/>
                    <a:pt x="3235" y="20489"/>
                  </a:cubicBezTo>
                  <a:cubicBezTo>
                    <a:pt x="3235" y="20489"/>
                    <a:pt x="3283" y="20489"/>
                    <a:pt x="3283" y="20489"/>
                  </a:cubicBezTo>
                  <a:cubicBezTo>
                    <a:pt x="3330" y="20434"/>
                    <a:pt x="3330" y="20434"/>
                    <a:pt x="3330" y="20434"/>
                  </a:cubicBezTo>
                  <a:cubicBezTo>
                    <a:pt x="3426" y="20378"/>
                    <a:pt x="3521" y="20323"/>
                    <a:pt x="3568" y="20323"/>
                  </a:cubicBezTo>
                  <a:cubicBezTo>
                    <a:pt x="3616" y="20323"/>
                    <a:pt x="3616" y="20323"/>
                    <a:pt x="3616" y="20323"/>
                  </a:cubicBezTo>
                  <a:cubicBezTo>
                    <a:pt x="3663" y="20323"/>
                    <a:pt x="3759" y="20434"/>
                    <a:pt x="3806" y="20489"/>
                  </a:cubicBezTo>
                  <a:cubicBezTo>
                    <a:pt x="3806" y="20545"/>
                    <a:pt x="3854" y="20545"/>
                    <a:pt x="3854" y="20601"/>
                  </a:cubicBezTo>
                  <a:cubicBezTo>
                    <a:pt x="3949" y="20656"/>
                    <a:pt x="3996" y="20712"/>
                    <a:pt x="4044" y="20823"/>
                  </a:cubicBezTo>
                  <a:cubicBezTo>
                    <a:pt x="4139" y="20934"/>
                    <a:pt x="4139" y="20934"/>
                    <a:pt x="4139" y="20934"/>
                  </a:cubicBezTo>
                  <a:cubicBezTo>
                    <a:pt x="4187" y="20989"/>
                    <a:pt x="4234" y="21045"/>
                    <a:pt x="4282" y="21100"/>
                  </a:cubicBezTo>
                  <a:cubicBezTo>
                    <a:pt x="4330" y="21156"/>
                    <a:pt x="4377" y="21211"/>
                    <a:pt x="4425" y="21267"/>
                  </a:cubicBezTo>
                  <a:cubicBezTo>
                    <a:pt x="4472" y="21322"/>
                    <a:pt x="4472" y="21322"/>
                    <a:pt x="4472" y="21322"/>
                  </a:cubicBezTo>
                  <a:cubicBezTo>
                    <a:pt x="4520" y="21378"/>
                    <a:pt x="4567" y="21433"/>
                    <a:pt x="4615" y="21489"/>
                  </a:cubicBezTo>
                  <a:cubicBezTo>
                    <a:pt x="4663" y="21378"/>
                    <a:pt x="4663" y="21378"/>
                    <a:pt x="4663" y="21378"/>
                  </a:cubicBezTo>
                  <a:cubicBezTo>
                    <a:pt x="4615" y="21489"/>
                    <a:pt x="4615" y="21489"/>
                    <a:pt x="4615" y="21489"/>
                  </a:cubicBezTo>
                  <a:cubicBezTo>
                    <a:pt x="4710" y="21600"/>
                    <a:pt x="4710" y="21600"/>
                    <a:pt x="4710" y="21600"/>
                  </a:cubicBezTo>
                  <a:cubicBezTo>
                    <a:pt x="4758" y="21433"/>
                    <a:pt x="4758" y="21433"/>
                    <a:pt x="4758" y="21433"/>
                  </a:cubicBezTo>
                  <a:cubicBezTo>
                    <a:pt x="4853" y="21211"/>
                    <a:pt x="4805" y="20934"/>
                    <a:pt x="4758" y="20712"/>
                  </a:cubicBezTo>
                  <a:cubicBezTo>
                    <a:pt x="4758" y="20656"/>
                    <a:pt x="4758" y="20545"/>
                    <a:pt x="4710" y="20489"/>
                  </a:cubicBezTo>
                  <a:cubicBezTo>
                    <a:pt x="4710" y="20267"/>
                    <a:pt x="4710" y="20101"/>
                    <a:pt x="4805" y="19990"/>
                  </a:cubicBezTo>
                  <a:cubicBezTo>
                    <a:pt x="4853" y="19934"/>
                    <a:pt x="4900" y="19934"/>
                    <a:pt x="4948" y="19879"/>
                  </a:cubicBezTo>
                  <a:cubicBezTo>
                    <a:pt x="4996" y="19823"/>
                    <a:pt x="5043" y="19768"/>
                    <a:pt x="5091" y="19712"/>
                  </a:cubicBezTo>
                  <a:cubicBezTo>
                    <a:pt x="5138" y="19657"/>
                    <a:pt x="5138" y="19601"/>
                    <a:pt x="5186" y="19546"/>
                  </a:cubicBezTo>
                  <a:cubicBezTo>
                    <a:pt x="5233" y="19490"/>
                    <a:pt x="5329" y="19379"/>
                    <a:pt x="5376" y="19323"/>
                  </a:cubicBezTo>
                  <a:cubicBezTo>
                    <a:pt x="5424" y="19157"/>
                    <a:pt x="5424" y="19046"/>
                    <a:pt x="5424" y="18879"/>
                  </a:cubicBezTo>
                  <a:cubicBezTo>
                    <a:pt x="5424" y="18879"/>
                    <a:pt x="5424" y="18824"/>
                    <a:pt x="5424" y="18824"/>
                  </a:cubicBezTo>
                  <a:cubicBezTo>
                    <a:pt x="5424" y="18768"/>
                    <a:pt x="5424" y="18713"/>
                    <a:pt x="5424" y="18713"/>
                  </a:cubicBezTo>
                  <a:cubicBezTo>
                    <a:pt x="5424" y="18546"/>
                    <a:pt x="5424" y="18379"/>
                    <a:pt x="5471" y="18324"/>
                  </a:cubicBezTo>
                  <a:cubicBezTo>
                    <a:pt x="5519" y="18213"/>
                    <a:pt x="5614" y="18102"/>
                    <a:pt x="5757" y="18046"/>
                  </a:cubicBezTo>
                  <a:cubicBezTo>
                    <a:pt x="5804" y="18046"/>
                    <a:pt x="5804" y="17991"/>
                    <a:pt x="5852" y="17991"/>
                  </a:cubicBezTo>
                  <a:cubicBezTo>
                    <a:pt x="5947" y="17935"/>
                    <a:pt x="6042" y="17880"/>
                    <a:pt x="6185" y="17880"/>
                  </a:cubicBezTo>
                  <a:cubicBezTo>
                    <a:pt x="6280" y="17880"/>
                    <a:pt x="6328" y="17880"/>
                    <a:pt x="6423" y="17935"/>
                  </a:cubicBezTo>
                  <a:cubicBezTo>
                    <a:pt x="6470" y="17935"/>
                    <a:pt x="6566" y="17935"/>
                    <a:pt x="6613" y="17935"/>
                  </a:cubicBezTo>
                  <a:cubicBezTo>
                    <a:pt x="6661" y="17935"/>
                    <a:pt x="6708" y="17935"/>
                    <a:pt x="6756" y="17935"/>
                  </a:cubicBezTo>
                  <a:cubicBezTo>
                    <a:pt x="6851" y="17880"/>
                    <a:pt x="6946" y="17824"/>
                    <a:pt x="6994" y="17769"/>
                  </a:cubicBezTo>
                  <a:cubicBezTo>
                    <a:pt x="7089" y="17713"/>
                    <a:pt x="7137" y="17602"/>
                    <a:pt x="7232" y="17602"/>
                  </a:cubicBezTo>
                  <a:cubicBezTo>
                    <a:pt x="7279" y="17602"/>
                    <a:pt x="7279" y="17602"/>
                    <a:pt x="7327" y="17658"/>
                  </a:cubicBezTo>
                  <a:cubicBezTo>
                    <a:pt x="7374" y="17658"/>
                    <a:pt x="7374" y="17658"/>
                    <a:pt x="7422" y="17658"/>
                  </a:cubicBezTo>
                  <a:cubicBezTo>
                    <a:pt x="7565" y="17713"/>
                    <a:pt x="7755" y="17769"/>
                    <a:pt x="7850" y="17880"/>
                  </a:cubicBezTo>
                  <a:cubicBezTo>
                    <a:pt x="7898" y="17880"/>
                    <a:pt x="7898" y="17935"/>
                    <a:pt x="7945" y="17935"/>
                  </a:cubicBezTo>
                  <a:cubicBezTo>
                    <a:pt x="7993" y="17991"/>
                    <a:pt x="7993" y="18046"/>
                    <a:pt x="8088" y="18046"/>
                  </a:cubicBezTo>
                  <a:cubicBezTo>
                    <a:pt x="8088" y="18046"/>
                    <a:pt x="8088" y="18046"/>
                    <a:pt x="8136" y="18046"/>
                  </a:cubicBezTo>
                  <a:cubicBezTo>
                    <a:pt x="8136" y="18046"/>
                    <a:pt x="8183" y="18046"/>
                    <a:pt x="8231" y="18046"/>
                  </a:cubicBezTo>
                  <a:cubicBezTo>
                    <a:pt x="8231" y="18046"/>
                    <a:pt x="8278" y="17991"/>
                    <a:pt x="8326" y="17991"/>
                  </a:cubicBezTo>
                  <a:cubicBezTo>
                    <a:pt x="8326" y="17991"/>
                    <a:pt x="8374" y="17991"/>
                    <a:pt x="8374" y="18046"/>
                  </a:cubicBezTo>
                  <a:cubicBezTo>
                    <a:pt x="8564" y="18102"/>
                    <a:pt x="8754" y="18324"/>
                    <a:pt x="8802" y="18435"/>
                  </a:cubicBezTo>
                  <a:cubicBezTo>
                    <a:pt x="8849" y="18490"/>
                    <a:pt x="8897" y="18602"/>
                    <a:pt x="8944" y="18713"/>
                  </a:cubicBezTo>
                  <a:cubicBezTo>
                    <a:pt x="9040" y="18990"/>
                    <a:pt x="9135" y="19212"/>
                    <a:pt x="9325" y="19212"/>
                  </a:cubicBezTo>
                  <a:cubicBezTo>
                    <a:pt x="9373" y="19212"/>
                    <a:pt x="9420" y="19212"/>
                    <a:pt x="9468" y="19212"/>
                  </a:cubicBezTo>
                  <a:cubicBezTo>
                    <a:pt x="9611" y="19101"/>
                    <a:pt x="9753" y="19046"/>
                    <a:pt x="9896" y="18935"/>
                  </a:cubicBezTo>
                  <a:cubicBezTo>
                    <a:pt x="9944" y="18935"/>
                    <a:pt x="9991" y="18879"/>
                    <a:pt x="10086" y="18824"/>
                  </a:cubicBezTo>
                  <a:cubicBezTo>
                    <a:pt x="10229" y="18713"/>
                    <a:pt x="10324" y="18602"/>
                    <a:pt x="10515" y="18602"/>
                  </a:cubicBezTo>
                  <a:cubicBezTo>
                    <a:pt x="10562" y="18602"/>
                    <a:pt x="10610" y="18657"/>
                    <a:pt x="10705" y="18657"/>
                  </a:cubicBezTo>
                  <a:cubicBezTo>
                    <a:pt x="10895" y="18713"/>
                    <a:pt x="11038" y="18879"/>
                    <a:pt x="11228" y="19046"/>
                  </a:cubicBezTo>
                  <a:cubicBezTo>
                    <a:pt x="11276" y="19101"/>
                    <a:pt x="11276" y="19101"/>
                    <a:pt x="11276" y="19101"/>
                  </a:cubicBezTo>
                  <a:cubicBezTo>
                    <a:pt x="11466" y="19323"/>
                    <a:pt x="11799" y="19490"/>
                    <a:pt x="12037" y="19546"/>
                  </a:cubicBezTo>
                  <a:cubicBezTo>
                    <a:pt x="12037" y="19546"/>
                    <a:pt x="12037" y="19546"/>
                    <a:pt x="12085" y="19546"/>
                  </a:cubicBezTo>
                  <a:cubicBezTo>
                    <a:pt x="12132" y="19546"/>
                    <a:pt x="12227" y="19546"/>
                    <a:pt x="12322" y="19490"/>
                  </a:cubicBezTo>
                  <a:cubicBezTo>
                    <a:pt x="12370" y="19490"/>
                    <a:pt x="12418" y="19490"/>
                    <a:pt x="12513" y="19490"/>
                  </a:cubicBezTo>
                  <a:cubicBezTo>
                    <a:pt x="12513" y="19490"/>
                    <a:pt x="12513" y="19490"/>
                    <a:pt x="12513" y="19490"/>
                  </a:cubicBezTo>
                  <a:cubicBezTo>
                    <a:pt x="12560" y="19490"/>
                    <a:pt x="12608" y="19490"/>
                    <a:pt x="12703" y="19546"/>
                  </a:cubicBezTo>
                  <a:cubicBezTo>
                    <a:pt x="12703" y="19546"/>
                    <a:pt x="12751" y="19546"/>
                    <a:pt x="12798" y="19546"/>
                  </a:cubicBezTo>
                  <a:cubicBezTo>
                    <a:pt x="12846" y="19546"/>
                    <a:pt x="12846" y="19546"/>
                    <a:pt x="12893" y="19546"/>
                  </a:cubicBezTo>
                  <a:cubicBezTo>
                    <a:pt x="12893" y="19546"/>
                    <a:pt x="12893" y="19546"/>
                    <a:pt x="12893" y="19546"/>
                  </a:cubicBezTo>
                  <a:cubicBezTo>
                    <a:pt x="12893" y="19434"/>
                    <a:pt x="12893" y="19434"/>
                    <a:pt x="12893" y="19434"/>
                  </a:cubicBezTo>
                  <a:cubicBezTo>
                    <a:pt x="12893" y="19434"/>
                    <a:pt x="12893" y="19434"/>
                    <a:pt x="12893" y="19434"/>
                  </a:cubicBezTo>
                  <a:cubicBezTo>
                    <a:pt x="12989" y="19546"/>
                    <a:pt x="12989" y="19546"/>
                    <a:pt x="12989" y="19546"/>
                  </a:cubicBezTo>
                  <a:cubicBezTo>
                    <a:pt x="12989" y="19490"/>
                    <a:pt x="12989" y="19490"/>
                    <a:pt x="12989" y="19490"/>
                  </a:cubicBezTo>
                  <a:cubicBezTo>
                    <a:pt x="13036" y="19434"/>
                    <a:pt x="13084" y="19379"/>
                    <a:pt x="13131" y="19323"/>
                  </a:cubicBezTo>
                  <a:cubicBezTo>
                    <a:pt x="13226" y="19268"/>
                    <a:pt x="13322" y="19157"/>
                    <a:pt x="13417" y="19101"/>
                  </a:cubicBezTo>
                  <a:cubicBezTo>
                    <a:pt x="13797" y="18713"/>
                    <a:pt x="14273" y="18546"/>
                    <a:pt x="14749" y="18490"/>
                  </a:cubicBezTo>
                  <a:cubicBezTo>
                    <a:pt x="14749" y="18490"/>
                    <a:pt x="14749" y="18490"/>
                    <a:pt x="14749" y="18490"/>
                  </a:cubicBezTo>
                  <a:cubicBezTo>
                    <a:pt x="14939" y="18490"/>
                    <a:pt x="15082" y="18546"/>
                    <a:pt x="15272" y="18602"/>
                  </a:cubicBezTo>
                  <a:cubicBezTo>
                    <a:pt x="15320" y="18602"/>
                    <a:pt x="15367" y="18657"/>
                    <a:pt x="15415" y="18657"/>
                  </a:cubicBezTo>
                  <a:cubicBezTo>
                    <a:pt x="15510" y="18657"/>
                    <a:pt x="15558" y="18657"/>
                    <a:pt x="15605" y="18657"/>
                  </a:cubicBezTo>
                  <a:cubicBezTo>
                    <a:pt x="15748" y="18713"/>
                    <a:pt x="15891" y="18768"/>
                    <a:pt x="16081" y="18824"/>
                  </a:cubicBezTo>
                  <a:cubicBezTo>
                    <a:pt x="16129" y="18879"/>
                    <a:pt x="16176" y="18935"/>
                    <a:pt x="16224" y="18990"/>
                  </a:cubicBezTo>
                  <a:cubicBezTo>
                    <a:pt x="16319" y="19046"/>
                    <a:pt x="16367" y="19157"/>
                    <a:pt x="16557" y="19157"/>
                  </a:cubicBezTo>
                  <a:cubicBezTo>
                    <a:pt x="16557" y="19157"/>
                    <a:pt x="16604" y="19157"/>
                    <a:pt x="16652" y="19157"/>
                  </a:cubicBezTo>
                  <a:cubicBezTo>
                    <a:pt x="16747" y="19157"/>
                    <a:pt x="16890" y="19101"/>
                    <a:pt x="16985" y="18990"/>
                  </a:cubicBezTo>
                  <a:cubicBezTo>
                    <a:pt x="16985" y="18935"/>
                    <a:pt x="17033" y="18879"/>
                    <a:pt x="17080" y="18824"/>
                  </a:cubicBezTo>
                  <a:cubicBezTo>
                    <a:pt x="17128" y="18713"/>
                    <a:pt x="17175" y="18602"/>
                    <a:pt x="17223" y="18546"/>
                  </a:cubicBezTo>
                  <a:cubicBezTo>
                    <a:pt x="17318" y="18435"/>
                    <a:pt x="17366" y="18435"/>
                    <a:pt x="17461" y="18379"/>
                  </a:cubicBezTo>
                  <a:cubicBezTo>
                    <a:pt x="17508" y="18379"/>
                    <a:pt x="17556" y="18379"/>
                    <a:pt x="17604" y="18324"/>
                  </a:cubicBezTo>
                  <a:cubicBezTo>
                    <a:pt x="17651" y="18324"/>
                    <a:pt x="17746" y="18268"/>
                    <a:pt x="17794" y="18213"/>
                  </a:cubicBezTo>
                  <a:cubicBezTo>
                    <a:pt x="17841" y="18157"/>
                    <a:pt x="17889" y="18102"/>
                    <a:pt x="17937" y="18046"/>
                  </a:cubicBezTo>
                  <a:cubicBezTo>
                    <a:pt x="18032" y="17991"/>
                    <a:pt x="18127" y="17991"/>
                    <a:pt x="18222" y="17991"/>
                  </a:cubicBezTo>
                  <a:cubicBezTo>
                    <a:pt x="18222" y="17991"/>
                    <a:pt x="18222" y="17991"/>
                    <a:pt x="18222" y="17991"/>
                  </a:cubicBezTo>
                  <a:cubicBezTo>
                    <a:pt x="18317" y="17991"/>
                    <a:pt x="18317" y="17991"/>
                    <a:pt x="18317" y="17991"/>
                  </a:cubicBezTo>
                  <a:cubicBezTo>
                    <a:pt x="18365" y="17880"/>
                    <a:pt x="18365" y="17880"/>
                    <a:pt x="18365" y="17880"/>
                  </a:cubicBezTo>
                  <a:cubicBezTo>
                    <a:pt x="18412" y="17658"/>
                    <a:pt x="18317" y="17435"/>
                    <a:pt x="18222" y="17158"/>
                  </a:cubicBezTo>
                  <a:cubicBezTo>
                    <a:pt x="18174" y="16936"/>
                    <a:pt x="18079" y="16714"/>
                    <a:pt x="18127" y="16547"/>
                  </a:cubicBezTo>
                  <a:cubicBezTo>
                    <a:pt x="18174" y="16492"/>
                    <a:pt x="18222" y="16492"/>
                    <a:pt x="18222" y="16492"/>
                  </a:cubicBezTo>
                  <a:cubicBezTo>
                    <a:pt x="18412" y="16492"/>
                    <a:pt x="18460" y="16492"/>
                    <a:pt x="18507" y="16269"/>
                  </a:cubicBezTo>
                  <a:cubicBezTo>
                    <a:pt x="18507" y="16214"/>
                    <a:pt x="18555" y="16158"/>
                    <a:pt x="18555" y="16047"/>
                  </a:cubicBezTo>
                  <a:cubicBezTo>
                    <a:pt x="18603" y="15825"/>
                    <a:pt x="18650" y="15659"/>
                    <a:pt x="18793" y="15437"/>
                  </a:cubicBezTo>
                  <a:cubicBezTo>
                    <a:pt x="18888" y="15325"/>
                    <a:pt x="18936" y="15159"/>
                    <a:pt x="19031" y="15048"/>
                  </a:cubicBezTo>
                  <a:cubicBezTo>
                    <a:pt x="19126" y="14881"/>
                    <a:pt x="19221" y="14715"/>
                    <a:pt x="19316" y="14548"/>
                  </a:cubicBezTo>
                  <a:cubicBezTo>
                    <a:pt x="19554" y="14215"/>
                    <a:pt x="19792" y="13826"/>
                    <a:pt x="20030" y="13382"/>
                  </a:cubicBezTo>
                  <a:cubicBezTo>
                    <a:pt x="20125" y="13271"/>
                    <a:pt x="20220" y="13104"/>
                    <a:pt x="20315" y="12938"/>
                  </a:cubicBezTo>
                  <a:cubicBezTo>
                    <a:pt x="20363" y="12771"/>
                    <a:pt x="20506" y="12660"/>
                    <a:pt x="20648" y="12494"/>
                  </a:cubicBezTo>
                  <a:cubicBezTo>
                    <a:pt x="20744" y="12438"/>
                    <a:pt x="20839" y="12327"/>
                    <a:pt x="20934" y="12216"/>
                  </a:cubicBezTo>
                  <a:cubicBezTo>
                    <a:pt x="20934" y="12216"/>
                    <a:pt x="20934" y="12216"/>
                    <a:pt x="20934" y="12216"/>
                  </a:cubicBezTo>
                  <a:cubicBezTo>
                    <a:pt x="21362" y="6663"/>
                    <a:pt x="21362" y="6663"/>
                    <a:pt x="21362" y="6663"/>
                  </a:cubicBezTo>
                  <a:cubicBezTo>
                    <a:pt x="21600" y="5830"/>
                    <a:pt x="21600" y="5830"/>
                    <a:pt x="21600" y="5830"/>
                  </a:cubicBezTo>
                  <a:lnTo>
                    <a:pt x="21077" y="4997"/>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53" name="Shape">
              <a:extLst>
                <a:ext uri="{FF2B5EF4-FFF2-40B4-BE49-F238E27FC236}">
                  <a16:creationId xmlns:a16="http://schemas.microsoft.com/office/drawing/2014/main" id="{498E1409-4127-9C47-83D5-F408D2DF3CA7}"/>
                </a:ext>
              </a:extLst>
            </p:cNvPr>
            <p:cNvSpPr/>
            <p:nvPr/>
          </p:nvSpPr>
          <p:spPr>
            <a:xfrm>
              <a:off x="3804597" y="4139052"/>
              <a:ext cx="665008" cy="746451"/>
            </a:xfrm>
            <a:custGeom>
              <a:avLst/>
              <a:gdLst/>
              <a:ahLst/>
              <a:cxnLst>
                <a:cxn ang="0">
                  <a:pos x="wd2" y="hd2"/>
                </a:cxn>
                <a:cxn ang="5400000">
                  <a:pos x="wd2" y="hd2"/>
                </a:cxn>
                <a:cxn ang="10800000">
                  <a:pos x="wd2" y="hd2"/>
                </a:cxn>
                <a:cxn ang="16200000">
                  <a:pos x="wd2" y="hd2"/>
                </a:cxn>
              </a:cxnLst>
              <a:rect l="0" t="0" r="r" b="b"/>
              <a:pathLst>
                <a:path w="21600" h="21600" extrusionOk="0">
                  <a:moveTo>
                    <a:pt x="21600" y="10385"/>
                  </a:moveTo>
                  <a:cubicBezTo>
                    <a:pt x="21600" y="10177"/>
                    <a:pt x="21600" y="9969"/>
                    <a:pt x="21474" y="9762"/>
                  </a:cubicBezTo>
                  <a:cubicBezTo>
                    <a:pt x="21221" y="9658"/>
                    <a:pt x="20968" y="9554"/>
                    <a:pt x="20589" y="9554"/>
                  </a:cubicBezTo>
                  <a:cubicBezTo>
                    <a:pt x="20589" y="9554"/>
                    <a:pt x="20463" y="9554"/>
                    <a:pt x="20463" y="9554"/>
                  </a:cubicBezTo>
                  <a:cubicBezTo>
                    <a:pt x="20463" y="9554"/>
                    <a:pt x="20463" y="9450"/>
                    <a:pt x="20463" y="9346"/>
                  </a:cubicBezTo>
                  <a:cubicBezTo>
                    <a:pt x="20337" y="9138"/>
                    <a:pt x="20211" y="8931"/>
                    <a:pt x="20211" y="8931"/>
                  </a:cubicBezTo>
                  <a:cubicBezTo>
                    <a:pt x="20084" y="8827"/>
                    <a:pt x="19832" y="8827"/>
                    <a:pt x="19705" y="8827"/>
                  </a:cubicBezTo>
                  <a:cubicBezTo>
                    <a:pt x="19705" y="8827"/>
                    <a:pt x="19579" y="8827"/>
                    <a:pt x="19453" y="8827"/>
                  </a:cubicBezTo>
                  <a:cubicBezTo>
                    <a:pt x="19453" y="8827"/>
                    <a:pt x="19326" y="8827"/>
                    <a:pt x="19326" y="8827"/>
                  </a:cubicBezTo>
                  <a:cubicBezTo>
                    <a:pt x="19326" y="8827"/>
                    <a:pt x="19326" y="8827"/>
                    <a:pt x="19326" y="8827"/>
                  </a:cubicBezTo>
                  <a:cubicBezTo>
                    <a:pt x="19326" y="8827"/>
                    <a:pt x="19200" y="8827"/>
                    <a:pt x="19200" y="8827"/>
                  </a:cubicBezTo>
                  <a:cubicBezTo>
                    <a:pt x="19200" y="8515"/>
                    <a:pt x="19200" y="8412"/>
                    <a:pt x="19326" y="8100"/>
                  </a:cubicBezTo>
                  <a:cubicBezTo>
                    <a:pt x="19453" y="7892"/>
                    <a:pt x="19453" y="7685"/>
                    <a:pt x="19453" y="7373"/>
                  </a:cubicBezTo>
                  <a:cubicBezTo>
                    <a:pt x="19579" y="6958"/>
                    <a:pt x="19579" y="6542"/>
                    <a:pt x="20211" y="6231"/>
                  </a:cubicBezTo>
                  <a:cubicBezTo>
                    <a:pt x="20337" y="6127"/>
                    <a:pt x="20463" y="6023"/>
                    <a:pt x="20589" y="5815"/>
                  </a:cubicBezTo>
                  <a:cubicBezTo>
                    <a:pt x="20589" y="5815"/>
                    <a:pt x="20589" y="5712"/>
                    <a:pt x="20716" y="5712"/>
                  </a:cubicBezTo>
                  <a:cubicBezTo>
                    <a:pt x="20716" y="5608"/>
                    <a:pt x="20842" y="5608"/>
                    <a:pt x="20842" y="5608"/>
                  </a:cubicBezTo>
                  <a:cubicBezTo>
                    <a:pt x="20968" y="5504"/>
                    <a:pt x="20968" y="5504"/>
                    <a:pt x="21095" y="5400"/>
                  </a:cubicBezTo>
                  <a:cubicBezTo>
                    <a:pt x="21095" y="5400"/>
                    <a:pt x="21095" y="5400"/>
                    <a:pt x="21095" y="5296"/>
                  </a:cubicBezTo>
                  <a:cubicBezTo>
                    <a:pt x="21095" y="5192"/>
                    <a:pt x="21221" y="5192"/>
                    <a:pt x="21221" y="5192"/>
                  </a:cubicBezTo>
                  <a:cubicBezTo>
                    <a:pt x="21347" y="5088"/>
                    <a:pt x="21347" y="5088"/>
                    <a:pt x="21347" y="5088"/>
                  </a:cubicBezTo>
                  <a:cubicBezTo>
                    <a:pt x="21347" y="4985"/>
                    <a:pt x="21347" y="4985"/>
                    <a:pt x="21347" y="4985"/>
                  </a:cubicBezTo>
                  <a:cubicBezTo>
                    <a:pt x="21347" y="4985"/>
                    <a:pt x="21347" y="4881"/>
                    <a:pt x="21347" y="4777"/>
                  </a:cubicBezTo>
                  <a:cubicBezTo>
                    <a:pt x="21347" y="4673"/>
                    <a:pt x="21347" y="4673"/>
                    <a:pt x="21347" y="4673"/>
                  </a:cubicBezTo>
                  <a:cubicBezTo>
                    <a:pt x="21221" y="4673"/>
                    <a:pt x="21221" y="4673"/>
                    <a:pt x="21221" y="4673"/>
                  </a:cubicBezTo>
                  <a:cubicBezTo>
                    <a:pt x="21095" y="4465"/>
                    <a:pt x="20968" y="4258"/>
                    <a:pt x="20842" y="3946"/>
                  </a:cubicBezTo>
                  <a:cubicBezTo>
                    <a:pt x="20716" y="3738"/>
                    <a:pt x="20589" y="3427"/>
                    <a:pt x="20337" y="3323"/>
                  </a:cubicBezTo>
                  <a:cubicBezTo>
                    <a:pt x="20084" y="3115"/>
                    <a:pt x="19832" y="3012"/>
                    <a:pt x="19326" y="3012"/>
                  </a:cubicBezTo>
                  <a:cubicBezTo>
                    <a:pt x="19074" y="3012"/>
                    <a:pt x="18695" y="3115"/>
                    <a:pt x="18442" y="3219"/>
                  </a:cubicBezTo>
                  <a:cubicBezTo>
                    <a:pt x="18189" y="3323"/>
                    <a:pt x="17179" y="3738"/>
                    <a:pt x="16674" y="3738"/>
                  </a:cubicBezTo>
                  <a:cubicBezTo>
                    <a:pt x="16547" y="3738"/>
                    <a:pt x="16421" y="3738"/>
                    <a:pt x="16421" y="3635"/>
                  </a:cubicBezTo>
                  <a:cubicBezTo>
                    <a:pt x="16421" y="3635"/>
                    <a:pt x="16295" y="3531"/>
                    <a:pt x="16547" y="3427"/>
                  </a:cubicBezTo>
                  <a:cubicBezTo>
                    <a:pt x="16674" y="3323"/>
                    <a:pt x="16800" y="3219"/>
                    <a:pt x="16800" y="3115"/>
                  </a:cubicBezTo>
                  <a:cubicBezTo>
                    <a:pt x="16800" y="3012"/>
                    <a:pt x="16800" y="3012"/>
                    <a:pt x="16674" y="2908"/>
                  </a:cubicBezTo>
                  <a:cubicBezTo>
                    <a:pt x="16674" y="2804"/>
                    <a:pt x="16547" y="2804"/>
                    <a:pt x="16547" y="2700"/>
                  </a:cubicBezTo>
                  <a:cubicBezTo>
                    <a:pt x="16547" y="2596"/>
                    <a:pt x="16547" y="2492"/>
                    <a:pt x="16547" y="2285"/>
                  </a:cubicBezTo>
                  <a:cubicBezTo>
                    <a:pt x="16421" y="2285"/>
                    <a:pt x="16421" y="2285"/>
                    <a:pt x="16421" y="2285"/>
                  </a:cubicBezTo>
                  <a:cubicBezTo>
                    <a:pt x="16421" y="1869"/>
                    <a:pt x="16421" y="1454"/>
                    <a:pt x="16674" y="1142"/>
                  </a:cubicBezTo>
                  <a:cubicBezTo>
                    <a:pt x="16674" y="935"/>
                    <a:pt x="16800" y="727"/>
                    <a:pt x="17053" y="519"/>
                  </a:cubicBezTo>
                  <a:cubicBezTo>
                    <a:pt x="17179" y="312"/>
                    <a:pt x="17179" y="312"/>
                    <a:pt x="17179" y="312"/>
                  </a:cubicBezTo>
                  <a:cubicBezTo>
                    <a:pt x="16926" y="208"/>
                    <a:pt x="16926" y="208"/>
                    <a:pt x="16926" y="208"/>
                  </a:cubicBezTo>
                  <a:cubicBezTo>
                    <a:pt x="16926" y="208"/>
                    <a:pt x="16800" y="208"/>
                    <a:pt x="16674" y="104"/>
                  </a:cubicBezTo>
                  <a:cubicBezTo>
                    <a:pt x="16547" y="104"/>
                    <a:pt x="16421" y="104"/>
                    <a:pt x="16168" y="104"/>
                  </a:cubicBezTo>
                  <a:cubicBezTo>
                    <a:pt x="16042" y="104"/>
                    <a:pt x="16042" y="104"/>
                    <a:pt x="16042" y="104"/>
                  </a:cubicBezTo>
                  <a:cubicBezTo>
                    <a:pt x="14653" y="104"/>
                    <a:pt x="13389" y="104"/>
                    <a:pt x="12000" y="0"/>
                  </a:cubicBezTo>
                  <a:cubicBezTo>
                    <a:pt x="9979" y="0"/>
                    <a:pt x="9979" y="0"/>
                    <a:pt x="9979" y="0"/>
                  </a:cubicBezTo>
                  <a:cubicBezTo>
                    <a:pt x="9979" y="415"/>
                    <a:pt x="9979" y="415"/>
                    <a:pt x="9979" y="415"/>
                  </a:cubicBezTo>
                  <a:cubicBezTo>
                    <a:pt x="9979" y="4569"/>
                    <a:pt x="9979" y="4569"/>
                    <a:pt x="9979" y="4569"/>
                  </a:cubicBezTo>
                  <a:cubicBezTo>
                    <a:pt x="4926" y="4465"/>
                    <a:pt x="4926" y="4465"/>
                    <a:pt x="4926" y="4465"/>
                  </a:cubicBezTo>
                  <a:cubicBezTo>
                    <a:pt x="4926" y="4569"/>
                    <a:pt x="4926" y="4569"/>
                    <a:pt x="4926" y="4569"/>
                  </a:cubicBezTo>
                  <a:cubicBezTo>
                    <a:pt x="4800" y="4569"/>
                    <a:pt x="4800" y="4569"/>
                    <a:pt x="4674" y="4569"/>
                  </a:cubicBezTo>
                  <a:cubicBezTo>
                    <a:pt x="4547" y="4569"/>
                    <a:pt x="4421" y="4465"/>
                    <a:pt x="4295" y="4362"/>
                  </a:cubicBezTo>
                  <a:cubicBezTo>
                    <a:pt x="4168" y="4362"/>
                    <a:pt x="4042" y="4258"/>
                    <a:pt x="4042" y="4258"/>
                  </a:cubicBezTo>
                  <a:cubicBezTo>
                    <a:pt x="3916" y="4258"/>
                    <a:pt x="3916" y="4258"/>
                    <a:pt x="3916" y="4258"/>
                  </a:cubicBezTo>
                  <a:cubicBezTo>
                    <a:pt x="3916" y="4258"/>
                    <a:pt x="3916" y="4258"/>
                    <a:pt x="3916" y="4258"/>
                  </a:cubicBezTo>
                  <a:cubicBezTo>
                    <a:pt x="3663" y="4258"/>
                    <a:pt x="3411" y="4362"/>
                    <a:pt x="3158" y="4465"/>
                  </a:cubicBezTo>
                  <a:cubicBezTo>
                    <a:pt x="3032" y="4465"/>
                    <a:pt x="3032" y="4465"/>
                    <a:pt x="3032" y="4465"/>
                  </a:cubicBezTo>
                  <a:cubicBezTo>
                    <a:pt x="3032" y="4569"/>
                    <a:pt x="3032" y="4569"/>
                    <a:pt x="3032" y="4569"/>
                  </a:cubicBezTo>
                  <a:cubicBezTo>
                    <a:pt x="3032" y="4673"/>
                    <a:pt x="3032" y="4777"/>
                    <a:pt x="3032" y="4881"/>
                  </a:cubicBezTo>
                  <a:cubicBezTo>
                    <a:pt x="3032" y="4881"/>
                    <a:pt x="3032" y="4985"/>
                    <a:pt x="3032" y="4985"/>
                  </a:cubicBezTo>
                  <a:cubicBezTo>
                    <a:pt x="3158" y="5088"/>
                    <a:pt x="3158" y="5296"/>
                    <a:pt x="3158" y="5296"/>
                  </a:cubicBezTo>
                  <a:cubicBezTo>
                    <a:pt x="3158" y="5296"/>
                    <a:pt x="2779" y="5400"/>
                    <a:pt x="2526" y="5400"/>
                  </a:cubicBezTo>
                  <a:cubicBezTo>
                    <a:pt x="2526" y="5400"/>
                    <a:pt x="2400" y="5400"/>
                    <a:pt x="2400" y="5400"/>
                  </a:cubicBezTo>
                  <a:cubicBezTo>
                    <a:pt x="2400" y="5504"/>
                    <a:pt x="2400" y="5504"/>
                    <a:pt x="2400" y="5504"/>
                  </a:cubicBezTo>
                  <a:cubicBezTo>
                    <a:pt x="2147" y="5815"/>
                    <a:pt x="2021" y="6023"/>
                    <a:pt x="2147" y="6231"/>
                  </a:cubicBezTo>
                  <a:cubicBezTo>
                    <a:pt x="2147" y="6335"/>
                    <a:pt x="2274" y="6438"/>
                    <a:pt x="2274" y="6542"/>
                  </a:cubicBezTo>
                  <a:cubicBezTo>
                    <a:pt x="2400" y="6646"/>
                    <a:pt x="2400" y="6646"/>
                    <a:pt x="2274" y="6750"/>
                  </a:cubicBezTo>
                  <a:cubicBezTo>
                    <a:pt x="2147" y="7165"/>
                    <a:pt x="2147" y="7581"/>
                    <a:pt x="2147" y="7996"/>
                  </a:cubicBezTo>
                  <a:cubicBezTo>
                    <a:pt x="2147" y="8100"/>
                    <a:pt x="2147" y="8100"/>
                    <a:pt x="2147" y="8100"/>
                  </a:cubicBezTo>
                  <a:cubicBezTo>
                    <a:pt x="2147" y="8515"/>
                    <a:pt x="2147" y="8931"/>
                    <a:pt x="2021" y="9242"/>
                  </a:cubicBezTo>
                  <a:cubicBezTo>
                    <a:pt x="1895" y="9242"/>
                    <a:pt x="1895" y="9346"/>
                    <a:pt x="1768" y="9450"/>
                  </a:cubicBezTo>
                  <a:cubicBezTo>
                    <a:pt x="1768" y="9450"/>
                    <a:pt x="1642" y="9554"/>
                    <a:pt x="1642" y="9658"/>
                  </a:cubicBezTo>
                  <a:cubicBezTo>
                    <a:pt x="1516" y="9658"/>
                    <a:pt x="1516" y="9762"/>
                    <a:pt x="1516" y="9762"/>
                  </a:cubicBezTo>
                  <a:cubicBezTo>
                    <a:pt x="1389" y="9762"/>
                    <a:pt x="1389" y="9865"/>
                    <a:pt x="1389" y="9865"/>
                  </a:cubicBezTo>
                  <a:cubicBezTo>
                    <a:pt x="1263" y="9969"/>
                    <a:pt x="1263" y="9969"/>
                    <a:pt x="1263" y="10073"/>
                  </a:cubicBezTo>
                  <a:cubicBezTo>
                    <a:pt x="1263" y="10073"/>
                    <a:pt x="1263" y="10177"/>
                    <a:pt x="1263" y="10177"/>
                  </a:cubicBezTo>
                  <a:cubicBezTo>
                    <a:pt x="1137" y="10177"/>
                    <a:pt x="1011" y="10073"/>
                    <a:pt x="1011" y="10073"/>
                  </a:cubicBezTo>
                  <a:cubicBezTo>
                    <a:pt x="884" y="10073"/>
                    <a:pt x="884" y="10073"/>
                    <a:pt x="884" y="10073"/>
                  </a:cubicBezTo>
                  <a:cubicBezTo>
                    <a:pt x="758" y="10073"/>
                    <a:pt x="758" y="9969"/>
                    <a:pt x="758" y="9969"/>
                  </a:cubicBezTo>
                  <a:cubicBezTo>
                    <a:pt x="632" y="9865"/>
                    <a:pt x="505" y="9762"/>
                    <a:pt x="379" y="9762"/>
                  </a:cubicBezTo>
                  <a:cubicBezTo>
                    <a:pt x="126" y="9658"/>
                    <a:pt x="126" y="9658"/>
                    <a:pt x="126" y="9658"/>
                  </a:cubicBezTo>
                  <a:cubicBezTo>
                    <a:pt x="0" y="9865"/>
                    <a:pt x="0" y="9865"/>
                    <a:pt x="0" y="9865"/>
                  </a:cubicBezTo>
                  <a:cubicBezTo>
                    <a:pt x="0" y="10281"/>
                    <a:pt x="253" y="10800"/>
                    <a:pt x="632" y="11215"/>
                  </a:cubicBezTo>
                  <a:cubicBezTo>
                    <a:pt x="758" y="11319"/>
                    <a:pt x="758" y="11423"/>
                    <a:pt x="884" y="11631"/>
                  </a:cubicBezTo>
                  <a:cubicBezTo>
                    <a:pt x="884" y="11735"/>
                    <a:pt x="1011" y="11942"/>
                    <a:pt x="1137" y="12150"/>
                  </a:cubicBezTo>
                  <a:cubicBezTo>
                    <a:pt x="1263" y="12150"/>
                    <a:pt x="1263" y="12150"/>
                    <a:pt x="1263" y="12150"/>
                  </a:cubicBezTo>
                  <a:cubicBezTo>
                    <a:pt x="1389" y="12358"/>
                    <a:pt x="1642" y="12669"/>
                    <a:pt x="1895" y="12773"/>
                  </a:cubicBezTo>
                  <a:cubicBezTo>
                    <a:pt x="2021" y="12773"/>
                    <a:pt x="2021" y="12773"/>
                    <a:pt x="2021" y="12773"/>
                  </a:cubicBezTo>
                  <a:cubicBezTo>
                    <a:pt x="2147" y="12773"/>
                    <a:pt x="2147" y="12773"/>
                    <a:pt x="2274" y="12773"/>
                  </a:cubicBezTo>
                  <a:cubicBezTo>
                    <a:pt x="2147" y="12877"/>
                    <a:pt x="2021" y="12981"/>
                    <a:pt x="2147" y="13188"/>
                  </a:cubicBezTo>
                  <a:cubicBezTo>
                    <a:pt x="2147" y="13292"/>
                    <a:pt x="2147" y="13292"/>
                    <a:pt x="2147" y="13292"/>
                  </a:cubicBezTo>
                  <a:cubicBezTo>
                    <a:pt x="1895" y="13292"/>
                    <a:pt x="1895" y="13292"/>
                    <a:pt x="1895" y="13292"/>
                  </a:cubicBezTo>
                  <a:cubicBezTo>
                    <a:pt x="1895" y="13500"/>
                    <a:pt x="1895" y="13500"/>
                    <a:pt x="1895" y="13500"/>
                  </a:cubicBezTo>
                  <a:cubicBezTo>
                    <a:pt x="1895" y="13708"/>
                    <a:pt x="1895" y="14019"/>
                    <a:pt x="2147" y="14227"/>
                  </a:cubicBezTo>
                  <a:cubicBezTo>
                    <a:pt x="2274" y="14331"/>
                    <a:pt x="2400" y="14331"/>
                    <a:pt x="2653" y="14331"/>
                  </a:cubicBezTo>
                  <a:cubicBezTo>
                    <a:pt x="2653" y="14331"/>
                    <a:pt x="2779" y="14331"/>
                    <a:pt x="2779" y="14331"/>
                  </a:cubicBezTo>
                  <a:cubicBezTo>
                    <a:pt x="2905" y="14435"/>
                    <a:pt x="3032" y="14538"/>
                    <a:pt x="3032" y="14642"/>
                  </a:cubicBezTo>
                  <a:cubicBezTo>
                    <a:pt x="3032" y="14642"/>
                    <a:pt x="3032" y="14746"/>
                    <a:pt x="3032" y="14746"/>
                  </a:cubicBezTo>
                  <a:cubicBezTo>
                    <a:pt x="2905" y="14850"/>
                    <a:pt x="2905" y="14850"/>
                    <a:pt x="2905" y="15058"/>
                  </a:cubicBezTo>
                  <a:cubicBezTo>
                    <a:pt x="2905" y="15162"/>
                    <a:pt x="3032" y="15265"/>
                    <a:pt x="3158" y="15369"/>
                  </a:cubicBezTo>
                  <a:cubicBezTo>
                    <a:pt x="3158" y="15369"/>
                    <a:pt x="3158" y="15473"/>
                    <a:pt x="3158" y="15473"/>
                  </a:cubicBezTo>
                  <a:cubicBezTo>
                    <a:pt x="3284" y="15473"/>
                    <a:pt x="3284" y="15577"/>
                    <a:pt x="3284" y="15577"/>
                  </a:cubicBezTo>
                  <a:cubicBezTo>
                    <a:pt x="3284" y="15681"/>
                    <a:pt x="3284" y="15785"/>
                    <a:pt x="3411" y="15992"/>
                  </a:cubicBezTo>
                  <a:cubicBezTo>
                    <a:pt x="3663" y="16096"/>
                    <a:pt x="3916" y="16200"/>
                    <a:pt x="4168" y="16408"/>
                  </a:cubicBezTo>
                  <a:cubicBezTo>
                    <a:pt x="4295" y="16408"/>
                    <a:pt x="4295" y="16408"/>
                    <a:pt x="4421" y="16512"/>
                  </a:cubicBezTo>
                  <a:cubicBezTo>
                    <a:pt x="4547" y="16512"/>
                    <a:pt x="4547" y="16512"/>
                    <a:pt x="4674" y="16615"/>
                  </a:cubicBezTo>
                  <a:cubicBezTo>
                    <a:pt x="4547" y="16615"/>
                    <a:pt x="4421" y="16719"/>
                    <a:pt x="4421" y="16823"/>
                  </a:cubicBezTo>
                  <a:cubicBezTo>
                    <a:pt x="4421" y="17031"/>
                    <a:pt x="4674" y="17135"/>
                    <a:pt x="4800" y="17238"/>
                  </a:cubicBezTo>
                  <a:cubicBezTo>
                    <a:pt x="4926" y="17342"/>
                    <a:pt x="4926" y="17342"/>
                    <a:pt x="4926" y="17342"/>
                  </a:cubicBezTo>
                  <a:cubicBezTo>
                    <a:pt x="5179" y="17446"/>
                    <a:pt x="5305" y="17550"/>
                    <a:pt x="5432" y="17654"/>
                  </a:cubicBezTo>
                  <a:cubicBezTo>
                    <a:pt x="5558" y="17862"/>
                    <a:pt x="5811" y="17965"/>
                    <a:pt x="5937" y="18069"/>
                  </a:cubicBezTo>
                  <a:cubicBezTo>
                    <a:pt x="6189" y="18381"/>
                    <a:pt x="6442" y="18692"/>
                    <a:pt x="6695" y="19004"/>
                  </a:cubicBezTo>
                  <a:cubicBezTo>
                    <a:pt x="6821" y="19108"/>
                    <a:pt x="6947" y="19212"/>
                    <a:pt x="7074" y="19315"/>
                  </a:cubicBezTo>
                  <a:cubicBezTo>
                    <a:pt x="7200" y="19419"/>
                    <a:pt x="7200" y="19523"/>
                    <a:pt x="7326" y="19627"/>
                  </a:cubicBezTo>
                  <a:cubicBezTo>
                    <a:pt x="7453" y="19835"/>
                    <a:pt x="7579" y="19938"/>
                    <a:pt x="7705" y="20042"/>
                  </a:cubicBezTo>
                  <a:cubicBezTo>
                    <a:pt x="7958" y="20250"/>
                    <a:pt x="8084" y="20354"/>
                    <a:pt x="8211" y="20562"/>
                  </a:cubicBezTo>
                  <a:cubicBezTo>
                    <a:pt x="8211" y="20562"/>
                    <a:pt x="8337" y="20665"/>
                    <a:pt x="8337" y="20665"/>
                  </a:cubicBezTo>
                  <a:cubicBezTo>
                    <a:pt x="8463" y="20769"/>
                    <a:pt x="8589" y="20977"/>
                    <a:pt x="8716" y="21081"/>
                  </a:cubicBezTo>
                  <a:cubicBezTo>
                    <a:pt x="8842" y="21081"/>
                    <a:pt x="8842" y="21185"/>
                    <a:pt x="8842" y="21185"/>
                  </a:cubicBezTo>
                  <a:cubicBezTo>
                    <a:pt x="9221" y="21600"/>
                    <a:pt x="9221" y="21600"/>
                    <a:pt x="9221" y="21600"/>
                  </a:cubicBezTo>
                  <a:cubicBezTo>
                    <a:pt x="9347" y="21185"/>
                    <a:pt x="9347" y="21185"/>
                    <a:pt x="9347" y="21185"/>
                  </a:cubicBezTo>
                  <a:cubicBezTo>
                    <a:pt x="9347" y="20977"/>
                    <a:pt x="9474" y="20873"/>
                    <a:pt x="9474" y="20769"/>
                  </a:cubicBezTo>
                  <a:cubicBezTo>
                    <a:pt x="9726" y="20354"/>
                    <a:pt x="9979" y="20354"/>
                    <a:pt x="10358" y="20250"/>
                  </a:cubicBezTo>
                  <a:cubicBezTo>
                    <a:pt x="10484" y="20250"/>
                    <a:pt x="10484" y="20250"/>
                    <a:pt x="10484" y="20250"/>
                  </a:cubicBezTo>
                  <a:cubicBezTo>
                    <a:pt x="10611" y="20250"/>
                    <a:pt x="10611" y="20250"/>
                    <a:pt x="10737" y="20250"/>
                  </a:cubicBezTo>
                  <a:cubicBezTo>
                    <a:pt x="10989" y="20250"/>
                    <a:pt x="11116" y="20146"/>
                    <a:pt x="11242" y="20146"/>
                  </a:cubicBezTo>
                  <a:cubicBezTo>
                    <a:pt x="11368" y="20042"/>
                    <a:pt x="11495" y="20042"/>
                    <a:pt x="11495" y="19938"/>
                  </a:cubicBezTo>
                  <a:cubicBezTo>
                    <a:pt x="11495" y="19835"/>
                    <a:pt x="11621" y="19835"/>
                    <a:pt x="11621" y="19731"/>
                  </a:cubicBezTo>
                  <a:cubicBezTo>
                    <a:pt x="11747" y="19731"/>
                    <a:pt x="11747" y="19627"/>
                    <a:pt x="11874" y="19523"/>
                  </a:cubicBezTo>
                  <a:cubicBezTo>
                    <a:pt x="12000" y="19419"/>
                    <a:pt x="12126" y="19315"/>
                    <a:pt x="12126" y="19212"/>
                  </a:cubicBezTo>
                  <a:cubicBezTo>
                    <a:pt x="12126" y="19108"/>
                    <a:pt x="12000" y="19004"/>
                    <a:pt x="11874" y="19004"/>
                  </a:cubicBezTo>
                  <a:cubicBezTo>
                    <a:pt x="11874" y="18900"/>
                    <a:pt x="11747" y="18900"/>
                    <a:pt x="11621" y="18900"/>
                  </a:cubicBezTo>
                  <a:cubicBezTo>
                    <a:pt x="11495" y="18796"/>
                    <a:pt x="11368" y="18796"/>
                    <a:pt x="11368" y="18692"/>
                  </a:cubicBezTo>
                  <a:cubicBezTo>
                    <a:pt x="11242" y="18588"/>
                    <a:pt x="11368" y="18485"/>
                    <a:pt x="11368" y="18381"/>
                  </a:cubicBezTo>
                  <a:cubicBezTo>
                    <a:pt x="11368" y="18381"/>
                    <a:pt x="11495" y="18277"/>
                    <a:pt x="11495" y="18277"/>
                  </a:cubicBezTo>
                  <a:cubicBezTo>
                    <a:pt x="11621" y="17862"/>
                    <a:pt x="11368" y="17862"/>
                    <a:pt x="11116" y="17758"/>
                  </a:cubicBezTo>
                  <a:cubicBezTo>
                    <a:pt x="10989" y="17654"/>
                    <a:pt x="10863" y="17654"/>
                    <a:pt x="10737" y="17550"/>
                  </a:cubicBezTo>
                  <a:cubicBezTo>
                    <a:pt x="10737" y="17446"/>
                    <a:pt x="10737" y="17342"/>
                    <a:pt x="10863" y="17238"/>
                  </a:cubicBezTo>
                  <a:cubicBezTo>
                    <a:pt x="10863" y="17238"/>
                    <a:pt x="10989" y="17135"/>
                    <a:pt x="10989" y="17135"/>
                  </a:cubicBezTo>
                  <a:cubicBezTo>
                    <a:pt x="11116" y="16927"/>
                    <a:pt x="10989" y="16823"/>
                    <a:pt x="10989" y="16615"/>
                  </a:cubicBezTo>
                  <a:cubicBezTo>
                    <a:pt x="10989" y="16615"/>
                    <a:pt x="10989" y="16615"/>
                    <a:pt x="10989" y="16615"/>
                  </a:cubicBezTo>
                  <a:cubicBezTo>
                    <a:pt x="10989" y="16512"/>
                    <a:pt x="10989" y="16512"/>
                    <a:pt x="10863" y="16408"/>
                  </a:cubicBezTo>
                  <a:cubicBezTo>
                    <a:pt x="10863" y="16304"/>
                    <a:pt x="10737" y="16096"/>
                    <a:pt x="10863" y="16096"/>
                  </a:cubicBezTo>
                  <a:cubicBezTo>
                    <a:pt x="10989" y="15992"/>
                    <a:pt x="10989" y="15992"/>
                    <a:pt x="10989" y="15992"/>
                  </a:cubicBezTo>
                  <a:cubicBezTo>
                    <a:pt x="11116" y="15992"/>
                    <a:pt x="11116" y="15992"/>
                    <a:pt x="11242" y="16096"/>
                  </a:cubicBezTo>
                  <a:cubicBezTo>
                    <a:pt x="11242" y="16096"/>
                    <a:pt x="11368" y="16096"/>
                    <a:pt x="11495" y="16096"/>
                  </a:cubicBezTo>
                  <a:cubicBezTo>
                    <a:pt x="11495" y="16096"/>
                    <a:pt x="11495" y="16096"/>
                    <a:pt x="11495" y="16096"/>
                  </a:cubicBezTo>
                  <a:cubicBezTo>
                    <a:pt x="11621" y="16096"/>
                    <a:pt x="11747" y="16096"/>
                    <a:pt x="11747" y="15992"/>
                  </a:cubicBezTo>
                  <a:cubicBezTo>
                    <a:pt x="11874" y="15992"/>
                    <a:pt x="12000" y="15992"/>
                    <a:pt x="12126" y="15992"/>
                  </a:cubicBezTo>
                  <a:cubicBezTo>
                    <a:pt x="12126" y="15992"/>
                    <a:pt x="12126" y="15992"/>
                    <a:pt x="12126" y="15992"/>
                  </a:cubicBezTo>
                  <a:cubicBezTo>
                    <a:pt x="12253" y="15992"/>
                    <a:pt x="12379" y="15992"/>
                    <a:pt x="12505" y="16096"/>
                  </a:cubicBezTo>
                  <a:cubicBezTo>
                    <a:pt x="12505" y="16096"/>
                    <a:pt x="12632" y="16200"/>
                    <a:pt x="12758" y="16200"/>
                  </a:cubicBezTo>
                  <a:cubicBezTo>
                    <a:pt x="12884" y="16200"/>
                    <a:pt x="12884" y="16200"/>
                    <a:pt x="12884" y="16200"/>
                  </a:cubicBezTo>
                  <a:cubicBezTo>
                    <a:pt x="12884" y="16200"/>
                    <a:pt x="12884" y="16200"/>
                    <a:pt x="12884" y="16200"/>
                  </a:cubicBezTo>
                  <a:cubicBezTo>
                    <a:pt x="13011" y="16200"/>
                    <a:pt x="13011" y="16200"/>
                    <a:pt x="13137" y="16096"/>
                  </a:cubicBezTo>
                  <a:cubicBezTo>
                    <a:pt x="13137" y="16096"/>
                    <a:pt x="13263" y="15992"/>
                    <a:pt x="13389" y="15992"/>
                  </a:cubicBezTo>
                  <a:cubicBezTo>
                    <a:pt x="13389" y="15888"/>
                    <a:pt x="13642" y="15888"/>
                    <a:pt x="13768" y="15888"/>
                  </a:cubicBezTo>
                  <a:cubicBezTo>
                    <a:pt x="13768" y="15888"/>
                    <a:pt x="13895" y="15888"/>
                    <a:pt x="13895" y="15888"/>
                  </a:cubicBezTo>
                  <a:cubicBezTo>
                    <a:pt x="14147" y="15888"/>
                    <a:pt x="14147" y="15888"/>
                    <a:pt x="14147" y="15888"/>
                  </a:cubicBezTo>
                  <a:cubicBezTo>
                    <a:pt x="14147" y="15681"/>
                    <a:pt x="14147" y="15681"/>
                    <a:pt x="14147" y="15681"/>
                  </a:cubicBezTo>
                  <a:cubicBezTo>
                    <a:pt x="14147" y="15369"/>
                    <a:pt x="14274" y="15162"/>
                    <a:pt x="14147" y="14954"/>
                  </a:cubicBezTo>
                  <a:cubicBezTo>
                    <a:pt x="14021" y="14850"/>
                    <a:pt x="14021" y="14850"/>
                    <a:pt x="14021" y="14850"/>
                  </a:cubicBezTo>
                  <a:cubicBezTo>
                    <a:pt x="13895" y="14538"/>
                    <a:pt x="13895" y="14538"/>
                    <a:pt x="14274" y="14331"/>
                  </a:cubicBezTo>
                  <a:cubicBezTo>
                    <a:pt x="14526" y="14227"/>
                    <a:pt x="14653" y="14123"/>
                    <a:pt x="14779" y="14123"/>
                  </a:cubicBezTo>
                  <a:cubicBezTo>
                    <a:pt x="14779" y="14123"/>
                    <a:pt x="14905" y="14227"/>
                    <a:pt x="15158" y="14331"/>
                  </a:cubicBezTo>
                  <a:cubicBezTo>
                    <a:pt x="15411" y="14435"/>
                    <a:pt x="15537" y="14642"/>
                    <a:pt x="15663" y="14850"/>
                  </a:cubicBezTo>
                  <a:cubicBezTo>
                    <a:pt x="15663" y="14954"/>
                    <a:pt x="15663" y="14954"/>
                    <a:pt x="15663" y="14954"/>
                  </a:cubicBezTo>
                  <a:cubicBezTo>
                    <a:pt x="15916" y="15265"/>
                    <a:pt x="16042" y="15473"/>
                    <a:pt x="16168" y="15785"/>
                  </a:cubicBezTo>
                  <a:cubicBezTo>
                    <a:pt x="16168" y="15888"/>
                    <a:pt x="16168" y="15888"/>
                    <a:pt x="16168" y="15888"/>
                  </a:cubicBezTo>
                  <a:cubicBezTo>
                    <a:pt x="16295" y="15888"/>
                    <a:pt x="16295" y="15888"/>
                    <a:pt x="16295" y="15888"/>
                  </a:cubicBezTo>
                  <a:cubicBezTo>
                    <a:pt x="16547" y="15992"/>
                    <a:pt x="16800" y="15992"/>
                    <a:pt x="16926" y="16096"/>
                  </a:cubicBezTo>
                  <a:cubicBezTo>
                    <a:pt x="17179" y="16096"/>
                    <a:pt x="17305" y="16200"/>
                    <a:pt x="17558" y="16200"/>
                  </a:cubicBezTo>
                  <a:cubicBezTo>
                    <a:pt x="17558" y="16200"/>
                    <a:pt x="17684" y="16200"/>
                    <a:pt x="17684" y="16200"/>
                  </a:cubicBezTo>
                  <a:cubicBezTo>
                    <a:pt x="18063" y="16096"/>
                    <a:pt x="18063" y="15992"/>
                    <a:pt x="18189" y="15785"/>
                  </a:cubicBezTo>
                  <a:cubicBezTo>
                    <a:pt x="18316" y="15577"/>
                    <a:pt x="18316" y="15473"/>
                    <a:pt x="18568" y="15369"/>
                  </a:cubicBezTo>
                  <a:cubicBezTo>
                    <a:pt x="18695" y="15369"/>
                    <a:pt x="18695" y="15369"/>
                    <a:pt x="18821" y="15369"/>
                  </a:cubicBezTo>
                  <a:cubicBezTo>
                    <a:pt x="18821" y="15369"/>
                    <a:pt x="18821" y="15369"/>
                    <a:pt x="18947" y="15369"/>
                  </a:cubicBezTo>
                  <a:cubicBezTo>
                    <a:pt x="19200" y="15473"/>
                    <a:pt x="19326" y="15785"/>
                    <a:pt x="19326" y="15992"/>
                  </a:cubicBezTo>
                  <a:cubicBezTo>
                    <a:pt x="19453" y="16200"/>
                    <a:pt x="19579" y="16408"/>
                    <a:pt x="19832" y="16408"/>
                  </a:cubicBezTo>
                  <a:cubicBezTo>
                    <a:pt x="20084" y="16408"/>
                    <a:pt x="20211" y="16304"/>
                    <a:pt x="20211" y="16200"/>
                  </a:cubicBezTo>
                  <a:cubicBezTo>
                    <a:pt x="20463" y="15992"/>
                    <a:pt x="20463" y="15785"/>
                    <a:pt x="20463" y="15473"/>
                  </a:cubicBezTo>
                  <a:cubicBezTo>
                    <a:pt x="20589" y="15265"/>
                    <a:pt x="20589" y="15162"/>
                    <a:pt x="20716" y="14954"/>
                  </a:cubicBezTo>
                  <a:cubicBezTo>
                    <a:pt x="20716" y="14850"/>
                    <a:pt x="20842" y="14746"/>
                    <a:pt x="20968" y="14642"/>
                  </a:cubicBezTo>
                  <a:cubicBezTo>
                    <a:pt x="21095" y="14435"/>
                    <a:pt x="21221" y="14227"/>
                    <a:pt x="21221" y="14019"/>
                  </a:cubicBezTo>
                  <a:cubicBezTo>
                    <a:pt x="21221" y="13812"/>
                    <a:pt x="21221" y="13708"/>
                    <a:pt x="21221" y="13500"/>
                  </a:cubicBezTo>
                  <a:cubicBezTo>
                    <a:pt x="21221" y="13292"/>
                    <a:pt x="21221" y="12981"/>
                    <a:pt x="21221" y="12773"/>
                  </a:cubicBezTo>
                  <a:cubicBezTo>
                    <a:pt x="21474" y="12254"/>
                    <a:pt x="21474" y="11942"/>
                    <a:pt x="21221" y="11527"/>
                  </a:cubicBezTo>
                  <a:cubicBezTo>
                    <a:pt x="21095" y="11215"/>
                    <a:pt x="21221" y="11008"/>
                    <a:pt x="21347" y="10800"/>
                  </a:cubicBezTo>
                  <a:cubicBezTo>
                    <a:pt x="21474" y="10696"/>
                    <a:pt x="21474" y="10488"/>
                    <a:pt x="21600" y="10385"/>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54" name="Shape">
              <a:extLst>
                <a:ext uri="{FF2B5EF4-FFF2-40B4-BE49-F238E27FC236}">
                  <a16:creationId xmlns:a16="http://schemas.microsoft.com/office/drawing/2014/main" id="{B5DC9CC5-4873-3A43-88A7-B81140A1D773}"/>
                </a:ext>
              </a:extLst>
            </p:cNvPr>
            <p:cNvSpPr/>
            <p:nvPr/>
          </p:nvSpPr>
          <p:spPr>
            <a:xfrm>
              <a:off x="5827503" y="7796268"/>
              <a:ext cx="251186" cy="236969"/>
            </a:xfrm>
            <a:custGeom>
              <a:avLst/>
              <a:gdLst/>
              <a:ahLst/>
              <a:cxnLst>
                <a:cxn ang="0">
                  <a:pos x="wd2" y="hd2"/>
                </a:cxn>
                <a:cxn ang="5400000">
                  <a:pos x="wd2" y="hd2"/>
                </a:cxn>
                <a:cxn ang="10800000">
                  <a:pos x="wd2" y="hd2"/>
                </a:cxn>
                <a:cxn ang="16200000">
                  <a:pos x="wd2" y="hd2"/>
                </a:cxn>
              </a:cxnLst>
              <a:rect l="0" t="0" r="r" b="b"/>
              <a:pathLst>
                <a:path w="21434" h="21600" extrusionOk="0">
                  <a:moveTo>
                    <a:pt x="20935" y="5891"/>
                  </a:moveTo>
                  <a:cubicBezTo>
                    <a:pt x="20271" y="4909"/>
                    <a:pt x="19606" y="3927"/>
                    <a:pt x="18609" y="3273"/>
                  </a:cubicBezTo>
                  <a:cubicBezTo>
                    <a:pt x="18277" y="2618"/>
                    <a:pt x="17612" y="2291"/>
                    <a:pt x="17280" y="1636"/>
                  </a:cubicBezTo>
                  <a:cubicBezTo>
                    <a:pt x="16283" y="327"/>
                    <a:pt x="15286" y="0"/>
                    <a:pt x="13957" y="0"/>
                  </a:cubicBezTo>
                  <a:cubicBezTo>
                    <a:pt x="12628" y="0"/>
                    <a:pt x="10966" y="655"/>
                    <a:pt x="9305" y="1964"/>
                  </a:cubicBezTo>
                  <a:cubicBezTo>
                    <a:pt x="8308" y="2291"/>
                    <a:pt x="8308" y="2291"/>
                    <a:pt x="8308" y="2291"/>
                  </a:cubicBezTo>
                  <a:cubicBezTo>
                    <a:pt x="6978" y="3273"/>
                    <a:pt x="5982" y="4582"/>
                    <a:pt x="4985" y="5891"/>
                  </a:cubicBezTo>
                  <a:cubicBezTo>
                    <a:pt x="4652" y="6873"/>
                    <a:pt x="3988" y="7527"/>
                    <a:pt x="3323" y="8509"/>
                  </a:cubicBezTo>
                  <a:cubicBezTo>
                    <a:pt x="2991" y="8836"/>
                    <a:pt x="2326" y="9164"/>
                    <a:pt x="1994" y="9491"/>
                  </a:cubicBezTo>
                  <a:cubicBezTo>
                    <a:pt x="1329" y="9818"/>
                    <a:pt x="665" y="10145"/>
                    <a:pt x="332" y="10473"/>
                  </a:cubicBezTo>
                  <a:cubicBezTo>
                    <a:pt x="0" y="11127"/>
                    <a:pt x="0" y="11127"/>
                    <a:pt x="0" y="11455"/>
                  </a:cubicBezTo>
                  <a:cubicBezTo>
                    <a:pt x="0" y="11782"/>
                    <a:pt x="0" y="12109"/>
                    <a:pt x="332" y="12436"/>
                  </a:cubicBezTo>
                  <a:cubicBezTo>
                    <a:pt x="665" y="12436"/>
                    <a:pt x="665" y="12764"/>
                    <a:pt x="997" y="13091"/>
                  </a:cubicBezTo>
                  <a:cubicBezTo>
                    <a:pt x="1329" y="13418"/>
                    <a:pt x="1329" y="14073"/>
                    <a:pt x="1329" y="14400"/>
                  </a:cubicBezTo>
                  <a:cubicBezTo>
                    <a:pt x="1662" y="14727"/>
                    <a:pt x="1662" y="15055"/>
                    <a:pt x="1662" y="15055"/>
                  </a:cubicBezTo>
                  <a:cubicBezTo>
                    <a:pt x="1662" y="15382"/>
                    <a:pt x="1662" y="15382"/>
                    <a:pt x="1662" y="15382"/>
                  </a:cubicBezTo>
                  <a:cubicBezTo>
                    <a:pt x="1994" y="15709"/>
                    <a:pt x="1994" y="15709"/>
                    <a:pt x="1994" y="15709"/>
                  </a:cubicBezTo>
                  <a:cubicBezTo>
                    <a:pt x="2658" y="15709"/>
                    <a:pt x="2991" y="16691"/>
                    <a:pt x="3323" y="17345"/>
                  </a:cubicBezTo>
                  <a:cubicBezTo>
                    <a:pt x="3655" y="17673"/>
                    <a:pt x="3655" y="18000"/>
                    <a:pt x="3988" y="18327"/>
                  </a:cubicBezTo>
                  <a:cubicBezTo>
                    <a:pt x="3988" y="18655"/>
                    <a:pt x="4320" y="18655"/>
                    <a:pt x="4320" y="18655"/>
                  </a:cubicBezTo>
                  <a:cubicBezTo>
                    <a:pt x="4652" y="18655"/>
                    <a:pt x="4652" y="18982"/>
                    <a:pt x="4985" y="18982"/>
                  </a:cubicBezTo>
                  <a:cubicBezTo>
                    <a:pt x="4985" y="19309"/>
                    <a:pt x="4985" y="19309"/>
                    <a:pt x="4985" y="19636"/>
                  </a:cubicBezTo>
                  <a:cubicBezTo>
                    <a:pt x="4985" y="19964"/>
                    <a:pt x="4985" y="19964"/>
                    <a:pt x="4985" y="20291"/>
                  </a:cubicBezTo>
                  <a:cubicBezTo>
                    <a:pt x="5649" y="20945"/>
                    <a:pt x="6314" y="21600"/>
                    <a:pt x="7311" y="21600"/>
                  </a:cubicBezTo>
                  <a:cubicBezTo>
                    <a:pt x="8308" y="21600"/>
                    <a:pt x="9637" y="20618"/>
                    <a:pt x="9969" y="19636"/>
                  </a:cubicBezTo>
                  <a:cubicBezTo>
                    <a:pt x="10634" y="17673"/>
                    <a:pt x="11963" y="16364"/>
                    <a:pt x="13957" y="16036"/>
                  </a:cubicBezTo>
                  <a:cubicBezTo>
                    <a:pt x="14289" y="16036"/>
                    <a:pt x="14622" y="15709"/>
                    <a:pt x="14954" y="15709"/>
                  </a:cubicBezTo>
                  <a:cubicBezTo>
                    <a:pt x="16283" y="15382"/>
                    <a:pt x="17612" y="15382"/>
                    <a:pt x="18609" y="14727"/>
                  </a:cubicBezTo>
                  <a:cubicBezTo>
                    <a:pt x="19606" y="14073"/>
                    <a:pt x="19606" y="13091"/>
                    <a:pt x="19274" y="12109"/>
                  </a:cubicBezTo>
                  <a:cubicBezTo>
                    <a:pt x="19274" y="11455"/>
                    <a:pt x="18942" y="11127"/>
                    <a:pt x="19274" y="10473"/>
                  </a:cubicBezTo>
                  <a:cubicBezTo>
                    <a:pt x="19938" y="10473"/>
                    <a:pt x="20603" y="9818"/>
                    <a:pt x="20935" y="9164"/>
                  </a:cubicBezTo>
                  <a:cubicBezTo>
                    <a:pt x="21600" y="8182"/>
                    <a:pt x="21600" y="6873"/>
                    <a:pt x="20935" y="5891"/>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55" name="Shape">
              <a:extLst>
                <a:ext uri="{FF2B5EF4-FFF2-40B4-BE49-F238E27FC236}">
                  <a16:creationId xmlns:a16="http://schemas.microsoft.com/office/drawing/2014/main" id="{2ADD6B24-628F-E94A-8C6C-7420E8EE853E}"/>
                </a:ext>
              </a:extLst>
            </p:cNvPr>
            <p:cNvSpPr/>
            <p:nvPr/>
          </p:nvSpPr>
          <p:spPr>
            <a:xfrm>
              <a:off x="4149973" y="6413951"/>
              <a:ext cx="1510209" cy="1417863"/>
            </a:xfrm>
            <a:custGeom>
              <a:avLst/>
              <a:gdLst/>
              <a:ahLst/>
              <a:cxnLst>
                <a:cxn ang="0">
                  <a:pos x="wd2" y="hd2"/>
                </a:cxn>
                <a:cxn ang="5400000">
                  <a:pos x="wd2" y="hd2"/>
                </a:cxn>
                <a:cxn ang="10800000">
                  <a:pos x="wd2" y="hd2"/>
                </a:cxn>
                <a:cxn ang="16200000">
                  <a:pos x="wd2" y="hd2"/>
                </a:cxn>
              </a:cxnLst>
              <a:rect l="0" t="0" r="r" b="b"/>
              <a:pathLst>
                <a:path w="21600" h="21600" extrusionOk="0">
                  <a:moveTo>
                    <a:pt x="21600" y="1418"/>
                  </a:moveTo>
                  <a:cubicBezTo>
                    <a:pt x="21600" y="1418"/>
                    <a:pt x="21600" y="1418"/>
                    <a:pt x="21600" y="1418"/>
                  </a:cubicBezTo>
                  <a:cubicBezTo>
                    <a:pt x="21544" y="1364"/>
                    <a:pt x="21544" y="1364"/>
                    <a:pt x="21544" y="1364"/>
                  </a:cubicBezTo>
                  <a:cubicBezTo>
                    <a:pt x="21544" y="1309"/>
                    <a:pt x="21489" y="1255"/>
                    <a:pt x="21433" y="1200"/>
                  </a:cubicBezTo>
                  <a:cubicBezTo>
                    <a:pt x="21377" y="1200"/>
                    <a:pt x="21322" y="1145"/>
                    <a:pt x="21266" y="1145"/>
                  </a:cubicBezTo>
                  <a:cubicBezTo>
                    <a:pt x="21266" y="1145"/>
                    <a:pt x="21210" y="1145"/>
                    <a:pt x="21210" y="1145"/>
                  </a:cubicBezTo>
                  <a:cubicBezTo>
                    <a:pt x="21155" y="1091"/>
                    <a:pt x="21155" y="1091"/>
                    <a:pt x="21099" y="1091"/>
                  </a:cubicBezTo>
                  <a:cubicBezTo>
                    <a:pt x="21099" y="1036"/>
                    <a:pt x="21043" y="1036"/>
                    <a:pt x="20988" y="982"/>
                  </a:cubicBezTo>
                  <a:cubicBezTo>
                    <a:pt x="20988" y="982"/>
                    <a:pt x="20932" y="982"/>
                    <a:pt x="20932" y="982"/>
                  </a:cubicBezTo>
                  <a:cubicBezTo>
                    <a:pt x="20876" y="982"/>
                    <a:pt x="20876" y="982"/>
                    <a:pt x="20821" y="982"/>
                  </a:cubicBezTo>
                  <a:cubicBezTo>
                    <a:pt x="20821" y="982"/>
                    <a:pt x="20821" y="982"/>
                    <a:pt x="20765" y="982"/>
                  </a:cubicBezTo>
                  <a:cubicBezTo>
                    <a:pt x="20765" y="982"/>
                    <a:pt x="20765" y="982"/>
                    <a:pt x="20709" y="982"/>
                  </a:cubicBezTo>
                  <a:cubicBezTo>
                    <a:pt x="20654" y="982"/>
                    <a:pt x="20654" y="982"/>
                    <a:pt x="20654" y="982"/>
                  </a:cubicBezTo>
                  <a:cubicBezTo>
                    <a:pt x="20542" y="982"/>
                    <a:pt x="20487" y="927"/>
                    <a:pt x="20375" y="927"/>
                  </a:cubicBezTo>
                  <a:cubicBezTo>
                    <a:pt x="20320" y="927"/>
                    <a:pt x="20208" y="927"/>
                    <a:pt x="20153" y="982"/>
                  </a:cubicBezTo>
                  <a:cubicBezTo>
                    <a:pt x="20041" y="982"/>
                    <a:pt x="19930" y="982"/>
                    <a:pt x="19819" y="1036"/>
                  </a:cubicBezTo>
                  <a:cubicBezTo>
                    <a:pt x="19763" y="1036"/>
                    <a:pt x="19707" y="1036"/>
                    <a:pt x="19596" y="1036"/>
                  </a:cubicBezTo>
                  <a:cubicBezTo>
                    <a:pt x="19540" y="1036"/>
                    <a:pt x="19429" y="1036"/>
                    <a:pt x="19318" y="1091"/>
                  </a:cubicBezTo>
                  <a:cubicBezTo>
                    <a:pt x="19151" y="1091"/>
                    <a:pt x="19039" y="1091"/>
                    <a:pt x="18928" y="1091"/>
                  </a:cubicBezTo>
                  <a:cubicBezTo>
                    <a:pt x="18649" y="1145"/>
                    <a:pt x="18427" y="1200"/>
                    <a:pt x="18148" y="1309"/>
                  </a:cubicBezTo>
                  <a:cubicBezTo>
                    <a:pt x="17759" y="1418"/>
                    <a:pt x="17369" y="1473"/>
                    <a:pt x="16924" y="1527"/>
                  </a:cubicBezTo>
                  <a:cubicBezTo>
                    <a:pt x="16701" y="1527"/>
                    <a:pt x="16701" y="1527"/>
                    <a:pt x="16701" y="1527"/>
                  </a:cubicBezTo>
                  <a:cubicBezTo>
                    <a:pt x="16478" y="1582"/>
                    <a:pt x="16256" y="1636"/>
                    <a:pt x="16033" y="1745"/>
                  </a:cubicBezTo>
                  <a:cubicBezTo>
                    <a:pt x="15922" y="1745"/>
                    <a:pt x="15866" y="1800"/>
                    <a:pt x="15755" y="1800"/>
                  </a:cubicBezTo>
                  <a:cubicBezTo>
                    <a:pt x="15643" y="1800"/>
                    <a:pt x="15588" y="1745"/>
                    <a:pt x="15476" y="1745"/>
                  </a:cubicBezTo>
                  <a:cubicBezTo>
                    <a:pt x="15476" y="1745"/>
                    <a:pt x="15421" y="1745"/>
                    <a:pt x="15365" y="1745"/>
                  </a:cubicBezTo>
                  <a:cubicBezTo>
                    <a:pt x="15309" y="1691"/>
                    <a:pt x="15254" y="1691"/>
                    <a:pt x="15198" y="1691"/>
                  </a:cubicBezTo>
                  <a:cubicBezTo>
                    <a:pt x="15142" y="1691"/>
                    <a:pt x="15087" y="1745"/>
                    <a:pt x="14975" y="1745"/>
                  </a:cubicBezTo>
                  <a:cubicBezTo>
                    <a:pt x="14920" y="1745"/>
                    <a:pt x="14808" y="1745"/>
                    <a:pt x="14697" y="1745"/>
                  </a:cubicBezTo>
                  <a:cubicBezTo>
                    <a:pt x="14697" y="1745"/>
                    <a:pt x="14641" y="1745"/>
                    <a:pt x="14586" y="1745"/>
                  </a:cubicBezTo>
                  <a:cubicBezTo>
                    <a:pt x="14474" y="1745"/>
                    <a:pt x="14363" y="1691"/>
                    <a:pt x="14252" y="1636"/>
                  </a:cubicBezTo>
                  <a:cubicBezTo>
                    <a:pt x="14085" y="1582"/>
                    <a:pt x="13973" y="1527"/>
                    <a:pt x="13806" y="1527"/>
                  </a:cubicBezTo>
                  <a:cubicBezTo>
                    <a:pt x="13806" y="1527"/>
                    <a:pt x="13806" y="1527"/>
                    <a:pt x="13751" y="1527"/>
                  </a:cubicBezTo>
                  <a:cubicBezTo>
                    <a:pt x="13639" y="1582"/>
                    <a:pt x="13528" y="1582"/>
                    <a:pt x="13416" y="1636"/>
                  </a:cubicBezTo>
                  <a:cubicBezTo>
                    <a:pt x="13305" y="1636"/>
                    <a:pt x="13194" y="1691"/>
                    <a:pt x="13027" y="1691"/>
                  </a:cubicBezTo>
                  <a:cubicBezTo>
                    <a:pt x="12971" y="1691"/>
                    <a:pt x="12915" y="1636"/>
                    <a:pt x="12860" y="1636"/>
                  </a:cubicBezTo>
                  <a:cubicBezTo>
                    <a:pt x="12637" y="1582"/>
                    <a:pt x="12414" y="1582"/>
                    <a:pt x="12192" y="1582"/>
                  </a:cubicBezTo>
                  <a:cubicBezTo>
                    <a:pt x="12080" y="1582"/>
                    <a:pt x="12080" y="1582"/>
                    <a:pt x="12080" y="1582"/>
                  </a:cubicBezTo>
                  <a:cubicBezTo>
                    <a:pt x="12025" y="1582"/>
                    <a:pt x="11969" y="1582"/>
                    <a:pt x="11969" y="1582"/>
                  </a:cubicBezTo>
                  <a:cubicBezTo>
                    <a:pt x="11913" y="1582"/>
                    <a:pt x="11858" y="1582"/>
                    <a:pt x="11802" y="1582"/>
                  </a:cubicBezTo>
                  <a:cubicBezTo>
                    <a:pt x="11691" y="1582"/>
                    <a:pt x="11468" y="1582"/>
                    <a:pt x="11357" y="1473"/>
                  </a:cubicBezTo>
                  <a:cubicBezTo>
                    <a:pt x="11190" y="1309"/>
                    <a:pt x="11023" y="1091"/>
                    <a:pt x="10911" y="873"/>
                  </a:cubicBezTo>
                  <a:cubicBezTo>
                    <a:pt x="10911" y="818"/>
                    <a:pt x="10911" y="818"/>
                    <a:pt x="10911" y="818"/>
                  </a:cubicBezTo>
                  <a:cubicBezTo>
                    <a:pt x="5122" y="818"/>
                    <a:pt x="5122" y="818"/>
                    <a:pt x="5122" y="818"/>
                  </a:cubicBezTo>
                  <a:cubicBezTo>
                    <a:pt x="5010" y="818"/>
                    <a:pt x="4899" y="818"/>
                    <a:pt x="4788" y="818"/>
                  </a:cubicBezTo>
                  <a:cubicBezTo>
                    <a:pt x="4621" y="818"/>
                    <a:pt x="4398" y="818"/>
                    <a:pt x="4231" y="818"/>
                  </a:cubicBezTo>
                  <a:cubicBezTo>
                    <a:pt x="3953" y="818"/>
                    <a:pt x="3786" y="818"/>
                    <a:pt x="3619" y="764"/>
                  </a:cubicBezTo>
                  <a:cubicBezTo>
                    <a:pt x="3507" y="709"/>
                    <a:pt x="3340" y="600"/>
                    <a:pt x="3285" y="545"/>
                  </a:cubicBezTo>
                  <a:cubicBezTo>
                    <a:pt x="3173" y="491"/>
                    <a:pt x="3118" y="382"/>
                    <a:pt x="3062" y="327"/>
                  </a:cubicBezTo>
                  <a:cubicBezTo>
                    <a:pt x="2951" y="164"/>
                    <a:pt x="2784" y="0"/>
                    <a:pt x="2561" y="0"/>
                  </a:cubicBezTo>
                  <a:cubicBezTo>
                    <a:pt x="2449" y="0"/>
                    <a:pt x="2115" y="55"/>
                    <a:pt x="2060" y="55"/>
                  </a:cubicBezTo>
                  <a:cubicBezTo>
                    <a:pt x="1948" y="109"/>
                    <a:pt x="1893" y="164"/>
                    <a:pt x="1837" y="218"/>
                  </a:cubicBezTo>
                  <a:cubicBezTo>
                    <a:pt x="1837" y="273"/>
                    <a:pt x="1781" y="382"/>
                    <a:pt x="1726" y="382"/>
                  </a:cubicBezTo>
                  <a:cubicBezTo>
                    <a:pt x="1614" y="436"/>
                    <a:pt x="1392" y="491"/>
                    <a:pt x="1280" y="491"/>
                  </a:cubicBezTo>
                  <a:cubicBezTo>
                    <a:pt x="1225" y="491"/>
                    <a:pt x="1225" y="491"/>
                    <a:pt x="1225" y="491"/>
                  </a:cubicBezTo>
                  <a:cubicBezTo>
                    <a:pt x="1113" y="491"/>
                    <a:pt x="1058" y="436"/>
                    <a:pt x="1002" y="382"/>
                  </a:cubicBezTo>
                  <a:cubicBezTo>
                    <a:pt x="946" y="382"/>
                    <a:pt x="891" y="327"/>
                    <a:pt x="835" y="327"/>
                  </a:cubicBezTo>
                  <a:cubicBezTo>
                    <a:pt x="779" y="273"/>
                    <a:pt x="779" y="273"/>
                    <a:pt x="724" y="273"/>
                  </a:cubicBezTo>
                  <a:cubicBezTo>
                    <a:pt x="557" y="273"/>
                    <a:pt x="278" y="436"/>
                    <a:pt x="56" y="600"/>
                  </a:cubicBezTo>
                  <a:cubicBezTo>
                    <a:pt x="0" y="600"/>
                    <a:pt x="0" y="600"/>
                    <a:pt x="0" y="600"/>
                  </a:cubicBezTo>
                  <a:cubicBezTo>
                    <a:pt x="0" y="655"/>
                    <a:pt x="0" y="655"/>
                    <a:pt x="0" y="655"/>
                  </a:cubicBezTo>
                  <a:cubicBezTo>
                    <a:pt x="0" y="818"/>
                    <a:pt x="0" y="1036"/>
                    <a:pt x="0" y="1309"/>
                  </a:cubicBezTo>
                  <a:cubicBezTo>
                    <a:pt x="0" y="1309"/>
                    <a:pt x="0" y="1364"/>
                    <a:pt x="0" y="1418"/>
                  </a:cubicBezTo>
                  <a:cubicBezTo>
                    <a:pt x="0" y="1582"/>
                    <a:pt x="56" y="1745"/>
                    <a:pt x="56" y="1855"/>
                  </a:cubicBezTo>
                  <a:cubicBezTo>
                    <a:pt x="111" y="2018"/>
                    <a:pt x="167" y="2073"/>
                    <a:pt x="223" y="2182"/>
                  </a:cubicBezTo>
                  <a:cubicBezTo>
                    <a:pt x="278" y="2236"/>
                    <a:pt x="278" y="2291"/>
                    <a:pt x="334" y="2345"/>
                  </a:cubicBezTo>
                  <a:cubicBezTo>
                    <a:pt x="334" y="2400"/>
                    <a:pt x="390" y="2455"/>
                    <a:pt x="390" y="2509"/>
                  </a:cubicBezTo>
                  <a:cubicBezTo>
                    <a:pt x="445" y="2618"/>
                    <a:pt x="445" y="2727"/>
                    <a:pt x="557" y="2782"/>
                  </a:cubicBezTo>
                  <a:cubicBezTo>
                    <a:pt x="612" y="2891"/>
                    <a:pt x="668" y="2945"/>
                    <a:pt x="779" y="3055"/>
                  </a:cubicBezTo>
                  <a:cubicBezTo>
                    <a:pt x="835" y="3109"/>
                    <a:pt x="891" y="3109"/>
                    <a:pt x="946" y="3164"/>
                  </a:cubicBezTo>
                  <a:cubicBezTo>
                    <a:pt x="1002" y="3327"/>
                    <a:pt x="1113" y="3491"/>
                    <a:pt x="1225" y="3655"/>
                  </a:cubicBezTo>
                  <a:cubicBezTo>
                    <a:pt x="1225" y="3709"/>
                    <a:pt x="1280" y="3818"/>
                    <a:pt x="1336" y="3873"/>
                  </a:cubicBezTo>
                  <a:cubicBezTo>
                    <a:pt x="1392" y="3982"/>
                    <a:pt x="1392" y="4091"/>
                    <a:pt x="1447" y="4145"/>
                  </a:cubicBezTo>
                  <a:cubicBezTo>
                    <a:pt x="1503" y="4255"/>
                    <a:pt x="1559" y="4309"/>
                    <a:pt x="1559" y="4364"/>
                  </a:cubicBezTo>
                  <a:cubicBezTo>
                    <a:pt x="1614" y="4473"/>
                    <a:pt x="1614" y="4527"/>
                    <a:pt x="1670" y="4582"/>
                  </a:cubicBezTo>
                  <a:cubicBezTo>
                    <a:pt x="1670" y="4636"/>
                    <a:pt x="1670" y="4691"/>
                    <a:pt x="1726" y="4691"/>
                  </a:cubicBezTo>
                  <a:cubicBezTo>
                    <a:pt x="1726" y="4745"/>
                    <a:pt x="1726" y="4800"/>
                    <a:pt x="1726" y="4800"/>
                  </a:cubicBezTo>
                  <a:cubicBezTo>
                    <a:pt x="1781" y="4855"/>
                    <a:pt x="1837" y="4909"/>
                    <a:pt x="1837" y="4964"/>
                  </a:cubicBezTo>
                  <a:cubicBezTo>
                    <a:pt x="1837" y="4964"/>
                    <a:pt x="1893" y="4964"/>
                    <a:pt x="1893" y="4964"/>
                  </a:cubicBezTo>
                  <a:cubicBezTo>
                    <a:pt x="1948" y="5073"/>
                    <a:pt x="2004" y="5182"/>
                    <a:pt x="2060" y="5345"/>
                  </a:cubicBezTo>
                  <a:cubicBezTo>
                    <a:pt x="2060" y="5509"/>
                    <a:pt x="2115" y="5673"/>
                    <a:pt x="2282" y="5836"/>
                  </a:cubicBezTo>
                  <a:cubicBezTo>
                    <a:pt x="2338" y="5891"/>
                    <a:pt x="2338" y="6000"/>
                    <a:pt x="2394" y="6055"/>
                  </a:cubicBezTo>
                  <a:cubicBezTo>
                    <a:pt x="2394" y="6109"/>
                    <a:pt x="2394" y="6109"/>
                    <a:pt x="2394" y="6109"/>
                  </a:cubicBezTo>
                  <a:cubicBezTo>
                    <a:pt x="2449" y="6218"/>
                    <a:pt x="2449" y="6327"/>
                    <a:pt x="2505" y="6436"/>
                  </a:cubicBezTo>
                  <a:cubicBezTo>
                    <a:pt x="2505" y="6600"/>
                    <a:pt x="2505" y="6600"/>
                    <a:pt x="2505" y="6600"/>
                  </a:cubicBezTo>
                  <a:cubicBezTo>
                    <a:pt x="2561" y="6764"/>
                    <a:pt x="2616" y="6982"/>
                    <a:pt x="2728" y="7145"/>
                  </a:cubicBezTo>
                  <a:cubicBezTo>
                    <a:pt x="2784" y="7255"/>
                    <a:pt x="2895" y="7309"/>
                    <a:pt x="2951" y="7418"/>
                  </a:cubicBezTo>
                  <a:cubicBezTo>
                    <a:pt x="3006" y="7473"/>
                    <a:pt x="3062" y="7527"/>
                    <a:pt x="3118" y="7582"/>
                  </a:cubicBezTo>
                  <a:cubicBezTo>
                    <a:pt x="3229" y="7745"/>
                    <a:pt x="3340" y="7964"/>
                    <a:pt x="3452" y="8182"/>
                  </a:cubicBezTo>
                  <a:cubicBezTo>
                    <a:pt x="3452" y="8236"/>
                    <a:pt x="3507" y="8291"/>
                    <a:pt x="3507" y="8345"/>
                  </a:cubicBezTo>
                  <a:cubicBezTo>
                    <a:pt x="3507" y="8455"/>
                    <a:pt x="3563" y="8564"/>
                    <a:pt x="3619" y="8673"/>
                  </a:cubicBezTo>
                  <a:cubicBezTo>
                    <a:pt x="3674" y="8727"/>
                    <a:pt x="3730" y="8782"/>
                    <a:pt x="3786" y="8836"/>
                  </a:cubicBezTo>
                  <a:cubicBezTo>
                    <a:pt x="3786" y="8836"/>
                    <a:pt x="3841" y="8891"/>
                    <a:pt x="3841" y="8891"/>
                  </a:cubicBezTo>
                  <a:cubicBezTo>
                    <a:pt x="3897" y="8945"/>
                    <a:pt x="3897" y="9000"/>
                    <a:pt x="3953" y="9055"/>
                  </a:cubicBezTo>
                  <a:cubicBezTo>
                    <a:pt x="3953" y="9055"/>
                    <a:pt x="3953" y="9109"/>
                    <a:pt x="3953" y="9109"/>
                  </a:cubicBezTo>
                  <a:cubicBezTo>
                    <a:pt x="4008" y="9218"/>
                    <a:pt x="4064" y="9273"/>
                    <a:pt x="4120" y="9382"/>
                  </a:cubicBezTo>
                  <a:cubicBezTo>
                    <a:pt x="4175" y="9436"/>
                    <a:pt x="4231" y="9491"/>
                    <a:pt x="4231" y="9600"/>
                  </a:cubicBezTo>
                  <a:cubicBezTo>
                    <a:pt x="4342" y="9709"/>
                    <a:pt x="4342" y="9873"/>
                    <a:pt x="4398" y="10036"/>
                  </a:cubicBezTo>
                  <a:cubicBezTo>
                    <a:pt x="4398" y="10091"/>
                    <a:pt x="4398" y="10091"/>
                    <a:pt x="4398" y="10091"/>
                  </a:cubicBezTo>
                  <a:cubicBezTo>
                    <a:pt x="4454" y="10200"/>
                    <a:pt x="4454" y="10418"/>
                    <a:pt x="4398" y="10527"/>
                  </a:cubicBezTo>
                  <a:cubicBezTo>
                    <a:pt x="4398" y="10527"/>
                    <a:pt x="4398" y="10527"/>
                    <a:pt x="4342" y="10582"/>
                  </a:cubicBezTo>
                  <a:cubicBezTo>
                    <a:pt x="4342" y="10636"/>
                    <a:pt x="4287" y="10691"/>
                    <a:pt x="4287" y="10745"/>
                  </a:cubicBezTo>
                  <a:cubicBezTo>
                    <a:pt x="4231" y="10855"/>
                    <a:pt x="4287" y="10964"/>
                    <a:pt x="4342" y="11018"/>
                  </a:cubicBezTo>
                  <a:cubicBezTo>
                    <a:pt x="4342" y="11073"/>
                    <a:pt x="4342" y="11073"/>
                    <a:pt x="4342" y="11127"/>
                  </a:cubicBezTo>
                  <a:cubicBezTo>
                    <a:pt x="4342" y="11182"/>
                    <a:pt x="4342" y="11291"/>
                    <a:pt x="4342" y="11400"/>
                  </a:cubicBezTo>
                  <a:cubicBezTo>
                    <a:pt x="4342" y="11455"/>
                    <a:pt x="4342" y="11509"/>
                    <a:pt x="4342" y="11564"/>
                  </a:cubicBezTo>
                  <a:cubicBezTo>
                    <a:pt x="4342" y="11673"/>
                    <a:pt x="4342" y="11727"/>
                    <a:pt x="4342" y="11836"/>
                  </a:cubicBezTo>
                  <a:cubicBezTo>
                    <a:pt x="4342" y="11891"/>
                    <a:pt x="4342" y="11945"/>
                    <a:pt x="4342" y="12055"/>
                  </a:cubicBezTo>
                  <a:cubicBezTo>
                    <a:pt x="4342" y="12164"/>
                    <a:pt x="4342" y="12327"/>
                    <a:pt x="4342" y="12491"/>
                  </a:cubicBezTo>
                  <a:cubicBezTo>
                    <a:pt x="4342" y="12545"/>
                    <a:pt x="4342" y="12545"/>
                    <a:pt x="4342" y="12545"/>
                  </a:cubicBezTo>
                  <a:cubicBezTo>
                    <a:pt x="4287" y="12655"/>
                    <a:pt x="4287" y="12818"/>
                    <a:pt x="4342" y="12927"/>
                  </a:cubicBezTo>
                  <a:cubicBezTo>
                    <a:pt x="4342" y="13036"/>
                    <a:pt x="4398" y="13091"/>
                    <a:pt x="4398" y="13200"/>
                  </a:cubicBezTo>
                  <a:cubicBezTo>
                    <a:pt x="4454" y="13255"/>
                    <a:pt x="4509" y="13309"/>
                    <a:pt x="4509" y="13364"/>
                  </a:cubicBezTo>
                  <a:cubicBezTo>
                    <a:pt x="4509" y="13418"/>
                    <a:pt x="4509" y="13473"/>
                    <a:pt x="4509" y="13527"/>
                  </a:cubicBezTo>
                  <a:cubicBezTo>
                    <a:pt x="4509" y="13636"/>
                    <a:pt x="4565" y="13745"/>
                    <a:pt x="4621" y="13855"/>
                  </a:cubicBezTo>
                  <a:cubicBezTo>
                    <a:pt x="4788" y="14127"/>
                    <a:pt x="4843" y="14400"/>
                    <a:pt x="4843" y="14673"/>
                  </a:cubicBezTo>
                  <a:cubicBezTo>
                    <a:pt x="4843" y="14836"/>
                    <a:pt x="4899" y="15000"/>
                    <a:pt x="4899" y="15109"/>
                  </a:cubicBezTo>
                  <a:cubicBezTo>
                    <a:pt x="4955" y="15218"/>
                    <a:pt x="4955" y="15327"/>
                    <a:pt x="4955" y="15382"/>
                  </a:cubicBezTo>
                  <a:cubicBezTo>
                    <a:pt x="4955" y="15436"/>
                    <a:pt x="4955" y="15436"/>
                    <a:pt x="4955" y="15436"/>
                  </a:cubicBezTo>
                  <a:cubicBezTo>
                    <a:pt x="4955" y="15491"/>
                    <a:pt x="4899" y="15545"/>
                    <a:pt x="4899" y="15545"/>
                  </a:cubicBezTo>
                  <a:cubicBezTo>
                    <a:pt x="4899" y="15709"/>
                    <a:pt x="4899" y="15873"/>
                    <a:pt x="4955" y="16036"/>
                  </a:cubicBezTo>
                  <a:cubicBezTo>
                    <a:pt x="5010" y="16091"/>
                    <a:pt x="5010" y="16145"/>
                    <a:pt x="5010" y="16145"/>
                  </a:cubicBezTo>
                  <a:cubicBezTo>
                    <a:pt x="5066" y="16255"/>
                    <a:pt x="5122" y="16364"/>
                    <a:pt x="5122" y="16418"/>
                  </a:cubicBezTo>
                  <a:cubicBezTo>
                    <a:pt x="5122" y="16473"/>
                    <a:pt x="5122" y="16527"/>
                    <a:pt x="5122" y="16527"/>
                  </a:cubicBezTo>
                  <a:cubicBezTo>
                    <a:pt x="5066" y="16636"/>
                    <a:pt x="5066" y="16800"/>
                    <a:pt x="5177" y="16909"/>
                  </a:cubicBezTo>
                  <a:cubicBezTo>
                    <a:pt x="5233" y="16964"/>
                    <a:pt x="5233" y="17018"/>
                    <a:pt x="5289" y="17073"/>
                  </a:cubicBezTo>
                  <a:cubicBezTo>
                    <a:pt x="5400" y="17127"/>
                    <a:pt x="5400" y="17182"/>
                    <a:pt x="5400" y="17236"/>
                  </a:cubicBezTo>
                  <a:cubicBezTo>
                    <a:pt x="5400" y="17291"/>
                    <a:pt x="5400" y="17291"/>
                    <a:pt x="5344" y="17345"/>
                  </a:cubicBezTo>
                  <a:cubicBezTo>
                    <a:pt x="5289" y="17455"/>
                    <a:pt x="5233" y="17564"/>
                    <a:pt x="5289" y="17673"/>
                  </a:cubicBezTo>
                  <a:cubicBezTo>
                    <a:pt x="5289" y="17782"/>
                    <a:pt x="5344" y="17836"/>
                    <a:pt x="5400" y="17945"/>
                  </a:cubicBezTo>
                  <a:cubicBezTo>
                    <a:pt x="5456" y="18000"/>
                    <a:pt x="5456" y="18055"/>
                    <a:pt x="5456" y="18109"/>
                  </a:cubicBezTo>
                  <a:cubicBezTo>
                    <a:pt x="5511" y="18164"/>
                    <a:pt x="5511" y="18218"/>
                    <a:pt x="5511" y="18273"/>
                  </a:cubicBezTo>
                  <a:cubicBezTo>
                    <a:pt x="5511" y="18382"/>
                    <a:pt x="5511" y="18491"/>
                    <a:pt x="5567" y="18600"/>
                  </a:cubicBezTo>
                  <a:cubicBezTo>
                    <a:pt x="5623" y="18709"/>
                    <a:pt x="5678" y="18873"/>
                    <a:pt x="5790" y="18982"/>
                  </a:cubicBezTo>
                  <a:cubicBezTo>
                    <a:pt x="5845" y="19091"/>
                    <a:pt x="5901" y="19145"/>
                    <a:pt x="5957" y="19200"/>
                  </a:cubicBezTo>
                  <a:cubicBezTo>
                    <a:pt x="5957" y="19200"/>
                    <a:pt x="5957" y="19255"/>
                    <a:pt x="5957" y="19255"/>
                  </a:cubicBezTo>
                  <a:cubicBezTo>
                    <a:pt x="6012" y="19309"/>
                    <a:pt x="6012" y="19364"/>
                    <a:pt x="6012" y="19418"/>
                  </a:cubicBezTo>
                  <a:cubicBezTo>
                    <a:pt x="6012" y="19418"/>
                    <a:pt x="6068" y="19473"/>
                    <a:pt x="6068" y="19527"/>
                  </a:cubicBezTo>
                  <a:cubicBezTo>
                    <a:pt x="6124" y="19527"/>
                    <a:pt x="6124" y="19582"/>
                    <a:pt x="6124" y="19582"/>
                  </a:cubicBezTo>
                  <a:cubicBezTo>
                    <a:pt x="6179" y="19636"/>
                    <a:pt x="6179" y="19636"/>
                    <a:pt x="6179" y="19691"/>
                  </a:cubicBezTo>
                  <a:cubicBezTo>
                    <a:pt x="6179" y="19745"/>
                    <a:pt x="6235" y="19800"/>
                    <a:pt x="6235" y="19855"/>
                  </a:cubicBezTo>
                  <a:cubicBezTo>
                    <a:pt x="6346" y="19964"/>
                    <a:pt x="6402" y="20073"/>
                    <a:pt x="6513" y="20127"/>
                  </a:cubicBezTo>
                  <a:cubicBezTo>
                    <a:pt x="6569" y="20182"/>
                    <a:pt x="6625" y="20236"/>
                    <a:pt x="6680" y="20236"/>
                  </a:cubicBezTo>
                  <a:cubicBezTo>
                    <a:pt x="6792" y="20345"/>
                    <a:pt x="6847" y="20509"/>
                    <a:pt x="6959" y="20618"/>
                  </a:cubicBezTo>
                  <a:cubicBezTo>
                    <a:pt x="7014" y="20727"/>
                    <a:pt x="7126" y="20782"/>
                    <a:pt x="7237" y="20891"/>
                  </a:cubicBezTo>
                  <a:cubicBezTo>
                    <a:pt x="7293" y="20891"/>
                    <a:pt x="7293" y="20891"/>
                    <a:pt x="7293" y="20891"/>
                  </a:cubicBezTo>
                  <a:cubicBezTo>
                    <a:pt x="7348" y="20891"/>
                    <a:pt x="7348" y="20891"/>
                    <a:pt x="7348" y="20891"/>
                  </a:cubicBezTo>
                  <a:cubicBezTo>
                    <a:pt x="7404" y="20891"/>
                    <a:pt x="7460" y="20891"/>
                    <a:pt x="7515" y="20891"/>
                  </a:cubicBezTo>
                  <a:cubicBezTo>
                    <a:pt x="7571" y="20836"/>
                    <a:pt x="7571" y="20836"/>
                    <a:pt x="7627" y="20836"/>
                  </a:cubicBezTo>
                  <a:cubicBezTo>
                    <a:pt x="7849" y="20782"/>
                    <a:pt x="7905" y="20782"/>
                    <a:pt x="7961" y="20509"/>
                  </a:cubicBezTo>
                  <a:cubicBezTo>
                    <a:pt x="8072" y="20236"/>
                    <a:pt x="8184" y="19964"/>
                    <a:pt x="8518" y="19964"/>
                  </a:cubicBezTo>
                  <a:cubicBezTo>
                    <a:pt x="8518" y="19964"/>
                    <a:pt x="8573" y="19964"/>
                    <a:pt x="8573" y="19964"/>
                  </a:cubicBezTo>
                  <a:cubicBezTo>
                    <a:pt x="8573" y="19964"/>
                    <a:pt x="8629" y="19964"/>
                    <a:pt x="8629" y="19964"/>
                  </a:cubicBezTo>
                  <a:cubicBezTo>
                    <a:pt x="8685" y="20127"/>
                    <a:pt x="8740" y="20182"/>
                    <a:pt x="8852" y="20236"/>
                  </a:cubicBezTo>
                  <a:cubicBezTo>
                    <a:pt x="8907" y="20236"/>
                    <a:pt x="8963" y="20291"/>
                    <a:pt x="9019" y="20400"/>
                  </a:cubicBezTo>
                  <a:cubicBezTo>
                    <a:pt x="9074" y="20455"/>
                    <a:pt x="9019" y="20509"/>
                    <a:pt x="9019" y="20564"/>
                  </a:cubicBezTo>
                  <a:cubicBezTo>
                    <a:pt x="9019" y="20618"/>
                    <a:pt x="9019" y="20618"/>
                    <a:pt x="8963" y="20673"/>
                  </a:cubicBezTo>
                  <a:cubicBezTo>
                    <a:pt x="8963" y="20727"/>
                    <a:pt x="8963" y="20727"/>
                    <a:pt x="8963" y="20782"/>
                  </a:cubicBezTo>
                  <a:cubicBezTo>
                    <a:pt x="8963" y="20836"/>
                    <a:pt x="8963" y="20836"/>
                    <a:pt x="8963" y="20836"/>
                  </a:cubicBezTo>
                  <a:cubicBezTo>
                    <a:pt x="8963" y="20836"/>
                    <a:pt x="8963" y="20836"/>
                    <a:pt x="8963" y="20836"/>
                  </a:cubicBezTo>
                  <a:cubicBezTo>
                    <a:pt x="8963" y="20891"/>
                    <a:pt x="9019" y="20945"/>
                    <a:pt x="9019" y="20945"/>
                  </a:cubicBezTo>
                  <a:cubicBezTo>
                    <a:pt x="9130" y="21164"/>
                    <a:pt x="9186" y="21164"/>
                    <a:pt x="9408" y="21218"/>
                  </a:cubicBezTo>
                  <a:cubicBezTo>
                    <a:pt x="9464" y="21218"/>
                    <a:pt x="9520" y="21218"/>
                    <a:pt x="9520" y="21218"/>
                  </a:cubicBezTo>
                  <a:cubicBezTo>
                    <a:pt x="9854" y="21218"/>
                    <a:pt x="9854" y="21273"/>
                    <a:pt x="9965" y="21491"/>
                  </a:cubicBezTo>
                  <a:cubicBezTo>
                    <a:pt x="9965" y="21545"/>
                    <a:pt x="9965" y="21545"/>
                    <a:pt x="9965" y="21545"/>
                  </a:cubicBezTo>
                  <a:cubicBezTo>
                    <a:pt x="10076" y="21545"/>
                    <a:pt x="10076" y="21545"/>
                    <a:pt x="10076" y="21545"/>
                  </a:cubicBezTo>
                  <a:cubicBezTo>
                    <a:pt x="10188" y="21545"/>
                    <a:pt x="10243" y="21545"/>
                    <a:pt x="10355" y="21491"/>
                  </a:cubicBezTo>
                  <a:cubicBezTo>
                    <a:pt x="10410" y="21491"/>
                    <a:pt x="10466" y="21491"/>
                    <a:pt x="10577" y="21491"/>
                  </a:cubicBezTo>
                  <a:cubicBezTo>
                    <a:pt x="10689" y="21436"/>
                    <a:pt x="10856" y="21436"/>
                    <a:pt x="11023" y="21436"/>
                  </a:cubicBezTo>
                  <a:cubicBezTo>
                    <a:pt x="11078" y="21436"/>
                    <a:pt x="11134" y="21436"/>
                    <a:pt x="11190" y="21436"/>
                  </a:cubicBezTo>
                  <a:cubicBezTo>
                    <a:pt x="11190" y="21436"/>
                    <a:pt x="11190" y="21436"/>
                    <a:pt x="11190" y="21436"/>
                  </a:cubicBezTo>
                  <a:cubicBezTo>
                    <a:pt x="11301" y="21436"/>
                    <a:pt x="11357" y="21436"/>
                    <a:pt x="11412" y="21491"/>
                  </a:cubicBezTo>
                  <a:cubicBezTo>
                    <a:pt x="11468" y="21545"/>
                    <a:pt x="11524" y="21600"/>
                    <a:pt x="11579" y="21600"/>
                  </a:cubicBezTo>
                  <a:cubicBezTo>
                    <a:pt x="11635" y="21600"/>
                    <a:pt x="11635" y="21600"/>
                    <a:pt x="11691" y="21600"/>
                  </a:cubicBezTo>
                  <a:cubicBezTo>
                    <a:pt x="11691" y="21600"/>
                    <a:pt x="11746" y="21600"/>
                    <a:pt x="11802" y="21545"/>
                  </a:cubicBezTo>
                  <a:cubicBezTo>
                    <a:pt x="11858" y="21491"/>
                    <a:pt x="11858" y="21327"/>
                    <a:pt x="11858" y="21218"/>
                  </a:cubicBezTo>
                  <a:cubicBezTo>
                    <a:pt x="11913" y="21218"/>
                    <a:pt x="11969" y="21218"/>
                    <a:pt x="12025" y="21164"/>
                  </a:cubicBezTo>
                  <a:cubicBezTo>
                    <a:pt x="12080" y="21164"/>
                    <a:pt x="12136" y="21164"/>
                    <a:pt x="12192" y="21109"/>
                  </a:cubicBezTo>
                  <a:cubicBezTo>
                    <a:pt x="12247" y="21055"/>
                    <a:pt x="12247" y="21000"/>
                    <a:pt x="12247" y="20945"/>
                  </a:cubicBezTo>
                  <a:cubicBezTo>
                    <a:pt x="12247" y="20945"/>
                    <a:pt x="12247" y="20891"/>
                    <a:pt x="12359" y="20836"/>
                  </a:cubicBezTo>
                  <a:cubicBezTo>
                    <a:pt x="12470" y="20782"/>
                    <a:pt x="12581" y="20727"/>
                    <a:pt x="12748" y="20727"/>
                  </a:cubicBezTo>
                  <a:cubicBezTo>
                    <a:pt x="12804" y="20673"/>
                    <a:pt x="12915" y="20673"/>
                    <a:pt x="12971" y="20618"/>
                  </a:cubicBezTo>
                  <a:cubicBezTo>
                    <a:pt x="13027" y="20618"/>
                    <a:pt x="13027" y="20618"/>
                    <a:pt x="13027" y="20618"/>
                  </a:cubicBezTo>
                  <a:cubicBezTo>
                    <a:pt x="13249" y="9055"/>
                    <a:pt x="13249" y="9055"/>
                    <a:pt x="13249" y="9055"/>
                  </a:cubicBezTo>
                  <a:cubicBezTo>
                    <a:pt x="14753" y="9055"/>
                    <a:pt x="14753" y="9055"/>
                    <a:pt x="14753" y="9055"/>
                  </a:cubicBezTo>
                  <a:cubicBezTo>
                    <a:pt x="14753" y="2509"/>
                    <a:pt x="14753" y="2509"/>
                    <a:pt x="14753" y="2509"/>
                  </a:cubicBezTo>
                  <a:cubicBezTo>
                    <a:pt x="16089" y="2400"/>
                    <a:pt x="16089" y="2400"/>
                    <a:pt x="16089" y="2400"/>
                  </a:cubicBezTo>
                  <a:cubicBezTo>
                    <a:pt x="18538" y="1800"/>
                    <a:pt x="18538" y="1800"/>
                    <a:pt x="18538" y="1800"/>
                  </a:cubicBezTo>
                  <a:cubicBezTo>
                    <a:pt x="19095" y="2727"/>
                    <a:pt x="19095" y="2727"/>
                    <a:pt x="19095" y="2727"/>
                  </a:cubicBezTo>
                  <a:cubicBezTo>
                    <a:pt x="19206" y="2673"/>
                    <a:pt x="19206" y="2673"/>
                    <a:pt x="19206" y="2673"/>
                  </a:cubicBezTo>
                  <a:cubicBezTo>
                    <a:pt x="19373" y="2509"/>
                    <a:pt x="19540" y="2345"/>
                    <a:pt x="19707" y="2236"/>
                  </a:cubicBezTo>
                  <a:cubicBezTo>
                    <a:pt x="19763" y="2236"/>
                    <a:pt x="19819" y="2182"/>
                    <a:pt x="19819" y="2127"/>
                  </a:cubicBezTo>
                  <a:cubicBezTo>
                    <a:pt x="19930" y="2073"/>
                    <a:pt x="20097" y="1964"/>
                    <a:pt x="20208" y="1909"/>
                  </a:cubicBezTo>
                  <a:cubicBezTo>
                    <a:pt x="20208" y="1909"/>
                    <a:pt x="20264" y="1909"/>
                    <a:pt x="20264" y="1909"/>
                  </a:cubicBezTo>
                  <a:cubicBezTo>
                    <a:pt x="20320" y="1909"/>
                    <a:pt x="20375" y="1909"/>
                    <a:pt x="20431" y="1964"/>
                  </a:cubicBezTo>
                  <a:cubicBezTo>
                    <a:pt x="20431" y="1964"/>
                    <a:pt x="20487" y="2018"/>
                    <a:pt x="20542" y="2018"/>
                  </a:cubicBezTo>
                  <a:cubicBezTo>
                    <a:pt x="20598" y="2073"/>
                    <a:pt x="20598" y="2073"/>
                    <a:pt x="20598" y="2073"/>
                  </a:cubicBezTo>
                  <a:cubicBezTo>
                    <a:pt x="20654" y="1964"/>
                    <a:pt x="20654" y="1964"/>
                    <a:pt x="20654" y="1964"/>
                  </a:cubicBezTo>
                  <a:cubicBezTo>
                    <a:pt x="20709" y="1800"/>
                    <a:pt x="20876" y="1745"/>
                    <a:pt x="20988" y="1691"/>
                  </a:cubicBezTo>
                  <a:cubicBezTo>
                    <a:pt x="21043" y="1636"/>
                    <a:pt x="21155" y="1636"/>
                    <a:pt x="21266" y="1636"/>
                  </a:cubicBezTo>
                  <a:cubicBezTo>
                    <a:pt x="21377" y="1636"/>
                    <a:pt x="21433" y="1636"/>
                    <a:pt x="21489" y="1582"/>
                  </a:cubicBezTo>
                  <a:cubicBezTo>
                    <a:pt x="21544" y="1582"/>
                    <a:pt x="21544" y="1527"/>
                    <a:pt x="21600" y="1473"/>
                  </a:cubicBezTo>
                  <a:cubicBezTo>
                    <a:pt x="21600" y="1473"/>
                    <a:pt x="21600" y="1473"/>
                    <a:pt x="21600" y="1473"/>
                  </a:cubicBezTo>
                  <a:lnTo>
                    <a:pt x="21600" y="1418"/>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56" name="Shape">
              <a:extLst>
                <a:ext uri="{FF2B5EF4-FFF2-40B4-BE49-F238E27FC236}">
                  <a16:creationId xmlns:a16="http://schemas.microsoft.com/office/drawing/2014/main" id="{673C7821-3B80-4C41-99F2-B185CAA1363C}"/>
                </a:ext>
              </a:extLst>
            </p:cNvPr>
            <p:cNvSpPr/>
            <p:nvPr/>
          </p:nvSpPr>
          <p:spPr>
            <a:xfrm>
              <a:off x="4087761" y="3979098"/>
              <a:ext cx="839283" cy="1034765"/>
            </a:xfrm>
            <a:custGeom>
              <a:avLst/>
              <a:gdLst/>
              <a:ahLst/>
              <a:cxnLst>
                <a:cxn ang="0">
                  <a:pos x="wd2" y="hd2"/>
                </a:cxn>
                <a:cxn ang="5400000">
                  <a:pos x="wd2" y="hd2"/>
                </a:cxn>
                <a:cxn ang="10800000">
                  <a:pos x="wd2" y="hd2"/>
                </a:cxn>
                <a:cxn ang="16200000">
                  <a:pos x="wd2" y="hd2"/>
                </a:cxn>
              </a:cxnLst>
              <a:rect l="0" t="0" r="r" b="b"/>
              <a:pathLst>
                <a:path w="21394" h="21600" extrusionOk="0">
                  <a:moveTo>
                    <a:pt x="21303" y="448"/>
                  </a:moveTo>
                  <a:cubicBezTo>
                    <a:pt x="21204" y="374"/>
                    <a:pt x="21204" y="374"/>
                    <a:pt x="21204" y="374"/>
                  </a:cubicBezTo>
                  <a:cubicBezTo>
                    <a:pt x="21105" y="374"/>
                    <a:pt x="21105" y="374"/>
                    <a:pt x="21105" y="374"/>
                  </a:cubicBezTo>
                  <a:cubicBezTo>
                    <a:pt x="21006" y="374"/>
                    <a:pt x="21006" y="374"/>
                    <a:pt x="20906" y="374"/>
                  </a:cubicBezTo>
                  <a:cubicBezTo>
                    <a:pt x="20708" y="374"/>
                    <a:pt x="20609" y="374"/>
                    <a:pt x="20411" y="374"/>
                  </a:cubicBezTo>
                  <a:cubicBezTo>
                    <a:pt x="20312" y="374"/>
                    <a:pt x="20213" y="374"/>
                    <a:pt x="20015" y="374"/>
                  </a:cubicBezTo>
                  <a:cubicBezTo>
                    <a:pt x="19817" y="374"/>
                    <a:pt x="19519" y="374"/>
                    <a:pt x="19321" y="299"/>
                  </a:cubicBezTo>
                  <a:cubicBezTo>
                    <a:pt x="19222" y="224"/>
                    <a:pt x="19123" y="224"/>
                    <a:pt x="19024" y="149"/>
                  </a:cubicBezTo>
                  <a:cubicBezTo>
                    <a:pt x="18826" y="75"/>
                    <a:pt x="18528" y="0"/>
                    <a:pt x="18330" y="0"/>
                  </a:cubicBezTo>
                  <a:cubicBezTo>
                    <a:pt x="18132" y="0"/>
                    <a:pt x="18033" y="75"/>
                    <a:pt x="17835" y="149"/>
                  </a:cubicBezTo>
                  <a:cubicBezTo>
                    <a:pt x="17736" y="224"/>
                    <a:pt x="17538" y="224"/>
                    <a:pt x="17439" y="299"/>
                  </a:cubicBezTo>
                  <a:cubicBezTo>
                    <a:pt x="17141" y="374"/>
                    <a:pt x="16943" y="374"/>
                    <a:pt x="16745" y="374"/>
                  </a:cubicBezTo>
                  <a:cubicBezTo>
                    <a:pt x="16250" y="374"/>
                    <a:pt x="15952" y="374"/>
                    <a:pt x="15655" y="897"/>
                  </a:cubicBezTo>
                  <a:cubicBezTo>
                    <a:pt x="15457" y="1196"/>
                    <a:pt x="15457" y="1495"/>
                    <a:pt x="15358" y="1794"/>
                  </a:cubicBezTo>
                  <a:cubicBezTo>
                    <a:pt x="15259" y="2018"/>
                    <a:pt x="15259" y="2242"/>
                    <a:pt x="15160" y="2466"/>
                  </a:cubicBezTo>
                  <a:cubicBezTo>
                    <a:pt x="15061" y="2691"/>
                    <a:pt x="14862" y="2915"/>
                    <a:pt x="14763" y="3139"/>
                  </a:cubicBezTo>
                  <a:cubicBezTo>
                    <a:pt x="14664" y="3214"/>
                    <a:pt x="14664" y="3289"/>
                    <a:pt x="14664" y="3363"/>
                  </a:cubicBezTo>
                  <a:cubicBezTo>
                    <a:pt x="14565" y="3513"/>
                    <a:pt x="14466" y="3662"/>
                    <a:pt x="14367" y="3737"/>
                  </a:cubicBezTo>
                  <a:cubicBezTo>
                    <a:pt x="14169" y="3737"/>
                    <a:pt x="14169" y="3737"/>
                    <a:pt x="14169" y="3737"/>
                  </a:cubicBezTo>
                  <a:cubicBezTo>
                    <a:pt x="14268" y="3887"/>
                    <a:pt x="14268" y="3887"/>
                    <a:pt x="14268" y="3887"/>
                  </a:cubicBezTo>
                  <a:cubicBezTo>
                    <a:pt x="14268" y="4111"/>
                    <a:pt x="14367" y="4335"/>
                    <a:pt x="14268" y="4559"/>
                  </a:cubicBezTo>
                  <a:cubicBezTo>
                    <a:pt x="14169" y="4634"/>
                    <a:pt x="14169" y="4709"/>
                    <a:pt x="14070" y="4709"/>
                  </a:cubicBezTo>
                  <a:cubicBezTo>
                    <a:pt x="14070" y="4709"/>
                    <a:pt x="14070" y="4709"/>
                    <a:pt x="14070" y="4709"/>
                  </a:cubicBezTo>
                  <a:cubicBezTo>
                    <a:pt x="13872" y="4709"/>
                    <a:pt x="13673" y="4634"/>
                    <a:pt x="13475" y="4484"/>
                  </a:cubicBezTo>
                  <a:cubicBezTo>
                    <a:pt x="13475" y="4410"/>
                    <a:pt x="13376" y="4410"/>
                    <a:pt x="13277" y="4335"/>
                  </a:cubicBezTo>
                  <a:cubicBezTo>
                    <a:pt x="12980" y="4185"/>
                    <a:pt x="12683" y="4185"/>
                    <a:pt x="12484" y="4185"/>
                  </a:cubicBezTo>
                  <a:cubicBezTo>
                    <a:pt x="12286" y="4185"/>
                    <a:pt x="12187" y="4185"/>
                    <a:pt x="12088" y="4185"/>
                  </a:cubicBezTo>
                  <a:cubicBezTo>
                    <a:pt x="11989" y="4185"/>
                    <a:pt x="11890" y="4185"/>
                    <a:pt x="11692" y="4185"/>
                  </a:cubicBezTo>
                  <a:cubicBezTo>
                    <a:pt x="11593" y="4185"/>
                    <a:pt x="11593" y="4185"/>
                    <a:pt x="11593" y="4185"/>
                  </a:cubicBezTo>
                  <a:cubicBezTo>
                    <a:pt x="11295" y="4185"/>
                    <a:pt x="10998" y="4036"/>
                    <a:pt x="10602" y="3961"/>
                  </a:cubicBezTo>
                  <a:cubicBezTo>
                    <a:pt x="10404" y="3887"/>
                    <a:pt x="10206" y="3812"/>
                    <a:pt x="10007" y="3737"/>
                  </a:cubicBezTo>
                  <a:cubicBezTo>
                    <a:pt x="9710" y="3737"/>
                    <a:pt x="9413" y="3662"/>
                    <a:pt x="8917" y="3662"/>
                  </a:cubicBezTo>
                  <a:cubicBezTo>
                    <a:pt x="8719" y="3662"/>
                    <a:pt x="8521" y="3662"/>
                    <a:pt x="8224" y="3662"/>
                  </a:cubicBezTo>
                  <a:cubicBezTo>
                    <a:pt x="8026" y="3737"/>
                    <a:pt x="7828" y="3737"/>
                    <a:pt x="7629" y="3737"/>
                  </a:cubicBezTo>
                  <a:cubicBezTo>
                    <a:pt x="7332" y="3737"/>
                    <a:pt x="7134" y="3737"/>
                    <a:pt x="6936" y="3662"/>
                  </a:cubicBezTo>
                  <a:cubicBezTo>
                    <a:pt x="6936" y="3662"/>
                    <a:pt x="6936" y="3662"/>
                    <a:pt x="6837" y="3662"/>
                  </a:cubicBezTo>
                  <a:cubicBezTo>
                    <a:pt x="6837" y="3662"/>
                    <a:pt x="6837" y="3662"/>
                    <a:pt x="6738" y="3662"/>
                  </a:cubicBezTo>
                  <a:cubicBezTo>
                    <a:pt x="6639" y="3662"/>
                    <a:pt x="6639" y="3662"/>
                    <a:pt x="6539" y="3662"/>
                  </a:cubicBezTo>
                  <a:cubicBezTo>
                    <a:pt x="6539" y="3662"/>
                    <a:pt x="6440" y="3662"/>
                    <a:pt x="6341" y="3662"/>
                  </a:cubicBezTo>
                  <a:cubicBezTo>
                    <a:pt x="6242" y="3662"/>
                    <a:pt x="6242" y="3662"/>
                    <a:pt x="6242" y="3662"/>
                  </a:cubicBezTo>
                  <a:cubicBezTo>
                    <a:pt x="6242" y="3662"/>
                    <a:pt x="6242" y="3662"/>
                    <a:pt x="6242" y="3662"/>
                  </a:cubicBezTo>
                  <a:cubicBezTo>
                    <a:pt x="6143" y="3662"/>
                    <a:pt x="5945" y="3737"/>
                    <a:pt x="5747" y="4111"/>
                  </a:cubicBezTo>
                  <a:cubicBezTo>
                    <a:pt x="5648" y="4410"/>
                    <a:pt x="5549" y="4709"/>
                    <a:pt x="5648" y="5008"/>
                  </a:cubicBezTo>
                  <a:cubicBezTo>
                    <a:pt x="5648" y="5082"/>
                    <a:pt x="5648" y="5082"/>
                    <a:pt x="5648" y="5082"/>
                  </a:cubicBezTo>
                  <a:cubicBezTo>
                    <a:pt x="5648" y="5157"/>
                    <a:pt x="5648" y="5232"/>
                    <a:pt x="5747" y="5307"/>
                  </a:cubicBezTo>
                  <a:cubicBezTo>
                    <a:pt x="5747" y="5381"/>
                    <a:pt x="5747" y="5381"/>
                    <a:pt x="5846" y="5456"/>
                  </a:cubicBezTo>
                  <a:cubicBezTo>
                    <a:pt x="5846" y="5531"/>
                    <a:pt x="5945" y="5531"/>
                    <a:pt x="5945" y="5606"/>
                  </a:cubicBezTo>
                  <a:cubicBezTo>
                    <a:pt x="5945" y="5680"/>
                    <a:pt x="5846" y="5755"/>
                    <a:pt x="5747" y="5830"/>
                  </a:cubicBezTo>
                  <a:cubicBezTo>
                    <a:pt x="5152" y="6129"/>
                    <a:pt x="5152" y="6129"/>
                    <a:pt x="5152" y="6129"/>
                  </a:cubicBezTo>
                  <a:cubicBezTo>
                    <a:pt x="5846" y="6054"/>
                    <a:pt x="5846" y="6054"/>
                    <a:pt x="5846" y="6054"/>
                  </a:cubicBezTo>
                  <a:cubicBezTo>
                    <a:pt x="6143" y="6054"/>
                    <a:pt x="6936" y="5830"/>
                    <a:pt x="7233" y="5680"/>
                  </a:cubicBezTo>
                  <a:cubicBezTo>
                    <a:pt x="7431" y="5606"/>
                    <a:pt x="7728" y="5531"/>
                    <a:pt x="7927" y="5531"/>
                  </a:cubicBezTo>
                  <a:cubicBezTo>
                    <a:pt x="8224" y="5531"/>
                    <a:pt x="8521" y="5606"/>
                    <a:pt x="8719" y="5755"/>
                  </a:cubicBezTo>
                  <a:cubicBezTo>
                    <a:pt x="8818" y="5904"/>
                    <a:pt x="8917" y="6054"/>
                    <a:pt x="9017" y="6203"/>
                  </a:cubicBezTo>
                  <a:cubicBezTo>
                    <a:pt x="9116" y="6428"/>
                    <a:pt x="9314" y="6652"/>
                    <a:pt x="9512" y="6727"/>
                  </a:cubicBezTo>
                  <a:cubicBezTo>
                    <a:pt x="9512" y="6876"/>
                    <a:pt x="9512" y="6951"/>
                    <a:pt x="9413" y="7026"/>
                  </a:cubicBezTo>
                  <a:cubicBezTo>
                    <a:pt x="9314" y="7026"/>
                    <a:pt x="9314" y="7100"/>
                    <a:pt x="9314" y="7175"/>
                  </a:cubicBezTo>
                  <a:cubicBezTo>
                    <a:pt x="9314" y="7175"/>
                    <a:pt x="9314" y="7250"/>
                    <a:pt x="9215" y="7250"/>
                  </a:cubicBezTo>
                  <a:cubicBezTo>
                    <a:pt x="9215" y="7325"/>
                    <a:pt x="9116" y="7325"/>
                    <a:pt x="9116" y="7325"/>
                  </a:cubicBezTo>
                  <a:cubicBezTo>
                    <a:pt x="9017" y="7399"/>
                    <a:pt x="9017" y="7399"/>
                    <a:pt x="9017" y="7399"/>
                  </a:cubicBezTo>
                  <a:cubicBezTo>
                    <a:pt x="8917" y="7474"/>
                    <a:pt x="8917" y="7549"/>
                    <a:pt x="8818" y="7549"/>
                  </a:cubicBezTo>
                  <a:cubicBezTo>
                    <a:pt x="8719" y="7624"/>
                    <a:pt x="8719" y="7698"/>
                    <a:pt x="8521" y="7773"/>
                  </a:cubicBezTo>
                  <a:cubicBezTo>
                    <a:pt x="8125" y="8072"/>
                    <a:pt x="8026" y="8371"/>
                    <a:pt x="8026" y="8670"/>
                  </a:cubicBezTo>
                  <a:cubicBezTo>
                    <a:pt x="8026" y="8894"/>
                    <a:pt x="7927" y="9044"/>
                    <a:pt x="7927" y="9193"/>
                  </a:cubicBezTo>
                  <a:cubicBezTo>
                    <a:pt x="7828" y="9343"/>
                    <a:pt x="7828" y="9492"/>
                    <a:pt x="7828" y="9567"/>
                  </a:cubicBezTo>
                  <a:cubicBezTo>
                    <a:pt x="7828" y="9716"/>
                    <a:pt x="7828" y="9716"/>
                    <a:pt x="7828" y="9716"/>
                  </a:cubicBezTo>
                  <a:cubicBezTo>
                    <a:pt x="8026" y="9716"/>
                    <a:pt x="8026" y="9716"/>
                    <a:pt x="8026" y="9716"/>
                  </a:cubicBezTo>
                  <a:cubicBezTo>
                    <a:pt x="8125" y="9716"/>
                    <a:pt x="8224" y="9716"/>
                    <a:pt x="8224" y="9716"/>
                  </a:cubicBezTo>
                  <a:cubicBezTo>
                    <a:pt x="8422" y="9716"/>
                    <a:pt x="8521" y="9716"/>
                    <a:pt x="8521" y="9791"/>
                  </a:cubicBezTo>
                  <a:cubicBezTo>
                    <a:pt x="8620" y="9866"/>
                    <a:pt x="8719" y="10015"/>
                    <a:pt x="8719" y="10090"/>
                  </a:cubicBezTo>
                  <a:cubicBezTo>
                    <a:pt x="8818" y="10239"/>
                    <a:pt x="8818" y="10239"/>
                    <a:pt x="8818" y="10239"/>
                  </a:cubicBezTo>
                  <a:cubicBezTo>
                    <a:pt x="8917" y="10239"/>
                    <a:pt x="8917" y="10239"/>
                    <a:pt x="8917" y="10239"/>
                  </a:cubicBezTo>
                  <a:cubicBezTo>
                    <a:pt x="9017" y="10239"/>
                    <a:pt x="9413" y="10314"/>
                    <a:pt x="9512" y="10464"/>
                  </a:cubicBezTo>
                  <a:cubicBezTo>
                    <a:pt x="9611" y="10538"/>
                    <a:pt x="9710" y="10688"/>
                    <a:pt x="9611" y="10763"/>
                  </a:cubicBezTo>
                  <a:cubicBezTo>
                    <a:pt x="9611" y="10912"/>
                    <a:pt x="9512" y="10987"/>
                    <a:pt x="9512" y="11136"/>
                  </a:cubicBezTo>
                  <a:cubicBezTo>
                    <a:pt x="9413" y="11286"/>
                    <a:pt x="9314" y="11435"/>
                    <a:pt x="9413" y="11660"/>
                  </a:cubicBezTo>
                  <a:cubicBezTo>
                    <a:pt x="9512" y="11958"/>
                    <a:pt x="9512" y="12183"/>
                    <a:pt x="9413" y="12482"/>
                  </a:cubicBezTo>
                  <a:cubicBezTo>
                    <a:pt x="9314" y="12706"/>
                    <a:pt x="9314" y="12930"/>
                    <a:pt x="9413" y="13080"/>
                  </a:cubicBezTo>
                  <a:cubicBezTo>
                    <a:pt x="9413" y="13229"/>
                    <a:pt x="9413" y="13304"/>
                    <a:pt x="9413" y="13453"/>
                  </a:cubicBezTo>
                  <a:cubicBezTo>
                    <a:pt x="9413" y="13603"/>
                    <a:pt x="9215" y="13752"/>
                    <a:pt x="9116" y="13902"/>
                  </a:cubicBezTo>
                  <a:cubicBezTo>
                    <a:pt x="9017" y="13976"/>
                    <a:pt x="9017" y="14051"/>
                    <a:pt x="8917" y="14126"/>
                  </a:cubicBezTo>
                  <a:cubicBezTo>
                    <a:pt x="8818" y="14201"/>
                    <a:pt x="8818" y="14350"/>
                    <a:pt x="8818" y="14500"/>
                  </a:cubicBezTo>
                  <a:cubicBezTo>
                    <a:pt x="8818" y="14649"/>
                    <a:pt x="8719" y="14873"/>
                    <a:pt x="8620" y="15023"/>
                  </a:cubicBezTo>
                  <a:cubicBezTo>
                    <a:pt x="8521" y="15098"/>
                    <a:pt x="8422" y="15172"/>
                    <a:pt x="8323" y="15172"/>
                  </a:cubicBezTo>
                  <a:cubicBezTo>
                    <a:pt x="8323" y="15172"/>
                    <a:pt x="8323" y="15172"/>
                    <a:pt x="8323" y="15172"/>
                  </a:cubicBezTo>
                  <a:cubicBezTo>
                    <a:pt x="8224" y="15098"/>
                    <a:pt x="8026" y="15023"/>
                    <a:pt x="8026" y="14873"/>
                  </a:cubicBezTo>
                  <a:cubicBezTo>
                    <a:pt x="7927" y="14649"/>
                    <a:pt x="7828" y="14425"/>
                    <a:pt x="7629" y="14425"/>
                  </a:cubicBezTo>
                  <a:cubicBezTo>
                    <a:pt x="7629" y="14350"/>
                    <a:pt x="7530" y="14350"/>
                    <a:pt x="7530" y="14350"/>
                  </a:cubicBezTo>
                  <a:cubicBezTo>
                    <a:pt x="7431" y="14350"/>
                    <a:pt x="7332" y="14350"/>
                    <a:pt x="7332" y="14425"/>
                  </a:cubicBezTo>
                  <a:cubicBezTo>
                    <a:pt x="7134" y="14500"/>
                    <a:pt x="7035" y="14574"/>
                    <a:pt x="7035" y="14724"/>
                  </a:cubicBezTo>
                  <a:cubicBezTo>
                    <a:pt x="6936" y="14873"/>
                    <a:pt x="6837" y="14948"/>
                    <a:pt x="6639" y="14948"/>
                  </a:cubicBezTo>
                  <a:cubicBezTo>
                    <a:pt x="6639" y="14948"/>
                    <a:pt x="6539" y="14948"/>
                    <a:pt x="6539" y="14948"/>
                  </a:cubicBezTo>
                  <a:cubicBezTo>
                    <a:pt x="6440" y="14948"/>
                    <a:pt x="6242" y="14948"/>
                    <a:pt x="6044" y="14873"/>
                  </a:cubicBezTo>
                  <a:cubicBezTo>
                    <a:pt x="5846" y="14873"/>
                    <a:pt x="5648" y="14799"/>
                    <a:pt x="5549" y="14799"/>
                  </a:cubicBezTo>
                  <a:cubicBezTo>
                    <a:pt x="5450" y="14799"/>
                    <a:pt x="5450" y="14799"/>
                    <a:pt x="5450" y="14799"/>
                  </a:cubicBezTo>
                  <a:cubicBezTo>
                    <a:pt x="5450" y="14500"/>
                    <a:pt x="5350" y="14350"/>
                    <a:pt x="5152" y="14126"/>
                  </a:cubicBezTo>
                  <a:cubicBezTo>
                    <a:pt x="5053" y="14051"/>
                    <a:pt x="5053" y="14051"/>
                    <a:pt x="5053" y="14051"/>
                  </a:cubicBezTo>
                  <a:cubicBezTo>
                    <a:pt x="4954" y="13902"/>
                    <a:pt x="4855" y="13752"/>
                    <a:pt x="4657" y="13603"/>
                  </a:cubicBezTo>
                  <a:cubicBezTo>
                    <a:pt x="4558" y="13528"/>
                    <a:pt x="4459" y="13528"/>
                    <a:pt x="4360" y="13528"/>
                  </a:cubicBezTo>
                  <a:cubicBezTo>
                    <a:pt x="4261" y="13528"/>
                    <a:pt x="4161" y="13528"/>
                    <a:pt x="3963" y="13678"/>
                  </a:cubicBezTo>
                  <a:cubicBezTo>
                    <a:pt x="3765" y="13752"/>
                    <a:pt x="3765" y="13827"/>
                    <a:pt x="3666" y="13827"/>
                  </a:cubicBezTo>
                  <a:cubicBezTo>
                    <a:pt x="3666" y="13902"/>
                    <a:pt x="3666" y="13902"/>
                    <a:pt x="3666" y="13902"/>
                  </a:cubicBezTo>
                  <a:cubicBezTo>
                    <a:pt x="3666" y="13976"/>
                    <a:pt x="3666" y="13976"/>
                    <a:pt x="3666" y="13976"/>
                  </a:cubicBezTo>
                  <a:cubicBezTo>
                    <a:pt x="3666" y="13976"/>
                    <a:pt x="3765" y="14126"/>
                    <a:pt x="3765" y="14126"/>
                  </a:cubicBezTo>
                  <a:cubicBezTo>
                    <a:pt x="3864" y="14275"/>
                    <a:pt x="3864" y="14425"/>
                    <a:pt x="3864" y="14649"/>
                  </a:cubicBezTo>
                  <a:cubicBezTo>
                    <a:pt x="3765" y="14649"/>
                    <a:pt x="3765" y="14724"/>
                    <a:pt x="3765" y="14799"/>
                  </a:cubicBezTo>
                  <a:cubicBezTo>
                    <a:pt x="3765" y="14799"/>
                    <a:pt x="3666" y="14799"/>
                    <a:pt x="3567" y="14799"/>
                  </a:cubicBezTo>
                  <a:cubicBezTo>
                    <a:pt x="3468" y="14799"/>
                    <a:pt x="3270" y="14799"/>
                    <a:pt x="3171" y="14799"/>
                  </a:cubicBezTo>
                  <a:cubicBezTo>
                    <a:pt x="3171" y="14873"/>
                    <a:pt x="3072" y="14873"/>
                    <a:pt x="3072" y="14948"/>
                  </a:cubicBezTo>
                  <a:cubicBezTo>
                    <a:pt x="2972" y="14948"/>
                    <a:pt x="2972" y="15023"/>
                    <a:pt x="2873" y="15023"/>
                  </a:cubicBezTo>
                  <a:cubicBezTo>
                    <a:pt x="2873" y="15023"/>
                    <a:pt x="2774" y="15023"/>
                    <a:pt x="2774" y="15023"/>
                  </a:cubicBezTo>
                  <a:cubicBezTo>
                    <a:pt x="2675" y="15023"/>
                    <a:pt x="2675" y="14948"/>
                    <a:pt x="2576" y="14948"/>
                  </a:cubicBezTo>
                  <a:cubicBezTo>
                    <a:pt x="2477" y="14873"/>
                    <a:pt x="2378" y="14799"/>
                    <a:pt x="2279" y="14799"/>
                  </a:cubicBezTo>
                  <a:cubicBezTo>
                    <a:pt x="2180" y="14799"/>
                    <a:pt x="2081" y="14873"/>
                    <a:pt x="1982" y="14873"/>
                  </a:cubicBezTo>
                  <a:cubicBezTo>
                    <a:pt x="1883" y="14873"/>
                    <a:pt x="1883" y="14948"/>
                    <a:pt x="1783" y="14948"/>
                  </a:cubicBezTo>
                  <a:cubicBezTo>
                    <a:pt x="1783" y="14948"/>
                    <a:pt x="1783" y="14948"/>
                    <a:pt x="1783" y="14948"/>
                  </a:cubicBezTo>
                  <a:cubicBezTo>
                    <a:pt x="1684" y="14948"/>
                    <a:pt x="1585" y="14873"/>
                    <a:pt x="1585" y="14873"/>
                  </a:cubicBezTo>
                  <a:cubicBezTo>
                    <a:pt x="1486" y="14873"/>
                    <a:pt x="1486" y="14873"/>
                    <a:pt x="1486" y="14873"/>
                  </a:cubicBezTo>
                  <a:cubicBezTo>
                    <a:pt x="1288" y="14799"/>
                    <a:pt x="1288" y="14799"/>
                    <a:pt x="1288" y="14799"/>
                  </a:cubicBezTo>
                  <a:cubicBezTo>
                    <a:pt x="1288" y="14873"/>
                    <a:pt x="1288" y="14873"/>
                    <a:pt x="1288" y="14873"/>
                  </a:cubicBezTo>
                  <a:cubicBezTo>
                    <a:pt x="1189" y="15023"/>
                    <a:pt x="1189" y="15098"/>
                    <a:pt x="1288" y="15247"/>
                  </a:cubicBezTo>
                  <a:cubicBezTo>
                    <a:pt x="1288" y="15247"/>
                    <a:pt x="1288" y="15247"/>
                    <a:pt x="1288" y="15322"/>
                  </a:cubicBezTo>
                  <a:cubicBezTo>
                    <a:pt x="1387" y="15322"/>
                    <a:pt x="1387" y="15322"/>
                    <a:pt x="1387" y="15322"/>
                  </a:cubicBezTo>
                  <a:cubicBezTo>
                    <a:pt x="1387" y="15471"/>
                    <a:pt x="1387" y="15546"/>
                    <a:pt x="1288" y="15696"/>
                  </a:cubicBezTo>
                  <a:cubicBezTo>
                    <a:pt x="1288" y="15696"/>
                    <a:pt x="1288" y="15770"/>
                    <a:pt x="1189" y="15770"/>
                  </a:cubicBezTo>
                  <a:cubicBezTo>
                    <a:pt x="1189" y="15770"/>
                    <a:pt x="1189" y="15845"/>
                    <a:pt x="1189" y="15845"/>
                  </a:cubicBezTo>
                  <a:cubicBezTo>
                    <a:pt x="1090" y="15920"/>
                    <a:pt x="1090" y="15920"/>
                    <a:pt x="1090" y="15920"/>
                  </a:cubicBezTo>
                  <a:cubicBezTo>
                    <a:pt x="1189" y="15994"/>
                    <a:pt x="1189" y="15994"/>
                    <a:pt x="1189" y="15994"/>
                  </a:cubicBezTo>
                  <a:cubicBezTo>
                    <a:pt x="1288" y="16069"/>
                    <a:pt x="1387" y="16144"/>
                    <a:pt x="1486" y="16144"/>
                  </a:cubicBezTo>
                  <a:cubicBezTo>
                    <a:pt x="1684" y="16219"/>
                    <a:pt x="1783" y="16293"/>
                    <a:pt x="1783" y="16518"/>
                  </a:cubicBezTo>
                  <a:cubicBezTo>
                    <a:pt x="1684" y="16518"/>
                    <a:pt x="1684" y="16592"/>
                    <a:pt x="1684" y="16592"/>
                  </a:cubicBezTo>
                  <a:cubicBezTo>
                    <a:pt x="1585" y="16592"/>
                    <a:pt x="1585" y="16667"/>
                    <a:pt x="1684" y="16817"/>
                  </a:cubicBezTo>
                  <a:cubicBezTo>
                    <a:pt x="1684" y="16891"/>
                    <a:pt x="1783" y="16966"/>
                    <a:pt x="1883" y="16966"/>
                  </a:cubicBezTo>
                  <a:cubicBezTo>
                    <a:pt x="1982" y="16966"/>
                    <a:pt x="2081" y="16966"/>
                    <a:pt x="2081" y="17041"/>
                  </a:cubicBezTo>
                  <a:cubicBezTo>
                    <a:pt x="2180" y="17116"/>
                    <a:pt x="2180" y="17190"/>
                    <a:pt x="2180" y="17190"/>
                  </a:cubicBezTo>
                  <a:cubicBezTo>
                    <a:pt x="2180" y="17265"/>
                    <a:pt x="2180" y="17340"/>
                    <a:pt x="1982" y="17415"/>
                  </a:cubicBezTo>
                  <a:cubicBezTo>
                    <a:pt x="1982" y="17489"/>
                    <a:pt x="1883" y="17489"/>
                    <a:pt x="1883" y="17564"/>
                  </a:cubicBezTo>
                  <a:cubicBezTo>
                    <a:pt x="1783" y="17564"/>
                    <a:pt x="1783" y="17639"/>
                    <a:pt x="1783" y="17713"/>
                  </a:cubicBezTo>
                  <a:cubicBezTo>
                    <a:pt x="1684" y="17713"/>
                    <a:pt x="1684" y="17788"/>
                    <a:pt x="1585" y="17863"/>
                  </a:cubicBezTo>
                  <a:cubicBezTo>
                    <a:pt x="1486" y="17863"/>
                    <a:pt x="1387" y="17863"/>
                    <a:pt x="1189" y="17863"/>
                  </a:cubicBezTo>
                  <a:cubicBezTo>
                    <a:pt x="1090" y="17863"/>
                    <a:pt x="1090" y="17863"/>
                    <a:pt x="991" y="17938"/>
                  </a:cubicBezTo>
                  <a:cubicBezTo>
                    <a:pt x="892" y="17938"/>
                    <a:pt x="892" y="17938"/>
                    <a:pt x="892" y="17938"/>
                  </a:cubicBezTo>
                  <a:cubicBezTo>
                    <a:pt x="594" y="17938"/>
                    <a:pt x="297" y="18012"/>
                    <a:pt x="198" y="18311"/>
                  </a:cubicBezTo>
                  <a:cubicBezTo>
                    <a:pt x="99" y="18386"/>
                    <a:pt x="0" y="18610"/>
                    <a:pt x="0" y="18835"/>
                  </a:cubicBezTo>
                  <a:cubicBezTo>
                    <a:pt x="0" y="18909"/>
                    <a:pt x="0" y="18909"/>
                    <a:pt x="0" y="18909"/>
                  </a:cubicBezTo>
                  <a:cubicBezTo>
                    <a:pt x="99" y="18984"/>
                    <a:pt x="99" y="18984"/>
                    <a:pt x="99" y="18984"/>
                  </a:cubicBezTo>
                  <a:cubicBezTo>
                    <a:pt x="297" y="19134"/>
                    <a:pt x="495" y="19358"/>
                    <a:pt x="793" y="19582"/>
                  </a:cubicBezTo>
                  <a:cubicBezTo>
                    <a:pt x="892" y="19657"/>
                    <a:pt x="991" y="19731"/>
                    <a:pt x="1090" y="19806"/>
                  </a:cubicBezTo>
                  <a:cubicBezTo>
                    <a:pt x="1288" y="19881"/>
                    <a:pt x="1387" y="20030"/>
                    <a:pt x="1486" y="20180"/>
                  </a:cubicBezTo>
                  <a:cubicBezTo>
                    <a:pt x="1585" y="20255"/>
                    <a:pt x="1585" y="20329"/>
                    <a:pt x="1585" y="20479"/>
                  </a:cubicBezTo>
                  <a:cubicBezTo>
                    <a:pt x="1585" y="20554"/>
                    <a:pt x="1585" y="20703"/>
                    <a:pt x="1684" y="20778"/>
                  </a:cubicBezTo>
                  <a:cubicBezTo>
                    <a:pt x="1684" y="20927"/>
                    <a:pt x="1783" y="21002"/>
                    <a:pt x="1883" y="21152"/>
                  </a:cubicBezTo>
                  <a:cubicBezTo>
                    <a:pt x="1982" y="21226"/>
                    <a:pt x="2081" y="21301"/>
                    <a:pt x="2180" y="21376"/>
                  </a:cubicBezTo>
                  <a:cubicBezTo>
                    <a:pt x="2180" y="21376"/>
                    <a:pt x="2180" y="21376"/>
                    <a:pt x="2180" y="21376"/>
                  </a:cubicBezTo>
                  <a:cubicBezTo>
                    <a:pt x="2378" y="21600"/>
                    <a:pt x="2378" y="21600"/>
                    <a:pt x="2378" y="21600"/>
                  </a:cubicBezTo>
                  <a:cubicBezTo>
                    <a:pt x="2477" y="21451"/>
                    <a:pt x="2477" y="21451"/>
                    <a:pt x="2477" y="21451"/>
                  </a:cubicBezTo>
                  <a:cubicBezTo>
                    <a:pt x="2675" y="21226"/>
                    <a:pt x="2873" y="21077"/>
                    <a:pt x="2873" y="20853"/>
                  </a:cubicBezTo>
                  <a:cubicBezTo>
                    <a:pt x="2972" y="20853"/>
                    <a:pt x="3171" y="20778"/>
                    <a:pt x="3567" y="20554"/>
                  </a:cubicBezTo>
                  <a:cubicBezTo>
                    <a:pt x="4062" y="20329"/>
                    <a:pt x="4657" y="20030"/>
                    <a:pt x="5053" y="20030"/>
                  </a:cubicBezTo>
                  <a:cubicBezTo>
                    <a:pt x="5053" y="20030"/>
                    <a:pt x="5152" y="20030"/>
                    <a:pt x="5152" y="20030"/>
                  </a:cubicBezTo>
                  <a:cubicBezTo>
                    <a:pt x="5251" y="20030"/>
                    <a:pt x="5350" y="20105"/>
                    <a:pt x="5350" y="20255"/>
                  </a:cubicBezTo>
                  <a:cubicBezTo>
                    <a:pt x="5350" y="20329"/>
                    <a:pt x="5350" y="20329"/>
                    <a:pt x="5350" y="20329"/>
                  </a:cubicBezTo>
                  <a:cubicBezTo>
                    <a:pt x="5450" y="20329"/>
                    <a:pt x="5450" y="20329"/>
                    <a:pt x="5450" y="20329"/>
                  </a:cubicBezTo>
                  <a:cubicBezTo>
                    <a:pt x="5648" y="20404"/>
                    <a:pt x="5747" y="20404"/>
                    <a:pt x="5846" y="20554"/>
                  </a:cubicBezTo>
                  <a:cubicBezTo>
                    <a:pt x="5846" y="20628"/>
                    <a:pt x="5846" y="20628"/>
                    <a:pt x="5846" y="20628"/>
                  </a:cubicBezTo>
                  <a:cubicBezTo>
                    <a:pt x="5945" y="20628"/>
                    <a:pt x="5945" y="20628"/>
                    <a:pt x="5945" y="20628"/>
                  </a:cubicBezTo>
                  <a:cubicBezTo>
                    <a:pt x="6044" y="20703"/>
                    <a:pt x="6044" y="20778"/>
                    <a:pt x="6143" y="20778"/>
                  </a:cubicBezTo>
                  <a:cubicBezTo>
                    <a:pt x="6341" y="20853"/>
                    <a:pt x="6440" y="20927"/>
                    <a:pt x="6738" y="20927"/>
                  </a:cubicBezTo>
                  <a:cubicBezTo>
                    <a:pt x="6738" y="20927"/>
                    <a:pt x="6738" y="20927"/>
                    <a:pt x="6738" y="20927"/>
                  </a:cubicBezTo>
                  <a:cubicBezTo>
                    <a:pt x="7134" y="20927"/>
                    <a:pt x="7332" y="20927"/>
                    <a:pt x="7332" y="20628"/>
                  </a:cubicBezTo>
                  <a:cubicBezTo>
                    <a:pt x="7332" y="20554"/>
                    <a:pt x="7332" y="20404"/>
                    <a:pt x="7431" y="20255"/>
                  </a:cubicBezTo>
                  <a:cubicBezTo>
                    <a:pt x="7530" y="20030"/>
                    <a:pt x="7728" y="20030"/>
                    <a:pt x="7728" y="20030"/>
                  </a:cubicBezTo>
                  <a:cubicBezTo>
                    <a:pt x="7828" y="20030"/>
                    <a:pt x="7828" y="20030"/>
                    <a:pt x="7927" y="20105"/>
                  </a:cubicBezTo>
                  <a:cubicBezTo>
                    <a:pt x="7927" y="20105"/>
                    <a:pt x="8026" y="20105"/>
                    <a:pt x="8026" y="20105"/>
                  </a:cubicBezTo>
                  <a:cubicBezTo>
                    <a:pt x="8125" y="20105"/>
                    <a:pt x="8125" y="20105"/>
                    <a:pt x="8224" y="20105"/>
                  </a:cubicBezTo>
                  <a:cubicBezTo>
                    <a:pt x="8422" y="20030"/>
                    <a:pt x="8620" y="19956"/>
                    <a:pt x="8719" y="19881"/>
                  </a:cubicBezTo>
                  <a:cubicBezTo>
                    <a:pt x="8917" y="19881"/>
                    <a:pt x="9017" y="19806"/>
                    <a:pt x="9215" y="19731"/>
                  </a:cubicBezTo>
                  <a:cubicBezTo>
                    <a:pt x="9512" y="19881"/>
                    <a:pt x="9512" y="20105"/>
                    <a:pt x="9413" y="20404"/>
                  </a:cubicBezTo>
                  <a:cubicBezTo>
                    <a:pt x="9413" y="20628"/>
                    <a:pt x="9314" y="20853"/>
                    <a:pt x="9512" y="21002"/>
                  </a:cubicBezTo>
                  <a:cubicBezTo>
                    <a:pt x="9611" y="21152"/>
                    <a:pt x="9710" y="21226"/>
                    <a:pt x="9908" y="21226"/>
                  </a:cubicBezTo>
                  <a:cubicBezTo>
                    <a:pt x="10106" y="21226"/>
                    <a:pt x="10305" y="21077"/>
                    <a:pt x="10503" y="20853"/>
                  </a:cubicBezTo>
                  <a:cubicBezTo>
                    <a:pt x="10602" y="20778"/>
                    <a:pt x="10701" y="20703"/>
                    <a:pt x="10701" y="20628"/>
                  </a:cubicBezTo>
                  <a:cubicBezTo>
                    <a:pt x="11097" y="20329"/>
                    <a:pt x="11494" y="20030"/>
                    <a:pt x="11791" y="19806"/>
                  </a:cubicBezTo>
                  <a:cubicBezTo>
                    <a:pt x="11890" y="19731"/>
                    <a:pt x="12088" y="19657"/>
                    <a:pt x="12187" y="19582"/>
                  </a:cubicBezTo>
                  <a:cubicBezTo>
                    <a:pt x="12683" y="19358"/>
                    <a:pt x="12980" y="19208"/>
                    <a:pt x="12980" y="18984"/>
                  </a:cubicBezTo>
                  <a:cubicBezTo>
                    <a:pt x="13079" y="18909"/>
                    <a:pt x="13178" y="18909"/>
                    <a:pt x="13376" y="18835"/>
                  </a:cubicBezTo>
                  <a:cubicBezTo>
                    <a:pt x="13574" y="18835"/>
                    <a:pt x="13772" y="18835"/>
                    <a:pt x="13872" y="18685"/>
                  </a:cubicBezTo>
                  <a:cubicBezTo>
                    <a:pt x="13971" y="18610"/>
                    <a:pt x="13971" y="18461"/>
                    <a:pt x="14070" y="18311"/>
                  </a:cubicBezTo>
                  <a:cubicBezTo>
                    <a:pt x="14070" y="18162"/>
                    <a:pt x="14169" y="18012"/>
                    <a:pt x="14169" y="17938"/>
                  </a:cubicBezTo>
                  <a:cubicBezTo>
                    <a:pt x="14565" y="17415"/>
                    <a:pt x="14565" y="17190"/>
                    <a:pt x="14565" y="16518"/>
                  </a:cubicBezTo>
                  <a:cubicBezTo>
                    <a:pt x="14565" y="16293"/>
                    <a:pt x="14565" y="16293"/>
                    <a:pt x="14565" y="16293"/>
                  </a:cubicBezTo>
                  <a:cubicBezTo>
                    <a:pt x="14466" y="15621"/>
                    <a:pt x="14466" y="14948"/>
                    <a:pt x="14466" y="14425"/>
                  </a:cubicBezTo>
                  <a:cubicBezTo>
                    <a:pt x="14466" y="14425"/>
                    <a:pt x="14466" y="14425"/>
                    <a:pt x="14466" y="14425"/>
                  </a:cubicBezTo>
                  <a:cubicBezTo>
                    <a:pt x="14466" y="14350"/>
                    <a:pt x="14466" y="14350"/>
                    <a:pt x="14466" y="14350"/>
                  </a:cubicBezTo>
                  <a:cubicBezTo>
                    <a:pt x="14664" y="14350"/>
                    <a:pt x="14961" y="14126"/>
                    <a:pt x="14961" y="14126"/>
                  </a:cubicBezTo>
                  <a:cubicBezTo>
                    <a:pt x="15457" y="13752"/>
                    <a:pt x="15853" y="13379"/>
                    <a:pt x="16250" y="13005"/>
                  </a:cubicBezTo>
                  <a:cubicBezTo>
                    <a:pt x="16448" y="12781"/>
                    <a:pt x="16646" y="12631"/>
                    <a:pt x="16844" y="12482"/>
                  </a:cubicBezTo>
                  <a:cubicBezTo>
                    <a:pt x="16943" y="12332"/>
                    <a:pt x="17141" y="12183"/>
                    <a:pt x="17339" y="12033"/>
                  </a:cubicBezTo>
                  <a:cubicBezTo>
                    <a:pt x="17141" y="11958"/>
                    <a:pt x="17141" y="11958"/>
                    <a:pt x="17141" y="11958"/>
                  </a:cubicBezTo>
                  <a:cubicBezTo>
                    <a:pt x="17141" y="11958"/>
                    <a:pt x="17141" y="11958"/>
                    <a:pt x="17141" y="11958"/>
                  </a:cubicBezTo>
                  <a:cubicBezTo>
                    <a:pt x="17339" y="12033"/>
                    <a:pt x="17339" y="12033"/>
                    <a:pt x="17339" y="12033"/>
                  </a:cubicBezTo>
                  <a:cubicBezTo>
                    <a:pt x="17538" y="11809"/>
                    <a:pt x="17835" y="11510"/>
                    <a:pt x="18033" y="11361"/>
                  </a:cubicBezTo>
                  <a:cubicBezTo>
                    <a:pt x="18132" y="11286"/>
                    <a:pt x="18231" y="11136"/>
                    <a:pt x="18330" y="11062"/>
                  </a:cubicBezTo>
                  <a:cubicBezTo>
                    <a:pt x="18628" y="10912"/>
                    <a:pt x="18925" y="10688"/>
                    <a:pt x="19024" y="10464"/>
                  </a:cubicBezTo>
                  <a:cubicBezTo>
                    <a:pt x="19222" y="10165"/>
                    <a:pt x="19123" y="9866"/>
                    <a:pt x="19024" y="9492"/>
                  </a:cubicBezTo>
                  <a:cubicBezTo>
                    <a:pt x="19024" y="9343"/>
                    <a:pt x="18925" y="9268"/>
                    <a:pt x="18925" y="9118"/>
                  </a:cubicBezTo>
                  <a:cubicBezTo>
                    <a:pt x="18925" y="8670"/>
                    <a:pt x="19024" y="8221"/>
                    <a:pt x="19222" y="7773"/>
                  </a:cubicBezTo>
                  <a:cubicBezTo>
                    <a:pt x="19222" y="7474"/>
                    <a:pt x="19321" y="7250"/>
                    <a:pt x="19321" y="7026"/>
                  </a:cubicBezTo>
                  <a:cubicBezTo>
                    <a:pt x="19420" y="6577"/>
                    <a:pt x="19519" y="6203"/>
                    <a:pt x="19717" y="5755"/>
                  </a:cubicBezTo>
                  <a:cubicBezTo>
                    <a:pt x="19916" y="5232"/>
                    <a:pt x="20015" y="4634"/>
                    <a:pt x="20114" y="3961"/>
                  </a:cubicBezTo>
                  <a:cubicBezTo>
                    <a:pt x="20114" y="3438"/>
                    <a:pt x="20312" y="3064"/>
                    <a:pt x="20609" y="2616"/>
                  </a:cubicBezTo>
                  <a:cubicBezTo>
                    <a:pt x="20708" y="2541"/>
                    <a:pt x="20807" y="2392"/>
                    <a:pt x="20807" y="2317"/>
                  </a:cubicBezTo>
                  <a:cubicBezTo>
                    <a:pt x="21105" y="1869"/>
                    <a:pt x="21600" y="1046"/>
                    <a:pt x="21303" y="448"/>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57" name="Shape">
              <a:extLst>
                <a:ext uri="{FF2B5EF4-FFF2-40B4-BE49-F238E27FC236}">
                  <a16:creationId xmlns:a16="http://schemas.microsoft.com/office/drawing/2014/main" id="{CDD05EBB-4FC0-954E-8459-69B5D93A5741}"/>
                </a:ext>
              </a:extLst>
            </p:cNvPr>
            <p:cNvSpPr/>
            <p:nvPr/>
          </p:nvSpPr>
          <p:spPr>
            <a:xfrm>
              <a:off x="3135301" y="2772533"/>
              <a:ext cx="1337825" cy="1141399"/>
            </a:xfrm>
            <a:custGeom>
              <a:avLst/>
              <a:gdLst/>
              <a:ahLst/>
              <a:cxnLst>
                <a:cxn ang="0">
                  <a:pos x="wd2" y="hd2"/>
                </a:cxn>
                <a:cxn ang="5400000">
                  <a:pos x="wd2" y="hd2"/>
                </a:cxn>
                <a:cxn ang="10800000">
                  <a:pos x="wd2" y="hd2"/>
                </a:cxn>
                <a:cxn ang="16200000">
                  <a:pos x="wd2" y="hd2"/>
                </a:cxn>
              </a:cxnLst>
              <a:rect l="0" t="0" r="r" b="b"/>
              <a:pathLst>
                <a:path w="21553" h="21600" extrusionOk="0">
                  <a:moveTo>
                    <a:pt x="21475" y="3724"/>
                  </a:moveTo>
                  <a:cubicBezTo>
                    <a:pt x="21412" y="3589"/>
                    <a:pt x="21224" y="3521"/>
                    <a:pt x="21099" y="3521"/>
                  </a:cubicBezTo>
                  <a:cubicBezTo>
                    <a:pt x="20911" y="3453"/>
                    <a:pt x="20786" y="3386"/>
                    <a:pt x="20723" y="3250"/>
                  </a:cubicBezTo>
                  <a:cubicBezTo>
                    <a:pt x="20661" y="3182"/>
                    <a:pt x="20661" y="3115"/>
                    <a:pt x="20661" y="2979"/>
                  </a:cubicBezTo>
                  <a:cubicBezTo>
                    <a:pt x="20661" y="2912"/>
                    <a:pt x="20661" y="2776"/>
                    <a:pt x="20661" y="2708"/>
                  </a:cubicBezTo>
                  <a:cubicBezTo>
                    <a:pt x="20661" y="2641"/>
                    <a:pt x="20598" y="2505"/>
                    <a:pt x="20598" y="2370"/>
                  </a:cubicBezTo>
                  <a:cubicBezTo>
                    <a:pt x="20598" y="2234"/>
                    <a:pt x="20536" y="2031"/>
                    <a:pt x="20473" y="1896"/>
                  </a:cubicBezTo>
                  <a:cubicBezTo>
                    <a:pt x="20473" y="1896"/>
                    <a:pt x="20473" y="1896"/>
                    <a:pt x="20473" y="1896"/>
                  </a:cubicBezTo>
                  <a:cubicBezTo>
                    <a:pt x="20473" y="1828"/>
                    <a:pt x="20473" y="1828"/>
                    <a:pt x="20473" y="1828"/>
                  </a:cubicBezTo>
                  <a:cubicBezTo>
                    <a:pt x="20473" y="1828"/>
                    <a:pt x="20473" y="1828"/>
                    <a:pt x="20473" y="1828"/>
                  </a:cubicBezTo>
                  <a:cubicBezTo>
                    <a:pt x="20473" y="1828"/>
                    <a:pt x="20473" y="1828"/>
                    <a:pt x="20473" y="1828"/>
                  </a:cubicBezTo>
                  <a:cubicBezTo>
                    <a:pt x="20410" y="1557"/>
                    <a:pt x="20285" y="1422"/>
                    <a:pt x="20097" y="1151"/>
                  </a:cubicBezTo>
                  <a:cubicBezTo>
                    <a:pt x="20035" y="1151"/>
                    <a:pt x="20035" y="1083"/>
                    <a:pt x="19972" y="1016"/>
                  </a:cubicBezTo>
                  <a:cubicBezTo>
                    <a:pt x="19972" y="948"/>
                    <a:pt x="19910" y="880"/>
                    <a:pt x="19910" y="880"/>
                  </a:cubicBezTo>
                  <a:cubicBezTo>
                    <a:pt x="19847" y="813"/>
                    <a:pt x="19847" y="813"/>
                    <a:pt x="19847" y="813"/>
                  </a:cubicBezTo>
                  <a:cubicBezTo>
                    <a:pt x="19722" y="609"/>
                    <a:pt x="19597" y="406"/>
                    <a:pt x="19409" y="406"/>
                  </a:cubicBezTo>
                  <a:cubicBezTo>
                    <a:pt x="19283" y="406"/>
                    <a:pt x="19158" y="474"/>
                    <a:pt x="19033" y="542"/>
                  </a:cubicBezTo>
                  <a:cubicBezTo>
                    <a:pt x="18970" y="542"/>
                    <a:pt x="18845" y="609"/>
                    <a:pt x="18783" y="677"/>
                  </a:cubicBezTo>
                  <a:cubicBezTo>
                    <a:pt x="18720" y="745"/>
                    <a:pt x="18657" y="813"/>
                    <a:pt x="18595" y="880"/>
                  </a:cubicBezTo>
                  <a:cubicBezTo>
                    <a:pt x="18532" y="880"/>
                    <a:pt x="18470" y="948"/>
                    <a:pt x="18407" y="948"/>
                  </a:cubicBezTo>
                  <a:cubicBezTo>
                    <a:pt x="18282" y="948"/>
                    <a:pt x="18219" y="1016"/>
                    <a:pt x="18094" y="1083"/>
                  </a:cubicBezTo>
                  <a:cubicBezTo>
                    <a:pt x="17969" y="1219"/>
                    <a:pt x="17906" y="1354"/>
                    <a:pt x="17843" y="1490"/>
                  </a:cubicBezTo>
                  <a:cubicBezTo>
                    <a:pt x="17843" y="1557"/>
                    <a:pt x="17781" y="1625"/>
                    <a:pt x="17718" y="1693"/>
                  </a:cubicBezTo>
                  <a:cubicBezTo>
                    <a:pt x="17656" y="1828"/>
                    <a:pt x="17530" y="1828"/>
                    <a:pt x="17343" y="1828"/>
                  </a:cubicBezTo>
                  <a:cubicBezTo>
                    <a:pt x="17280" y="1828"/>
                    <a:pt x="17217" y="1828"/>
                    <a:pt x="17217" y="1828"/>
                  </a:cubicBezTo>
                  <a:cubicBezTo>
                    <a:pt x="17030" y="1828"/>
                    <a:pt x="16904" y="1761"/>
                    <a:pt x="16779" y="1625"/>
                  </a:cubicBezTo>
                  <a:cubicBezTo>
                    <a:pt x="16717" y="1557"/>
                    <a:pt x="16654" y="1557"/>
                    <a:pt x="16591" y="1490"/>
                  </a:cubicBezTo>
                  <a:cubicBezTo>
                    <a:pt x="16403" y="1354"/>
                    <a:pt x="16153" y="1354"/>
                    <a:pt x="15965" y="1287"/>
                  </a:cubicBezTo>
                  <a:cubicBezTo>
                    <a:pt x="15903" y="1287"/>
                    <a:pt x="15840" y="1287"/>
                    <a:pt x="15715" y="1219"/>
                  </a:cubicBezTo>
                  <a:cubicBezTo>
                    <a:pt x="15652" y="1219"/>
                    <a:pt x="15590" y="1219"/>
                    <a:pt x="15527" y="1219"/>
                  </a:cubicBezTo>
                  <a:cubicBezTo>
                    <a:pt x="15339" y="1151"/>
                    <a:pt x="15089" y="1083"/>
                    <a:pt x="14838" y="1083"/>
                  </a:cubicBezTo>
                  <a:cubicBezTo>
                    <a:pt x="14838" y="1083"/>
                    <a:pt x="14838" y="1083"/>
                    <a:pt x="14838" y="1083"/>
                  </a:cubicBezTo>
                  <a:cubicBezTo>
                    <a:pt x="14024" y="1083"/>
                    <a:pt x="13461" y="1490"/>
                    <a:pt x="13023" y="1761"/>
                  </a:cubicBezTo>
                  <a:cubicBezTo>
                    <a:pt x="12897" y="1896"/>
                    <a:pt x="12835" y="1964"/>
                    <a:pt x="12710" y="2099"/>
                  </a:cubicBezTo>
                  <a:cubicBezTo>
                    <a:pt x="12647" y="2167"/>
                    <a:pt x="12584" y="2234"/>
                    <a:pt x="12522" y="2302"/>
                  </a:cubicBezTo>
                  <a:cubicBezTo>
                    <a:pt x="12459" y="2302"/>
                    <a:pt x="12459" y="2302"/>
                    <a:pt x="12459" y="2302"/>
                  </a:cubicBezTo>
                  <a:cubicBezTo>
                    <a:pt x="12397" y="2370"/>
                    <a:pt x="12397" y="2370"/>
                    <a:pt x="12397" y="2370"/>
                  </a:cubicBezTo>
                  <a:cubicBezTo>
                    <a:pt x="12397" y="2370"/>
                    <a:pt x="12334" y="2370"/>
                    <a:pt x="12271" y="2370"/>
                  </a:cubicBezTo>
                  <a:cubicBezTo>
                    <a:pt x="12209" y="2370"/>
                    <a:pt x="12146" y="2302"/>
                    <a:pt x="12146" y="2302"/>
                  </a:cubicBezTo>
                  <a:cubicBezTo>
                    <a:pt x="12083" y="2302"/>
                    <a:pt x="11958" y="2302"/>
                    <a:pt x="11896" y="2302"/>
                  </a:cubicBezTo>
                  <a:cubicBezTo>
                    <a:pt x="11896" y="2302"/>
                    <a:pt x="11896" y="2302"/>
                    <a:pt x="11833" y="2302"/>
                  </a:cubicBezTo>
                  <a:cubicBezTo>
                    <a:pt x="11770" y="2302"/>
                    <a:pt x="11708" y="2302"/>
                    <a:pt x="11645" y="2302"/>
                  </a:cubicBezTo>
                  <a:cubicBezTo>
                    <a:pt x="11520" y="2302"/>
                    <a:pt x="11395" y="2302"/>
                    <a:pt x="11332" y="2302"/>
                  </a:cubicBezTo>
                  <a:cubicBezTo>
                    <a:pt x="11270" y="2302"/>
                    <a:pt x="11270" y="2302"/>
                    <a:pt x="11270" y="2302"/>
                  </a:cubicBezTo>
                  <a:cubicBezTo>
                    <a:pt x="10957" y="2302"/>
                    <a:pt x="10518" y="2031"/>
                    <a:pt x="10268" y="1828"/>
                  </a:cubicBezTo>
                  <a:cubicBezTo>
                    <a:pt x="10205" y="1761"/>
                    <a:pt x="10205" y="1761"/>
                    <a:pt x="10205" y="1761"/>
                  </a:cubicBezTo>
                  <a:cubicBezTo>
                    <a:pt x="10017" y="1557"/>
                    <a:pt x="9767" y="1354"/>
                    <a:pt x="9517" y="1287"/>
                  </a:cubicBezTo>
                  <a:cubicBezTo>
                    <a:pt x="9391" y="1219"/>
                    <a:pt x="9329" y="1219"/>
                    <a:pt x="9266" y="1219"/>
                  </a:cubicBezTo>
                  <a:cubicBezTo>
                    <a:pt x="9016" y="1219"/>
                    <a:pt x="8890" y="1354"/>
                    <a:pt x="8640" y="1490"/>
                  </a:cubicBezTo>
                  <a:cubicBezTo>
                    <a:pt x="8577" y="1490"/>
                    <a:pt x="8515" y="1557"/>
                    <a:pt x="8452" y="1625"/>
                  </a:cubicBezTo>
                  <a:cubicBezTo>
                    <a:pt x="8264" y="1693"/>
                    <a:pt x="8077" y="1828"/>
                    <a:pt x="7826" y="1896"/>
                  </a:cubicBezTo>
                  <a:cubicBezTo>
                    <a:pt x="7826" y="1964"/>
                    <a:pt x="7763" y="1964"/>
                    <a:pt x="7701" y="1964"/>
                  </a:cubicBezTo>
                  <a:cubicBezTo>
                    <a:pt x="7450" y="1964"/>
                    <a:pt x="7325" y="1557"/>
                    <a:pt x="7200" y="1354"/>
                  </a:cubicBezTo>
                  <a:cubicBezTo>
                    <a:pt x="7137" y="1219"/>
                    <a:pt x="7075" y="1083"/>
                    <a:pt x="7012" y="948"/>
                  </a:cubicBezTo>
                  <a:cubicBezTo>
                    <a:pt x="6824" y="745"/>
                    <a:pt x="6637" y="542"/>
                    <a:pt x="6449" y="474"/>
                  </a:cubicBezTo>
                  <a:cubicBezTo>
                    <a:pt x="6449" y="474"/>
                    <a:pt x="6386" y="474"/>
                    <a:pt x="6386" y="474"/>
                  </a:cubicBezTo>
                  <a:cubicBezTo>
                    <a:pt x="6323" y="474"/>
                    <a:pt x="6261" y="474"/>
                    <a:pt x="6261" y="474"/>
                  </a:cubicBezTo>
                  <a:cubicBezTo>
                    <a:pt x="6198" y="474"/>
                    <a:pt x="6136" y="474"/>
                    <a:pt x="6136" y="474"/>
                  </a:cubicBezTo>
                  <a:cubicBezTo>
                    <a:pt x="6073" y="474"/>
                    <a:pt x="6073" y="474"/>
                    <a:pt x="6073" y="474"/>
                  </a:cubicBezTo>
                  <a:cubicBezTo>
                    <a:pt x="6010" y="474"/>
                    <a:pt x="5948" y="406"/>
                    <a:pt x="5885" y="406"/>
                  </a:cubicBezTo>
                  <a:cubicBezTo>
                    <a:pt x="5823" y="339"/>
                    <a:pt x="5823" y="339"/>
                    <a:pt x="5823" y="339"/>
                  </a:cubicBezTo>
                  <a:cubicBezTo>
                    <a:pt x="5635" y="203"/>
                    <a:pt x="5447" y="135"/>
                    <a:pt x="5197" y="68"/>
                  </a:cubicBezTo>
                  <a:cubicBezTo>
                    <a:pt x="5071" y="0"/>
                    <a:pt x="5071" y="0"/>
                    <a:pt x="5071" y="0"/>
                  </a:cubicBezTo>
                  <a:cubicBezTo>
                    <a:pt x="5009" y="0"/>
                    <a:pt x="5009" y="0"/>
                    <a:pt x="4946" y="0"/>
                  </a:cubicBezTo>
                  <a:cubicBezTo>
                    <a:pt x="4821" y="0"/>
                    <a:pt x="4758" y="68"/>
                    <a:pt x="4633" y="203"/>
                  </a:cubicBezTo>
                  <a:cubicBezTo>
                    <a:pt x="4508" y="271"/>
                    <a:pt x="4445" y="339"/>
                    <a:pt x="4320" y="339"/>
                  </a:cubicBezTo>
                  <a:cubicBezTo>
                    <a:pt x="4257" y="339"/>
                    <a:pt x="4195" y="339"/>
                    <a:pt x="4132" y="339"/>
                  </a:cubicBezTo>
                  <a:cubicBezTo>
                    <a:pt x="4070" y="339"/>
                    <a:pt x="3944" y="339"/>
                    <a:pt x="3882" y="339"/>
                  </a:cubicBezTo>
                  <a:cubicBezTo>
                    <a:pt x="3757" y="339"/>
                    <a:pt x="3694" y="339"/>
                    <a:pt x="3569" y="339"/>
                  </a:cubicBezTo>
                  <a:cubicBezTo>
                    <a:pt x="3381" y="339"/>
                    <a:pt x="3256" y="339"/>
                    <a:pt x="3130" y="474"/>
                  </a:cubicBezTo>
                  <a:cubicBezTo>
                    <a:pt x="3068" y="474"/>
                    <a:pt x="3005" y="542"/>
                    <a:pt x="2943" y="542"/>
                  </a:cubicBezTo>
                  <a:cubicBezTo>
                    <a:pt x="2817" y="609"/>
                    <a:pt x="2692" y="745"/>
                    <a:pt x="2567" y="813"/>
                  </a:cubicBezTo>
                  <a:cubicBezTo>
                    <a:pt x="2504" y="948"/>
                    <a:pt x="2504" y="1151"/>
                    <a:pt x="2504" y="1354"/>
                  </a:cubicBezTo>
                  <a:cubicBezTo>
                    <a:pt x="2504" y="1354"/>
                    <a:pt x="2504" y="1422"/>
                    <a:pt x="2504" y="1490"/>
                  </a:cubicBezTo>
                  <a:cubicBezTo>
                    <a:pt x="2504" y="1490"/>
                    <a:pt x="2504" y="1557"/>
                    <a:pt x="2504" y="1625"/>
                  </a:cubicBezTo>
                  <a:cubicBezTo>
                    <a:pt x="2504" y="1761"/>
                    <a:pt x="2504" y="1896"/>
                    <a:pt x="2442" y="2031"/>
                  </a:cubicBezTo>
                  <a:cubicBezTo>
                    <a:pt x="2379" y="2167"/>
                    <a:pt x="2317" y="2302"/>
                    <a:pt x="2254" y="2370"/>
                  </a:cubicBezTo>
                  <a:cubicBezTo>
                    <a:pt x="2191" y="2438"/>
                    <a:pt x="2191" y="2505"/>
                    <a:pt x="2129" y="2505"/>
                  </a:cubicBezTo>
                  <a:cubicBezTo>
                    <a:pt x="2066" y="2641"/>
                    <a:pt x="2003" y="2708"/>
                    <a:pt x="1941" y="2776"/>
                  </a:cubicBezTo>
                  <a:cubicBezTo>
                    <a:pt x="1878" y="2776"/>
                    <a:pt x="1816" y="2844"/>
                    <a:pt x="1753" y="2912"/>
                  </a:cubicBezTo>
                  <a:cubicBezTo>
                    <a:pt x="1628" y="3047"/>
                    <a:pt x="1565" y="3250"/>
                    <a:pt x="1628" y="3521"/>
                  </a:cubicBezTo>
                  <a:cubicBezTo>
                    <a:pt x="1628" y="3589"/>
                    <a:pt x="1628" y="3724"/>
                    <a:pt x="1690" y="3792"/>
                  </a:cubicBezTo>
                  <a:cubicBezTo>
                    <a:pt x="1753" y="4130"/>
                    <a:pt x="1816" y="4469"/>
                    <a:pt x="1628" y="4808"/>
                  </a:cubicBezTo>
                  <a:cubicBezTo>
                    <a:pt x="1628" y="4808"/>
                    <a:pt x="1628" y="4808"/>
                    <a:pt x="1628" y="4808"/>
                  </a:cubicBezTo>
                  <a:cubicBezTo>
                    <a:pt x="1628" y="4875"/>
                    <a:pt x="1628" y="4875"/>
                    <a:pt x="1628" y="4875"/>
                  </a:cubicBezTo>
                  <a:cubicBezTo>
                    <a:pt x="1628" y="4943"/>
                    <a:pt x="1628" y="4943"/>
                    <a:pt x="1628" y="4943"/>
                  </a:cubicBezTo>
                  <a:cubicBezTo>
                    <a:pt x="1565" y="5011"/>
                    <a:pt x="1565" y="5078"/>
                    <a:pt x="1503" y="5146"/>
                  </a:cubicBezTo>
                  <a:cubicBezTo>
                    <a:pt x="1440" y="5282"/>
                    <a:pt x="1377" y="5349"/>
                    <a:pt x="1377" y="5417"/>
                  </a:cubicBezTo>
                  <a:cubicBezTo>
                    <a:pt x="1377" y="5620"/>
                    <a:pt x="1503" y="5755"/>
                    <a:pt x="1628" y="5891"/>
                  </a:cubicBezTo>
                  <a:cubicBezTo>
                    <a:pt x="1628" y="5959"/>
                    <a:pt x="1628" y="5959"/>
                    <a:pt x="1628" y="5959"/>
                  </a:cubicBezTo>
                  <a:cubicBezTo>
                    <a:pt x="1753" y="6094"/>
                    <a:pt x="1816" y="6229"/>
                    <a:pt x="1878" y="6500"/>
                  </a:cubicBezTo>
                  <a:cubicBezTo>
                    <a:pt x="1878" y="6568"/>
                    <a:pt x="1878" y="6636"/>
                    <a:pt x="1878" y="6703"/>
                  </a:cubicBezTo>
                  <a:cubicBezTo>
                    <a:pt x="1878" y="6703"/>
                    <a:pt x="1878" y="6771"/>
                    <a:pt x="1878" y="6839"/>
                  </a:cubicBezTo>
                  <a:cubicBezTo>
                    <a:pt x="1878" y="6907"/>
                    <a:pt x="1878" y="6974"/>
                    <a:pt x="1878" y="6974"/>
                  </a:cubicBezTo>
                  <a:cubicBezTo>
                    <a:pt x="1941" y="7042"/>
                    <a:pt x="1941" y="7042"/>
                    <a:pt x="1941" y="7042"/>
                  </a:cubicBezTo>
                  <a:cubicBezTo>
                    <a:pt x="1941" y="7042"/>
                    <a:pt x="1941" y="7042"/>
                    <a:pt x="1941" y="7042"/>
                  </a:cubicBezTo>
                  <a:cubicBezTo>
                    <a:pt x="2003" y="7042"/>
                    <a:pt x="2003" y="7042"/>
                    <a:pt x="2003" y="7110"/>
                  </a:cubicBezTo>
                  <a:cubicBezTo>
                    <a:pt x="2066" y="7177"/>
                    <a:pt x="2066" y="7313"/>
                    <a:pt x="2003" y="7448"/>
                  </a:cubicBezTo>
                  <a:cubicBezTo>
                    <a:pt x="2003" y="7584"/>
                    <a:pt x="1878" y="7651"/>
                    <a:pt x="1816" y="7719"/>
                  </a:cubicBezTo>
                  <a:cubicBezTo>
                    <a:pt x="1628" y="7787"/>
                    <a:pt x="1628" y="7855"/>
                    <a:pt x="1628" y="8058"/>
                  </a:cubicBezTo>
                  <a:cubicBezTo>
                    <a:pt x="1628" y="8125"/>
                    <a:pt x="1628" y="8125"/>
                    <a:pt x="1628" y="8125"/>
                  </a:cubicBezTo>
                  <a:cubicBezTo>
                    <a:pt x="1628" y="8193"/>
                    <a:pt x="1628" y="8193"/>
                    <a:pt x="1628" y="8193"/>
                  </a:cubicBezTo>
                  <a:cubicBezTo>
                    <a:pt x="1690" y="8329"/>
                    <a:pt x="1690" y="8329"/>
                    <a:pt x="1690" y="8329"/>
                  </a:cubicBezTo>
                  <a:cubicBezTo>
                    <a:pt x="1753" y="8329"/>
                    <a:pt x="1753" y="8396"/>
                    <a:pt x="1753" y="8396"/>
                  </a:cubicBezTo>
                  <a:cubicBezTo>
                    <a:pt x="1753" y="8464"/>
                    <a:pt x="1690" y="8464"/>
                    <a:pt x="1690" y="8532"/>
                  </a:cubicBezTo>
                  <a:cubicBezTo>
                    <a:pt x="1690" y="8532"/>
                    <a:pt x="1628" y="8532"/>
                    <a:pt x="1628" y="8599"/>
                  </a:cubicBezTo>
                  <a:cubicBezTo>
                    <a:pt x="1628" y="8599"/>
                    <a:pt x="1628" y="8667"/>
                    <a:pt x="1565" y="8735"/>
                  </a:cubicBezTo>
                  <a:cubicBezTo>
                    <a:pt x="1565" y="8735"/>
                    <a:pt x="1565" y="8803"/>
                    <a:pt x="1565" y="8803"/>
                  </a:cubicBezTo>
                  <a:cubicBezTo>
                    <a:pt x="1503" y="8938"/>
                    <a:pt x="1440" y="8938"/>
                    <a:pt x="1377" y="9006"/>
                  </a:cubicBezTo>
                  <a:cubicBezTo>
                    <a:pt x="1377" y="9006"/>
                    <a:pt x="1315" y="9006"/>
                    <a:pt x="1315" y="9006"/>
                  </a:cubicBezTo>
                  <a:cubicBezTo>
                    <a:pt x="1190" y="9141"/>
                    <a:pt x="1064" y="9276"/>
                    <a:pt x="1002" y="9480"/>
                  </a:cubicBezTo>
                  <a:cubicBezTo>
                    <a:pt x="939" y="9547"/>
                    <a:pt x="877" y="9615"/>
                    <a:pt x="877" y="9683"/>
                  </a:cubicBezTo>
                  <a:cubicBezTo>
                    <a:pt x="814" y="9818"/>
                    <a:pt x="751" y="9954"/>
                    <a:pt x="751" y="10089"/>
                  </a:cubicBezTo>
                  <a:cubicBezTo>
                    <a:pt x="814" y="10428"/>
                    <a:pt x="814" y="10631"/>
                    <a:pt x="563" y="10698"/>
                  </a:cubicBezTo>
                  <a:cubicBezTo>
                    <a:pt x="501" y="10698"/>
                    <a:pt x="501" y="10698"/>
                    <a:pt x="438" y="10698"/>
                  </a:cubicBezTo>
                  <a:cubicBezTo>
                    <a:pt x="313" y="10698"/>
                    <a:pt x="125" y="10766"/>
                    <a:pt x="63" y="10902"/>
                  </a:cubicBezTo>
                  <a:cubicBezTo>
                    <a:pt x="63" y="10969"/>
                    <a:pt x="63" y="11105"/>
                    <a:pt x="63" y="11172"/>
                  </a:cubicBezTo>
                  <a:cubicBezTo>
                    <a:pt x="63" y="11240"/>
                    <a:pt x="63" y="11308"/>
                    <a:pt x="63" y="11376"/>
                  </a:cubicBezTo>
                  <a:cubicBezTo>
                    <a:pt x="63" y="11443"/>
                    <a:pt x="63" y="11443"/>
                    <a:pt x="63" y="11443"/>
                  </a:cubicBezTo>
                  <a:cubicBezTo>
                    <a:pt x="63" y="11579"/>
                    <a:pt x="63" y="11714"/>
                    <a:pt x="63" y="11850"/>
                  </a:cubicBezTo>
                  <a:cubicBezTo>
                    <a:pt x="63" y="12188"/>
                    <a:pt x="63" y="12459"/>
                    <a:pt x="0" y="12797"/>
                  </a:cubicBezTo>
                  <a:cubicBezTo>
                    <a:pt x="0" y="13271"/>
                    <a:pt x="0" y="13678"/>
                    <a:pt x="63" y="14152"/>
                  </a:cubicBezTo>
                  <a:cubicBezTo>
                    <a:pt x="63" y="14423"/>
                    <a:pt x="63" y="14693"/>
                    <a:pt x="63" y="14964"/>
                  </a:cubicBezTo>
                  <a:cubicBezTo>
                    <a:pt x="63" y="15167"/>
                    <a:pt x="63" y="15371"/>
                    <a:pt x="63" y="15574"/>
                  </a:cubicBezTo>
                  <a:cubicBezTo>
                    <a:pt x="63" y="15980"/>
                    <a:pt x="63" y="16318"/>
                    <a:pt x="63" y="16657"/>
                  </a:cubicBezTo>
                  <a:cubicBezTo>
                    <a:pt x="63" y="16792"/>
                    <a:pt x="63" y="16792"/>
                    <a:pt x="63" y="16792"/>
                  </a:cubicBezTo>
                  <a:cubicBezTo>
                    <a:pt x="188" y="16792"/>
                    <a:pt x="188" y="16792"/>
                    <a:pt x="188" y="16792"/>
                  </a:cubicBezTo>
                  <a:cubicBezTo>
                    <a:pt x="250" y="16792"/>
                    <a:pt x="376" y="16792"/>
                    <a:pt x="438" y="16792"/>
                  </a:cubicBezTo>
                  <a:cubicBezTo>
                    <a:pt x="563" y="16792"/>
                    <a:pt x="689" y="16792"/>
                    <a:pt x="814" y="16792"/>
                  </a:cubicBezTo>
                  <a:cubicBezTo>
                    <a:pt x="877" y="16792"/>
                    <a:pt x="877" y="16792"/>
                    <a:pt x="939" y="16792"/>
                  </a:cubicBezTo>
                  <a:cubicBezTo>
                    <a:pt x="1002" y="16792"/>
                    <a:pt x="1064" y="16792"/>
                    <a:pt x="1127" y="16725"/>
                  </a:cubicBezTo>
                  <a:cubicBezTo>
                    <a:pt x="1190" y="16725"/>
                    <a:pt x="1252" y="16589"/>
                    <a:pt x="1315" y="16589"/>
                  </a:cubicBezTo>
                  <a:cubicBezTo>
                    <a:pt x="1315" y="16522"/>
                    <a:pt x="1315" y="16522"/>
                    <a:pt x="1315" y="16522"/>
                  </a:cubicBezTo>
                  <a:cubicBezTo>
                    <a:pt x="1377" y="16522"/>
                    <a:pt x="1377" y="16454"/>
                    <a:pt x="1440" y="16454"/>
                  </a:cubicBezTo>
                  <a:cubicBezTo>
                    <a:pt x="1440" y="16522"/>
                    <a:pt x="1377" y="16522"/>
                    <a:pt x="1377" y="16589"/>
                  </a:cubicBezTo>
                  <a:cubicBezTo>
                    <a:pt x="1315" y="16725"/>
                    <a:pt x="1315" y="16725"/>
                    <a:pt x="1315" y="16725"/>
                  </a:cubicBezTo>
                  <a:cubicBezTo>
                    <a:pt x="1503" y="16725"/>
                    <a:pt x="1503" y="16725"/>
                    <a:pt x="1503" y="16725"/>
                  </a:cubicBezTo>
                  <a:cubicBezTo>
                    <a:pt x="1565" y="16725"/>
                    <a:pt x="1690" y="16792"/>
                    <a:pt x="1753" y="16792"/>
                  </a:cubicBezTo>
                  <a:cubicBezTo>
                    <a:pt x="1878" y="16792"/>
                    <a:pt x="2066" y="16860"/>
                    <a:pt x="2191" y="16860"/>
                  </a:cubicBezTo>
                  <a:cubicBezTo>
                    <a:pt x="2254" y="16860"/>
                    <a:pt x="2317" y="16792"/>
                    <a:pt x="2379" y="16792"/>
                  </a:cubicBezTo>
                  <a:cubicBezTo>
                    <a:pt x="2442" y="16792"/>
                    <a:pt x="2442" y="16792"/>
                    <a:pt x="2504" y="16792"/>
                  </a:cubicBezTo>
                  <a:cubicBezTo>
                    <a:pt x="2692" y="16792"/>
                    <a:pt x="2943" y="16860"/>
                    <a:pt x="3130" y="16996"/>
                  </a:cubicBezTo>
                  <a:cubicBezTo>
                    <a:pt x="3443" y="17199"/>
                    <a:pt x="3819" y="17537"/>
                    <a:pt x="4007" y="17876"/>
                  </a:cubicBezTo>
                  <a:cubicBezTo>
                    <a:pt x="4007" y="17944"/>
                    <a:pt x="4007" y="18011"/>
                    <a:pt x="4007" y="18011"/>
                  </a:cubicBezTo>
                  <a:cubicBezTo>
                    <a:pt x="4070" y="18079"/>
                    <a:pt x="4070" y="18214"/>
                    <a:pt x="4132" y="18282"/>
                  </a:cubicBezTo>
                  <a:cubicBezTo>
                    <a:pt x="4132" y="18282"/>
                    <a:pt x="4195" y="18350"/>
                    <a:pt x="4195" y="18418"/>
                  </a:cubicBezTo>
                  <a:cubicBezTo>
                    <a:pt x="4257" y="18418"/>
                    <a:pt x="4257" y="18485"/>
                    <a:pt x="4257" y="18553"/>
                  </a:cubicBezTo>
                  <a:cubicBezTo>
                    <a:pt x="4320" y="18553"/>
                    <a:pt x="4320" y="18553"/>
                    <a:pt x="4320" y="18553"/>
                  </a:cubicBezTo>
                  <a:cubicBezTo>
                    <a:pt x="4383" y="18688"/>
                    <a:pt x="4383" y="18756"/>
                    <a:pt x="4508" y="18824"/>
                  </a:cubicBezTo>
                  <a:cubicBezTo>
                    <a:pt x="4570" y="18892"/>
                    <a:pt x="4570" y="18892"/>
                    <a:pt x="4633" y="19027"/>
                  </a:cubicBezTo>
                  <a:cubicBezTo>
                    <a:pt x="4633" y="19027"/>
                    <a:pt x="4633" y="19095"/>
                    <a:pt x="4633" y="19095"/>
                  </a:cubicBezTo>
                  <a:cubicBezTo>
                    <a:pt x="4633" y="19298"/>
                    <a:pt x="4696" y="19569"/>
                    <a:pt x="4758" y="19704"/>
                  </a:cubicBezTo>
                  <a:cubicBezTo>
                    <a:pt x="4758" y="19839"/>
                    <a:pt x="4758" y="19839"/>
                    <a:pt x="4758" y="19839"/>
                  </a:cubicBezTo>
                  <a:cubicBezTo>
                    <a:pt x="4883" y="20178"/>
                    <a:pt x="5009" y="20517"/>
                    <a:pt x="5134" y="20855"/>
                  </a:cubicBezTo>
                  <a:cubicBezTo>
                    <a:pt x="5259" y="20991"/>
                    <a:pt x="5384" y="21126"/>
                    <a:pt x="5510" y="21194"/>
                  </a:cubicBezTo>
                  <a:cubicBezTo>
                    <a:pt x="5572" y="21261"/>
                    <a:pt x="5572" y="21261"/>
                    <a:pt x="5635" y="21329"/>
                  </a:cubicBezTo>
                  <a:cubicBezTo>
                    <a:pt x="5760" y="21397"/>
                    <a:pt x="5823" y="21465"/>
                    <a:pt x="5948" y="21532"/>
                  </a:cubicBezTo>
                  <a:cubicBezTo>
                    <a:pt x="5948" y="21600"/>
                    <a:pt x="6010" y="21600"/>
                    <a:pt x="6073" y="21600"/>
                  </a:cubicBezTo>
                  <a:cubicBezTo>
                    <a:pt x="6198" y="21600"/>
                    <a:pt x="6261" y="21532"/>
                    <a:pt x="6323" y="21532"/>
                  </a:cubicBezTo>
                  <a:cubicBezTo>
                    <a:pt x="6323" y="21465"/>
                    <a:pt x="6386" y="21465"/>
                    <a:pt x="6449" y="21465"/>
                  </a:cubicBezTo>
                  <a:cubicBezTo>
                    <a:pt x="6449" y="21465"/>
                    <a:pt x="6511" y="21465"/>
                    <a:pt x="6574" y="21465"/>
                  </a:cubicBezTo>
                  <a:cubicBezTo>
                    <a:pt x="6574" y="21465"/>
                    <a:pt x="6637" y="21465"/>
                    <a:pt x="6637" y="21465"/>
                  </a:cubicBezTo>
                  <a:cubicBezTo>
                    <a:pt x="6699" y="21465"/>
                    <a:pt x="6699" y="21465"/>
                    <a:pt x="6762" y="21465"/>
                  </a:cubicBezTo>
                  <a:cubicBezTo>
                    <a:pt x="6824" y="21465"/>
                    <a:pt x="6824" y="21465"/>
                    <a:pt x="6887" y="21465"/>
                  </a:cubicBezTo>
                  <a:cubicBezTo>
                    <a:pt x="6950" y="21465"/>
                    <a:pt x="6950" y="21397"/>
                    <a:pt x="7012" y="21397"/>
                  </a:cubicBezTo>
                  <a:cubicBezTo>
                    <a:pt x="7075" y="21397"/>
                    <a:pt x="7137" y="21397"/>
                    <a:pt x="7200" y="21397"/>
                  </a:cubicBezTo>
                  <a:cubicBezTo>
                    <a:pt x="7263" y="21397"/>
                    <a:pt x="7263" y="21397"/>
                    <a:pt x="7263" y="21397"/>
                  </a:cubicBezTo>
                  <a:cubicBezTo>
                    <a:pt x="7325" y="21397"/>
                    <a:pt x="7388" y="21397"/>
                    <a:pt x="7450" y="21397"/>
                  </a:cubicBezTo>
                  <a:cubicBezTo>
                    <a:pt x="7701" y="21397"/>
                    <a:pt x="7826" y="21261"/>
                    <a:pt x="7951" y="21126"/>
                  </a:cubicBezTo>
                  <a:cubicBezTo>
                    <a:pt x="8014" y="21058"/>
                    <a:pt x="8014" y="21058"/>
                    <a:pt x="8077" y="20991"/>
                  </a:cubicBezTo>
                  <a:cubicBezTo>
                    <a:pt x="8077" y="20991"/>
                    <a:pt x="8139" y="20923"/>
                    <a:pt x="8139" y="20923"/>
                  </a:cubicBezTo>
                  <a:cubicBezTo>
                    <a:pt x="8139" y="20923"/>
                    <a:pt x="8202" y="20991"/>
                    <a:pt x="8202" y="20991"/>
                  </a:cubicBezTo>
                  <a:cubicBezTo>
                    <a:pt x="8264" y="20991"/>
                    <a:pt x="8264" y="20991"/>
                    <a:pt x="8264" y="20991"/>
                  </a:cubicBezTo>
                  <a:cubicBezTo>
                    <a:pt x="8327" y="20991"/>
                    <a:pt x="8390" y="20923"/>
                    <a:pt x="8452" y="20923"/>
                  </a:cubicBezTo>
                  <a:cubicBezTo>
                    <a:pt x="8515" y="20923"/>
                    <a:pt x="8577" y="20923"/>
                    <a:pt x="8577" y="20923"/>
                  </a:cubicBezTo>
                  <a:cubicBezTo>
                    <a:pt x="8577" y="20923"/>
                    <a:pt x="8577" y="20923"/>
                    <a:pt x="8577" y="20923"/>
                  </a:cubicBezTo>
                  <a:cubicBezTo>
                    <a:pt x="8640" y="20923"/>
                    <a:pt x="8703" y="20923"/>
                    <a:pt x="8765" y="20991"/>
                  </a:cubicBezTo>
                  <a:cubicBezTo>
                    <a:pt x="8765" y="20991"/>
                    <a:pt x="8828" y="20991"/>
                    <a:pt x="8890" y="21058"/>
                  </a:cubicBezTo>
                  <a:cubicBezTo>
                    <a:pt x="8890" y="21058"/>
                    <a:pt x="8953" y="21058"/>
                    <a:pt x="9016" y="21058"/>
                  </a:cubicBezTo>
                  <a:cubicBezTo>
                    <a:pt x="9141" y="21058"/>
                    <a:pt x="9203" y="21058"/>
                    <a:pt x="9329" y="20991"/>
                  </a:cubicBezTo>
                  <a:cubicBezTo>
                    <a:pt x="9391" y="20991"/>
                    <a:pt x="9454" y="20991"/>
                    <a:pt x="9517" y="20991"/>
                  </a:cubicBezTo>
                  <a:cubicBezTo>
                    <a:pt x="9517" y="20991"/>
                    <a:pt x="9517" y="20991"/>
                    <a:pt x="9517" y="20991"/>
                  </a:cubicBezTo>
                  <a:cubicBezTo>
                    <a:pt x="9579" y="20991"/>
                    <a:pt x="9642" y="20991"/>
                    <a:pt x="9704" y="20991"/>
                  </a:cubicBezTo>
                  <a:cubicBezTo>
                    <a:pt x="9767" y="20991"/>
                    <a:pt x="9830" y="20991"/>
                    <a:pt x="9892" y="20991"/>
                  </a:cubicBezTo>
                  <a:cubicBezTo>
                    <a:pt x="10017" y="20991"/>
                    <a:pt x="10143" y="20991"/>
                    <a:pt x="10205" y="20855"/>
                  </a:cubicBezTo>
                  <a:cubicBezTo>
                    <a:pt x="10330" y="20787"/>
                    <a:pt x="10330" y="20652"/>
                    <a:pt x="10330" y="20584"/>
                  </a:cubicBezTo>
                  <a:cubicBezTo>
                    <a:pt x="10393" y="20720"/>
                    <a:pt x="10393" y="20720"/>
                    <a:pt x="10393" y="20720"/>
                  </a:cubicBezTo>
                  <a:cubicBezTo>
                    <a:pt x="10518" y="20517"/>
                    <a:pt x="10518" y="20517"/>
                    <a:pt x="10518" y="20517"/>
                  </a:cubicBezTo>
                  <a:cubicBezTo>
                    <a:pt x="10581" y="20381"/>
                    <a:pt x="10643" y="20246"/>
                    <a:pt x="10706" y="20178"/>
                  </a:cubicBezTo>
                  <a:cubicBezTo>
                    <a:pt x="10706" y="20110"/>
                    <a:pt x="10769" y="20043"/>
                    <a:pt x="10831" y="19975"/>
                  </a:cubicBezTo>
                  <a:cubicBezTo>
                    <a:pt x="10894" y="19839"/>
                    <a:pt x="10894" y="19839"/>
                    <a:pt x="10894" y="19839"/>
                  </a:cubicBezTo>
                  <a:cubicBezTo>
                    <a:pt x="10957" y="19704"/>
                    <a:pt x="11019" y="19569"/>
                    <a:pt x="11082" y="19366"/>
                  </a:cubicBezTo>
                  <a:cubicBezTo>
                    <a:pt x="11082" y="19230"/>
                    <a:pt x="11082" y="19162"/>
                    <a:pt x="11082" y="19095"/>
                  </a:cubicBezTo>
                  <a:cubicBezTo>
                    <a:pt x="11082" y="18959"/>
                    <a:pt x="11082" y="18959"/>
                    <a:pt x="11082" y="18959"/>
                  </a:cubicBezTo>
                  <a:cubicBezTo>
                    <a:pt x="11082" y="18892"/>
                    <a:pt x="11144" y="18824"/>
                    <a:pt x="11144" y="18824"/>
                  </a:cubicBezTo>
                  <a:cubicBezTo>
                    <a:pt x="11144" y="18756"/>
                    <a:pt x="11144" y="18756"/>
                    <a:pt x="11207" y="18688"/>
                  </a:cubicBezTo>
                  <a:cubicBezTo>
                    <a:pt x="11207" y="18621"/>
                    <a:pt x="11207" y="18485"/>
                    <a:pt x="11207" y="18418"/>
                  </a:cubicBezTo>
                  <a:cubicBezTo>
                    <a:pt x="11207" y="18350"/>
                    <a:pt x="11144" y="18282"/>
                    <a:pt x="11207" y="18214"/>
                  </a:cubicBezTo>
                  <a:cubicBezTo>
                    <a:pt x="11207" y="18079"/>
                    <a:pt x="11207" y="18011"/>
                    <a:pt x="11270" y="17944"/>
                  </a:cubicBezTo>
                  <a:cubicBezTo>
                    <a:pt x="11332" y="17944"/>
                    <a:pt x="11332" y="17876"/>
                    <a:pt x="11395" y="17876"/>
                  </a:cubicBezTo>
                  <a:cubicBezTo>
                    <a:pt x="11520" y="17740"/>
                    <a:pt x="11583" y="17605"/>
                    <a:pt x="11708" y="17470"/>
                  </a:cubicBezTo>
                  <a:cubicBezTo>
                    <a:pt x="11770" y="17334"/>
                    <a:pt x="11896" y="17266"/>
                    <a:pt x="11958" y="17131"/>
                  </a:cubicBezTo>
                  <a:cubicBezTo>
                    <a:pt x="12083" y="16996"/>
                    <a:pt x="12209" y="16928"/>
                    <a:pt x="12271" y="16792"/>
                  </a:cubicBezTo>
                  <a:cubicBezTo>
                    <a:pt x="12397" y="16589"/>
                    <a:pt x="12459" y="16522"/>
                    <a:pt x="12647" y="16522"/>
                  </a:cubicBezTo>
                  <a:cubicBezTo>
                    <a:pt x="12772" y="16522"/>
                    <a:pt x="12772" y="16522"/>
                    <a:pt x="12772" y="16522"/>
                  </a:cubicBezTo>
                  <a:cubicBezTo>
                    <a:pt x="12772" y="16386"/>
                    <a:pt x="12772" y="16386"/>
                    <a:pt x="12772" y="16386"/>
                  </a:cubicBezTo>
                  <a:cubicBezTo>
                    <a:pt x="12772" y="16318"/>
                    <a:pt x="12772" y="16251"/>
                    <a:pt x="12710" y="16183"/>
                  </a:cubicBezTo>
                  <a:cubicBezTo>
                    <a:pt x="12710" y="16115"/>
                    <a:pt x="12710" y="15980"/>
                    <a:pt x="12710" y="15912"/>
                  </a:cubicBezTo>
                  <a:cubicBezTo>
                    <a:pt x="12772" y="15912"/>
                    <a:pt x="12772" y="15912"/>
                    <a:pt x="12835" y="15912"/>
                  </a:cubicBezTo>
                  <a:cubicBezTo>
                    <a:pt x="12897" y="15912"/>
                    <a:pt x="12897" y="15912"/>
                    <a:pt x="12960" y="15912"/>
                  </a:cubicBezTo>
                  <a:cubicBezTo>
                    <a:pt x="12960" y="15845"/>
                    <a:pt x="12960" y="15845"/>
                    <a:pt x="12960" y="15845"/>
                  </a:cubicBezTo>
                  <a:cubicBezTo>
                    <a:pt x="13085" y="15777"/>
                    <a:pt x="13085" y="15777"/>
                    <a:pt x="13085" y="15777"/>
                  </a:cubicBezTo>
                  <a:cubicBezTo>
                    <a:pt x="13023" y="15777"/>
                    <a:pt x="13023" y="15777"/>
                    <a:pt x="13023" y="15777"/>
                  </a:cubicBezTo>
                  <a:cubicBezTo>
                    <a:pt x="13085" y="15777"/>
                    <a:pt x="13085" y="15777"/>
                    <a:pt x="13085" y="15777"/>
                  </a:cubicBezTo>
                  <a:cubicBezTo>
                    <a:pt x="13148" y="15709"/>
                    <a:pt x="13210" y="15574"/>
                    <a:pt x="13273" y="15506"/>
                  </a:cubicBezTo>
                  <a:cubicBezTo>
                    <a:pt x="13336" y="15438"/>
                    <a:pt x="13398" y="15371"/>
                    <a:pt x="13461" y="15371"/>
                  </a:cubicBezTo>
                  <a:cubicBezTo>
                    <a:pt x="13461" y="15371"/>
                    <a:pt x="13461" y="15371"/>
                    <a:pt x="13461" y="15371"/>
                  </a:cubicBezTo>
                  <a:cubicBezTo>
                    <a:pt x="13461" y="15371"/>
                    <a:pt x="13461" y="15371"/>
                    <a:pt x="13523" y="15506"/>
                  </a:cubicBezTo>
                  <a:cubicBezTo>
                    <a:pt x="13523" y="15506"/>
                    <a:pt x="13523" y="15506"/>
                    <a:pt x="13523" y="15506"/>
                  </a:cubicBezTo>
                  <a:cubicBezTo>
                    <a:pt x="13523" y="15574"/>
                    <a:pt x="13586" y="15574"/>
                    <a:pt x="13586" y="15574"/>
                  </a:cubicBezTo>
                  <a:cubicBezTo>
                    <a:pt x="13586" y="15709"/>
                    <a:pt x="13649" y="15709"/>
                    <a:pt x="13711" y="15709"/>
                  </a:cubicBezTo>
                  <a:cubicBezTo>
                    <a:pt x="13774" y="15777"/>
                    <a:pt x="13774" y="15777"/>
                    <a:pt x="13837" y="15777"/>
                  </a:cubicBezTo>
                  <a:cubicBezTo>
                    <a:pt x="13962" y="15777"/>
                    <a:pt x="14024" y="15709"/>
                    <a:pt x="14087" y="15709"/>
                  </a:cubicBezTo>
                  <a:cubicBezTo>
                    <a:pt x="14150" y="15641"/>
                    <a:pt x="14150" y="15574"/>
                    <a:pt x="14150" y="15438"/>
                  </a:cubicBezTo>
                  <a:cubicBezTo>
                    <a:pt x="14212" y="15371"/>
                    <a:pt x="14212" y="15303"/>
                    <a:pt x="14275" y="15235"/>
                  </a:cubicBezTo>
                  <a:cubicBezTo>
                    <a:pt x="14275" y="15235"/>
                    <a:pt x="14337" y="15167"/>
                    <a:pt x="14400" y="15167"/>
                  </a:cubicBezTo>
                  <a:cubicBezTo>
                    <a:pt x="14400" y="15167"/>
                    <a:pt x="14400" y="15167"/>
                    <a:pt x="14463" y="15167"/>
                  </a:cubicBezTo>
                  <a:cubicBezTo>
                    <a:pt x="14588" y="15235"/>
                    <a:pt x="14650" y="15438"/>
                    <a:pt x="14713" y="15641"/>
                  </a:cubicBezTo>
                  <a:cubicBezTo>
                    <a:pt x="14776" y="15709"/>
                    <a:pt x="14838" y="15777"/>
                    <a:pt x="14838" y="15777"/>
                  </a:cubicBezTo>
                  <a:cubicBezTo>
                    <a:pt x="14901" y="15845"/>
                    <a:pt x="14963" y="15912"/>
                    <a:pt x="15026" y="15912"/>
                  </a:cubicBezTo>
                  <a:cubicBezTo>
                    <a:pt x="15089" y="15912"/>
                    <a:pt x="15151" y="15980"/>
                    <a:pt x="15151" y="16048"/>
                  </a:cubicBezTo>
                  <a:cubicBezTo>
                    <a:pt x="15214" y="16115"/>
                    <a:pt x="15214" y="16183"/>
                    <a:pt x="15214" y="16318"/>
                  </a:cubicBezTo>
                  <a:cubicBezTo>
                    <a:pt x="15151" y="16386"/>
                    <a:pt x="15151" y="16522"/>
                    <a:pt x="15214" y="16589"/>
                  </a:cubicBezTo>
                  <a:cubicBezTo>
                    <a:pt x="15277" y="16657"/>
                    <a:pt x="15339" y="16657"/>
                    <a:pt x="15402" y="16657"/>
                  </a:cubicBezTo>
                  <a:cubicBezTo>
                    <a:pt x="15402" y="16657"/>
                    <a:pt x="15402" y="16657"/>
                    <a:pt x="15402" y="16657"/>
                  </a:cubicBezTo>
                  <a:cubicBezTo>
                    <a:pt x="15590" y="16657"/>
                    <a:pt x="15777" y="16454"/>
                    <a:pt x="15965" y="16183"/>
                  </a:cubicBezTo>
                  <a:cubicBezTo>
                    <a:pt x="16028" y="16115"/>
                    <a:pt x="16028" y="15980"/>
                    <a:pt x="16090" y="15912"/>
                  </a:cubicBezTo>
                  <a:cubicBezTo>
                    <a:pt x="16090" y="15777"/>
                    <a:pt x="16090" y="15709"/>
                    <a:pt x="16090" y="15641"/>
                  </a:cubicBezTo>
                  <a:cubicBezTo>
                    <a:pt x="16153" y="15574"/>
                    <a:pt x="16216" y="15506"/>
                    <a:pt x="16341" y="15506"/>
                  </a:cubicBezTo>
                  <a:cubicBezTo>
                    <a:pt x="16341" y="15506"/>
                    <a:pt x="16403" y="15506"/>
                    <a:pt x="16466" y="15438"/>
                  </a:cubicBezTo>
                  <a:cubicBezTo>
                    <a:pt x="16654" y="15303"/>
                    <a:pt x="16591" y="15167"/>
                    <a:pt x="16529" y="14964"/>
                  </a:cubicBezTo>
                  <a:cubicBezTo>
                    <a:pt x="16529" y="14829"/>
                    <a:pt x="16466" y="14693"/>
                    <a:pt x="16591" y="14558"/>
                  </a:cubicBezTo>
                  <a:cubicBezTo>
                    <a:pt x="16591" y="14490"/>
                    <a:pt x="16654" y="14490"/>
                    <a:pt x="16717" y="14423"/>
                  </a:cubicBezTo>
                  <a:cubicBezTo>
                    <a:pt x="16779" y="14355"/>
                    <a:pt x="16842" y="14287"/>
                    <a:pt x="16904" y="14152"/>
                  </a:cubicBezTo>
                  <a:cubicBezTo>
                    <a:pt x="16904" y="14084"/>
                    <a:pt x="16904" y="14016"/>
                    <a:pt x="16904" y="13949"/>
                  </a:cubicBezTo>
                  <a:cubicBezTo>
                    <a:pt x="16904" y="13813"/>
                    <a:pt x="16904" y="13745"/>
                    <a:pt x="16967" y="13678"/>
                  </a:cubicBezTo>
                  <a:cubicBezTo>
                    <a:pt x="16967" y="13610"/>
                    <a:pt x="17030" y="13542"/>
                    <a:pt x="17030" y="13475"/>
                  </a:cubicBezTo>
                  <a:cubicBezTo>
                    <a:pt x="17092" y="13339"/>
                    <a:pt x="17155" y="13271"/>
                    <a:pt x="17217" y="13136"/>
                  </a:cubicBezTo>
                  <a:cubicBezTo>
                    <a:pt x="17217" y="13001"/>
                    <a:pt x="17217" y="13001"/>
                    <a:pt x="17217" y="13001"/>
                  </a:cubicBezTo>
                  <a:cubicBezTo>
                    <a:pt x="17217" y="12865"/>
                    <a:pt x="17280" y="12730"/>
                    <a:pt x="17280" y="12594"/>
                  </a:cubicBezTo>
                  <a:cubicBezTo>
                    <a:pt x="17343" y="12188"/>
                    <a:pt x="17530" y="11917"/>
                    <a:pt x="17843" y="11782"/>
                  </a:cubicBezTo>
                  <a:cubicBezTo>
                    <a:pt x="18282" y="11579"/>
                    <a:pt x="18282" y="11308"/>
                    <a:pt x="18344" y="10902"/>
                  </a:cubicBezTo>
                  <a:cubicBezTo>
                    <a:pt x="18407" y="10766"/>
                    <a:pt x="18407" y="10766"/>
                    <a:pt x="18407" y="10766"/>
                  </a:cubicBezTo>
                  <a:cubicBezTo>
                    <a:pt x="18407" y="10698"/>
                    <a:pt x="18407" y="10631"/>
                    <a:pt x="18407" y="10563"/>
                  </a:cubicBezTo>
                  <a:cubicBezTo>
                    <a:pt x="18407" y="10428"/>
                    <a:pt x="18407" y="10360"/>
                    <a:pt x="18470" y="10292"/>
                  </a:cubicBezTo>
                  <a:cubicBezTo>
                    <a:pt x="18532" y="10021"/>
                    <a:pt x="18657" y="9886"/>
                    <a:pt x="18908" y="9818"/>
                  </a:cubicBezTo>
                  <a:cubicBezTo>
                    <a:pt x="19033" y="9818"/>
                    <a:pt x="19033" y="9818"/>
                    <a:pt x="19033" y="9818"/>
                  </a:cubicBezTo>
                  <a:cubicBezTo>
                    <a:pt x="19033" y="9683"/>
                    <a:pt x="19033" y="9683"/>
                    <a:pt x="19033" y="9683"/>
                  </a:cubicBezTo>
                  <a:cubicBezTo>
                    <a:pt x="19033" y="9615"/>
                    <a:pt x="19033" y="9547"/>
                    <a:pt x="19033" y="9412"/>
                  </a:cubicBezTo>
                  <a:cubicBezTo>
                    <a:pt x="19033" y="9209"/>
                    <a:pt x="19033" y="9006"/>
                    <a:pt x="19096" y="8870"/>
                  </a:cubicBezTo>
                  <a:cubicBezTo>
                    <a:pt x="19096" y="8667"/>
                    <a:pt x="19158" y="8599"/>
                    <a:pt x="19283" y="8532"/>
                  </a:cubicBezTo>
                  <a:cubicBezTo>
                    <a:pt x="19409" y="8464"/>
                    <a:pt x="19471" y="8396"/>
                    <a:pt x="19471" y="8193"/>
                  </a:cubicBezTo>
                  <a:cubicBezTo>
                    <a:pt x="19534" y="8125"/>
                    <a:pt x="19534" y="7990"/>
                    <a:pt x="19534" y="7922"/>
                  </a:cubicBezTo>
                  <a:cubicBezTo>
                    <a:pt x="19534" y="7651"/>
                    <a:pt x="19534" y="7448"/>
                    <a:pt x="19659" y="7245"/>
                  </a:cubicBezTo>
                  <a:cubicBezTo>
                    <a:pt x="19722" y="7042"/>
                    <a:pt x="19722" y="7042"/>
                    <a:pt x="19722" y="7042"/>
                  </a:cubicBezTo>
                  <a:cubicBezTo>
                    <a:pt x="19784" y="6839"/>
                    <a:pt x="19910" y="6636"/>
                    <a:pt x="20035" y="6433"/>
                  </a:cubicBezTo>
                  <a:cubicBezTo>
                    <a:pt x="20035" y="6365"/>
                    <a:pt x="20097" y="6365"/>
                    <a:pt x="20097" y="6297"/>
                  </a:cubicBezTo>
                  <a:cubicBezTo>
                    <a:pt x="20223" y="6094"/>
                    <a:pt x="20285" y="6026"/>
                    <a:pt x="20536" y="5959"/>
                  </a:cubicBezTo>
                  <a:cubicBezTo>
                    <a:pt x="20786" y="5959"/>
                    <a:pt x="20911" y="5823"/>
                    <a:pt x="21099" y="5620"/>
                  </a:cubicBezTo>
                  <a:cubicBezTo>
                    <a:pt x="21162" y="5620"/>
                    <a:pt x="21224" y="5552"/>
                    <a:pt x="21287" y="5485"/>
                  </a:cubicBezTo>
                  <a:cubicBezTo>
                    <a:pt x="21475" y="5349"/>
                    <a:pt x="21475" y="5146"/>
                    <a:pt x="21475" y="4943"/>
                  </a:cubicBezTo>
                  <a:cubicBezTo>
                    <a:pt x="21475" y="4875"/>
                    <a:pt x="21475" y="4808"/>
                    <a:pt x="21475" y="4672"/>
                  </a:cubicBezTo>
                  <a:cubicBezTo>
                    <a:pt x="21475" y="4604"/>
                    <a:pt x="21475" y="4604"/>
                    <a:pt x="21537" y="4537"/>
                  </a:cubicBezTo>
                  <a:cubicBezTo>
                    <a:pt x="21537" y="4266"/>
                    <a:pt x="21600" y="3927"/>
                    <a:pt x="21475" y="3724"/>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58" name="Shape">
              <a:extLst>
                <a:ext uri="{FF2B5EF4-FFF2-40B4-BE49-F238E27FC236}">
                  <a16:creationId xmlns:a16="http://schemas.microsoft.com/office/drawing/2014/main" id="{6C9DD58E-FF07-8A40-AEBD-DEB1C9F35EA6}"/>
                </a:ext>
              </a:extLst>
            </p:cNvPr>
            <p:cNvSpPr/>
            <p:nvPr/>
          </p:nvSpPr>
          <p:spPr>
            <a:xfrm>
              <a:off x="3781001" y="2869295"/>
              <a:ext cx="869972" cy="1338873"/>
            </a:xfrm>
            <a:custGeom>
              <a:avLst/>
              <a:gdLst/>
              <a:ahLst/>
              <a:cxnLst>
                <a:cxn ang="0">
                  <a:pos x="wd2" y="hd2"/>
                </a:cxn>
                <a:cxn ang="5400000">
                  <a:pos x="wd2" y="hd2"/>
                </a:cxn>
                <a:cxn ang="10800000">
                  <a:pos x="wd2" y="hd2"/>
                </a:cxn>
                <a:cxn ang="16200000">
                  <a:pos x="wd2" y="hd2"/>
                </a:cxn>
              </a:cxnLst>
              <a:rect l="0" t="0" r="r" b="b"/>
              <a:pathLst>
                <a:path w="21576" h="21600" extrusionOk="0">
                  <a:moveTo>
                    <a:pt x="21504" y="20791"/>
                  </a:moveTo>
                  <a:cubicBezTo>
                    <a:pt x="21407" y="20676"/>
                    <a:pt x="21407" y="20503"/>
                    <a:pt x="21407" y="20387"/>
                  </a:cubicBezTo>
                  <a:cubicBezTo>
                    <a:pt x="21407" y="20272"/>
                    <a:pt x="21407" y="20156"/>
                    <a:pt x="21407" y="20041"/>
                  </a:cubicBezTo>
                  <a:cubicBezTo>
                    <a:pt x="21504" y="19810"/>
                    <a:pt x="21504" y="19521"/>
                    <a:pt x="21311" y="19290"/>
                  </a:cubicBezTo>
                  <a:cubicBezTo>
                    <a:pt x="21118" y="19117"/>
                    <a:pt x="20829" y="19001"/>
                    <a:pt x="20539" y="18886"/>
                  </a:cubicBezTo>
                  <a:cubicBezTo>
                    <a:pt x="20346" y="18770"/>
                    <a:pt x="20154" y="18712"/>
                    <a:pt x="19961" y="18597"/>
                  </a:cubicBezTo>
                  <a:cubicBezTo>
                    <a:pt x="19864" y="18481"/>
                    <a:pt x="19671" y="18424"/>
                    <a:pt x="19575" y="18308"/>
                  </a:cubicBezTo>
                  <a:cubicBezTo>
                    <a:pt x="19286" y="18135"/>
                    <a:pt x="18996" y="17961"/>
                    <a:pt x="18804" y="17788"/>
                  </a:cubicBezTo>
                  <a:cubicBezTo>
                    <a:pt x="18611" y="17615"/>
                    <a:pt x="18611" y="17442"/>
                    <a:pt x="18611" y="17211"/>
                  </a:cubicBezTo>
                  <a:cubicBezTo>
                    <a:pt x="18611" y="17037"/>
                    <a:pt x="18707" y="16864"/>
                    <a:pt x="18611" y="16749"/>
                  </a:cubicBezTo>
                  <a:cubicBezTo>
                    <a:pt x="18514" y="16575"/>
                    <a:pt x="18321" y="16518"/>
                    <a:pt x="18129" y="16460"/>
                  </a:cubicBezTo>
                  <a:cubicBezTo>
                    <a:pt x="18032" y="16402"/>
                    <a:pt x="17839" y="16344"/>
                    <a:pt x="17743" y="16229"/>
                  </a:cubicBezTo>
                  <a:cubicBezTo>
                    <a:pt x="17550" y="16056"/>
                    <a:pt x="17550" y="15825"/>
                    <a:pt x="17550" y="15594"/>
                  </a:cubicBezTo>
                  <a:cubicBezTo>
                    <a:pt x="17454" y="15420"/>
                    <a:pt x="17454" y="15420"/>
                    <a:pt x="17454" y="15420"/>
                  </a:cubicBezTo>
                  <a:cubicBezTo>
                    <a:pt x="17454" y="15363"/>
                    <a:pt x="17454" y="15247"/>
                    <a:pt x="17454" y="15189"/>
                  </a:cubicBezTo>
                  <a:cubicBezTo>
                    <a:pt x="17454" y="15074"/>
                    <a:pt x="17454" y="15074"/>
                    <a:pt x="17357" y="15016"/>
                  </a:cubicBezTo>
                  <a:cubicBezTo>
                    <a:pt x="17261" y="15016"/>
                    <a:pt x="17261" y="14958"/>
                    <a:pt x="17261" y="14958"/>
                  </a:cubicBezTo>
                  <a:cubicBezTo>
                    <a:pt x="17068" y="14785"/>
                    <a:pt x="17164" y="14612"/>
                    <a:pt x="17164" y="14439"/>
                  </a:cubicBezTo>
                  <a:cubicBezTo>
                    <a:pt x="17164" y="14381"/>
                    <a:pt x="17164" y="14381"/>
                    <a:pt x="17164" y="14381"/>
                  </a:cubicBezTo>
                  <a:cubicBezTo>
                    <a:pt x="17261" y="14207"/>
                    <a:pt x="17261" y="13976"/>
                    <a:pt x="17261" y="13745"/>
                  </a:cubicBezTo>
                  <a:cubicBezTo>
                    <a:pt x="17261" y="13630"/>
                    <a:pt x="17261" y="13630"/>
                    <a:pt x="17261" y="13630"/>
                  </a:cubicBezTo>
                  <a:cubicBezTo>
                    <a:pt x="17164" y="13630"/>
                    <a:pt x="17164" y="13630"/>
                    <a:pt x="17164" y="13630"/>
                  </a:cubicBezTo>
                  <a:cubicBezTo>
                    <a:pt x="16971" y="13572"/>
                    <a:pt x="16779" y="13514"/>
                    <a:pt x="16779" y="13457"/>
                  </a:cubicBezTo>
                  <a:cubicBezTo>
                    <a:pt x="16779" y="13341"/>
                    <a:pt x="17068" y="13168"/>
                    <a:pt x="17261" y="13052"/>
                  </a:cubicBezTo>
                  <a:cubicBezTo>
                    <a:pt x="17550" y="12937"/>
                    <a:pt x="17743" y="12821"/>
                    <a:pt x="17743" y="12706"/>
                  </a:cubicBezTo>
                  <a:cubicBezTo>
                    <a:pt x="17839" y="12648"/>
                    <a:pt x="17839" y="12590"/>
                    <a:pt x="17936" y="12475"/>
                  </a:cubicBezTo>
                  <a:cubicBezTo>
                    <a:pt x="17936" y="12359"/>
                    <a:pt x="18032" y="12244"/>
                    <a:pt x="18129" y="12128"/>
                  </a:cubicBezTo>
                  <a:cubicBezTo>
                    <a:pt x="18418" y="11897"/>
                    <a:pt x="18611" y="11782"/>
                    <a:pt x="18707" y="11493"/>
                  </a:cubicBezTo>
                  <a:cubicBezTo>
                    <a:pt x="18804" y="11262"/>
                    <a:pt x="18996" y="11147"/>
                    <a:pt x="19189" y="10973"/>
                  </a:cubicBezTo>
                  <a:cubicBezTo>
                    <a:pt x="19479" y="10742"/>
                    <a:pt x="19768" y="10511"/>
                    <a:pt x="19575" y="10165"/>
                  </a:cubicBezTo>
                  <a:cubicBezTo>
                    <a:pt x="19286" y="9645"/>
                    <a:pt x="18996" y="9067"/>
                    <a:pt x="18514" y="8605"/>
                  </a:cubicBezTo>
                  <a:cubicBezTo>
                    <a:pt x="18321" y="8432"/>
                    <a:pt x="18032" y="8317"/>
                    <a:pt x="17743" y="8201"/>
                  </a:cubicBezTo>
                  <a:cubicBezTo>
                    <a:pt x="17646" y="8143"/>
                    <a:pt x="17550" y="8086"/>
                    <a:pt x="17454" y="8028"/>
                  </a:cubicBezTo>
                  <a:cubicBezTo>
                    <a:pt x="16971" y="7797"/>
                    <a:pt x="16586" y="7566"/>
                    <a:pt x="16200" y="7277"/>
                  </a:cubicBezTo>
                  <a:cubicBezTo>
                    <a:pt x="16007" y="7161"/>
                    <a:pt x="15911" y="7046"/>
                    <a:pt x="15718" y="6930"/>
                  </a:cubicBezTo>
                  <a:cubicBezTo>
                    <a:pt x="15718" y="6873"/>
                    <a:pt x="15621" y="6873"/>
                    <a:pt x="15525" y="6815"/>
                  </a:cubicBezTo>
                  <a:cubicBezTo>
                    <a:pt x="15429" y="6757"/>
                    <a:pt x="15236" y="6699"/>
                    <a:pt x="15236" y="6584"/>
                  </a:cubicBezTo>
                  <a:cubicBezTo>
                    <a:pt x="15236" y="6526"/>
                    <a:pt x="15332" y="6468"/>
                    <a:pt x="15525" y="6353"/>
                  </a:cubicBezTo>
                  <a:cubicBezTo>
                    <a:pt x="15525" y="6295"/>
                    <a:pt x="15621" y="6295"/>
                    <a:pt x="15718" y="6237"/>
                  </a:cubicBezTo>
                  <a:cubicBezTo>
                    <a:pt x="15718" y="6237"/>
                    <a:pt x="15814" y="6180"/>
                    <a:pt x="15814" y="6122"/>
                  </a:cubicBezTo>
                  <a:cubicBezTo>
                    <a:pt x="15911" y="6006"/>
                    <a:pt x="16007" y="5891"/>
                    <a:pt x="16200" y="5833"/>
                  </a:cubicBezTo>
                  <a:cubicBezTo>
                    <a:pt x="16296" y="5833"/>
                    <a:pt x="16393" y="5775"/>
                    <a:pt x="16489" y="5775"/>
                  </a:cubicBezTo>
                  <a:cubicBezTo>
                    <a:pt x="16682" y="5775"/>
                    <a:pt x="16875" y="5833"/>
                    <a:pt x="17068" y="5833"/>
                  </a:cubicBezTo>
                  <a:cubicBezTo>
                    <a:pt x="17261" y="5891"/>
                    <a:pt x="17261" y="5891"/>
                    <a:pt x="17261" y="5891"/>
                  </a:cubicBezTo>
                  <a:cubicBezTo>
                    <a:pt x="17357" y="5891"/>
                    <a:pt x="17454" y="5891"/>
                    <a:pt x="17646" y="5891"/>
                  </a:cubicBezTo>
                  <a:cubicBezTo>
                    <a:pt x="17743" y="5891"/>
                    <a:pt x="17936" y="5891"/>
                    <a:pt x="18129" y="5891"/>
                  </a:cubicBezTo>
                  <a:cubicBezTo>
                    <a:pt x="18225" y="5833"/>
                    <a:pt x="18321" y="5833"/>
                    <a:pt x="18418" y="5833"/>
                  </a:cubicBezTo>
                  <a:cubicBezTo>
                    <a:pt x="18707" y="5833"/>
                    <a:pt x="18900" y="5891"/>
                    <a:pt x="19093" y="5949"/>
                  </a:cubicBezTo>
                  <a:cubicBezTo>
                    <a:pt x="19189" y="5949"/>
                    <a:pt x="19189" y="5949"/>
                    <a:pt x="19189" y="5949"/>
                  </a:cubicBezTo>
                  <a:cubicBezTo>
                    <a:pt x="19286" y="6006"/>
                    <a:pt x="19479" y="6006"/>
                    <a:pt x="19575" y="6006"/>
                  </a:cubicBezTo>
                  <a:cubicBezTo>
                    <a:pt x="19671" y="6006"/>
                    <a:pt x="19768" y="6006"/>
                    <a:pt x="19768" y="5949"/>
                  </a:cubicBezTo>
                  <a:cubicBezTo>
                    <a:pt x="19864" y="5949"/>
                    <a:pt x="19864" y="5949"/>
                    <a:pt x="19864" y="5949"/>
                  </a:cubicBezTo>
                  <a:cubicBezTo>
                    <a:pt x="19864" y="5891"/>
                    <a:pt x="19864" y="5891"/>
                    <a:pt x="19864" y="5891"/>
                  </a:cubicBezTo>
                  <a:cubicBezTo>
                    <a:pt x="19864" y="5775"/>
                    <a:pt x="19671" y="5718"/>
                    <a:pt x="19575" y="5660"/>
                  </a:cubicBezTo>
                  <a:cubicBezTo>
                    <a:pt x="19479" y="5660"/>
                    <a:pt x="19479" y="5660"/>
                    <a:pt x="19382" y="5602"/>
                  </a:cubicBezTo>
                  <a:cubicBezTo>
                    <a:pt x="18900" y="5371"/>
                    <a:pt x="18514" y="4967"/>
                    <a:pt x="18418" y="4620"/>
                  </a:cubicBezTo>
                  <a:cubicBezTo>
                    <a:pt x="18321" y="4389"/>
                    <a:pt x="18225" y="4216"/>
                    <a:pt x="18129" y="3985"/>
                  </a:cubicBezTo>
                  <a:cubicBezTo>
                    <a:pt x="17936" y="3696"/>
                    <a:pt x="18032" y="3523"/>
                    <a:pt x="18129" y="3292"/>
                  </a:cubicBezTo>
                  <a:cubicBezTo>
                    <a:pt x="18418" y="2830"/>
                    <a:pt x="18225" y="2426"/>
                    <a:pt x="17839" y="1906"/>
                  </a:cubicBezTo>
                  <a:cubicBezTo>
                    <a:pt x="17743" y="1733"/>
                    <a:pt x="17743" y="1559"/>
                    <a:pt x="17743" y="1444"/>
                  </a:cubicBezTo>
                  <a:cubicBezTo>
                    <a:pt x="17743" y="1386"/>
                    <a:pt x="17743" y="1386"/>
                    <a:pt x="17743" y="1386"/>
                  </a:cubicBezTo>
                  <a:cubicBezTo>
                    <a:pt x="17646" y="1328"/>
                    <a:pt x="17646" y="1271"/>
                    <a:pt x="17646" y="1271"/>
                  </a:cubicBezTo>
                  <a:cubicBezTo>
                    <a:pt x="17550" y="982"/>
                    <a:pt x="17454" y="924"/>
                    <a:pt x="17164" y="751"/>
                  </a:cubicBezTo>
                  <a:cubicBezTo>
                    <a:pt x="17068" y="751"/>
                    <a:pt x="17068" y="751"/>
                    <a:pt x="17068" y="751"/>
                  </a:cubicBezTo>
                  <a:cubicBezTo>
                    <a:pt x="16779" y="635"/>
                    <a:pt x="16779" y="520"/>
                    <a:pt x="16779" y="404"/>
                  </a:cubicBezTo>
                  <a:cubicBezTo>
                    <a:pt x="16682" y="347"/>
                    <a:pt x="16682" y="231"/>
                    <a:pt x="16586" y="173"/>
                  </a:cubicBezTo>
                  <a:cubicBezTo>
                    <a:pt x="16489" y="58"/>
                    <a:pt x="16296" y="0"/>
                    <a:pt x="16007" y="0"/>
                  </a:cubicBezTo>
                  <a:cubicBezTo>
                    <a:pt x="15911" y="0"/>
                    <a:pt x="15814" y="0"/>
                    <a:pt x="15718" y="0"/>
                  </a:cubicBezTo>
                  <a:cubicBezTo>
                    <a:pt x="15525" y="0"/>
                    <a:pt x="15525" y="0"/>
                    <a:pt x="15525" y="0"/>
                  </a:cubicBezTo>
                  <a:cubicBezTo>
                    <a:pt x="15525" y="116"/>
                    <a:pt x="15525" y="116"/>
                    <a:pt x="15525" y="116"/>
                  </a:cubicBezTo>
                  <a:cubicBezTo>
                    <a:pt x="15621" y="231"/>
                    <a:pt x="15621" y="347"/>
                    <a:pt x="15718" y="462"/>
                  </a:cubicBezTo>
                  <a:cubicBezTo>
                    <a:pt x="15718" y="578"/>
                    <a:pt x="15718" y="693"/>
                    <a:pt x="15814" y="751"/>
                  </a:cubicBezTo>
                  <a:cubicBezTo>
                    <a:pt x="15814" y="866"/>
                    <a:pt x="15814" y="924"/>
                    <a:pt x="15814" y="982"/>
                  </a:cubicBezTo>
                  <a:cubicBezTo>
                    <a:pt x="15814" y="1097"/>
                    <a:pt x="15814" y="1155"/>
                    <a:pt x="15814" y="1213"/>
                  </a:cubicBezTo>
                  <a:cubicBezTo>
                    <a:pt x="15911" y="1386"/>
                    <a:pt x="16200" y="1386"/>
                    <a:pt x="16489" y="1444"/>
                  </a:cubicBezTo>
                  <a:cubicBezTo>
                    <a:pt x="16682" y="1502"/>
                    <a:pt x="16875" y="1502"/>
                    <a:pt x="17068" y="1617"/>
                  </a:cubicBezTo>
                  <a:cubicBezTo>
                    <a:pt x="17261" y="1848"/>
                    <a:pt x="17164" y="2079"/>
                    <a:pt x="17068" y="2310"/>
                  </a:cubicBezTo>
                  <a:cubicBezTo>
                    <a:pt x="17068" y="2368"/>
                    <a:pt x="17068" y="2368"/>
                    <a:pt x="17068" y="2426"/>
                  </a:cubicBezTo>
                  <a:cubicBezTo>
                    <a:pt x="16971" y="2541"/>
                    <a:pt x="17068" y="2599"/>
                    <a:pt x="17068" y="2657"/>
                  </a:cubicBezTo>
                  <a:cubicBezTo>
                    <a:pt x="17068" y="2830"/>
                    <a:pt x="17068" y="2945"/>
                    <a:pt x="16682" y="3119"/>
                  </a:cubicBezTo>
                  <a:cubicBezTo>
                    <a:pt x="16682" y="3119"/>
                    <a:pt x="16586" y="3176"/>
                    <a:pt x="16489" y="3234"/>
                  </a:cubicBezTo>
                  <a:cubicBezTo>
                    <a:pt x="16200" y="3350"/>
                    <a:pt x="16007" y="3465"/>
                    <a:pt x="15621" y="3523"/>
                  </a:cubicBezTo>
                  <a:cubicBezTo>
                    <a:pt x="15236" y="3523"/>
                    <a:pt x="15139" y="3639"/>
                    <a:pt x="14946" y="3812"/>
                  </a:cubicBezTo>
                  <a:cubicBezTo>
                    <a:pt x="14946" y="3812"/>
                    <a:pt x="14850" y="3870"/>
                    <a:pt x="14754" y="3927"/>
                  </a:cubicBezTo>
                  <a:cubicBezTo>
                    <a:pt x="14657" y="4101"/>
                    <a:pt x="14464" y="4274"/>
                    <a:pt x="14368" y="4447"/>
                  </a:cubicBezTo>
                  <a:cubicBezTo>
                    <a:pt x="14175" y="4620"/>
                    <a:pt x="14175" y="4620"/>
                    <a:pt x="14175" y="4620"/>
                  </a:cubicBezTo>
                  <a:cubicBezTo>
                    <a:pt x="14079" y="4794"/>
                    <a:pt x="14079" y="4967"/>
                    <a:pt x="13982" y="5198"/>
                  </a:cubicBezTo>
                  <a:cubicBezTo>
                    <a:pt x="13982" y="5256"/>
                    <a:pt x="13982" y="5371"/>
                    <a:pt x="13982" y="5429"/>
                  </a:cubicBezTo>
                  <a:cubicBezTo>
                    <a:pt x="13982" y="5602"/>
                    <a:pt x="13789" y="5660"/>
                    <a:pt x="13693" y="5718"/>
                  </a:cubicBezTo>
                  <a:cubicBezTo>
                    <a:pt x="13500" y="5775"/>
                    <a:pt x="13404" y="5833"/>
                    <a:pt x="13307" y="5949"/>
                  </a:cubicBezTo>
                  <a:cubicBezTo>
                    <a:pt x="13307" y="6122"/>
                    <a:pt x="13307" y="6295"/>
                    <a:pt x="13307" y="6468"/>
                  </a:cubicBezTo>
                  <a:cubicBezTo>
                    <a:pt x="13211" y="6584"/>
                    <a:pt x="13211" y="6699"/>
                    <a:pt x="13211" y="6815"/>
                  </a:cubicBezTo>
                  <a:cubicBezTo>
                    <a:pt x="12632" y="6815"/>
                    <a:pt x="12439" y="7046"/>
                    <a:pt x="12343" y="7219"/>
                  </a:cubicBezTo>
                  <a:cubicBezTo>
                    <a:pt x="12343" y="7277"/>
                    <a:pt x="12343" y="7335"/>
                    <a:pt x="12343" y="7450"/>
                  </a:cubicBezTo>
                  <a:cubicBezTo>
                    <a:pt x="12343" y="7508"/>
                    <a:pt x="12246" y="7566"/>
                    <a:pt x="12246" y="7624"/>
                  </a:cubicBezTo>
                  <a:cubicBezTo>
                    <a:pt x="12246" y="7739"/>
                    <a:pt x="12246" y="7739"/>
                    <a:pt x="12246" y="7739"/>
                  </a:cubicBezTo>
                  <a:cubicBezTo>
                    <a:pt x="12150" y="8086"/>
                    <a:pt x="12054" y="8317"/>
                    <a:pt x="11475" y="8432"/>
                  </a:cubicBezTo>
                  <a:cubicBezTo>
                    <a:pt x="10800" y="8605"/>
                    <a:pt x="10607" y="8952"/>
                    <a:pt x="10607" y="9183"/>
                  </a:cubicBezTo>
                  <a:cubicBezTo>
                    <a:pt x="10607" y="9298"/>
                    <a:pt x="10511" y="9414"/>
                    <a:pt x="10414" y="9529"/>
                  </a:cubicBezTo>
                  <a:cubicBezTo>
                    <a:pt x="10414" y="9645"/>
                    <a:pt x="10414" y="9645"/>
                    <a:pt x="10414" y="9645"/>
                  </a:cubicBezTo>
                  <a:cubicBezTo>
                    <a:pt x="10414" y="9760"/>
                    <a:pt x="10318" y="9818"/>
                    <a:pt x="10221" y="9934"/>
                  </a:cubicBezTo>
                  <a:cubicBezTo>
                    <a:pt x="10125" y="9991"/>
                    <a:pt x="10125" y="9991"/>
                    <a:pt x="10125" y="10049"/>
                  </a:cubicBezTo>
                  <a:cubicBezTo>
                    <a:pt x="10029" y="10165"/>
                    <a:pt x="10029" y="10222"/>
                    <a:pt x="10029" y="10338"/>
                  </a:cubicBezTo>
                  <a:cubicBezTo>
                    <a:pt x="10029" y="10396"/>
                    <a:pt x="10029" y="10453"/>
                    <a:pt x="10029" y="10511"/>
                  </a:cubicBezTo>
                  <a:cubicBezTo>
                    <a:pt x="9932" y="10627"/>
                    <a:pt x="9836" y="10684"/>
                    <a:pt x="9643" y="10742"/>
                  </a:cubicBezTo>
                  <a:cubicBezTo>
                    <a:pt x="9643" y="10742"/>
                    <a:pt x="9546" y="10800"/>
                    <a:pt x="9450" y="10858"/>
                  </a:cubicBezTo>
                  <a:cubicBezTo>
                    <a:pt x="9257" y="10973"/>
                    <a:pt x="9354" y="11089"/>
                    <a:pt x="9450" y="11262"/>
                  </a:cubicBezTo>
                  <a:cubicBezTo>
                    <a:pt x="9546" y="11378"/>
                    <a:pt x="9546" y="11493"/>
                    <a:pt x="9354" y="11609"/>
                  </a:cubicBezTo>
                  <a:cubicBezTo>
                    <a:pt x="9257" y="11609"/>
                    <a:pt x="9161" y="11609"/>
                    <a:pt x="9064" y="11666"/>
                  </a:cubicBezTo>
                  <a:cubicBezTo>
                    <a:pt x="8968" y="11666"/>
                    <a:pt x="8871" y="11666"/>
                    <a:pt x="8775" y="11782"/>
                  </a:cubicBezTo>
                  <a:cubicBezTo>
                    <a:pt x="8679" y="11840"/>
                    <a:pt x="8679" y="11897"/>
                    <a:pt x="8679" y="12013"/>
                  </a:cubicBezTo>
                  <a:cubicBezTo>
                    <a:pt x="8679" y="12071"/>
                    <a:pt x="8679" y="12128"/>
                    <a:pt x="8582" y="12244"/>
                  </a:cubicBezTo>
                  <a:cubicBezTo>
                    <a:pt x="8293" y="12417"/>
                    <a:pt x="8004" y="12648"/>
                    <a:pt x="7714" y="12648"/>
                  </a:cubicBezTo>
                  <a:cubicBezTo>
                    <a:pt x="7618" y="12648"/>
                    <a:pt x="7521" y="12590"/>
                    <a:pt x="7425" y="12590"/>
                  </a:cubicBezTo>
                  <a:cubicBezTo>
                    <a:pt x="7425" y="12533"/>
                    <a:pt x="7425" y="12417"/>
                    <a:pt x="7425" y="12359"/>
                  </a:cubicBezTo>
                  <a:cubicBezTo>
                    <a:pt x="7425" y="12244"/>
                    <a:pt x="7425" y="12186"/>
                    <a:pt x="7425" y="12128"/>
                  </a:cubicBezTo>
                  <a:cubicBezTo>
                    <a:pt x="7329" y="12071"/>
                    <a:pt x="7232" y="12013"/>
                    <a:pt x="7136" y="12013"/>
                  </a:cubicBezTo>
                  <a:cubicBezTo>
                    <a:pt x="7039" y="11955"/>
                    <a:pt x="6943" y="11955"/>
                    <a:pt x="6846" y="11897"/>
                  </a:cubicBezTo>
                  <a:cubicBezTo>
                    <a:pt x="6846" y="11897"/>
                    <a:pt x="6750" y="11782"/>
                    <a:pt x="6750" y="11724"/>
                  </a:cubicBezTo>
                  <a:cubicBezTo>
                    <a:pt x="6557" y="11551"/>
                    <a:pt x="6461" y="11435"/>
                    <a:pt x="6268" y="11378"/>
                  </a:cubicBezTo>
                  <a:cubicBezTo>
                    <a:pt x="6171" y="11378"/>
                    <a:pt x="6171" y="11378"/>
                    <a:pt x="6171" y="11378"/>
                  </a:cubicBezTo>
                  <a:cubicBezTo>
                    <a:pt x="6171" y="11378"/>
                    <a:pt x="6171" y="11378"/>
                    <a:pt x="6171" y="11378"/>
                  </a:cubicBezTo>
                  <a:cubicBezTo>
                    <a:pt x="6075" y="11378"/>
                    <a:pt x="5979" y="11378"/>
                    <a:pt x="5882" y="11435"/>
                  </a:cubicBezTo>
                  <a:cubicBezTo>
                    <a:pt x="5786" y="11493"/>
                    <a:pt x="5786" y="11551"/>
                    <a:pt x="5786" y="11609"/>
                  </a:cubicBezTo>
                  <a:cubicBezTo>
                    <a:pt x="5786" y="11666"/>
                    <a:pt x="5786" y="11782"/>
                    <a:pt x="5689" y="11782"/>
                  </a:cubicBezTo>
                  <a:cubicBezTo>
                    <a:pt x="5593" y="11840"/>
                    <a:pt x="5400" y="11840"/>
                    <a:pt x="5304" y="11840"/>
                  </a:cubicBezTo>
                  <a:cubicBezTo>
                    <a:pt x="5207" y="11840"/>
                    <a:pt x="5207" y="11840"/>
                    <a:pt x="5111" y="11840"/>
                  </a:cubicBezTo>
                  <a:cubicBezTo>
                    <a:pt x="4918" y="11782"/>
                    <a:pt x="4918" y="11782"/>
                    <a:pt x="4918" y="11782"/>
                  </a:cubicBezTo>
                  <a:cubicBezTo>
                    <a:pt x="4918" y="11724"/>
                    <a:pt x="4918" y="11724"/>
                    <a:pt x="4918" y="11666"/>
                  </a:cubicBezTo>
                  <a:cubicBezTo>
                    <a:pt x="4918" y="11666"/>
                    <a:pt x="4821" y="11609"/>
                    <a:pt x="4821" y="11609"/>
                  </a:cubicBezTo>
                  <a:cubicBezTo>
                    <a:pt x="4725" y="11493"/>
                    <a:pt x="4725" y="11493"/>
                    <a:pt x="4725" y="11493"/>
                  </a:cubicBezTo>
                  <a:cubicBezTo>
                    <a:pt x="4532" y="11609"/>
                    <a:pt x="4532" y="11609"/>
                    <a:pt x="4532" y="11609"/>
                  </a:cubicBezTo>
                  <a:cubicBezTo>
                    <a:pt x="4532" y="11609"/>
                    <a:pt x="4436" y="11609"/>
                    <a:pt x="4436" y="11666"/>
                  </a:cubicBezTo>
                  <a:cubicBezTo>
                    <a:pt x="4339" y="11724"/>
                    <a:pt x="4243" y="11782"/>
                    <a:pt x="4050" y="11840"/>
                  </a:cubicBezTo>
                  <a:cubicBezTo>
                    <a:pt x="4050" y="11897"/>
                    <a:pt x="4050" y="11897"/>
                    <a:pt x="4050" y="11897"/>
                  </a:cubicBezTo>
                  <a:cubicBezTo>
                    <a:pt x="3954" y="11955"/>
                    <a:pt x="3954" y="11955"/>
                    <a:pt x="3857" y="11955"/>
                  </a:cubicBezTo>
                  <a:cubicBezTo>
                    <a:pt x="3857" y="11955"/>
                    <a:pt x="3761" y="11955"/>
                    <a:pt x="3761" y="11955"/>
                  </a:cubicBezTo>
                  <a:cubicBezTo>
                    <a:pt x="3568" y="11955"/>
                    <a:pt x="3568" y="11955"/>
                    <a:pt x="3568" y="11955"/>
                  </a:cubicBezTo>
                  <a:cubicBezTo>
                    <a:pt x="3568" y="12071"/>
                    <a:pt x="3568" y="12071"/>
                    <a:pt x="3568" y="12071"/>
                  </a:cubicBezTo>
                  <a:cubicBezTo>
                    <a:pt x="3568" y="12128"/>
                    <a:pt x="3568" y="12186"/>
                    <a:pt x="3568" y="12244"/>
                  </a:cubicBezTo>
                  <a:cubicBezTo>
                    <a:pt x="3568" y="12359"/>
                    <a:pt x="3568" y="12417"/>
                    <a:pt x="3568" y="12475"/>
                  </a:cubicBezTo>
                  <a:cubicBezTo>
                    <a:pt x="3182" y="12475"/>
                    <a:pt x="3086" y="12533"/>
                    <a:pt x="2893" y="12706"/>
                  </a:cubicBezTo>
                  <a:cubicBezTo>
                    <a:pt x="2700" y="12821"/>
                    <a:pt x="2604" y="12937"/>
                    <a:pt x="2411" y="13052"/>
                  </a:cubicBezTo>
                  <a:cubicBezTo>
                    <a:pt x="2314" y="13110"/>
                    <a:pt x="2121" y="13226"/>
                    <a:pt x="2025" y="13341"/>
                  </a:cubicBezTo>
                  <a:cubicBezTo>
                    <a:pt x="1832" y="13457"/>
                    <a:pt x="1639" y="13572"/>
                    <a:pt x="1446" y="13688"/>
                  </a:cubicBezTo>
                  <a:cubicBezTo>
                    <a:pt x="1350" y="13745"/>
                    <a:pt x="1350" y="13745"/>
                    <a:pt x="1350" y="13745"/>
                  </a:cubicBezTo>
                  <a:cubicBezTo>
                    <a:pt x="1254" y="13803"/>
                    <a:pt x="1157" y="13861"/>
                    <a:pt x="1157" y="13976"/>
                  </a:cubicBezTo>
                  <a:cubicBezTo>
                    <a:pt x="1157" y="14034"/>
                    <a:pt x="1157" y="14092"/>
                    <a:pt x="1157" y="14150"/>
                  </a:cubicBezTo>
                  <a:cubicBezTo>
                    <a:pt x="1254" y="14207"/>
                    <a:pt x="1254" y="14323"/>
                    <a:pt x="1157" y="14381"/>
                  </a:cubicBezTo>
                  <a:cubicBezTo>
                    <a:pt x="1157" y="14439"/>
                    <a:pt x="1157" y="14439"/>
                    <a:pt x="1157" y="14439"/>
                  </a:cubicBezTo>
                  <a:cubicBezTo>
                    <a:pt x="1061" y="14496"/>
                    <a:pt x="1061" y="14554"/>
                    <a:pt x="1061" y="14612"/>
                  </a:cubicBezTo>
                  <a:cubicBezTo>
                    <a:pt x="1061" y="14727"/>
                    <a:pt x="1061" y="14727"/>
                    <a:pt x="1061" y="14727"/>
                  </a:cubicBezTo>
                  <a:cubicBezTo>
                    <a:pt x="1061" y="14785"/>
                    <a:pt x="1061" y="14843"/>
                    <a:pt x="964" y="14958"/>
                  </a:cubicBezTo>
                  <a:cubicBezTo>
                    <a:pt x="964" y="15074"/>
                    <a:pt x="868" y="15189"/>
                    <a:pt x="675" y="15363"/>
                  </a:cubicBezTo>
                  <a:cubicBezTo>
                    <a:pt x="579" y="15420"/>
                    <a:pt x="579" y="15420"/>
                    <a:pt x="579" y="15420"/>
                  </a:cubicBezTo>
                  <a:cubicBezTo>
                    <a:pt x="579" y="15478"/>
                    <a:pt x="482" y="15594"/>
                    <a:pt x="386" y="15651"/>
                  </a:cubicBezTo>
                  <a:cubicBezTo>
                    <a:pt x="289" y="15709"/>
                    <a:pt x="193" y="15825"/>
                    <a:pt x="96" y="15940"/>
                  </a:cubicBezTo>
                  <a:cubicBezTo>
                    <a:pt x="96" y="15998"/>
                    <a:pt x="96" y="16056"/>
                    <a:pt x="0" y="16113"/>
                  </a:cubicBezTo>
                  <a:cubicBezTo>
                    <a:pt x="0" y="16171"/>
                    <a:pt x="0" y="16171"/>
                    <a:pt x="0" y="16171"/>
                  </a:cubicBezTo>
                  <a:cubicBezTo>
                    <a:pt x="0" y="16229"/>
                    <a:pt x="0" y="16229"/>
                    <a:pt x="0" y="16229"/>
                  </a:cubicBezTo>
                  <a:cubicBezTo>
                    <a:pt x="96" y="16287"/>
                    <a:pt x="193" y="16344"/>
                    <a:pt x="386" y="16402"/>
                  </a:cubicBezTo>
                  <a:cubicBezTo>
                    <a:pt x="386" y="16402"/>
                    <a:pt x="482" y="16402"/>
                    <a:pt x="482" y="16402"/>
                  </a:cubicBezTo>
                  <a:cubicBezTo>
                    <a:pt x="675" y="16402"/>
                    <a:pt x="771" y="16344"/>
                    <a:pt x="868" y="16287"/>
                  </a:cubicBezTo>
                  <a:cubicBezTo>
                    <a:pt x="964" y="16287"/>
                    <a:pt x="964" y="16229"/>
                    <a:pt x="1061" y="16229"/>
                  </a:cubicBezTo>
                  <a:cubicBezTo>
                    <a:pt x="1061" y="16229"/>
                    <a:pt x="1061" y="16229"/>
                    <a:pt x="1061" y="16229"/>
                  </a:cubicBezTo>
                  <a:cubicBezTo>
                    <a:pt x="1061" y="16229"/>
                    <a:pt x="1061" y="16287"/>
                    <a:pt x="1061" y="16402"/>
                  </a:cubicBezTo>
                  <a:cubicBezTo>
                    <a:pt x="1061" y="16518"/>
                    <a:pt x="1061" y="16575"/>
                    <a:pt x="1061" y="16575"/>
                  </a:cubicBezTo>
                  <a:cubicBezTo>
                    <a:pt x="1157" y="16749"/>
                    <a:pt x="1350" y="17037"/>
                    <a:pt x="1639" y="17211"/>
                  </a:cubicBezTo>
                  <a:cubicBezTo>
                    <a:pt x="1736" y="17211"/>
                    <a:pt x="1736" y="17211"/>
                    <a:pt x="1832" y="17268"/>
                  </a:cubicBezTo>
                  <a:cubicBezTo>
                    <a:pt x="2121" y="17384"/>
                    <a:pt x="2314" y="17499"/>
                    <a:pt x="2604" y="17557"/>
                  </a:cubicBezTo>
                  <a:cubicBezTo>
                    <a:pt x="2700" y="17557"/>
                    <a:pt x="2796" y="17499"/>
                    <a:pt x="2893" y="17442"/>
                  </a:cubicBezTo>
                  <a:cubicBezTo>
                    <a:pt x="2989" y="17442"/>
                    <a:pt x="3086" y="17384"/>
                    <a:pt x="3182" y="17384"/>
                  </a:cubicBezTo>
                  <a:cubicBezTo>
                    <a:pt x="3182" y="17384"/>
                    <a:pt x="3182" y="17384"/>
                    <a:pt x="3182" y="17384"/>
                  </a:cubicBezTo>
                  <a:cubicBezTo>
                    <a:pt x="3182" y="17384"/>
                    <a:pt x="3086" y="17442"/>
                    <a:pt x="3086" y="17499"/>
                  </a:cubicBezTo>
                  <a:cubicBezTo>
                    <a:pt x="2989" y="17557"/>
                    <a:pt x="2893" y="17673"/>
                    <a:pt x="2989" y="17846"/>
                  </a:cubicBezTo>
                  <a:cubicBezTo>
                    <a:pt x="3086" y="18019"/>
                    <a:pt x="3279" y="18193"/>
                    <a:pt x="3375" y="18366"/>
                  </a:cubicBezTo>
                  <a:cubicBezTo>
                    <a:pt x="3568" y="18481"/>
                    <a:pt x="3664" y="18597"/>
                    <a:pt x="3761" y="18712"/>
                  </a:cubicBezTo>
                  <a:cubicBezTo>
                    <a:pt x="3761" y="18712"/>
                    <a:pt x="3857" y="18770"/>
                    <a:pt x="3857" y="18770"/>
                  </a:cubicBezTo>
                  <a:cubicBezTo>
                    <a:pt x="3954" y="18943"/>
                    <a:pt x="3954" y="19001"/>
                    <a:pt x="3954" y="19117"/>
                  </a:cubicBezTo>
                  <a:cubicBezTo>
                    <a:pt x="3857" y="19290"/>
                    <a:pt x="3761" y="19405"/>
                    <a:pt x="3664" y="19636"/>
                  </a:cubicBezTo>
                  <a:cubicBezTo>
                    <a:pt x="3664" y="19694"/>
                    <a:pt x="3664" y="19810"/>
                    <a:pt x="3568" y="19925"/>
                  </a:cubicBezTo>
                  <a:cubicBezTo>
                    <a:pt x="3568" y="20041"/>
                    <a:pt x="3471" y="20156"/>
                    <a:pt x="3471" y="20214"/>
                  </a:cubicBezTo>
                  <a:cubicBezTo>
                    <a:pt x="3471" y="20329"/>
                    <a:pt x="3471" y="20329"/>
                    <a:pt x="3471" y="20329"/>
                  </a:cubicBezTo>
                  <a:cubicBezTo>
                    <a:pt x="3568" y="20329"/>
                    <a:pt x="3568" y="20329"/>
                    <a:pt x="3568" y="20329"/>
                  </a:cubicBezTo>
                  <a:cubicBezTo>
                    <a:pt x="3664" y="20387"/>
                    <a:pt x="3761" y="20445"/>
                    <a:pt x="3857" y="20503"/>
                  </a:cubicBezTo>
                  <a:cubicBezTo>
                    <a:pt x="3954" y="20618"/>
                    <a:pt x="4050" y="20676"/>
                    <a:pt x="4243" y="20734"/>
                  </a:cubicBezTo>
                  <a:cubicBezTo>
                    <a:pt x="4339" y="20734"/>
                    <a:pt x="4339" y="20734"/>
                    <a:pt x="4339" y="20734"/>
                  </a:cubicBezTo>
                  <a:cubicBezTo>
                    <a:pt x="8196" y="20734"/>
                    <a:pt x="8196" y="20734"/>
                    <a:pt x="8196" y="20734"/>
                  </a:cubicBezTo>
                  <a:cubicBezTo>
                    <a:pt x="8196" y="20618"/>
                    <a:pt x="8196" y="20618"/>
                    <a:pt x="8196" y="20618"/>
                  </a:cubicBezTo>
                  <a:cubicBezTo>
                    <a:pt x="8196" y="20503"/>
                    <a:pt x="8196" y="20503"/>
                    <a:pt x="8196" y="20503"/>
                  </a:cubicBezTo>
                  <a:cubicBezTo>
                    <a:pt x="9739" y="20560"/>
                    <a:pt x="9739" y="20560"/>
                    <a:pt x="9739" y="20560"/>
                  </a:cubicBezTo>
                  <a:cubicBezTo>
                    <a:pt x="10800" y="20560"/>
                    <a:pt x="11764" y="20560"/>
                    <a:pt x="12825" y="20618"/>
                  </a:cubicBezTo>
                  <a:cubicBezTo>
                    <a:pt x="12921" y="20618"/>
                    <a:pt x="12921" y="20618"/>
                    <a:pt x="12921" y="20618"/>
                  </a:cubicBezTo>
                  <a:cubicBezTo>
                    <a:pt x="13018" y="20618"/>
                    <a:pt x="13211" y="20618"/>
                    <a:pt x="13307" y="20618"/>
                  </a:cubicBezTo>
                  <a:cubicBezTo>
                    <a:pt x="13404" y="20618"/>
                    <a:pt x="13500" y="20676"/>
                    <a:pt x="13596" y="20676"/>
                  </a:cubicBezTo>
                  <a:cubicBezTo>
                    <a:pt x="13693" y="20734"/>
                    <a:pt x="13789" y="20734"/>
                    <a:pt x="13886" y="20791"/>
                  </a:cubicBezTo>
                  <a:cubicBezTo>
                    <a:pt x="13886" y="20791"/>
                    <a:pt x="13982" y="20791"/>
                    <a:pt x="13982" y="20791"/>
                  </a:cubicBezTo>
                  <a:cubicBezTo>
                    <a:pt x="14079" y="20791"/>
                    <a:pt x="14079" y="20791"/>
                    <a:pt x="14175" y="20791"/>
                  </a:cubicBezTo>
                  <a:cubicBezTo>
                    <a:pt x="14175" y="20791"/>
                    <a:pt x="14271" y="20791"/>
                    <a:pt x="14271" y="20791"/>
                  </a:cubicBezTo>
                  <a:cubicBezTo>
                    <a:pt x="14368" y="20791"/>
                    <a:pt x="14368" y="20791"/>
                    <a:pt x="14368" y="20791"/>
                  </a:cubicBezTo>
                  <a:cubicBezTo>
                    <a:pt x="14561" y="20791"/>
                    <a:pt x="14754" y="20791"/>
                    <a:pt x="15043" y="20791"/>
                  </a:cubicBezTo>
                  <a:cubicBezTo>
                    <a:pt x="15236" y="20791"/>
                    <a:pt x="15429" y="20791"/>
                    <a:pt x="15621" y="20791"/>
                  </a:cubicBezTo>
                  <a:cubicBezTo>
                    <a:pt x="15911" y="20791"/>
                    <a:pt x="16104" y="20791"/>
                    <a:pt x="16296" y="20791"/>
                  </a:cubicBezTo>
                  <a:cubicBezTo>
                    <a:pt x="16779" y="20791"/>
                    <a:pt x="17068" y="20791"/>
                    <a:pt x="17357" y="20849"/>
                  </a:cubicBezTo>
                  <a:cubicBezTo>
                    <a:pt x="17550" y="20849"/>
                    <a:pt x="17743" y="20907"/>
                    <a:pt x="17936" y="20965"/>
                  </a:cubicBezTo>
                  <a:cubicBezTo>
                    <a:pt x="18225" y="21080"/>
                    <a:pt x="18611" y="21138"/>
                    <a:pt x="18900" y="21138"/>
                  </a:cubicBezTo>
                  <a:cubicBezTo>
                    <a:pt x="18996" y="21138"/>
                    <a:pt x="18996" y="21138"/>
                    <a:pt x="18996" y="21138"/>
                  </a:cubicBezTo>
                  <a:cubicBezTo>
                    <a:pt x="19189" y="21138"/>
                    <a:pt x="19286" y="21138"/>
                    <a:pt x="19382" y="21138"/>
                  </a:cubicBezTo>
                  <a:cubicBezTo>
                    <a:pt x="19479" y="21138"/>
                    <a:pt x="19575" y="21138"/>
                    <a:pt x="19768" y="21138"/>
                  </a:cubicBezTo>
                  <a:cubicBezTo>
                    <a:pt x="19961" y="21138"/>
                    <a:pt x="20250" y="21138"/>
                    <a:pt x="20539" y="21311"/>
                  </a:cubicBezTo>
                  <a:cubicBezTo>
                    <a:pt x="20636" y="21311"/>
                    <a:pt x="20636" y="21369"/>
                    <a:pt x="20732" y="21369"/>
                  </a:cubicBezTo>
                  <a:cubicBezTo>
                    <a:pt x="21021" y="21542"/>
                    <a:pt x="21118" y="21600"/>
                    <a:pt x="21214" y="21600"/>
                  </a:cubicBezTo>
                  <a:cubicBezTo>
                    <a:pt x="21311" y="21600"/>
                    <a:pt x="21311" y="21600"/>
                    <a:pt x="21311" y="21600"/>
                  </a:cubicBezTo>
                  <a:cubicBezTo>
                    <a:pt x="21311" y="21600"/>
                    <a:pt x="21311" y="21600"/>
                    <a:pt x="21311" y="21600"/>
                  </a:cubicBezTo>
                  <a:cubicBezTo>
                    <a:pt x="21407" y="21542"/>
                    <a:pt x="21504" y="21484"/>
                    <a:pt x="21504" y="21427"/>
                  </a:cubicBezTo>
                  <a:cubicBezTo>
                    <a:pt x="21600" y="21196"/>
                    <a:pt x="21600" y="21022"/>
                    <a:pt x="21504" y="20791"/>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59" name="Shape">
              <a:extLst>
                <a:ext uri="{FF2B5EF4-FFF2-40B4-BE49-F238E27FC236}">
                  <a16:creationId xmlns:a16="http://schemas.microsoft.com/office/drawing/2014/main" id="{B3FBA77F-55BE-9B47-913C-37676E6AF7B0}"/>
                </a:ext>
              </a:extLst>
            </p:cNvPr>
            <p:cNvSpPr/>
            <p:nvPr/>
          </p:nvSpPr>
          <p:spPr>
            <a:xfrm>
              <a:off x="3771297" y="3965274"/>
              <a:ext cx="67194" cy="75041"/>
            </a:xfrm>
            <a:custGeom>
              <a:avLst/>
              <a:gdLst/>
              <a:ahLst/>
              <a:cxnLst>
                <a:cxn ang="0">
                  <a:pos x="wd2" y="hd2"/>
                </a:cxn>
                <a:cxn ang="5400000">
                  <a:pos x="wd2" y="hd2"/>
                </a:cxn>
                <a:cxn ang="10800000">
                  <a:pos x="wd2" y="hd2"/>
                </a:cxn>
                <a:cxn ang="16200000">
                  <a:pos x="wd2" y="hd2"/>
                </a:cxn>
              </a:cxnLst>
              <a:rect l="0" t="0" r="r" b="b"/>
              <a:pathLst>
                <a:path w="19331" h="21600" extrusionOk="0">
                  <a:moveTo>
                    <a:pt x="15005" y="0"/>
                  </a:moveTo>
                  <a:cubicBezTo>
                    <a:pt x="13868" y="0"/>
                    <a:pt x="13868" y="0"/>
                    <a:pt x="13868" y="0"/>
                  </a:cubicBezTo>
                  <a:cubicBezTo>
                    <a:pt x="9321" y="0"/>
                    <a:pt x="8184" y="3086"/>
                    <a:pt x="8184" y="5143"/>
                  </a:cubicBezTo>
                  <a:cubicBezTo>
                    <a:pt x="7047" y="6171"/>
                    <a:pt x="7047" y="7200"/>
                    <a:pt x="7047" y="8229"/>
                  </a:cubicBezTo>
                  <a:cubicBezTo>
                    <a:pt x="5910" y="8229"/>
                    <a:pt x="5910" y="8229"/>
                    <a:pt x="4773" y="9257"/>
                  </a:cubicBezTo>
                  <a:cubicBezTo>
                    <a:pt x="2500" y="10286"/>
                    <a:pt x="-911" y="12343"/>
                    <a:pt x="226" y="16457"/>
                  </a:cubicBezTo>
                  <a:cubicBezTo>
                    <a:pt x="1363" y="19543"/>
                    <a:pt x="4773" y="21600"/>
                    <a:pt x="8184" y="21600"/>
                  </a:cubicBezTo>
                  <a:cubicBezTo>
                    <a:pt x="9321" y="21600"/>
                    <a:pt x="10457" y="21600"/>
                    <a:pt x="11594" y="20571"/>
                  </a:cubicBezTo>
                  <a:cubicBezTo>
                    <a:pt x="12731" y="20571"/>
                    <a:pt x="12731" y="20571"/>
                    <a:pt x="12731" y="20571"/>
                  </a:cubicBezTo>
                  <a:cubicBezTo>
                    <a:pt x="12731" y="19543"/>
                    <a:pt x="12731" y="19543"/>
                    <a:pt x="12731" y="19543"/>
                  </a:cubicBezTo>
                  <a:cubicBezTo>
                    <a:pt x="13868" y="19543"/>
                    <a:pt x="13868" y="17486"/>
                    <a:pt x="15005" y="16457"/>
                  </a:cubicBezTo>
                  <a:cubicBezTo>
                    <a:pt x="18415" y="10286"/>
                    <a:pt x="20689" y="5143"/>
                    <a:pt x="18415" y="2057"/>
                  </a:cubicBezTo>
                  <a:cubicBezTo>
                    <a:pt x="18415" y="1029"/>
                    <a:pt x="17278" y="0"/>
                    <a:pt x="15005" y="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60" name="Shape">
              <a:extLst>
                <a:ext uri="{FF2B5EF4-FFF2-40B4-BE49-F238E27FC236}">
                  <a16:creationId xmlns:a16="http://schemas.microsoft.com/office/drawing/2014/main" id="{A08DF698-1075-FF4F-8487-FA31FD93D01D}"/>
                </a:ext>
              </a:extLst>
            </p:cNvPr>
            <p:cNvSpPr/>
            <p:nvPr/>
          </p:nvSpPr>
          <p:spPr>
            <a:xfrm>
              <a:off x="3874194" y="4121279"/>
              <a:ext cx="237167" cy="175752"/>
            </a:xfrm>
            <a:custGeom>
              <a:avLst/>
              <a:gdLst/>
              <a:ahLst/>
              <a:cxnLst>
                <a:cxn ang="0">
                  <a:pos x="wd2" y="hd2"/>
                </a:cxn>
                <a:cxn ang="5400000">
                  <a:pos x="wd2" y="hd2"/>
                </a:cxn>
                <a:cxn ang="10800000">
                  <a:pos x="wd2" y="hd2"/>
                </a:cxn>
                <a:cxn ang="16200000">
                  <a:pos x="wd2" y="hd2"/>
                </a:cxn>
              </a:cxnLst>
              <a:rect l="0" t="0" r="r" b="b"/>
              <a:pathLst>
                <a:path w="21133" h="21600" extrusionOk="0">
                  <a:moveTo>
                    <a:pt x="21133" y="3967"/>
                  </a:moveTo>
                  <a:cubicBezTo>
                    <a:pt x="7198" y="3967"/>
                    <a:pt x="7198" y="3967"/>
                    <a:pt x="7198" y="3967"/>
                  </a:cubicBezTo>
                  <a:cubicBezTo>
                    <a:pt x="6501" y="3527"/>
                    <a:pt x="6152" y="2645"/>
                    <a:pt x="5456" y="2204"/>
                  </a:cubicBezTo>
                  <a:cubicBezTo>
                    <a:pt x="5456" y="1763"/>
                    <a:pt x="5107" y="1763"/>
                    <a:pt x="5107" y="1763"/>
                  </a:cubicBezTo>
                  <a:cubicBezTo>
                    <a:pt x="4062" y="0"/>
                    <a:pt x="4062" y="0"/>
                    <a:pt x="4062" y="0"/>
                  </a:cubicBezTo>
                  <a:cubicBezTo>
                    <a:pt x="4062" y="2204"/>
                    <a:pt x="4062" y="2204"/>
                    <a:pt x="4062" y="2204"/>
                  </a:cubicBezTo>
                  <a:cubicBezTo>
                    <a:pt x="4062" y="2645"/>
                    <a:pt x="4062" y="3086"/>
                    <a:pt x="4062" y="3527"/>
                  </a:cubicBezTo>
                  <a:cubicBezTo>
                    <a:pt x="4062" y="3967"/>
                    <a:pt x="4062" y="4408"/>
                    <a:pt x="4062" y="4849"/>
                  </a:cubicBezTo>
                  <a:cubicBezTo>
                    <a:pt x="4410" y="5290"/>
                    <a:pt x="4410" y="5731"/>
                    <a:pt x="4410" y="6612"/>
                  </a:cubicBezTo>
                  <a:cubicBezTo>
                    <a:pt x="4410" y="7494"/>
                    <a:pt x="4062" y="8376"/>
                    <a:pt x="3365" y="9257"/>
                  </a:cubicBezTo>
                  <a:cubicBezTo>
                    <a:pt x="3017" y="10139"/>
                    <a:pt x="2668" y="10580"/>
                    <a:pt x="2668" y="11461"/>
                  </a:cubicBezTo>
                  <a:cubicBezTo>
                    <a:pt x="2320" y="12343"/>
                    <a:pt x="1972" y="13224"/>
                    <a:pt x="1623" y="13665"/>
                  </a:cubicBezTo>
                  <a:cubicBezTo>
                    <a:pt x="1275" y="14106"/>
                    <a:pt x="1275" y="14106"/>
                    <a:pt x="1275" y="14106"/>
                  </a:cubicBezTo>
                  <a:cubicBezTo>
                    <a:pt x="578" y="15429"/>
                    <a:pt x="-467" y="17633"/>
                    <a:pt x="230" y="18955"/>
                  </a:cubicBezTo>
                  <a:cubicBezTo>
                    <a:pt x="578" y="19837"/>
                    <a:pt x="1275" y="20278"/>
                    <a:pt x="1623" y="20278"/>
                  </a:cubicBezTo>
                  <a:cubicBezTo>
                    <a:pt x="1972" y="20278"/>
                    <a:pt x="1972" y="20278"/>
                    <a:pt x="1972" y="20718"/>
                  </a:cubicBezTo>
                  <a:cubicBezTo>
                    <a:pt x="2320" y="21159"/>
                    <a:pt x="2320" y="21159"/>
                    <a:pt x="2320" y="21159"/>
                  </a:cubicBezTo>
                  <a:cubicBezTo>
                    <a:pt x="3017" y="20718"/>
                    <a:pt x="3017" y="20718"/>
                    <a:pt x="3017" y="20718"/>
                  </a:cubicBezTo>
                  <a:cubicBezTo>
                    <a:pt x="3365" y="20718"/>
                    <a:pt x="4062" y="20278"/>
                    <a:pt x="4410" y="20278"/>
                  </a:cubicBezTo>
                  <a:cubicBezTo>
                    <a:pt x="4410" y="20278"/>
                    <a:pt x="4410" y="20278"/>
                    <a:pt x="4410" y="20278"/>
                  </a:cubicBezTo>
                  <a:cubicBezTo>
                    <a:pt x="4759" y="20278"/>
                    <a:pt x="5107" y="20718"/>
                    <a:pt x="5456" y="21159"/>
                  </a:cubicBezTo>
                  <a:cubicBezTo>
                    <a:pt x="5804" y="21600"/>
                    <a:pt x="6152" y="21600"/>
                    <a:pt x="6501" y="21600"/>
                  </a:cubicBezTo>
                  <a:cubicBezTo>
                    <a:pt x="6849" y="21600"/>
                    <a:pt x="7198" y="21600"/>
                    <a:pt x="7198" y="21600"/>
                  </a:cubicBezTo>
                  <a:cubicBezTo>
                    <a:pt x="21133" y="21600"/>
                    <a:pt x="21133" y="21600"/>
                    <a:pt x="21133" y="21600"/>
                  </a:cubicBezTo>
                  <a:lnTo>
                    <a:pt x="21133" y="3967"/>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61" name="Shape">
              <a:extLst>
                <a:ext uri="{FF2B5EF4-FFF2-40B4-BE49-F238E27FC236}">
                  <a16:creationId xmlns:a16="http://schemas.microsoft.com/office/drawing/2014/main" id="{0A35CBB7-1493-2B47-B4FB-ED9CE67651BC}"/>
                </a:ext>
              </a:extLst>
            </p:cNvPr>
            <p:cNvSpPr/>
            <p:nvPr/>
          </p:nvSpPr>
          <p:spPr>
            <a:xfrm>
              <a:off x="6659835" y="3868512"/>
              <a:ext cx="898831" cy="1113755"/>
            </a:xfrm>
            <a:custGeom>
              <a:avLst/>
              <a:gdLst/>
              <a:ahLst/>
              <a:cxnLst>
                <a:cxn ang="0">
                  <a:pos x="wd2" y="hd2"/>
                </a:cxn>
                <a:cxn ang="5400000">
                  <a:pos x="wd2" y="hd2"/>
                </a:cxn>
                <a:cxn ang="10800000">
                  <a:pos x="wd2" y="hd2"/>
                </a:cxn>
                <a:cxn ang="16200000">
                  <a:pos x="wd2" y="hd2"/>
                </a:cxn>
              </a:cxnLst>
              <a:rect l="0" t="0" r="r" b="b"/>
              <a:pathLst>
                <a:path w="21600" h="21600" extrusionOk="0">
                  <a:moveTo>
                    <a:pt x="21600" y="1528"/>
                  </a:moveTo>
                  <a:cubicBezTo>
                    <a:pt x="21226" y="1597"/>
                    <a:pt x="21226" y="1597"/>
                    <a:pt x="21226" y="1597"/>
                  </a:cubicBezTo>
                  <a:cubicBezTo>
                    <a:pt x="21039" y="1597"/>
                    <a:pt x="20945" y="1597"/>
                    <a:pt x="20758" y="1597"/>
                  </a:cubicBezTo>
                  <a:cubicBezTo>
                    <a:pt x="20571" y="1597"/>
                    <a:pt x="20384" y="1597"/>
                    <a:pt x="20197" y="1597"/>
                  </a:cubicBezTo>
                  <a:cubicBezTo>
                    <a:pt x="20104" y="1597"/>
                    <a:pt x="20010" y="1597"/>
                    <a:pt x="19917" y="1597"/>
                  </a:cubicBezTo>
                  <a:cubicBezTo>
                    <a:pt x="19823" y="1597"/>
                    <a:pt x="19823" y="1597"/>
                    <a:pt x="19730" y="1597"/>
                  </a:cubicBezTo>
                  <a:cubicBezTo>
                    <a:pt x="18608" y="903"/>
                    <a:pt x="18608" y="903"/>
                    <a:pt x="18608" y="903"/>
                  </a:cubicBezTo>
                  <a:cubicBezTo>
                    <a:pt x="16364" y="1597"/>
                    <a:pt x="16364" y="1597"/>
                    <a:pt x="16364" y="1597"/>
                  </a:cubicBezTo>
                  <a:cubicBezTo>
                    <a:pt x="15242" y="2848"/>
                    <a:pt x="15242" y="2848"/>
                    <a:pt x="15242" y="2848"/>
                  </a:cubicBezTo>
                  <a:cubicBezTo>
                    <a:pt x="11501" y="2361"/>
                    <a:pt x="11501" y="2361"/>
                    <a:pt x="11501" y="2361"/>
                  </a:cubicBezTo>
                  <a:cubicBezTo>
                    <a:pt x="8229" y="556"/>
                    <a:pt x="8229" y="556"/>
                    <a:pt x="8229" y="556"/>
                  </a:cubicBezTo>
                  <a:cubicBezTo>
                    <a:pt x="5517" y="556"/>
                    <a:pt x="5517" y="556"/>
                    <a:pt x="5517" y="556"/>
                  </a:cubicBezTo>
                  <a:cubicBezTo>
                    <a:pt x="5517" y="417"/>
                    <a:pt x="5423" y="347"/>
                    <a:pt x="5330" y="278"/>
                  </a:cubicBezTo>
                  <a:cubicBezTo>
                    <a:pt x="5236" y="208"/>
                    <a:pt x="5143" y="139"/>
                    <a:pt x="5143" y="69"/>
                  </a:cubicBezTo>
                  <a:cubicBezTo>
                    <a:pt x="5049" y="0"/>
                    <a:pt x="5049" y="0"/>
                    <a:pt x="5049" y="0"/>
                  </a:cubicBezTo>
                  <a:cubicBezTo>
                    <a:pt x="1216" y="69"/>
                    <a:pt x="1216" y="69"/>
                    <a:pt x="1216" y="69"/>
                  </a:cubicBezTo>
                  <a:cubicBezTo>
                    <a:pt x="187" y="903"/>
                    <a:pt x="187" y="903"/>
                    <a:pt x="187" y="903"/>
                  </a:cubicBezTo>
                  <a:cubicBezTo>
                    <a:pt x="281" y="972"/>
                    <a:pt x="281" y="972"/>
                    <a:pt x="281" y="972"/>
                  </a:cubicBezTo>
                  <a:cubicBezTo>
                    <a:pt x="374" y="1111"/>
                    <a:pt x="374" y="1250"/>
                    <a:pt x="374" y="1389"/>
                  </a:cubicBezTo>
                  <a:cubicBezTo>
                    <a:pt x="374" y="1597"/>
                    <a:pt x="468" y="1736"/>
                    <a:pt x="561" y="1875"/>
                  </a:cubicBezTo>
                  <a:cubicBezTo>
                    <a:pt x="655" y="1875"/>
                    <a:pt x="655" y="1945"/>
                    <a:pt x="655" y="1945"/>
                  </a:cubicBezTo>
                  <a:cubicBezTo>
                    <a:pt x="748" y="2014"/>
                    <a:pt x="748" y="2084"/>
                    <a:pt x="842" y="2084"/>
                  </a:cubicBezTo>
                  <a:cubicBezTo>
                    <a:pt x="935" y="2153"/>
                    <a:pt x="935" y="2153"/>
                    <a:pt x="1029" y="2153"/>
                  </a:cubicBezTo>
                  <a:cubicBezTo>
                    <a:pt x="1029" y="2153"/>
                    <a:pt x="1122" y="2153"/>
                    <a:pt x="1122" y="2153"/>
                  </a:cubicBezTo>
                  <a:cubicBezTo>
                    <a:pt x="1309" y="2223"/>
                    <a:pt x="1496" y="2223"/>
                    <a:pt x="1403" y="2431"/>
                  </a:cubicBezTo>
                  <a:cubicBezTo>
                    <a:pt x="1403" y="2500"/>
                    <a:pt x="1403" y="2500"/>
                    <a:pt x="1403" y="2570"/>
                  </a:cubicBezTo>
                  <a:cubicBezTo>
                    <a:pt x="1403" y="2639"/>
                    <a:pt x="1309" y="2639"/>
                    <a:pt x="1309" y="2709"/>
                  </a:cubicBezTo>
                  <a:cubicBezTo>
                    <a:pt x="1309" y="2778"/>
                    <a:pt x="1309" y="2778"/>
                    <a:pt x="1309" y="2848"/>
                  </a:cubicBezTo>
                  <a:cubicBezTo>
                    <a:pt x="1309" y="2917"/>
                    <a:pt x="1309" y="2917"/>
                    <a:pt x="1309" y="2917"/>
                  </a:cubicBezTo>
                  <a:cubicBezTo>
                    <a:pt x="1309" y="3056"/>
                    <a:pt x="1309" y="3056"/>
                    <a:pt x="1309" y="3056"/>
                  </a:cubicBezTo>
                  <a:cubicBezTo>
                    <a:pt x="1309" y="3195"/>
                    <a:pt x="1309" y="3334"/>
                    <a:pt x="1496" y="3403"/>
                  </a:cubicBezTo>
                  <a:cubicBezTo>
                    <a:pt x="1590" y="3473"/>
                    <a:pt x="1590" y="3473"/>
                    <a:pt x="1590" y="3473"/>
                  </a:cubicBezTo>
                  <a:cubicBezTo>
                    <a:pt x="1590" y="3473"/>
                    <a:pt x="1590" y="3473"/>
                    <a:pt x="1590" y="3473"/>
                  </a:cubicBezTo>
                  <a:cubicBezTo>
                    <a:pt x="1683" y="3473"/>
                    <a:pt x="1683" y="3473"/>
                    <a:pt x="1777" y="3473"/>
                  </a:cubicBezTo>
                  <a:cubicBezTo>
                    <a:pt x="1777" y="3542"/>
                    <a:pt x="1777" y="3612"/>
                    <a:pt x="1777" y="3681"/>
                  </a:cubicBezTo>
                  <a:cubicBezTo>
                    <a:pt x="1777" y="3681"/>
                    <a:pt x="1777" y="3750"/>
                    <a:pt x="1777" y="3750"/>
                  </a:cubicBezTo>
                  <a:cubicBezTo>
                    <a:pt x="1870" y="3959"/>
                    <a:pt x="1870" y="3959"/>
                    <a:pt x="2057" y="4167"/>
                  </a:cubicBezTo>
                  <a:cubicBezTo>
                    <a:pt x="2151" y="4237"/>
                    <a:pt x="2244" y="4376"/>
                    <a:pt x="2338" y="4445"/>
                  </a:cubicBezTo>
                  <a:cubicBezTo>
                    <a:pt x="2431" y="4514"/>
                    <a:pt x="2431" y="4514"/>
                    <a:pt x="2431" y="4514"/>
                  </a:cubicBezTo>
                  <a:cubicBezTo>
                    <a:pt x="2431" y="4584"/>
                    <a:pt x="2525" y="4653"/>
                    <a:pt x="2525" y="4653"/>
                  </a:cubicBezTo>
                  <a:cubicBezTo>
                    <a:pt x="2618" y="4723"/>
                    <a:pt x="2618" y="4723"/>
                    <a:pt x="2618" y="4792"/>
                  </a:cubicBezTo>
                  <a:cubicBezTo>
                    <a:pt x="2805" y="4931"/>
                    <a:pt x="2712" y="5140"/>
                    <a:pt x="2712" y="5348"/>
                  </a:cubicBezTo>
                  <a:cubicBezTo>
                    <a:pt x="2618" y="5487"/>
                    <a:pt x="2618" y="5695"/>
                    <a:pt x="2618" y="5834"/>
                  </a:cubicBezTo>
                  <a:cubicBezTo>
                    <a:pt x="2712" y="5973"/>
                    <a:pt x="2712" y="6042"/>
                    <a:pt x="2805" y="6181"/>
                  </a:cubicBezTo>
                  <a:cubicBezTo>
                    <a:pt x="2899" y="6251"/>
                    <a:pt x="2899" y="6390"/>
                    <a:pt x="2992" y="6459"/>
                  </a:cubicBezTo>
                  <a:cubicBezTo>
                    <a:pt x="2992" y="6668"/>
                    <a:pt x="2899" y="6945"/>
                    <a:pt x="2712" y="7154"/>
                  </a:cubicBezTo>
                  <a:cubicBezTo>
                    <a:pt x="2525" y="7362"/>
                    <a:pt x="2431" y="7501"/>
                    <a:pt x="2431" y="7640"/>
                  </a:cubicBezTo>
                  <a:cubicBezTo>
                    <a:pt x="2431" y="7709"/>
                    <a:pt x="2431" y="7779"/>
                    <a:pt x="2338" y="7779"/>
                  </a:cubicBezTo>
                  <a:cubicBezTo>
                    <a:pt x="2244" y="7779"/>
                    <a:pt x="2151" y="7848"/>
                    <a:pt x="1964" y="7987"/>
                  </a:cubicBezTo>
                  <a:cubicBezTo>
                    <a:pt x="1870" y="8057"/>
                    <a:pt x="1870" y="8057"/>
                    <a:pt x="1870" y="8057"/>
                  </a:cubicBezTo>
                  <a:cubicBezTo>
                    <a:pt x="1590" y="8265"/>
                    <a:pt x="1590" y="8265"/>
                    <a:pt x="1496" y="8473"/>
                  </a:cubicBezTo>
                  <a:cubicBezTo>
                    <a:pt x="1496" y="8612"/>
                    <a:pt x="1403" y="8682"/>
                    <a:pt x="1309" y="8682"/>
                  </a:cubicBezTo>
                  <a:cubicBezTo>
                    <a:pt x="1216" y="8751"/>
                    <a:pt x="1216" y="8821"/>
                    <a:pt x="1122" y="8890"/>
                  </a:cubicBezTo>
                  <a:cubicBezTo>
                    <a:pt x="1122" y="8890"/>
                    <a:pt x="1122" y="8959"/>
                    <a:pt x="1122" y="9029"/>
                  </a:cubicBezTo>
                  <a:cubicBezTo>
                    <a:pt x="1122" y="9098"/>
                    <a:pt x="1122" y="9098"/>
                    <a:pt x="1029" y="9168"/>
                  </a:cubicBezTo>
                  <a:cubicBezTo>
                    <a:pt x="1029" y="9168"/>
                    <a:pt x="935" y="9168"/>
                    <a:pt x="842" y="9168"/>
                  </a:cubicBezTo>
                  <a:cubicBezTo>
                    <a:pt x="655" y="9237"/>
                    <a:pt x="655" y="9237"/>
                    <a:pt x="655" y="9237"/>
                  </a:cubicBezTo>
                  <a:cubicBezTo>
                    <a:pt x="655" y="9376"/>
                    <a:pt x="655" y="9376"/>
                    <a:pt x="655" y="9376"/>
                  </a:cubicBezTo>
                  <a:cubicBezTo>
                    <a:pt x="655" y="9654"/>
                    <a:pt x="561" y="9932"/>
                    <a:pt x="374" y="10001"/>
                  </a:cubicBezTo>
                  <a:cubicBezTo>
                    <a:pt x="281" y="10071"/>
                    <a:pt x="281" y="10071"/>
                    <a:pt x="281" y="10071"/>
                  </a:cubicBezTo>
                  <a:cubicBezTo>
                    <a:pt x="281" y="10140"/>
                    <a:pt x="281" y="10140"/>
                    <a:pt x="281" y="10140"/>
                  </a:cubicBezTo>
                  <a:cubicBezTo>
                    <a:pt x="187" y="10210"/>
                    <a:pt x="187" y="10418"/>
                    <a:pt x="94" y="10557"/>
                  </a:cubicBezTo>
                  <a:cubicBezTo>
                    <a:pt x="0" y="10626"/>
                    <a:pt x="0" y="10626"/>
                    <a:pt x="0" y="10626"/>
                  </a:cubicBezTo>
                  <a:cubicBezTo>
                    <a:pt x="94" y="10696"/>
                    <a:pt x="94" y="10696"/>
                    <a:pt x="94" y="10696"/>
                  </a:cubicBezTo>
                  <a:cubicBezTo>
                    <a:pt x="187" y="10765"/>
                    <a:pt x="281" y="10835"/>
                    <a:pt x="374" y="10904"/>
                  </a:cubicBezTo>
                  <a:cubicBezTo>
                    <a:pt x="374" y="10904"/>
                    <a:pt x="374" y="10974"/>
                    <a:pt x="374" y="10974"/>
                  </a:cubicBezTo>
                  <a:cubicBezTo>
                    <a:pt x="468" y="11043"/>
                    <a:pt x="561" y="11113"/>
                    <a:pt x="655" y="11182"/>
                  </a:cubicBezTo>
                  <a:cubicBezTo>
                    <a:pt x="655" y="11321"/>
                    <a:pt x="748" y="11390"/>
                    <a:pt x="842" y="11529"/>
                  </a:cubicBezTo>
                  <a:cubicBezTo>
                    <a:pt x="842" y="11529"/>
                    <a:pt x="842" y="11529"/>
                    <a:pt x="842" y="11529"/>
                  </a:cubicBezTo>
                  <a:cubicBezTo>
                    <a:pt x="842" y="11529"/>
                    <a:pt x="748" y="11529"/>
                    <a:pt x="748" y="11529"/>
                  </a:cubicBezTo>
                  <a:cubicBezTo>
                    <a:pt x="655" y="11529"/>
                    <a:pt x="655" y="11529"/>
                    <a:pt x="655" y="11529"/>
                  </a:cubicBezTo>
                  <a:cubicBezTo>
                    <a:pt x="561" y="11599"/>
                    <a:pt x="561" y="11599"/>
                    <a:pt x="561" y="11599"/>
                  </a:cubicBezTo>
                  <a:cubicBezTo>
                    <a:pt x="561" y="11668"/>
                    <a:pt x="468" y="11738"/>
                    <a:pt x="374" y="11807"/>
                  </a:cubicBezTo>
                  <a:cubicBezTo>
                    <a:pt x="281" y="11946"/>
                    <a:pt x="94" y="12085"/>
                    <a:pt x="94" y="12363"/>
                  </a:cubicBezTo>
                  <a:cubicBezTo>
                    <a:pt x="94" y="12432"/>
                    <a:pt x="94" y="12432"/>
                    <a:pt x="94" y="12432"/>
                  </a:cubicBezTo>
                  <a:cubicBezTo>
                    <a:pt x="281" y="12502"/>
                    <a:pt x="281" y="12502"/>
                    <a:pt x="281" y="12502"/>
                  </a:cubicBezTo>
                  <a:cubicBezTo>
                    <a:pt x="281" y="12502"/>
                    <a:pt x="374" y="12502"/>
                    <a:pt x="374" y="12571"/>
                  </a:cubicBezTo>
                  <a:cubicBezTo>
                    <a:pt x="374" y="12641"/>
                    <a:pt x="374" y="12710"/>
                    <a:pt x="281" y="12849"/>
                  </a:cubicBezTo>
                  <a:cubicBezTo>
                    <a:pt x="94" y="12918"/>
                    <a:pt x="94" y="12918"/>
                    <a:pt x="94" y="12918"/>
                  </a:cubicBezTo>
                  <a:cubicBezTo>
                    <a:pt x="281" y="13057"/>
                    <a:pt x="281" y="13057"/>
                    <a:pt x="281" y="13057"/>
                  </a:cubicBezTo>
                  <a:cubicBezTo>
                    <a:pt x="842" y="13266"/>
                    <a:pt x="1403" y="13543"/>
                    <a:pt x="1870" y="13752"/>
                  </a:cubicBezTo>
                  <a:cubicBezTo>
                    <a:pt x="2338" y="13960"/>
                    <a:pt x="2805" y="14168"/>
                    <a:pt x="3179" y="14377"/>
                  </a:cubicBezTo>
                  <a:cubicBezTo>
                    <a:pt x="3740" y="14585"/>
                    <a:pt x="4301" y="14863"/>
                    <a:pt x="4862" y="15141"/>
                  </a:cubicBezTo>
                  <a:cubicBezTo>
                    <a:pt x="5049" y="15210"/>
                    <a:pt x="5049" y="15210"/>
                    <a:pt x="5049" y="15210"/>
                  </a:cubicBezTo>
                  <a:cubicBezTo>
                    <a:pt x="6171" y="15696"/>
                    <a:pt x="7387" y="16252"/>
                    <a:pt x="8603" y="16808"/>
                  </a:cubicBezTo>
                  <a:cubicBezTo>
                    <a:pt x="8790" y="16877"/>
                    <a:pt x="8883" y="16947"/>
                    <a:pt x="9070" y="17016"/>
                  </a:cubicBezTo>
                  <a:cubicBezTo>
                    <a:pt x="9351" y="17155"/>
                    <a:pt x="9725" y="17224"/>
                    <a:pt x="9912" y="17433"/>
                  </a:cubicBezTo>
                  <a:cubicBezTo>
                    <a:pt x="10099" y="17641"/>
                    <a:pt x="10192" y="17850"/>
                    <a:pt x="10192" y="18058"/>
                  </a:cubicBezTo>
                  <a:cubicBezTo>
                    <a:pt x="10192" y="18127"/>
                    <a:pt x="10192" y="18197"/>
                    <a:pt x="10099" y="18336"/>
                  </a:cubicBezTo>
                  <a:cubicBezTo>
                    <a:pt x="10005" y="18475"/>
                    <a:pt x="10005" y="18544"/>
                    <a:pt x="10005" y="18614"/>
                  </a:cubicBezTo>
                  <a:cubicBezTo>
                    <a:pt x="10099" y="18752"/>
                    <a:pt x="10192" y="18752"/>
                    <a:pt x="10286" y="18822"/>
                  </a:cubicBezTo>
                  <a:cubicBezTo>
                    <a:pt x="10473" y="18822"/>
                    <a:pt x="10473" y="18822"/>
                    <a:pt x="10566" y="18891"/>
                  </a:cubicBezTo>
                  <a:cubicBezTo>
                    <a:pt x="10566" y="18961"/>
                    <a:pt x="10566" y="19030"/>
                    <a:pt x="10566" y="19030"/>
                  </a:cubicBezTo>
                  <a:cubicBezTo>
                    <a:pt x="10566" y="19100"/>
                    <a:pt x="10566" y="19169"/>
                    <a:pt x="10660" y="19239"/>
                  </a:cubicBezTo>
                  <a:cubicBezTo>
                    <a:pt x="10753" y="19308"/>
                    <a:pt x="10847" y="19308"/>
                    <a:pt x="10940" y="19377"/>
                  </a:cubicBezTo>
                  <a:cubicBezTo>
                    <a:pt x="11034" y="19377"/>
                    <a:pt x="11034" y="19377"/>
                    <a:pt x="11034" y="19377"/>
                  </a:cubicBezTo>
                  <a:cubicBezTo>
                    <a:pt x="14587" y="21600"/>
                    <a:pt x="14587" y="21600"/>
                    <a:pt x="14587" y="21600"/>
                  </a:cubicBezTo>
                  <a:cubicBezTo>
                    <a:pt x="14587" y="21392"/>
                    <a:pt x="14587" y="21392"/>
                    <a:pt x="14587" y="21392"/>
                  </a:cubicBezTo>
                  <a:cubicBezTo>
                    <a:pt x="14587" y="21322"/>
                    <a:pt x="14681" y="21322"/>
                    <a:pt x="14681" y="21322"/>
                  </a:cubicBezTo>
                  <a:cubicBezTo>
                    <a:pt x="14681" y="21322"/>
                    <a:pt x="14681" y="21322"/>
                    <a:pt x="14774" y="21253"/>
                  </a:cubicBezTo>
                  <a:cubicBezTo>
                    <a:pt x="14774" y="21253"/>
                    <a:pt x="14868" y="21253"/>
                    <a:pt x="14961" y="21253"/>
                  </a:cubicBezTo>
                  <a:cubicBezTo>
                    <a:pt x="15242" y="21044"/>
                    <a:pt x="15335" y="20836"/>
                    <a:pt x="15429" y="20628"/>
                  </a:cubicBezTo>
                  <a:cubicBezTo>
                    <a:pt x="15522" y="20489"/>
                    <a:pt x="15522" y="20419"/>
                    <a:pt x="15616" y="20350"/>
                  </a:cubicBezTo>
                  <a:cubicBezTo>
                    <a:pt x="15709" y="20280"/>
                    <a:pt x="15803" y="20211"/>
                    <a:pt x="15896" y="20141"/>
                  </a:cubicBezTo>
                  <a:cubicBezTo>
                    <a:pt x="15896" y="20003"/>
                    <a:pt x="15990" y="19933"/>
                    <a:pt x="15990" y="19794"/>
                  </a:cubicBezTo>
                  <a:cubicBezTo>
                    <a:pt x="15990" y="19725"/>
                    <a:pt x="16083" y="19655"/>
                    <a:pt x="16083" y="19586"/>
                  </a:cubicBezTo>
                  <a:cubicBezTo>
                    <a:pt x="16177" y="19447"/>
                    <a:pt x="16177" y="19377"/>
                    <a:pt x="16270" y="19239"/>
                  </a:cubicBezTo>
                  <a:cubicBezTo>
                    <a:pt x="16270" y="19169"/>
                    <a:pt x="16270" y="19100"/>
                    <a:pt x="16270" y="19030"/>
                  </a:cubicBezTo>
                  <a:cubicBezTo>
                    <a:pt x="16270" y="19030"/>
                    <a:pt x="16270" y="19030"/>
                    <a:pt x="16270" y="19030"/>
                  </a:cubicBezTo>
                  <a:cubicBezTo>
                    <a:pt x="16364" y="18961"/>
                    <a:pt x="16364" y="18891"/>
                    <a:pt x="16364" y="18822"/>
                  </a:cubicBezTo>
                  <a:cubicBezTo>
                    <a:pt x="16457" y="18822"/>
                    <a:pt x="16457" y="18752"/>
                    <a:pt x="16457" y="18683"/>
                  </a:cubicBezTo>
                  <a:cubicBezTo>
                    <a:pt x="16457" y="18683"/>
                    <a:pt x="16457" y="18614"/>
                    <a:pt x="16551" y="18614"/>
                  </a:cubicBezTo>
                  <a:cubicBezTo>
                    <a:pt x="16551" y="18544"/>
                    <a:pt x="16644" y="18544"/>
                    <a:pt x="16738" y="18475"/>
                  </a:cubicBezTo>
                  <a:cubicBezTo>
                    <a:pt x="16831" y="18405"/>
                    <a:pt x="16925" y="18336"/>
                    <a:pt x="17018" y="18127"/>
                  </a:cubicBezTo>
                  <a:cubicBezTo>
                    <a:pt x="17018" y="18058"/>
                    <a:pt x="17018" y="17988"/>
                    <a:pt x="17112" y="17850"/>
                  </a:cubicBezTo>
                  <a:cubicBezTo>
                    <a:pt x="17112" y="17780"/>
                    <a:pt x="17112" y="17711"/>
                    <a:pt x="17112" y="17572"/>
                  </a:cubicBezTo>
                  <a:cubicBezTo>
                    <a:pt x="17205" y="17502"/>
                    <a:pt x="17205" y="17433"/>
                    <a:pt x="17205" y="17433"/>
                  </a:cubicBezTo>
                  <a:cubicBezTo>
                    <a:pt x="17205" y="17363"/>
                    <a:pt x="17205" y="17363"/>
                    <a:pt x="17205" y="17294"/>
                  </a:cubicBezTo>
                  <a:cubicBezTo>
                    <a:pt x="17205" y="17294"/>
                    <a:pt x="17205" y="17224"/>
                    <a:pt x="17205" y="17224"/>
                  </a:cubicBezTo>
                  <a:cubicBezTo>
                    <a:pt x="17299" y="17155"/>
                    <a:pt x="17299" y="17155"/>
                    <a:pt x="17299" y="17086"/>
                  </a:cubicBezTo>
                  <a:cubicBezTo>
                    <a:pt x="17486" y="16599"/>
                    <a:pt x="17766" y="16599"/>
                    <a:pt x="17953" y="16599"/>
                  </a:cubicBezTo>
                  <a:cubicBezTo>
                    <a:pt x="17953" y="16599"/>
                    <a:pt x="17953" y="16599"/>
                    <a:pt x="18047" y="16599"/>
                  </a:cubicBezTo>
                  <a:cubicBezTo>
                    <a:pt x="18140" y="16599"/>
                    <a:pt x="18140" y="16599"/>
                    <a:pt x="18234" y="16599"/>
                  </a:cubicBezTo>
                  <a:cubicBezTo>
                    <a:pt x="18327" y="16599"/>
                    <a:pt x="18327" y="16599"/>
                    <a:pt x="18421" y="16599"/>
                  </a:cubicBezTo>
                  <a:cubicBezTo>
                    <a:pt x="18701" y="16530"/>
                    <a:pt x="18888" y="16322"/>
                    <a:pt x="18982" y="16044"/>
                  </a:cubicBezTo>
                  <a:cubicBezTo>
                    <a:pt x="18982" y="16044"/>
                    <a:pt x="18982" y="15974"/>
                    <a:pt x="18982" y="15974"/>
                  </a:cubicBezTo>
                  <a:cubicBezTo>
                    <a:pt x="18982" y="15974"/>
                    <a:pt x="18982" y="15905"/>
                    <a:pt x="18982" y="15905"/>
                  </a:cubicBezTo>
                  <a:cubicBezTo>
                    <a:pt x="18982" y="15905"/>
                    <a:pt x="19075" y="15905"/>
                    <a:pt x="19075" y="15835"/>
                  </a:cubicBezTo>
                  <a:cubicBezTo>
                    <a:pt x="19169" y="15766"/>
                    <a:pt x="19169" y="15627"/>
                    <a:pt x="19262" y="15558"/>
                  </a:cubicBezTo>
                  <a:cubicBezTo>
                    <a:pt x="19262" y="15488"/>
                    <a:pt x="19262" y="15488"/>
                    <a:pt x="19262" y="15488"/>
                  </a:cubicBezTo>
                  <a:cubicBezTo>
                    <a:pt x="19262" y="15419"/>
                    <a:pt x="19262" y="15419"/>
                    <a:pt x="19262" y="15349"/>
                  </a:cubicBezTo>
                  <a:cubicBezTo>
                    <a:pt x="19262" y="15349"/>
                    <a:pt x="19356" y="15349"/>
                    <a:pt x="19356" y="15349"/>
                  </a:cubicBezTo>
                  <a:cubicBezTo>
                    <a:pt x="19449" y="15349"/>
                    <a:pt x="19449" y="15349"/>
                    <a:pt x="19543" y="15349"/>
                  </a:cubicBezTo>
                  <a:cubicBezTo>
                    <a:pt x="19636" y="15280"/>
                    <a:pt x="19730" y="15280"/>
                    <a:pt x="19823" y="15210"/>
                  </a:cubicBezTo>
                  <a:cubicBezTo>
                    <a:pt x="19823" y="15210"/>
                    <a:pt x="19917" y="15210"/>
                    <a:pt x="19917" y="15210"/>
                  </a:cubicBezTo>
                  <a:cubicBezTo>
                    <a:pt x="19917" y="15210"/>
                    <a:pt x="20010" y="15210"/>
                    <a:pt x="20010" y="15210"/>
                  </a:cubicBezTo>
                  <a:cubicBezTo>
                    <a:pt x="20104" y="15210"/>
                    <a:pt x="20104" y="15210"/>
                    <a:pt x="20197" y="15210"/>
                  </a:cubicBezTo>
                  <a:cubicBezTo>
                    <a:pt x="20291" y="15210"/>
                    <a:pt x="20291" y="15210"/>
                    <a:pt x="20291" y="15210"/>
                  </a:cubicBezTo>
                  <a:cubicBezTo>
                    <a:pt x="20291" y="15210"/>
                    <a:pt x="20291" y="15210"/>
                    <a:pt x="20291" y="15210"/>
                  </a:cubicBezTo>
                  <a:cubicBezTo>
                    <a:pt x="20384" y="15210"/>
                    <a:pt x="20478" y="15141"/>
                    <a:pt x="20571" y="15002"/>
                  </a:cubicBezTo>
                  <a:cubicBezTo>
                    <a:pt x="20571" y="15002"/>
                    <a:pt x="20571" y="15002"/>
                    <a:pt x="20571" y="15002"/>
                  </a:cubicBezTo>
                  <a:cubicBezTo>
                    <a:pt x="20571" y="14932"/>
                    <a:pt x="20665" y="14863"/>
                    <a:pt x="20665" y="14863"/>
                  </a:cubicBezTo>
                  <a:cubicBezTo>
                    <a:pt x="20758" y="14794"/>
                    <a:pt x="20945" y="14655"/>
                    <a:pt x="20945" y="14516"/>
                  </a:cubicBezTo>
                  <a:cubicBezTo>
                    <a:pt x="21039" y="14377"/>
                    <a:pt x="21039" y="14377"/>
                    <a:pt x="21039" y="14377"/>
                  </a:cubicBezTo>
                  <a:cubicBezTo>
                    <a:pt x="19356" y="12571"/>
                    <a:pt x="19356" y="12571"/>
                    <a:pt x="19356" y="12571"/>
                  </a:cubicBezTo>
                  <a:cubicBezTo>
                    <a:pt x="19356" y="4306"/>
                    <a:pt x="19356" y="4306"/>
                    <a:pt x="19356" y="4306"/>
                  </a:cubicBezTo>
                  <a:cubicBezTo>
                    <a:pt x="21413" y="1806"/>
                    <a:pt x="21413" y="1806"/>
                    <a:pt x="21413" y="1806"/>
                  </a:cubicBezTo>
                  <a:lnTo>
                    <a:pt x="21600" y="1528"/>
                  </a:lnTo>
                  <a:close/>
                  <a:moveTo>
                    <a:pt x="2151" y="11113"/>
                  </a:moveTo>
                  <a:cubicBezTo>
                    <a:pt x="2057" y="11182"/>
                    <a:pt x="1870" y="11182"/>
                    <a:pt x="1496" y="11321"/>
                  </a:cubicBezTo>
                  <a:cubicBezTo>
                    <a:pt x="1496" y="11321"/>
                    <a:pt x="1496" y="11321"/>
                    <a:pt x="1403" y="11321"/>
                  </a:cubicBezTo>
                  <a:cubicBezTo>
                    <a:pt x="1590" y="11182"/>
                    <a:pt x="1777" y="11043"/>
                    <a:pt x="1964" y="11043"/>
                  </a:cubicBezTo>
                  <a:cubicBezTo>
                    <a:pt x="1964" y="11043"/>
                    <a:pt x="1964" y="11043"/>
                    <a:pt x="2057" y="11113"/>
                  </a:cubicBezTo>
                  <a:cubicBezTo>
                    <a:pt x="2057" y="11113"/>
                    <a:pt x="2057" y="11113"/>
                    <a:pt x="2151" y="11113"/>
                  </a:cubicBezTo>
                  <a:close/>
                  <a:moveTo>
                    <a:pt x="1122" y="11529"/>
                  </a:moveTo>
                  <a:cubicBezTo>
                    <a:pt x="1122" y="11529"/>
                    <a:pt x="1216" y="11529"/>
                    <a:pt x="1216" y="11460"/>
                  </a:cubicBezTo>
                  <a:cubicBezTo>
                    <a:pt x="1216" y="11460"/>
                    <a:pt x="1216" y="11460"/>
                    <a:pt x="1216" y="11460"/>
                  </a:cubicBezTo>
                  <a:cubicBezTo>
                    <a:pt x="1216" y="11529"/>
                    <a:pt x="1216" y="11529"/>
                    <a:pt x="1216" y="11599"/>
                  </a:cubicBezTo>
                  <a:cubicBezTo>
                    <a:pt x="1216" y="11529"/>
                    <a:pt x="1122" y="11529"/>
                    <a:pt x="1122" y="11529"/>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62" name="Shape">
              <a:extLst>
                <a:ext uri="{FF2B5EF4-FFF2-40B4-BE49-F238E27FC236}">
                  <a16:creationId xmlns:a16="http://schemas.microsoft.com/office/drawing/2014/main" id="{6746EE86-98A2-064A-B668-AE9A5C5EC05D}"/>
                </a:ext>
              </a:extLst>
            </p:cNvPr>
            <p:cNvSpPr/>
            <p:nvPr/>
          </p:nvSpPr>
          <p:spPr>
            <a:xfrm>
              <a:off x="7459987" y="2997653"/>
              <a:ext cx="1164834" cy="1615336"/>
            </a:xfrm>
            <a:custGeom>
              <a:avLst/>
              <a:gdLst/>
              <a:ahLst/>
              <a:cxnLst>
                <a:cxn ang="0">
                  <a:pos x="wd2" y="hd2"/>
                </a:cxn>
                <a:cxn ang="5400000">
                  <a:pos x="wd2" y="hd2"/>
                </a:cxn>
                <a:cxn ang="10800000">
                  <a:pos x="wd2" y="hd2"/>
                </a:cxn>
                <a:cxn ang="16200000">
                  <a:pos x="wd2" y="hd2"/>
                </a:cxn>
              </a:cxnLst>
              <a:rect l="0" t="0" r="r" b="b"/>
              <a:pathLst>
                <a:path w="21600" h="21600" extrusionOk="0">
                  <a:moveTo>
                    <a:pt x="21239" y="2347"/>
                  </a:moveTo>
                  <a:cubicBezTo>
                    <a:pt x="21167" y="2347"/>
                    <a:pt x="21094" y="2347"/>
                    <a:pt x="21022" y="2347"/>
                  </a:cubicBezTo>
                  <a:cubicBezTo>
                    <a:pt x="21022" y="2347"/>
                    <a:pt x="21022" y="2347"/>
                    <a:pt x="20950" y="2347"/>
                  </a:cubicBezTo>
                  <a:cubicBezTo>
                    <a:pt x="20950" y="2299"/>
                    <a:pt x="20950" y="2251"/>
                    <a:pt x="20950" y="2203"/>
                  </a:cubicBezTo>
                  <a:cubicBezTo>
                    <a:pt x="20950" y="2203"/>
                    <a:pt x="20950" y="2155"/>
                    <a:pt x="20950" y="2155"/>
                  </a:cubicBezTo>
                  <a:cubicBezTo>
                    <a:pt x="20950" y="2059"/>
                    <a:pt x="20950" y="1964"/>
                    <a:pt x="20950" y="1868"/>
                  </a:cubicBezTo>
                  <a:cubicBezTo>
                    <a:pt x="20950" y="1820"/>
                    <a:pt x="20950" y="1820"/>
                    <a:pt x="20950" y="1772"/>
                  </a:cubicBezTo>
                  <a:cubicBezTo>
                    <a:pt x="20950" y="1676"/>
                    <a:pt x="21022" y="1628"/>
                    <a:pt x="20950" y="1533"/>
                  </a:cubicBezTo>
                  <a:cubicBezTo>
                    <a:pt x="20950" y="1437"/>
                    <a:pt x="20950" y="1389"/>
                    <a:pt x="20878" y="1389"/>
                  </a:cubicBezTo>
                  <a:cubicBezTo>
                    <a:pt x="20878" y="1341"/>
                    <a:pt x="20805" y="1293"/>
                    <a:pt x="20805" y="1245"/>
                  </a:cubicBezTo>
                  <a:cubicBezTo>
                    <a:pt x="20805" y="1197"/>
                    <a:pt x="20805" y="1102"/>
                    <a:pt x="20805" y="1006"/>
                  </a:cubicBezTo>
                  <a:cubicBezTo>
                    <a:pt x="20805" y="958"/>
                    <a:pt x="20805" y="958"/>
                    <a:pt x="20878" y="958"/>
                  </a:cubicBezTo>
                  <a:cubicBezTo>
                    <a:pt x="20878" y="910"/>
                    <a:pt x="20878" y="862"/>
                    <a:pt x="20950" y="814"/>
                  </a:cubicBezTo>
                  <a:cubicBezTo>
                    <a:pt x="21022" y="718"/>
                    <a:pt x="21167" y="575"/>
                    <a:pt x="21167" y="431"/>
                  </a:cubicBezTo>
                  <a:cubicBezTo>
                    <a:pt x="21094" y="287"/>
                    <a:pt x="20805" y="239"/>
                    <a:pt x="20589" y="192"/>
                  </a:cubicBezTo>
                  <a:cubicBezTo>
                    <a:pt x="20589" y="144"/>
                    <a:pt x="20516" y="144"/>
                    <a:pt x="20516" y="144"/>
                  </a:cubicBezTo>
                  <a:cubicBezTo>
                    <a:pt x="20444" y="144"/>
                    <a:pt x="20444" y="144"/>
                    <a:pt x="20444" y="144"/>
                  </a:cubicBezTo>
                  <a:cubicBezTo>
                    <a:pt x="20300" y="96"/>
                    <a:pt x="20155" y="0"/>
                    <a:pt x="19938" y="0"/>
                  </a:cubicBezTo>
                  <a:cubicBezTo>
                    <a:pt x="19866" y="0"/>
                    <a:pt x="19794" y="48"/>
                    <a:pt x="19722" y="48"/>
                  </a:cubicBezTo>
                  <a:cubicBezTo>
                    <a:pt x="19505" y="96"/>
                    <a:pt x="19433" y="239"/>
                    <a:pt x="19361" y="335"/>
                  </a:cubicBezTo>
                  <a:cubicBezTo>
                    <a:pt x="19288" y="383"/>
                    <a:pt x="19288" y="431"/>
                    <a:pt x="19216" y="479"/>
                  </a:cubicBezTo>
                  <a:cubicBezTo>
                    <a:pt x="18999" y="718"/>
                    <a:pt x="18421" y="766"/>
                    <a:pt x="17988" y="814"/>
                  </a:cubicBezTo>
                  <a:cubicBezTo>
                    <a:pt x="17988" y="814"/>
                    <a:pt x="17988" y="814"/>
                    <a:pt x="17988" y="814"/>
                  </a:cubicBezTo>
                  <a:cubicBezTo>
                    <a:pt x="17627" y="862"/>
                    <a:pt x="17338" y="958"/>
                    <a:pt x="17049" y="1006"/>
                  </a:cubicBezTo>
                  <a:cubicBezTo>
                    <a:pt x="16832" y="1054"/>
                    <a:pt x="16543" y="1149"/>
                    <a:pt x="16326" y="1197"/>
                  </a:cubicBezTo>
                  <a:cubicBezTo>
                    <a:pt x="16326" y="1197"/>
                    <a:pt x="16254" y="1197"/>
                    <a:pt x="16254" y="1197"/>
                  </a:cubicBezTo>
                  <a:cubicBezTo>
                    <a:pt x="16110" y="1197"/>
                    <a:pt x="16037" y="1149"/>
                    <a:pt x="15965" y="1102"/>
                  </a:cubicBezTo>
                  <a:cubicBezTo>
                    <a:pt x="15893" y="1102"/>
                    <a:pt x="15748" y="1054"/>
                    <a:pt x="15676" y="1054"/>
                  </a:cubicBezTo>
                  <a:cubicBezTo>
                    <a:pt x="15604" y="1006"/>
                    <a:pt x="15532" y="1006"/>
                    <a:pt x="15460" y="1006"/>
                  </a:cubicBezTo>
                  <a:cubicBezTo>
                    <a:pt x="15098" y="1006"/>
                    <a:pt x="14737" y="1197"/>
                    <a:pt x="14665" y="1245"/>
                  </a:cubicBezTo>
                  <a:cubicBezTo>
                    <a:pt x="14448" y="1341"/>
                    <a:pt x="14159" y="1341"/>
                    <a:pt x="13870" y="1341"/>
                  </a:cubicBezTo>
                  <a:cubicBezTo>
                    <a:pt x="13798" y="1341"/>
                    <a:pt x="13798" y="1341"/>
                    <a:pt x="13798" y="1341"/>
                  </a:cubicBezTo>
                  <a:cubicBezTo>
                    <a:pt x="13726" y="1341"/>
                    <a:pt x="13654" y="1341"/>
                    <a:pt x="13654" y="1341"/>
                  </a:cubicBezTo>
                  <a:cubicBezTo>
                    <a:pt x="13581" y="1389"/>
                    <a:pt x="13581" y="1389"/>
                    <a:pt x="13509" y="1389"/>
                  </a:cubicBezTo>
                  <a:cubicBezTo>
                    <a:pt x="13437" y="1389"/>
                    <a:pt x="13437" y="1341"/>
                    <a:pt x="13365" y="1341"/>
                  </a:cubicBezTo>
                  <a:cubicBezTo>
                    <a:pt x="13220" y="1293"/>
                    <a:pt x="13148" y="1293"/>
                    <a:pt x="13076" y="1293"/>
                  </a:cubicBezTo>
                  <a:cubicBezTo>
                    <a:pt x="13003" y="1293"/>
                    <a:pt x="12931" y="1293"/>
                    <a:pt x="12787" y="1341"/>
                  </a:cubicBezTo>
                  <a:cubicBezTo>
                    <a:pt x="12498" y="1389"/>
                    <a:pt x="12281" y="1533"/>
                    <a:pt x="12064" y="1628"/>
                  </a:cubicBezTo>
                  <a:cubicBezTo>
                    <a:pt x="11920" y="1676"/>
                    <a:pt x="11775" y="1772"/>
                    <a:pt x="11631" y="1820"/>
                  </a:cubicBezTo>
                  <a:cubicBezTo>
                    <a:pt x="11559" y="1820"/>
                    <a:pt x="11486" y="1868"/>
                    <a:pt x="11486" y="1868"/>
                  </a:cubicBezTo>
                  <a:cubicBezTo>
                    <a:pt x="11270" y="1916"/>
                    <a:pt x="11125" y="2012"/>
                    <a:pt x="10981" y="2012"/>
                  </a:cubicBezTo>
                  <a:cubicBezTo>
                    <a:pt x="10908" y="2012"/>
                    <a:pt x="10908" y="2012"/>
                    <a:pt x="10836" y="1964"/>
                  </a:cubicBezTo>
                  <a:cubicBezTo>
                    <a:pt x="10764" y="1964"/>
                    <a:pt x="10764" y="1964"/>
                    <a:pt x="10764" y="1964"/>
                  </a:cubicBezTo>
                  <a:cubicBezTo>
                    <a:pt x="10692" y="1916"/>
                    <a:pt x="10547" y="1868"/>
                    <a:pt x="10403" y="1868"/>
                  </a:cubicBezTo>
                  <a:cubicBezTo>
                    <a:pt x="10258" y="1868"/>
                    <a:pt x="10114" y="1868"/>
                    <a:pt x="9969" y="1820"/>
                  </a:cubicBezTo>
                  <a:cubicBezTo>
                    <a:pt x="9897" y="1772"/>
                    <a:pt x="9825" y="1772"/>
                    <a:pt x="9753" y="1772"/>
                  </a:cubicBezTo>
                  <a:cubicBezTo>
                    <a:pt x="9536" y="1772"/>
                    <a:pt x="9319" y="1820"/>
                    <a:pt x="9175" y="1916"/>
                  </a:cubicBezTo>
                  <a:cubicBezTo>
                    <a:pt x="9102" y="1964"/>
                    <a:pt x="9030" y="1964"/>
                    <a:pt x="9030" y="2012"/>
                  </a:cubicBezTo>
                  <a:cubicBezTo>
                    <a:pt x="8886" y="2059"/>
                    <a:pt x="8813" y="2059"/>
                    <a:pt x="8669" y="2107"/>
                  </a:cubicBezTo>
                  <a:cubicBezTo>
                    <a:pt x="8524" y="2203"/>
                    <a:pt x="8235" y="2251"/>
                    <a:pt x="8091" y="2395"/>
                  </a:cubicBezTo>
                  <a:cubicBezTo>
                    <a:pt x="8019" y="2443"/>
                    <a:pt x="7946" y="2443"/>
                    <a:pt x="7874" y="2443"/>
                  </a:cubicBezTo>
                  <a:cubicBezTo>
                    <a:pt x="7802" y="2443"/>
                    <a:pt x="7802" y="2443"/>
                    <a:pt x="7730" y="2443"/>
                  </a:cubicBezTo>
                  <a:cubicBezTo>
                    <a:pt x="7658" y="2395"/>
                    <a:pt x="7585" y="2395"/>
                    <a:pt x="7441" y="2395"/>
                  </a:cubicBezTo>
                  <a:cubicBezTo>
                    <a:pt x="7441" y="2395"/>
                    <a:pt x="7224" y="2395"/>
                    <a:pt x="7224" y="2395"/>
                  </a:cubicBezTo>
                  <a:cubicBezTo>
                    <a:pt x="7224" y="2395"/>
                    <a:pt x="6935" y="2395"/>
                    <a:pt x="6935" y="2395"/>
                  </a:cubicBezTo>
                  <a:cubicBezTo>
                    <a:pt x="6863" y="2395"/>
                    <a:pt x="6791" y="2395"/>
                    <a:pt x="6718" y="2443"/>
                  </a:cubicBezTo>
                  <a:cubicBezTo>
                    <a:pt x="6646" y="2443"/>
                    <a:pt x="6646" y="2443"/>
                    <a:pt x="6574" y="2443"/>
                  </a:cubicBezTo>
                  <a:cubicBezTo>
                    <a:pt x="6502" y="2443"/>
                    <a:pt x="6429" y="2395"/>
                    <a:pt x="6357" y="2395"/>
                  </a:cubicBezTo>
                  <a:cubicBezTo>
                    <a:pt x="6285" y="2347"/>
                    <a:pt x="6213" y="2299"/>
                    <a:pt x="6140" y="2203"/>
                  </a:cubicBezTo>
                  <a:cubicBezTo>
                    <a:pt x="6140" y="2155"/>
                    <a:pt x="6068" y="2107"/>
                    <a:pt x="5996" y="2059"/>
                  </a:cubicBezTo>
                  <a:cubicBezTo>
                    <a:pt x="5924" y="2012"/>
                    <a:pt x="5779" y="1964"/>
                    <a:pt x="5707" y="1916"/>
                  </a:cubicBezTo>
                  <a:cubicBezTo>
                    <a:pt x="5563" y="1868"/>
                    <a:pt x="5490" y="1820"/>
                    <a:pt x="5418" y="1772"/>
                  </a:cubicBezTo>
                  <a:cubicBezTo>
                    <a:pt x="5346" y="1724"/>
                    <a:pt x="5274" y="1628"/>
                    <a:pt x="5201" y="1580"/>
                  </a:cubicBezTo>
                  <a:cubicBezTo>
                    <a:pt x="5201" y="1485"/>
                    <a:pt x="5129" y="1437"/>
                    <a:pt x="5057" y="1389"/>
                  </a:cubicBezTo>
                  <a:cubicBezTo>
                    <a:pt x="4985" y="1245"/>
                    <a:pt x="4840" y="1149"/>
                    <a:pt x="4696" y="1054"/>
                  </a:cubicBezTo>
                  <a:cubicBezTo>
                    <a:pt x="4479" y="862"/>
                    <a:pt x="4479" y="862"/>
                    <a:pt x="4479" y="862"/>
                  </a:cubicBezTo>
                  <a:cubicBezTo>
                    <a:pt x="4334" y="958"/>
                    <a:pt x="4334" y="958"/>
                    <a:pt x="4334" y="958"/>
                  </a:cubicBezTo>
                  <a:cubicBezTo>
                    <a:pt x="4190" y="1102"/>
                    <a:pt x="4045" y="1245"/>
                    <a:pt x="3901" y="1389"/>
                  </a:cubicBezTo>
                  <a:cubicBezTo>
                    <a:pt x="3829" y="1485"/>
                    <a:pt x="3757" y="1580"/>
                    <a:pt x="3612" y="1676"/>
                  </a:cubicBezTo>
                  <a:cubicBezTo>
                    <a:pt x="3612" y="1724"/>
                    <a:pt x="3540" y="1772"/>
                    <a:pt x="3468" y="1820"/>
                  </a:cubicBezTo>
                  <a:cubicBezTo>
                    <a:pt x="3251" y="2059"/>
                    <a:pt x="3106" y="2203"/>
                    <a:pt x="3323" y="2538"/>
                  </a:cubicBezTo>
                  <a:cubicBezTo>
                    <a:pt x="3395" y="2586"/>
                    <a:pt x="3395" y="2634"/>
                    <a:pt x="3468" y="2730"/>
                  </a:cubicBezTo>
                  <a:cubicBezTo>
                    <a:pt x="3468" y="2778"/>
                    <a:pt x="3540" y="2874"/>
                    <a:pt x="3612" y="2922"/>
                  </a:cubicBezTo>
                  <a:cubicBezTo>
                    <a:pt x="3612" y="2969"/>
                    <a:pt x="3684" y="3017"/>
                    <a:pt x="3757" y="3065"/>
                  </a:cubicBezTo>
                  <a:cubicBezTo>
                    <a:pt x="3829" y="3113"/>
                    <a:pt x="3829" y="3113"/>
                    <a:pt x="3901" y="3161"/>
                  </a:cubicBezTo>
                  <a:cubicBezTo>
                    <a:pt x="3973" y="3209"/>
                    <a:pt x="3973" y="3209"/>
                    <a:pt x="3973" y="3209"/>
                  </a:cubicBezTo>
                  <a:cubicBezTo>
                    <a:pt x="3901" y="3305"/>
                    <a:pt x="3973" y="3353"/>
                    <a:pt x="4045" y="3353"/>
                  </a:cubicBezTo>
                  <a:cubicBezTo>
                    <a:pt x="4118" y="3400"/>
                    <a:pt x="4190" y="3400"/>
                    <a:pt x="4262" y="3400"/>
                  </a:cubicBezTo>
                  <a:cubicBezTo>
                    <a:pt x="4262" y="3400"/>
                    <a:pt x="4334" y="3400"/>
                    <a:pt x="4334" y="3353"/>
                  </a:cubicBezTo>
                  <a:cubicBezTo>
                    <a:pt x="4334" y="3496"/>
                    <a:pt x="4407" y="3831"/>
                    <a:pt x="4696" y="3879"/>
                  </a:cubicBezTo>
                  <a:cubicBezTo>
                    <a:pt x="4696" y="4071"/>
                    <a:pt x="4912" y="4119"/>
                    <a:pt x="5129" y="4215"/>
                  </a:cubicBezTo>
                  <a:cubicBezTo>
                    <a:pt x="5201" y="4263"/>
                    <a:pt x="5346" y="4310"/>
                    <a:pt x="5418" y="4358"/>
                  </a:cubicBezTo>
                  <a:cubicBezTo>
                    <a:pt x="5563" y="4454"/>
                    <a:pt x="5635" y="4502"/>
                    <a:pt x="5779" y="4598"/>
                  </a:cubicBezTo>
                  <a:cubicBezTo>
                    <a:pt x="5996" y="4741"/>
                    <a:pt x="5996" y="4741"/>
                    <a:pt x="5996" y="4741"/>
                  </a:cubicBezTo>
                  <a:cubicBezTo>
                    <a:pt x="12570" y="6418"/>
                    <a:pt x="12570" y="6418"/>
                    <a:pt x="12570" y="6418"/>
                  </a:cubicBezTo>
                  <a:cubicBezTo>
                    <a:pt x="14520" y="6322"/>
                    <a:pt x="14520" y="6322"/>
                    <a:pt x="14520" y="6322"/>
                  </a:cubicBezTo>
                  <a:cubicBezTo>
                    <a:pt x="8380" y="11207"/>
                    <a:pt x="8380" y="11207"/>
                    <a:pt x="8380" y="11207"/>
                  </a:cubicBezTo>
                  <a:cubicBezTo>
                    <a:pt x="6068" y="11255"/>
                    <a:pt x="6068" y="11255"/>
                    <a:pt x="6068" y="11255"/>
                  </a:cubicBezTo>
                  <a:cubicBezTo>
                    <a:pt x="6068" y="11207"/>
                    <a:pt x="5996" y="11207"/>
                    <a:pt x="5996" y="11207"/>
                  </a:cubicBezTo>
                  <a:cubicBezTo>
                    <a:pt x="5924" y="11207"/>
                    <a:pt x="5707" y="11255"/>
                    <a:pt x="5201" y="11399"/>
                  </a:cubicBezTo>
                  <a:cubicBezTo>
                    <a:pt x="5129" y="11447"/>
                    <a:pt x="5057" y="11447"/>
                    <a:pt x="4985" y="11494"/>
                  </a:cubicBezTo>
                  <a:cubicBezTo>
                    <a:pt x="4696" y="11542"/>
                    <a:pt x="4407" y="11686"/>
                    <a:pt x="4190" y="11782"/>
                  </a:cubicBezTo>
                  <a:cubicBezTo>
                    <a:pt x="4118" y="11878"/>
                    <a:pt x="4045" y="11925"/>
                    <a:pt x="3973" y="12021"/>
                  </a:cubicBezTo>
                  <a:cubicBezTo>
                    <a:pt x="3901" y="12117"/>
                    <a:pt x="3829" y="12213"/>
                    <a:pt x="3684" y="12261"/>
                  </a:cubicBezTo>
                  <a:cubicBezTo>
                    <a:pt x="3468" y="12357"/>
                    <a:pt x="3179" y="12357"/>
                    <a:pt x="2962" y="12357"/>
                  </a:cubicBezTo>
                  <a:cubicBezTo>
                    <a:pt x="2745" y="12357"/>
                    <a:pt x="2601" y="12404"/>
                    <a:pt x="2456" y="12404"/>
                  </a:cubicBezTo>
                  <a:cubicBezTo>
                    <a:pt x="2239" y="12452"/>
                    <a:pt x="2167" y="12500"/>
                    <a:pt x="2023" y="12548"/>
                  </a:cubicBezTo>
                  <a:cubicBezTo>
                    <a:pt x="1951" y="12596"/>
                    <a:pt x="1951" y="12596"/>
                    <a:pt x="1878" y="12644"/>
                  </a:cubicBezTo>
                  <a:cubicBezTo>
                    <a:pt x="1878" y="12644"/>
                    <a:pt x="1878" y="12644"/>
                    <a:pt x="1878" y="12644"/>
                  </a:cubicBezTo>
                  <a:cubicBezTo>
                    <a:pt x="0" y="14608"/>
                    <a:pt x="0" y="14608"/>
                    <a:pt x="0" y="14608"/>
                  </a:cubicBezTo>
                  <a:cubicBezTo>
                    <a:pt x="0" y="20307"/>
                    <a:pt x="0" y="20307"/>
                    <a:pt x="0" y="20307"/>
                  </a:cubicBezTo>
                  <a:cubicBezTo>
                    <a:pt x="1373" y="21600"/>
                    <a:pt x="1373" y="21600"/>
                    <a:pt x="1373" y="21600"/>
                  </a:cubicBezTo>
                  <a:cubicBezTo>
                    <a:pt x="1517" y="21456"/>
                    <a:pt x="1517" y="21456"/>
                    <a:pt x="1517" y="21456"/>
                  </a:cubicBezTo>
                  <a:cubicBezTo>
                    <a:pt x="1517" y="21408"/>
                    <a:pt x="1589" y="21361"/>
                    <a:pt x="1662" y="21265"/>
                  </a:cubicBezTo>
                  <a:cubicBezTo>
                    <a:pt x="1734" y="21169"/>
                    <a:pt x="1734" y="21169"/>
                    <a:pt x="1734" y="21169"/>
                  </a:cubicBezTo>
                  <a:cubicBezTo>
                    <a:pt x="1806" y="21121"/>
                    <a:pt x="1878" y="21073"/>
                    <a:pt x="1878" y="21025"/>
                  </a:cubicBezTo>
                  <a:cubicBezTo>
                    <a:pt x="1951" y="20929"/>
                    <a:pt x="2023" y="20882"/>
                    <a:pt x="2095" y="20834"/>
                  </a:cubicBezTo>
                  <a:cubicBezTo>
                    <a:pt x="2167" y="20738"/>
                    <a:pt x="2239" y="20690"/>
                    <a:pt x="2239" y="20594"/>
                  </a:cubicBezTo>
                  <a:cubicBezTo>
                    <a:pt x="2239" y="20546"/>
                    <a:pt x="2239" y="20546"/>
                    <a:pt x="2312" y="20498"/>
                  </a:cubicBezTo>
                  <a:cubicBezTo>
                    <a:pt x="2528" y="20355"/>
                    <a:pt x="2673" y="20211"/>
                    <a:pt x="2817" y="20067"/>
                  </a:cubicBezTo>
                  <a:cubicBezTo>
                    <a:pt x="2962" y="19924"/>
                    <a:pt x="3106" y="19828"/>
                    <a:pt x="3251" y="19684"/>
                  </a:cubicBezTo>
                  <a:cubicBezTo>
                    <a:pt x="3540" y="19445"/>
                    <a:pt x="3901" y="19205"/>
                    <a:pt x="4190" y="18918"/>
                  </a:cubicBezTo>
                  <a:cubicBezTo>
                    <a:pt x="4334" y="18774"/>
                    <a:pt x="4479" y="18631"/>
                    <a:pt x="4696" y="18535"/>
                  </a:cubicBezTo>
                  <a:cubicBezTo>
                    <a:pt x="4985" y="18391"/>
                    <a:pt x="5201" y="18200"/>
                    <a:pt x="5418" y="18008"/>
                  </a:cubicBezTo>
                  <a:cubicBezTo>
                    <a:pt x="5563" y="17912"/>
                    <a:pt x="5707" y="17816"/>
                    <a:pt x="5852" y="17673"/>
                  </a:cubicBezTo>
                  <a:cubicBezTo>
                    <a:pt x="6068" y="17577"/>
                    <a:pt x="6213" y="17481"/>
                    <a:pt x="6357" y="17385"/>
                  </a:cubicBezTo>
                  <a:cubicBezTo>
                    <a:pt x="6502" y="17290"/>
                    <a:pt x="6574" y="17242"/>
                    <a:pt x="6718" y="17146"/>
                  </a:cubicBezTo>
                  <a:cubicBezTo>
                    <a:pt x="6791" y="17098"/>
                    <a:pt x="6863" y="17050"/>
                    <a:pt x="6935" y="17050"/>
                  </a:cubicBezTo>
                  <a:cubicBezTo>
                    <a:pt x="7007" y="17002"/>
                    <a:pt x="7080" y="16954"/>
                    <a:pt x="7152" y="16906"/>
                  </a:cubicBezTo>
                  <a:cubicBezTo>
                    <a:pt x="7224" y="16859"/>
                    <a:pt x="7369" y="16763"/>
                    <a:pt x="7441" y="16715"/>
                  </a:cubicBezTo>
                  <a:cubicBezTo>
                    <a:pt x="7802" y="16523"/>
                    <a:pt x="8091" y="16380"/>
                    <a:pt x="8452" y="16188"/>
                  </a:cubicBezTo>
                  <a:cubicBezTo>
                    <a:pt x="8597" y="16140"/>
                    <a:pt x="8741" y="16044"/>
                    <a:pt x="8886" y="15996"/>
                  </a:cubicBezTo>
                  <a:cubicBezTo>
                    <a:pt x="9102" y="15901"/>
                    <a:pt x="9247" y="15853"/>
                    <a:pt x="9464" y="15709"/>
                  </a:cubicBezTo>
                  <a:cubicBezTo>
                    <a:pt x="9536" y="15661"/>
                    <a:pt x="9536" y="15661"/>
                    <a:pt x="9536" y="15661"/>
                  </a:cubicBezTo>
                  <a:cubicBezTo>
                    <a:pt x="9753" y="15613"/>
                    <a:pt x="9897" y="15518"/>
                    <a:pt x="10041" y="15470"/>
                  </a:cubicBezTo>
                  <a:cubicBezTo>
                    <a:pt x="10258" y="15374"/>
                    <a:pt x="10475" y="15326"/>
                    <a:pt x="10619" y="15182"/>
                  </a:cubicBezTo>
                  <a:cubicBezTo>
                    <a:pt x="10764" y="15134"/>
                    <a:pt x="10836" y="15039"/>
                    <a:pt x="10981" y="14991"/>
                  </a:cubicBezTo>
                  <a:cubicBezTo>
                    <a:pt x="11053" y="14895"/>
                    <a:pt x="11125" y="14847"/>
                    <a:pt x="11197" y="14799"/>
                  </a:cubicBezTo>
                  <a:cubicBezTo>
                    <a:pt x="11270" y="14703"/>
                    <a:pt x="11342" y="14655"/>
                    <a:pt x="11414" y="14560"/>
                  </a:cubicBezTo>
                  <a:cubicBezTo>
                    <a:pt x="11559" y="14512"/>
                    <a:pt x="11631" y="14464"/>
                    <a:pt x="11703" y="14368"/>
                  </a:cubicBezTo>
                  <a:cubicBezTo>
                    <a:pt x="11847" y="14320"/>
                    <a:pt x="11920" y="14272"/>
                    <a:pt x="11992" y="14176"/>
                  </a:cubicBezTo>
                  <a:cubicBezTo>
                    <a:pt x="12136" y="14129"/>
                    <a:pt x="12281" y="13985"/>
                    <a:pt x="12353" y="13889"/>
                  </a:cubicBezTo>
                  <a:cubicBezTo>
                    <a:pt x="12425" y="13841"/>
                    <a:pt x="12498" y="13793"/>
                    <a:pt x="12570" y="13745"/>
                  </a:cubicBezTo>
                  <a:cubicBezTo>
                    <a:pt x="12570" y="13698"/>
                    <a:pt x="12642" y="13698"/>
                    <a:pt x="12642" y="13650"/>
                  </a:cubicBezTo>
                  <a:cubicBezTo>
                    <a:pt x="12714" y="13602"/>
                    <a:pt x="12787" y="13554"/>
                    <a:pt x="12787" y="13506"/>
                  </a:cubicBezTo>
                  <a:cubicBezTo>
                    <a:pt x="12931" y="13458"/>
                    <a:pt x="13076" y="13362"/>
                    <a:pt x="13220" y="13267"/>
                  </a:cubicBezTo>
                  <a:cubicBezTo>
                    <a:pt x="13365" y="13219"/>
                    <a:pt x="13437" y="13123"/>
                    <a:pt x="13509" y="13027"/>
                  </a:cubicBezTo>
                  <a:cubicBezTo>
                    <a:pt x="13581" y="13027"/>
                    <a:pt x="13581" y="12979"/>
                    <a:pt x="13654" y="12931"/>
                  </a:cubicBezTo>
                  <a:cubicBezTo>
                    <a:pt x="13726" y="12883"/>
                    <a:pt x="13798" y="12835"/>
                    <a:pt x="13870" y="12788"/>
                  </a:cubicBezTo>
                  <a:cubicBezTo>
                    <a:pt x="13942" y="12740"/>
                    <a:pt x="13942" y="12740"/>
                    <a:pt x="13942" y="12740"/>
                  </a:cubicBezTo>
                  <a:cubicBezTo>
                    <a:pt x="14231" y="12452"/>
                    <a:pt x="14593" y="12117"/>
                    <a:pt x="14882" y="11734"/>
                  </a:cubicBezTo>
                  <a:cubicBezTo>
                    <a:pt x="15026" y="11638"/>
                    <a:pt x="15098" y="11494"/>
                    <a:pt x="15243" y="11351"/>
                  </a:cubicBezTo>
                  <a:cubicBezTo>
                    <a:pt x="15243" y="11303"/>
                    <a:pt x="15315" y="11255"/>
                    <a:pt x="15387" y="11159"/>
                  </a:cubicBezTo>
                  <a:cubicBezTo>
                    <a:pt x="15387" y="11111"/>
                    <a:pt x="15460" y="11111"/>
                    <a:pt x="15460" y="11063"/>
                  </a:cubicBezTo>
                  <a:cubicBezTo>
                    <a:pt x="15532" y="10968"/>
                    <a:pt x="15604" y="10920"/>
                    <a:pt x="15676" y="10824"/>
                  </a:cubicBezTo>
                  <a:cubicBezTo>
                    <a:pt x="15676" y="10776"/>
                    <a:pt x="15676" y="10728"/>
                    <a:pt x="15748" y="10728"/>
                  </a:cubicBezTo>
                  <a:cubicBezTo>
                    <a:pt x="15748" y="10632"/>
                    <a:pt x="15748" y="10584"/>
                    <a:pt x="15821" y="10537"/>
                  </a:cubicBezTo>
                  <a:cubicBezTo>
                    <a:pt x="15893" y="10489"/>
                    <a:pt x="15893" y="10441"/>
                    <a:pt x="15965" y="10393"/>
                  </a:cubicBezTo>
                  <a:cubicBezTo>
                    <a:pt x="16037" y="10297"/>
                    <a:pt x="16110" y="10249"/>
                    <a:pt x="16182" y="10153"/>
                  </a:cubicBezTo>
                  <a:cubicBezTo>
                    <a:pt x="16182" y="10106"/>
                    <a:pt x="16182" y="10106"/>
                    <a:pt x="16182" y="10106"/>
                  </a:cubicBezTo>
                  <a:cubicBezTo>
                    <a:pt x="16254" y="10010"/>
                    <a:pt x="16326" y="9914"/>
                    <a:pt x="16471" y="9818"/>
                  </a:cubicBezTo>
                  <a:cubicBezTo>
                    <a:pt x="16471" y="9770"/>
                    <a:pt x="16543" y="9770"/>
                    <a:pt x="16543" y="9722"/>
                  </a:cubicBezTo>
                  <a:cubicBezTo>
                    <a:pt x="16615" y="9675"/>
                    <a:pt x="16688" y="9627"/>
                    <a:pt x="16760" y="9531"/>
                  </a:cubicBezTo>
                  <a:cubicBezTo>
                    <a:pt x="16904" y="9387"/>
                    <a:pt x="16904" y="9196"/>
                    <a:pt x="16977" y="9052"/>
                  </a:cubicBezTo>
                  <a:cubicBezTo>
                    <a:pt x="16977" y="8956"/>
                    <a:pt x="16977" y="8860"/>
                    <a:pt x="17049" y="8717"/>
                  </a:cubicBezTo>
                  <a:cubicBezTo>
                    <a:pt x="17121" y="8573"/>
                    <a:pt x="17266" y="8381"/>
                    <a:pt x="17410" y="8190"/>
                  </a:cubicBezTo>
                  <a:cubicBezTo>
                    <a:pt x="17482" y="8094"/>
                    <a:pt x="17627" y="7950"/>
                    <a:pt x="17699" y="7807"/>
                  </a:cubicBezTo>
                  <a:cubicBezTo>
                    <a:pt x="17699" y="7759"/>
                    <a:pt x="17771" y="7711"/>
                    <a:pt x="17771" y="7663"/>
                  </a:cubicBezTo>
                  <a:cubicBezTo>
                    <a:pt x="17843" y="7615"/>
                    <a:pt x="17916" y="7567"/>
                    <a:pt x="17988" y="7519"/>
                  </a:cubicBezTo>
                  <a:cubicBezTo>
                    <a:pt x="17988" y="7471"/>
                    <a:pt x="18060" y="7376"/>
                    <a:pt x="18132" y="7328"/>
                  </a:cubicBezTo>
                  <a:cubicBezTo>
                    <a:pt x="18205" y="7232"/>
                    <a:pt x="18277" y="7136"/>
                    <a:pt x="18277" y="7040"/>
                  </a:cubicBezTo>
                  <a:cubicBezTo>
                    <a:pt x="18277" y="6992"/>
                    <a:pt x="18349" y="6992"/>
                    <a:pt x="18349" y="6945"/>
                  </a:cubicBezTo>
                  <a:cubicBezTo>
                    <a:pt x="18349" y="6849"/>
                    <a:pt x="18349" y="6801"/>
                    <a:pt x="18421" y="6705"/>
                  </a:cubicBezTo>
                  <a:cubicBezTo>
                    <a:pt x="18421" y="6657"/>
                    <a:pt x="18421" y="6609"/>
                    <a:pt x="18421" y="6561"/>
                  </a:cubicBezTo>
                  <a:cubicBezTo>
                    <a:pt x="18494" y="6514"/>
                    <a:pt x="18566" y="6466"/>
                    <a:pt x="18638" y="6418"/>
                  </a:cubicBezTo>
                  <a:cubicBezTo>
                    <a:pt x="18638" y="6370"/>
                    <a:pt x="18710" y="6370"/>
                    <a:pt x="18710" y="6322"/>
                  </a:cubicBezTo>
                  <a:cubicBezTo>
                    <a:pt x="18855" y="6274"/>
                    <a:pt x="18927" y="6130"/>
                    <a:pt x="18999" y="6035"/>
                  </a:cubicBezTo>
                  <a:cubicBezTo>
                    <a:pt x="18999" y="5987"/>
                    <a:pt x="18999" y="5987"/>
                    <a:pt x="19072" y="5939"/>
                  </a:cubicBezTo>
                  <a:cubicBezTo>
                    <a:pt x="19072" y="5891"/>
                    <a:pt x="19144" y="5843"/>
                    <a:pt x="19216" y="5747"/>
                  </a:cubicBezTo>
                  <a:cubicBezTo>
                    <a:pt x="19216" y="5699"/>
                    <a:pt x="19288" y="5651"/>
                    <a:pt x="19361" y="5556"/>
                  </a:cubicBezTo>
                  <a:cubicBezTo>
                    <a:pt x="19361" y="5508"/>
                    <a:pt x="19433" y="5412"/>
                    <a:pt x="19433" y="5364"/>
                  </a:cubicBezTo>
                  <a:cubicBezTo>
                    <a:pt x="19577" y="5173"/>
                    <a:pt x="19649" y="5029"/>
                    <a:pt x="19794" y="4885"/>
                  </a:cubicBezTo>
                  <a:cubicBezTo>
                    <a:pt x="19794" y="4885"/>
                    <a:pt x="19794" y="4885"/>
                    <a:pt x="19866" y="4837"/>
                  </a:cubicBezTo>
                  <a:cubicBezTo>
                    <a:pt x="19866" y="4837"/>
                    <a:pt x="19938" y="4789"/>
                    <a:pt x="20011" y="4741"/>
                  </a:cubicBezTo>
                  <a:cubicBezTo>
                    <a:pt x="20011" y="4694"/>
                    <a:pt x="20011" y="4646"/>
                    <a:pt x="20011" y="4598"/>
                  </a:cubicBezTo>
                  <a:cubicBezTo>
                    <a:pt x="20011" y="4598"/>
                    <a:pt x="20011" y="4550"/>
                    <a:pt x="20011" y="4550"/>
                  </a:cubicBezTo>
                  <a:cubicBezTo>
                    <a:pt x="20083" y="4502"/>
                    <a:pt x="20083" y="4502"/>
                    <a:pt x="20155" y="4454"/>
                  </a:cubicBezTo>
                  <a:cubicBezTo>
                    <a:pt x="20227" y="4406"/>
                    <a:pt x="20300" y="4358"/>
                    <a:pt x="20300" y="4263"/>
                  </a:cubicBezTo>
                  <a:cubicBezTo>
                    <a:pt x="20372" y="4167"/>
                    <a:pt x="20372" y="4071"/>
                    <a:pt x="20372" y="3975"/>
                  </a:cubicBezTo>
                  <a:cubicBezTo>
                    <a:pt x="20372" y="3927"/>
                    <a:pt x="20372" y="3927"/>
                    <a:pt x="20372" y="3927"/>
                  </a:cubicBezTo>
                  <a:cubicBezTo>
                    <a:pt x="20372" y="3784"/>
                    <a:pt x="20372" y="3640"/>
                    <a:pt x="20444" y="3544"/>
                  </a:cubicBezTo>
                  <a:cubicBezTo>
                    <a:pt x="20444" y="3400"/>
                    <a:pt x="20516" y="3305"/>
                    <a:pt x="20516" y="3161"/>
                  </a:cubicBezTo>
                  <a:cubicBezTo>
                    <a:pt x="20516" y="3113"/>
                    <a:pt x="20516" y="3065"/>
                    <a:pt x="20516" y="3017"/>
                  </a:cubicBezTo>
                  <a:cubicBezTo>
                    <a:pt x="20516" y="2922"/>
                    <a:pt x="20516" y="2874"/>
                    <a:pt x="20516" y="2778"/>
                  </a:cubicBezTo>
                  <a:cubicBezTo>
                    <a:pt x="20589" y="2730"/>
                    <a:pt x="20589" y="2682"/>
                    <a:pt x="20733" y="2682"/>
                  </a:cubicBezTo>
                  <a:cubicBezTo>
                    <a:pt x="20805" y="2682"/>
                    <a:pt x="20805" y="2682"/>
                    <a:pt x="20878" y="2682"/>
                  </a:cubicBezTo>
                  <a:cubicBezTo>
                    <a:pt x="20878" y="2682"/>
                    <a:pt x="20950" y="2682"/>
                    <a:pt x="20950" y="2682"/>
                  </a:cubicBezTo>
                  <a:cubicBezTo>
                    <a:pt x="20950" y="2586"/>
                    <a:pt x="20950" y="2586"/>
                    <a:pt x="20950" y="2586"/>
                  </a:cubicBezTo>
                  <a:cubicBezTo>
                    <a:pt x="21022" y="2730"/>
                    <a:pt x="21022" y="2730"/>
                    <a:pt x="21022" y="2730"/>
                  </a:cubicBezTo>
                  <a:cubicBezTo>
                    <a:pt x="21022" y="2730"/>
                    <a:pt x="21094" y="2730"/>
                    <a:pt x="21167" y="2778"/>
                  </a:cubicBezTo>
                  <a:cubicBezTo>
                    <a:pt x="21167" y="2778"/>
                    <a:pt x="21239" y="2778"/>
                    <a:pt x="21239" y="2778"/>
                  </a:cubicBezTo>
                  <a:cubicBezTo>
                    <a:pt x="21311" y="2778"/>
                    <a:pt x="21383" y="2778"/>
                    <a:pt x="21456" y="2730"/>
                  </a:cubicBezTo>
                  <a:cubicBezTo>
                    <a:pt x="21528" y="2682"/>
                    <a:pt x="21600" y="2634"/>
                    <a:pt x="21600" y="2538"/>
                  </a:cubicBezTo>
                  <a:cubicBezTo>
                    <a:pt x="21528" y="2395"/>
                    <a:pt x="21456" y="2347"/>
                    <a:pt x="21239" y="2347"/>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63" name="Shape">
              <a:extLst>
                <a:ext uri="{FF2B5EF4-FFF2-40B4-BE49-F238E27FC236}">
                  <a16:creationId xmlns:a16="http://schemas.microsoft.com/office/drawing/2014/main" id="{55147265-19EF-7F4B-B231-920DFB6FB84A}"/>
                </a:ext>
              </a:extLst>
            </p:cNvPr>
            <p:cNvSpPr/>
            <p:nvPr/>
          </p:nvSpPr>
          <p:spPr>
            <a:xfrm>
              <a:off x="4656235" y="7026119"/>
              <a:ext cx="1821260" cy="1504752"/>
            </a:xfrm>
            <a:custGeom>
              <a:avLst/>
              <a:gdLst/>
              <a:ahLst/>
              <a:cxnLst>
                <a:cxn ang="0">
                  <a:pos x="wd2" y="hd2"/>
                </a:cxn>
                <a:cxn ang="5400000">
                  <a:pos x="wd2" y="hd2"/>
                </a:cxn>
                <a:cxn ang="10800000">
                  <a:pos x="wd2" y="hd2"/>
                </a:cxn>
                <a:cxn ang="16200000">
                  <a:pos x="wd2" y="hd2"/>
                </a:cxn>
              </a:cxnLst>
              <a:rect l="0" t="0" r="r" b="b"/>
              <a:pathLst>
                <a:path w="21600" h="21600" extrusionOk="0">
                  <a:moveTo>
                    <a:pt x="21600" y="8280"/>
                  </a:moveTo>
                  <a:cubicBezTo>
                    <a:pt x="21600" y="8229"/>
                    <a:pt x="21600" y="8229"/>
                    <a:pt x="21600" y="8229"/>
                  </a:cubicBezTo>
                  <a:cubicBezTo>
                    <a:pt x="21554" y="8177"/>
                    <a:pt x="21554" y="8177"/>
                    <a:pt x="21554" y="8177"/>
                  </a:cubicBezTo>
                  <a:cubicBezTo>
                    <a:pt x="21369" y="8126"/>
                    <a:pt x="21231" y="8126"/>
                    <a:pt x="21092" y="8074"/>
                  </a:cubicBezTo>
                  <a:cubicBezTo>
                    <a:pt x="20954" y="8074"/>
                    <a:pt x="20815" y="8023"/>
                    <a:pt x="20631" y="7971"/>
                  </a:cubicBezTo>
                  <a:cubicBezTo>
                    <a:pt x="20585" y="7971"/>
                    <a:pt x="20585" y="7971"/>
                    <a:pt x="20585" y="7971"/>
                  </a:cubicBezTo>
                  <a:cubicBezTo>
                    <a:pt x="20538" y="8074"/>
                    <a:pt x="20538" y="8074"/>
                    <a:pt x="20538" y="8074"/>
                  </a:cubicBezTo>
                  <a:cubicBezTo>
                    <a:pt x="20538" y="8126"/>
                    <a:pt x="20492" y="8229"/>
                    <a:pt x="20492" y="8331"/>
                  </a:cubicBezTo>
                  <a:cubicBezTo>
                    <a:pt x="20446" y="8537"/>
                    <a:pt x="20446" y="8743"/>
                    <a:pt x="20354" y="8846"/>
                  </a:cubicBezTo>
                  <a:cubicBezTo>
                    <a:pt x="20308" y="8846"/>
                    <a:pt x="20262" y="8897"/>
                    <a:pt x="20215" y="8897"/>
                  </a:cubicBezTo>
                  <a:cubicBezTo>
                    <a:pt x="20123" y="8897"/>
                    <a:pt x="20031" y="8846"/>
                    <a:pt x="19938" y="8794"/>
                  </a:cubicBezTo>
                  <a:cubicBezTo>
                    <a:pt x="19846" y="8794"/>
                    <a:pt x="19800" y="8743"/>
                    <a:pt x="19754" y="8743"/>
                  </a:cubicBezTo>
                  <a:cubicBezTo>
                    <a:pt x="19708" y="8743"/>
                    <a:pt x="19708" y="8743"/>
                    <a:pt x="19708" y="8743"/>
                  </a:cubicBezTo>
                  <a:cubicBezTo>
                    <a:pt x="19662" y="8743"/>
                    <a:pt x="19662" y="8743"/>
                    <a:pt x="19662" y="8743"/>
                  </a:cubicBezTo>
                  <a:cubicBezTo>
                    <a:pt x="19615" y="8743"/>
                    <a:pt x="19615" y="8743"/>
                    <a:pt x="19615" y="8743"/>
                  </a:cubicBezTo>
                  <a:cubicBezTo>
                    <a:pt x="19615" y="8743"/>
                    <a:pt x="19569" y="8743"/>
                    <a:pt x="19569" y="8743"/>
                  </a:cubicBezTo>
                  <a:cubicBezTo>
                    <a:pt x="19523" y="8743"/>
                    <a:pt x="19523" y="8743"/>
                    <a:pt x="19477" y="8743"/>
                  </a:cubicBezTo>
                  <a:cubicBezTo>
                    <a:pt x="19431" y="8691"/>
                    <a:pt x="19385" y="8691"/>
                    <a:pt x="19385" y="8640"/>
                  </a:cubicBezTo>
                  <a:cubicBezTo>
                    <a:pt x="19385" y="8589"/>
                    <a:pt x="19385" y="8589"/>
                    <a:pt x="19385" y="8589"/>
                  </a:cubicBezTo>
                  <a:cubicBezTo>
                    <a:pt x="19385" y="8589"/>
                    <a:pt x="19385" y="8589"/>
                    <a:pt x="19385" y="8589"/>
                  </a:cubicBezTo>
                  <a:cubicBezTo>
                    <a:pt x="19200" y="8383"/>
                    <a:pt x="19200" y="8331"/>
                    <a:pt x="19200" y="8074"/>
                  </a:cubicBezTo>
                  <a:cubicBezTo>
                    <a:pt x="19200" y="8023"/>
                    <a:pt x="19200" y="8023"/>
                    <a:pt x="19200" y="8023"/>
                  </a:cubicBezTo>
                  <a:cubicBezTo>
                    <a:pt x="19108" y="7971"/>
                    <a:pt x="19108" y="7971"/>
                    <a:pt x="19108" y="7971"/>
                  </a:cubicBezTo>
                  <a:cubicBezTo>
                    <a:pt x="19062" y="7971"/>
                    <a:pt x="18969" y="7920"/>
                    <a:pt x="18969" y="7920"/>
                  </a:cubicBezTo>
                  <a:cubicBezTo>
                    <a:pt x="18923" y="7869"/>
                    <a:pt x="18923" y="7817"/>
                    <a:pt x="18923" y="7714"/>
                  </a:cubicBezTo>
                  <a:cubicBezTo>
                    <a:pt x="18877" y="7663"/>
                    <a:pt x="18877" y="7663"/>
                    <a:pt x="18877" y="7663"/>
                  </a:cubicBezTo>
                  <a:cubicBezTo>
                    <a:pt x="18877" y="7406"/>
                    <a:pt x="19015" y="7200"/>
                    <a:pt x="19154" y="6994"/>
                  </a:cubicBezTo>
                  <a:cubicBezTo>
                    <a:pt x="19200" y="6891"/>
                    <a:pt x="19246" y="6789"/>
                    <a:pt x="19292" y="6737"/>
                  </a:cubicBezTo>
                  <a:cubicBezTo>
                    <a:pt x="19385" y="6531"/>
                    <a:pt x="19477" y="6377"/>
                    <a:pt x="19615" y="6274"/>
                  </a:cubicBezTo>
                  <a:cubicBezTo>
                    <a:pt x="19708" y="6171"/>
                    <a:pt x="19754" y="6171"/>
                    <a:pt x="19800" y="6171"/>
                  </a:cubicBezTo>
                  <a:cubicBezTo>
                    <a:pt x="19846" y="6171"/>
                    <a:pt x="19846" y="6171"/>
                    <a:pt x="19892" y="6223"/>
                  </a:cubicBezTo>
                  <a:cubicBezTo>
                    <a:pt x="19938" y="6274"/>
                    <a:pt x="19938" y="6326"/>
                    <a:pt x="19985" y="6326"/>
                  </a:cubicBezTo>
                  <a:cubicBezTo>
                    <a:pt x="20077" y="6429"/>
                    <a:pt x="20169" y="6480"/>
                    <a:pt x="20308" y="6531"/>
                  </a:cubicBezTo>
                  <a:cubicBezTo>
                    <a:pt x="20446" y="6583"/>
                    <a:pt x="20446" y="6583"/>
                    <a:pt x="20446" y="6583"/>
                  </a:cubicBezTo>
                  <a:cubicBezTo>
                    <a:pt x="20446" y="6480"/>
                    <a:pt x="20446" y="6480"/>
                    <a:pt x="20446" y="6480"/>
                  </a:cubicBezTo>
                  <a:cubicBezTo>
                    <a:pt x="20446" y="6429"/>
                    <a:pt x="20492" y="6326"/>
                    <a:pt x="20492" y="6274"/>
                  </a:cubicBezTo>
                  <a:cubicBezTo>
                    <a:pt x="20538" y="6223"/>
                    <a:pt x="20538" y="6120"/>
                    <a:pt x="20538" y="6017"/>
                  </a:cubicBezTo>
                  <a:cubicBezTo>
                    <a:pt x="20538" y="5914"/>
                    <a:pt x="20538" y="5811"/>
                    <a:pt x="20538" y="5657"/>
                  </a:cubicBezTo>
                  <a:cubicBezTo>
                    <a:pt x="20538" y="5554"/>
                    <a:pt x="20538" y="5451"/>
                    <a:pt x="20585" y="5349"/>
                  </a:cubicBezTo>
                  <a:cubicBezTo>
                    <a:pt x="20585" y="5194"/>
                    <a:pt x="20585" y="4989"/>
                    <a:pt x="20585" y="4783"/>
                  </a:cubicBezTo>
                  <a:cubicBezTo>
                    <a:pt x="20585" y="4731"/>
                    <a:pt x="20585" y="4731"/>
                    <a:pt x="20585" y="4731"/>
                  </a:cubicBezTo>
                  <a:cubicBezTo>
                    <a:pt x="20631" y="4526"/>
                    <a:pt x="20631" y="4320"/>
                    <a:pt x="20631" y="4114"/>
                  </a:cubicBezTo>
                  <a:cubicBezTo>
                    <a:pt x="20631" y="3960"/>
                    <a:pt x="20585" y="3857"/>
                    <a:pt x="20585" y="3754"/>
                  </a:cubicBezTo>
                  <a:cubicBezTo>
                    <a:pt x="20538" y="3703"/>
                    <a:pt x="20492" y="3600"/>
                    <a:pt x="20492" y="3549"/>
                  </a:cubicBezTo>
                  <a:cubicBezTo>
                    <a:pt x="20492" y="3497"/>
                    <a:pt x="20492" y="3394"/>
                    <a:pt x="20492" y="3343"/>
                  </a:cubicBezTo>
                  <a:cubicBezTo>
                    <a:pt x="20492" y="3291"/>
                    <a:pt x="20492" y="3240"/>
                    <a:pt x="20492" y="3240"/>
                  </a:cubicBezTo>
                  <a:cubicBezTo>
                    <a:pt x="20492" y="3137"/>
                    <a:pt x="20492" y="3086"/>
                    <a:pt x="20446" y="3034"/>
                  </a:cubicBezTo>
                  <a:cubicBezTo>
                    <a:pt x="20400" y="2983"/>
                    <a:pt x="20400" y="2983"/>
                    <a:pt x="20400" y="2931"/>
                  </a:cubicBezTo>
                  <a:cubicBezTo>
                    <a:pt x="20308" y="2829"/>
                    <a:pt x="20262" y="2623"/>
                    <a:pt x="20169" y="2417"/>
                  </a:cubicBezTo>
                  <a:cubicBezTo>
                    <a:pt x="20123" y="2314"/>
                    <a:pt x="20123" y="2211"/>
                    <a:pt x="20123" y="2109"/>
                  </a:cubicBezTo>
                  <a:cubicBezTo>
                    <a:pt x="20123" y="2006"/>
                    <a:pt x="20123" y="1903"/>
                    <a:pt x="20123" y="1800"/>
                  </a:cubicBezTo>
                  <a:cubicBezTo>
                    <a:pt x="20077" y="1697"/>
                    <a:pt x="20077" y="1594"/>
                    <a:pt x="20031" y="1543"/>
                  </a:cubicBezTo>
                  <a:cubicBezTo>
                    <a:pt x="20031" y="1491"/>
                    <a:pt x="20031" y="1491"/>
                    <a:pt x="20031" y="1491"/>
                  </a:cubicBezTo>
                  <a:cubicBezTo>
                    <a:pt x="19985" y="1389"/>
                    <a:pt x="19985" y="1286"/>
                    <a:pt x="19938" y="1183"/>
                  </a:cubicBezTo>
                  <a:cubicBezTo>
                    <a:pt x="19938" y="1131"/>
                    <a:pt x="19938" y="1029"/>
                    <a:pt x="19892" y="977"/>
                  </a:cubicBezTo>
                  <a:cubicBezTo>
                    <a:pt x="19892" y="823"/>
                    <a:pt x="19846" y="669"/>
                    <a:pt x="19800" y="566"/>
                  </a:cubicBezTo>
                  <a:cubicBezTo>
                    <a:pt x="19800" y="514"/>
                    <a:pt x="19800" y="514"/>
                    <a:pt x="19800" y="514"/>
                  </a:cubicBezTo>
                  <a:cubicBezTo>
                    <a:pt x="19708" y="463"/>
                    <a:pt x="19708" y="463"/>
                    <a:pt x="19708" y="463"/>
                  </a:cubicBezTo>
                  <a:cubicBezTo>
                    <a:pt x="19569" y="411"/>
                    <a:pt x="19477" y="309"/>
                    <a:pt x="19338" y="309"/>
                  </a:cubicBezTo>
                  <a:cubicBezTo>
                    <a:pt x="19292" y="309"/>
                    <a:pt x="19292" y="257"/>
                    <a:pt x="19246" y="257"/>
                  </a:cubicBezTo>
                  <a:cubicBezTo>
                    <a:pt x="19108" y="257"/>
                    <a:pt x="19015" y="309"/>
                    <a:pt x="18923" y="360"/>
                  </a:cubicBezTo>
                  <a:cubicBezTo>
                    <a:pt x="18877" y="360"/>
                    <a:pt x="18831" y="360"/>
                    <a:pt x="18785" y="360"/>
                  </a:cubicBezTo>
                  <a:cubicBezTo>
                    <a:pt x="18738" y="411"/>
                    <a:pt x="18646" y="411"/>
                    <a:pt x="18600" y="411"/>
                  </a:cubicBezTo>
                  <a:cubicBezTo>
                    <a:pt x="18508" y="411"/>
                    <a:pt x="18462" y="411"/>
                    <a:pt x="18369" y="360"/>
                  </a:cubicBezTo>
                  <a:cubicBezTo>
                    <a:pt x="18277" y="360"/>
                    <a:pt x="18231" y="309"/>
                    <a:pt x="18138" y="257"/>
                  </a:cubicBezTo>
                  <a:cubicBezTo>
                    <a:pt x="18092" y="206"/>
                    <a:pt x="18046" y="154"/>
                    <a:pt x="17954" y="154"/>
                  </a:cubicBezTo>
                  <a:cubicBezTo>
                    <a:pt x="17862" y="154"/>
                    <a:pt x="17815" y="154"/>
                    <a:pt x="17769" y="154"/>
                  </a:cubicBezTo>
                  <a:cubicBezTo>
                    <a:pt x="17585" y="154"/>
                    <a:pt x="17585" y="154"/>
                    <a:pt x="17585" y="154"/>
                  </a:cubicBezTo>
                  <a:cubicBezTo>
                    <a:pt x="17538" y="154"/>
                    <a:pt x="17446" y="154"/>
                    <a:pt x="17400" y="103"/>
                  </a:cubicBezTo>
                  <a:cubicBezTo>
                    <a:pt x="17354" y="103"/>
                    <a:pt x="17308" y="103"/>
                    <a:pt x="17262" y="51"/>
                  </a:cubicBezTo>
                  <a:cubicBezTo>
                    <a:pt x="17169" y="0"/>
                    <a:pt x="17123" y="0"/>
                    <a:pt x="17077" y="0"/>
                  </a:cubicBezTo>
                  <a:cubicBezTo>
                    <a:pt x="17031" y="0"/>
                    <a:pt x="17031" y="0"/>
                    <a:pt x="16985" y="0"/>
                  </a:cubicBezTo>
                  <a:cubicBezTo>
                    <a:pt x="16938" y="0"/>
                    <a:pt x="16938" y="0"/>
                    <a:pt x="16938" y="0"/>
                  </a:cubicBezTo>
                  <a:cubicBezTo>
                    <a:pt x="16938" y="51"/>
                    <a:pt x="16938" y="51"/>
                    <a:pt x="16938" y="51"/>
                  </a:cubicBezTo>
                  <a:cubicBezTo>
                    <a:pt x="16938" y="103"/>
                    <a:pt x="16892" y="103"/>
                    <a:pt x="16846" y="154"/>
                  </a:cubicBezTo>
                  <a:cubicBezTo>
                    <a:pt x="16846" y="154"/>
                    <a:pt x="16846" y="154"/>
                    <a:pt x="16800" y="206"/>
                  </a:cubicBezTo>
                  <a:cubicBezTo>
                    <a:pt x="16754" y="257"/>
                    <a:pt x="16754" y="309"/>
                    <a:pt x="16708" y="360"/>
                  </a:cubicBezTo>
                  <a:cubicBezTo>
                    <a:pt x="16708" y="411"/>
                    <a:pt x="16708" y="411"/>
                    <a:pt x="16708" y="411"/>
                  </a:cubicBezTo>
                  <a:cubicBezTo>
                    <a:pt x="16662" y="463"/>
                    <a:pt x="16662" y="514"/>
                    <a:pt x="16615" y="514"/>
                  </a:cubicBezTo>
                  <a:cubicBezTo>
                    <a:pt x="16569" y="566"/>
                    <a:pt x="16569" y="566"/>
                    <a:pt x="16569" y="566"/>
                  </a:cubicBezTo>
                  <a:cubicBezTo>
                    <a:pt x="16523" y="566"/>
                    <a:pt x="16477" y="617"/>
                    <a:pt x="16477" y="669"/>
                  </a:cubicBezTo>
                  <a:cubicBezTo>
                    <a:pt x="16431" y="669"/>
                    <a:pt x="16431" y="720"/>
                    <a:pt x="16385" y="720"/>
                  </a:cubicBezTo>
                  <a:cubicBezTo>
                    <a:pt x="16338" y="771"/>
                    <a:pt x="16292" y="771"/>
                    <a:pt x="16246" y="771"/>
                  </a:cubicBezTo>
                  <a:cubicBezTo>
                    <a:pt x="16200" y="771"/>
                    <a:pt x="16154" y="771"/>
                    <a:pt x="16108" y="771"/>
                  </a:cubicBezTo>
                  <a:cubicBezTo>
                    <a:pt x="16108" y="771"/>
                    <a:pt x="16062" y="771"/>
                    <a:pt x="16015" y="771"/>
                  </a:cubicBezTo>
                  <a:cubicBezTo>
                    <a:pt x="15969" y="771"/>
                    <a:pt x="15923" y="771"/>
                    <a:pt x="15923" y="771"/>
                  </a:cubicBezTo>
                  <a:cubicBezTo>
                    <a:pt x="15785" y="823"/>
                    <a:pt x="15692" y="977"/>
                    <a:pt x="15646" y="1080"/>
                  </a:cubicBezTo>
                  <a:cubicBezTo>
                    <a:pt x="15600" y="1131"/>
                    <a:pt x="15600" y="1183"/>
                    <a:pt x="15554" y="1183"/>
                  </a:cubicBezTo>
                  <a:cubicBezTo>
                    <a:pt x="15508" y="1286"/>
                    <a:pt x="15415" y="1337"/>
                    <a:pt x="15369" y="1440"/>
                  </a:cubicBezTo>
                  <a:cubicBezTo>
                    <a:pt x="15323" y="1491"/>
                    <a:pt x="15323" y="1543"/>
                    <a:pt x="15277" y="1594"/>
                  </a:cubicBezTo>
                  <a:cubicBezTo>
                    <a:pt x="15231" y="1646"/>
                    <a:pt x="15138" y="1697"/>
                    <a:pt x="15092" y="1749"/>
                  </a:cubicBezTo>
                  <a:cubicBezTo>
                    <a:pt x="15046" y="1800"/>
                    <a:pt x="14954" y="1851"/>
                    <a:pt x="14908" y="1954"/>
                  </a:cubicBezTo>
                  <a:cubicBezTo>
                    <a:pt x="14815" y="2057"/>
                    <a:pt x="14677" y="2160"/>
                    <a:pt x="14538" y="2263"/>
                  </a:cubicBezTo>
                  <a:cubicBezTo>
                    <a:pt x="14400" y="2366"/>
                    <a:pt x="14308" y="2417"/>
                    <a:pt x="14169" y="2571"/>
                  </a:cubicBezTo>
                  <a:cubicBezTo>
                    <a:pt x="13985" y="2777"/>
                    <a:pt x="13938" y="3137"/>
                    <a:pt x="13892" y="3446"/>
                  </a:cubicBezTo>
                  <a:cubicBezTo>
                    <a:pt x="13892" y="3497"/>
                    <a:pt x="13892" y="3497"/>
                    <a:pt x="13892" y="3497"/>
                  </a:cubicBezTo>
                  <a:cubicBezTo>
                    <a:pt x="13846" y="3651"/>
                    <a:pt x="13846" y="3703"/>
                    <a:pt x="13754" y="3806"/>
                  </a:cubicBezTo>
                  <a:cubicBezTo>
                    <a:pt x="13708" y="3806"/>
                    <a:pt x="13708" y="3806"/>
                    <a:pt x="13708" y="3806"/>
                  </a:cubicBezTo>
                  <a:cubicBezTo>
                    <a:pt x="13569" y="3909"/>
                    <a:pt x="13431" y="4011"/>
                    <a:pt x="13338" y="4166"/>
                  </a:cubicBezTo>
                  <a:cubicBezTo>
                    <a:pt x="13246" y="4217"/>
                    <a:pt x="13154" y="4269"/>
                    <a:pt x="13062" y="4269"/>
                  </a:cubicBezTo>
                  <a:cubicBezTo>
                    <a:pt x="13062" y="4269"/>
                    <a:pt x="13015" y="4269"/>
                    <a:pt x="12969" y="4269"/>
                  </a:cubicBezTo>
                  <a:cubicBezTo>
                    <a:pt x="12831" y="4320"/>
                    <a:pt x="12692" y="4320"/>
                    <a:pt x="12600" y="4474"/>
                  </a:cubicBezTo>
                  <a:cubicBezTo>
                    <a:pt x="12554" y="4629"/>
                    <a:pt x="12554" y="4731"/>
                    <a:pt x="12508" y="4834"/>
                  </a:cubicBezTo>
                  <a:cubicBezTo>
                    <a:pt x="12462" y="4989"/>
                    <a:pt x="12462" y="5091"/>
                    <a:pt x="12415" y="5194"/>
                  </a:cubicBezTo>
                  <a:cubicBezTo>
                    <a:pt x="12369" y="5297"/>
                    <a:pt x="12323" y="5400"/>
                    <a:pt x="12323" y="5503"/>
                  </a:cubicBezTo>
                  <a:cubicBezTo>
                    <a:pt x="12277" y="5606"/>
                    <a:pt x="12231" y="5760"/>
                    <a:pt x="12138" y="5863"/>
                  </a:cubicBezTo>
                  <a:cubicBezTo>
                    <a:pt x="12138" y="5914"/>
                    <a:pt x="12138" y="5914"/>
                    <a:pt x="12138" y="5914"/>
                  </a:cubicBezTo>
                  <a:cubicBezTo>
                    <a:pt x="12046" y="6017"/>
                    <a:pt x="12000" y="6120"/>
                    <a:pt x="11908" y="6171"/>
                  </a:cubicBezTo>
                  <a:cubicBezTo>
                    <a:pt x="11862" y="6171"/>
                    <a:pt x="11862" y="6171"/>
                    <a:pt x="11815" y="6171"/>
                  </a:cubicBezTo>
                  <a:cubicBezTo>
                    <a:pt x="11769" y="6171"/>
                    <a:pt x="11723" y="6171"/>
                    <a:pt x="11677" y="6171"/>
                  </a:cubicBezTo>
                  <a:cubicBezTo>
                    <a:pt x="11631" y="6120"/>
                    <a:pt x="11631" y="6120"/>
                    <a:pt x="11585" y="6120"/>
                  </a:cubicBezTo>
                  <a:cubicBezTo>
                    <a:pt x="11585" y="6120"/>
                    <a:pt x="11538" y="6120"/>
                    <a:pt x="11538" y="6120"/>
                  </a:cubicBezTo>
                  <a:cubicBezTo>
                    <a:pt x="11446" y="6120"/>
                    <a:pt x="11400" y="6120"/>
                    <a:pt x="11308" y="6171"/>
                  </a:cubicBezTo>
                  <a:cubicBezTo>
                    <a:pt x="11262" y="6223"/>
                    <a:pt x="11215" y="6274"/>
                    <a:pt x="11123" y="6274"/>
                  </a:cubicBezTo>
                  <a:cubicBezTo>
                    <a:pt x="11123" y="6274"/>
                    <a:pt x="11123" y="6274"/>
                    <a:pt x="11077" y="6274"/>
                  </a:cubicBezTo>
                  <a:cubicBezTo>
                    <a:pt x="11031" y="6223"/>
                    <a:pt x="11031" y="6223"/>
                    <a:pt x="11031" y="6223"/>
                  </a:cubicBezTo>
                  <a:cubicBezTo>
                    <a:pt x="10846" y="6223"/>
                    <a:pt x="10662" y="6223"/>
                    <a:pt x="10569" y="6069"/>
                  </a:cubicBezTo>
                  <a:cubicBezTo>
                    <a:pt x="10477" y="5966"/>
                    <a:pt x="10431" y="5914"/>
                    <a:pt x="10338" y="5914"/>
                  </a:cubicBezTo>
                  <a:cubicBezTo>
                    <a:pt x="10292" y="5914"/>
                    <a:pt x="10292" y="5914"/>
                    <a:pt x="10292" y="5914"/>
                  </a:cubicBezTo>
                  <a:cubicBezTo>
                    <a:pt x="10292" y="5914"/>
                    <a:pt x="10246" y="5914"/>
                    <a:pt x="10246" y="5914"/>
                  </a:cubicBezTo>
                  <a:cubicBezTo>
                    <a:pt x="10200" y="5914"/>
                    <a:pt x="10200" y="5914"/>
                    <a:pt x="10200" y="5914"/>
                  </a:cubicBezTo>
                  <a:cubicBezTo>
                    <a:pt x="10200" y="5914"/>
                    <a:pt x="10154" y="5914"/>
                    <a:pt x="10108" y="5914"/>
                  </a:cubicBezTo>
                  <a:cubicBezTo>
                    <a:pt x="10062" y="5914"/>
                    <a:pt x="10062" y="5914"/>
                    <a:pt x="10015" y="5914"/>
                  </a:cubicBezTo>
                  <a:cubicBezTo>
                    <a:pt x="9831" y="5863"/>
                    <a:pt x="9646" y="5657"/>
                    <a:pt x="9554" y="5503"/>
                  </a:cubicBezTo>
                  <a:cubicBezTo>
                    <a:pt x="9415" y="5349"/>
                    <a:pt x="9277" y="5297"/>
                    <a:pt x="9138" y="5297"/>
                  </a:cubicBezTo>
                  <a:cubicBezTo>
                    <a:pt x="9092" y="5297"/>
                    <a:pt x="9000" y="5297"/>
                    <a:pt x="8954" y="5297"/>
                  </a:cubicBezTo>
                  <a:cubicBezTo>
                    <a:pt x="8815" y="5349"/>
                    <a:pt x="8631" y="5451"/>
                    <a:pt x="8585" y="5863"/>
                  </a:cubicBezTo>
                  <a:cubicBezTo>
                    <a:pt x="8585" y="5914"/>
                    <a:pt x="8585" y="5914"/>
                    <a:pt x="8585" y="5914"/>
                  </a:cubicBezTo>
                  <a:cubicBezTo>
                    <a:pt x="8538" y="6069"/>
                    <a:pt x="8538" y="6223"/>
                    <a:pt x="8446" y="6377"/>
                  </a:cubicBezTo>
                  <a:cubicBezTo>
                    <a:pt x="8446" y="6480"/>
                    <a:pt x="8400" y="6531"/>
                    <a:pt x="8354" y="6583"/>
                  </a:cubicBezTo>
                  <a:cubicBezTo>
                    <a:pt x="8308" y="6634"/>
                    <a:pt x="8262" y="6737"/>
                    <a:pt x="8215" y="6789"/>
                  </a:cubicBezTo>
                  <a:cubicBezTo>
                    <a:pt x="8169" y="6891"/>
                    <a:pt x="8123" y="6994"/>
                    <a:pt x="8031" y="7046"/>
                  </a:cubicBezTo>
                  <a:cubicBezTo>
                    <a:pt x="7985" y="7097"/>
                    <a:pt x="7938" y="7149"/>
                    <a:pt x="7846" y="7149"/>
                  </a:cubicBezTo>
                  <a:cubicBezTo>
                    <a:pt x="7800" y="7200"/>
                    <a:pt x="7800" y="7200"/>
                    <a:pt x="7754" y="7200"/>
                  </a:cubicBezTo>
                  <a:cubicBezTo>
                    <a:pt x="7662" y="7251"/>
                    <a:pt x="7662" y="7354"/>
                    <a:pt x="7615" y="7457"/>
                  </a:cubicBezTo>
                  <a:cubicBezTo>
                    <a:pt x="7615" y="7457"/>
                    <a:pt x="7615" y="7509"/>
                    <a:pt x="7615" y="7509"/>
                  </a:cubicBezTo>
                  <a:cubicBezTo>
                    <a:pt x="7569" y="7611"/>
                    <a:pt x="7477" y="7663"/>
                    <a:pt x="7431" y="7714"/>
                  </a:cubicBezTo>
                  <a:cubicBezTo>
                    <a:pt x="7385" y="7714"/>
                    <a:pt x="7338" y="7714"/>
                    <a:pt x="7338" y="7714"/>
                  </a:cubicBezTo>
                  <a:cubicBezTo>
                    <a:pt x="7292" y="7714"/>
                    <a:pt x="7292" y="7714"/>
                    <a:pt x="7292" y="7714"/>
                  </a:cubicBezTo>
                  <a:cubicBezTo>
                    <a:pt x="7200" y="7714"/>
                    <a:pt x="7154" y="7714"/>
                    <a:pt x="7108" y="7817"/>
                  </a:cubicBezTo>
                  <a:cubicBezTo>
                    <a:pt x="7108" y="7817"/>
                    <a:pt x="7108" y="7869"/>
                    <a:pt x="7108" y="7920"/>
                  </a:cubicBezTo>
                  <a:cubicBezTo>
                    <a:pt x="7062" y="7971"/>
                    <a:pt x="7062" y="8023"/>
                    <a:pt x="6969" y="8023"/>
                  </a:cubicBezTo>
                  <a:cubicBezTo>
                    <a:pt x="6969" y="8023"/>
                    <a:pt x="6969" y="8023"/>
                    <a:pt x="6923" y="8023"/>
                  </a:cubicBezTo>
                  <a:cubicBezTo>
                    <a:pt x="6923" y="8023"/>
                    <a:pt x="6877" y="8023"/>
                    <a:pt x="6831" y="8023"/>
                  </a:cubicBezTo>
                  <a:cubicBezTo>
                    <a:pt x="6785" y="7971"/>
                    <a:pt x="6738" y="7971"/>
                    <a:pt x="6692" y="7971"/>
                  </a:cubicBezTo>
                  <a:cubicBezTo>
                    <a:pt x="6692" y="7971"/>
                    <a:pt x="6692" y="7971"/>
                    <a:pt x="6692" y="7971"/>
                  </a:cubicBezTo>
                  <a:cubicBezTo>
                    <a:pt x="6646" y="7971"/>
                    <a:pt x="6600" y="7971"/>
                    <a:pt x="6554" y="7971"/>
                  </a:cubicBezTo>
                  <a:cubicBezTo>
                    <a:pt x="6508" y="8023"/>
                    <a:pt x="6508" y="8023"/>
                    <a:pt x="6462" y="8023"/>
                  </a:cubicBezTo>
                  <a:cubicBezTo>
                    <a:pt x="6415" y="8023"/>
                    <a:pt x="6415" y="8023"/>
                    <a:pt x="6369" y="8023"/>
                  </a:cubicBezTo>
                  <a:cubicBezTo>
                    <a:pt x="6323" y="7971"/>
                    <a:pt x="6277" y="7971"/>
                    <a:pt x="6231" y="7971"/>
                  </a:cubicBezTo>
                  <a:cubicBezTo>
                    <a:pt x="6185" y="7920"/>
                    <a:pt x="6138" y="7920"/>
                    <a:pt x="6046" y="7920"/>
                  </a:cubicBezTo>
                  <a:cubicBezTo>
                    <a:pt x="6000" y="7920"/>
                    <a:pt x="5954" y="7920"/>
                    <a:pt x="5862" y="7971"/>
                  </a:cubicBezTo>
                  <a:cubicBezTo>
                    <a:pt x="5862" y="7971"/>
                    <a:pt x="5815" y="8023"/>
                    <a:pt x="5815" y="8023"/>
                  </a:cubicBezTo>
                  <a:cubicBezTo>
                    <a:pt x="5769" y="8023"/>
                    <a:pt x="5769" y="7971"/>
                    <a:pt x="5769" y="7971"/>
                  </a:cubicBezTo>
                  <a:cubicBezTo>
                    <a:pt x="5769" y="7971"/>
                    <a:pt x="5723" y="7971"/>
                    <a:pt x="5723" y="7971"/>
                  </a:cubicBezTo>
                  <a:cubicBezTo>
                    <a:pt x="5723" y="7971"/>
                    <a:pt x="5723" y="7971"/>
                    <a:pt x="5723" y="8023"/>
                  </a:cubicBezTo>
                  <a:cubicBezTo>
                    <a:pt x="5723" y="7920"/>
                    <a:pt x="5723" y="7869"/>
                    <a:pt x="5723" y="7817"/>
                  </a:cubicBezTo>
                  <a:cubicBezTo>
                    <a:pt x="5723" y="7560"/>
                    <a:pt x="5677" y="7303"/>
                    <a:pt x="5862" y="7097"/>
                  </a:cubicBezTo>
                  <a:cubicBezTo>
                    <a:pt x="6046" y="6891"/>
                    <a:pt x="6046" y="6686"/>
                    <a:pt x="5954" y="6377"/>
                  </a:cubicBezTo>
                  <a:cubicBezTo>
                    <a:pt x="5908" y="6171"/>
                    <a:pt x="5908" y="6171"/>
                    <a:pt x="5908" y="6171"/>
                  </a:cubicBezTo>
                  <a:cubicBezTo>
                    <a:pt x="5862" y="6017"/>
                    <a:pt x="5815" y="5811"/>
                    <a:pt x="5723" y="5657"/>
                  </a:cubicBezTo>
                  <a:cubicBezTo>
                    <a:pt x="5585" y="5194"/>
                    <a:pt x="5400" y="4731"/>
                    <a:pt x="5031" y="4577"/>
                  </a:cubicBezTo>
                  <a:cubicBezTo>
                    <a:pt x="4892" y="4526"/>
                    <a:pt x="4892" y="4526"/>
                    <a:pt x="4892" y="4526"/>
                  </a:cubicBezTo>
                  <a:cubicBezTo>
                    <a:pt x="4800" y="10646"/>
                    <a:pt x="4800" y="10646"/>
                    <a:pt x="4800" y="10646"/>
                  </a:cubicBezTo>
                  <a:cubicBezTo>
                    <a:pt x="4708" y="10646"/>
                    <a:pt x="4662" y="10697"/>
                    <a:pt x="4569" y="10697"/>
                  </a:cubicBezTo>
                  <a:cubicBezTo>
                    <a:pt x="4431" y="10749"/>
                    <a:pt x="4338" y="10800"/>
                    <a:pt x="4246" y="10851"/>
                  </a:cubicBezTo>
                  <a:cubicBezTo>
                    <a:pt x="4154" y="10851"/>
                    <a:pt x="4154" y="10903"/>
                    <a:pt x="4154" y="10954"/>
                  </a:cubicBezTo>
                  <a:cubicBezTo>
                    <a:pt x="4154" y="11006"/>
                    <a:pt x="4108" y="11057"/>
                    <a:pt x="4108" y="11057"/>
                  </a:cubicBezTo>
                  <a:cubicBezTo>
                    <a:pt x="4062" y="11109"/>
                    <a:pt x="4015" y="11160"/>
                    <a:pt x="3923" y="11160"/>
                  </a:cubicBezTo>
                  <a:cubicBezTo>
                    <a:pt x="3923" y="11160"/>
                    <a:pt x="3923" y="11160"/>
                    <a:pt x="3877" y="11160"/>
                  </a:cubicBezTo>
                  <a:cubicBezTo>
                    <a:pt x="3831" y="11211"/>
                    <a:pt x="3831" y="11211"/>
                    <a:pt x="3831" y="11211"/>
                  </a:cubicBezTo>
                  <a:cubicBezTo>
                    <a:pt x="3831" y="11263"/>
                    <a:pt x="3831" y="11263"/>
                    <a:pt x="3831" y="11263"/>
                  </a:cubicBezTo>
                  <a:cubicBezTo>
                    <a:pt x="3831" y="11366"/>
                    <a:pt x="3831" y="11469"/>
                    <a:pt x="3738" y="11520"/>
                  </a:cubicBezTo>
                  <a:cubicBezTo>
                    <a:pt x="3738" y="11571"/>
                    <a:pt x="3692" y="11571"/>
                    <a:pt x="3692" y="11571"/>
                  </a:cubicBezTo>
                  <a:cubicBezTo>
                    <a:pt x="3646" y="11571"/>
                    <a:pt x="3646" y="11571"/>
                    <a:pt x="3600" y="11571"/>
                  </a:cubicBezTo>
                  <a:cubicBezTo>
                    <a:pt x="3554" y="11520"/>
                    <a:pt x="3508" y="11520"/>
                    <a:pt x="3462" y="11469"/>
                  </a:cubicBezTo>
                  <a:cubicBezTo>
                    <a:pt x="3415" y="11417"/>
                    <a:pt x="3369" y="11417"/>
                    <a:pt x="3277" y="11417"/>
                  </a:cubicBezTo>
                  <a:cubicBezTo>
                    <a:pt x="3138" y="11417"/>
                    <a:pt x="3138" y="11417"/>
                    <a:pt x="3138" y="11417"/>
                  </a:cubicBezTo>
                  <a:cubicBezTo>
                    <a:pt x="3000" y="11417"/>
                    <a:pt x="2862" y="11417"/>
                    <a:pt x="2723" y="11417"/>
                  </a:cubicBezTo>
                  <a:cubicBezTo>
                    <a:pt x="2677" y="11417"/>
                    <a:pt x="2631" y="11469"/>
                    <a:pt x="2585" y="11469"/>
                  </a:cubicBezTo>
                  <a:cubicBezTo>
                    <a:pt x="2492" y="11469"/>
                    <a:pt x="2446" y="11520"/>
                    <a:pt x="2354" y="11520"/>
                  </a:cubicBezTo>
                  <a:cubicBezTo>
                    <a:pt x="2354" y="11520"/>
                    <a:pt x="2308" y="11520"/>
                    <a:pt x="2308" y="11520"/>
                  </a:cubicBezTo>
                  <a:cubicBezTo>
                    <a:pt x="2262" y="11469"/>
                    <a:pt x="2262" y="11469"/>
                    <a:pt x="2262" y="11469"/>
                  </a:cubicBezTo>
                  <a:cubicBezTo>
                    <a:pt x="2169" y="11211"/>
                    <a:pt x="2169" y="11211"/>
                    <a:pt x="1892" y="11160"/>
                  </a:cubicBezTo>
                  <a:cubicBezTo>
                    <a:pt x="1800" y="11160"/>
                    <a:pt x="1800" y="11160"/>
                    <a:pt x="1800" y="11160"/>
                  </a:cubicBezTo>
                  <a:cubicBezTo>
                    <a:pt x="1662" y="11160"/>
                    <a:pt x="1569" y="11160"/>
                    <a:pt x="1477" y="10954"/>
                  </a:cubicBezTo>
                  <a:cubicBezTo>
                    <a:pt x="1431" y="10851"/>
                    <a:pt x="1431" y="10851"/>
                    <a:pt x="1431" y="10800"/>
                  </a:cubicBezTo>
                  <a:cubicBezTo>
                    <a:pt x="1477" y="10800"/>
                    <a:pt x="1477" y="10749"/>
                    <a:pt x="1477" y="10697"/>
                  </a:cubicBezTo>
                  <a:cubicBezTo>
                    <a:pt x="1477" y="10697"/>
                    <a:pt x="1477" y="10646"/>
                    <a:pt x="1477" y="10594"/>
                  </a:cubicBezTo>
                  <a:cubicBezTo>
                    <a:pt x="1523" y="10543"/>
                    <a:pt x="1523" y="10491"/>
                    <a:pt x="1477" y="10440"/>
                  </a:cubicBezTo>
                  <a:cubicBezTo>
                    <a:pt x="1431" y="10337"/>
                    <a:pt x="1385" y="10286"/>
                    <a:pt x="1338" y="10234"/>
                  </a:cubicBezTo>
                  <a:cubicBezTo>
                    <a:pt x="1246" y="10183"/>
                    <a:pt x="1200" y="10131"/>
                    <a:pt x="1154" y="10080"/>
                  </a:cubicBezTo>
                  <a:cubicBezTo>
                    <a:pt x="1154" y="10029"/>
                    <a:pt x="1154" y="10029"/>
                    <a:pt x="1154" y="10029"/>
                  </a:cubicBezTo>
                  <a:cubicBezTo>
                    <a:pt x="1108" y="10029"/>
                    <a:pt x="1108" y="10029"/>
                    <a:pt x="1108" y="10029"/>
                  </a:cubicBezTo>
                  <a:cubicBezTo>
                    <a:pt x="1062" y="10029"/>
                    <a:pt x="1062" y="10029"/>
                    <a:pt x="1062" y="10029"/>
                  </a:cubicBezTo>
                  <a:cubicBezTo>
                    <a:pt x="785" y="10029"/>
                    <a:pt x="692" y="10286"/>
                    <a:pt x="600" y="10543"/>
                  </a:cubicBezTo>
                  <a:cubicBezTo>
                    <a:pt x="508" y="10800"/>
                    <a:pt x="508" y="10800"/>
                    <a:pt x="323" y="10851"/>
                  </a:cubicBezTo>
                  <a:cubicBezTo>
                    <a:pt x="277" y="10851"/>
                    <a:pt x="231" y="10851"/>
                    <a:pt x="231" y="10851"/>
                  </a:cubicBezTo>
                  <a:cubicBezTo>
                    <a:pt x="0" y="10903"/>
                    <a:pt x="0" y="10903"/>
                    <a:pt x="0" y="10903"/>
                  </a:cubicBezTo>
                  <a:cubicBezTo>
                    <a:pt x="138" y="11057"/>
                    <a:pt x="138" y="11057"/>
                    <a:pt x="138" y="11057"/>
                  </a:cubicBezTo>
                  <a:cubicBezTo>
                    <a:pt x="185" y="11109"/>
                    <a:pt x="277" y="11160"/>
                    <a:pt x="323" y="11314"/>
                  </a:cubicBezTo>
                  <a:cubicBezTo>
                    <a:pt x="323" y="11314"/>
                    <a:pt x="323" y="11366"/>
                    <a:pt x="369" y="11417"/>
                  </a:cubicBezTo>
                  <a:cubicBezTo>
                    <a:pt x="415" y="11520"/>
                    <a:pt x="462" y="11623"/>
                    <a:pt x="508" y="11726"/>
                  </a:cubicBezTo>
                  <a:cubicBezTo>
                    <a:pt x="554" y="11829"/>
                    <a:pt x="600" y="11983"/>
                    <a:pt x="646" y="12137"/>
                  </a:cubicBezTo>
                  <a:cubicBezTo>
                    <a:pt x="692" y="12240"/>
                    <a:pt x="738" y="12394"/>
                    <a:pt x="785" y="12497"/>
                  </a:cubicBezTo>
                  <a:cubicBezTo>
                    <a:pt x="831" y="12600"/>
                    <a:pt x="831" y="12703"/>
                    <a:pt x="877" y="12806"/>
                  </a:cubicBezTo>
                  <a:cubicBezTo>
                    <a:pt x="877" y="12857"/>
                    <a:pt x="877" y="12909"/>
                    <a:pt x="923" y="12960"/>
                  </a:cubicBezTo>
                  <a:cubicBezTo>
                    <a:pt x="923" y="13063"/>
                    <a:pt x="969" y="13166"/>
                    <a:pt x="969" y="13269"/>
                  </a:cubicBezTo>
                  <a:cubicBezTo>
                    <a:pt x="1015" y="13371"/>
                    <a:pt x="1015" y="13526"/>
                    <a:pt x="1062" y="13629"/>
                  </a:cubicBezTo>
                  <a:cubicBezTo>
                    <a:pt x="1108" y="13834"/>
                    <a:pt x="1200" y="13989"/>
                    <a:pt x="1292" y="14143"/>
                  </a:cubicBezTo>
                  <a:cubicBezTo>
                    <a:pt x="1338" y="14246"/>
                    <a:pt x="1338" y="14246"/>
                    <a:pt x="1338" y="14246"/>
                  </a:cubicBezTo>
                  <a:cubicBezTo>
                    <a:pt x="1385" y="14349"/>
                    <a:pt x="1431" y="14503"/>
                    <a:pt x="1477" y="14606"/>
                  </a:cubicBezTo>
                  <a:cubicBezTo>
                    <a:pt x="1523" y="14760"/>
                    <a:pt x="1569" y="14863"/>
                    <a:pt x="1615" y="14966"/>
                  </a:cubicBezTo>
                  <a:cubicBezTo>
                    <a:pt x="1662" y="15069"/>
                    <a:pt x="1662" y="15120"/>
                    <a:pt x="1708" y="15171"/>
                  </a:cubicBezTo>
                  <a:cubicBezTo>
                    <a:pt x="1754" y="15274"/>
                    <a:pt x="1800" y="15377"/>
                    <a:pt x="1846" y="15531"/>
                  </a:cubicBezTo>
                  <a:cubicBezTo>
                    <a:pt x="1892" y="15583"/>
                    <a:pt x="1938" y="15634"/>
                    <a:pt x="1985" y="15737"/>
                  </a:cubicBezTo>
                  <a:cubicBezTo>
                    <a:pt x="2031" y="15789"/>
                    <a:pt x="2077" y="15789"/>
                    <a:pt x="2077" y="15840"/>
                  </a:cubicBezTo>
                  <a:cubicBezTo>
                    <a:pt x="2123" y="15891"/>
                    <a:pt x="2123" y="15943"/>
                    <a:pt x="2169" y="15994"/>
                  </a:cubicBezTo>
                  <a:cubicBezTo>
                    <a:pt x="2169" y="16046"/>
                    <a:pt x="2215" y="16097"/>
                    <a:pt x="2215" y="16149"/>
                  </a:cubicBezTo>
                  <a:cubicBezTo>
                    <a:pt x="2262" y="16200"/>
                    <a:pt x="2262" y="16200"/>
                    <a:pt x="2262" y="16200"/>
                  </a:cubicBezTo>
                  <a:cubicBezTo>
                    <a:pt x="2262" y="16200"/>
                    <a:pt x="2308" y="16251"/>
                    <a:pt x="2308" y="16303"/>
                  </a:cubicBezTo>
                  <a:cubicBezTo>
                    <a:pt x="2400" y="16509"/>
                    <a:pt x="2400" y="16817"/>
                    <a:pt x="2400" y="17074"/>
                  </a:cubicBezTo>
                  <a:cubicBezTo>
                    <a:pt x="2400" y="17126"/>
                    <a:pt x="2400" y="17177"/>
                    <a:pt x="2400" y="17280"/>
                  </a:cubicBezTo>
                  <a:cubicBezTo>
                    <a:pt x="2400" y="17383"/>
                    <a:pt x="2446" y="17486"/>
                    <a:pt x="2400" y="17589"/>
                  </a:cubicBezTo>
                  <a:cubicBezTo>
                    <a:pt x="2400" y="17743"/>
                    <a:pt x="2308" y="17897"/>
                    <a:pt x="2169" y="17949"/>
                  </a:cubicBezTo>
                  <a:cubicBezTo>
                    <a:pt x="2169" y="17949"/>
                    <a:pt x="2169" y="17897"/>
                    <a:pt x="2123" y="17897"/>
                  </a:cubicBezTo>
                  <a:cubicBezTo>
                    <a:pt x="2077" y="17897"/>
                    <a:pt x="2031" y="17846"/>
                    <a:pt x="1985" y="17846"/>
                  </a:cubicBezTo>
                  <a:cubicBezTo>
                    <a:pt x="1938" y="17846"/>
                    <a:pt x="1892" y="17897"/>
                    <a:pt x="1892" y="17897"/>
                  </a:cubicBezTo>
                  <a:cubicBezTo>
                    <a:pt x="1800" y="18051"/>
                    <a:pt x="1846" y="18206"/>
                    <a:pt x="1846" y="18309"/>
                  </a:cubicBezTo>
                  <a:cubicBezTo>
                    <a:pt x="1892" y="18309"/>
                    <a:pt x="1892" y="18309"/>
                    <a:pt x="1892" y="18309"/>
                  </a:cubicBezTo>
                  <a:cubicBezTo>
                    <a:pt x="1892" y="18463"/>
                    <a:pt x="1985" y="18566"/>
                    <a:pt x="2031" y="18669"/>
                  </a:cubicBezTo>
                  <a:cubicBezTo>
                    <a:pt x="2077" y="18771"/>
                    <a:pt x="2123" y="18823"/>
                    <a:pt x="2169" y="18874"/>
                  </a:cubicBezTo>
                  <a:cubicBezTo>
                    <a:pt x="2215" y="18977"/>
                    <a:pt x="2262" y="19080"/>
                    <a:pt x="2308" y="19183"/>
                  </a:cubicBezTo>
                  <a:cubicBezTo>
                    <a:pt x="2538" y="19491"/>
                    <a:pt x="2631" y="19697"/>
                    <a:pt x="2492" y="19954"/>
                  </a:cubicBezTo>
                  <a:cubicBezTo>
                    <a:pt x="2492" y="19954"/>
                    <a:pt x="2492" y="19954"/>
                    <a:pt x="2446" y="20006"/>
                  </a:cubicBezTo>
                  <a:cubicBezTo>
                    <a:pt x="2400" y="20057"/>
                    <a:pt x="2400" y="20109"/>
                    <a:pt x="2354" y="20160"/>
                  </a:cubicBezTo>
                  <a:cubicBezTo>
                    <a:pt x="2354" y="20263"/>
                    <a:pt x="2354" y="20366"/>
                    <a:pt x="2400" y="20469"/>
                  </a:cubicBezTo>
                  <a:cubicBezTo>
                    <a:pt x="2400" y="20520"/>
                    <a:pt x="2400" y="20520"/>
                    <a:pt x="2400" y="20520"/>
                  </a:cubicBezTo>
                  <a:cubicBezTo>
                    <a:pt x="2400" y="20520"/>
                    <a:pt x="2400" y="20520"/>
                    <a:pt x="2400" y="20520"/>
                  </a:cubicBezTo>
                  <a:cubicBezTo>
                    <a:pt x="2446" y="20623"/>
                    <a:pt x="2492" y="20777"/>
                    <a:pt x="2585" y="20777"/>
                  </a:cubicBezTo>
                  <a:cubicBezTo>
                    <a:pt x="2631" y="20777"/>
                    <a:pt x="2631" y="20777"/>
                    <a:pt x="2631" y="20777"/>
                  </a:cubicBezTo>
                  <a:cubicBezTo>
                    <a:pt x="2769" y="20674"/>
                    <a:pt x="2723" y="20520"/>
                    <a:pt x="2723" y="20469"/>
                  </a:cubicBezTo>
                  <a:cubicBezTo>
                    <a:pt x="2723" y="20469"/>
                    <a:pt x="2723" y="20417"/>
                    <a:pt x="2723" y="20417"/>
                  </a:cubicBezTo>
                  <a:cubicBezTo>
                    <a:pt x="2723" y="20417"/>
                    <a:pt x="2723" y="20366"/>
                    <a:pt x="2723" y="20366"/>
                  </a:cubicBezTo>
                  <a:cubicBezTo>
                    <a:pt x="2769" y="20314"/>
                    <a:pt x="2815" y="20314"/>
                    <a:pt x="2862" y="20314"/>
                  </a:cubicBezTo>
                  <a:cubicBezTo>
                    <a:pt x="2954" y="20314"/>
                    <a:pt x="3000" y="20366"/>
                    <a:pt x="3000" y="20366"/>
                  </a:cubicBezTo>
                  <a:cubicBezTo>
                    <a:pt x="3000" y="20520"/>
                    <a:pt x="3000" y="20674"/>
                    <a:pt x="3138" y="20777"/>
                  </a:cubicBezTo>
                  <a:cubicBezTo>
                    <a:pt x="3185" y="20829"/>
                    <a:pt x="3185" y="20829"/>
                    <a:pt x="3185" y="20829"/>
                  </a:cubicBezTo>
                  <a:cubicBezTo>
                    <a:pt x="3231" y="20777"/>
                    <a:pt x="3231" y="20777"/>
                    <a:pt x="3231" y="20777"/>
                  </a:cubicBezTo>
                  <a:cubicBezTo>
                    <a:pt x="3231" y="20777"/>
                    <a:pt x="3277" y="20777"/>
                    <a:pt x="3277" y="20777"/>
                  </a:cubicBezTo>
                  <a:cubicBezTo>
                    <a:pt x="3323" y="20777"/>
                    <a:pt x="3323" y="20777"/>
                    <a:pt x="3323" y="20777"/>
                  </a:cubicBezTo>
                  <a:cubicBezTo>
                    <a:pt x="3323" y="20777"/>
                    <a:pt x="3369" y="20829"/>
                    <a:pt x="3369" y="20880"/>
                  </a:cubicBezTo>
                  <a:cubicBezTo>
                    <a:pt x="3415" y="20880"/>
                    <a:pt x="3415" y="20880"/>
                    <a:pt x="3462" y="20880"/>
                  </a:cubicBezTo>
                  <a:cubicBezTo>
                    <a:pt x="3462" y="20880"/>
                    <a:pt x="3508" y="20880"/>
                    <a:pt x="3508" y="20880"/>
                  </a:cubicBezTo>
                  <a:cubicBezTo>
                    <a:pt x="3508" y="20880"/>
                    <a:pt x="3508" y="20880"/>
                    <a:pt x="3508" y="20880"/>
                  </a:cubicBezTo>
                  <a:cubicBezTo>
                    <a:pt x="3554" y="20880"/>
                    <a:pt x="3600" y="20880"/>
                    <a:pt x="3600" y="20931"/>
                  </a:cubicBezTo>
                  <a:cubicBezTo>
                    <a:pt x="3600" y="20931"/>
                    <a:pt x="3600" y="20983"/>
                    <a:pt x="3600" y="20983"/>
                  </a:cubicBezTo>
                  <a:cubicBezTo>
                    <a:pt x="3600" y="21034"/>
                    <a:pt x="3600" y="21086"/>
                    <a:pt x="3646" y="21137"/>
                  </a:cubicBezTo>
                  <a:cubicBezTo>
                    <a:pt x="3692" y="21189"/>
                    <a:pt x="3738" y="21189"/>
                    <a:pt x="3738" y="21240"/>
                  </a:cubicBezTo>
                  <a:cubicBezTo>
                    <a:pt x="3785" y="21240"/>
                    <a:pt x="3785" y="21240"/>
                    <a:pt x="3785" y="21240"/>
                  </a:cubicBezTo>
                  <a:cubicBezTo>
                    <a:pt x="3785" y="21240"/>
                    <a:pt x="3831" y="21291"/>
                    <a:pt x="3831" y="21291"/>
                  </a:cubicBezTo>
                  <a:cubicBezTo>
                    <a:pt x="3877" y="21343"/>
                    <a:pt x="3877" y="21343"/>
                    <a:pt x="3923" y="21394"/>
                  </a:cubicBezTo>
                  <a:cubicBezTo>
                    <a:pt x="4015" y="21446"/>
                    <a:pt x="4108" y="21446"/>
                    <a:pt x="4154" y="21497"/>
                  </a:cubicBezTo>
                  <a:cubicBezTo>
                    <a:pt x="4200" y="21497"/>
                    <a:pt x="4246" y="21497"/>
                    <a:pt x="4246" y="21549"/>
                  </a:cubicBezTo>
                  <a:cubicBezTo>
                    <a:pt x="4338" y="21549"/>
                    <a:pt x="4431" y="21600"/>
                    <a:pt x="4569" y="21600"/>
                  </a:cubicBezTo>
                  <a:cubicBezTo>
                    <a:pt x="4615" y="21600"/>
                    <a:pt x="4615" y="21600"/>
                    <a:pt x="4662" y="21549"/>
                  </a:cubicBezTo>
                  <a:cubicBezTo>
                    <a:pt x="4754" y="21549"/>
                    <a:pt x="4846" y="21394"/>
                    <a:pt x="4938" y="21291"/>
                  </a:cubicBezTo>
                  <a:cubicBezTo>
                    <a:pt x="4985" y="21240"/>
                    <a:pt x="4985" y="21189"/>
                    <a:pt x="4985" y="21189"/>
                  </a:cubicBezTo>
                  <a:cubicBezTo>
                    <a:pt x="5031" y="21137"/>
                    <a:pt x="5077" y="21034"/>
                    <a:pt x="5123" y="21034"/>
                  </a:cubicBezTo>
                  <a:cubicBezTo>
                    <a:pt x="5215" y="20983"/>
                    <a:pt x="5262" y="20983"/>
                    <a:pt x="5354" y="20983"/>
                  </a:cubicBezTo>
                  <a:cubicBezTo>
                    <a:pt x="5400" y="20983"/>
                    <a:pt x="5492" y="20983"/>
                    <a:pt x="5585" y="20931"/>
                  </a:cubicBezTo>
                  <a:cubicBezTo>
                    <a:pt x="5631" y="20931"/>
                    <a:pt x="5631" y="20880"/>
                    <a:pt x="5677" y="20880"/>
                  </a:cubicBezTo>
                  <a:cubicBezTo>
                    <a:pt x="5723" y="20829"/>
                    <a:pt x="5723" y="20829"/>
                    <a:pt x="5769" y="20829"/>
                  </a:cubicBezTo>
                  <a:cubicBezTo>
                    <a:pt x="5769" y="20829"/>
                    <a:pt x="5815" y="20829"/>
                    <a:pt x="5815" y="20829"/>
                  </a:cubicBezTo>
                  <a:cubicBezTo>
                    <a:pt x="5862" y="20829"/>
                    <a:pt x="5954" y="20829"/>
                    <a:pt x="6000" y="20829"/>
                  </a:cubicBezTo>
                  <a:cubicBezTo>
                    <a:pt x="6000" y="20829"/>
                    <a:pt x="6046" y="20880"/>
                    <a:pt x="6046" y="20880"/>
                  </a:cubicBezTo>
                  <a:cubicBezTo>
                    <a:pt x="6092" y="20880"/>
                    <a:pt x="6185" y="20931"/>
                    <a:pt x="6231" y="20931"/>
                  </a:cubicBezTo>
                  <a:cubicBezTo>
                    <a:pt x="6231" y="20931"/>
                    <a:pt x="6231" y="20931"/>
                    <a:pt x="6231" y="20931"/>
                  </a:cubicBezTo>
                  <a:cubicBezTo>
                    <a:pt x="6323" y="20931"/>
                    <a:pt x="6369" y="20880"/>
                    <a:pt x="6415" y="20880"/>
                  </a:cubicBezTo>
                  <a:cubicBezTo>
                    <a:pt x="6415" y="20829"/>
                    <a:pt x="6462" y="20829"/>
                    <a:pt x="6462" y="20829"/>
                  </a:cubicBezTo>
                  <a:cubicBezTo>
                    <a:pt x="6508" y="20829"/>
                    <a:pt x="6508" y="20829"/>
                    <a:pt x="6554" y="20829"/>
                  </a:cubicBezTo>
                  <a:cubicBezTo>
                    <a:pt x="6600" y="20829"/>
                    <a:pt x="6646" y="20829"/>
                    <a:pt x="6692" y="20829"/>
                  </a:cubicBezTo>
                  <a:cubicBezTo>
                    <a:pt x="6738" y="20829"/>
                    <a:pt x="6738" y="20829"/>
                    <a:pt x="6738" y="20829"/>
                  </a:cubicBezTo>
                  <a:cubicBezTo>
                    <a:pt x="6785" y="20880"/>
                    <a:pt x="6831" y="20880"/>
                    <a:pt x="6877" y="20880"/>
                  </a:cubicBezTo>
                  <a:cubicBezTo>
                    <a:pt x="6923" y="20880"/>
                    <a:pt x="6969" y="20829"/>
                    <a:pt x="7015" y="20777"/>
                  </a:cubicBezTo>
                  <a:cubicBezTo>
                    <a:pt x="7062" y="20777"/>
                    <a:pt x="7062" y="20726"/>
                    <a:pt x="7062" y="20674"/>
                  </a:cubicBezTo>
                  <a:cubicBezTo>
                    <a:pt x="7062" y="20674"/>
                    <a:pt x="7062" y="20674"/>
                    <a:pt x="7062" y="20674"/>
                  </a:cubicBezTo>
                  <a:cubicBezTo>
                    <a:pt x="7108" y="20623"/>
                    <a:pt x="7108" y="20623"/>
                    <a:pt x="7154" y="20623"/>
                  </a:cubicBezTo>
                  <a:cubicBezTo>
                    <a:pt x="7154" y="20571"/>
                    <a:pt x="7154" y="20571"/>
                    <a:pt x="7154" y="20571"/>
                  </a:cubicBezTo>
                  <a:cubicBezTo>
                    <a:pt x="7246" y="20520"/>
                    <a:pt x="7292" y="20469"/>
                    <a:pt x="7292" y="20417"/>
                  </a:cubicBezTo>
                  <a:cubicBezTo>
                    <a:pt x="7292" y="20417"/>
                    <a:pt x="7338" y="20417"/>
                    <a:pt x="7338" y="20366"/>
                  </a:cubicBezTo>
                  <a:cubicBezTo>
                    <a:pt x="7338" y="20366"/>
                    <a:pt x="7431" y="20366"/>
                    <a:pt x="7477" y="20366"/>
                  </a:cubicBezTo>
                  <a:cubicBezTo>
                    <a:pt x="7523" y="20314"/>
                    <a:pt x="7523" y="20314"/>
                    <a:pt x="7569" y="20314"/>
                  </a:cubicBezTo>
                  <a:cubicBezTo>
                    <a:pt x="7662" y="20263"/>
                    <a:pt x="7754" y="20211"/>
                    <a:pt x="7892" y="20211"/>
                  </a:cubicBezTo>
                  <a:cubicBezTo>
                    <a:pt x="7892" y="20211"/>
                    <a:pt x="7892" y="20211"/>
                    <a:pt x="7938" y="20211"/>
                  </a:cubicBezTo>
                  <a:cubicBezTo>
                    <a:pt x="8031" y="20211"/>
                    <a:pt x="8169" y="20263"/>
                    <a:pt x="8262" y="20263"/>
                  </a:cubicBezTo>
                  <a:cubicBezTo>
                    <a:pt x="8308" y="20263"/>
                    <a:pt x="8354" y="20263"/>
                    <a:pt x="8400" y="20314"/>
                  </a:cubicBezTo>
                  <a:cubicBezTo>
                    <a:pt x="8400" y="20314"/>
                    <a:pt x="8400" y="20314"/>
                    <a:pt x="8400" y="20314"/>
                  </a:cubicBezTo>
                  <a:cubicBezTo>
                    <a:pt x="8492" y="20314"/>
                    <a:pt x="8585" y="20314"/>
                    <a:pt x="8677" y="20366"/>
                  </a:cubicBezTo>
                  <a:cubicBezTo>
                    <a:pt x="8723" y="20366"/>
                    <a:pt x="8769" y="20366"/>
                    <a:pt x="8769" y="20366"/>
                  </a:cubicBezTo>
                  <a:cubicBezTo>
                    <a:pt x="8908" y="20366"/>
                    <a:pt x="8954" y="20314"/>
                    <a:pt x="9000" y="20211"/>
                  </a:cubicBezTo>
                  <a:cubicBezTo>
                    <a:pt x="9000" y="20160"/>
                    <a:pt x="9046" y="20109"/>
                    <a:pt x="9185" y="20109"/>
                  </a:cubicBezTo>
                  <a:cubicBezTo>
                    <a:pt x="9323" y="20109"/>
                    <a:pt x="9554" y="20211"/>
                    <a:pt x="9692" y="20263"/>
                  </a:cubicBezTo>
                  <a:cubicBezTo>
                    <a:pt x="9785" y="20314"/>
                    <a:pt x="9831" y="20366"/>
                    <a:pt x="9877" y="20366"/>
                  </a:cubicBezTo>
                  <a:cubicBezTo>
                    <a:pt x="9923" y="20366"/>
                    <a:pt x="9969" y="20366"/>
                    <a:pt x="10015" y="20366"/>
                  </a:cubicBezTo>
                  <a:cubicBezTo>
                    <a:pt x="10062" y="20417"/>
                    <a:pt x="10108" y="20417"/>
                    <a:pt x="10154" y="20417"/>
                  </a:cubicBezTo>
                  <a:cubicBezTo>
                    <a:pt x="10154" y="20417"/>
                    <a:pt x="10154" y="20469"/>
                    <a:pt x="10200" y="20469"/>
                  </a:cubicBezTo>
                  <a:cubicBezTo>
                    <a:pt x="10246" y="20520"/>
                    <a:pt x="10292" y="20520"/>
                    <a:pt x="10385" y="20520"/>
                  </a:cubicBezTo>
                  <a:cubicBezTo>
                    <a:pt x="10431" y="20520"/>
                    <a:pt x="10431" y="20520"/>
                    <a:pt x="10431" y="20520"/>
                  </a:cubicBezTo>
                  <a:cubicBezTo>
                    <a:pt x="10523" y="20520"/>
                    <a:pt x="10615" y="20520"/>
                    <a:pt x="10708" y="20469"/>
                  </a:cubicBezTo>
                  <a:cubicBezTo>
                    <a:pt x="10800" y="20417"/>
                    <a:pt x="10846" y="20366"/>
                    <a:pt x="10892" y="20263"/>
                  </a:cubicBezTo>
                  <a:cubicBezTo>
                    <a:pt x="10892" y="20263"/>
                    <a:pt x="10892" y="20211"/>
                    <a:pt x="10892" y="20211"/>
                  </a:cubicBezTo>
                  <a:cubicBezTo>
                    <a:pt x="10938" y="20160"/>
                    <a:pt x="11031" y="20109"/>
                    <a:pt x="11077" y="20109"/>
                  </a:cubicBezTo>
                  <a:cubicBezTo>
                    <a:pt x="11123" y="20109"/>
                    <a:pt x="11215" y="20160"/>
                    <a:pt x="11262" y="20160"/>
                  </a:cubicBezTo>
                  <a:cubicBezTo>
                    <a:pt x="11354" y="20211"/>
                    <a:pt x="11446" y="20211"/>
                    <a:pt x="11538" y="20211"/>
                  </a:cubicBezTo>
                  <a:cubicBezTo>
                    <a:pt x="11585" y="20211"/>
                    <a:pt x="11677" y="20211"/>
                    <a:pt x="11723" y="20211"/>
                  </a:cubicBezTo>
                  <a:cubicBezTo>
                    <a:pt x="11769" y="20160"/>
                    <a:pt x="11815" y="20109"/>
                    <a:pt x="11862" y="20057"/>
                  </a:cubicBezTo>
                  <a:cubicBezTo>
                    <a:pt x="11862" y="20006"/>
                    <a:pt x="11862" y="20006"/>
                    <a:pt x="11862" y="20006"/>
                  </a:cubicBezTo>
                  <a:cubicBezTo>
                    <a:pt x="11908" y="19954"/>
                    <a:pt x="11954" y="19903"/>
                    <a:pt x="12000" y="19851"/>
                  </a:cubicBezTo>
                  <a:cubicBezTo>
                    <a:pt x="12000" y="19851"/>
                    <a:pt x="12046" y="19800"/>
                    <a:pt x="12046" y="19800"/>
                  </a:cubicBezTo>
                  <a:cubicBezTo>
                    <a:pt x="12138" y="19749"/>
                    <a:pt x="12185" y="19697"/>
                    <a:pt x="12277" y="19697"/>
                  </a:cubicBezTo>
                  <a:cubicBezTo>
                    <a:pt x="12277" y="19697"/>
                    <a:pt x="12277" y="19697"/>
                    <a:pt x="12277" y="19697"/>
                  </a:cubicBezTo>
                  <a:cubicBezTo>
                    <a:pt x="12369" y="19697"/>
                    <a:pt x="12415" y="19749"/>
                    <a:pt x="12462" y="19749"/>
                  </a:cubicBezTo>
                  <a:cubicBezTo>
                    <a:pt x="12554" y="19800"/>
                    <a:pt x="12646" y="19800"/>
                    <a:pt x="12738" y="19800"/>
                  </a:cubicBezTo>
                  <a:cubicBezTo>
                    <a:pt x="12831" y="19800"/>
                    <a:pt x="12923" y="19800"/>
                    <a:pt x="12969" y="19749"/>
                  </a:cubicBezTo>
                  <a:cubicBezTo>
                    <a:pt x="13062" y="19749"/>
                    <a:pt x="13108" y="19697"/>
                    <a:pt x="13200" y="19646"/>
                  </a:cubicBezTo>
                  <a:cubicBezTo>
                    <a:pt x="13338" y="19594"/>
                    <a:pt x="13523" y="19491"/>
                    <a:pt x="13662" y="19389"/>
                  </a:cubicBezTo>
                  <a:cubicBezTo>
                    <a:pt x="13754" y="19286"/>
                    <a:pt x="13754" y="19286"/>
                    <a:pt x="13754" y="19286"/>
                  </a:cubicBezTo>
                  <a:cubicBezTo>
                    <a:pt x="13846" y="19234"/>
                    <a:pt x="13938" y="19131"/>
                    <a:pt x="14077" y="19080"/>
                  </a:cubicBezTo>
                  <a:cubicBezTo>
                    <a:pt x="14123" y="18977"/>
                    <a:pt x="14215" y="18926"/>
                    <a:pt x="14308" y="18874"/>
                  </a:cubicBezTo>
                  <a:cubicBezTo>
                    <a:pt x="14400" y="18823"/>
                    <a:pt x="14492" y="18823"/>
                    <a:pt x="14538" y="18720"/>
                  </a:cubicBezTo>
                  <a:cubicBezTo>
                    <a:pt x="14677" y="18617"/>
                    <a:pt x="14815" y="18514"/>
                    <a:pt x="14908" y="18411"/>
                  </a:cubicBezTo>
                  <a:cubicBezTo>
                    <a:pt x="15000" y="18360"/>
                    <a:pt x="15138" y="18206"/>
                    <a:pt x="15231" y="18103"/>
                  </a:cubicBezTo>
                  <a:cubicBezTo>
                    <a:pt x="15277" y="18051"/>
                    <a:pt x="15323" y="18000"/>
                    <a:pt x="15369" y="17949"/>
                  </a:cubicBezTo>
                  <a:cubicBezTo>
                    <a:pt x="15415" y="17897"/>
                    <a:pt x="15462" y="17846"/>
                    <a:pt x="15508" y="17794"/>
                  </a:cubicBezTo>
                  <a:cubicBezTo>
                    <a:pt x="15554" y="17794"/>
                    <a:pt x="15600" y="17743"/>
                    <a:pt x="15600" y="17743"/>
                  </a:cubicBezTo>
                  <a:cubicBezTo>
                    <a:pt x="15646" y="17691"/>
                    <a:pt x="15692" y="17691"/>
                    <a:pt x="15692" y="17640"/>
                  </a:cubicBezTo>
                  <a:cubicBezTo>
                    <a:pt x="15785" y="17537"/>
                    <a:pt x="15785" y="17537"/>
                    <a:pt x="15785" y="17537"/>
                  </a:cubicBezTo>
                  <a:cubicBezTo>
                    <a:pt x="15831" y="17486"/>
                    <a:pt x="15877" y="17434"/>
                    <a:pt x="15923" y="17383"/>
                  </a:cubicBezTo>
                  <a:cubicBezTo>
                    <a:pt x="15969" y="17331"/>
                    <a:pt x="16015" y="17280"/>
                    <a:pt x="16062" y="17229"/>
                  </a:cubicBezTo>
                  <a:cubicBezTo>
                    <a:pt x="16108" y="17177"/>
                    <a:pt x="16154" y="17126"/>
                    <a:pt x="16200" y="17074"/>
                  </a:cubicBezTo>
                  <a:cubicBezTo>
                    <a:pt x="16246" y="17023"/>
                    <a:pt x="16246" y="16971"/>
                    <a:pt x="16292" y="16920"/>
                  </a:cubicBezTo>
                  <a:cubicBezTo>
                    <a:pt x="16338" y="16869"/>
                    <a:pt x="16431" y="16817"/>
                    <a:pt x="16477" y="16766"/>
                  </a:cubicBezTo>
                  <a:cubicBezTo>
                    <a:pt x="16477" y="16714"/>
                    <a:pt x="16477" y="16714"/>
                    <a:pt x="16477" y="16714"/>
                  </a:cubicBezTo>
                  <a:cubicBezTo>
                    <a:pt x="16662" y="16509"/>
                    <a:pt x="16754" y="16354"/>
                    <a:pt x="16938" y="16200"/>
                  </a:cubicBezTo>
                  <a:cubicBezTo>
                    <a:pt x="17077" y="16046"/>
                    <a:pt x="17215" y="15943"/>
                    <a:pt x="17354" y="15789"/>
                  </a:cubicBezTo>
                  <a:cubicBezTo>
                    <a:pt x="17723" y="15377"/>
                    <a:pt x="18046" y="14914"/>
                    <a:pt x="18369" y="14451"/>
                  </a:cubicBezTo>
                  <a:cubicBezTo>
                    <a:pt x="18462" y="14297"/>
                    <a:pt x="18462" y="14297"/>
                    <a:pt x="18462" y="14297"/>
                  </a:cubicBezTo>
                  <a:cubicBezTo>
                    <a:pt x="18508" y="14246"/>
                    <a:pt x="18508" y="14143"/>
                    <a:pt x="18554" y="14091"/>
                  </a:cubicBezTo>
                  <a:cubicBezTo>
                    <a:pt x="18554" y="14040"/>
                    <a:pt x="18554" y="14040"/>
                    <a:pt x="18600" y="13989"/>
                  </a:cubicBezTo>
                  <a:cubicBezTo>
                    <a:pt x="18646" y="13886"/>
                    <a:pt x="18692" y="13834"/>
                    <a:pt x="18738" y="13731"/>
                  </a:cubicBezTo>
                  <a:cubicBezTo>
                    <a:pt x="18785" y="13680"/>
                    <a:pt x="18785" y="13680"/>
                    <a:pt x="18785" y="13680"/>
                  </a:cubicBezTo>
                  <a:cubicBezTo>
                    <a:pt x="18831" y="13577"/>
                    <a:pt x="18877" y="13474"/>
                    <a:pt x="18877" y="13423"/>
                  </a:cubicBezTo>
                  <a:cubicBezTo>
                    <a:pt x="18923" y="13371"/>
                    <a:pt x="18923" y="13371"/>
                    <a:pt x="18923" y="13371"/>
                  </a:cubicBezTo>
                  <a:cubicBezTo>
                    <a:pt x="18923" y="13320"/>
                    <a:pt x="18969" y="13217"/>
                    <a:pt x="19015" y="13166"/>
                  </a:cubicBezTo>
                  <a:cubicBezTo>
                    <a:pt x="19062" y="13114"/>
                    <a:pt x="19062" y="13114"/>
                    <a:pt x="19062" y="13114"/>
                  </a:cubicBezTo>
                  <a:cubicBezTo>
                    <a:pt x="19108" y="13011"/>
                    <a:pt x="19154" y="12909"/>
                    <a:pt x="19200" y="12806"/>
                  </a:cubicBezTo>
                  <a:cubicBezTo>
                    <a:pt x="19246" y="12703"/>
                    <a:pt x="19292" y="12600"/>
                    <a:pt x="19385" y="12497"/>
                  </a:cubicBezTo>
                  <a:cubicBezTo>
                    <a:pt x="19431" y="12394"/>
                    <a:pt x="19477" y="12343"/>
                    <a:pt x="19569" y="12291"/>
                  </a:cubicBezTo>
                  <a:cubicBezTo>
                    <a:pt x="19615" y="12240"/>
                    <a:pt x="19615" y="12240"/>
                    <a:pt x="19615" y="12240"/>
                  </a:cubicBezTo>
                  <a:cubicBezTo>
                    <a:pt x="19662" y="12189"/>
                    <a:pt x="19708" y="12137"/>
                    <a:pt x="19754" y="12086"/>
                  </a:cubicBezTo>
                  <a:cubicBezTo>
                    <a:pt x="19754" y="12034"/>
                    <a:pt x="19800" y="11983"/>
                    <a:pt x="19846" y="11983"/>
                  </a:cubicBezTo>
                  <a:cubicBezTo>
                    <a:pt x="19938" y="11880"/>
                    <a:pt x="20031" y="11777"/>
                    <a:pt x="20123" y="11726"/>
                  </a:cubicBezTo>
                  <a:cubicBezTo>
                    <a:pt x="20215" y="11674"/>
                    <a:pt x="20262" y="11571"/>
                    <a:pt x="20354" y="11520"/>
                  </a:cubicBezTo>
                  <a:cubicBezTo>
                    <a:pt x="20400" y="11469"/>
                    <a:pt x="20446" y="11417"/>
                    <a:pt x="20492" y="11366"/>
                  </a:cubicBezTo>
                  <a:cubicBezTo>
                    <a:pt x="20538" y="11366"/>
                    <a:pt x="20585" y="11314"/>
                    <a:pt x="20631" y="11314"/>
                  </a:cubicBezTo>
                  <a:cubicBezTo>
                    <a:pt x="20677" y="11263"/>
                    <a:pt x="20769" y="11211"/>
                    <a:pt x="20815" y="11109"/>
                  </a:cubicBezTo>
                  <a:cubicBezTo>
                    <a:pt x="20954" y="11006"/>
                    <a:pt x="20954" y="10903"/>
                    <a:pt x="21000" y="10800"/>
                  </a:cubicBezTo>
                  <a:cubicBezTo>
                    <a:pt x="21000" y="10749"/>
                    <a:pt x="21000" y="10697"/>
                    <a:pt x="21000" y="10697"/>
                  </a:cubicBezTo>
                  <a:cubicBezTo>
                    <a:pt x="21000" y="10594"/>
                    <a:pt x="21046" y="10543"/>
                    <a:pt x="21046" y="10491"/>
                  </a:cubicBezTo>
                  <a:cubicBezTo>
                    <a:pt x="21092" y="10440"/>
                    <a:pt x="21092" y="10389"/>
                    <a:pt x="21138" y="10337"/>
                  </a:cubicBezTo>
                  <a:cubicBezTo>
                    <a:pt x="21138" y="10234"/>
                    <a:pt x="21185" y="10131"/>
                    <a:pt x="21185" y="10029"/>
                  </a:cubicBezTo>
                  <a:cubicBezTo>
                    <a:pt x="21185" y="9977"/>
                    <a:pt x="21185" y="9926"/>
                    <a:pt x="21185" y="9874"/>
                  </a:cubicBezTo>
                  <a:cubicBezTo>
                    <a:pt x="21231" y="9617"/>
                    <a:pt x="21323" y="9360"/>
                    <a:pt x="21369" y="9103"/>
                  </a:cubicBezTo>
                  <a:cubicBezTo>
                    <a:pt x="21462" y="8949"/>
                    <a:pt x="21462" y="8949"/>
                    <a:pt x="21462" y="8949"/>
                  </a:cubicBezTo>
                  <a:cubicBezTo>
                    <a:pt x="21462" y="8897"/>
                    <a:pt x="21462" y="8846"/>
                    <a:pt x="21508" y="8794"/>
                  </a:cubicBezTo>
                  <a:cubicBezTo>
                    <a:pt x="21554" y="8743"/>
                    <a:pt x="21600" y="8640"/>
                    <a:pt x="21600" y="8537"/>
                  </a:cubicBezTo>
                  <a:cubicBezTo>
                    <a:pt x="21600" y="8434"/>
                    <a:pt x="21600" y="8383"/>
                    <a:pt x="21600" y="8280"/>
                  </a:cubicBezTo>
                  <a:close/>
                  <a:moveTo>
                    <a:pt x="16569" y="12960"/>
                  </a:moveTo>
                  <a:cubicBezTo>
                    <a:pt x="16569" y="13114"/>
                    <a:pt x="16615" y="13217"/>
                    <a:pt x="16431" y="13371"/>
                  </a:cubicBezTo>
                  <a:cubicBezTo>
                    <a:pt x="16338" y="13423"/>
                    <a:pt x="16154" y="13474"/>
                    <a:pt x="15969" y="13526"/>
                  </a:cubicBezTo>
                  <a:cubicBezTo>
                    <a:pt x="15969" y="13526"/>
                    <a:pt x="15969" y="13526"/>
                    <a:pt x="15969" y="13526"/>
                  </a:cubicBezTo>
                  <a:cubicBezTo>
                    <a:pt x="15923" y="13526"/>
                    <a:pt x="15831" y="13526"/>
                    <a:pt x="15785" y="13577"/>
                  </a:cubicBezTo>
                  <a:cubicBezTo>
                    <a:pt x="15554" y="13629"/>
                    <a:pt x="15369" y="13834"/>
                    <a:pt x="15277" y="14143"/>
                  </a:cubicBezTo>
                  <a:cubicBezTo>
                    <a:pt x="15185" y="14297"/>
                    <a:pt x="15046" y="14400"/>
                    <a:pt x="14908" y="14400"/>
                  </a:cubicBezTo>
                  <a:cubicBezTo>
                    <a:pt x="14769" y="14400"/>
                    <a:pt x="14677" y="14349"/>
                    <a:pt x="14631" y="14246"/>
                  </a:cubicBezTo>
                  <a:cubicBezTo>
                    <a:pt x="14585" y="14194"/>
                    <a:pt x="14585" y="14194"/>
                    <a:pt x="14585" y="14143"/>
                  </a:cubicBezTo>
                  <a:cubicBezTo>
                    <a:pt x="14585" y="14091"/>
                    <a:pt x="14585" y="14091"/>
                    <a:pt x="14585" y="14040"/>
                  </a:cubicBezTo>
                  <a:cubicBezTo>
                    <a:pt x="14538" y="13989"/>
                    <a:pt x="14538" y="13989"/>
                    <a:pt x="14492" y="13989"/>
                  </a:cubicBezTo>
                  <a:cubicBezTo>
                    <a:pt x="14492" y="13989"/>
                    <a:pt x="14446" y="13937"/>
                    <a:pt x="14446" y="13937"/>
                  </a:cubicBezTo>
                  <a:cubicBezTo>
                    <a:pt x="14400" y="13886"/>
                    <a:pt x="14400" y="13834"/>
                    <a:pt x="14400" y="13783"/>
                  </a:cubicBezTo>
                  <a:cubicBezTo>
                    <a:pt x="14308" y="13629"/>
                    <a:pt x="14262" y="13474"/>
                    <a:pt x="14169" y="13474"/>
                  </a:cubicBezTo>
                  <a:cubicBezTo>
                    <a:pt x="14169" y="13474"/>
                    <a:pt x="14169" y="13474"/>
                    <a:pt x="14169" y="13474"/>
                  </a:cubicBezTo>
                  <a:cubicBezTo>
                    <a:pt x="14123" y="13423"/>
                    <a:pt x="14123" y="13371"/>
                    <a:pt x="14123" y="13320"/>
                  </a:cubicBezTo>
                  <a:cubicBezTo>
                    <a:pt x="14077" y="13269"/>
                    <a:pt x="14077" y="13166"/>
                    <a:pt x="14031" y="13114"/>
                  </a:cubicBezTo>
                  <a:cubicBezTo>
                    <a:pt x="14031" y="13063"/>
                    <a:pt x="13985" y="13011"/>
                    <a:pt x="13938" y="12960"/>
                  </a:cubicBezTo>
                  <a:cubicBezTo>
                    <a:pt x="13892" y="12909"/>
                    <a:pt x="13846" y="12857"/>
                    <a:pt x="13938" y="12754"/>
                  </a:cubicBezTo>
                  <a:cubicBezTo>
                    <a:pt x="13985" y="12651"/>
                    <a:pt x="14077" y="12600"/>
                    <a:pt x="14169" y="12549"/>
                  </a:cubicBezTo>
                  <a:cubicBezTo>
                    <a:pt x="14215" y="12497"/>
                    <a:pt x="14308" y="12446"/>
                    <a:pt x="14354" y="12394"/>
                  </a:cubicBezTo>
                  <a:cubicBezTo>
                    <a:pt x="14446" y="12291"/>
                    <a:pt x="14538" y="12137"/>
                    <a:pt x="14585" y="12034"/>
                  </a:cubicBezTo>
                  <a:cubicBezTo>
                    <a:pt x="14723" y="11829"/>
                    <a:pt x="14862" y="11571"/>
                    <a:pt x="15046" y="11469"/>
                  </a:cubicBezTo>
                  <a:cubicBezTo>
                    <a:pt x="15185" y="11366"/>
                    <a:pt x="15185" y="11366"/>
                    <a:pt x="15185" y="11366"/>
                  </a:cubicBezTo>
                  <a:cubicBezTo>
                    <a:pt x="15415" y="11211"/>
                    <a:pt x="15646" y="11057"/>
                    <a:pt x="15831" y="11057"/>
                  </a:cubicBezTo>
                  <a:cubicBezTo>
                    <a:pt x="15969" y="11057"/>
                    <a:pt x="16154" y="11160"/>
                    <a:pt x="16246" y="11314"/>
                  </a:cubicBezTo>
                  <a:cubicBezTo>
                    <a:pt x="16338" y="11417"/>
                    <a:pt x="16385" y="11520"/>
                    <a:pt x="16477" y="11571"/>
                  </a:cubicBezTo>
                  <a:cubicBezTo>
                    <a:pt x="16615" y="11726"/>
                    <a:pt x="16708" y="11829"/>
                    <a:pt x="16800" y="11983"/>
                  </a:cubicBezTo>
                  <a:cubicBezTo>
                    <a:pt x="16846" y="12137"/>
                    <a:pt x="16846" y="12343"/>
                    <a:pt x="16800" y="12497"/>
                  </a:cubicBezTo>
                  <a:cubicBezTo>
                    <a:pt x="16754" y="12600"/>
                    <a:pt x="16662" y="12651"/>
                    <a:pt x="16615" y="12651"/>
                  </a:cubicBezTo>
                  <a:cubicBezTo>
                    <a:pt x="16523" y="12703"/>
                    <a:pt x="16523" y="12703"/>
                    <a:pt x="16523" y="12703"/>
                  </a:cubicBezTo>
                  <a:cubicBezTo>
                    <a:pt x="16523" y="12754"/>
                    <a:pt x="16523" y="12754"/>
                    <a:pt x="16523" y="12754"/>
                  </a:cubicBezTo>
                  <a:cubicBezTo>
                    <a:pt x="16523" y="12857"/>
                    <a:pt x="16523" y="12909"/>
                    <a:pt x="16569" y="12960"/>
                  </a:cubicBezTo>
                  <a:close/>
                </a:path>
              </a:pathLst>
            </a:custGeom>
            <a:solidFill>
              <a:schemeClr val="tx2"/>
            </a:solid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64" name="Shape">
              <a:extLst>
                <a:ext uri="{FF2B5EF4-FFF2-40B4-BE49-F238E27FC236}">
                  <a16:creationId xmlns:a16="http://schemas.microsoft.com/office/drawing/2014/main" id="{60AA7334-97CB-2545-92FE-DB03745C0799}"/>
                </a:ext>
              </a:extLst>
            </p:cNvPr>
            <p:cNvSpPr/>
            <p:nvPr/>
          </p:nvSpPr>
          <p:spPr>
            <a:xfrm>
              <a:off x="6224362" y="5651701"/>
              <a:ext cx="1200330" cy="1947092"/>
            </a:xfrm>
            <a:custGeom>
              <a:avLst/>
              <a:gdLst/>
              <a:ahLst/>
              <a:cxnLst>
                <a:cxn ang="0">
                  <a:pos x="wd2" y="hd2"/>
                </a:cxn>
                <a:cxn ang="5400000">
                  <a:pos x="wd2" y="hd2"/>
                </a:cxn>
                <a:cxn ang="10800000">
                  <a:pos x="wd2" y="hd2"/>
                </a:cxn>
                <a:cxn ang="16200000">
                  <a:pos x="wd2" y="hd2"/>
                </a:cxn>
              </a:cxnLst>
              <a:rect l="0" t="0" r="r" b="b"/>
              <a:pathLst>
                <a:path w="21583" h="21600" extrusionOk="0">
                  <a:moveTo>
                    <a:pt x="21530" y="5360"/>
                  </a:moveTo>
                  <a:cubicBezTo>
                    <a:pt x="21600" y="5321"/>
                    <a:pt x="21600" y="5241"/>
                    <a:pt x="21530" y="5162"/>
                  </a:cubicBezTo>
                  <a:cubicBezTo>
                    <a:pt x="21530" y="5122"/>
                    <a:pt x="21460" y="5082"/>
                    <a:pt x="21390" y="5043"/>
                  </a:cubicBezTo>
                  <a:cubicBezTo>
                    <a:pt x="21390" y="5043"/>
                    <a:pt x="21390" y="5003"/>
                    <a:pt x="21390" y="5003"/>
                  </a:cubicBezTo>
                  <a:cubicBezTo>
                    <a:pt x="21390" y="4884"/>
                    <a:pt x="21250" y="4844"/>
                    <a:pt x="21111" y="4844"/>
                  </a:cubicBezTo>
                  <a:cubicBezTo>
                    <a:pt x="21111" y="4804"/>
                    <a:pt x="21181" y="4765"/>
                    <a:pt x="21181" y="4725"/>
                  </a:cubicBezTo>
                  <a:cubicBezTo>
                    <a:pt x="21181" y="4725"/>
                    <a:pt x="21181" y="4725"/>
                    <a:pt x="21181" y="4685"/>
                  </a:cubicBezTo>
                  <a:cubicBezTo>
                    <a:pt x="21181" y="4606"/>
                    <a:pt x="21181" y="4566"/>
                    <a:pt x="21181" y="4487"/>
                  </a:cubicBezTo>
                  <a:cubicBezTo>
                    <a:pt x="21111" y="4487"/>
                    <a:pt x="21111" y="4447"/>
                    <a:pt x="21111" y="4407"/>
                  </a:cubicBezTo>
                  <a:cubicBezTo>
                    <a:pt x="21111" y="4328"/>
                    <a:pt x="21111" y="4209"/>
                    <a:pt x="21111" y="4129"/>
                  </a:cubicBezTo>
                  <a:cubicBezTo>
                    <a:pt x="21111" y="4050"/>
                    <a:pt x="21111" y="3971"/>
                    <a:pt x="21111" y="3931"/>
                  </a:cubicBezTo>
                  <a:cubicBezTo>
                    <a:pt x="21111" y="3851"/>
                    <a:pt x="21111" y="3732"/>
                    <a:pt x="21111" y="3653"/>
                  </a:cubicBezTo>
                  <a:cubicBezTo>
                    <a:pt x="21111" y="3574"/>
                    <a:pt x="21041" y="3454"/>
                    <a:pt x="21041" y="3375"/>
                  </a:cubicBezTo>
                  <a:cubicBezTo>
                    <a:pt x="21041" y="3335"/>
                    <a:pt x="21041" y="3335"/>
                    <a:pt x="21041" y="3335"/>
                  </a:cubicBezTo>
                  <a:cubicBezTo>
                    <a:pt x="21111" y="3296"/>
                    <a:pt x="21111" y="3216"/>
                    <a:pt x="21111" y="3137"/>
                  </a:cubicBezTo>
                  <a:cubicBezTo>
                    <a:pt x="21111" y="3137"/>
                    <a:pt x="21111" y="3137"/>
                    <a:pt x="21111" y="3137"/>
                  </a:cubicBezTo>
                  <a:cubicBezTo>
                    <a:pt x="21181" y="3057"/>
                    <a:pt x="21250" y="3018"/>
                    <a:pt x="21181" y="2899"/>
                  </a:cubicBezTo>
                  <a:cubicBezTo>
                    <a:pt x="21181" y="2859"/>
                    <a:pt x="21181" y="2819"/>
                    <a:pt x="21181" y="2779"/>
                  </a:cubicBezTo>
                  <a:cubicBezTo>
                    <a:pt x="21111" y="2740"/>
                    <a:pt x="21111" y="2700"/>
                    <a:pt x="21111" y="2660"/>
                  </a:cubicBezTo>
                  <a:cubicBezTo>
                    <a:pt x="21041" y="2581"/>
                    <a:pt x="21041" y="2462"/>
                    <a:pt x="21041" y="2343"/>
                  </a:cubicBezTo>
                  <a:cubicBezTo>
                    <a:pt x="21111" y="2224"/>
                    <a:pt x="21041" y="2065"/>
                    <a:pt x="21041" y="1906"/>
                  </a:cubicBezTo>
                  <a:cubicBezTo>
                    <a:pt x="21041" y="1787"/>
                    <a:pt x="20971" y="1628"/>
                    <a:pt x="20971" y="1509"/>
                  </a:cubicBezTo>
                  <a:cubicBezTo>
                    <a:pt x="20971" y="1429"/>
                    <a:pt x="20971" y="1390"/>
                    <a:pt x="20971" y="1310"/>
                  </a:cubicBezTo>
                  <a:cubicBezTo>
                    <a:pt x="20971" y="1231"/>
                    <a:pt x="20901" y="1151"/>
                    <a:pt x="20971" y="1112"/>
                  </a:cubicBezTo>
                  <a:cubicBezTo>
                    <a:pt x="20971" y="1032"/>
                    <a:pt x="20971" y="993"/>
                    <a:pt x="21041" y="953"/>
                  </a:cubicBezTo>
                  <a:cubicBezTo>
                    <a:pt x="21111" y="913"/>
                    <a:pt x="21181" y="834"/>
                    <a:pt x="21181" y="715"/>
                  </a:cubicBezTo>
                  <a:cubicBezTo>
                    <a:pt x="21181" y="596"/>
                    <a:pt x="21181" y="476"/>
                    <a:pt x="21250" y="357"/>
                  </a:cubicBezTo>
                  <a:cubicBezTo>
                    <a:pt x="21320" y="238"/>
                    <a:pt x="21250" y="119"/>
                    <a:pt x="21181" y="79"/>
                  </a:cubicBezTo>
                  <a:cubicBezTo>
                    <a:pt x="21181" y="0"/>
                    <a:pt x="21181" y="0"/>
                    <a:pt x="21181" y="0"/>
                  </a:cubicBezTo>
                  <a:cubicBezTo>
                    <a:pt x="21041" y="0"/>
                    <a:pt x="21041" y="0"/>
                    <a:pt x="21041" y="0"/>
                  </a:cubicBezTo>
                  <a:cubicBezTo>
                    <a:pt x="20691" y="40"/>
                    <a:pt x="20412" y="199"/>
                    <a:pt x="20132" y="318"/>
                  </a:cubicBezTo>
                  <a:cubicBezTo>
                    <a:pt x="20062" y="397"/>
                    <a:pt x="19922" y="437"/>
                    <a:pt x="19783" y="516"/>
                  </a:cubicBezTo>
                  <a:cubicBezTo>
                    <a:pt x="19643" y="556"/>
                    <a:pt x="19503" y="596"/>
                    <a:pt x="19363" y="596"/>
                  </a:cubicBezTo>
                  <a:cubicBezTo>
                    <a:pt x="19223" y="635"/>
                    <a:pt x="19083" y="675"/>
                    <a:pt x="19014" y="715"/>
                  </a:cubicBezTo>
                  <a:cubicBezTo>
                    <a:pt x="18874" y="754"/>
                    <a:pt x="18804" y="794"/>
                    <a:pt x="18734" y="794"/>
                  </a:cubicBezTo>
                  <a:cubicBezTo>
                    <a:pt x="18664" y="874"/>
                    <a:pt x="18524" y="913"/>
                    <a:pt x="18315" y="953"/>
                  </a:cubicBezTo>
                  <a:cubicBezTo>
                    <a:pt x="18315" y="953"/>
                    <a:pt x="18245" y="953"/>
                    <a:pt x="18245" y="953"/>
                  </a:cubicBezTo>
                  <a:cubicBezTo>
                    <a:pt x="18175" y="953"/>
                    <a:pt x="18105" y="953"/>
                    <a:pt x="18035" y="953"/>
                  </a:cubicBezTo>
                  <a:cubicBezTo>
                    <a:pt x="17965" y="913"/>
                    <a:pt x="17895" y="913"/>
                    <a:pt x="17825" y="913"/>
                  </a:cubicBezTo>
                  <a:cubicBezTo>
                    <a:pt x="17755" y="913"/>
                    <a:pt x="17616" y="953"/>
                    <a:pt x="17406" y="993"/>
                  </a:cubicBezTo>
                  <a:cubicBezTo>
                    <a:pt x="17336" y="1032"/>
                    <a:pt x="17266" y="1072"/>
                    <a:pt x="17196" y="1112"/>
                  </a:cubicBezTo>
                  <a:cubicBezTo>
                    <a:pt x="17126" y="1191"/>
                    <a:pt x="16986" y="1231"/>
                    <a:pt x="16847" y="1231"/>
                  </a:cubicBezTo>
                  <a:cubicBezTo>
                    <a:pt x="16777" y="1231"/>
                    <a:pt x="16707" y="1231"/>
                    <a:pt x="16637" y="1191"/>
                  </a:cubicBezTo>
                  <a:cubicBezTo>
                    <a:pt x="16567" y="1191"/>
                    <a:pt x="16497" y="1151"/>
                    <a:pt x="16427" y="1151"/>
                  </a:cubicBezTo>
                  <a:cubicBezTo>
                    <a:pt x="16287" y="1112"/>
                    <a:pt x="16217" y="1072"/>
                    <a:pt x="16078" y="1072"/>
                  </a:cubicBezTo>
                  <a:cubicBezTo>
                    <a:pt x="16008" y="1072"/>
                    <a:pt x="15938" y="1072"/>
                    <a:pt x="15798" y="1112"/>
                  </a:cubicBezTo>
                  <a:cubicBezTo>
                    <a:pt x="15658" y="1191"/>
                    <a:pt x="15588" y="1271"/>
                    <a:pt x="15518" y="1310"/>
                  </a:cubicBezTo>
                  <a:cubicBezTo>
                    <a:pt x="15449" y="1390"/>
                    <a:pt x="15379" y="1429"/>
                    <a:pt x="15309" y="1509"/>
                  </a:cubicBezTo>
                  <a:cubicBezTo>
                    <a:pt x="15099" y="1588"/>
                    <a:pt x="14959" y="1668"/>
                    <a:pt x="14750" y="1668"/>
                  </a:cubicBezTo>
                  <a:cubicBezTo>
                    <a:pt x="14610" y="1668"/>
                    <a:pt x="14540" y="1628"/>
                    <a:pt x="14400" y="1588"/>
                  </a:cubicBezTo>
                  <a:cubicBezTo>
                    <a:pt x="14330" y="1588"/>
                    <a:pt x="14330" y="1588"/>
                    <a:pt x="14260" y="1549"/>
                  </a:cubicBezTo>
                  <a:cubicBezTo>
                    <a:pt x="14050" y="1509"/>
                    <a:pt x="13911" y="1469"/>
                    <a:pt x="13771" y="1469"/>
                  </a:cubicBezTo>
                  <a:cubicBezTo>
                    <a:pt x="13631" y="1469"/>
                    <a:pt x="13561" y="1509"/>
                    <a:pt x="13491" y="1509"/>
                  </a:cubicBezTo>
                  <a:cubicBezTo>
                    <a:pt x="13421" y="1509"/>
                    <a:pt x="13351" y="1549"/>
                    <a:pt x="13282" y="1588"/>
                  </a:cubicBezTo>
                  <a:cubicBezTo>
                    <a:pt x="13282" y="1588"/>
                    <a:pt x="13212" y="1628"/>
                    <a:pt x="13142" y="1628"/>
                  </a:cubicBezTo>
                  <a:cubicBezTo>
                    <a:pt x="13072" y="1628"/>
                    <a:pt x="13072" y="1628"/>
                    <a:pt x="13072" y="1628"/>
                  </a:cubicBezTo>
                  <a:cubicBezTo>
                    <a:pt x="13002" y="1628"/>
                    <a:pt x="13002" y="1628"/>
                    <a:pt x="12932" y="1628"/>
                  </a:cubicBezTo>
                  <a:cubicBezTo>
                    <a:pt x="12932" y="1588"/>
                    <a:pt x="12862" y="1588"/>
                    <a:pt x="12792" y="1588"/>
                  </a:cubicBezTo>
                  <a:cubicBezTo>
                    <a:pt x="12722" y="1588"/>
                    <a:pt x="12722" y="1588"/>
                    <a:pt x="12652" y="1628"/>
                  </a:cubicBezTo>
                  <a:cubicBezTo>
                    <a:pt x="12652" y="1628"/>
                    <a:pt x="12583" y="1628"/>
                    <a:pt x="12513" y="1628"/>
                  </a:cubicBezTo>
                  <a:cubicBezTo>
                    <a:pt x="12513" y="1628"/>
                    <a:pt x="12513" y="1628"/>
                    <a:pt x="12513" y="1628"/>
                  </a:cubicBezTo>
                  <a:cubicBezTo>
                    <a:pt x="12373" y="1628"/>
                    <a:pt x="12233" y="1549"/>
                    <a:pt x="12163" y="1509"/>
                  </a:cubicBezTo>
                  <a:cubicBezTo>
                    <a:pt x="12093" y="1429"/>
                    <a:pt x="12023" y="1390"/>
                    <a:pt x="11883" y="1350"/>
                  </a:cubicBezTo>
                  <a:cubicBezTo>
                    <a:pt x="11744" y="1310"/>
                    <a:pt x="11674" y="1310"/>
                    <a:pt x="11604" y="1310"/>
                  </a:cubicBezTo>
                  <a:cubicBezTo>
                    <a:pt x="11534" y="1310"/>
                    <a:pt x="11464" y="1310"/>
                    <a:pt x="11324" y="1350"/>
                  </a:cubicBezTo>
                  <a:cubicBezTo>
                    <a:pt x="11254" y="1390"/>
                    <a:pt x="11184" y="1429"/>
                    <a:pt x="11115" y="1429"/>
                  </a:cubicBezTo>
                  <a:cubicBezTo>
                    <a:pt x="10905" y="1469"/>
                    <a:pt x="10765" y="1509"/>
                    <a:pt x="10555" y="1509"/>
                  </a:cubicBezTo>
                  <a:cubicBezTo>
                    <a:pt x="10416" y="1509"/>
                    <a:pt x="10346" y="1509"/>
                    <a:pt x="10206" y="1509"/>
                  </a:cubicBezTo>
                  <a:cubicBezTo>
                    <a:pt x="10136" y="1469"/>
                    <a:pt x="10136" y="1469"/>
                    <a:pt x="10136" y="1469"/>
                  </a:cubicBezTo>
                  <a:cubicBezTo>
                    <a:pt x="10136" y="1469"/>
                    <a:pt x="10136" y="1469"/>
                    <a:pt x="10066" y="1469"/>
                  </a:cubicBezTo>
                  <a:cubicBezTo>
                    <a:pt x="9996" y="1469"/>
                    <a:pt x="9856" y="1509"/>
                    <a:pt x="9786" y="1509"/>
                  </a:cubicBezTo>
                  <a:cubicBezTo>
                    <a:pt x="9577" y="1509"/>
                    <a:pt x="9577" y="1509"/>
                    <a:pt x="9577" y="1509"/>
                  </a:cubicBezTo>
                  <a:cubicBezTo>
                    <a:pt x="9577" y="1588"/>
                    <a:pt x="9577" y="1588"/>
                    <a:pt x="9577" y="1588"/>
                  </a:cubicBezTo>
                  <a:cubicBezTo>
                    <a:pt x="9577" y="1707"/>
                    <a:pt x="9507" y="1826"/>
                    <a:pt x="9437" y="1906"/>
                  </a:cubicBezTo>
                  <a:cubicBezTo>
                    <a:pt x="9437" y="1985"/>
                    <a:pt x="9367" y="2025"/>
                    <a:pt x="9367" y="2065"/>
                  </a:cubicBezTo>
                  <a:cubicBezTo>
                    <a:pt x="9297" y="2144"/>
                    <a:pt x="9227" y="2224"/>
                    <a:pt x="9157" y="2343"/>
                  </a:cubicBezTo>
                  <a:cubicBezTo>
                    <a:pt x="9157" y="2501"/>
                    <a:pt x="9157" y="2660"/>
                    <a:pt x="9157" y="2779"/>
                  </a:cubicBezTo>
                  <a:cubicBezTo>
                    <a:pt x="9157" y="2938"/>
                    <a:pt x="9227" y="3057"/>
                    <a:pt x="9157" y="3176"/>
                  </a:cubicBezTo>
                  <a:cubicBezTo>
                    <a:pt x="9087" y="3415"/>
                    <a:pt x="9157" y="3574"/>
                    <a:pt x="9227" y="3732"/>
                  </a:cubicBezTo>
                  <a:cubicBezTo>
                    <a:pt x="9297" y="3971"/>
                    <a:pt x="9437" y="4169"/>
                    <a:pt x="9647" y="4407"/>
                  </a:cubicBezTo>
                  <a:cubicBezTo>
                    <a:pt x="9647" y="4407"/>
                    <a:pt x="9647" y="4407"/>
                    <a:pt x="9647" y="4407"/>
                  </a:cubicBezTo>
                  <a:cubicBezTo>
                    <a:pt x="9717" y="4447"/>
                    <a:pt x="9717" y="4447"/>
                    <a:pt x="9717" y="4447"/>
                  </a:cubicBezTo>
                  <a:cubicBezTo>
                    <a:pt x="10695" y="4606"/>
                    <a:pt x="11184" y="5360"/>
                    <a:pt x="11324" y="5837"/>
                  </a:cubicBezTo>
                  <a:cubicBezTo>
                    <a:pt x="11324" y="5956"/>
                    <a:pt x="11324" y="6115"/>
                    <a:pt x="11324" y="6234"/>
                  </a:cubicBezTo>
                  <a:cubicBezTo>
                    <a:pt x="11324" y="6274"/>
                    <a:pt x="11324" y="6274"/>
                    <a:pt x="11324" y="6274"/>
                  </a:cubicBezTo>
                  <a:cubicBezTo>
                    <a:pt x="11324" y="6313"/>
                    <a:pt x="11324" y="6353"/>
                    <a:pt x="11254" y="6393"/>
                  </a:cubicBezTo>
                  <a:cubicBezTo>
                    <a:pt x="11254" y="6472"/>
                    <a:pt x="11324" y="6591"/>
                    <a:pt x="11324" y="6671"/>
                  </a:cubicBezTo>
                  <a:cubicBezTo>
                    <a:pt x="11324" y="6790"/>
                    <a:pt x="11324" y="6869"/>
                    <a:pt x="11324" y="6949"/>
                  </a:cubicBezTo>
                  <a:cubicBezTo>
                    <a:pt x="11324" y="7187"/>
                    <a:pt x="11184" y="7346"/>
                    <a:pt x="10975" y="7385"/>
                  </a:cubicBezTo>
                  <a:cubicBezTo>
                    <a:pt x="10835" y="7425"/>
                    <a:pt x="10695" y="7425"/>
                    <a:pt x="10625" y="7425"/>
                  </a:cubicBezTo>
                  <a:cubicBezTo>
                    <a:pt x="10416" y="7425"/>
                    <a:pt x="10346" y="7465"/>
                    <a:pt x="10206" y="7584"/>
                  </a:cubicBezTo>
                  <a:cubicBezTo>
                    <a:pt x="10206" y="7624"/>
                    <a:pt x="10136" y="7663"/>
                    <a:pt x="10136" y="7663"/>
                  </a:cubicBezTo>
                  <a:cubicBezTo>
                    <a:pt x="9996" y="7822"/>
                    <a:pt x="9856" y="7941"/>
                    <a:pt x="9926" y="8060"/>
                  </a:cubicBezTo>
                  <a:cubicBezTo>
                    <a:pt x="9926" y="8140"/>
                    <a:pt x="9996" y="8219"/>
                    <a:pt x="9996" y="8259"/>
                  </a:cubicBezTo>
                  <a:cubicBezTo>
                    <a:pt x="10066" y="8418"/>
                    <a:pt x="10136" y="8537"/>
                    <a:pt x="10136" y="8696"/>
                  </a:cubicBezTo>
                  <a:cubicBezTo>
                    <a:pt x="10066" y="8735"/>
                    <a:pt x="9926" y="8735"/>
                    <a:pt x="9856" y="8735"/>
                  </a:cubicBezTo>
                  <a:cubicBezTo>
                    <a:pt x="9786" y="8735"/>
                    <a:pt x="9786" y="8735"/>
                    <a:pt x="9717" y="8735"/>
                  </a:cubicBezTo>
                  <a:cubicBezTo>
                    <a:pt x="9717" y="8696"/>
                    <a:pt x="9647" y="8696"/>
                    <a:pt x="9647" y="8576"/>
                  </a:cubicBezTo>
                  <a:cubicBezTo>
                    <a:pt x="9647" y="8497"/>
                    <a:pt x="9647" y="8457"/>
                    <a:pt x="9647" y="8418"/>
                  </a:cubicBezTo>
                  <a:cubicBezTo>
                    <a:pt x="9717" y="8299"/>
                    <a:pt x="9717" y="8259"/>
                    <a:pt x="9507" y="8140"/>
                  </a:cubicBezTo>
                  <a:cubicBezTo>
                    <a:pt x="9437" y="8140"/>
                    <a:pt x="9367" y="8100"/>
                    <a:pt x="9297" y="8060"/>
                  </a:cubicBezTo>
                  <a:cubicBezTo>
                    <a:pt x="9017" y="7941"/>
                    <a:pt x="8738" y="7782"/>
                    <a:pt x="8598" y="7624"/>
                  </a:cubicBezTo>
                  <a:cubicBezTo>
                    <a:pt x="8528" y="7584"/>
                    <a:pt x="8528" y="7544"/>
                    <a:pt x="8528" y="7504"/>
                  </a:cubicBezTo>
                  <a:cubicBezTo>
                    <a:pt x="8528" y="7465"/>
                    <a:pt x="8528" y="7465"/>
                    <a:pt x="8528" y="7425"/>
                  </a:cubicBezTo>
                  <a:cubicBezTo>
                    <a:pt x="8528" y="7346"/>
                    <a:pt x="8458" y="7306"/>
                    <a:pt x="8388" y="7266"/>
                  </a:cubicBezTo>
                  <a:cubicBezTo>
                    <a:pt x="8388" y="7226"/>
                    <a:pt x="8388" y="7226"/>
                    <a:pt x="8318" y="7187"/>
                  </a:cubicBezTo>
                  <a:cubicBezTo>
                    <a:pt x="8249" y="7028"/>
                    <a:pt x="8249" y="7028"/>
                    <a:pt x="8318" y="6949"/>
                  </a:cubicBezTo>
                  <a:cubicBezTo>
                    <a:pt x="8388" y="6909"/>
                    <a:pt x="8388" y="6869"/>
                    <a:pt x="8458" y="6829"/>
                  </a:cubicBezTo>
                  <a:cubicBezTo>
                    <a:pt x="8528" y="6790"/>
                    <a:pt x="8528" y="6710"/>
                    <a:pt x="8528" y="6631"/>
                  </a:cubicBezTo>
                  <a:cubicBezTo>
                    <a:pt x="8598" y="6591"/>
                    <a:pt x="8598" y="6512"/>
                    <a:pt x="8668" y="6472"/>
                  </a:cubicBezTo>
                  <a:cubicBezTo>
                    <a:pt x="8948" y="6154"/>
                    <a:pt x="9087" y="5638"/>
                    <a:pt x="8668" y="5321"/>
                  </a:cubicBezTo>
                  <a:cubicBezTo>
                    <a:pt x="8598" y="5201"/>
                    <a:pt x="8388" y="5162"/>
                    <a:pt x="8249" y="5162"/>
                  </a:cubicBezTo>
                  <a:cubicBezTo>
                    <a:pt x="8039" y="5162"/>
                    <a:pt x="7899" y="5201"/>
                    <a:pt x="7689" y="5241"/>
                  </a:cubicBezTo>
                  <a:cubicBezTo>
                    <a:pt x="7480" y="5281"/>
                    <a:pt x="7270" y="5321"/>
                    <a:pt x="7060" y="5321"/>
                  </a:cubicBezTo>
                  <a:cubicBezTo>
                    <a:pt x="7060" y="5321"/>
                    <a:pt x="7060" y="5321"/>
                    <a:pt x="7060" y="5321"/>
                  </a:cubicBezTo>
                  <a:cubicBezTo>
                    <a:pt x="6850" y="5321"/>
                    <a:pt x="6641" y="5122"/>
                    <a:pt x="6501" y="4963"/>
                  </a:cubicBezTo>
                  <a:cubicBezTo>
                    <a:pt x="6361" y="4844"/>
                    <a:pt x="6291" y="4765"/>
                    <a:pt x="6221" y="4725"/>
                  </a:cubicBezTo>
                  <a:cubicBezTo>
                    <a:pt x="6151" y="4685"/>
                    <a:pt x="6151" y="4646"/>
                    <a:pt x="6151" y="4646"/>
                  </a:cubicBezTo>
                  <a:cubicBezTo>
                    <a:pt x="6082" y="4606"/>
                    <a:pt x="6082" y="4606"/>
                    <a:pt x="6082" y="4606"/>
                  </a:cubicBezTo>
                  <a:cubicBezTo>
                    <a:pt x="5942" y="4646"/>
                    <a:pt x="5942" y="4646"/>
                    <a:pt x="5942" y="4646"/>
                  </a:cubicBezTo>
                  <a:cubicBezTo>
                    <a:pt x="5942" y="4646"/>
                    <a:pt x="5942" y="4646"/>
                    <a:pt x="5872" y="4646"/>
                  </a:cubicBezTo>
                  <a:cubicBezTo>
                    <a:pt x="5872" y="4646"/>
                    <a:pt x="5802" y="4646"/>
                    <a:pt x="5802" y="4646"/>
                  </a:cubicBezTo>
                  <a:cubicBezTo>
                    <a:pt x="140" y="5916"/>
                    <a:pt x="140" y="5916"/>
                    <a:pt x="140" y="5916"/>
                  </a:cubicBezTo>
                  <a:cubicBezTo>
                    <a:pt x="0" y="5916"/>
                    <a:pt x="0" y="5916"/>
                    <a:pt x="0" y="5916"/>
                  </a:cubicBezTo>
                  <a:cubicBezTo>
                    <a:pt x="70" y="5996"/>
                    <a:pt x="70" y="5996"/>
                    <a:pt x="70" y="5996"/>
                  </a:cubicBezTo>
                  <a:cubicBezTo>
                    <a:pt x="70" y="6035"/>
                    <a:pt x="70" y="6115"/>
                    <a:pt x="210" y="6234"/>
                  </a:cubicBezTo>
                  <a:cubicBezTo>
                    <a:pt x="280" y="6353"/>
                    <a:pt x="350" y="6472"/>
                    <a:pt x="419" y="6591"/>
                  </a:cubicBezTo>
                  <a:cubicBezTo>
                    <a:pt x="489" y="7266"/>
                    <a:pt x="489" y="7266"/>
                    <a:pt x="489" y="7266"/>
                  </a:cubicBezTo>
                  <a:cubicBezTo>
                    <a:pt x="2027" y="7266"/>
                    <a:pt x="2027" y="7266"/>
                    <a:pt x="2027" y="7266"/>
                  </a:cubicBezTo>
                  <a:cubicBezTo>
                    <a:pt x="2097" y="7306"/>
                    <a:pt x="2167" y="7306"/>
                    <a:pt x="2237" y="7346"/>
                  </a:cubicBezTo>
                  <a:cubicBezTo>
                    <a:pt x="2307" y="7425"/>
                    <a:pt x="2447" y="7465"/>
                    <a:pt x="2656" y="7465"/>
                  </a:cubicBezTo>
                  <a:cubicBezTo>
                    <a:pt x="2936" y="7504"/>
                    <a:pt x="3076" y="7504"/>
                    <a:pt x="3285" y="7663"/>
                  </a:cubicBezTo>
                  <a:cubicBezTo>
                    <a:pt x="3355" y="7703"/>
                    <a:pt x="3355" y="7703"/>
                    <a:pt x="3355" y="7703"/>
                  </a:cubicBezTo>
                  <a:cubicBezTo>
                    <a:pt x="3495" y="7782"/>
                    <a:pt x="3635" y="7862"/>
                    <a:pt x="3915" y="7862"/>
                  </a:cubicBezTo>
                  <a:cubicBezTo>
                    <a:pt x="3915" y="7862"/>
                    <a:pt x="3915" y="7862"/>
                    <a:pt x="3915" y="7862"/>
                  </a:cubicBezTo>
                  <a:cubicBezTo>
                    <a:pt x="3915" y="7862"/>
                    <a:pt x="3984" y="7862"/>
                    <a:pt x="4054" y="7862"/>
                  </a:cubicBezTo>
                  <a:cubicBezTo>
                    <a:pt x="4124" y="7862"/>
                    <a:pt x="4194" y="7862"/>
                    <a:pt x="4264" y="7862"/>
                  </a:cubicBezTo>
                  <a:cubicBezTo>
                    <a:pt x="4334" y="7862"/>
                    <a:pt x="4474" y="7862"/>
                    <a:pt x="4614" y="7901"/>
                  </a:cubicBezTo>
                  <a:cubicBezTo>
                    <a:pt x="4753" y="7941"/>
                    <a:pt x="4823" y="7981"/>
                    <a:pt x="4963" y="8021"/>
                  </a:cubicBezTo>
                  <a:cubicBezTo>
                    <a:pt x="5033" y="8060"/>
                    <a:pt x="5103" y="8100"/>
                    <a:pt x="5243" y="8140"/>
                  </a:cubicBezTo>
                  <a:cubicBezTo>
                    <a:pt x="5452" y="8219"/>
                    <a:pt x="5452" y="8259"/>
                    <a:pt x="5383" y="8378"/>
                  </a:cubicBezTo>
                  <a:cubicBezTo>
                    <a:pt x="5383" y="8378"/>
                    <a:pt x="5383" y="8418"/>
                    <a:pt x="5313" y="8457"/>
                  </a:cubicBezTo>
                  <a:cubicBezTo>
                    <a:pt x="5313" y="8576"/>
                    <a:pt x="5383" y="8616"/>
                    <a:pt x="5452" y="8696"/>
                  </a:cubicBezTo>
                  <a:cubicBezTo>
                    <a:pt x="5452" y="8735"/>
                    <a:pt x="5452" y="8775"/>
                    <a:pt x="5522" y="8815"/>
                  </a:cubicBezTo>
                  <a:cubicBezTo>
                    <a:pt x="5592" y="8934"/>
                    <a:pt x="5522" y="9013"/>
                    <a:pt x="5522" y="9093"/>
                  </a:cubicBezTo>
                  <a:cubicBezTo>
                    <a:pt x="5522" y="9132"/>
                    <a:pt x="5522" y="9172"/>
                    <a:pt x="5522" y="9212"/>
                  </a:cubicBezTo>
                  <a:cubicBezTo>
                    <a:pt x="5522" y="9331"/>
                    <a:pt x="5522" y="9450"/>
                    <a:pt x="5522" y="9569"/>
                  </a:cubicBezTo>
                  <a:cubicBezTo>
                    <a:pt x="5522" y="9688"/>
                    <a:pt x="5452" y="9807"/>
                    <a:pt x="5452" y="9926"/>
                  </a:cubicBezTo>
                  <a:cubicBezTo>
                    <a:pt x="5452" y="9966"/>
                    <a:pt x="5452" y="10046"/>
                    <a:pt x="5522" y="10085"/>
                  </a:cubicBezTo>
                  <a:cubicBezTo>
                    <a:pt x="5522" y="10204"/>
                    <a:pt x="5522" y="10363"/>
                    <a:pt x="5522" y="10403"/>
                  </a:cubicBezTo>
                  <a:cubicBezTo>
                    <a:pt x="5452" y="10443"/>
                    <a:pt x="5452" y="10482"/>
                    <a:pt x="5383" y="10482"/>
                  </a:cubicBezTo>
                  <a:cubicBezTo>
                    <a:pt x="5313" y="10522"/>
                    <a:pt x="5313" y="10562"/>
                    <a:pt x="5243" y="10601"/>
                  </a:cubicBezTo>
                  <a:cubicBezTo>
                    <a:pt x="5243" y="10641"/>
                    <a:pt x="5243" y="10681"/>
                    <a:pt x="5243" y="10721"/>
                  </a:cubicBezTo>
                  <a:cubicBezTo>
                    <a:pt x="5243" y="10760"/>
                    <a:pt x="5243" y="10840"/>
                    <a:pt x="5173" y="10879"/>
                  </a:cubicBezTo>
                  <a:cubicBezTo>
                    <a:pt x="5173" y="10879"/>
                    <a:pt x="5103" y="10919"/>
                    <a:pt x="5033" y="10919"/>
                  </a:cubicBezTo>
                  <a:cubicBezTo>
                    <a:pt x="4963" y="10959"/>
                    <a:pt x="4893" y="10959"/>
                    <a:pt x="4893" y="11038"/>
                  </a:cubicBezTo>
                  <a:cubicBezTo>
                    <a:pt x="4893" y="11078"/>
                    <a:pt x="4963" y="11118"/>
                    <a:pt x="5033" y="11197"/>
                  </a:cubicBezTo>
                  <a:cubicBezTo>
                    <a:pt x="5103" y="11197"/>
                    <a:pt x="5103" y="11237"/>
                    <a:pt x="5173" y="11276"/>
                  </a:cubicBezTo>
                  <a:cubicBezTo>
                    <a:pt x="5173" y="11356"/>
                    <a:pt x="5173" y="11396"/>
                    <a:pt x="5173" y="11435"/>
                  </a:cubicBezTo>
                  <a:cubicBezTo>
                    <a:pt x="5103" y="11475"/>
                    <a:pt x="5103" y="11475"/>
                    <a:pt x="5103" y="11475"/>
                  </a:cubicBezTo>
                  <a:cubicBezTo>
                    <a:pt x="5033" y="11634"/>
                    <a:pt x="5033" y="11872"/>
                    <a:pt x="5173" y="11951"/>
                  </a:cubicBezTo>
                  <a:cubicBezTo>
                    <a:pt x="5173" y="12031"/>
                    <a:pt x="5243" y="12031"/>
                    <a:pt x="5313" y="12071"/>
                  </a:cubicBezTo>
                  <a:cubicBezTo>
                    <a:pt x="5383" y="12150"/>
                    <a:pt x="5522" y="12190"/>
                    <a:pt x="5452" y="12309"/>
                  </a:cubicBezTo>
                  <a:cubicBezTo>
                    <a:pt x="5452" y="12428"/>
                    <a:pt x="5383" y="12507"/>
                    <a:pt x="5243" y="12587"/>
                  </a:cubicBezTo>
                  <a:cubicBezTo>
                    <a:pt x="5243" y="12626"/>
                    <a:pt x="5173" y="12666"/>
                    <a:pt x="5103" y="12706"/>
                  </a:cubicBezTo>
                  <a:cubicBezTo>
                    <a:pt x="5033" y="12865"/>
                    <a:pt x="4893" y="12984"/>
                    <a:pt x="4753" y="13103"/>
                  </a:cubicBezTo>
                  <a:cubicBezTo>
                    <a:pt x="4683" y="13182"/>
                    <a:pt x="4683" y="13182"/>
                    <a:pt x="4614" y="13222"/>
                  </a:cubicBezTo>
                  <a:cubicBezTo>
                    <a:pt x="4544" y="13222"/>
                    <a:pt x="4544" y="13222"/>
                    <a:pt x="4474" y="13222"/>
                  </a:cubicBezTo>
                  <a:cubicBezTo>
                    <a:pt x="4334" y="13301"/>
                    <a:pt x="4334" y="13301"/>
                    <a:pt x="4334" y="13381"/>
                  </a:cubicBezTo>
                  <a:cubicBezTo>
                    <a:pt x="4334" y="13460"/>
                    <a:pt x="4334" y="13500"/>
                    <a:pt x="4334" y="13540"/>
                  </a:cubicBezTo>
                  <a:cubicBezTo>
                    <a:pt x="4334" y="13659"/>
                    <a:pt x="4334" y="13738"/>
                    <a:pt x="4264" y="13857"/>
                  </a:cubicBezTo>
                  <a:cubicBezTo>
                    <a:pt x="4194" y="13857"/>
                    <a:pt x="4194" y="13897"/>
                    <a:pt x="4194" y="13897"/>
                  </a:cubicBezTo>
                  <a:cubicBezTo>
                    <a:pt x="4124" y="13937"/>
                    <a:pt x="4124" y="13976"/>
                    <a:pt x="4124" y="14016"/>
                  </a:cubicBezTo>
                  <a:cubicBezTo>
                    <a:pt x="4124" y="14056"/>
                    <a:pt x="4124" y="14096"/>
                    <a:pt x="4124" y="14096"/>
                  </a:cubicBezTo>
                  <a:cubicBezTo>
                    <a:pt x="4124" y="14215"/>
                    <a:pt x="4124" y="14254"/>
                    <a:pt x="3984" y="14334"/>
                  </a:cubicBezTo>
                  <a:cubicBezTo>
                    <a:pt x="3984" y="14374"/>
                    <a:pt x="3915" y="14374"/>
                    <a:pt x="3845" y="14413"/>
                  </a:cubicBezTo>
                  <a:cubicBezTo>
                    <a:pt x="3775" y="14493"/>
                    <a:pt x="3775" y="14493"/>
                    <a:pt x="3775" y="14493"/>
                  </a:cubicBezTo>
                  <a:cubicBezTo>
                    <a:pt x="1817" y="15684"/>
                    <a:pt x="1817" y="15684"/>
                    <a:pt x="1817" y="15684"/>
                  </a:cubicBezTo>
                  <a:cubicBezTo>
                    <a:pt x="1817" y="15724"/>
                    <a:pt x="1817" y="15724"/>
                    <a:pt x="1817" y="15724"/>
                  </a:cubicBezTo>
                  <a:cubicBezTo>
                    <a:pt x="1887" y="15803"/>
                    <a:pt x="1887" y="15922"/>
                    <a:pt x="1957" y="16001"/>
                  </a:cubicBezTo>
                  <a:cubicBezTo>
                    <a:pt x="1957" y="16081"/>
                    <a:pt x="1957" y="16121"/>
                    <a:pt x="2027" y="16160"/>
                  </a:cubicBezTo>
                  <a:cubicBezTo>
                    <a:pt x="2027" y="16240"/>
                    <a:pt x="2097" y="16319"/>
                    <a:pt x="2097" y="16399"/>
                  </a:cubicBezTo>
                  <a:cubicBezTo>
                    <a:pt x="2167" y="16478"/>
                    <a:pt x="2237" y="16557"/>
                    <a:pt x="2237" y="16637"/>
                  </a:cubicBezTo>
                  <a:cubicBezTo>
                    <a:pt x="2307" y="16716"/>
                    <a:pt x="2307" y="16796"/>
                    <a:pt x="2307" y="16875"/>
                  </a:cubicBezTo>
                  <a:cubicBezTo>
                    <a:pt x="2307" y="16954"/>
                    <a:pt x="2307" y="17034"/>
                    <a:pt x="2307" y="17113"/>
                  </a:cubicBezTo>
                  <a:cubicBezTo>
                    <a:pt x="2447" y="17312"/>
                    <a:pt x="2586" y="17431"/>
                    <a:pt x="2656" y="17550"/>
                  </a:cubicBezTo>
                  <a:cubicBezTo>
                    <a:pt x="2726" y="17550"/>
                    <a:pt x="2726" y="17590"/>
                    <a:pt x="2726" y="17590"/>
                  </a:cubicBezTo>
                  <a:cubicBezTo>
                    <a:pt x="2796" y="17629"/>
                    <a:pt x="2866" y="17669"/>
                    <a:pt x="2866" y="17749"/>
                  </a:cubicBezTo>
                  <a:cubicBezTo>
                    <a:pt x="2866" y="17749"/>
                    <a:pt x="2866" y="17788"/>
                    <a:pt x="2866" y="17828"/>
                  </a:cubicBezTo>
                  <a:cubicBezTo>
                    <a:pt x="2866" y="17868"/>
                    <a:pt x="2796" y="17947"/>
                    <a:pt x="2866" y="17987"/>
                  </a:cubicBezTo>
                  <a:cubicBezTo>
                    <a:pt x="2866" y="18066"/>
                    <a:pt x="2936" y="18106"/>
                    <a:pt x="2936" y="18185"/>
                  </a:cubicBezTo>
                  <a:cubicBezTo>
                    <a:pt x="3006" y="18265"/>
                    <a:pt x="3076" y="18304"/>
                    <a:pt x="3076" y="18424"/>
                  </a:cubicBezTo>
                  <a:cubicBezTo>
                    <a:pt x="3076" y="18582"/>
                    <a:pt x="3006" y="18741"/>
                    <a:pt x="3006" y="18900"/>
                  </a:cubicBezTo>
                  <a:cubicBezTo>
                    <a:pt x="3006" y="18900"/>
                    <a:pt x="3006" y="18900"/>
                    <a:pt x="3006" y="18900"/>
                  </a:cubicBezTo>
                  <a:cubicBezTo>
                    <a:pt x="3006" y="19059"/>
                    <a:pt x="2936" y="19218"/>
                    <a:pt x="2936" y="19376"/>
                  </a:cubicBezTo>
                  <a:cubicBezTo>
                    <a:pt x="2936" y="19456"/>
                    <a:pt x="2936" y="19535"/>
                    <a:pt x="2936" y="19615"/>
                  </a:cubicBezTo>
                  <a:cubicBezTo>
                    <a:pt x="2936" y="19615"/>
                    <a:pt x="2936" y="19615"/>
                    <a:pt x="2936" y="19615"/>
                  </a:cubicBezTo>
                  <a:cubicBezTo>
                    <a:pt x="2936" y="19694"/>
                    <a:pt x="2936" y="19813"/>
                    <a:pt x="2936" y="19893"/>
                  </a:cubicBezTo>
                  <a:cubicBezTo>
                    <a:pt x="2936" y="19972"/>
                    <a:pt x="2866" y="20012"/>
                    <a:pt x="2866" y="20091"/>
                  </a:cubicBezTo>
                  <a:cubicBezTo>
                    <a:pt x="2796" y="20171"/>
                    <a:pt x="2796" y="20210"/>
                    <a:pt x="2726" y="20290"/>
                  </a:cubicBezTo>
                  <a:cubicBezTo>
                    <a:pt x="2726" y="20329"/>
                    <a:pt x="2726" y="20329"/>
                    <a:pt x="2726" y="20329"/>
                  </a:cubicBezTo>
                  <a:cubicBezTo>
                    <a:pt x="2866" y="20369"/>
                    <a:pt x="2866" y="20369"/>
                    <a:pt x="2866" y="20369"/>
                  </a:cubicBezTo>
                  <a:cubicBezTo>
                    <a:pt x="2866" y="20409"/>
                    <a:pt x="2866" y="20409"/>
                    <a:pt x="2936" y="20409"/>
                  </a:cubicBezTo>
                  <a:cubicBezTo>
                    <a:pt x="3076" y="20488"/>
                    <a:pt x="3076" y="20568"/>
                    <a:pt x="3006" y="20726"/>
                  </a:cubicBezTo>
                  <a:cubicBezTo>
                    <a:pt x="3006" y="20766"/>
                    <a:pt x="3006" y="20846"/>
                    <a:pt x="3006" y="20885"/>
                  </a:cubicBezTo>
                  <a:cubicBezTo>
                    <a:pt x="3006" y="20925"/>
                    <a:pt x="3006" y="20925"/>
                    <a:pt x="3006" y="20925"/>
                  </a:cubicBezTo>
                  <a:cubicBezTo>
                    <a:pt x="3006" y="21084"/>
                    <a:pt x="3076" y="21203"/>
                    <a:pt x="3006" y="21362"/>
                  </a:cubicBezTo>
                  <a:cubicBezTo>
                    <a:pt x="3006" y="21401"/>
                    <a:pt x="3006" y="21401"/>
                    <a:pt x="3006" y="21401"/>
                  </a:cubicBezTo>
                  <a:cubicBezTo>
                    <a:pt x="3076" y="21441"/>
                    <a:pt x="3076" y="21441"/>
                    <a:pt x="3076" y="21441"/>
                  </a:cubicBezTo>
                  <a:cubicBezTo>
                    <a:pt x="3285" y="21481"/>
                    <a:pt x="3565" y="21481"/>
                    <a:pt x="3705" y="21521"/>
                  </a:cubicBezTo>
                  <a:cubicBezTo>
                    <a:pt x="3915" y="21521"/>
                    <a:pt x="4194" y="21521"/>
                    <a:pt x="4404" y="21560"/>
                  </a:cubicBezTo>
                  <a:cubicBezTo>
                    <a:pt x="4544" y="21600"/>
                    <a:pt x="4544" y="21600"/>
                    <a:pt x="4544" y="21600"/>
                  </a:cubicBezTo>
                  <a:cubicBezTo>
                    <a:pt x="4544" y="21521"/>
                    <a:pt x="4544" y="21521"/>
                    <a:pt x="4544" y="21521"/>
                  </a:cubicBezTo>
                  <a:cubicBezTo>
                    <a:pt x="4544" y="21521"/>
                    <a:pt x="4544" y="21481"/>
                    <a:pt x="4614" y="21481"/>
                  </a:cubicBezTo>
                  <a:cubicBezTo>
                    <a:pt x="4614" y="21441"/>
                    <a:pt x="4614" y="21441"/>
                    <a:pt x="4614" y="21441"/>
                  </a:cubicBezTo>
                  <a:cubicBezTo>
                    <a:pt x="4683" y="21282"/>
                    <a:pt x="4753" y="21124"/>
                    <a:pt x="4823" y="20925"/>
                  </a:cubicBezTo>
                  <a:cubicBezTo>
                    <a:pt x="4823" y="20846"/>
                    <a:pt x="4823" y="20726"/>
                    <a:pt x="4683" y="20647"/>
                  </a:cubicBezTo>
                  <a:cubicBezTo>
                    <a:pt x="4683" y="20607"/>
                    <a:pt x="4614" y="20607"/>
                    <a:pt x="4614" y="20568"/>
                  </a:cubicBezTo>
                  <a:cubicBezTo>
                    <a:pt x="4544" y="20568"/>
                    <a:pt x="4474" y="20528"/>
                    <a:pt x="4474" y="20488"/>
                  </a:cubicBezTo>
                  <a:cubicBezTo>
                    <a:pt x="4334" y="20369"/>
                    <a:pt x="4334" y="20210"/>
                    <a:pt x="4404" y="20091"/>
                  </a:cubicBezTo>
                  <a:cubicBezTo>
                    <a:pt x="4474" y="19932"/>
                    <a:pt x="4683" y="19813"/>
                    <a:pt x="4823" y="19694"/>
                  </a:cubicBezTo>
                  <a:cubicBezTo>
                    <a:pt x="4893" y="19694"/>
                    <a:pt x="4963" y="19694"/>
                    <a:pt x="5033" y="19654"/>
                  </a:cubicBezTo>
                  <a:cubicBezTo>
                    <a:pt x="5103" y="19654"/>
                    <a:pt x="5173" y="19615"/>
                    <a:pt x="5243" y="19575"/>
                  </a:cubicBezTo>
                  <a:cubicBezTo>
                    <a:pt x="5313" y="19535"/>
                    <a:pt x="5313" y="19535"/>
                    <a:pt x="5313" y="19535"/>
                  </a:cubicBezTo>
                  <a:cubicBezTo>
                    <a:pt x="5452" y="19496"/>
                    <a:pt x="5452" y="19496"/>
                    <a:pt x="5592" y="19456"/>
                  </a:cubicBezTo>
                  <a:cubicBezTo>
                    <a:pt x="5662" y="19456"/>
                    <a:pt x="5662" y="19416"/>
                    <a:pt x="5732" y="19416"/>
                  </a:cubicBezTo>
                  <a:cubicBezTo>
                    <a:pt x="5872" y="19376"/>
                    <a:pt x="5942" y="19376"/>
                    <a:pt x="6012" y="19337"/>
                  </a:cubicBezTo>
                  <a:cubicBezTo>
                    <a:pt x="6082" y="19337"/>
                    <a:pt x="6151" y="19337"/>
                    <a:pt x="6221" y="19337"/>
                  </a:cubicBezTo>
                  <a:cubicBezTo>
                    <a:pt x="6361" y="19297"/>
                    <a:pt x="6431" y="19297"/>
                    <a:pt x="6501" y="19257"/>
                  </a:cubicBezTo>
                  <a:cubicBezTo>
                    <a:pt x="6641" y="19257"/>
                    <a:pt x="6711" y="19218"/>
                    <a:pt x="6850" y="19178"/>
                  </a:cubicBezTo>
                  <a:cubicBezTo>
                    <a:pt x="6850" y="19178"/>
                    <a:pt x="6920" y="19178"/>
                    <a:pt x="6990" y="19138"/>
                  </a:cubicBezTo>
                  <a:cubicBezTo>
                    <a:pt x="6990" y="19138"/>
                    <a:pt x="7130" y="19099"/>
                    <a:pt x="7200" y="19099"/>
                  </a:cubicBezTo>
                  <a:cubicBezTo>
                    <a:pt x="7270" y="19099"/>
                    <a:pt x="7340" y="19059"/>
                    <a:pt x="7410" y="19059"/>
                  </a:cubicBezTo>
                  <a:cubicBezTo>
                    <a:pt x="7550" y="19019"/>
                    <a:pt x="7759" y="18979"/>
                    <a:pt x="7899" y="18940"/>
                  </a:cubicBezTo>
                  <a:cubicBezTo>
                    <a:pt x="8039" y="18900"/>
                    <a:pt x="8109" y="18860"/>
                    <a:pt x="8249" y="18860"/>
                  </a:cubicBezTo>
                  <a:cubicBezTo>
                    <a:pt x="8738" y="18781"/>
                    <a:pt x="9157" y="18582"/>
                    <a:pt x="9577" y="18384"/>
                  </a:cubicBezTo>
                  <a:cubicBezTo>
                    <a:pt x="9647" y="18344"/>
                    <a:pt x="9647" y="18344"/>
                    <a:pt x="9647" y="18344"/>
                  </a:cubicBezTo>
                  <a:cubicBezTo>
                    <a:pt x="9996" y="18146"/>
                    <a:pt x="10136" y="17788"/>
                    <a:pt x="10136" y="17510"/>
                  </a:cubicBezTo>
                  <a:cubicBezTo>
                    <a:pt x="10136" y="17431"/>
                    <a:pt x="10136" y="17431"/>
                    <a:pt x="10136" y="17431"/>
                  </a:cubicBezTo>
                  <a:cubicBezTo>
                    <a:pt x="10066" y="17431"/>
                    <a:pt x="10066" y="17431"/>
                    <a:pt x="10066" y="17431"/>
                  </a:cubicBezTo>
                  <a:cubicBezTo>
                    <a:pt x="9996" y="17431"/>
                    <a:pt x="9996" y="17431"/>
                    <a:pt x="9996" y="17431"/>
                  </a:cubicBezTo>
                  <a:cubicBezTo>
                    <a:pt x="9996" y="17431"/>
                    <a:pt x="9996" y="17431"/>
                    <a:pt x="9996" y="17431"/>
                  </a:cubicBezTo>
                  <a:cubicBezTo>
                    <a:pt x="9926" y="17431"/>
                    <a:pt x="9926" y="17431"/>
                    <a:pt x="9926" y="17431"/>
                  </a:cubicBezTo>
                  <a:cubicBezTo>
                    <a:pt x="9926" y="17431"/>
                    <a:pt x="9926" y="17431"/>
                    <a:pt x="9926" y="17431"/>
                  </a:cubicBezTo>
                  <a:cubicBezTo>
                    <a:pt x="9926" y="17351"/>
                    <a:pt x="9926" y="17312"/>
                    <a:pt x="9926" y="17232"/>
                  </a:cubicBezTo>
                  <a:cubicBezTo>
                    <a:pt x="9926" y="17193"/>
                    <a:pt x="9926" y="17153"/>
                    <a:pt x="9996" y="17074"/>
                  </a:cubicBezTo>
                  <a:cubicBezTo>
                    <a:pt x="10066" y="16994"/>
                    <a:pt x="10136" y="16875"/>
                    <a:pt x="10206" y="16756"/>
                  </a:cubicBezTo>
                  <a:cubicBezTo>
                    <a:pt x="10206" y="16716"/>
                    <a:pt x="10206" y="16716"/>
                    <a:pt x="10206" y="16676"/>
                  </a:cubicBezTo>
                  <a:cubicBezTo>
                    <a:pt x="10206" y="16637"/>
                    <a:pt x="10206" y="16597"/>
                    <a:pt x="10206" y="16597"/>
                  </a:cubicBezTo>
                  <a:cubicBezTo>
                    <a:pt x="10206" y="16557"/>
                    <a:pt x="10276" y="16557"/>
                    <a:pt x="10276" y="16518"/>
                  </a:cubicBezTo>
                  <a:cubicBezTo>
                    <a:pt x="10276" y="16518"/>
                    <a:pt x="10346" y="16478"/>
                    <a:pt x="10346" y="16438"/>
                  </a:cubicBezTo>
                  <a:cubicBezTo>
                    <a:pt x="10346" y="16359"/>
                    <a:pt x="10346" y="16279"/>
                    <a:pt x="10276" y="16240"/>
                  </a:cubicBezTo>
                  <a:cubicBezTo>
                    <a:pt x="10206" y="16121"/>
                    <a:pt x="10136" y="15922"/>
                    <a:pt x="10206" y="15803"/>
                  </a:cubicBezTo>
                  <a:cubicBezTo>
                    <a:pt x="10206" y="15763"/>
                    <a:pt x="10276" y="15763"/>
                    <a:pt x="10276" y="15724"/>
                  </a:cubicBezTo>
                  <a:cubicBezTo>
                    <a:pt x="10346" y="15604"/>
                    <a:pt x="10416" y="15525"/>
                    <a:pt x="10416" y="15406"/>
                  </a:cubicBezTo>
                  <a:cubicBezTo>
                    <a:pt x="10416" y="15326"/>
                    <a:pt x="10276" y="15207"/>
                    <a:pt x="10136" y="15207"/>
                  </a:cubicBezTo>
                  <a:cubicBezTo>
                    <a:pt x="10066" y="15207"/>
                    <a:pt x="10066" y="15247"/>
                    <a:pt x="9996" y="15247"/>
                  </a:cubicBezTo>
                  <a:cubicBezTo>
                    <a:pt x="9996" y="15247"/>
                    <a:pt x="9996" y="15247"/>
                    <a:pt x="9926" y="15247"/>
                  </a:cubicBezTo>
                  <a:cubicBezTo>
                    <a:pt x="9926" y="15247"/>
                    <a:pt x="9996" y="15207"/>
                    <a:pt x="9996" y="15207"/>
                  </a:cubicBezTo>
                  <a:cubicBezTo>
                    <a:pt x="9996" y="15088"/>
                    <a:pt x="9996" y="15049"/>
                    <a:pt x="9926" y="14929"/>
                  </a:cubicBezTo>
                  <a:cubicBezTo>
                    <a:pt x="9856" y="14890"/>
                    <a:pt x="9856" y="14850"/>
                    <a:pt x="9856" y="14810"/>
                  </a:cubicBezTo>
                  <a:cubicBezTo>
                    <a:pt x="9856" y="14771"/>
                    <a:pt x="9856" y="14771"/>
                    <a:pt x="9856" y="14731"/>
                  </a:cubicBezTo>
                  <a:cubicBezTo>
                    <a:pt x="9856" y="14651"/>
                    <a:pt x="9786" y="14572"/>
                    <a:pt x="9786" y="14532"/>
                  </a:cubicBezTo>
                  <a:cubicBezTo>
                    <a:pt x="9717" y="14493"/>
                    <a:pt x="9717" y="14493"/>
                    <a:pt x="9717" y="14493"/>
                  </a:cubicBezTo>
                  <a:cubicBezTo>
                    <a:pt x="9717" y="14453"/>
                    <a:pt x="9647" y="14413"/>
                    <a:pt x="9647" y="14374"/>
                  </a:cubicBezTo>
                  <a:cubicBezTo>
                    <a:pt x="9647" y="14334"/>
                    <a:pt x="9577" y="14334"/>
                    <a:pt x="9577" y="14294"/>
                  </a:cubicBezTo>
                  <a:cubicBezTo>
                    <a:pt x="9507" y="14175"/>
                    <a:pt x="9507" y="14016"/>
                    <a:pt x="9577" y="13897"/>
                  </a:cubicBezTo>
                  <a:cubicBezTo>
                    <a:pt x="9647" y="13778"/>
                    <a:pt x="9577" y="13699"/>
                    <a:pt x="9507" y="13619"/>
                  </a:cubicBezTo>
                  <a:cubicBezTo>
                    <a:pt x="9437" y="13579"/>
                    <a:pt x="9437" y="13540"/>
                    <a:pt x="9367" y="13500"/>
                  </a:cubicBezTo>
                  <a:cubicBezTo>
                    <a:pt x="9367" y="13500"/>
                    <a:pt x="9367" y="13500"/>
                    <a:pt x="9367" y="13500"/>
                  </a:cubicBezTo>
                  <a:cubicBezTo>
                    <a:pt x="9367" y="13460"/>
                    <a:pt x="9367" y="13421"/>
                    <a:pt x="9367" y="13381"/>
                  </a:cubicBezTo>
                  <a:cubicBezTo>
                    <a:pt x="9297" y="13381"/>
                    <a:pt x="9297" y="13341"/>
                    <a:pt x="9227" y="13341"/>
                  </a:cubicBezTo>
                  <a:cubicBezTo>
                    <a:pt x="9227" y="13341"/>
                    <a:pt x="9227" y="13341"/>
                    <a:pt x="9227" y="13341"/>
                  </a:cubicBezTo>
                  <a:cubicBezTo>
                    <a:pt x="9157" y="13301"/>
                    <a:pt x="9087" y="13262"/>
                    <a:pt x="9087" y="13262"/>
                  </a:cubicBezTo>
                  <a:cubicBezTo>
                    <a:pt x="9017" y="13222"/>
                    <a:pt x="9017" y="13222"/>
                    <a:pt x="8948" y="13182"/>
                  </a:cubicBezTo>
                  <a:cubicBezTo>
                    <a:pt x="8808" y="13103"/>
                    <a:pt x="8738" y="13024"/>
                    <a:pt x="8808" y="12944"/>
                  </a:cubicBezTo>
                  <a:cubicBezTo>
                    <a:pt x="8808" y="12865"/>
                    <a:pt x="8878" y="12825"/>
                    <a:pt x="8878" y="12746"/>
                  </a:cubicBezTo>
                  <a:cubicBezTo>
                    <a:pt x="8878" y="12706"/>
                    <a:pt x="8948" y="12626"/>
                    <a:pt x="8948" y="12587"/>
                  </a:cubicBezTo>
                  <a:cubicBezTo>
                    <a:pt x="8948" y="12547"/>
                    <a:pt x="8948" y="12547"/>
                    <a:pt x="8948" y="12547"/>
                  </a:cubicBezTo>
                  <a:cubicBezTo>
                    <a:pt x="9017" y="12428"/>
                    <a:pt x="9017" y="12388"/>
                    <a:pt x="9157" y="12349"/>
                  </a:cubicBezTo>
                  <a:cubicBezTo>
                    <a:pt x="9577" y="12229"/>
                    <a:pt x="9926" y="12031"/>
                    <a:pt x="10206" y="11832"/>
                  </a:cubicBezTo>
                  <a:cubicBezTo>
                    <a:pt x="10276" y="11793"/>
                    <a:pt x="10346" y="11753"/>
                    <a:pt x="10416" y="11713"/>
                  </a:cubicBezTo>
                  <a:cubicBezTo>
                    <a:pt x="10485" y="11674"/>
                    <a:pt x="10555" y="11634"/>
                    <a:pt x="10625" y="11594"/>
                  </a:cubicBezTo>
                  <a:cubicBezTo>
                    <a:pt x="10765" y="11515"/>
                    <a:pt x="10905" y="11435"/>
                    <a:pt x="11045" y="11356"/>
                  </a:cubicBezTo>
                  <a:cubicBezTo>
                    <a:pt x="11115" y="11316"/>
                    <a:pt x="11254" y="11276"/>
                    <a:pt x="11324" y="11197"/>
                  </a:cubicBezTo>
                  <a:cubicBezTo>
                    <a:pt x="11394" y="11197"/>
                    <a:pt x="11394" y="11197"/>
                    <a:pt x="11394" y="11197"/>
                  </a:cubicBezTo>
                  <a:cubicBezTo>
                    <a:pt x="11394" y="11157"/>
                    <a:pt x="11464" y="11118"/>
                    <a:pt x="11534" y="11118"/>
                  </a:cubicBezTo>
                  <a:cubicBezTo>
                    <a:pt x="11534" y="11118"/>
                    <a:pt x="11604" y="11118"/>
                    <a:pt x="11604" y="11118"/>
                  </a:cubicBezTo>
                  <a:cubicBezTo>
                    <a:pt x="11674" y="11118"/>
                    <a:pt x="11744" y="11157"/>
                    <a:pt x="11814" y="11157"/>
                  </a:cubicBezTo>
                  <a:cubicBezTo>
                    <a:pt x="11814" y="11157"/>
                    <a:pt x="11883" y="11157"/>
                    <a:pt x="11953" y="11118"/>
                  </a:cubicBezTo>
                  <a:cubicBezTo>
                    <a:pt x="12023" y="11118"/>
                    <a:pt x="12093" y="11078"/>
                    <a:pt x="12163" y="10999"/>
                  </a:cubicBezTo>
                  <a:cubicBezTo>
                    <a:pt x="12373" y="10959"/>
                    <a:pt x="12373" y="10840"/>
                    <a:pt x="12443" y="10760"/>
                  </a:cubicBezTo>
                  <a:cubicBezTo>
                    <a:pt x="12443" y="10760"/>
                    <a:pt x="12443" y="10721"/>
                    <a:pt x="12443" y="10721"/>
                  </a:cubicBezTo>
                  <a:cubicBezTo>
                    <a:pt x="12443" y="10721"/>
                    <a:pt x="12443" y="10681"/>
                    <a:pt x="12443" y="10681"/>
                  </a:cubicBezTo>
                  <a:cubicBezTo>
                    <a:pt x="12443" y="10641"/>
                    <a:pt x="12513" y="10641"/>
                    <a:pt x="12513" y="10601"/>
                  </a:cubicBezTo>
                  <a:cubicBezTo>
                    <a:pt x="12583" y="10601"/>
                    <a:pt x="12583" y="10601"/>
                    <a:pt x="12652" y="10562"/>
                  </a:cubicBezTo>
                  <a:cubicBezTo>
                    <a:pt x="12722" y="10522"/>
                    <a:pt x="12722" y="10522"/>
                    <a:pt x="12722" y="10522"/>
                  </a:cubicBezTo>
                  <a:cubicBezTo>
                    <a:pt x="12932" y="10403"/>
                    <a:pt x="13142" y="10324"/>
                    <a:pt x="13282" y="10204"/>
                  </a:cubicBezTo>
                  <a:cubicBezTo>
                    <a:pt x="13351" y="10165"/>
                    <a:pt x="13421" y="10085"/>
                    <a:pt x="13421" y="10046"/>
                  </a:cubicBezTo>
                  <a:cubicBezTo>
                    <a:pt x="13491" y="10006"/>
                    <a:pt x="13491" y="10006"/>
                    <a:pt x="13491" y="9966"/>
                  </a:cubicBezTo>
                  <a:cubicBezTo>
                    <a:pt x="13561" y="9926"/>
                    <a:pt x="13631" y="9887"/>
                    <a:pt x="13701" y="9807"/>
                  </a:cubicBezTo>
                  <a:cubicBezTo>
                    <a:pt x="13701" y="9768"/>
                    <a:pt x="13701" y="9768"/>
                    <a:pt x="13701" y="9768"/>
                  </a:cubicBezTo>
                  <a:cubicBezTo>
                    <a:pt x="13981" y="9529"/>
                    <a:pt x="14400" y="9331"/>
                    <a:pt x="14959" y="9172"/>
                  </a:cubicBezTo>
                  <a:cubicBezTo>
                    <a:pt x="15099" y="9132"/>
                    <a:pt x="15239" y="9093"/>
                    <a:pt x="15379" y="9093"/>
                  </a:cubicBezTo>
                  <a:cubicBezTo>
                    <a:pt x="15449" y="9053"/>
                    <a:pt x="15588" y="9053"/>
                    <a:pt x="15658" y="9013"/>
                  </a:cubicBezTo>
                  <a:cubicBezTo>
                    <a:pt x="15798" y="8974"/>
                    <a:pt x="15868" y="8974"/>
                    <a:pt x="16008" y="8934"/>
                  </a:cubicBezTo>
                  <a:cubicBezTo>
                    <a:pt x="16148" y="8894"/>
                    <a:pt x="16217" y="8854"/>
                    <a:pt x="16357" y="8815"/>
                  </a:cubicBezTo>
                  <a:cubicBezTo>
                    <a:pt x="16497" y="8775"/>
                    <a:pt x="16707" y="8775"/>
                    <a:pt x="16847" y="8735"/>
                  </a:cubicBezTo>
                  <a:cubicBezTo>
                    <a:pt x="17196" y="8696"/>
                    <a:pt x="17546" y="8656"/>
                    <a:pt x="17825" y="8537"/>
                  </a:cubicBezTo>
                  <a:cubicBezTo>
                    <a:pt x="17895" y="8537"/>
                    <a:pt x="17895" y="8497"/>
                    <a:pt x="17965" y="8457"/>
                  </a:cubicBezTo>
                  <a:cubicBezTo>
                    <a:pt x="18035" y="8418"/>
                    <a:pt x="18035" y="8418"/>
                    <a:pt x="18105" y="8378"/>
                  </a:cubicBezTo>
                  <a:cubicBezTo>
                    <a:pt x="18175" y="8378"/>
                    <a:pt x="18175" y="8378"/>
                    <a:pt x="18175" y="8378"/>
                  </a:cubicBezTo>
                  <a:cubicBezTo>
                    <a:pt x="18245" y="8338"/>
                    <a:pt x="18315" y="8299"/>
                    <a:pt x="18384" y="8259"/>
                  </a:cubicBezTo>
                  <a:cubicBezTo>
                    <a:pt x="18524" y="8219"/>
                    <a:pt x="18594" y="8179"/>
                    <a:pt x="18664" y="8179"/>
                  </a:cubicBezTo>
                  <a:cubicBezTo>
                    <a:pt x="18944" y="8100"/>
                    <a:pt x="19223" y="8021"/>
                    <a:pt x="19293" y="7862"/>
                  </a:cubicBezTo>
                  <a:cubicBezTo>
                    <a:pt x="19363" y="7822"/>
                    <a:pt x="19363" y="7782"/>
                    <a:pt x="19363" y="7743"/>
                  </a:cubicBezTo>
                  <a:cubicBezTo>
                    <a:pt x="19363" y="7743"/>
                    <a:pt x="19363" y="7743"/>
                    <a:pt x="19363" y="7703"/>
                  </a:cubicBezTo>
                  <a:cubicBezTo>
                    <a:pt x="19363" y="7663"/>
                    <a:pt x="19433" y="7663"/>
                    <a:pt x="19503" y="7624"/>
                  </a:cubicBezTo>
                  <a:cubicBezTo>
                    <a:pt x="19573" y="7624"/>
                    <a:pt x="19573" y="7584"/>
                    <a:pt x="19643" y="7584"/>
                  </a:cubicBezTo>
                  <a:cubicBezTo>
                    <a:pt x="19713" y="7544"/>
                    <a:pt x="19783" y="7465"/>
                    <a:pt x="19852" y="7385"/>
                  </a:cubicBezTo>
                  <a:cubicBezTo>
                    <a:pt x="19852" y="7346"/>
                    <a:pt x="19922" y="7346"/>
                    <a:pt x="19922" y="7306"/>
                  </a:cubicBezTo>
                  <a:cubicBezTo>
                    <a:pt x="19992" y="7266"/>
                    <a:pt x="20062" y="7226"/>
                    <a:pt x="20132" y="7187"/>
                  </a:cubicBezTo>
                  <a:cubicBezTo>
                    <a:pt x="20202" y="7147"/>
                    <a:pt x="20202" y="7147"/>
                    <a:pt x="20272" y="7107"/>
                  </a:cubicBezTo>
                  <a:cubicBezTo>
                    <a:pt x="20272" y="7107"/>
                    <a:pt x="20272" y="7068"/>
                    <a:pt x="20342" y="7028"/>
                  </a:cubicBezTo>
                  <a:cubicBezTo>
                    <a:pt x="20342" y="7028"/>
                    <a:pt x="20342" y="7028"/>
                    <a:pt x="20412" y="6988"/>
                  </a:cubicBezTo>
                  <a:cubicBezTo>
                    <a:pt x="20412" y="6988"/>
                    <a:pt x="20412" y="6988"/>
                    <a:pt x="20482" y="6988"/>
                  </a:cubicBezTo>
                  <a:cubicBezTo>
                    <a:pt x="20482" y="6949"/>
                    <a:pt x="20551" y="6949"/>
                    <a:pt x="20551" y="6909"/>
                  </a:cubicBezTo>
                  <a:cubicBezTo>
                    <a:pt x="20621" y="6869"/>
                    <a:pt x="20621" y="6869"/>
                    <a:pt x="20621" y="6869"/>
                  </a:cubicBezTo>
                  <a:cubicBezTo>
                    <a:pt x="20691" y="6790"/>
                    <a:pt x="20761" y="6750"/>
                    <a:pt x="20831" y="6710"/>
                  </a:cubicBezTo>
                  <a:cubicBezTo>
                    <a:pt x="20901" y="6671"/>
                    <a:pt x="20901" y="6631"/>
                    <a:pt x="20901" y="6591"/>
                  </a:cubicBezTo>
                  <a:cubicBezTo>
                    <a:pt x="20901" y="6591"/>
                    <a:pt x="20971" y="6591"/>
                    <a:pt x="20971" y="6551"/>
                  </a:cubicBezTo>
                  <a:cubicBezTo>
                    <a:pt x="20971" y="6551"/>
                    <a:pt x="20971" y="6551"/>
                    <a:pt x="20971" y="6551"/>
                  </a:cubicBezTo>
                  <a:cubicBezTo>
                    <a:pt x="21041" y="6512"/>
                    <a:pt x="21041" y="6472"/>
                    <a:pt x="21111" y="6472"/>
                  </a:cubicBezTo>
                  <a:cubicBezTo>
                    <a:pt x="21111" y="6432"/>
                    <a:pt x="21111" y="6432"/>
                    <a:pt x="21111" y="6432"/>
                  </a:cubicBezTo>
                  <a:cubicBezTo>
                    <a:pt x="21111" y="6393"/>
                    <a:pt x="21181" y="6353"/>
                    <a:pt x="21181" y="6313"/>
                  </a:cubicBezTo>
                  <a:cubicBezTo>
                    <a:pt x="21181" y="6234"/>
                    <a:pt x="21181" y="6194"/>
                    <a:pt x="21111" y="6154"/>
                  </a:cubicBezTo>
                  <a:cubicBezTo>
                    <a:pt x="21111" y="6154"/>
                    <a:pt x="21111" y="6154"/>
                    <a:pt x="21111" y="6154"/>
                  </a:cubicBezTo>
                  <a:cubicBezTo>
                    <a:pt x="21041" y="6115"/>
                    <a:pt x="21111" y="6075"/>
                    <a:pt x="21181" y="6035"/>
                  </a:cubicBezTo>
                  <a:cubicBezTo>
                    <a:pt x="21181" y="6035"/>
                    <a:pt x="21181" y="6035"/>
                    <a:pt x="21181" y="6035"/>
                  </a:cubicBezTo>
                  <a:cubicBezTo>
                    <a:pt x="21250" y="5996"/>
                    <a:pt x="21250" y="5996"/>
                    <a:pt x="21320" y="5916"/>
                  </a:cubicBezTo>
                  <a:cubicBezTo>
                    <a:pt x="21320" y="5916"/>
                    <a:pt x="21320" y="5916"/>
                    <a:pt x="21320" y="5916"/>
                  </a:cubicBezTo>
                  <a:cubicBezTo>
                    <a:pt x="21320" y="5876"/>
                    <a:pt x="21320" y="5837"/>
                    <a:pt x="21390" y="5837"/>
                  </a:cubicBezTo>
                  <a:cubicBezTo>
                    <a:pt x="21460" y="5757"/>
                    <a:pt x="21530" y="5678"/>
                    <a:pt x="21530" y="5599"/>
                  </a:cubicBezTo>
                  <a:cubicBezTo>
                    <a:pt x="21530" y="5559"/>
                    <a:pt x="21530" y="5519"/>
                    <a:pt x="21530" y="5479"/>
                  </a:cubicBezTo>
                  <a:cubicBezTo>
                    <a:pt x="21530" y="5440"/>
                    <a:pt x="21530" y="5440"/>
                    <a:pt x="21530" y="536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65" name="Shape">
              <a:extLst>
                <a:ext uri="{FF2B5EF4-FFF2-40B4-BE49-F238E27FC236}">
                  <a16:creationId xmlns:a16="http://schemas.microsoft.com/office/drawing/2014/main" id="{39D35F07-86FF-DE43-812C-7A9DA4C26A65}"/>
                </a:ext>
              </a:extLst>
            </p:cNvPr>
            <p:cNvSpPr/>
            <p:nvPr/>
          </p:nvSpPr>
          <p:spPr>
            <a:xfrm>
              <a:off x="6247958" y="7452663"/>
              <a:ext cx="148020" cy="193525"/>
            </a:xfrm>
            <a:custGeom>
              <a:avLst/>
              <a:gdLst/>
              <a:ahLst/>
              <a:cxnLst>
                <a:cxn ang="0">
                  <a:pos x="wd2" y="hd2"/>
                </a:cxn>
                <a:cxn ang="5400000">
                  <a:pos x="wd2" y="hd2"/>
                </a:cxn>
                <a:cxn ang="10800000">
                  <a:pos x="wd2" y="hd2"/>
                </a:cxn>
                <a:cxn ang="16200000">
                  <a:pos x="wd2" y="hd2"/>
                </a:cxn>
              </a:cxnLst>
              <a:rect l="0" t="0" r="r" b="b"/>
              <a:pathLst>
                <a:path w="21600" h="21600" extrusionOk="0">
                  <a:moveTo>
                    <a:pt x="21032" y="9200"/>
                  </a:moveTo>
                  <a:cubicBezTo>
                    <a:pt x="21032" y="8800"/>
                    <a:pt x="21032" y="8000"/>
                    <a:pt x="21600" y="7600"/>
                  </a:cubicBezTo>
                  <a:cubicBezTo>
                    <a:pt x="21600" y="6400"/>
                    <a:pt x="21600" y="5200"/>
                    <a:pt x="20463" y="4400"/>
                  </a:cubicBezTo>
                  <a:cubicBezTo>
                    <a:pt x="19326" y="3600"/>
                    <a:pt x="18758" y="3600"/>
                    <a:pt x="17621" y="3200"/>
                  </a:cubicBezTo>
                  <a:cubicBezTo>
                    <a:pt x="15916" y="2800"/>
                    <a:pt x="14779" y="2400"/>
                    <a:pt x="13642" y="1600"/>
                  </a:cubicBezTo>
                  <a:cubicBezTo>
                    <a:pt x="13074" y="1200"/>
                    <a:pt x="13074" y="1200"/>
                    <a:pt x="13074" y="800"/>
                  </a:cubicBezTo>
                  <a:cubicBezTo>
                    <a:pt x="12505" y="400"/>
                    <a:pt x="11937" y="400"/>
                    <a:pt x="11937" y="0"/>
                  </a:cubicBezTo>
                  <a:cubicBezTo>
                    <a:pt x="10800" y="0"/>
                    <a:pt x="10800" y="0"/>
                    <a:pt x="10800" y="0"/>
                  </a:cubicBezTo>
                  <a:cubicBezTo>
                    <a:pt x="10800" y="0"/>
                    <a:pt x="10800" y="0"/>
                    <a:pt x="10800" y="0"/>
                  </a:cubicBezTo>
                  <a:cubicBezTo>
                    <a:pt x="10232" y="400"/>
                    <a:pt x="9663" y="400"/>
                    <a:pt x="9095" y="800"/>
                  </a:cubicBezTo>
                  <a:cubicBezTo>
                    <a:pt x="7389" y="2000"/>
                    <a:pt x="6253" y="3200"/>
                    <a:pt x="5116" y="4400"/>
                  </a:cubicBezTo>
                  <a:cubicBezTo>
                    <a:pt x="4547" y="5200"/>
                    <a:pt x="3979" y="6000"/>
                    <a:pt x="2842" y="6800"/>
                  </a:cubicBezTo>
                  <a:cubicBezTo>
                    <a:pt x="1137" y="8400"/>
                    <a:pt x="0" y="10000"/>
                    <a:pt x="0" y="12000"/>
                  </a:cubicBezTo>
                  <a:cubicBezTo>
                    <a:pt x="0" y="12400"/>
                    <a:pt x="0" y="12400"/>
                    <a:pt x="0" y="12400"/>
                  </a:cubicBezTo>
                  <a:cubicBezTo>
                    <a:pt x="0" y="13200"/>
                    <a:pt x="0" y="13600"/>
                    <a:pt x="1137" y="14000"/>
                  </a:cubicBezTo>
                  <a:cubicBezTo>
                    <a:pt x="1137" y="14400"/>
                    <a:pt x="1137" y="14400"/>
                    <a:pt x="1137" y="14400"/>
                  </a:cubicBezTo>
                  <a:cubicBezTo>
                    <a:pt x="1137" y="14400"/>
                    <a:pt x="1137" y="14400"/>
                    <a:pt x="1137" y="14400"/>
                  </a:cubicBezTo>
                  <a:cubicBezTo>
                    <a:pt x="1705" y="14400"/>
                    <a:pt x="2842" y="14800"/>
                    <a:pt x="3411" y="14800"/>
                  </a:cubicBezTo>
                  <a:cubicBezTo>
                    <a:pt x="3411" y="14800"/>
                    <a:pt x="3411" y="14800"/>
                    <a:pt x="3411" y="14800"/>
                  </a:cubicBezTo>
                  <a:cubicBezTo>
                    <a:pt x="3979" y="14400"/>
                    <a:pt x="3979" y="14400"/>
                    <a:pt x="3979" y="14400"/>
                  </a:cubicBezTo>
                  <a:cubicBezTo>
                    <a:pt x="3979" y="15200"/>
                    <a:pt x="3979" y="15200"/>
                    <a:pt x="3979" y="15200"/>
                  </a:cubicBezTo>
                  <a:cubicBezTo>
                    <a:pt x="3979" y="17200"/>
                    <a:pt x="3979" y="17600"/>
                    <a:pt x="6253" y="19200"/>
                  </a:cubicBezTo>
                  <a:cubicBezTo>
                    <a:pt x="6253" y="19600"/>
                    <a:pt x="6253" y="19600"/>
                    <a:pt x="6253" y="19600"/>
                  </a:cubicBezTo>
                  <a:cubicBezTo>
                    <a:pt x="6253" y="20000"/>
                    <a:pt x="6253" y="20000"/>
                    <a:pt x="6253" y="20000"/>
                  </a:cubicBezTo>
                  <a:cubicBezTo>
                    <a:pt x="6821" y="20400"/>
                    <a:pt x="6821" y="20400"/>
                    <a:pt x="6821" y="20400"/>
                  </a:cubicBezTo>
                  <a:cubicBezTo>
                    <a:pt x="6821" y="20400"/>
                    <a:pt x="7389" y="20400"/>
                    <a:pt x="7389" y="20400"/>
                  </a:cubicBezTo>
                  <a:cubicBezTo>
                    <a:pt x="7958" y="20400"/>
                    <a:pt x="7958" y="20400"/>
                    <a:pt x="8526" y="20400"/>
                  </a:cubicBezTo>
                  <a:cubicBezTo>
                    <a:pt x="9095" y="20400"/>
                    <a:pt x="9095" y="20400"/>
                    <a:pt x="9663" y="20400"/>
                  </a:cubicBezTo>
                  <a:cubicBezTo>
                    <a:pt x="9663" y="20400"/>
                    <a:pt x="9663" y="20400"/>
                    <a:pt x="10232" y="20400"/>
                  </a:cubicBezTo>
                  <a:cubicBezTo>
                    <a:pt x="10232" y="20400"/>
                    <a:pt x="10232" y="20400"/>
                    <a:pt x="10800" y="20400"/>
                  </a:cubicBezTo>
                  <a:cubicBezTo>
                    <a:pt x="11368" y="20800"/>
                    <a:pt x="11937" y="20800"/>
                    <a:pt x="13074" y="21200"/>
                  </a:cubicBezTo>
                  <a:cubicBezTo>
                    <a:pt x="14211" y="21200"/>
                    <a:pt x="15347" y="21600"/>
                    <a:pt x="16484" y="21600"/>
                  </a:cubicBezTo>
                  <a:cubicBezTo>
                    <a:pt x="17053" y="21600"/>
                    <a:pt x="17621" y="21600"/>
                    <a:pt x="18189" y="21200"/>
                  </a:cubicBezTo>
                  <a:cubicBezTo>
                    <a:pt x="19326" y="20800"/>
                    <a:pt x="19326" y="19600"/>
                    <a:pt x="19895" y="17200"/>
                  </a:cubicBezTo>
                  <a:cubicBezTo>
                    <a:pt x="20463" y="16400"/>
                    <a:pt x="20463" y="15600"/>
                    <a:pt x="20463" y="15200"/>
                  </a:cubicBezTo>
                  <a:cubicBezTo>
                    <a:pt x="21600" y="13200"/>
                    <a:pt x="21600" y="11600"/>
                    <a:pt x="21032" y="9600"/>
                  </a:cubicBezTo>
                  <a:lnTo>
                    <a:pt x="21032" y="9200"/>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66" name="Shape">
              <a:extLst>
                <a:ext uri="{FF2B5EF4-FFF2-40B4-BE49-F238E27FC236}">
                  <a16:creationId xmlns:a16="http://schemas.microsoft.com/office/drawing/2014/main" id="{7D904840-494D-F149-9EB0-24245CAC49A3}"/>
                </a:ext>
              </a:extLst>
            </p:cNvPr>
            <p:cNvSpPr/>
            <p:nvPr/>
          </p:nvSpPr>
          <p:spPr>
            <a:xfrm>
              <a:off x="990119" y="3062819"/>
              <a:ext cx="83524" cy="45419"/>
            </a:xfrm>
            <a:custGeom>
              <a:avLst/>
              <a:gdLst/>
              <a:ahLst/>
              <a:cxnLst>
                <a:cxn ang="0">
                  <a:pos x="wd2" y="hd2"/>
                </a:cxn>
                <a:cxn ang="5400000">
                  <a:pos x="wd2" y="hd2"/>
                </a:cxn>
                <a:cxn ang="10800000">
                  <a:pos x="wd2" y="hd2"/>
                </a:cxn>
                <a:cxn ang="16200000">
                  <a:pos x="wd2" y="hd2"/>
                </a:cxn>
              </a:cxnLst>
              <a:rect l="0" t="0" r="r" b="b"/>
              <a:pathLst>
                <a:path w="21025" h="21600" extrusionOk="0">
                  <a:moveTo>
                    <a:pt x="18655" y="0"/>
                  </a:moveTo>
                  <a:cubicBezTo>
                    <a:pt x="18655" y="0"/>
                    <a:pt x="17673" y="0"/>
                    <a:pt x="17673" y="0"/>
                  </a:cubicBezTo>
                  <a:cubicBezTo>
                    <a:pt x="15709" y="0"/>
                    <a:pt x="13745" y="1662"/>
                    <a:pt x="12764" y="3323"/>
                  </a:cubicBezTo>
                  <a:cubicBezTo>
                    <a:pt x="12764" y="4985"/>
                    <a:pt x="11782" y="6646"/>
                    <a:pt x="10800" y="6646"/>
                  </a:cubicBezTo>
                  <a:cubicBezTo>
                    <a:pt x="10800" y="6646"/>
                    <a:pt x="10800" y="6646"/>
                    <a:pt x="10800" y="6646"/>
                  </a:cubicBezTo>
                  <a:cubicBezTo>
                    <a:pt x="9818" y="6646"/>
                    <a:pt x="9818" y="4985"/>
                    <a:pt x="8836" y="4985"/>
                  </a:cubicBezTo>
                  <a:cubicBezTo>
                    <a:pt x="7855" y="1662"/>
                    <a:pt x="5891" y="0"/>
                    <a:pt x="3927" y="0"/>
                  </a:cubicBezTo>
                  <a:cubicBezTo>
                    <a:pt x="2945" y="0"/>
                    <a:pt x="2945" y="0"/>
                    <a:pt x="1964" y="0"/>
                  </a:cubicBezTo>
                  <a:cubicBezTo>
                    <a:pt x="982" y="1662"/>
                    <a:pt x="0" y="3323"/>
                    <a:pt x="0" y="4985"/>
                  </a:cubicBezTo>
                  <a:cubicBezTo>
                    <a:pt x="0" y="9969"/>
                    <a:pt x="1964" y="18277"/>
                    <a:pt x="2945" y="19938"/>
                  </a:cubicBezTo>
                  <a:cubicBezTo>
                    <a:pt x="3927" y="21600"/>
                    <a:pt x="5891" y="21600"/>
                    <a:pt x="6873" y="21600"/>
                  </a:cubicBezTo>
                  <a:cubicBezTo>
                    <a:pt x="8836" y="21600"/>
                    <a:pt x="11782" y="19938"/>
                    <a:pt x="13745" y="18277"/>
                  </a:cubicBezTo>
                  <a:cubicBezTo>
                    <a:pt x="13745" y="18277"/>
                    <a:pt x="14727" y="16615"/>
                    <a:pt x="14727" y="16615"/>
                  </a:cubicBezTo>
                  <a:cubicBezTo>
                    <a:pt x="15709" y="16615"/>
                    <a:pt x="15709" y="16615"/>
                    <a:pt x="15709" y="16615"/>
                  </a:cubicBezTo>
                  <a:cubicBezTo>
                    <a:pt x="16691" y="14954"/>
                    <a:pt x="17673" y="14954"/>
                    <a:pt x="19636" y="11631"/>
                  </a:cubicBezTo>
                  <a:cubicBezTo>
                    <a:pt x="20618" y="8308"/>
                    <a:pt x="21600" y="6646"/>
                    <a:pt x="20618" y="3323"/>
                  </a:cubicBezTo>
                  <a:cubicBezTo>
                    <a:pt x="20618" y="1662"/>
                    <a:pt x="19636" y="0"/>
                    <a:pt x="18655" y="0"/>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67" name="Shape">
              <a:extLst>
                <a:ext uri="{FF2B5EF4-FFF2-40B4-BE49-F238E27FC236}">
                  <a16:creationId xmlns:a16="http://schemas.microsoft.com/office/drawing/2014/main" id="{EDA2FC96-CCBB-794B-9ED6-667DECBE3D7A}"/>
                </a:ext>
              </a:extLst>
            </p:cNvPr>
            <p:cNvSpPr/>
            <p:nvPr/>
          </p:nvSpPr>
          <p:spPr>
            <a:xfrm>
              <a:off x="964378" y="2908790"/>
              <a:ext cx="335826" cy="195500"/>
            </a:xfrm>
            <a:custGeom>
              <a:avLst/>
              <a:gdLst/>
              <a:ahLst/>
              <a:cxnLst>
                <a:cxn ang="0">
                  <a:pos x="wd2" y="hd2"/>
                </a:cxn>
                <a:cxn ang="5400000">
                  <a:pos x="wd2" y="hd2"/>
                </a:cxn>
                <a:cxn ang="10800000">
                  <a:pos x="wd2" y="hd2"/>
                </a:cxn>
                <a:cxn ang="16200000">
                  <a:pos x="wd2" y="hd2"/>
                </a:cxn>
              </a:cxnLst>
              <a:rect l="0" t="0" r="r" b="b"/>
              <a:pathLst>
                <a:path w="21538" h="21600" extrusionOk="0">
                  <a:moveTo>
                    <a:pt x="20359" y="5498"/>
                  </a:moveTo>
                  <a:cubicBezTo>
                    <a:pt x="20855" y="5105"/>
                    <a:pt x="21352" y="5105"/>
                    <a:pt x="21352" y="4320"/>
                  </a:cubicBezTo>
                  <a:cubicBezTo>
                    <a:pt x="21600" y="3535"/>
                    <a:pt x="21600" y="2356"/>
                    <a:pt x="21352" y="1571"/>
                  </a:cubicBezTo>
                  <a:cubicBezTo>
                    <a:pt x="21352" y="1178"/>
                    <a:pt x="21352" y="1178"/>
                    <a:pt x="21352" y="785"/>
                  </a:cubicBezTo>
                  <a:cubicBezTo>
                    <a:pt x="21352" y="0"/>
                    <a:pt x="21352" y="0"/>
                    <a:pt x="21352" y="0"/>
                  </a:cubicBezTo>
                  <a:cubicBezTo>
                    <a:pt x="20855" y="0"/>
                    <a:pt x="20855" y="0"/>
                    <a:pt x="20855" y="0"/>
                  </a:cubicBezTo>
                  <a:cubicBezTo>
                    <a:pt x="20110" y="0"/>
                    <a:pt x="19117" y="0"/>
                    <a:pt x="18372" y="0"/>
                  </a:cubicBezTo>
                  <a:cubicBezTo>
                    <a:pt x="17379" y="0"/>
                    <a:pt x="16634" y="0"/>
                    <a:pt x="15641" y="0"/>
                  </a:cubicBezTo>
                  <a:cubicBezTo>
                    <a:pt x="14400" y="0"/>
                    <a:pt x="13407" y="0"/>
                    <a:pt x="12166" y="0"/>
                  </a:cubicBezTo>
                  <a:cubicBezTo>
                    <a:pt x="10179" y="0"/>
                    <a:pt x="10179" y="0"/>
                    <a:pt x="10179" y="0"/>
                  </a:cubicBezTo>
                  <a:cubicBezTo>
                    <a:pt x="9931" y="393"/>
                    <a:pt x="9931" y="393"/>
                    <a:pt x="9931" y="393"/>
                  </a:cubicBezTo>
                  <a:cubicBezTo>
                    <a:pt x="9434" y="1178"/>
                    <a:pt x="8690" y="1964"/>
                    <a:pt x="8193" y="2356"/>
                  </a:cubicBezTo>
                  <a:cubicBezTo>
                    <a:pt x="7697" y="2749"/>
                    <a:pt x="7200" y="2749"/>
                    <a:pt x="6455" y="2749"/>
                  </a:cubicBezTo>
                  <a:cubicBezTo>
                    <a:pt x="6207" y="2749"/>
                    <a:pt x="5710" y="2749"/>
                    <a:pt x="5214" y="2749"/>
                  </a:cubicBezTo>
                  <a:cubicBezTo>
                    <a:pt x="4966" y="2749"/>
                    <a:pt x="4469" y="2749"/>
                    <a:pt x="3972" y="2749"/>
                  </a:cubicBezTo>
                  <a:cubicBezTo>
                    <a:pt x="3724" y="2749"/>
                    <a:pt x="3476" y="2749"/>
                    <a:pt x="2979" y="2749"/>
                  </a:cubicBezTo>
                  <a:cubicBezTo>
                    <a:pt x="2234" y="3142"/>
                    <a:pt x="1490" y="3142"/>
                    <a:pt x="745" y="3927"/>
                  </a:cubicBezTo>
                  <a:cubicBezTo>
                    <a:pt x="745" y="3927"/>
                    <a:pt x="497" y="4320"/>
                    <a:pt x="248" y="4320"/>
                  </a:cubicBezTo>
                  <a:cubicBezTo>
                    <a:pt x="0" y="5105"/>
                    <a:pt x="0" y="5105"/>
                    <a:pt x="0" y="5105"/>
                  </a:cubicBezTo>
                  <a:cubicBezTo>
                    <a:pt x="248" y="5891"/>
                    <a:pt x="248" y="5891"/>
                    <a:pt x="248" y="5891"/>
                  </a:cubicBezTo>
                  <a:cubicBezTo>
                    <a:pt x="497" y="6284"/>
                    <a:pt x="993" y="6676"/>
                    <a:pt x="1490" y="7069"/>
                  </a:cubicBezTo>
                  <a:cubicBezTo>
                    <a:pt x="1490" y="7069"/>
                    <a:pt x="1490" y="7069"/>
                    <a:pt x="1490" y="7069"/>
                  </a:cubicBezTo>
                  <a:cubicBezTo>
                    <a:pt x="1490" y="7462"/>
                    <a:pt x="1490" y="7855"/>
                    <a:pt x="1738" y="8640"/>
                  </a:cubicBezTo>
                  <a:cubicBezTo>
                    <a:pt x="1986" y="9425"/>
                    <a:pt x="2483" y="9818"/>
                    <a:pt x="2979" y="10211"/>
                  </a:cubicBezTo>
                  <a:cubicBezTo>
                    <a:pt x="2979" y="10604"/>
                    <a:pt x="3228" y="10996"/>
                    <a:pt x="3228" y="11389"/>
                  </a:cubicBezTo>
                  <a:cubicBezTo>
                    <a:pt x="3476" y="11782"/>
                    <a:pt x="3724" y="11782"/>
                    <a:pt x="3972" y="11782"/>
                  </a:cubicBezTo>
                  <a:cubicBezTo>
                    <a:pt x="3972" y="12567"/>
                    <a:pt x="3972" y="13745"/>
                    <a:pt x="4717" y="13745"/>
                  </a:cubicBezTo>
                  <a:cubicBezTo>
                    <a:pt x="4717" y="14138"/>
                    <a:pt x="4717" y="13745"/>
                    <a:pt x="4717" y="14138"/>
                  </a:cubicBezTo>
                  <a:cubicBezTo>
                    <a:pt x="4717" y="14138"/>
                    <a:pt x="4717" y="14138"/>
                    <a:pt x="4717" y="14138"/>
                  </a:cubicBezTo>
                  <a:cubicBezTo>
                    <a:pt x="4717" y="14138"/>
                    <a:pt x="4717" y="14138"/>
                    <a:pt x="4469" y="14138"/>
                  </a:cubicBezTo>
                  <a:cubicBezTo>
                    <a:pt x="3972" y="14138"/>
                    <a:pt x="3724" y="16102"/>
                    <a:pt x="4469" y="16102"/>
                  </a:cubicBezTo>
                  <a:cubicBezTo>
                    <a:pt x="4469" y="16102"/>
                    <a:pt x="4469" y="16102"/>
                    <a:pt x="4469" y="16102"/>
                  </a:cubicBezTo>
                  <a:cubicBezTo>
                    <a:pt x="4469" y="16887"/>
                    <a:pt x="4469" y="16887"/>
                    <a:pt x="4469" y="16887"/>
                  </a:cubicBezTo>
                  <a:cubicBezTo>
                    <a:pt x="4966" y="16887"/>
                    <a:pt x="5214" y="16887"/>
                    <a:pt x="5462" y="16495"/>
                  </a:cubicBezTo>
                  <a:cubicBezTo>
                    <a:pt x="5710" y="16102"/>
                    <a:pt x="5710" y="15316"/>
                    <a:pt x="5710" y="14924"/>
                  </a:cubicBezTo>
                  <a:cubicBezTo>
                    <a:pt x="5710" y="14531"/>
                    <a:pt x="5710" y="14138"/>
                    <a:pt x="5462" y="13745"/>
                  </a:cubicBezTo>
                  <a:cubicBezTo>
                    <a:pt x="5710" y="13353"/>
                    <a:pt x="5959" y="12567"/>
                    <a:pt x="5959" y="12175"/>
                  </a:cubicBezTo>
                  <a:cubicBezTo>
                    <a:pt x="6207" y="12175"/>
                    <a:pt x="6455" y="11782"/>
                    <a:pt x="6703" y="11782"/>
                  </a:cubicBezTo>
                  <a:cubicBezTo>
                    <a:pt x="6703" y="11389"/>
                    <a:pt x="6952" y="11389"/>
                    <a:pt x="6952" y="10996"/>
                  </a:cubicBezTo>
                  <a:cubicBezTo>
                    <a:pt x="7200" y="10996"/>
                    <a:pt x="7200" y="10996"/>
                    <a:pt x="7448" y="10996"/>
                  </a:cubicBezTo>
                  <a:cubicBezTo>
                    <a:pt x="7448" y="10996"/>
                    <a:pt x="7448" y="10996"/>
                    <a:pt x="7448" y="10996"/>
                  </a:cubicBezTo>
                  <a:cubicBezTo>
                    <a:pt x="7448" y="10996"/>
                    <a:pt x="7697" y="10996"/>
                    <a:pt x="7697" y="10996"/>
                  </a:cubicBezTo>
                  <a:cubicBezTo>
                    <a:pt x="7697" y="11389"/>
                    <a:pt x="7448" y="11389"/>
                    <a:pt x="7448" y="11782"/>
                  </a:cubicBezTo>
                  <a:cubicBezTo>
                    <a:pt x="7448" y="12175"/>
                    <a:pt x="7200" y="12567"/>
                    <a:pt x="7697" y="13353"/>
                  </a:cubicBezTo>
                  <a:cubicBezTo>
                    <a:pt x="7697" y="13745"/>
                    <a:pt x="7945" y="14138"/>
                    <a:pt x="8193" y="14138"/>
                  </a:cubicBezTo>
                  <a:cubicBezTo>
                    <a:pt x="7945" y="14138"/>
                    <a:pt x="7945" y="14138"/>
                    <a:pt x="7945" y="14531"/>
                  </a:cubicBezTo>
                  <a:cubicBezTo>
                    <a:pt x="7945" y="14531"/>
                    <a:pt x="7697" y="14924"/>
                    <a:pt x="7697" y="15709"/>
                  </a:cubicBezTo>
                  <a:cubicBezTo>
                    <a:pt x="7697" y="15709"/>
                    <a:pt x="7945" y="16102"/>
                    <a:pt x="7945" y="16102"/>
                  </a:cubicBezTo>
                  <a:cubicBezTo>
                    <a:pt x="7945" y="16495"/>
                    <a:pt x="7945" y="16495"/>
                    <a:pt x="7945" y="16495"/>
                  </a:cubicBezTo>
                  <a:cubicBezTo>
                    <a:pt x="7697" y="18065"/>
                    <a:pt x="8441" y="18458"/>
                    <a:pt x="8938" y="18851"/>
                  </a:cubicBezTo>
                  <a:cubicBezTo>
                    <a:pt x="9186" y="19244"/>
                    <a:pt x="9186" y="19244"/>
                    <a:pt x="9186" y="19244"/>
                  </a:cubicBezTo>
                  <a:cubicBezTo>
                    <a:pt x="9434" y="19244"/>
                    <a:pt x="9683" y="19636"/>
                    <a:pt x="9683" y="20422"/>
                  </a:cubicBezTo>
                  <a:cubicBezTo>
                    <a:pt x="9931" y="20815"/>
                    <a:pt x="9931" y="20815"/>
                    <a:pt x="9931" y="20815"/>
                  </a:cubicBezTo>
                  <a:cubicBezTo>
                    <a:pt x="10428" y="20815"/>
                    <a:pt x="10428" y="20815"/>
                    <a:pt x="10428" y="20815"/>
                  </a:cubicBezTo>
                  <a:cubicBezTo>
                    <a:pt x="10428" y="20815"/>
                    <a:pt x="10428" y="20815"/>
                    <a:pt x="10924" y="21207"/>
                  </a:cubicBezTo>
                  <a:cubicBezTo>
                    <a:pt x="11172" y="21600"/>
                    <a:pt x="11172" y="21600"/>
                    <a:pt x="11172" y="21600"/>
                  </a:cubicBezTo>
                  <a:cubicBezTo>
                    <a:pt x="11421" y="21207"/>
                    <a:pt x="11421" y="21207"/>
                    <a:pt x="11421" y="21207"/>
                  </a:cubicBezTo>
                  <a:cubicBezTo>
                    <a:pt x="11917" y="20815"/>
                    <a:pt x="12166" y="20029"/>
                    <a:pt x="12414" y="19244"/>
                  </a:cubicBezTo>
                  <a:cubicBezTo>
                    <a:pt x="12662" y="19244"/>
                    <a:pt x="12662" y="18851"/>
                    <a:pt x="12910" y="18065"/>
                  </a:cubicBezTo>
                  <a:cubicBezTo>
                    <a:pt x="13159" y="17673"/>
                    <a:pt x="13159" y="16887"/>
                    <a:pt x="13655" y="16495"/>
                  </a:cubicBezTo>
                  <a:cubicBezTo>
                    <a:pt x="14152" y="15709"/>
                    <a:pt x="14648" y="15316"/>
                    <a:pt x="15145" y="14924"/>
                  </a:cubicBezTo>
                  <a:cubicBezTo>
                    <a:pt x="15641" y="14531"/>
                    <a:pt x="16138" y="14531"/>
                    <a:pt x="16386" y="14138"/>
                  </a:cubicBezTo>
                  <a:cubicBezTo>
                    <a:pt x="16634" y="13745"/>
                    <a:pt x="16883" y="13745"/>
                    <a:pt x="17131" y="13745"/>
                  </a:cubicBezTo>
                  <a:cubicBezTo>
                    <a:pt x="17379" y="13353"/>
                    <a:pt x="18124" y="13353"/>
                    <a:pt x="18621" y="13353"/>
                  </a:cubicBezTo>
                  <a:cubicBezTo>
                    <a:pt x="19614" y="12960"/>
                    <a:pt x="20855" y="12960"/>
                    <a:pt x="21103" y="11782"/>
                  </a:cubicBezTo>
                  <a:cubicBezTo>
                    <a:pt x="21352" y="10604"/>
                    <a:pt x="21352" y="9033"/>
                    <a:pt x="20855" y="8247"/>
                  </a:cubicBezTo>
                  <a:cubicBezTo>
                    <a:pt x="20607" y="8247"/>
                    <a:pt x="20359" y="7855"/>
                    <a:pt x="20110" y="7855"/>
                  </a:cubicBezTo>
                  <a:cubicBezTo>
                    <a:pt x="19614" y="7462"/>
                    <a:pt x="19366" y="7069"/>
                    <a:pt x="19614" y="6284"/>
                  </a:cubicBezTo>
                  <a:cubicBezTo>
                    <a:pt x="19614" y="5891"/>
                    <a:pt x="19862" y="5498"/>
                    <a:pt x="20359" y="5498"/>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68" name="Shape">
              <a:extLst>
                <a:ext uri="{FF2B5EF4-FFF2-40B4-BE49-F238E27FC236}">
                  <a16:creationId xmlns:a16="http://schemas.microsoft.com/office/drawing/2014/main" id="{D4D0D644-7C88-F743-B43D-CAC399C05199}"/>
                </a:ext>
              </a:extLst>
            </p:cNvPr>
            <p:cNvSpPr/>
            <p:nvPr/>
          </p:nvSpPr>
          <p:spPr>
            <a:xfrm>
              <a:off x="939349" y="2772533"/>
              <a:ext cx="355389" cy="98739"/>
            </a:xfrm>
            <a:custGeom>
              <a:avLst/>
              <a:gdLst/>
              <a:ahLst/>
              <a:cxnLst>
                <a:cxn ang="0">
                  <a:pos x="wd2" y="hd2"/>
                </a:cxn>
                <a:cxn ang="5400000">
                  <a:pos x="wd2" y="hd2"/>
                </a:cxn>
                <a:cxn ang="10800000">
                  <a:pos x="wd2" y="hd2"/>
                </a:cxn>
                <a:cxn ang="16200000">
                  <a:pos x="wd2" y="hd2"/>
                </a:cxn>
              </a:cxnLst>
              <a:rect l="0" t="0" r="r" b="b"/>
              <a:pathLst>
                <a:path w="21428" h="21600" extrusionOk="0">
                  <a:moveTo>
                    <a:pt x="21193" y="7714"/>
                  </a:moveTo>
                  <a:cubicBezTo>
                    <a:pt x="20958" y="7714"/>
                    <a:pt x="20958" y="7714"/>
                    <a:pt x="20724" y="6943"/>
                  </a:cubicBezTo>
                  <a:cubicBezTo>
                    <a:pt x="20489" y="6171"/>
                    <a:pt x="20254" y="6171"/>
                    <a:pt x="20019" y="6171"/>
                  </a:cubicBezTo>
                  <a:cubicBezTo>
                    <a:pt x="19785" y="6171"/>
                    <a:pt x="19550" y="6171"/>
                    <a:pt x="19315" y="6171"/>
                  </a:cubicBezTo>
                  <a:cubicBezTo>
                    <a:pt x="19315" y="6943"/>
                    <a:pt x="19080" y="6943"/>
                    <a:pt x="18845" y="6943"/>
                  </a:cubicBezTo>
                  <a:cubicBezTo>
                    <a:pt x="18376" y="8486"/>
                    <a:pt x="17906" y="9257"/>
                    <a:pt x="17437" y="9257"/>
                  </a:cubicBezTo>
                  <a:cubicBezTo>
                    <a:pt x="17437" y="9257"/>
                    <a:pt x="17437" y="9257"/>
                    <a:pt x="17202" y="9257"/>
                  </a:cubicBezTo>
                  <a:cubicBezTo>
                    <a:pt x="17202" y="8486"/>
                    <a:pt x="17202" y="7714"/>
                    <a:pt x="17202" y="6943"/>
                  </a:cubicBezTo>
                  <a:cubicBezTo>
                    <a:pt x="17202" y="6171"/>
                    <a:pt x="17202" y="6171"/>
                    <a:pt x="16967" y="5400"/>
                  </a:cubicBezTo>
                  <a:cubicBezTo>
                    <a:pt x="16967" y="4629"/>
                    <a:pt x="16732" y="3857"/>
                    <a:pt x="16263" y="3086"/>
                  </a:cubicBezTo>
                  <a:cubicBezTo>
                    <a:pt x="16263" y="3086"/>
                    <a:pt x="16028" y="3086"/>
                    <a:pt x="16028" y="3086"/>
                  </a:cubicBezTo>
                  <a:cubicBezTo>
                    <a:pt x="15793" y="3086"/>
                    <a:pt x="15558" y="3857"/>
                    <a:pt x="15324" y="3857"/>
                  </a:cubicBezTo>
                  <a:cubicBezTo>
                    <a:pt x="15324" y="3857"/>
                    <a:pt x="15089" y="4629"/>
                    <a:pt x="14854" y="4629"/>
                  </a:cubicBezTo>
                  <a:cubicBezTo>
                    <a:pt x="14854" y="4629"/>
                    <a:pt x="14619" y="4629"/>
                    <a:pt x="14385" y="3086"/>
                  </a:cubicBezTo>
                  <a:cubicBezTo>
                    <a:pt x="13915" y="771"/>
                    <a:pt x="13680" y="0"/>
                    <a:pt x="12741" y="0"/>
                  </a:cubicBezTo>
                  <a:cubicBezTo>
                    <a:pt x="12506" y="0"/>
                    <a:pt x="12271" y="0"/>
                    <a:pt x="12271" y="0"/>
                  </a:cubicBezTo>
                  <a:cubicBezTo>
                    <a:pt x="11332" y="0"/>
                    <a:pt x="10863" y="771"/>
                    <a:pt x="10158" y="2314"/>
                  </a:cubicBezTo>
                  <a:cubicBezTo>
                    <a:pt x="9219" y="3857"/>
                    <a:pt x="8045" y="5400"/>
                    <a:pt x="6871" y="5400"/>
                  </a:cubicBezTo>
                  <a:cubicBezTo>
                    <a:pt x="6637" y="5400"/>
                    <a:pt x="6167" y="5400"/>
                    <a:pt x="5698" y="4629"/>
                  </a:cubicBezTo>
                  <a:cubicBezTo>
                    <a:pt x="4993" y="4629"/>
                    <a:pt x="3585" y="3857"/>
                    <a:pt x="2176" y="3857"/>
                  </a:cubicBezTo>
                  <a:cubicBezTo>
                    <a:pt x="1941" y="3857"/>
                    <a:pt x="1706" y="3857"/>
                    <a:pt x="1471" y="3857"/>
                  </a:cubicBezTo>
                  <a:cubicBezTo>
                    <a:pt x="1002" y="3857"/>
                    <a:pt x="1002" y="3857"/>
                    <a:pt x="1002" y="3857"/>
                  </a:cubicBezTo>
                  <a:cubicBezTo>
                    <a:pt x="1002" y="3857"/>
                    <a:pt x="1002" y="6171"/>
                    <a:pt x="1002" y="6171"/>
                  </a:cubicBezTo>
                  <a:cubicBezTo>
                    <a:pt x="767" y="5400"/>
                    <a:pt x="767" y="5400"/>
                    <a:pt x="767" y="5400"/>
                  </a:cubicBezTo>
                  <a:cubicBezTo>
                    <a:pt x="767" y="6171"/>
                    <a:pt x="767" y="6171"/>
                    <a:pt x="767" y="6171"/>
                  </a:cubicBezTo>
                  <a:cubicBezTo>
                    <a:pt x="298" y="8486"/>
                    <a:pt x="-172" y="10800"/>
                    <a:pt x="63" y="13886"/>
                  </a:cubicBezTo>
                  <a:cubicBezTo>
                    <a:pt x="63" y="14657"/>
                    <a:pt x="63" y="14657"/>
                    <a:pt x="63" y="15429"/>
                  </a:cubicBezTo>
                  <a:cubicBezTo>
                    <a:pt x="63" y="16200"/>
                    <a:pt x="298" y="16200"/>
                    <a:pt x="298" y="16971"/>
                  </a:cubicBezTo>
                  <a:cubicBezTo>
                    <a:pt x="298" y="16971"/>
                    <a:pt x="298" y="17743"/>
                    <a:pt x="298" y="18514"/>
                  </a:cubicBezTo>
                  <a:cubicBezTo>
                    <a:pt x="298" y="21600"/>
                    <a:pt x="298" y="21600"/>
                    <a:pt x="298" y="21600"/>
                  </a:cubicBezTo>
                  <a:cubicBezTo>
                    <a:pt x="767" y="21600"/>
                    <a:pt x="767" y="21600"/>
                    <a:pt x="767" y="21600"/>
                  </a:cubicBezTo>
                  <a:cubicBezTo>
                    <a:pt x="1002" y="20829"/>
                    <a:pt x="1002" y="20829"/>
                    <a:pt x="1002" y="20829"/>
                  </a:cubicBezTo>
                  <a:cubicBezTo>
                    <a:pt x="1237" y="20829"/>
                    <a:pt x="1237" y="20829"/>
                    <a:pt x="1237" y="20829"/>
                  </a:cubicBezTo>
                  <a:cubicBezTo>
                    <a:pt x="1237" y="20057"/>
                    <a:pt x="1237" y="20057"/>
                    <a:pt x="1237" y="20057"/>
                  </a:cubicBezTo>
                  <a:cubicBezTo>
                    <a:pt x="1237" y="20057"/>
                    <a:pt x="1237" y="20057"/>
                    <a:pt x="1471" y="19286"/>
                  </a:cubicBezTo>
                  <a:cubicBezTo>
                    <a:pt x="1706" y="18514"/>
                    <a:pt x="1941" y="18514"/>
                    <a:pt x="2176" y="18514"/>
                  </a:cubicBezTo>
                  <a:cubicBezTo>
                    <a:pt x="2411" y="18514"/>
                    <a:pt x="2645" y="18514"/>
                    <a:pt x="2880" y="18514"/>
                  </a:cubicBezTo>
                  <a:cubicBezTo>
                    <a:pt x="2880" y="18514"/>
                    <a:pt x="2880" y="18514"/>
                    <a:pt x="3115" y="18514"/>
                  </a:cubicBezTo>
                  <a:cubicBezTo>
                    <a:pt x="3350" y="18514"/>
                    <a:pt x="3819" y="19286"/>
                    <a:pt x="4054" y="19286"/>
                  </a:cubicBezTo>
                  <a:cubicBezTo>
                    <a:pt x="4758" y="19286"/>
                    <a:pt x="5698" y="18514"/>
                    <a:pt x="6637" y="18514"/>
                  </a:cubicBezTo>
                  <a:cubicBezTo>
                    <a:pt x="7341" y="17743"/>
                    <a:pt x="7341" y="17743"/>
                    <a:pt x="7576" y="16200"/>
                  </a:cubicBezTo>
                  <a:cubicBezTo>
                    <a:pt x="7576" y="15429"/>
                    <a:pt x="7811" y="15429"/>
                    <a:pt x="7811" y="14657"/>
                  </a:cubicBezTo>
                  <a:cubicBezTo>
                    <a:pt x="8280" y="14657"/>
                    <a:pt x="8515" y="13886"/>
                    <a:pt x="8985" y="13886"/>
                  </a:cubicBezTo>
                  <a:cubicBezTo>
                    <a:pt x="9689" y="13886"/>
                    <a:pt x="10393" y="13114"/>
                    <a:pt x="11098" y="12343"/>
                  </a:cubicBezTo>
                  <a:cubicBezTo>
                    <a:pt x="11567" y="11571"/>
                    <a:pt x="11567" y="10800"/>
                    <a:pt x="11567" y="10029"/>
                  </a:cubicBezTo>
                  <a:cubicBezTo>
                    <a:pt x="11567" y="9257"/>
                    <a:pt x="11567" y="8486"/>
                    <a:pt x="11802" y="8486"/>
                  </a:cubicBezTo>
                  <a:cubicBezTo>
                    <a:pt x="12037" y="7714"/>
                    <a:pt x="12037" y="7714"/>
                    <a:pt x="12271" y="7714"/>
                  </a:cubicBezTo>
                  <a:cubicBezTo>
                    <a:pt x="12271" y="7714"/>
                    <a:pt x="12506" y="8486"/>
                    <a:pt x="12741" y="9257"/>
                  </a:cubicBezTo>
                  <a:cubicBezTo>
                    <a:pt x="12741" y="9257"/>
                    <a:pt x="12976" y="9257"/>
                    <a:pt x="12976" y="10029"/>
                  </a:cubicBezTo>
                  <a:cubicBezTo>
                    <a:pt x="13211" y="10029"/>
                    <a:pt x="13680" y="10800"/>
                    <a:pt x="13915" y="10800"/>
                  </a:cubicBezTo>
                  <a:cubicBezTo>
                    <a:pt x="14150" y="11571"/>
                    <a:pt x="14385" y="11571"/>
                    <a:pt x="14385" y="11571"/>
                  </a:cubicBezTo>
                  <a:cubicBezTo>
                    <a:pt x="14619" y="12343"/>
                    <a:pt x="15089" y="12343"/>
                    <a:pt x="15324" y="12343"/>
                  </a:cubicBezTo>
                  <a:cubicBezTo>
                    <a:pt x="15558" y="13114"/>
                    <a:pt x="15793" y="13114"/>
                    <a:pt x="16028" y="13114"/>
                  </a:cubicBezTo>
                  <a:cubicBezTo>
                    <a:pt x="16263" y="13886"/>
                    <a:pt x="16263" y="13886"/>
                    <a:pt x="16498" y="14657"/>
                  </a:cubicBezTo>
                  <a:cubicBezTo>
                    <a:pt x="16732" y="15429"/>
                    <a:pt x="17202" y="15429"/>
                    <a:pt x="17437" y="16200"/>
                  </a:cubicBezTo>
                  <a:cubicBezTo>
                    <a:pt x="17671" y="16200"/>
                    <a:pt x="17671" y="16200"/>
                    <a:pt x="17906" y="16200"/>
                  </a:cubicBezTo>
                  <a:cubicBezTo>
                    <a:pt x="18141" y="16200"/>
                    <a:pt x="18611" y="16200"/>
                    <a:pt x="19080" y="15429"/>
                  </a:cubicBezTo>
                  <a:cubicBezTo>
                    <a:pt x="19315" y="14657"/>
                    <a:pt x="19785" y="13886"/>
                    <a:pt x="20019" y="13886"/>
                  </a:cubicBezTo>
                  <a:cubicBezTo>
                    <a:pt x="20724" y="13114"/>
                    <a:pt x="21193" y="12343"/>
                    <a:pt x="21428" y="9257"/>
                  </a:cubicBezTo>
                  <a:cubicBezTo>
                    <a:pt x="21428" y="8486"/>
                    <a:pt x="21428" y="8486"/>
                    <a:pt x="21428" y="8486"/>
                  </a:cubicBezTo>
                  <a:lnTo>
                    <a:pt x="21193" y="7714"/>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69" name="Shape">
              <a:extLst>
                <a:ext uri="{FF2B5EF4-FFF2-40B4-BE49-F238E27FC236}">
                  <a16:creationId xmlns:a16="http://schemas.microsoft.com/office/drawing/2014/main" id="{714EFE5E-50FC-ED45-B277-7C333FCF8B11}"/>
                </a:ext>
              </a:extLst>
            </p:cNvPr>
            <p:cNvSpPr/>
            <p:nvPr/>
          </p:nvSpPr>
          <p:spPr>
            <a:xfrm>
              <a:off x="1138138" y="2908790"/>
              <a:ext cx="831360" cy="651665"/>
            </a:xfrm>
            <a:custGeom>
              <a:avLst/>
              <a:gdLst/>
              <a:ahLst/>
              <a:cxnLst>
                <a:cxn ang="0">
                  <a:pos x="wd2" y="hd2"/>
                </a:cxn>
                <a:cxn ang="5400000">
                  <a:pos x="wd2" y="hd2"/>
                </a:cxn>
                <a:cxn ang="10800000">
                  <a:pos x="wd2" y="hd2"/>
                </a:cxn>
                <a:cxn ang="16200000">
                  <a:pos x="wd2" y="hd2"/>
                </a:cxn>
              </a:cxnLst>
              <a:rect l="0" t="0" r="r" b="b"/>
              <a:pathLst>
                <a:path w="21575" h="21600" extrusionOk="0">
                  <a:moveTo>
                    <a:pt x="21499" y="16022"/>
                  </a:moveTo>
                  <a:cubicBezTo>
                    <a:pt x="21398" y="15785"/>
                    <a:pt x="21398" y="15785"/>
                    <a:pt x="21297" y="15785"/>
                  </a:cubicBezTo>
                  <a:cubicBezTo>
                    <a:pt x="21297" y="15785"/>
                    <a:pt x="21297" y="15785"/>
                    <a:pt x="21196" y="15785"/>
                  </a:cubicBezTo>
                  <a:cubicBezTo>
                    <a:pt x="21196" y="15666"/>
                    <a:pt x="21095" y="15547"/>
                    <a:pt x="20994" y="15429"/>
                  </a:cubicBezTo>
                  <a:cubicBezTo>
                    <a:pt x="20893" y="15310"/>
                    <a:pt x="20893" y="15310"/>
                    <a:pt x="20793" y="15191"/>
                  </a:cubicBezTo>
                  <a:cubicBezTo>
                    <a:pt x="20692" y="14954"/>
                    <a:pt x="20692" y="14835"/>
                    <a:pt x="20793" y="14598"/>
                  </a:cubicBezTo>
                  <a:cubicBezTo>
                    <a:pt x="20793" y="14479"/>
                    <a:pt x="20893" y="14479"/>
                    <a:pt x="20893" y="14360"/>
                  </a:cubicBezTo>
                  <a:cubicBezTo>
                    <a:pt x="20994" y="14360"/>
                    <a:pt x="20994" y="14360"/>
                    <a:pt x="21095" y="14360"/>
                  </a:cubicBezTo>
                  <a:cubicBezTo>
                    <a:pt x="21398" y="14242"/>
                    <a:pt x="21398" y="14242"/>
                    <a:pt x="21398" y="14242"/>
                  </a:cubicBezTo>
                  <a:cubicBezTo>
                    <a:pt x="21196" y="13886"/>
                    <a:pt x="21196" y="13886"/>
                    <a:pt x="21196" y="13886"/>
                  </a:cubicBezTo>
                  <a:cubicBezTo>
                    <a:pt x="21095" y="13767"/>
                    <a:pt x="20994" y="13648"/>
                    <a:pt x="20893" y="13530"/>
                  </a:cubicBezTo>
                  <a:cubicBezTo>
                    <a:pt x="20893" y="13411"/>
                    <a:pt x="20893" y="13411"/>
                    <a:pt x="20893" y="13292"/>
                  </a:cubicBezTo>
                  <a:cubicBezTo>
                    <a:pt x="20994" y="13055"/>
                    <a:pt x="20793" y="12936"/>
                    <a:pt x="20692" y="12936"/>
                  </a:cubicBezTo>
                  <a:cubicBezTo>
                    <a:pt x="20591" y="12936"/>
                    <a:pt x="20591" y="12818"/>
                    <a:pt x="20490" y="12818"/>
                  </a:cubicBezTo>
                  <a:cubicBezTo>
                    <a:pt x="20288" y="12699"/>
                    <a:pt x="20288" y="12580"/>
                    <a:pt x="20288" y="12224"/>
                  </a:cubicBezTo>
                  <a:cubicBezTo>
                    <a:pt x="20187" y="11749"/>
                    <a:pt x="20187" y="11156"/>
                    <a:pt x="20288" y="10563"/>
                  </a:cubicBezTo>
                  <a:cubicBezTo>
                    <a:pt x="20490" y="10444"/>
                    <a:pt x="20591" y="10325"/>
                    <a:pt x="20692" y="10088"/>
                  </a:cubicBezTo>
                  <a:cubicBezTo>
                    <a:pt x="20793" y="9851"/>
                    <a:pt x="20793" y="9613"/>
                    <a:pt x="20692" y="9376"/>
                  </a:cubicBezTo>
                  <a:cubicBezTo>
                    <a:pt x="20591" y="9138"/>
                    <a:pt x="20389" y="9020"/>
                    <a:pt x="20288" y="8901"/>
                  </a:cubicBezTo>
                  <a:cubicBezTo>
                    <a:pt x="20086" y="8782"/>
                    <a:pt x="19884" y="8664"/>
                    <a:pt x="19884" y="8426"/>
                  </a:cubicBezTo>
                  <a:cubicBezTo>
                    <a:pt x="19783" y="8189"/>
                    <a:pt x="19783" y="7952"/>
                    <a:pt x="19783" y="7596"/>
                  </a:cubicBezTo>
                  <a:cubicBezTo>
                    <a:pt x="19884" y="7358"/>
                    <a:pt x="19884" y="7002"/>
                    <a:pt x="19783" y="6765"/>
                  </a:cubicBezTo>
                  <a:cubicBezTo>
                    <a:pt x="19783" y="6527"/>
                    <a:pt x="19682" y="6409"/>
                    <a:pt x="19581" y="6409"/>
                  </a:cubicBezTo>
                  <a:cubicBezTo>
                    <a:pt x="19581" y="6409"/>
                    <a:pt x="19581" y="6409"/>
                    <a:pt x="19581" y="6409"/>
                  </a:cubicBezTo>
                  <a:cubicBezTo>
                    <a:pt x="19480" y="6409"/>
                    <a:pt x="19480" y="6409"/>
                    <a:pt x="19480" y="6409"/>
                  </a:cubicBezTo>
                  <a:cubicBezTo>
                    <a:pt x="19480" y="6409"/>
                    <a:pt x="19379" y="6409"/>
                    <a:pt x="19178" y="6527"/>
                  </a:cubicBezTo>
                  <a:cubicBezTo>
                    <a:pt x="19077" y="6646"/>
                    <a:pt x="18976" y="6765"/>
                    <a:pt x="18875" y="6765"/>
                  </a:cubicBezTo>
                  <a:cubicBezTo>
                    <a:pt x="18875" y="6765"/>
                    <a:pt x="18774" y="6765"/>
                    <a:pt x="18774" y="6765"/>
                  </a:cubicBezTo>
                  <a:cubicBezTo>
                    <a:pt x="18774" y="6765"/>
                    <a:pt x="18673" y="6646"/>
                    <a:pt x="18673" y="6646"/>
                  </a:cubicBezTo>
                  <a:cubicBezTo>
                    <a:pt x="18673" y="6409"/>
                    <a:pt x="18976" y="6053"/>
                    <a:pt x="19178" y="5934"/>
                  </a:cubicBezTo>
                  <a:cubicBezTo>
                    <a:pt x="19279" y="5815"/>
                    <a:pt x="19279" y="5815"/>
                    <a:pt x="19279" y="5815"/>
                  </a:cubicBezTo>
                  <a:cubicBezTo>
                    <a:pt x="19480" y="5578"/>
                    <a:pt x="19480" y="5459"/>
                    <a:pt x="19480" y="5222"/>
                  </a:cubicBezTo>
                  <a:cubicBezTo>
                    <a:pt x="19480" y="4866"/>
                    <a:pt x="19178" y="4629"/>
                    <a:pt x="18875" y="4510"/>
                  </a:cubicBezTo>
                  <a:cubicBezTo>
                    <a:pt x="18471" y="4154"/>
                    <a:pt x="18471" y="3916"/>
                    <a:pt x="18471" y="3560"/>
                  </a:cubicBezTo>
                  <a:cubicBezTo>
                    <a:pt x="18471" y="3442"/>
                    <a:pt x="18471" y="3323"/>
                    <a:pt x="18471" y="3204"/>
                  </a:cubicBezTo>
                  <a:cubicBezTo>
                    <a:pt x="18370" y="2967"/>
                    <a:pt x="18269" y="2848"/>
                    <a:pt x="18269" y="2730"/>
                  </a:cubicBezTo>
                  <a:cubicBezTo>
                    <a:pt x="18168" y="2611"/>
                    <a:pt x="18168" y="2611"/>
                    <a:pt x="18067" y="2492"/>
                  </a:cubicBezTo>
                  <a:cubicBezTo>
                    <a:pt x="17966" y="2255"/>
                    <a:pt x="17966" y="2136"/>
                    <a:pt x="17966" y="1780"/>
                  </a:cubicBezTo>
                  <a:cubicBezTo>
                    <a:pt x="17966" y="1662"/>
                    <a:pt x="17966" y="1662"/>
                    <a:pt x="17966" y="1662"/>
                  </a:cubicBezTo>
                  <a:cubicBezTo>
                    <a:pt x="17865" y="1187"/>
                    <a:pt x="17462" y="712"/>
                    <a:pt x="17058" y="712"/>
                  </a:cubicBezTo>
                  <a:cubicBezTo>
                    <a:pt x="16957" y="712"/>
                    <a:pt x="16957" y="712"/>
                    <a:pt x="16957" y="712"/>
                  </a:cubicBezTo>
                  <a:cubicBezTo>
                    <a:pt x="16856" y="712"/>
                    <a:pt x="16856" y="712"/>
                    <a:pt x="16856" y="712"/>
                  </a:cubicBezTo>
                  <a:cubicBezTo>
                    <a:pt x="16755" y="831"/>
                    <a:pt x="16755" y="831"/>
                    <a:pt x="16755" y="831"/>
                  </a:cubicBezTo>
                  <a:cubicBezTo>
                    <a:pt x="16755" y="949"/>
                    <a:pt x="16755" y="949"/>
                    <a:pt x="16755" y="1187"/>
                  </a:cubicBezTo>
                  <a:cubicBezTo>
                    <a:pt x="16755" y="1543"/>
                    <a:pt x="16755" y="1780"/>
                    <a:pt x="16553" y="1899"/>
                  </a:cubicBezTo>
                  <a:cubicBezTo>
                    <a:pt x="16452" y="1899"/>
                    <a:pt x="16351" y="1899"/>
                    <a:pt x="16351" y="1899"/>
                  </a:cubicBezTo>
                  <a:cubicBezTo>
                    <a:pt x="16150" y="1899"/>
                    <a:pt x="16049" y="1899"/>
                    <a:pt x="15847" y="2018"/>
                  </a:cubicBezTo>
                  <a:cubicBezTo>
                    <a:pt x="15847" y="2136"/>
                    <a:pt x="15847" y="2136"/>
                    <a:pt x="15746" y="2136"/>
                  </a:cubicBezTo>
                  <a:cubicBezTo>
                    <a:pt x="15645" y="2255"/>
                    <a:pt x="15544" y="2374"/>
                    <a:pt x="15443" y="2374"/>
                  </a:cubicBezTo>
                  <a:cubicBezTo>
                    <a:pt x="15241" y="2374"/>
                    <a:pt x="15039" y="2255"/>
                    <a:pt x="14938" y="2136"/>
                  </a:cubicBezTo>
                  <a:cubicBezTo>
                    <a:pt x="14736" y="1899"/>
                    <a:pt x="14535" y="1780"/>
                    <a:pt x="14333" y="1780"/>
                  </a:cubicBezTo>
                  <a:cubicBezTo>
                    <a:pt x="14232" y="1780"/>
                    <a:pt x="14232" y="1780"/>
                    <a:pt x="14232" y="1780"/>
                  </a:cubicBezTo>
                  <a:cubicBezTo>
                    <a:pt x="13828" y="1780"/>
                    <a:pt x="13626" y="2018"/>
                    <a:pt x="13323" y="2374"/>
                  </a:cubicBezTo>
                  <a:cubicBezTo>
                    <a:pt x="13222" y="2492"/>
                    <a:pt x="13121" y="2611"/>
                    <a:pt x="13021" y="2730"/>
                  </a:cubicBezTo>
                  <a:cubicBezTo>
                    <a:pt x="13021" y="2730"/>
                    <a:pt x="12920" y="2848"/>
                    <a:pt x="12718" y="2848"/>
                  </a:cubicBezTo>
                  <a:cubicBezTo>
                    <a:pt x="12718" y="2848"/>
                    <a:pt x="12718" y="2848"/>
                    <a:pt x="12718" y="2848"/>
                  </a:cubicBezTo>
                  <a:cubicBezTo>
                    <a:pt x="12617" y="2848"/>
                    <a:pt x="12617" y="2730"/>
                    <a:pt x="12617" y="2492"/>
                  </a:cubicBezTo>
                  <a:cubicBezTo>
                    <a:pt x="12516" y="2255"/>
                    <a:pt x="12516" y="2136"/>
                    <a:pt x="12314" y="2018"/>
                  </a:cubicBezTo>
                  <a:cubicBezTo>
                    <a:pt x="12314" y="1899"/>
                    <a:pt x="12213" y="1780"/>
                    <a:pt x="12112" y="1780"/>
                  </a:cubicBezTo>
                  <a:cubicBezTo>
                    <a:pt x="11910" y="1780"/>
                    <a:pt x="11708" y="2018"/>
                    <a:pt x="11607" y="2255"/>
                  </a:cubicBezTo>
                  <a:cubicBezTo>
                    <a:pt x="11507" y="2374"/>
                    <a:pt x="11406" y="2492"/>
                    <a:pt x="11305" y="2492"/>
                  </a:cubicBezTo>
                  <a:cubicBezTo>
                    <a:pt x="11305" y="2611"/>
                    <a:pt x="11204" y="2611"/>
                    <a:pt x="11204" y="2611"/>
                  </a:cubicBezTo>
                  <a:cubicBezTo>
                    <a:pt x="11103" y="2611"/>
                    <a:pt x="11002" y="2492"/>
                    <a:pt x="10901" y="2492"/>
                  </a:cubicBezTo>
                  <a:cubicBezTo>
                    <a:pt x="10699" y="2255"/>
                    <a:pt x="10598" y="2018"/>
                    <a:pt x="10598" y="1780"/>
                  </a:cubicBezTo>
                  <a:cubicBezTo>
                    <a:pt x="10598" y="1543"/>
                    <a:pt x="10699" y="1424"/>
                    <a:pt x="10699" y="1305"/>
                  </a:cubicBezTo>
                  <a:cubicBezTo>
                    <a:pt x="10699" y="1187"/>
                    <a:pt x="10699" y="1187"/>
                    <a:pt x="10699" y="1187"/>
                  </a:cubicBezTo>
                  <a:cubicBezTo>
                    <a:pt x="10800" y="831"/>
                    <a:pt x="10800" y="831"/>
                    <a:pt x="10800" y="831"/>
                  </a:cubicBezTo>
                  <a:cubicBezTo>
                    <a:pt x="10497" y="949"/>
                    <a:pt x="10497" y="949"/>
                    <a:pt x="10497" y="949"/>
                  </a:cubicBezTo>
                  <a:cubicBezTo>
                    <a:pt x="10295" y="949"/>
                    <a:pt x="9993" y="949"/>
                    <a:pt x="9791" y="949"/>
                  </a:cubicBezTo>
                  <a:cubicBezTo>
                    <a:pt x="9690" y="1068"/>
                    <a:pt x="9690" y="1068"/>
                    <a:pt x="9690" y="1068"/>
                  </a:cubicBezTo>
                  <a:cubicBezTo>
                    <a:pt x="9589" y="1068"/>
                    <a:pt x="9589" y="1068"/>
                    <a:pt x="9488" y="1068"/>
                  </a:cubicBezTo>
                  <a:cubicBezTo>
                    <a:pt x="9488" y="1068"/>
                    <a:pt x="9387" y="1068"/>
                    <a:pt x="9286" y="1068"/>
                  </a:cubicBezTo>
                  <a:cubicBezTo>
                    <a:pt x="9185" y="949"/>
                    <a:pt x="9185" y="949"/>
                    <a:pt x="9084" y="949"/>
                  </a:cubicBezTo>
                  <a:cubicBezTo>
                    <a:pt x="8983" y="949"/>
                    <a:pt x="8781" y="1068"/>
                    <a:pt x="8579" y="1187"/>
                  </a:cubicBezTo>
                  <a:cubicBezTo>
                    <a:pt x="8579" y="1187"/>
                    <a:pt x="8479" y="1187"/>
                    <a:pt x="8479" y="1187"/>
                  </a:cubicBezTo>
                  <a:cubicBezTo>
                    <a:pt x="8378" y="1305"/>
                    <a:pt x="8277" y="1305"/>
                    <a:pt x="8176" y="1305"/>
                  </a:cubicBezTo>
                  <a:cubicBezTo>
                    <a:pt x="8176" y="1305"/>
                    <a:pt x="8075" y="1305"/>
                    <a:pt x="8075" y="1305"/>
                  </a:cubicBezTo>
                  <a:cubicBezTo>
                    <a:pt x="7974" y="1305"/>
                    <a:pt x="7974" y="1187"/>
                    <a:pt x="7873" y="1187"/>
                  </a:cubicBezTo>
                  <a:cubicBezTo>
                    <a:pt x="7873" y="1068"/>
                    <a:pt x="7772" y="949"/>
                    <a:pt x="7671" y="949"/>
                  </a:cubicBezTo>
                  <a:cubicBezTo>
                    <a:pt x="7671" y="949"/>
                    <a:pt x="7671" y="949"/>
                    <a:pt x="7671" y="949"/>
                  </a:cubicBezTo>
                  <a:cubicBezTo>
                    <a:pt x="7671" y="949"/>
                    <a:pt x="7671" y="949"/>
                    <a:pt x="7671" y="949"/>
                  </a:cubicBezTo>
                  <a:cubicBezTo>
                    <a:pt x="7570" y="949"/>
                    <a:pt x="7570" y="949"/>
                    <a:pt x="7570" y="949"/>
                  </a:cubicBezTo>
                  <a:cubicBezTo>
                    <a:pt x="7469" y="949"/>
                    <a:pt x="7469" y="1068"/>
                    <a:pt x="7368" y="1068"/>
                  </a:cubicBezTo>
                  <a:cubicBezTo>
                    <a:pt x="7368" y="1068"/>
                    <a:pt x="7368" y="1068"/>
                    <a:pt x="7368" y="1068"/>
                  </a:cubicBezTo>
                  <a:cubicBezTo>
                    <a:pt x="7368" y="1068"/>
                    <a:pt x="7368" y="949"/>
                    <a:pt x="7267" y="949"/>
                  </a:cubicBezTo>
                  <a:cubicBezTo>
                    <a:pt x="7267" y="949"/>
                    <a:pt x="7166" y="949"/>
                    <a:pt x="7166" y="949"/>
                  </a:cubicBezTo>
                  <a:cubicBezTo>
                    <a:pt x="7065" y="831"/>
                    <a:pt x="6964" y="831"/>
                    <a:pt x="6964" y="712"/>
                  </a:cubicBezTo>
                  <a:cubicBezTo>
                    <a:pt x="6864" y="712"/>
                    <a:pt x="6864" y="712"/>
                    <a:pt x="6763" y="712"/>
                  </a:cubicBezTo>
                  <a:cubicBezTo>
                    <a:pt x="6763" y="593"/>
                    <a:pt x="6662" y="593"/>
                    <a:pt x="6662" y="593"/>
                  </a:cubicBezTo>
                  <a:cubicBezTo>
                    <a:pt x="6460" y="475"/>
                    <a:pt x="6359" y="475"/>
                    <a:pt x="6258" y="356"/>
                  </a:cubicBezTo>
                  <a:cubicBezTo>
                    <a:pt x="6157" y="356"/>
                    <a:pt x="6157" y="237"/>
                    <a:pt x="6056" y="237"/>
                  </a:cubicBezTo>
                  <a:cubicBezTo>
                    <a:pt x="6056" y="119"/>
                    <a:pt x="5955" y="0"/>
                    <a:pt x="5854" y="0"/>
                  </a:cubicBezTo>
                  <a:cubicBezTo>
                    <a:pt x="5753" y="0"/>
                    <a:pt x="5753" y="0"/>
                    <a:pt x="5652" y="0"/>
                  </a:cubicBezTo>
                  <a:cubicBezTo>
                    <a:pt x="5652" y="0"/>
                    <a:pt x="5551" y="0"/>
                    <a:pt x="5450" y="0"/>
                  </a:cubicBezTo>
                  <a:cubicBezTo>
                    <a:pt x="5450" y="0"/>
                    <a:pt x="5350" y="0"/>
                    <a:pt x="5249" y="0"/>
                  </a:cubicBezTo>
                  <a:cubicBezTo>
                    <a:pt x="5249" y="0"/>
                    <a:pt x="5249" y="0"/>
                    <a:pt x="5249" y="0"/>
                  </a:cubicBezTo>
                  <a:cubicBezTo>
                    <a:pt x="4946" y="0"/>
                    <a:pt x="4643" y="0"/>
                    <a:pt x="4340" y="0"/>
                  </a:cubicBezTo>
                  <a:cubicBezTo>
                    <a:pt x="4138" y="0"/>
                    <a:pt x="4138" y="0"/>
                    <a:pt x="4138" y="0"/>
                  </a:cubicBezTo>
                  <a:cubicBezTo>
                    <a:pt x="4138" y="475"/>
                    <a:pt x="4138" y="475"/>
                    <a:pt x="4138" y="475"/>
                  </a:cubicBezTo>
                  <a:cubicBezTo>
                    <a:pt x="4138" y="712"/>
                    <a:pt x="4239" y="1068"/>
                    <a:pt x="4138" y="1305"/>
                  </a:cubicBezTo>
                  <a:cubicBezTo>
                    <a:pt x="4037" y="1543"/>
                    <a:pt x="3936" y="1543"/>
                    <a:pt x="3735" y="1543"/>
                  </a:cubicBezTo>
                  <a:cubicBezTo>
                    <a:pt x="3634" y="1662"/>
                    <a:pt x="3432" y="1662"/>
                    <a:pt x="3331" y="1899"/>
                  </a:cubicBezTo>
                  <a:cubicBezTo>
                    <a:pt x="3230" y="2255"/>
                    <a:pt x="3432" y="2374"/>
                    <a:pt x="3634" y="2374"/>
                  </a:cubicBezTo>
                  <a:cubicBezTo>
                    <a:pt x="3735" y="2492"/>
                    <a:pt x="3836" y="2492"/>
                    <a:pt x="3836" y="2611"/>
                  </a:cubicBezTo>
                  <a:cubicBezTo>
                    <a:pt x="4037" y="2730"/>
                    <a:pt x="4138" y="3204"/>
                    <a:pt x="4037" y="3560"/>
                  </a:cubicBezTo>
                  <a:cubicBezTo>
                    <a:pt x="3936" y="3916"/>
                    <a:pt x="3533" y="3916"/>
                    <a:pt x="3028" y="3916"/>
                  </a:cubicBezTo>
                  <a:cubicBezTo>
                    <a:pt x="2826" y="3916"/>
                    <a:pt x="2523" y="3916"/>
                    <a:pt x="2321" y="4035"/>
                  </a:cubicBezTo>
                  <a:cubicBezTo>
                    <a:pt x="2321" y="4154"/>
                    <a:pt x="2221" y="4154"/>
                    <a:pt x="2120" y="4154"/>
                  </a:cubicBezTo>
                  <a:cubicBezTo>
                    <a:pt x="2019" y="4273"/>
                    <a:pt x="1817" y="4391"/>
                    <a:pt x="1615" y="4510"/>
                  </a:cubicBezTo>
                  <a:cubicBezTo>
                    <a:pt x="1413" y="4510"/>
                    <a:pt x="1110" y="4747"/>
                    <a:pt x="908" y="4866"/>
                  </a:cubicBezTo>
                  <a:cubicBezTo>
                    <a:pt x="807" y="5103"/>
                    <a:pt x="707" y="5222"/>
                    <a:pt x="606" y="5459"/>
                  </a:cubicBezTo>
                  <a:cubicBezTo>
                    <a:pt x="606" y="5578"/>
                    <a:pt x="505" y="5697"/>
                    <a:pt x="505" y="5815"/>
                  </a:cubicBezTo>
                  <a:cubicBezTo>
                    <a:pt x="404" y="6053"/>
                    <a:pt x="202" y="6171"/>
                    <a:pt x="101" y="6290"/>
                  </a:cubicBezTo>
                  <a:cubicBezTo>
                    <a:pt x="0" y="6527"/>
                    <a:pt x="0" y="6527"/>
                    <a:pt x="0" y="6527"/>
                  </a:cubicBezTo>
                  <a:cubicBezTo>
                    <a:pt x="101" y="6646"/>
                    <a:pt x="101" y="6646"/>
                    <a:pt x="101" y="6646"/>
                  </a:cubicBezTo>
                  <a:cubicBezTo>
                    <a:pt x="202" y="6765"/>
                    <a:pt x="202" y="6884"/>
                    <a:pt x="202" y="6884"/>
                  </a:cubicBezTo>
                  <a:cubicBezTo>
                    <a:pt x="202" y="7002"/>
                    <a:pt x="202" y="7002"/>
                    <a:pt x="202" y="7002"/>
                  </a:cubicBezTo>
                  <a:cubicBezTo>
                    <a:pt x="404" y="7002"/>
                    <a:pt x="404" y="7002"/>
                    <a:pt x="404" y="7002"/>
                  </a:cubicBezTo>
                  <a:cubicBezTo>
                    <a:pt x="404" y="7002"/>
                    <a:pt x="505" y="7002"/>
                    <a:pt x="505" y="7002"/>
                  </a:cubicBezTo>
                  <a:cubicBezTo>
                    <a:pt x="505" y="7240"/>
                    <a:pt x="606" y="7358"/>
                    <a:pt x="707" y="7596"/>
                  </a:cubicBezTo>
                  <a:cubicBezTo>
                    <a:pt x="707" y="7596"/>
                    <a:pt x="807" y="7833"/>
                    <a:pt x="908" y="7833"/>
                  </a:cubicBezTo>
                  <a:cubicBezTo>
                    <a:pt x="908" y="7952"/>
                    <a:pt x="807" y="8189"/>
                    <a:pt x="908" y="8426"/>
                  </a:cubicBezTo>
                  <a:cubicBezTo>
                    <a:pt x="1009" y="8545"/>
                    <a:pt x="1009" y="8664"/>
                    <a:pt x="1110" y="8782"/>
                  </a:cubicBezTo>
                  <a:cubicBezTo>
                    <a:pt x="1110" y="8782"/>
                    <a:pt x="1211" y="8782"/>
                    <a:pt x="1211" y="8901"/>
                  </a:cubicBezTo>
                  <a:cubicBezTo>
                    <a:pt x="1211" y="8901"/>
                    <a:pt x="1312" y="9020"/>
                    <a:pt x="1312" y="9020"/>
                  </a:cubicBezTo>
                  <a:cubicBezTo>
                    <a:pt x="1312" y="9138"/>
                    <a:pt x="1413" y="9257"/>
                    <a:pt x="1413" y="9376"/>
                  </a:cubicBezTo>
                  <a:cubicBezTo>
                    <a:pt x="1615" y="9613"/>
                    <a:pt x="1918" y="9969"/>
                    <a:pt x="2120" y="10088"/>
                  </a:cubicBezTo>
                  <a:cubicBezTo>
                    <a:pt x="2221" y="10088"/>
                    <a:pt x="2321" y="10207"/>
                    <a:pt x="2422" y="10207"/>
                  </a:cubicBezTo>
                  <a:cubicBezTo>
                    <a:pt x="2422" y="10207"/>
                    <a:pt x="2523" y="10207"/>
                    <a:pt x="2523" y="10088"/>
                  </a:cubicBezTo>
                  <a:cubicBezTo>
                    <a:pt x="2624" y="10088"/>
                    <a:pt x="2624" y="10088"/>
                    <a:pt x="2624" y="10088"/>
                  </a:cubicBezTo>
                  <a:cubicBezTo>
                    <a:pt x="2624" y="10088"/>
                    <a:pt x="2624" y="10207"/>
                    <a:pt x="2624" y="10207"/>
                  </a:cubicBezTo>
                  <a:cubicBezTo>
                    <a:pt x="2624" y="10207"/>
                    <a:pt x="2624" y="10444"/>
                    <a:pt x="2725" y="10563"/>
                  </a:cubicBezTo>
                  <a:cubicBezTo>
                    <a:pt x="2826" y="10800"/>
                    <a:pt x="3230" y="11037"/>
                    <a:pt x="3432" y="11156"/>
                  </a:cubicBezTo>
                  <a:cubicBezTo>
                    <a:pt x="3533" y="11156"/>
                    <a:pt x="3533" y="11156"/>
                    <a:pt x="3634" y="11156"/>
                  </a:cubicBezTo>
                  <a:cubicBezTo>
                    <a:pt x="3836" y="11275"/>
                    <a:pt x="3836" y="11275"/>
                    <a:pt x="3836" y="11275"/>
                  </a:cubicBezTo>
                  <a:cubicBezTo>
                    <a:pt x="3836" y="11393"/>
                    <a:pt x="3735" y="11512"/>
                    <a:pt x="3735" y="11749"/>
                  </a:cubicBezTo>
                  <a:cubicBezTo>
                    <a:pt x="3735" y="11868"/>
                    <a:pt x="3836" y="11987"/>
                    <a:pt x="3936" y="11987"/>
                  </a:cubicBezTo>
                  <a:cubicBezTo>
                    <a:pt x="3936" y="12105"/>
                    <a:pt x="3936" y="12105"/>
                    <a:pt x="3936" y="12105"/>
                  </a:cubicBezTo>
                  <a:cubicBezTo>
                    <a:pt x="4037" y="12343"/>
                    <a:pt x="4138" y="12462"/>
                    <a:pt x="4239" y="12580"/>
                  </a:cubicBezTo>
                  <a:cubicBezTo>
                    <a:pt x="4441" y="12818"/>
                    <a:pt x="4542" y="13055"/>
                    <a:pt x="4643" y="13292"/>
                  </a:cubicBezTo>
                  <a:cubicBezTo>
                    <a:pt x="4744" y="13411"/>
                    <a:pt x="4744" y="13411"/>
                    <a:pt x="4845" y="13530"/>
                  </a:cubicBezTo>
                  <a:cubicBezTo>
                    <a:pt x="4845" y="13648"/>
                    <a:pt x="4946" y="13767"/>
                    <a:pt x="4946" y="13886"/>
                  </a:cubicBezTo>
                  <a:cubicBezTo>
                    <a:pt x="4946" y="13886"/>
                    <a:pt x="4946" y="14004"/>
                    <a:pt x="4946" y="14004"/>
                  </a:cubicBezTo>
                  <a:cubicBezTo>
                    <a:pt x="4845" y="14360"/>
                    <a:pt x="4845" y="14360"/>
                    <a:pt x="4845" y="14360"/>
                  </a:cubicBezTo>
                  <a:cubicBezTo>
                    <a:pt x="5249" y="14242"/>
                    <a:pt x="5249" y="14242"/>
                    <a:pt x="5249" y="14242"/>
                  </a:cubicBezTo>
                  <a:cubicBezTo>
                    <a:pt x="5350" y="14242"/>
                    <a:pt x="5350" y="14242"/>
                    <a:pt x="5450" y="14242"/>
                  </a:cubicBezTo>
                  <a:cubicBezTo>
                    <a:pt x="5652" y="14242"/>
                    <a:pt x="5652" y="14242"/>
                    <a:pt x="5652" y="14242"/>
                  </a:cubicBezTo>
                  <a:cubicBezTo>
                    <a:pt x="5955" y="14123"/>
                    <a:pt x="6056" y="14123"/>
                    <a:pt x="6157" y="13767"/>
                  </a:cubicBezTo>
                  <a:cubicBezTo>
                    <a:pt x="6258" y="13411"/>
                    <a:pt x="6258" y="13411"/>
                    <a:pt x="6460" y="13292"/>
                  </a:cubicBezTo>
                  <a:cubicBezTo>
                    <a:pt x="6460" y="13292"/>
                    <a:pt x="6561" y="13292"/>
                    <a:pt x="6662" y="13174"/>
                  </a:cubicBezTo>
                  <a:cubicBezTo>
                    <a:pt x="6864" y="13055"/>
                    <a:pt x="6864" y="12818"/>
                    <a:pt x="6964" y="12580"/>
                  </a:cubicBezTo>
                  <a:cubicBezTo>
                    <a:pt x="7065" y="12462"/>
                    <a:pt x="7065" y="12462"/>
                    <a:pt x="7065" y="12343"/>
                  </a:cubicBezTo>
                  <a:cubicBezTo>
                    <a:pt x="7166" y="12105"/>
                    <a:pt x="7267" y="11868"/>
                    <a:pt x="7368" y="11631"/>
                  </a:cubicBezTo>
                  <a:cubicBezTo>
                    <a:pt x="7469" y="11512"/>
                    <a:pt x="7469" y="11512"/>
                    <a:pt x="7469" y="11393"/>
                  </a:cubicBezTo>
                  <a:cubicBezTo>
                    <a:pt x="7570" y="11156"/>
                    <a:pt x="7671" y="11037"/>
                    <a:pt x="7873" y="10919"/>
                  </a:cubicBezTo>
                  <a:cubicBezTo>
                    <a:pt x="7974" y="10919"/>
                    <a:pt x="7974" y="10800"/>
                    <a:pt x="8075" y="10800"/>
                  </a:cubicBezTo>
                  <a:cubicBezTo>
                    <a:pt x="8176" y="10800"/>
                    <a:pt x="8277" y="10919"/>
                    <a:pt x="8277" y="10919"/>
                  </a:cubicBezTo>
                  <a:cubicBezTo>
                    <a:pt x="8378" y="11037"/>
                    <a:pt x="8479" y="11037"/>
                    <a:pt x="8479" y="11156"/>
                  </a:cubicBezTo>
                  <a:cubicBezTo>
                    <a:pt x="8579" y="11156"/>
                    <a:pt x="8579" y="11156"/>
                    <a:pt x="8680" y="11156"/>
                  </a:cubicBezTo>
                  <a:cubicBezTo>
                    <a:pt x="8882" y="11156"/>
                    <a:pt x="9084" y="10919"/>
                    <a:pt x="9185" y="10800"/>
                  </a:cubicBezTo>
                  <a:cubicBezTo>
                    <a:pt x="9387" y="10563"/>
                    <a:pt x="9791" y="10444"/>
                    <a:pt x="10295" y="10444"/>
                  </a:cubicBezTo>
                  <a:cubicBezTo>
                    <a:pt x="10396" y="10444"/>
                    <a:pt x="10598" y="10444"/>
                    <a:pt x="10699" y="10444"/>
                  </a:cubicBezTo>
                  <a:cubicBezTo>
                    <a:pt x="11002" y="10444"/>
                    <a:pt x="11103" y="10563"/>
                    <a:pt x="11305" y="10800"/>
                  </a:cubicBezTo>
                  <a:cubicBezTo>
                    <a:pt x="11305" y="10919"/>
                    <a:pt x="11406" y="11037"/>
                    <a:pt x="11507" y="11037"/>
                  </a:cubicBezTo>
                  <a:cubicBezTo>
                    <a:pt x="11607" y="11275"/>
                    <a:pt x="11809" y="11512"/>
                    <a:pt x="11910" y="11868"/>
                  </a:cubicBezTo>
                  <a:cubicBezTo>
                    <a:pt x="12011" y="12224"/>
                    <a:pt x="12213" y="12699"/>
                    <a:pt x="12415" y="13055"/>
                  </a:cubicBezTo>
                  <a:cubicBezTo>
                    <a:pt x="12516" y="13055"/>
                    <a:pt x="12516" y="13055"/>
                    <a:pt x="12516" y="13055"/>
                  </a:cubicBezTo>
                  <a:cubicBezTo>
                    <a:pt x="12718" y="13292"/>
                    <a:pt x="12718" y="13292"/>
                    <a:pt x="12617" y="13648"/>
                  </a:cubicBezTo>
                  <a:cubicBezTo>
                    <a:pt x="12617" y="13648"/>
                    <a:pt x="12617" y="13767"/>
                    <a:pt x="12516" y="13767"/>
                  </a:cubicBezTo>
                  <a:cubicBezTo>
                    <a:pt x="12415" y="14004"/>
                    <a:pt x="12415" y="14004"/>
                    <a:pt x="12415" y="14004"/>
                  </a:cubicBezTo>
                  <a:cubicBezTo>
                    <a:pt x="12617" y="14123"/>
                    <a:pt x="12617" y="14123"/>
                    <a:pt x="12617" y="14123"/>
                  </a:cubicBezTo>
                  <a:cubicBezTo>
                    <a:pt x="12617" y="14123"/>
                    <a:pt x="12718" y="14123"/>
                    <a:pt x="12718" y="14242"/>
                  </a:cubicBezTo>
                  <a:cubicBezTo>
                    <a:pt x="12920" y="14360"/>
                    <a:pt x="12920" y="14360"/>
                    <a:pt x="12920" y="14598"/>
                  </a:cubicBezTo>
                  <a:cubicBezTo>
                    <a:pt x="12920" y="14598"/>
                    <a:pt x="12920" y="14716"/>
                    <a:pt x="12920" y="14835"/>
                  </a:cubicBezTo>
                  <a:cubicBezTo>
                    <a:pt x="12819" y="15073"/>
                    <a:pt x="12920" y="15191"/>
                    <a:pt x="13021" y="15310"/>
                  </a:cubicBezTo>
                  <a:cubicBezTo>
                    <a:pt x="13021" y="15310"/>
                    <a:pt x="13121" y="15429"/>
                    <a:pt x="13121" y="15429"/>
                  </a:cubicBezTo>
                  <a:cubicBezTo>
                    <a:pt x="13222" y="15666"/>
                    <a:pt x="13121" y="15903"/>
                    <a:pt x="13021" y="16141"/>
                  </a:cubicBezTo>
                  <a:cubicBezTo>
                    <a:pt x="12920" y="16259"/>
                    <a:pt x="12920" y="16259"/>
                    <a:pt x="12920" y="16378"/>
                  </a:cubicBezTo>
                  <a:cubicBezTo>
                    <a:pt x="12819" y="16497"/>
                    <a:pt x="12819" y="16734"/>
                    <a:pt x="12819" y="16853"/>
                  </a:cubicBezTo>
                  <a:cubicBezTo>
                    <a:pt x="12718" y="17446"/>
                    <a:pt x="12718" y="17446"/>
                    <a:pt x="12718" y="17446"/>
                  </a:cubicBezTo>
                  <a:cubicBezTo>
                    <a:pt x="13121" y="17090"/>
                    <a:pt x="13121" y="17090"/>
                    <a:pt x="13121" y="17090"/>
                  </a:cubicBezTo>
                  <a:cubicBezTo>
                    <a:pt x="13121" y="17090"/>
                    <a:pt x="13222" y="16971"/>
                    <a:pt x="13323" y="16971"/>
                  </a:cubicBezTo>
                  <a:cubicBezTo>
                    <a:pt x="13323" y="16853"/>
                    <a:pt x="13323" y="16853"/>
                    <a:pt x="13323" y="16853"/>
                  </a:cubicBezTo>
                  <a:cubicBezTo>
                    <a:pt x="13525" y="16734"/>
                    <a:pt x="13727" y="16497"/>
                    <a:pt x="13929" y="16497"/>
                  </a:cubicBezTo>
                  <a:cubicBezTo>
                    <a:pt x="13929" y="16497"/>
                    <a:pt x="14030" y="16497"/>
                    <a:pt x="14030" y="16497"/>
                  </a:cubicBezTo>
                  <a:cubicBezTo>
                    <a:pt x="14131" y="16497"/>
                    <a:pt x="14232" y="16497"/>
                    <a:pt x="14333" y="16497"/>
                  </a:cubicBezTo>
                  <a:cubicBezTo>
                    <a:pt x="14434" y="16615"/>
                    <a:pt x="14535" y="16615"/>
                    <a:pt x="14636" y="16615"/>
                  </a:cubicBezTo>
                  <a:cubicBezTo>
                    <a:pt x="14636" y="16615"/>
                    <a:pt x="14636" y="16615"/>
                    <a:pt x="14636" y="16615"/>
                  </a:cubicBezTo>
                  <a:cubicBezTo>
                    <a:pt x="14736" y="16615"/>
                    <a:pt x="14837" y="16615"/>
                    <a:pt x="14938" y="16497"/>
                  </a:cubicBezTo>
                  <a:cubicBezTo>
                    <a:pt x="15039" y="16497"/>
                    <a:pt x="15140" y="16497"/>
                    <a:pt x="15342" y="16497"/>
                  </a:cubicBezTo>
                  <a:cubicBezTo>
                    <a:pt x="15342" y="16497"/>
                    <a:pt x="15342" y="16497"/>
                    <a:pt x="15342" y="16497"/>
                  </a:cubicBezTo>
                  <a:cubicBezTo>
                    <a:pt x="15847" y="16497"/>
                    <a:pt x="16150" y="16853"/>
                    <a:pt x="16150" y="17327"/>
                  </a:cubicBezTo>
                  <a:cubicBezTo>
                    <a:pt x="16150" y="17684"/>
                    <a:pt x="16150" y="17802"/>
                    <a:pt x="16250" y="18040"/>
                  </a:cubicBezTo>
                  <a:cubicBezTo>
                    <a:pt x="16250" y="18040"/>
                    <a:pt x="16250" y="18158"/>
                    <a:pt x="16250" y="18158"/>
                  </a:cubicBezTo>
                  <a:cubicBezTo>
                    <a:pt x="16351" y="18277"/>
                    <a:pt x="16351" y="18396"/>
                    <a:pt x="16351" y="18514"/>
                  </a:cubicBezTo>
                  <a:cubicBezTo>
                    <a:pt x="16351" y="18752"/>
                    <a:pt x="16351" y="18870"/>
                    <a:pt x="16452" y="18989"/>
                  </a:cubicBezTo>
                  <a:cubicBezTo>
                    <a:pt x="16452" y="19108"/>
                    <a:pt x="16452" y="19108"/>
                    <a:pt x="16452" y="19108"/>
                  </a:cubicBezTo>
                  <a:cubicBezTo>
                    <a:pt x="16553" y="19345"/>
                    <a:pt x="16654" y="19582"/>
                    <a:pt x="16553" y="19820"/>
                  </a:cubicBezTo>
                  <a:cubicBezTo>
                    <a:pt x="16553" y="19938"/>
                    <a:pt x="16452" y="20057"/>
                    <a:pt x="16351" y="20176"/>
                  </a:cubicBezTo>
                  <a:cubicBezTo>
                    <a:pt x="16351" y="20295"/>
                    <a:pt x="16250" y="20413"/>
                    <a:pt x="16250" y="20532"/>
                  </a:cubicBezTo>
                  <a:cubicBezTo>
                    <a:pt x="16250" y="20651"/>
                    <a:pt x="16250" y="20651"/>
                    <a:pt x="16250" y="20769"/>
                  </a:cubicBezTo>
                  <a:cubicBezTo>
                    <a:pt x="16452" y="20651"/>
                    <a:pt x="16452" y="20651"/>
                    <a:pt x="16452" y="20651"/>
                  </a:cubicBezTo>
                  <a:cubicBezTo>
                    <a:pt x="16553" y="20888"/>
                    <a:pt x="16553" y="20888"/>
                    <a:pt x="16553" y="20888"/>
                  </a:cubicBezTo>
                  <a:cubicBezTo>
                    <a:pt x="16553" y="20888"/>
                    <a:pt x="16553" y="20888"/>
                    <a:pt x="16553" y="20888"/>
                  </a:cubicBezTo>
                  <a:cubicBezTo>
                    <a:pt x="16654" y="20888"/>
                    <a:pt x="16654" y="20888"/>
                    <a:pt x="16755" y="20888"/>
                  </a:cubicBezTo>
                  <a:cubicBezTo>
                    <a:pt x="16755" y="20888"/>
                    <a:pt x="16856" y="20888"/>
                    <a:pt x="16856" y="20888"/>
                  </a:cubicBezTo>
                  <a:cubicBezTo>
                    <a:pt x="17058" y="21007"/>
                    <a:pt x="17159" y="21125"/>
                    <a:pt x="17159" y="21363"/>
                  </a:cubicBezTo>
                  <a:cubicBezTo>
                    <a:pt x="17260" y="21600"/>
                    <a:pt x="17260" y="21600"/>
                    <a:pt x="17260" y="21600"/>
                  </a:cubicBezTo>
                  <a:cubicBezTo>
                    <a:pt x="17361" y="21481"/>
                    <a:pt x="17361" y="21481"/>
                    <a:pt x="17361" y="21481"/>
                  </a:cubicBezTo>
                  <a:cubicBezTo>
                    <a:pt x="17664" y="21481"/>
                    <a:pt x="17764" y="21363"/>
                    <a:pt x="17966" y="21125"/>
                  </a:cubicBezTo>
                  <a:cubicBezTo>
                    <a:pt x="18067" y="21007"/>
                    <a:pt x="18067" y="21007"/>
                    <a:pt x="18067" y="21007"/>
                  </a:cubicBezTo>
                  <a:cubicBezTo>
                    <a:pt x="18370" y="20651"/>
                    <a:pt x="18370" y="20413"/>
                    <a:pt x="18471" y="19938"/>
                  </a:cubicBezTo>
                  <a:cubicBezTo>
                    <a:pt x="18471" y="19820"/>
                    <a:pt x="18572" y="19701"/>
                    <a:pt x="18673" y="19701"/>
                  </a:cubicBezTo>
                  <a:cubicBezTo>
                    <a:pt x="18673" y="19701"/>
                    <a:pt x="18774" y="19820"/>
                    <a:pt x="18875" y="19820"/>
                  </a:cubicBezTo>
                  <a:cubicBezTo>
                    <a:pt x="18976" y="19938"/>
                    <a:pt x="19077" y="20057"/>
                    <a:pt x="19178" y="20057"/>
                  </a:cubicBezTo>
                  <a:cubicBezTo>
                    <a:pt x="19279" y="20057"/>
                    <a:pt x="19279" y="20057"/>
                    <a:pt x="19379" y="20057"/>
                  </a:cubicBezTo>
                  <a:cubicBezTo>
                    <a:pt x="19480" y="19938"/>
                    <a:pt x="19480" y="19938"/>
                    <a:pt x="19581" y="19938"/>
                  </a:cubicBezTo>
                  <a:cubicBezTo>
                    <a:pt x="19682" y="19938"/>
                    <a:pt x="19682" y="19938"/>
                    <a:pt x="19682" y="19938"/>
                  </a:cubicBezTo>
                  <a:cubicBezTo>
                    <a:pt x="19682" y="19938"/>
                    <a:pt x="19682" y="19938"/>
                    <a:pt x="19783" y="19938"/>
                  </a:cubicBezTo>
                  <a:cubicBezTo>
                    <a:pt x="19783" y="19938"/>
                    <a:pt x="19783" y="19938"/>
                    <a:pt x="19783" y="19938"/>
                  </a:cubicBezTo>
                  <a:cubicBezTo>
                    <a:pt x="20591" y="20057"/>
                    <a:pt x="20591" y="20057"/>
                    <a:pt x="20591" y="20057"/>
                  </a:cubicBezTo>
                  <a:cubicBezTo>
                    <a:pt x="20086" y="19701"/>
                    <a:pt x="20086" y="19701"/>
                    <a:pt x="20086" y="19701"/>
                  </a:cubicBezTo>
                  <a:cubicBezTo>
                    <a:pt x="20187" y="19464"/>
                    <a:pt x="20187" y="19345"/>
                    <a:pt x="20187" y="19108"/>
                  </a:cubicBezTo>
                  <a:cubicBezTo>
                    <a:pt x="20288" y="18989"/>
                    <a:pt x="20288" y="18870"/>
                    <a:pt x="20288" y="18633"/>
                  </a:cubicBezTo>
                  <a:cubicBezTo>
                    <a:pt x="20389" y="18633"/>
                    <a:pt x="20389" y="18514"/>
                    <a:pt x="20490" y="18396"/>
                  </a:cubicBezTo>
                  <a:cubicBezTo>
                    <a:pt x="20591" y="18277"/>
                    <a:pt x="20692" y="18158"/>
                    <a:pt x="20591" y="18040"/>
                  </a:cubicBezTo>
                  <a:cubicBezTo>
                    <a:pt x="20591" y="18040"/>
                    <a:pt x="20591" y="17921"/>
                    <a:pt x="20490" y="17802"/>
                  </a:cubicBezTo>
                  <a:cubicBezTo>
                    <a:pt x="20389" y="17684"/>
                    <a:pt x="20288" y="17684"/>
                    <a:pt x="20187" y="17684"/>
                  </a:cubicBezTo>
                  <a:cubicBezTo>
                    <a:pt x="19985" y="17565"/>
                    <a:pt x="19884" y="17446"/>
                    <a:pt x="19884" y="17090"/>
                  </a:cubicBezTo>
                  <a:cubicBezTo>
                    <a:pt x="19884" y="16853"/>
                    <a:pt x="19985" y="16615"/>
                    <a:pt x="20086" y="16497"/>
                  </a:cubicBezTo>
                  <a:cubicBezTo>
                    <a:pt x="20187" y="16378"/>
                    <a:pt x="20288" y="16378"/>
                    <a:pt x="20288" y="16378"/>
                  </a:cubicBezTo>
                  <a:cubicBezTo>
                    <a:pt x="20389" y="16378"/>
                    <a:pt x="20389" y="16378"/>
                    <a:pt x="20389" y="16378"/>
                  </a:cubicBezTo>
                  <a:cubicBezTo>
                    <a:pt x="20490" y="16378"/>
                    <a:pt x="20591" y="16497"/>
                    <a:pt x="20692" y="16615"/>
                  </a:cubicBezTo>
                  <a:cubicBezTo>
                    <a:pt x="20692" y="16615"/>
                    <a:pt x="20793" y="16734"/>
                    <a:pt x="20893" y="16734"/>
                  </a:cubicBezTo>
                  <a:cubicBezTo>
                    <a:pt x="20893" y="16734"/>
                    <a:pt x="20994" y="16734"/>
                    <a:pt x="20994" y="16734"/>
                  </a:cubicBezTo>
                  <a:cubicBezTo>
                    <a:pt x="21095" y="16734"/>
                    <a:pt x="21095" y="16734"/>
                    <a:pt x="21095" y="16734"/>
                  </a:cubicBezTo>
                  <a:cubicBezTo>
                    <a:pt x="21095" y="16734"/>
                    <a:pt x="21095" y="16734"/>
                    <a:pt x="21196" y="16734"/>
                  </a:cubicBezTo>
                  <a:cubicBezTo>
                    <a:pt x="21196" y="16734"/>
                    <a:pt x="21196" y="16853"/>
                    <a:pt x="21196" y="16853"/>
                  </a:cubicBezTo>
                  <a:cubicBezTo>
                    <a:pt x="21499" y="17090"/>
                    <a:pt x="21499" y="17090"/>
                    <a:pt x="21499" y="17090"/>
                  </a:cubicBezTo>
                  <a:cubicBezTo>
                    <a:pt x="21499" y="16734"/>
                    <a:pt x="21499" y="16734"/>
                    <a:pt x="21499" y="16734"/>
                  </a:cubicBezTo>
                  <a:cubicBezTo>
                    <a:pt x="21600" y="16497"/>
                    <a:pt x="21600" y="16259"/>
                    <a:pt x="21499" y="16022"/>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70" name="Shape">
              <a:extLst>
                <a:ext uri="{FF2B5EF4-FFF2-40B4-BE49-F238E27FC236}">
                  <a16:creationId xmlns:a16="http://schemas.microsoft.com/office/drawing/2014/main" id="{3F6B76B6-292C-2845-80F2-AE5F2862BD02}"/>
                </a:ext>
              </a:extLst>
            </p:cNvPr>
            <p:cNvSpPr/>
            <p:nvPr/>
          </p:nvSpPr>
          <p:spPr>
            <a:xfrm>
              <a:off x="1404139" y="167853"/>
              <a:ext cx="1342674" cy="975522"/>
            </a:xfrm>
            <a:custGeom>
              <a:avLst/>
              <a:gdLst/>
              <a:ahLst/>
              <a:cxnLst>
                <a:cxn ang="0">
                  <a:pos x="wd2" y="hd2"/>
                </a:cxn>
                <a:cxn ang="5400000">
                  <a:pos x="wd2" y="hd2"/>
                </a:cxn>
                <a:cxn ang="10800000">
                  <a:pos x="wd2" y="hd2"/>
                </a:cxn>
                <a:cxn ang="16200000">
                  <a:pos x="wd2" y="hd2"/>
                </a:cxn>
              </a:cxnLst>
              <a:rect l="0" t="0" r="r" b="b"/>
              <a:pathLst>
                <a:path w="21562" h="21600" extrusionOk="0">
                  <a:moveTo>
                    <a:pt x="21413" y="8735"/>
                  </a:moveTo>
                  <a:cubicBezTo>
                    <a:pt x="21350" y="8576"/>
                    <a:pt x="21288" y="8576"/>
                    <a:pt x="21225" y="8497"/>
                  </a:cubicBezTo>
                  <a:cubicBezTo>
                    <a:pt x="21101" y="8418"/>
                    <a:pt x="21038" y="8418"/>
                    <a:pt x="21038" y="8338"/>
                  </a:cubicBezTo>
                  <a:cubicBezTo>
                    <a:pt x="20976" y="8259"/>
                    <a:pt x="20976" y="8100"/>
                    <a:pt x="20976" y="7941"/>
                  </a:cubicBezTo>
                  <a:cubicBezTo>
                    <a:pt x="20976" y="7782"/>
                    <a:pt x="20976" y="7624"/>
                    <a:pt x="20913" y="7544"/>
                  </a:cubicBezTo>
                  <a:cubicBezTo>
                    <a:pt x="20851" y="7385"/>
                    <a:pt x="20851" y="7385"/>
                    <a:pt x="20788" y="7306"/>
                  </a:cubicBezTo>
                  <a:cubicBezTo>
                    <a:pt x="20726" y="7226"/>
                    <a:pt x="20664" y="7147"/>
                    <a:pt x="20664" y="6909"/>
                  </a:cubicBezTo>
                  <a:cubicBezTo>
                    <a:pt x="20664" y="6829"/>
                    <a:pt x="20664" y="6671"/>
                    <a:pt x="20726" y="6591"/>
                  </a:cubicBezTo>
                  <a:cubicBezTo>
                    <a:pt x="20788" y="6432"/>
                    <a:pt x="20788" y="6353"/>
                    <a:pt x="20788" y="6194"/>
                  </a:cubicBezTo>
                  <a:cubicBezTo>
                    <a:pt x="20788" y="6115"/>
                    <a:pt x="20788" y="6115"/>
                    <a:pt x="20726" y="6035"/>
                  </a:cubicBezTo>
                  <a:cubicBezTo>
                    <a:pt x="20726" y="5956"/>
                    <a:pt x="20664" y="5876"/>
                    <a:pt x="20664" y="5797"/>
                  </a:cubicBezTo>
                  <a:cubicBezTo>
                    <a:pt x="20664" y="5718"/>
                    <a:pt x="20664" y="5638"/>
                    <a:pt x="20664" y="5559"/>
                  </a:cubicBezTo>
                  <a:cubicBezTo>
                    <a:pt x="20664" y="5479"/>
                    <a:pt x="20664" y="5479"/>
                    <a:pt x="20664" y="5400"/>
                  </a:cubicBezTo>
                  <a:cubicBezTo>
                    <a:pt x="20664" y="5241"/>
                    <a:pt x="20664" y="5082"/>
                    <a:pt x="20664" y="4844"/>
                  </a:cubicBezTo>
                  <a:cubicBezTo>
                    <a:pt x="20664" y="4765"/>
                    <a:pt x="20664" y="4606"/>
                    <a:pt x="20601" y="4526"/>
                  </a:cubicBezTo>
                  <a:cubicBezTo>
                    <a:pt x="20601" y="4209"/>
                    <a:pt x="20601" y="4050"/>
                    <a:pt x="20539" y="3812"/>
                  </a:cubicBezTo>
                  <a:cubicBezTo>
                    <a:pt x="20539" y="3732"/>
                    <a:pt x="20539" y="3732"/>
                    <a:pt x="20539" y="3732"/>
                  </a:cubicBezTo>
                  <a:cubicBezTo>
                    <a:pt x="20539" y="3653"/>
                    <a:pt x="20539" y="3653"/>
                    <a:pt x="20539" y="3574"/>
                  </a:cubicBezTo>
                  <a:cubicBezTo>
                    <a:pt x="20539" y="3494"/>
                    <a:pt x="20539" y="3494"/>
                    <a:pt x="20539" y="3494"/>
                  </a:cubicBezTo>
                  <a:cubicBezTo>
                    <a:pt x="20539" y="3415"/>
                    <a:pt x="20539" y="3415"/>
                    <a:pt x="20601" y="3335"/>
                  </a:cubicBezTo>
                  <a:cubicBezTo>
                    <a:pt x="20601" y="3335"/>
                    <a:pt x="20601" y="3256"/>
                    <a:pt x="20601" y="3176"/>
                  </a:cubicBezTo>
                  <a:cubicBezTo>
                    <a:pt x="20601" y="3097"/>
                    <a:pt x="20601" y="3097"/>
                    <a:pt x="20601" y="3097"/>
                  </a:cubicBezTo>
                  <a:cubicBezTo>
                    <a:pt x="20539" y="3018"/>
                    <a:pt x="20539" y="3018"/>
                    <a:pt x="20539" y="3018"/>
                  </a:cubicBezTo>
                  <a:cubicBezTo>
                    <a:pt x="20351" y="2938"/>
                    <a:pt x="20227" y="2779"/>
                    <a:pt x="20102" y="2621"/>
                  </a:cubicBezTo>
                  <a:cubicBezTo>
                    <a:pt x="19977" y="2462"/>
                    <a:pt x="19977" y="2382"/>
                    <a:pt x="19914" y="2224"/>
                  </a:cubicBezTo>
                  <a:cubicBezTo>
                    <a:pt x="19914" y="2144"/>
                    <a:pt x="19914" y="2144"/>
                    <a:pt x="19914" y="2144"/>
                  </a:cubicBezTo>
                  <a:cubicBezTo>
                    <a:pt x="19852" y="2065"/>
                    <a:pt x="19852" y="2065"/>
                    <a:pt x="19852" y="2065"/>
                  </a:cubicBezTo>
                  <a:cubicBezTo>
                    <a:pt x="19852" y="2065"/>
                    <a:pt x="19790" y="2065"/>
                    <a:pt x="19790" y="2065"/>
                  </a:cubicBezTo>
                  <a:cubicBezTo>
                    <a:pt x="19727" y="1985"/>
                    <a:pt x="19602" y="1985"/>
                    <a:pt x="19540" y="1985"/>
                  </a:cubicBezTo>
                  <a:cubicBezTo>
                    <a:pt x="19477" y="1985"/>
                    <a:pt x="19477" y="1985"/>
                    <a:pt x="19477" y="1985"/>
                  </a:cubicBezTo>
                  <a:cubicBezTo>
                    <a:pt x="19415" y="1985"/>
                    <a:pt x="19353" y="1985"/>
                    <a:pt x="19353" y="1985"/>
                  </a:cubicBezTo>
                  <a:cubicBezTo>
                    <a:pt x="19290" y="1985"/>
                    <a:pt x="19228" y="1985"/>
                    <a:pt x="19165" y="1985"/>
                  </a:cubicBezTo>
                  <a:cubicBezTo>
                    <a:pt x="19165" y="1985"/>
                    <a:pt x="19103" y="1985"/>
                    <a:pt x="19040" y="1985"/>
                  </a:cubicBezTo>
                  <a:cubicBezTo>
                    <a:pt x="18978" y="1985"/>
                    <a:pt x="18978" y="1906"/>
                    <a:pt x="18978" y="1668"/>
                  </a:cubicBezTo>
                  <a:cubicBezTo>
                    <a:pt x="18916" y="1429"/>
                    <a:pt x="18791" y="1271"/>
                    <a:pt x="18603" y="1271"/>
                  </a:cubicBezTo>
                  <a:cubicBezTo>
                    <a:pt x="18541" y="1271"/>
                    <a:pt x="18416" y="1271"/>
                    <a:pt x="18416" y="1350"/>
                  </a:cubicBezTo>
                  <a:cubicBezTo>
                    <a:pt x="18291" y="1429"/>
                    <a:pt x="18291" y="1509"/>
                    <a:pt x="18229" y="1588"/>
                  </a:cubicBezTo>
                  <a:cubicBezTo>
                    <a:pt x="18229" y="1588"/>
                    <a:pt x="18229" y="1588"/>
                    <a:pt x="18229" y="1588"/>
                  </a:cubicBezTo>
                  <a:cubicBezTo>
                    <a:pt x="18229" y="1668"/>
                    <a:pt x="18166" y="1668"/>
                    <a:pt x="18104" y="1668"/>
                  </a:cubicBezTo>
                  <a:cubicBezTo>
                    <a:pt x="18104" y="1668"/>
                    <a:pt x="18042" y="1668"/>
                    <a:pt x="18042" y="1747"/>
                  </a:cubicBezTo>
                  <a:cubicBezTo>
                    <a:pt x="17979" y="1747"/>
                    <a:pt x="17917" y="1747"/>
                    <a:pt x="17792" y="1747"/>
                  </a:cubicBezTo>
                  <a:cubicBezTo>
                    <a:pt x="17729" y="1747"/>
                    <a:pt x="17667" y="1747"/>
                    <a:pt x="17605" y="1747"/>
                  </a:cubicBezTo>
                  <a:cubicBezTo>
                    <a:pt x="17542" y="1747"/>
                    <a:pt x="17480" y="1668"/>
                    <a:pt x="17355" y="1668"/>
                  </a:cubicBezTo>
                  <a:cubicBezTo>
                    <a:pt x="17355" y="1668"/>
                    <a:pt x="17292" y="1668"/>
                    <a:pt x="17230" y="1747"/>
                  </a:cubicBezTo>
                  <a:cubicBezTo>
                    <a:pt x="17168" y="1747"/>
                    <a:pt x="17168" y="1747"/>
                    <a:pt x="17168" y="1747"/>
                  </a:cubicBezTo>
                  <a:cubicBezTo>
                    <a:pt x="17105" y="1747"/>
                    <a:pt x="17105" y="1747"/>
                    <a:pt x="17043" y="1747"/>
                  </a:cubicBezTo>
                  <a:cubicBezTo>
                    <a:pt x="16980" y="1668"/>
                    <a:pt x="16918" y="1668"/>
                    <a:pt x="16855" y="1668"/>
                  </a:cubicBezTo>
                  <a:cubicBezTo>
                    <a:pt x="16855" y="1668"/>
                    <a:pt x="16793" y="1668"/>
                    <a:pt x="16793" y="1668"/>
                  </a:cubicBezTo>
                  <a:cubicBezTo>
                    <a:pt x="16731" y="1747"/>
                    <a:pt x="16606" y="1747"/>
                    <a:pt x="16543" y="1747"/>
                  </a:cubicBezTo>
                  <a:cubicBezTo>
                    <a:pt x="16418" y="1826"/>
                    <a:pt x="16356" y="1826"/>
                    <a:pt x="16231" y="1826"/>
                  </a:cubicBezTo>
                  <a:cubicBezTo>
                    <a:pt x="16169" y="1826"/>
                    <a:pt x="16169" y="1826"/>
                    <a:pt x="16106" y="1826"/>
                  </a:cubicBezTo>
                  <a:cubicBezTo>
                    <a:pt x="15794" y="1826"/>
                    <a:pt x="15482" y="1668"/>
                    <a:pt x="15170" y="1271"/>
                  </a:cubicBezTo>
                  <a:cubicBezTo>
                    <a:pt x="15108" y="1191"/>
                    <a:pt x="15108" y="1191"/>
                    <a:pt x="15045" y="1112"/>
                  </a:cubicBezTo>
                  <a:cubicBezTo>
                    <a:pt x="14920" y="953"/>
                    <a:pt x="14858" y="874"/>
                    <a:pt x="14795" y="715"/>
                  </a:cubicBezTo>
                  <a:cubicBezTo>
                    <a:pt x="14733" y="635"/>
                    <a:pt x="14733" y="635"/>
                    <a:pt x="14733" y="556"/>
                  </a:cubicBezTo>
                  <a:cubicBezTo>
                    <a:pt x="14733" y="397"/>
                    <a:pt x="14671" y="318"/>
                    <a:pt x="14608" y="159"/>
                  </a:cubicBezTo>
                  <a:cubicBezTo>
                    <a:pt x="14546" y="79"/>
                    <a:pt x="14421" y="0"/>
                    <a:pt x="14358" y="0"/>
                  </a:cubicBezTo>
                  <a:cubicBezTo>
                    <a:pt x="14296" y="0"/>
                    <a:pt x="14234" y="79"/>
                    <a:pt x="14171" y="79"/>
                  </a:cubicBezTo>
                  <a:cubicBezTo>
                    <a:pt x="14171" y="79"/>
                    <a:pt x="14171" y="79"/>
                    <a:pt x="14171" y="79"/>
                  </a:cubicBezTo>
                  <a:cubicBezTo>
                    <a:pt x="14171" y="79"/>
                    <a:pt x="14171" y="79"/>
                    <a:pt x="14109" y="79"/>
                  </a:cubicBezTo>
                  <a:cubicBezTo>
                    <a:pt x="14109" y="79"/>
                    <a:pt x="14109" y="79"/>
                    <a:pt x="14046" y="79"/>
                  </a:cubicBezTo>
                  <a:cubicBezTo>
                    <a:pt x="14046" y="79"/>
                    <a:pt x="13984" y="79"/>
                    <a:pt x="13984" y="79"/>
                  </a:cubicBezTo>
                  <a:cubicBezTo>
                    <a:pt x="13921" y="79"/>
                    <a:pt x="13859" y="79"/>
                    <a:pt x="13859" y="159"/>
                  </a:cubicBezTo>
                  <a:cubicBezTo>
                    <a:pt x="13734" y="159"/>
                    <a:pt x="13672" y="318"/>
                    <a:pt x="13547" y="397"/>
                  </a:cubicBezTo>
                  <a:cubicBezTo>
                    <a:pt x="13484" y="556"/>
                    <a:pt x="13422" y="715"/>
                    <a:pt x="13360" y="874"/>
                  </a:cubicBezTo>
                  <a:cubicBezTo>
                    <a:pt x="13360" y="953"/>
                    <a:pt x="13297" y="1032"/>
                    <a:pt x="13297" y="1112"/>
                  </a:cubicBezTo>
                  <a:cubicBezTo>
                    <a:pt x="13172" y="1350"/>
                    <a:pt x="13110" y="1588"/>
                    <a:pt x="12985" y="1906"/>
                  </a:cubicBezTo>
                  <a:cubicBezTo>
                    <a:pt x="12923" y="2065"/>
                    <a:pt x="12860" y="2224"/>
                    <a:pt x="12798" y="2382"/>
                  </a:cubicBezTo>
                  <a:cubicBezTo>
                    <a:pt x="12673" y="2700"/>
                    <a:pt x="12610" y="2938"/>
                    <a:pt x="12486" y="3256"/>
                  </a:cubicBezTo>
                  <a:cubicBezTo>
                    <a:pt x="12423" y="3494"/>
                    <a:pt x="12236" y="3812"/>
                    <a:pt x="12111" y="4050"/>
                  </a:cubicBezTo>
                  <a:cubicBezTo>
                    <a:pt x="12049" y="4209"/>
                    <a:pt x="11924" y="4368"/>
                    <a:pt x="11861" y="4447"/>
                  </a:cubicBezTo>
                  <a:cubicBezTo>
                    <a:pt x="11861" y="4526"/>
                    <a:pt x="11799" y="4606"/>
                    <a:pt x="11799" y="4685"/>
                  </a:cubicBezTo>
                  <a:cubicBezTo>
                    <a:pt x="11736" y="4844"/>
                    <a:pt x="11674" y="5003"/>
                    <a:pt x="11549" y="5082"/>
                  </a:cubicBezTo>
                  <a:cubicBezTo>
                    <a:pt x="11362" y="5241"/>
                    <a:pt x="11175" y="5400"/>
                    <a:pt x="10987" y="5479"/>
                  </a:cubicBezTo>
                  <a:cubicBezTo>
                    <a:pt x="10862" y="5559"/>
                    <a:pt x="10862" y="5559"/>
                    <a:pt x="10862" y="5559"/>
                  </a:cubicBezTo>
                  <a:cubicBezTo>
                    <a:pt x="10550" y="5797"/>
                    <a:pt x="10176" y="5956"/>
                    <a:pt x="9864" y="6194"/>
                  </a:cubicBezTo>
                  <a:cubicBezTo>
                    <a:pt x="9676" y="6274"/>
                    <a:pt x="9676" y="6274"/>
                    <a:pt x="9676" y="6274"/>
                  </a:cubicBezTo>
                  <a:cubicBezTo>
                    <a:pt x="9489" y="6432"/>
                    <a:pt x="9302" y="6591"/>
                    <a:pt x="9114" y="6591"/>
                  </a:cubicBezTo>
                  <a:cubicBezTo>
                    <a:pt x="8865" y="6671"/>
                    <a:pt x="8802" y="6909"/>
                    <a:pt x="8677" y="7068"/>
                  </a:cubicBezTo>
                  <a:cubicBezTo>
                    <a:pt x="8677" y="7068"/>
                    <a:pt x="8615" y="7147"/>
                    <a:pt x="8615" y="7226"/>
                  </a:cubicBezTo>
                  <a:cubicBezTo>
                    <a:pt x="8553" y="7306"/>
                    <a:pt x="8490" y="7385"/>
                    <a:pt x="8428" y="7465"/>
                  </a:cubicBezTo>
                  <a:cubicBezTo>
                    <a:pt x="8303" y="7465"/>
                    <a:pt x="8240" y="7544"/>
                    <a:pt x="8178" y="7703"/>
                  </a:cubicBezTo>
                  <a:cubicBezTo>
                    <a:pt x="8178" y="7703"/>
                    <a:pt x="8116" y="7782"/>
                    <a:pt x="8116" y="7782"/>
                  </a:cubicBezTo>
                  <a:cubicBezTo>
                    <a:pt x="8053" y="7862"/>
                    <a:pt x="7991" y="8021"/>
                    <a:pt x="7928" y="8021"/>
                  </a:cubicBezTo>
                  <a:cubicBezTo>
                    <a:pt x="7803" y="8100"/>
                    <a:pt x="7803" y="8100"/>
                    <a:pt x="7803" y="8100"/>
                  </a:cubicBezTo>
                  <a:cubicBezTo>
                    <a:pt x="7679" y="8338"/>
                    <a:pt x="7491" y="8497"/>
                    <a:pt x="7429" y="8735"/>
                  </a:cubicBezTo>
                  <a:cubicBezTo>
                    <a:pt x="7366" y="9053"/>
                    <a:pt x="7304" y="9371"/>
                    <a:pt x="7304" y="9609"/>
                  </a:cubicBezTo>
                  <a:cubicBezTo>
                    <a:pt x="7304" y="9768"/>
                    <a:pt x="7242" y="9847"/>
                    <a:pt x="7179" y="10006"/>
                  </a:cubicBezTo>
                  <a:cubicBezTo>
                    <a:pt x="7117" y="10085"/>
                    <a:pt x="7117" y="10085"/>
                    <a:pt x="7117" y="10085"/>
                  </a:cubicBezTo>
                  <a:cubicBezTo>
                    <a:pt x="7054" y="10244"/>
                    <a:pt x="6992" y="10324"/>
                    <a:pt x="6867" y="10482"/>
                  </a:cubicBezTo>
                  <a:cubicBezTo>
                    <a:pt x="6742" y="10562"/>
                    <a:pt x="6617" y="10800"/>
                    <a:pt x="6555" y="10959"/>
                  </a:cubicBezTo>
                  <a:cubicBezTo>
                    <a:pt x="6492" y="11038"/>
                    <a:pt x="6430" y="11197"/>
                    <a:pt x="6430" y="11276"/>
                  </a:cubicBezTo>
                  <a:cubicBezTo>
                    <a:pt x="6368" y="11356"/>
                    <a:pt x="6368" y="11435"/>
                    <a:pt x="6368" y="11515"/>
                  </a:cubicBezTo>
                  <a:cubicBezTo>
                    <a:pt x="6305" y="11594"/>
                    <a:pt x="6305" y="11594"/>
                    <a:pt x="6305" y="11594"/>
                  </a:cubicBezTo>
                  <a:cubicBezTo>
                    <a:pt x="6243" y="11753"/>
                    <a:pt x="6180" y="11912"/>
                    <a:pt x="6180" y="12071"/>
                  </a:cubicBezTo>
                  <a:cubicBezTo>
                    <a:pt x="6055" y="12468"/>
                    <a:pt x="6118" y="12865"/>
                    <a:pt x="6180" y="13182"/>
                  </a:cubicBezTo>
                  <a:cubicBezTo>
                    <a:pt x="6180" y="13341"/>
                    <a:pt x="6180" y="13341"/>
                    <a:pt x="6180" y="13341"/>
                  </a:cubicBezTo>
                  <a:cubicBezTo>
                    <a:pt x="6180" y="13341"/>
                    <a:pt x="6180" y="13421"/>
                    <a:pt x="6180" y="13421"/>
                  </a:cubicBezTo>
                  <a:cubicBezTo>
                    <a:pt x="6243" y="13579"/>
                    <a:pt x="6243" y="13659"/>
                    <a:pt x="6243" y="13818"/>
                  </a:cubicBezTo>
                  <a:cubicBezTo>
                    <a:pt x="6305" y="13976"/>
                    <a:pt x="6368" y="14135"/>
                    <a:pt x="6430" y="14215"/>
                  </a:cubicBezTo>
                  <a:cubicBezTo>
                    <a:pt x="6492" y="14294"/>
                    <a:pt x="6492" y="14294"/>
                    <a:pt x="6492" y="14294"/>
                  </a:cubicBezTo>
                  <a:cubicBezTo>
                    <a:pt x="6555" y="14374"/>
                    <a:pt x="6555" y="14532"/>
                    <a:pt x="6555" y="14691"/>
                  </a:cubicBezTo>
                  <a:cubicBezTo>
                    <a:pt x="6555" y="14929"/>
                    <a:pt x="6430" y="15326"/>
                    <a:pt x="6305" y="15644"/>
                  </a:cubicBezTo>
                  <a:cubicBezTo>
                    <a:pt x="6243" y="15724"/>
                    <a:pt x="6118" y="15882"/>
                    <a:pt x="6055" y="15962"/>
                  </a:cubicBezTo>
                  <a:cubicBezTo>
                    <a:pt x="5931" y="16121"/>
                    <a:pt x="5868" y="16200"/>
                    <a:pt x="5806" y="16359"/>
                  </a:cubicBezTo>
                  <a:cubicBezTo>
                    <a:pt x="5743" y="16438"/>
                    <a:pt x="5681" y="16518"/>
                    <a:pt x="5681" y="16597"/>
                  </a:cubicBezTo>
                  <a:cubicBezTo>
                    <a:pt x="5556" y="16835"/>
                    <a:pt x="5431" y="16994"/>
                    <a:pt x="5306" y="17232"/>
                  </a:cubicBezTo>
                  <a:cubicBezTo>
                    <a:pt x="5244" y="17312"/>
                    <a:pt x="5182" y="17391"/>
                    <a:pt x="5119" y="17471"/>
                  </a:cubicBezTo>
                  <a:cubicBezTo>
                    <a:pt x="5057" y="17550"/>
                    <a:pt x="4994" y="17629"/>
                    <a:pt x="4932" y="17788"/>
                  </a:cubicBezTo>
                  <a:cubicBezTo>
                    <a:pt x="4869" y="17788"/>
                    <a:pt x="4869" y="17868"/>
                    <a:pt x="4807" y="17868"/>
                  </a:cubicBezTo>
                  <a:cubicBezTo>
                    <a:pt x="4745" y="18026"/>
                    <a:pt x="4682" y="18106"/>
                    <a:pt x="4557" y="18185"/>
                  </a:cubicBezTo>
                  <a:cubicBezTo>
                    <a:pt x="4557" y="18185"/>
                    <a:pt x="4495" y="18185"/>
                    <a:pt x="4495" y="18265"/>
                  </a:cubicBezTo>
                  <a:cubicBezTo>
                    <a:pt x="4432" y="18265"/>
                    <a:pt x="4370" y="18265"/>
                    <a:pt x="4308" y="18344"/>
                  </a:cubicBezTo>
                  <a:cubicBezTo>
                    <a:pt x="4058" y="18503"/>
                    <a:pt x="3871" y="18741"/>
                    <a:pt x="3683" y="19059"/>
                  </a:cubicBezTo>
                  <a:cubicBezTo>
                    <a:pt x="3558" y="19218"/>
                    <a:pt x="3434" y="19456"/>
                    <a:pt x="3246" y="19615"/>
                  </a:cubicBezTo>
                  <a:cubicBezTo>
                    <a:pt x="3246" y="19615"/>
                    <a:pt x="3246" y="19694"/>
                    <a:pt x="3184" y="19694"/>
                  </a:cubicBezTo>
                  <a:cubicBezTo>
                    <a:pt x="3184" y="19774"/>
                    <a:pt x="3121" y="19774"/>
                    <a:pt x="3121" y="19774"/>
                  </a:cubicBezTo>
                  <a:cubicBezTo>
                    <a:pt x="3059" y="19853"/>
                    <a:pt x="2997" y="19853"/>
                    <a:pt x="2997" y="19853"/>
                  </a:cubicBezTo>
                  <a:cubicBezTo>
                    <a:pt x="2934" y="19853"/>
                    <a:pt x="2872" y="19853"/>
                    <a:pt x="2872" y="19853"/>
                  </a:cubicBezTo>
                  <a:cubicBezTo>
                    <a:pt x="2747" y="19932"/>
                    <a:pt x="2684" y="20012"/>
                    <a:pt x="2622" y="20012"/>
                  </a:cubicBezTo>
                  <a:cubicBezTo>
                    <a:pt x="2560" y="20091"/>
                    <a:pt x="2497" y="20091"/>
                    <a:pt x="2372" y="20091"/>
                  </a:cubicBezTo>
                  <a:cubicBezTo>
                    <a:pt x="2310" y="20171"/>
                    <a:pt x="2247" y="20250"/>
                    <a:pt x="2185" y="20250"/>
                  </a:cubicBezTo>
                  <a:cubicBezTo>
                    <a:pt x="2123" y="20329"/>
                    <a:pt x="2060" y="20329"/>
                    <a:pt x="1998" y="20409"/>
                  </a:cubicBezTo>
                  <a:cubicBezTo>
                    <a:pt x="1873" y="20409"/>
                    <a:pt x="1686" y="20409"/>
                    <a:pt x="1561" y="20488"/>
                  </a:cubicBezTo>
                  <a:cubicBezTo>
                    <a:pt x="1373" y="20488"/>
                    <a:pt x="1249" y="20568"/>
                    <a:pt x="1061" y="20568"/>
                  </a:cubicBezTo>
                  <a:cubicBezTo>
                    <a:pt x="812" y="20568"/>
                    <a:pt x="687" y="20726"/>
                    <a:pt x="499" y="20885"/>
                  </a:cubicBezTo>
                  <a:cubicBezTo>
                    <a:pt x="437" y="20965"/>
                    <a:pt x="437" y="21044"/>
                    <a:pt x="375" y="21044"/>
                  </a:cubicBezTo>
                  <a:cubicBezTo>
                    <a:pt x="312" y="21124"/>
                    <a:pt x="187" y="21203"/>
                    <a:pt x="125" y="21362"/>
                  </a:cubicBezTo>
                  <a:cubicBezTo>
                    <a:pt x="0" y="21600"/>
                    <a:pt x="0" y="21600"/>
                    <a:pt x="0" y="21600"/>
                  </a:cubicBezTo>
                  <a:cubicBezTo>
                    <a:pt x="8116" y="21600"/>
                    <a:pt x="8116" y="21600"/>
                    <a:pt x="8116" y="21600"/>
                  </a:cubicBezTo>
                  <a:cubicBezTo>
                    <a:pt x="8178" y="18900"/>
                    <a:pt x="8178" y="18900"/>
                    <a:pt x="8178" y="18900"/>
                  </a:cubicBezTo>
                  <a:cubicBezTo>
                    <a:pt x="8178" y="18900"/>
                    <a:pt x="8178" y="18900"/>
                    <a:pt x="8178" y="18900"/>
                  </a:cubicBezTo>
                  <a:cubicBezTo>
                    <a:pt x="8178" y="18900"/>
                    <a:pt x="8240" y="18900"/>
                    <a:pt x="8303" y="18821"/>
                  </a:cubicBezTo>
                  <a:cubicBezTo>
                    <a:pt x="8365" y="18741"/>
                    <a:pt x="8490" y="18662"/>
                    <a:pt x="8615" y="18582"/>
                  </a:cubicBezTo>
                  <a:cubicBezTo>
                    <a:pt x="8802" y="18503"/>
                    <a:pt x="8927" y="18344"/>
                    <a:pt x="9114" y="18185"/>
                  </a:cubicBezTo>
                  <a:cubicBezTo>
                    <a:pt x="9114" y="18106"/>
                    <a:pt x="9114" y="18106"/>
                    <a:pt x="9114" y="18106"/>
                  </a:cubicBezTo>
                  <a:cubicBezTo>
                    <a:pt x="9177" y="18106"/>
                    <a:pt x="9177" y="18026"/>
                    <a:pt x="9239" y="17947"/>
                  </a:cubicBezTo>
                  <a:cubicBezTo>
                    <a:pt x="9302" y="17868"/>
                    <a:pt x="9364" y="17788"/>
                    <a:pt x="9427" y="17788"/>
                  </a:cubicBezTo>
                  <a:cubicBezTo>
                    <a:pt x="9551" y="17629"/>
                    <a:pt x="9676" y="17471"/>
                    <a:pt x="9801" y="17391"/>
                  </a:cubicBezTo>
                  <a:cubicBezTo>
                    <a:pt x="9926" y="17312"/>
                    <a:pt x="9988" y="17312"/>
                    <a:pt x="10113" y="17312"/>
                  </a:cubicBezTo>
                  <a:cubicBezTo>
                    <a:pt x="10176" y="17312"/>
                    <a:pt x="10238" y="17312"/>
                    <a:pt x="10301" y="17232"/>
                  </a:cubicBezTo>
                  <a:cubicBezTo>
                    <a:pt x="10425" y="17232"/>
                    <a:pt x="10488" y="17074"/>
                    <a:pt x="10550" y="16915"/>
                  </a:cubicBezTo>
                  <a:cubicBezTo>
                    <a:pt x="10550" y="16915"/>
                    <a:pt x="10550" y="16835"/>
                    <a:pt x="10613" y="16835"/>
                  </a:cubicBezTo>
                  <a:cubicBezTo>
                    <a:pt x="10738" y="16597"/>
                    <a:pt x="10800" y="16597"/>
                    <a:pt x="10987" y="16597"/>
                  </a:cubicBezTo>
                  <a:cubicBezTo>
                    <a:pt x="10987" y="16597"/>
                    <a:pt x="11237" y="16597"/>
                    <a:pt x="11299" y="16597"/>
                  </a:cubicBezTo>
                  <a:cubicBezTo>
                    <a:pt x="11362" y="16597"/>
                    <a:pt x="11424" y="16597"/>
                    <a:pt x="11487" y="16597"/>
                  </a:cubicBezTo>
                  <a:cubicBezTo>
                    <a:pt x="11549" y="16597"/>
                    <a:pt x="11549" y="16597"/>
                    <a:pt x="11549" y="16597"/>
                  </a:cubicBezTo>
                  <a:cubicBezTo>
                    <a:pt x="11736" y="16597"/>
                    <a:pt x="11736" y="16597"/>
                    <a:pt x="11736" y="16597"/>
                  </a:cubicBezTo>
                  <a:cubicBezTo>
                    <a:pt x="11799" y="16597"/>
                    <a:pt x="11924" y="16597"/>
                    <a:pt x="11986" y="16518"/>
                  </a:cubicBezTo>
                  <a:cubicBezTo>
                    <a:pt x="12173" y="16438"/>
                    <a:pt x="12173" y="16121"/>
                    <a:pt x="12111" y="15962"/>
                  </a:cubicBezTo>
                  <a:cubicBezTo>
                    <a:pt x="12236" y="15962"/>
                    <a:pt x="12298" y="15962"/>
                    <a:pt x="12423" y="15962"/>
                  </a:cubicBezTo>
                  <a:cubicBezTo>
                    <a:pt x="12548" y="15962"/>
                    <a:pt x="12610" y="15962"/>
                    <a:pt x="12735" y="15962"/>
                  </a:cubicBezTo>
                  <a:cubicBezTo>
                    <a:pt x="12798" y="15962"/>
                    <a:pt x="12923" y="15962"/>
                    <a:pt x="12985" y="15962"/>
                  </a:cubicBezTo>
                  <a:cubicBezTo>
                    <a:pt x="13047" y="15962"/>
                    <a:pt x="13110" y="15962"/>
                    <a:pt x="13172" y="15962"/>
                  </a:cubicBezTo>
                  <a:cubicBezTo>
                    <a:pt x="13235" y="15962"/>
                    <a:pt x="13235" y="15962"/>
                    <a:pt x="13297" y="15962"/>
                  </a:cubicBezTo>
                  <a:cubicBezTo>
                    <a:pt x="13547" y="15882"/>
                    <a:pt x="13797" y="15882"/>
                    <a:pt x="13984" y="15644"/>
                  </a:cubicBezTo>
                  <a:cubicBezTo>
                    <a:pt x="14234" y="15406"/>
                    <a:pt x="14421" y="15088"/>
                    <a:pt x="14608" y="14771"/>
                  </a:cubicBezTo>
                  <a:cubicBezTo>
                    <a:pt x="14608" y="14612"/>
                    <a:pt x="14795" y="14294"/>
                    <a:pt x="14920" y="14215"/>
                  </a:cubicBezTo>
                  <a:cubicBezTo>
                    <a:pt x="14983" y="14215"/>
                    <a:pt x="15045" y="14135"/>
                    <a:pt x="15170" y="14135"/>
                  </a:cubicBezTo>
                  <a:cubicBezTo>
                    <a:pt x="15170" y="14135"/>
                    <a:pt x="15232" y="14135"/>
                    <a:pt x="15295" y="14056"/>
                  </a:cubicBezTo>
                  <a:cubicBezTo>
                    <a:pt x="15295" y="14056"/>
                    <a:pt x="15357" y="14056"/>
                    <a:pt x="15420" y="14056"/>
                  </a:cubicBezTo>
                  <a:cubicBezTo>
                    <a:pt x="15482" y="14056"/>
                    <a:pt x="15607" y="13976"/>
                    <a:pt x="15669" y="13976"/>
                  </a:cubicBezTo>
                  <a:cubicBezTo>
                    <a:pt x="15732" y="13897"/>
                    <a:pt x="15732" y="13897"/>
                    <a:pt x="15732" y="13897"/>
                  </a:cubicBezTo>
                  <a:cubicBezTo>
                    <a:pt x="15857" y="13818"/>
                    <a:pt x="15919" y="13738"/>
                    <a:pt x="16044" y="13738"/>
                  </a:cubicBezTo>
                  <a:cubicBezTo>
                    <a:pt x="16106" y="13659"/>
                    <a:pt x="16169" y="13579"/>
                    <a:pt x="16231" y="13500"/>
                  </a:cubicBezTo>
                  <a:cubicBezTo>
                    <a:pt x="16231" y="13421"/>
                    <a:pt x="16294" y="13341"/>
                    <a:pt x="16356" y="13341"/>
                  </a:cubicBezTo>
                  <a:cubicBezTo>
                    <a:pt x="16481" y="13262"/>
                    <a:pt x="16606" y="13182"/>
                    <a:pt x="16793" y="13103"/>
                  </a:cubicBezTo>
                  <a:cubicBezTo>
                    <a:pt x="16855" y="13103"/>
                    <a:pt x="16855" y="13103"/>
                    <a:pt x="16855" y="13103"/>
                  </a:cubicBezTo>
                  <a:cubicBezTo>
                    <a:pt x="16855" y="13103"/>
                    <a:pt x="16918" y="13103"/>
                    <a:pt x="16918" y="13103"/>
                  </a:cubicBezTo>
                  <a:cubicBezTo>
                    <a:pt x="17043" y="13024"/>
                    <a:pt x="17168" y="13024"/>
                    <a:pt x="17168" y="12785"/>
                  </a:cubicBezTo>
                  <a:cubicBezTo>
                    <a:pt x="17105" y="12626"/>
                    <a:pt x="17043" y="12547"/>
                    <a:pt x="16980" y="12547"/>
                  </a:cubicBezTo>
                  <a:cubicBezTo>
                    <a:pt x="16918" y="12468"/>
                    <a:pt x="16855" y="12468"/>
                    <a:pt x="16855" y="12388"/>
                  </a:cubicBezTo>
                  <a:cubicBezTo>
                    <a:pt x="16793" y="12309"/>
                    <a:pt x="16793" y="12229"/>
                    <a:pt x="16855" y="12071"/>
                  </a:cubicBezTo>
                  <a:cubicBezTo>
                    <a:pt x="16855" y="11991"/>
                    <a:pt x="16918" y="11912"/>
                    <a:pt x="16855" y="11753"/>
                  </a:cubicBezTo>
                  <a:cubicBezTo>
                    <a:pt x="16855" y="11674"/>
                    <a:pt x="16855" y="11674"/>
                    <a:pt x="16793" y="11594"/>
                  </a:cubicBezTo>
                  <a:cubicBezTo>
                    <a:pt x="16793" y="11515"/>
                    <a:pt x="16731" y="11435"/>
                    <a:pt x="16793" y="11276"/>
                  </a:cubicBezTo>
                  <a:cubicBezTo>
                    <a:pt x="16793" y="11118"/>
                    <a:pt x="16918" y="11038"/>
                    <a:pt x="17043" y="11038"/>
                  </a:cubicBezTo>
                  <a:cubicBezTo>
                    <a:pt x="17043" y="11038"/>
                    <a:pt x="17105" y="11038"/>
                    <a:pt x="17168" y="11118"/>
                  </a:cubicBezTo>
                  <a:cubicBezTo>
                    <a:pt x="17168" y="11118"/>
                    <a:pt x="17230" y="11118"/>
                    <a:pt x="17230" y="11118"/>
                  </a:cubicBezTo>
                  <a:cubicBezTo>
                    <a:pt x="17292" y="11118"/>
                    <a:pt x="17355" y="11197"/>
                    <a:pt x="17417" y="11197"/>
                  </a:cubicBezTo>
                  <a:cubicBezTo>
                    <a:pt x="17480" y="11197"/>
                    <a:pt x="17542" y="11197"/>
                    <a:pt x="17605" y="11118"/>
                  </a:cubicBezTo>
                  <a:cubicBezTo>
                    <a:pt x="17667" y="11118"/>
                    <a:pt x="17729" y="11118"/>
                    <a:pt x="17792" y="11038"/>
                  </a:cubicBezTo>
                  <a:cubicBezTo>
                    <a:pt x="17854" y="11038"/>
                    <a:pt x="17917" y="11038"/>
                    <a:pt x="18042" y="10959"/>
                  </a:cubicBezTo>
                  <a:cubicBezTo>
                    <a:pt x="18104" y="10959"/>
                    <a:pt x="18166" y="10879"/>
                    <a:pt x="18229" y="10879"/>
                  </a:cubicBezTo>
                  <a:cubicBezTo>
                    <a:pt x="18229" y="10800"/>
                    <a:pt x="18291" y="10800"/>
                    <a:pt x="18354" y="10800"/>
                  </a:cubicBezTo>
                  <a:cubicBezTo>
                    <a:pt x="18416" y="10721"/>
                    <a:pt x="18416" y="10721"/>
                    <a:pt x="18416" y="10721"/>
                  </a:cubicBezTo>
                  <a:cubicBezTo>
                    <a:pt x="18416" y="10641"/>
                    <a:pt x="18416" y="10641"/>
                    <a:pt x="18416" y="10641"/>
                  </a:cubicBezTo>
                  <a:cubicBezTo>
                    <a:pt x="18416" y="10562"/>
                    <a:pt x="18416" y="10562"/>
                    <a:pt x="18416" y="10562"/>
                  </a:cubicBezTo>
                  <a:cubicBezTo>
                    <a:pt x="18416" y="10324"/>
                    <a:pt x="18416" y="10244"/>
                    <a:pt x="18603" y="10244"/>
                  </a:cubicBezTo>
                  <a:cubicBezTo>
                    <a:pt x="18791" y="10165"/>
                    <a:pt x="18916" y="10165"/>
                    <a:pt x="19040" y="10085"/>
                  </a:cubicBezTo>
                  <a:cubicBezTo>
                    <a:pt x="19165" y="10085"/>
                    <a:pt x="19290" y="10085"/>
                    <a:pt x="19415" y="10085"/>
                  </a:cubicBezTo>
                  <a:cubicBezTo>
                    <a:pt x="19415" y="9926"/>
                    <a:pt x="19415" y="9926"/>
                    <a:pt x="19415" y="9926"/>
                  </a:cubicBezTo>
                  <a:cubicBezTo>
                    <a:pt x="19415" y="10085"/>
                    <a:pt x="19415" y="10085"/>
                    <a:pt x="19415" y="10085"/>
                  </a:cubicBezTo>
                  <a:cubicBezTo>
                    <a:pt x="19477" y="10085"/>
                    <a:pt x="19477" y="10085"/>
                    <a:pt x="19540" y="10085"/>
                  </a:cubicBezTo>
                  <a:cubicBezTo>
                    <a:pt x="19727" y="10006"/>
                    <a:pt x="19727" y="10006"/>
                    <a:pt x="19727" y="10006"/>
                  </a:cubicBezTo>
                  <a:cubicBezTo>
                    <a:pt x="19852" y="10006"/>
                    <a:pt x="19977" y="10006"/>
                    <a:pt x="20102" y="10006"/>
                  </a:cubicBezTo>
                  <a:cubicBezTo>
                    <a:pt x="20289" y="10006"/>
                    <a:pt x="20414" y="10006"/>
                    <a:pt x="20539" y="10085"/>
                  </a:cubicBezTo>
                  <a:cubicBezTo>
                    <a:pt x="20664" y="10085"/>
                    <a:pt x="21038" y="10165"/>
                    <a:pt x="21163" y="10165"/>
                  </a:cubicBezTo>
                  <a:cubicBezTo>
                    <a:pt x="21350" y="10165"/>
                    <a:pt x="21350" y="10165"/>
                    <a:pt x="21350" y="10165"/>
                  </a:cubicBezTo>
                  <a:cubicBezTo>
                    <a:pt x="21288" y="9926"/>
                    <a:pt x="21288" y="9926"/>
                    <a:pt x="21288" y="9926"/>
                  </a:cubicBezTo>
                  <a:cubicBezTo>
                    <a:pt x="21288" y="9768"/>
                    <a:pt x="21288" y="9688"/>
                    <a:pt x="21350" y="9609"/>
                  </a:cubicBezTo>
                  <a:cubicBezTo>
                    <a:pt x="21350" y="9529"/>
                    <a:pt x="21350" y="9450"/>
                    <a:pt x="21413" y="9450"/>
                  </a:cubicBezTo>
                  <a:cubicBezTo>
                    <a:pt x="21475" y="9371"/>
                    <a:pt x="21475" y="9371"/>
                    <a:pt x="21475" y="9291"/>
                  </a:cubicBezTo>
                  <a:cubicBezTo>
                    <a:pt x="21600" y="9053"/>
                    <a:pt x="21600" y="8974"/>
                    <a:pt x="21413" y="8735"/>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71" name="Shape">
              <a:extLst>
                <a:ext uri="{FF2B5EF4-FFF2-40B4-BE49-F238E27FC236}">
                  <a16:creationId xmlns:a16="http://schemas.microsoft.com/office/drawing/2014/main" id="{221373DE-BEC9-FC4C-A8DD-AD2906F530FC}"/>
                </a:ext>
              </a:extLst>
            </p:cNvPr>
            <p:cNvSpPr/>
            <p:nvPr/>
          </p:nvSpPr>
          <p:spPr>
            <a:xfrm>
              <a:off x="891057" y="2438803"/>
              <a:ext cx="664615" cy="515407"/>
            </a:xfrm>
            <a:custGeom>
              <a:avLst/>
              <a:gdLst/>
              <a:ahLst/>
              <a:cxnLst>
                <a:cxn ang="0">
                  <a:pos x="wd2" y="hd2"/>
                </a:cxn>
                <a:cxn ang="5400000">
                  <a:pos x="wd2" y="hd2"/>
                </a:cxn>
                <a:cxn ang="10800000">
                  <a:pos x="wd2" y="hd2"/>
                </a:cxn>
                <a:cxn ang="16200000">
                  <a:pos x="wd2" y="hd2"/>
                </a:cxn>
              </a:cxnLst>
              <a:rect l="0" t="0" r="r" b="b"/>
              <a:pathLst>
                <a:path w="21177" h="21600" extrusionOk="0">
                  <a:moveTo>
                    <a:pt x="21146" y="20400"/>
                  </a:moveTo>
                  <a:cubicBezTo>
                    <a:pt x="21146" y="20400"/>
                    <a:pt x="21146" y="20400"/>
                    <a:pt x="21146" y="20400"/>
                  </a:cubicBezTo>
                  <a:cubicBezTo>
                    <a:pt x="21146" y="20400"/>
                    <a:pt x="21146" y="20250"/>
                    <a:pt x="21146" y="20250"/>
                  </a:cubicBezTo>
                  <a:cubicBezTo>
                    <a:pt x="21146" y="20100"/>
                    <a:pt x="21022" y="19950"/>
                    <a:pt x="21146" y="19800"/>
                  </a:cubicBezTo>
                  <a:cubicBezTo>
                    <a:pt x="21146" y="19650"/>
                    <a:pt x="21146" y="19650"/>
                    <a:pt x="21146" y="19650"/>
                  </a:cubicBezTo>
                  <a:cubicBezTo>
                    <a:pt x="21146" y="18900"/>
                    <a:pt x="21270" y="18450"/>
                    <a:pt x="21022" y="17850"/>
                  </a:cubicBezTo>
                  <a:cubicBezTo>
                    <a:pt x="20898" y="17700"/>
                    <a:pt x="20898" y="17550"/>
                    <a:pt x="20898" y="17400"/>
                  </a:cubicBezTo>
                  <a:cubicBezTo>
                    <a:pt x="20773" y="16800"/>
                    <a:pt x="20649" y="16350"/>
                    <a:pt x="20153" y="16200"/>
                  </a:cubicBezTo>
                  <a:cubicBezTo>
                    <a:pt x="20029" y="16200"/>
                    <a:pt x="20029" y="16200"/>
                    <a:pt x="20029" y="16200"/>
                  </a:cubicBezTo>
                  <a:cubicBezTo>
                    <a:pt x="19780" y="16050"/>
                    <a:pt x="19656" y="16050"/>
                    <a:pt x="19532" y="15750"/>
                  </a:cubicBezTo>
                  <a:cubicBezTo>
                    <a:pt x="19408" y="15750"/>
                    <a:pt x="19408" y="15600"/>
                    <a:pt x="19284" y="15600"/>
                  </a:cubicBezTo>
                  <a:cubicBezTo>
                    <a:pt x="19160" y="15300"/>
                    <a:pt x="19036" y="15150"/>
                    <a:pt x="18911" y="15000"/>
                  </a:cubicBezTo>
                  <a:cubicBezTo>
                    <a:pt x="18911" y="14850"/>
                    <a:pt x="18911" y="14700"/>
                    <a:pt x="18911" y="14400"/>
                  </a:cubicBezTo>
                  <a:cubicBezTo>
                    <a:pt x="19036" y="14400"/>
                    <a:pt x="19036" y="14400"/>
                    <a:pt x="19036" y="14250"/>
                  </a:cubicBezTo>
                  <a:cubicBezTo>
                    <a:pt x="19160" y="14250"/>
                    <a:pt x="19160" y="14100"/>
                    <a:pt x="19160" y="14100"/>
                  </a:cubicBezTo>
                  <a:cubicBezTo>
                    <a:pt x="19160" y="14100"/>
                    <a:pt x="19160" y="14100"/>
                    <a:pt x="19160" y="14100"/>
                  </a:cubicBezTo>
                  <a:cubicBezTo>
                    <a:pt x="19160" y="13950"/>
                    <a:pt x="19160" y="13950"/>
                    <a:pt x="19160" y="13950"/>
                  </a:cubicBezTo>
                  <a:cubicBezTo>
                    <a:pt x="19284" y="13950"/>
                    <a:pt x="19160" y="13950"/>
                    <a:pt x="19160" y="13800"/>
                  </a:cubicBezTo>
                  <a:cubicBezTo>
                    <a:pt x="19160" y="13800"/>
                    <a:pt x="19160" y="13650"/>
                    <a:pt x="19160" y="13650"/>
                  </a:cubicBezTo>
                  <a:cubicBezTo>
                    <a:pt x="19160" y="13500"/>
                    <a:pt x="19160" y="13200"/>
                    <a:pt x="19160" y="13050"/>
                  </a:cubicBezTo>
                  <a:cubicBezTo>
                    <a:pt x="19160" y="12750"/>
                    <a:pt x="19160" y="12450"/>
                    <a:pt x="19036" y="12150"/>
                  </a:cubicBezTo>
                  <a:cubicBezTo>
                    <a:pt x="18911" y="12000"/>
                    <a:pt x="18911" y="11850"/>
                    <a:pt x="18787" y="11700"/>
                  </a:cubicBezTo>
                  <a:cubicBezTo>
                    <a:pt x="18415" y="11100"/>
                    <a:pt x="18291" y="10800"/>
                    <a:pt x="18539" y="10350"/>
                  </a:cubicBezTo>
                  <a:cubicBezTo>
                    <a:pt x="18539" y="10200"/>
                    <a:pt x="18539" y="10200"/>
                    <a:pt x="18663" y="10200"/>
                  </a:cubicBezTo>
                  <a:cubicBezTo>
                    <a:pt x="18787" y="9750"/>
                    <a:pt x="18787" y="9750"/>
                    <a:pt x="18787" y="9750"/>
                  </a:cubicBezTo>
                  <a:cubicBezTo>
                    <a:pt x="18539" y="9600"/>
                    <a:pt x="18539" y="9600"/>
                    <a:pt x="18539" y="9600"/>
                  </a:cubicBezTo>
                  <a:cubicBezTo>
                    <a:pt x="18539" y="9600"/>
                    <a:pt x="18415" y="9600"/>
                    <a:pt x="18415" y="9600"/>
                  </a:cubicBezTo>
                  <a:cubicBezTo>
                    <a:pt x="18167" y="9300"/>
                    <a:pt x="17918" y="9000"/>
                    <a:pt x="17670" y="8700"/>
                  </a:cubicBezTo>
                  <a:cubicBezTo>
                    <a:pt x="17546" y="8400"/>
                    <a:pt x="17298" y="8100"/>
                    <a:pt x="17049" y="7800"/>
                  </a:cubicBezTo>
                  <a:cubicBezTo>
                    <a:pt x="16925" y="7800"/>
                    <a:pt x="16925" y="7800"/>
                    <a:pt x="16925" y="7650"/>
                  </a:cubicBezTo>
                  <a:cubicBezTo>
                    <a:pt x="16677" y="7500"/>
                    <a:pt x="16553" y="7500"/>
                    <a:pt x="16304" y="7200"/>
                  </a:cubicBezTo>
                  <a:cubicBezTo>
                    <a:pt x="16180" y="7050"/>
                    <a:pt x="16180" y="6900"/>
                    <a:pt x="16056" y="6600"/>
                  </a:cubicBezTo>
                  <a:cubicBezTo>
                    <a:pt x="15932" y="6450"/>
                    <a:pt x="15932" y="6450"/>
                    <a:pt x="15808" y="6300"/>
                  </a:cubicBezTo>
                  <a:cubicBezTo>
                    <a:pt x="15684" y="6000"/>
                    <a:pt x="15560" y="5700"/>
                    <a:pt x="15311" y="5550"/>
                  </a:cubicBezTo>
                  <a:cubicBezTo>
                    <a:pt x="15063" y="5250"/>
                    <a:pt x="14815" y="4950"/>
                    <a:pt x="14691" y="4350"/>
                  </a:cubicBezTo>
                  <a:cubicBezTo>
                    <a:pt x="14442" y="3300"/>
                    <a:pt x="14318" y="2850"/>
                    <a:pt x="13325" y="2700"/>
                  </a:cubicBezTo>
                  <a:cubicBezTo>
                    <a:pt x="12580" y="2550"/>
                    <a:pt x="12332" y="2100"/>
                    <a:pt x="11960" y="1350"/>
                  </a:cubicBezTo>
                  <a:cubicBezTo>
                    <a:pt x="11960" y="1200"/>
                    <a:pt x="11960" y="1200"/>
                    <a:pt x="11960" y="1200"/>
                  </a:cubicBezTo>
                  <a:cubicBezTo>
                    <a:pt x="11463" y="300"/>
                    <a:pt x="10594" y="0"/>
                    <a:pt x="10098" y="0"/>
                  </a:cubicBezTo>
                  <a:cubicBezTo>
                    <a:pt x="9973" y="0"/>
                    <a:pt x="9849" y="0"/>
                    <a:pt x="9725" y="0"/>
                  </a:cubicBezTo>
                  <a:cubicBezTo>
                    <a:pt x="9104" y="0"/>
                    <a:pt x="8484" y="150"/>
                    <a:pt x="7863" y="300"/>
                  </a:cubicBezTo>
                  <a:cubicBezTo>
                    <a:pt x="7242" y="600"/>
                    <a:pt x="6622" y="750"/>
                    <a:pt x="5877" y="750"/>
                  </a:cubicBezTo>
                  <a:cubicBezTo>
                    <a:pt x="5753" y="750"/>
                    <a:pt x="5629" y="750"/>
                    <a:pt x="5504" y="750"/>
                  </a:cubicBezTo>
                  <a:cubicBezTo>
                    <a:pt x="5380" y="750"/>
                    <a:pt x="5380" y="750"/>
                    <a:pt x="5380" y="750"/>
                  </a:cubicBezTo>
                  <a:cubicBezTo>
                    <a:pt x="5132" y="750"/>
                    <a:pt x="5008" y="600"/>
                    <a:pt x="4760" y="600"/>
                  </a:cubicBezTo>
                  <a:cubicBezTo>
                    <a:pt x="4263" y="600"/>
                    <a:pt x="4015" y="900"/>
                    <a:pt x="3767" y="1500"/>
                  </a:cubicBezTo>
                  <a:cubicBezTo>
                    <a:pt x="3767" y="1650"/>
                    <a:pt x="3642" y="1800"/>
                    <a:pt x="3642" y="1800"/>
                  </a:cubicBezTo>
                  <a:cubicBezTo>
                    <a:pt x="3518" y="2400"/>
                    <a:pt x="3270" y="2850"/>
                    <a:pt x="3022" y="3000"/>
                  </a:cubicBezTo>
                  <a:cubicBezTo>
                    <a:pt x="2773" y="3000"/>
                    <a:pt x="2773" y="3000"/>
                    <a:pt x="2773" y="3000"/>
                  </a:cubicBezTo>
                  <a:cubicBezTo>
                    <a:pt x="2773" y="3300"/>
                    <a:pt x="2773" y="3300"/>
                    <a:pt x="2773" y="3300"/>
                  </a:cubicBezTo>
                  <a:cubicBezTo>
                    <a:pt x="2773" y="3600"/>
                    <a:pt x="2773" y="4050"/>
                    <a:pt x="2649" y="4500"/>
                  </a:cubicBezTo>
                  <a:cubicBezTo>
                    <a:pt x="2649" y="4650"/>
                    <a:pt x="2525" y="4950"/>
                    <a:pt x="2401" y="5250"/>
                  </a:cubicBezTo>
                  <a:cubicBezTo>
                    <a:pt x="2277" y="5250"/>
                    <a:pt x="2277" y="5400"/>
                    <a:pt x="2277" y="5550"/>
                  </a:cubicBezTo>
                  <a:cubicBezTo>
                    <a:pt x="2153" y="5700"/>
                    <a:pt x="2153" y="5850"/>
                    <a:pt x="2029" y="6000"/>
                  </a:cubicBezTo>
                  <a:cubicBezTo>
                    <a:pt x="1904" y="6150"/>
                    <a:pt x="1904" y="6150"/>
                    <a:pt x="1904" y="6150"/>
                  </a:cubicBezTo>
                  <a:cubicBezTo>
                    <a:pt x="1904" y="6150"/>
                    <a:pt x="1780" y="6300"/>
                    <a:pt x="1656" y="6450"/>
                  </a:cubicBezTo>
                  <a:cubicBezTo>
                    <a:pt x="1532" y="6600"/>
                    <a:pt x="1408" y="6900"/>
                    <a:pt x="1284" y="7050"/>
                  </a:cubicBezTo>
                  <a:cubicBezTo>
                    <a:pt x="1160" y="7350"/>
                    <a:pt x="911" y="7800"/>
                    <a:pt x="663" y="7950"/>
                  </a:cubicBezTo>
                  <a:cubicBezTo>
                    <a:pt x="415" y="8250"/>
                    <a:pt x="-330" y="8700"/>
                    <a:pt x="167" y="9600"/>
                  </a:cubicBezTo>
                  <a:cubicBezTo>
                    <a:pt x="167" y="9600"/>
                    <a:pt x="167" y="9600"/>
                    <a:pt x="167" y="9600"/>
                  </a:cubicBezTo>
                  <a:cubicBezTo>
                    <a:pt x="415" y="10050"/>
                    <a:pt x="663" y="10500"/>
                    <a:pt x="911" y="10800"/>
                  </a:cubicBezTo>
                  <a:cubicBezTo>
                    <a:pt x="1036" y="11100"/>
                    <a:pt x="1160" y="11250"/>
                    <a:pt x="1160" y="11550"/>
                  </a:cubicBezTo>
                  <a:cubicBezTo>
                    <a:pt x="1284" y="11700"/>
                    <a:pt x="1408" y="12000"/>
                    <a:pt x="1532" y="12150"/>
                  </a:cubicBezTo>
                  <a:cubicBezTo>
                    <a:pt x="1532" y="12150"/>
                    <a:pt x="1532" y="12300"/>
                    <a:pt x="1532" y="12300"/>
                  </a:cubicBezTo>
                  <a:cubicBezTo>
                    <a:pt x="1656" y="12600"/>
                    <a:pt x="1780" y="12750"/>
                    <a:pt x="2029" y="12900"/>
                  </a:cubicBezTo>
                  <a:cubicBezTo>
                    <a:pt x="2153" y="12900"/>
                    <a:pt x="2153" y="12900"/>
                    <a:pt x="2277" y="12900"/>
                  </a:cubicBezTo>
                  <a:cubicBezTo>
                    <a:pt x="2401" y="12900"/>
                    <a:pt x="2401" y="12900"/>
                    <a:pt x="2525" y="12900"/>
                  </a:cubicBezTo>
                  <a:cubicBezTo>
                    <a:pt x="2525" y="12900"/>
                    <a:pt x="2525" y="12900"/>
                    <a:pt x="2649" y="12900"/>
                  </a:cubicBezTo>
                  <a:cubicBezTo>
                    <a:pt x="2649" y="13350"/>
                    <a:pt x="2525" y="13500"/>
                    <a:pt x="2277" y="13950"/>
                  </a:cubicBezTo>
                  <a:cubicBezTo>
                    <a:pt x="2153" y="14100"/>
                    <a:pt x="2153" y="14100"/>
                    <a:pt x="2153" y="14100"/>
                  </a:cubicBezTo>
                  <a:cubicBezTo>
                    <a:pt x="2153" y="14250"/>
                    <a:pt x="2153" y="14250"/>
                    <a:pt x="2153" y="14400"/>
                  </a:cubicBezTo>
                  <a:cubicBezTo>
                    <a:pt x="2029" y="14850"/>
                    <a:pt x="2029" y="14850"/>
                    <a:pt x="2029" y="14850"/>
                  </a:cubicBezTo>
                  <a:cubicBezTo>
                    <a:pt x="2401" y="14700"/>
                    <a:pt x="2401" y="14700"/>
                    <a:pt x="2401" y="14700"/>
                  </a:cubicBezTo>
                  <a:cubicBezTo>
                    <a:pt x="2401" y="14700"/>
                    <a:pt x="2525" y="14700"/>
                    <a:pt x="2649" y="14700"/>
                  </a:cubicBezTo>
                  <a:cubicBezTo>
                    <a:pt x="3394" y="14700"/>
                    <a:pt x="4139" y="14850"/>
                    <a:pt x="4511" y="15000"/>
                  </a:cubicBezTo>
                  <a:cubicBezTo>
                    <a:pt x="4760" y="15000"/>
                    <a:pt x="5008" y="15000"/>
                    <a:pt x="5132" y="15000"/>
                  </a:cubicBezTo>
                  <a:cubicBezTo>
                    <a:pt x="5753" y="15000"/>
                    <a:pt x="6373" y="14850"/>
                    <a:pt x="6870" y="14400"/>
                  </a:cubicBezTo>
                  <a:cubicBezTo>
                    <a:pt x="7242" y="14100"/>
                    <a:pt x="7615" y="13950"/>
                    <a:pt x="7987" y="13950"/>
                  </a:cubicBezTo>
                  <a:cubicBezTo>
                    <a:pt x="8111" y="13950"/>
                    <a:pt x="8111" y="13950"/>
                    <a:pt x="8236" y="13950"/>
                  </a:cubicBezTo>
                  <a:cubicBezTo>
                    <a:pt x="8608" y="14100"/>
                    <a:pt x="8856" y="14100"/>
                    <a:pt x="9104" y="14700"/>
                  </a:cubicBezTo>
                  <a:cubicBezTo>
                    <a:pt x="9229" y="14850"/>
                    <a:pt x="9229" y="14850"/>
                    <a:pt x="9353" y="14850"/>
                  </a:cubicBezTo>
                  <a:cubicBezTo>
                    <a:pt x="9353" y="14850"/>
                    <a:pt x="9353" y="14850"/>
                    <a:pt x="9477" y="14850"/>
                  </a:cubicBezTo>
                  <a:cubicBezTo>
                    <a:pt x="9477" y="14850"/>
                    <a:pt x="9477" y="14850"/>
                    <a:pt x="9601" y="14700"/>
                  </a:cubicBezTo>
                  <a:cubicBezTo>
                    <a:pt x="9725" y="14700"/>
                    <a:pt x="9849" y="14700"/>
                    <a:pt x="9973" y="14700"/>
                  </a:cubicBezTo>
                  <a:cubicBezTo>
                    <a:pt x="9973" y="14700"/>
                    <a:pt x="10098" y="14700"/>
                    <a:pt x="10098" y="14700"/>
                  </a:cubicBezTo>
                  <a:cubicBezTo>
                    <a:pt x="10222" y="14700"/>
                    <a:pt x="10470" y="14850"/>
                    <a:pt x="10470" y="15000"/>
                  </a:cubicBezTo>
                  <a:cubicBezTo>
                    <a:pt x="10470" y="15150"/>
                    <a:pt x="10470" y="15150"/>
                    <a:pt x="10470" y="15300"/>
                  </a:cubicBezTo>
                  <a:cubicBezTo>
                    <a:pt x="10470" y="15450"/>
                    <a:pt x="10470" y="15600"/>
                    <a:pt x="10594" y="15600"/>
                  </a:cubicBezTo>
                  <a:cubicBezTo>
                    <a:pt x="10594" y="15750"/>
                    <a:pt x="10594" y="15750"/>
                    <a:pt x="10594" y="15750"/>
                  </a:cubicBezTo>
                  <a:cubicBezTo>
                    <a:pt x="10842" y="15900"/>
                    <a:pt x="10842" y="15900"/>
                    <a:pt x="10842" y="15900"/>
                  </a:cubicBezTo>
                  <a:cubicBezTo>
                    <a:pt x="10842" y="15900"/>
                    <a:pt x="10967" y="15900"/>
                    <a:pt x="11587" y="15450"/>
                  </a:cubicBezTo>
                  <a:cubicBezTo>
                    <a:pt x="11587" y="15300"/>
                    <a:pt x="11711" y="15300"/>
                    <a:pt x="11711" y="15300"/>
                  </a:cubicBezTo>
                  <a:cubicBezTo>
                    <a:pt x="11836" y="15150"/>
                    <a:pt x="11960" y="15150"/>
                    <a:pt x="12084" y="15150"/>
                  </a:cubicBezTo>
                  <a:cubicBezTo>
                    <a:pt x="12208" y="15150"/>
                    <a:pt x="12332" y="15300"/>
                    <a:pt x="12456" y="15450"/>
                  </a:cubicBezTo>
                  <a:cubicBezTo>
                    <a:pt x="12580" y="15450"/>
                    <a:pt x="12704" y="15600"/>
                    <a:pt x="12704" y="15600"/>
                  </a:cubicBezTo>
                  <a:cubicBezTo>
                    <a:pt x="12704" y="16350"/>
                    <a:pt x="12456" y="16500"/>
                    <a:pt x="12084" y="16650"/>
                  </a:cubicBezTo>
                  <a:cubicBezTo>
                    <a:pt x="11836" y="16650"/>
                    <a:pt x="11711" y="16800"/>
                    <a:pt x="11587" y="16800"/>
                  </a:cubicBezTo>
                  <a:cubicBezTo>
                    <a:pt x="11339" y="16950"/>
                    <a:pt x="11091" y="17100"/>
                    <a:pt x="10967" y="17100"/>
                  </a:cubicBezTo>
                  <a:cubicBezTo>
                    <a:pt x="10842" y="17100"/>
                    <a:pt x="10842" y="17100"/>
                    <a:pt x="10718" y="16950"/>
                  </a:cubicBezTo>
                  <a:cubicBezTo>
                    <a:pt x="10594" y="16950"/>
                    <a:pt x="10470" y="16800"/>
                    <a:pt x="10222" y="16650"/>
                  </a:cubicBezTo>
                  <a:cubicBezTo>
                    <a:pt x="10222" y="16650"/>
                    <a:pt x="10098" y="16500"/>
                    <a:pt x="9973" y="16500"/>
                  </a:cubicBezTo>
                  <a:cubicBezTo>
                    <a:pt x="9849" y="16350"/>
                    <a:pt x="9725" y="16350"/>
                    <a:pt x="9601" y="16350"/>
                  </a:cubicBezTo>
                  <a:cubicBezTo>
                    <a:pt x="9477" y="16350"/>
                    <a:pt x="9353" y="16200"/>
                    <a:pt x="9229" y="16200"/>
                  </a:cubicBezTo>
                  <a:cubicBezTo>
                    <a:pt x="9104" y="16200"/>
                    <a:pt x="8980" y="16050"/>
                    <a:pt x="8856" y="16050"/>
                  </a:cubicBezTo>
                  <a:cubicBezTo>
                    <a:pt x="8732" y="16050"/>
                    <a:pt x="8484" y="15900"/>
                    <a:pt x="8360" y="15750"/>
                  </a:cubicBezTo>
                  <a:cubicBezTo>
                    <a:pt x="8360" y="15750"/>
                    <a:pt x="8360" y="15750"/>
                    <a:pt x="8236" y="15600"/>
                  </a:cubicBezTo>
                  <a:cubicBezTo>
                    <a:pt x="8111" y="15450"/>
                    <a:pt x="8111" y="15450"/>
                    <a:pt x="7987" y="15450"/>
                  </a:cubicBezTo>
                  <a:cubicBezTo>
                    <a:pt x="7863" y="15450"/>
                    <a:pt x="7863" y="15450"/>
                    <a:pt x="7863" y="15450"/>
                  </a:cubicBezTo>
                  <a:cubicBezTo>
                    <a:pt x="7739" y="15450"/>
                    <a:pt x="7739" y="15450"/>
                    <a:pt x="7739" y="15450"/>
                  </a:cubicBezTo>
                  <a:cubicBezTo>
                    <a:pt x="7615" y="15600"/>
                    <a:pt x="7615" y="15750"/>
                    <a:pt x="7615" y="15900"/>
                  </a:cubicBezTo>
                  <a:cubicBezTo>
                    <a:pt x="7491" y="16050"/>
                    <a:pt x="7491" y="16200"/>
                    <a:pt x="7367" y="16350"/>
                  </a:cubicBezTo>
                  <a:cubicBezTo>
                    <a:pt x="6994" y="16500"/>
                    <a:pt x="6622" y="16500"/>
                    <a:pt x="6249" y="16650"/>
                  </a:cubicBezTo>
                  <a:cubicBezTo>
                    <a:pt x="6125" y="16650"/>
                    <a:pt x="5877" y="16650"/>
                    <a:pt x="5753" y="16650"/>
                  </a:cubicBezTo>
                  <a:cubicBezTo>
                    <a:pt x="5629" y="16800"/>
                    <a:pt x="5629" y="16800"/>
                    <a:pt x="5629" y="16800"/>
                  </a:cubicBezTo>
                  <a:cubicBezTo>
                    <a:pt x="5629" y="16800"/>
                    <a:pt x="5629" y="16800"/>
                    <a:pt x="5629" y="16800"/>
                  </a:cubicBezTo>
                  <a:cubicBezTo>
                    <a:pt x="5504" y="16950"/>
                    <a:pt x="5504" y="16950"/>
                    <a:pt x="5504" y="17100"/>
                  </a:cubicBezTo>
                  <a:cubicBezTo>
                    <a:pt x="5380" y="17250"/>
                    <a:pt x="5256" y="17400"/>
                    <a:pt x="5008" y="17400"/>
                  </a:cubicBezTo>
                  <a:cubicBezTo>
                    <a:pt x="4511" y="17550"/>
                    <a:pt x="4015" y="17550"/>
                    <a:pt x="3642" y="17550"/>
                  </a:cubicBezTo>
                  <a:cubicBezTo>
                    <a:pt x="3518" y="17550"/>
                    <a:pt x="3270" y="17550"/>
                    <a:pt x="3146" y="17550"/>
                  </a:cubicBezTo>
                  <a:cubicBezTo>
                    <a:pt x="3022" y="17550"/>
                    <a:pt x="3022" y="17550"/>
                    <a:pt x="3022" y="17550"/>
                  </a:cubicBezTo>
                  <a:cubicBezTo>
                    <a:pt x="2898" y="17550"/>
                    <a:pt x="2773" y="17550"/>
                    <a:pt x="2649" y="17550"/>
                  </a:cubicBezTo>
                  <a:cubicBezTo>
                    <a:pt x="2525" y="17550"/>
                    <a:pt x="2401" y="17550"/>
                    <a:pt x="2277" y="17700"/>
                  </a:cubicBezTo>
                  <a:cubicBezTo>
                    <a:pt x="2153" y="17700"/>
                    <a:pt x="2153" y="17850"/>
                    <a:pt x="2153" y="17850"/>
                  </a:cubicBezTo>
                  <a:cubicBezTo>
                    <a:pt x="2029" y="18000"/>
                    <a:pt x="2029" y="18000"/>
                    <a:pt x="1904" y="18000"/>
                  </a:cubicBezTo>
                  <a:cubicBezTo>
                    <a:pt x="1656" y="18000"/>
                    <a:pt x="1656" y="18000"/>
                    <a:pt x="1656" y="18000"/>
                  </a:cubicBezTo>
                  <a:cubicBezTo>
                    <a:pt x="1656" y="18300"/>
                    <a:pt x="1656" y="18300"/>
                    <a:pt x="1656" y="18300"/>
                  </a:cubicBezTo>
                  <a:cubicBezTo>
                    <a:pt x="1656" y="19350"/>
                    <a:pt x="1656" y="19650"/>
                    <a:pt x="2029" y="19650"/>
                  </a:cubicBezTo>
                  <a:cubicBezTo>
                    <a:pt x="2029" y="19650"/>
                    <a:pt x="2029" y="19650"/>
                    <a:pt x="2029" y="19650"/>
                  </a:cubicBezTo>
                  <a:cubicBezTo>
                    <a:pt x="1904" y="19800"/>
                    <a:pt x="1780" y="19800"/>
                    <a:pt x="1780" y="19950"/>
                  </a:cubicBezTo>
                  <a:cubicBezTo>
                    <a:pt x="1408" y="20400"/>
                    <a:pt x="1532" y="20850"/>
                    <a:pt x="1780" y="21300"/>
                  </a:cubicBezTo>
                  <a:cubicBezTo>
                    <a:pt x="1904" y="21300"/>
                    <a:pt x="2029" y="21450"/>
                    <a:pt x="2153" y="21600"/>
                  </a:cubicBezTo>
                  <a:cubicBezTo>
                    <a:pt x="2277" y="21600"/>
                    <a:pt x="2277" y="21600"/>
                    <a:pt x="2277" y="21600"/>
                  </a:cubicBezTo>
                  <a:cubicBezTo>
                    <a:pt x="2401" y="21450"/>
                    <a:pt x="2401" y="21450"/>
                    <a:pt x="2401" y="21450"/>
                  </a:cubicBezTo>
                  <a:cubicBezTo>
                    <a:pt x="2525" y="21450"/>
                    <a:pt x="2525" y="21300"/>
                    <a:pt x="2773" y="21150"/>
                  </a:cubicBezTo>
                  <a:cubicBezTo>
                    <a:pt x="3146" y="21000"/>
                    <a:pt x="3518" y="20850"/>
                    <a:pt x="3891" y="20700"/>
                  </a:cubicBezTo>
                  <a:cubicBezTo>
                    <a:pt x="4015" y="20700"/>
                    <a:pt x="4139" y="20700"/>
                    <a:pt x="4263" y="20700"/>
                  </a:cubicBezTo>
                  <a:cubicBezTo>
                    <a:pt x="4511" y="20700"/>
                    <a:pt x="4760" y="20700"/>
                    <a:pt x="4884" y="20700"/>
                  </a:cubicBezTo>
                  <a:cubicBezTo>
                    <a:pt x="5132" y="20850"/>
                    <a:pt x="5380" y="20850"/>
                    <a:pt x="5504" y="20850"/>
                  </a:cubicBezTo>
                  <a:cubicBezTo>
                    <a:pt x="5877" y="20850"/>
                    <a:pt x="6125" y="20700"/>
                    <a:pt x="6373" y="20700"/>
                  </a:cubicBezTo>
                  <a:cubicBezTo>
                    <a:pt x="6746" y="20400"/>
                    <a:pt x="7118" y="20100"/>
                    <a:pt x="7367" y="19650"/>
                  </a:cubicBezTo>
                  <a:cubicBezTo>
                    <a:pt x="8732" y="19650"/>
                    <a:pt x="8732" y="19650"/>
                    <a:pt x="8732" y="19650"/>
                  </a:cubicBezTo>
                  <a:cubicBezTo>
                    <a:pt x="9104" y="19800"/>
                    <a:pt x="9601" y="19800"/>
                    <a:pt x="9973" y="19800"/>
                  </a:cubicBezTo>
                  <a:cubicBezTo>
                    <a:pt x="10222" y="19800"/>
                    <a:pt x="10222" y="19800"/>
                    <a:pt x="10222" y="19800"/>
                  </a:cubicBezTo>
                  <a:cubicBezTo>
                    <a:pt x="10594" y="19800"/>
                    <a:pt x="11091" y="19800"/>
                    <a:pt x="11463" y="19650"/>
                  </a:cubicBezTo>
                  <a:cubicBezTo>
                    <a:pt x="11836" y="19650"/>
                    <a:pt x="12332" y="19650"/>
                    <a:pt x="12704" y="19650"/>
                  </a:cubicBezTo>
                  <a:cubicBezTo>
                    <a:pt x="13325" y="19650"/>
                    <a:pt x="13822" y="19650"/>
                    <a:pt x="14442" y="19800"/>
                  </a:cubicBezTo>
                  <a:cubicBezTo>
                    <a:pt x="14442" y="19800"/>
                    <a:pt x="14567" y="19800"/>
                    <a:pt x="14567" y="19800"/>
                  </a:cubicBezTo>
                  <a:cubicBezTo>
                    <a:pt x="14691" y="19650"/>
                    <a:pt x="14815" y="19650"/>
                    <a:pt x="14815" y="19650"/>
                  </a:cubicBezTo>
                  <a:cubicBezTo>
                    <a:pt x="14939" y="19650"/>
                    <a:pt x="14939" y="19650"/>
                    <a:pt x="15063" y="19800"/>
                  </a:cubicBezTo>
                  <a:cubicBezTo>
                    <a:pt x="15187" y="19800"/>
                    <a:pt x="15187" y="19950"/>
                    <a:pt x="15311" y="19950"/>
                  </a:cubicBezTo>
                  <a:cubicBezTo>
                    <a:pt x="15436" y="20100"/>
                    <a:pt x="15436" y="20100"/>
                    <a:pt x="15436" y="20100"/>
                  </a:cubicBezTo>
                  <a:cubicBezTo>
                    <a:pt x="15684" y="20250"/>
                    <a:pt x="15808" y="20400"/>
                    <a:pt x="16056" y="20400"/>
                  </a:cubicBezTo>
                  <a:cubicBezTo>
                    <a:pt x="16180" y="20550"/>
                    <a:pt x="16180" y="20550"/>
                    <a:pt x="16180" y="20550"/>
                  </a:cubicBezTo>
                  <a:cubicBezTo>
                    <a:pt x="16304" y="20550"/>
                    <a:pt x="16304" y="20700"/>
                    <a:pt x="16429" y="20700"/>
                  </a:cubicBezTo>
                  <a:cubicBezTo>
                    <a:pt x="16429" y="20700"/>
                    <a:pt x="16553" y="20850"/>
                    <a:pt x="16677" y="20850"/>
                  </a:cubicBezTo>
                  <a:cubicBezTo>
                    <a:pt x="16677" y="20850"/>
                    <a:pt x="16801" y="20850"/>
                    <a:pt x="16801" y="20850"/>
                  </a:cubicBezTo>
                  <a:cubicBezTo>
                    <a:pt x="16801" y="21000"/>
                    <a:pt x="16925" y="21000"/>
                    <a:pt x="16925" y="21000"/>
                  </a:cubicBezTo>
                  <a:cubicBezTo>
                    <a:pt x="16925" y="21000"/>
                    <a:pt x="16925" y="21000"/>
                    <a:pt x="16925" y="21000"/>
                  </a:cubicBezTo>
                  <a:cubicBezTo>
                    <a:pt x="17049" y="21000"/>
                    <a:pt x="17049" y="21000"/>
                    <a:pt x="17049" y="21000"/>
                  </a:cubicBezTo>
                  <a:cubicBezTo>
                    <a:pt x="17049" y="21000"/>
                    <a:pt x="17049" y="21000"/>
                    <a:pt x="17173" y="21000"/>
                  </a:cubicBezTo>
                  <a:cubicBezTo>
                    <a:pt x="17173" y="21000"/>
                    <a:pt x="17173" y="21000"/>
                    <a:pt x="17298" y="21000"/>
                  </a:cubicBezTo>
                  <a:cubicBezTo>
                    <a:pt x="17298" y="21000"/>
                    <a:pt x="17298" y="21000"/>
                    <a:pt x="17298" y="21000"/>
                  </a:cubicBezTo>
                  <a:cubicBezTo>
                    <a:pt x="17422" y="21000"/>
                    <a:pt x="17422" y="21000"/>
                    <a:pt x="17546" y="21150"/>
                  </a:cubicBezTo>
                  <a:cubicBezTo>
                    <a:pt x="17670" y="21300"/>
                    <a:pt x="17670" y="21300"/>
                    <a:pt x="17794" y="21450"/>
                  </a:cubicBezTo>
                  <a:cubicBezTo>
                    <a:pt x="17794" y="21450"/>
                    <a:pt x="17918" y="21450"/>
                    <a:pt x="17918" y="21450"/>
                  </a:cubicBezTo>
                  <a:cubicBezTo>
                    <a:pt x="18042" y="21450"/>
                    <a:pt x="18167" y="21300"/>
                    <a:pt x="18291" y="21300"/>
                  </a:cubicBezTo>
                  <a:cubicBezTo>
                    <a:pt x="18415" y="21150"/>
                    <a:pt x="18415" y="21150"/>
                    <a:pt x="18415" y="21150"/>
                  </a:cubicBezTo>
                  <a:cubicBezTo>
                    <a:pt x="18663" y="21000"/>
                    <a:pt x="18787" y="21000"/>
                    <a:pt x="19036" y="21000"/>
                  </a:cubicBezTo>
                  <a:cubicBezTo>
                    <a:pt x="19160" y="21000"/>
                    <a:pt x="19160" y="21000"/>
                    <a:pt x="19284" y="21000"/>
                  </a:cubicBezTo>
                  <a:cubicBezTo>
                    <a:pt x="19408" y="21000"/>
                    <a:pt x="19532" y="21000"/>
                    <a:pt x="19532" y="21000"/>
                  </a:cubicBezTo>
                  <a:cubicBezTo>
                    <a:pt x="19656" y="21000"/>
                    <a:pt x="19656" y="21000"/>
                    <a:pt x="19780" y="21000"/>
                  </a:cubicBezTo>
                  <a:cubicBezTo>
                    <a:pt x="19904" y="21000"/>
                    <a:pt x="19904" y="21000"/>
                    <a:pt x="19904" y="21000"/>
                  </a:cubicBezTo>
                  <a:cubicBezTo>
                    <a:pt x="20277" y="21000"/>
                    <a:pt x="20525" y="20850"/>
                    <a:pt x="20898" y="20700"/>
                  </a:cubicBezTo>
                  <a:cubicBezTo>
                    <a:pt x="21146" y="20700"/>
                    <a:pt x="21146" y="20700"/>
                    <a:pt x="21146" y="20700"/>
                  </a:cubicBezTo>
                  <a:cubicBezTo>
                    <a:pt x="21146" y="20550"/>
                    <a:pt x="21146" y="20550"/>
                    <a:pt x="21146" y="20550"/>
                  </a:cubicBezTo>
                  <a:lnTo>
                    <a:pt x="21146" y="20400"/>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72" name="Shape">
              <a:extLst>
                <a:ext uri="{FF2B5EF4-FFF2-40B4-BE49-F238E27FC236}">
                  <a16:creationId xmlns:a16="http://schemas.microsoft.com/office/drawing/2014/main" id="{62DFB84C-2AEA-BF44-8561-72CAA87C4944}"/>
                </a:ext>
              </a:extLst>
            </p:cNvPr>
            <p:cNvSpPr/>
            <p:nvPr/>
          </p:nvSpPr>
          <p:spPr>
            <a:xfrm>
              <a:off x="2916336" y="2948284"/>
              <a:ext cx="345533" cy="730655"/>
            </a:xfrm>
            <a:custGeom>
              <a:avLst/>
              <a:gdLst/>
              <a:ahLst/>
              <a:cxnLst>
                <a:cxn ang="0">
                  <a:pos x="wd2" y="hd2"/>
                </a:cxn>
                <a:cxn ang="5400000">
                  <a:pos x="wd2" y="hd2"/>
                </a:cxn>
                <a:cxn ang="10800000">
                  <a:pos x="wd2" y="hd2"/>
                </a:cxn>
                <a:cxn ang="16200000">
                  <a:pos x="wd2" y="hd2"/>
                </a:cxn>
              </a:cxnLst>
              <a:rect l="0" t="0" r="r" b="b"/>
              <a:pathLst>
                <a:path w="21345" h="21600" extrusionOk="0">
                  <a:moveTo>
                    <a:pt x="21345" y="5824"/>
                  </a:moveTo>
                  <a:cubicBezTo>
                    <a:pt x="21105" y="5824"/>
                    <a:pt x="21105" y="5824"/>
                    <a:pt x="21105" y="5824"/>
                  </a:cubicBezTo>
                  <a:cubicBezTo>
                    <a:pt x="21105" y="5824"/>
                    <a:pt x="21105" y="5824"/>
                    <a:pt x="21105" y="5824"/>
                  </a:cubicBezTo>
                  <a:cubicBezTo>
                    <a:pt x="20865" y="5718"/>
                    <a:pt x="20865" y="5718"/>
                    <a:pt x="20865" y="5718"/>
                  </a:cubicBezTo>
                  <a:cubicBezTo>
                    <a:pt x="20625" y="5612"/>
                    <a:pt x="20625" y="5612"/>
                    <a:pt x="20625" y="5506"/>
                  </a:cubicBezTo>
                  <a:cubicBezTo>
                    <a:pt x="20625" y="5400"/>
                    <a:pt x="20625" y="5294"/>
                    <a:pt x="20625" y="5294"/>
                  </a:cubicBezTo>
                  <a:cubicBezTo>
                    <a:pt x="20625" y="5188"/>
                    <a:pt x="20625" y="5082"/>
                    <a:pt x="20625" y="4976"/>
                  </a:cubicBezTo>
                  <a:cubicBezTo>
                    <a:pt x="20385" y="4553"/>
                    <a:pt x="20145" y="4341"/>
                    <a:pt x="19665" y="4024"/>
                  </a:cubicBezTo>
                  <a:cubicBezTo>
                    <a:pt x="19665" y="4024"/>
                    <a:pt x="19665" y="4024"/>
                    <a:pt x="19665" y="4024"/>
                  </a:cubicBezTo>
                  <a:cubicBezTo>
                    <a:pt x="19425" y="3812"/>
                    <a:pt x="18705" y="3600"/>
                    <a:pt x="18705" y="3282"/>
                  </a:cubicBezTo>
                  <a:cubicBezTo>
                    <a:pt x="18945" y="3176"/>
                    <a:pt x="19185" y="3071"/>
                    <a:pt x="19185" y="2859"/>
                  </a:cubicBezTo>
                  <a:cubicBezTo>
                    <a:pt x="19425" y="2753"/>
                    <a:pt x="19665" y="2753"/>
                    <a:pt x="19665" y="2647"/>
                  </a:cubicBezTo>
                  <a:cubicBezTo>
                    <a:pt x="19665" y="2435"/>
                    <a:pt x="19665" y="2435"/>
                    <a:pt x="19665" y="2435"/>
                  </a:cubicBezTo>
                  <a:cubicBezTo>
                    <a:pt x="19665" y="2435"/>
                    <a:pt x="19665" y="2435"/>
                    <a:pt x="19665" y="2435"/>
                  </a:cubicBezTo>
                  <a:cubicBezTo>
                    <a:pt x="19665" y="2329"/>
                    <a:pt x="19665" y="2329"/>
                    <a:pt x="19665" y="2329"/>
                  </a:cubicBezTo>
                  <a:cubicBezTo>
                    <a:pt x="19665" y="2329"/>
                    <a:pt x="19665" y="2329"/>
                    <a:pt x="19665" y="2329"/>
                  </a:cubicBezTo>
                  <a:cubicBezTo>
                    <a:pt x="19425" y="2224"/>
                    <a:pt x="19425" y="2224"/>
                    <a:pt x="19185" y="2118"/>
                  </a:cubicBezTo>
                  <a:cubicBezTo>
                    <a:pt x="18945" y="2012"/>
                    <a:pt x="18705" y="1906"/>
                    <a:pt x="18705" y="1800"/>
                  </a:cubicBezTo>
                  <a:cubicBezTo>
                    <a:pt x="18465" y="1694"/>
                    <a:pt x="18465" y="1694"/>
                    <a:pt x="18465" y="1694"/>
                  </a:cubicBezTo>
                  <a:cubicBezTo>
                    <a:pt x="18225" y="1588"/>
                    <a:pt x="17985" y="1482"/>
                    <a:pt x="17505" y="1376"/>
                  </a:cubicBezTo>
                  <a:cubicBezTo>
                    <a:pt x="17265" y="1271"/>
                    <a:pt x="17025" y="1271"/>
                    <a:pt x="17025" y="1165"/>
                  </a:cubicBezTo>
                  <a:cubicBezTo>
                    <a:pt x="16545" y="847"/>
                    <a:pt x="16545" y="847"/>
                    <a:pt x="16545" y="847"/>
                  </a:cubicBezTo>
                  <a:cubicBezTo>
                    <a:pt x="16065" y="741"/>
                    <a:pt x="15825" y="635"/>
                    <a:pt x="15585" y="424"/>
                  </a:cubicBezTo>
                  <a:cubicBezTo>
                    <a:pt x="15345" y="424"/>
                    <a:pt x="15345" y="424"/>
                    <a:pt x="15105" y="318"/>
                  </a:cubicBezTo>
                  <a:cubicBezTo>
                    <a:pt x="14865" y="106"/>
                    <a:pt x="14385" y="0"/>
                    <a:pt x="14145" y="0"/>
                  </a:cubicBezTo>
                  <a:cubicBezTo>
                    <a:pt x="14145" y="0"/>
                    <a:pt x="14145" y="0"/>
                    <a:pt x="14145" y="0"/>
                  </a:cubicBezTo>
                  <a:cubicBezTo>
                    <a:pt x="13905" y="0"/>
                    <a:pt x="13905" y="0"/>
                    <a:pt x="13905" y="0"/>
                  </a:cubicBezTo>
                  <a:cubicBezTo>
                    <a:pt x="13665" y="0"/>
                    <a:pt x="13185" y="106"/>
                    <a:pt x="12705" y="212"/>
                  </a:cubicBezTo>
                  <a:cubicBezTo>
                    <a:pt x="12465" y="212"/>
                    <a:pt x="12465" y="212"/>
                    <a:pt x="12465" y="212"/>
                  </a:cubicBezTo>
                  <a:cubicBezTo>
                    <a:pt x="12465" y="212"/>
                    <a:pt x="12225" y="318"/>
                    <a:pt x="12225" y="318"/>
                  </a:cubicBezTo>
                  <a:cubicBezTo>
                    <a:pt x="11745" y="424"/>
                    <a:pt x="11505" y="424"/>
                    <a:pt x="11265" y="529"/>
                  </a:cubicBezTo>
                  <a:cubicBezTo>
                    <a:pt x="11025" y="635"/>
                    <a:pt x="11025" y="635"/>
                    <a:pt x="11025" y="635"/>
                  </a:cubicBezTo>
                  <a:cubicBezTo>
                    <a:pt x="11265" y="741"/>
                    <a:pt x="11265" y="741"/>
                    <a:pt x="11265" y="741"/>
                  </a:cubicBezTo>
                  <a:cubicBezTo>
                    <a:pt x="11265" y="741"/>
                    <a:pt x="11505" y="847"/>
                    <a:pt x="11505" y="953"/>
                  </a:cubicBezTo>
                  <a:cubicBezTo>
                    <a:pt x="11505" y="953"/>
                    <a:pt x="11745" y="1059"/>
                    <a:pt x="11745" y="1059"/>
                  </a:cubicBezTo>
                  <a:cubicBezTo>
                    <a:pt x="11745" y="1376"/>
                    <a:pt x="11745" y="1588"/>
                    <a:pt x="11505" y="1588"/>
                  </a:cubicBezTo>
                  <a:cubicBezTo>
                    <a:pt x="11265" y="1694"/>
                    <a:pt x="11265" y="1694"/>
                    <a:pt x="11265" y="1694"/>
                  </a:cubicBezTo>
                  <a:cubicBezTo>
                    <a:pt x="11265" y="1800"/>
                    <a:pt x="11265" y="1800"/>
                    <a:pt x="11265" y="1800"/>
                  </a:cubicBezTo>
                  <a:cubicBezTo>
                    <a:pt x="11025" y="1906"/>
                    <a:pt x="11025" y="1906"/>
                    <a:pt x="11025" y="1906"/>
                  </a:cubicBezTo>
                  <a:cubicBezTo>
                    <a:pt x="11025" y="2118"/>
                    <a:pt x="10785" y="2224"/>
                    <a:pt x="10305" y="2435"/>
                  </a:cubicBezTo>
                  <a:cubicBezTo>
                    <a:pt x="10065" y="2541"/>
                    <a:pt x="9825" y="2647"/>
                    <a:pt x="9825" y="2753"/>
                  </a:cubicBezTo>
                  <a:cubicBezTo>
                    <a:pt x="9345" y="3071"/>
                    <a:pt x="8865" y="3176"/>
                    <a:pt x="8145" y="3388"/>
                  </a:cubicBezTo>
                  <a:cubicBezTo>
                    <a:pt x="8145" y="3388"/>
                    <a:pt x="8145" y="3388"/>
                    <a:pt x="8145" y="3388"/>
                  </a:cubicBezTo>
                  <a:cubicBezTo>
                    <a:pt x="7905" y="3388"/>
                    <a:pt x="7905" y="3388"/>
                    <a:pt x="7905" y="3388"/>
                  </a:cubicBezTo>
                  <a:cubicBezTo>
                    <a:pt x="7665" y="3388"/>
                    <a:pt x="7425" y="3388"/>
                    <a:pt x="7425" y="3388"/>
                  </a:cubicBezTo>
                  <a:cubicBezTo>
                    <a:pt x="7185" y="3388"/>
                    <a:pt x="6945" y="3282"/>
                    <a:pt x="6705" y="3282"/>
                  </a:cubicBezTo>
                  <a:cubicBezTo>
                    <a:pt x="6465" y="3282"/>
                    <a:pt x="6465" y="3282"/>
                    <a:pt x="6225" y="3388"/>
                  </a:cubicBezTo>
                  <a:cubicBezTo>
                    <a:pt x="5985" y="3388"/>
                    <a:pt x="5985" y="3388"/>
                    <a:pt x="5985" y="3388"/>
                  </a:cubicBezTo>
                  <a:cubicBezTo>
                    <a:pt x="5745" y="3388"/>
                    <a:pt x="5745" y="3388"/>
                    <a:pt x="5505" y="3388"/>
                  </a:cubicBezTo>
                  <a:cubicBezTo>
                    <a:pt x="5505" y="3282"/>
                    <a:pt x="5505" y="3282"/>
                    <a:pt x="5265" y="3282"/>
                  </a:cubicBezTo>
                  <a:cubicBezTo>
                    <a:pt x="5265" y="3176"/>
                    <a:pt x="5265" y="3176"/>
                    <a:pt x="5265" y="3176"/>
                  </a:cubicBezTo>
                  <a:cubicBezTo>
                    <a:pt x="5025" y="3176"/>
                    <a:pt x="5025" y="3176"/>
                    <a:pt x="5025" y="3176"/>
                  </a:cubicBezTo>
                  <a:cubicBezTo>
                    <a:pt x="5025" y="3176"/>
                    <a:pt x="5025" y="3176"/>
                    <a:pt x="4785" y="3176"/>
                  </a:cubicBezTo>
                  <a:cubicBezTo>
                    <a:pt x="4545" y="3176"/>
                    <a:pt x="4305" y="3282"/>
                    <a:pt x="4065" y="3388"/>
                  </a:cubicBezTo>
                  <a:cubicBezTo>
                    <a:pt x="4065" y="3388"/>
                    <a:pt x="3825" y="3494"/>
                    <a:pt x="3825" y="3600"/>
                  </a:cubicBezTo>
                  <a:cubicBezTo>
                    <a:pt x="3825" y="3706"/>
                    <a:pt x="3585" y="3812"/>
                    <a:pt x="3585" y="3812"/>
                  </a:cubicBezTo>
                  <a:cubicBezTo>
                    <a:pt x="3345" y="3918"/>
                    <a:pt x="3105" y="3918"/>
                    <a:pt x="2865" y="4024"/>
                  </a:cubicBezTo>
                  <a:cubicBezTo>
                    <a:pt x="2625" y="4024"/>
                    <a:pt x="2625" y="4024"/>
                    <a:pt x="2625" y="4024"/>
                  </a:cubicBezTo>
                  <a:cubicBezTo>
                    <a:pt x="2625" y="4341"/>
                    <a:pt x="2625" y="4341"/>
                    <a:pt x="2625" y="4341"/>
                  </a:cubicBezTo>
                  <a:cubicBezTo>
                    <a:pt x="2625" y="4659"/>
                    <a:pt x="2625" y="4871"/>
                    <a:pt x="2145" y="4976"/>
                  </a:cubicBezTo>
                  <a:cubicBezTo>
                    <a:pt x="945" y="5188"/>
                    <a:pt x="465" y="5824"/>
                    <a:pt x="225" y="6035"/>
                  </a:cubicBezTo>
                  <a:cubicBezTo>
                    <a:pt x="-255" y="6776"/>
                    <a:pt x="-15" y="6988"/>
                    <a:pt x="1425" y="7518"/>
                  </a:cubicBezTo>
                  <a:cubicBezTo>
                    <a:pt x="1665" y="7624"/>
                    <a:pt x="1665" y="7624"/>
                    <a:pt x="1905" y="7729"/>
                  </a:cubicBezTo>
                  <a:cubicBezTo>
                    <a:pt x="2625" y="7941"/>
                    <a:pt x="3345" y="8259"/>
                    <a:pt x="3825" y="8576"/>
                  </a:cubicBezTo>
                  <a:cubicBezTo>
                    <a:pt x="4305" y="8894"/>
                    <a:pt x="4305" y="9318"/>
                    <a:pt x="4065" y="9741"/>
                  </a:cubicBezTo>
                  <a:cubicBezTo>
                    <a:pt x="4065" y="9953"/>
                    <a:pt x="4065" y="10271"/>
                    <a:pt x="4065" y="10482"/>
                  </a:cubicBezTo>
                  <a:cubicBezTo>
                    <a:pt x="4305" y="10800"/>
                    <a:pt x="4545" y="11118"/>
                    <a:pt x="5025" y="11435"/>
                  </a:cubicBezTo>
                  <a:cubicBezTo>
                    <a:pt x="5265" y="11753"/>
                    <a:pt x="5745" y="11965"/>
                    <a:pt x="5745" y="12282"/>
                  </a:cubicBezTo>
                  <a:cubicBezTo>
                    <a:pt x="6225" y="12706"/>
                    <a:pt x="5985" y="13235"/>
                    <a:pt x="5985" y="13871"/>
                  </a:cubicBezTo>
                  <a:cubicBezTo>
                    <a:pt x="5985" y="14082"/>
                    <a:pt x="5745" y="14294"/>
                    <a:pt x="5745" y="14506"/>
                  </a:cubicBezTo>
                  <a:cubicBezTo>
                    <a:pt x="5745" y="14929"/>
                    <a:pt x="5985" y="15353"/>
                    <a:pt x="5985" y="15776"/>
                  </a:cubicBezTo>
                  <a:cubicBezTo>
                    <a:pt x="5985" y="15882"/>
                    <a:pt x="5985" y="15882"/>
                    <a:pt x="5985" y="15882"/>
                  </a:cubicBezTo>
                  <a:cubicBezTo>
                    <a:pt x="5985" y="16624"/>
                    <a:pt x="5985" y="17576"/>
                    <a:pt x="5745" y="18424"/>
                  </a:cubicBezTo>
                  <a:cubicBezTo>
                    <a:pt x="5745" y="18635"/>
                    <a:pt x="5745" y="18741"/>
                    <a:pt x="5745" y="18953"/>
                  </a:cubicBezTo>
                  <a:cubicBezTo>
                    <a:pt x="5505" y="19482"/>
                    <a:pt x="5265" y="19906"/>
                    <a:pt x="5985" y="20329"/>
                  </a:cubicBezTo>
                  <a:cubicBezTo>
                    <a:pt x="5985" y="20435"/>
                    <a:pt x="6225" y="20541"/>
                    <a:pt x="6225" y="20541"/>
                  </a:cubicBezTo>
                  <a:cubicBezTo>
                    <a:pt x="6465" y="20647"/>
                    <a:pt x="6705" y="20753"/>
                    <a:pt x="6705" y="20965"/>
                  </a:cubicBezTo>
                  <a:cubicBezTo>
                    <a:pt x="6705" y="21071"/>
                    <a:pt x="6705" y="21176"/>
                    <a:pt x="6705" y="21282"/>
                  </a:cubicBezTo>
                  <a:cubicBezTo>
                    <a:pt x="6465" y="21600"/>
                    <a:pt x="6465" y="21600"/>
                    <a:pt x="6465" y="21600"/>
                  </a:cubicBezTo>
                  <a:cubicBezTo>
                    <a:pt x="7665" y="21494"/>
                    <a:pt x="7665" y="21494"/>
                    <a:pt x="7665" y="21494"/>
                  </a:cubicBezTo>
                  <a:cubicBezTo>
                    <a:pt x="8145" y="21494"/>
                    <a:pt x="8625" y="21494"/>
                    <a:pt x="9105" y="21388"/>
                  </a:cubicBezTo>
                  <a:cubicBezTo>
                    <a:pt x="9585" y="21388"/>
                    <a:pt x="9825" y="21282"/>
                    <a:pt x="10305" y="21282"/>
                  </a:cubicBezTo>
                  <a:cubicBezTo>
                    <a:pt x="10785" y="21176"/>
                    <a:pt x="11265" y="21071"/>
                    <a:pt x="11745" y="21071"/>
                  </a:cubicBezTo>
                  <a:cubicBezTo>
                    <a:pt x="11985" y="21071"/>
                    <a:pt x="12225" y="21071"/>
                    <a:pt x="12705" y="21071"/>
                  </a:cubicBezTo>
                  <a:cubicBezTo>
                    <a:pt x="12945" y="21071"/>
                    <a:pt x="12945" y="21071"/>
                    <a:pt x="13185" y="21071"/>
                  </a:cubicBezTo>
                  <a:cubicBezTo>
                    <a:pt x="13665" y="21071"/>
                    <a:pt x="13665" y="21071"/>
                    <a:pt x="13665" y="21071"/>
                  </a:cubicBezTo>
                  <a:cubicBezTo>
                    <a:pt x="13905" y="20859"/>
                    <a:pt x="13905" y="20859"/>
                    <a:pt x="13905" y="20859"/>
                  </a:cubicBezTo>
                  <a:cubicBezTo>
                    <a:pt x="13905" y="20435"/>
                    <a:pt x="13905" y="19800"/>
                    <a:pt x="13905" y="19165"/>
                  </a:cubicBezTo>
                  <a:cubicBezTo>
                    <a:pt x="13665" y="18847"/>
                    <a:pt x="13665" y="18529"/>
                    <a:pt x="13665" y="18212"/>
                  </a:cubicBezTo>
                  <a:cubicBezTo>
                    <a:pt x="13905" y="17788"/>
                    <a:pt x="13905" y="17365"/>
                    <a:pt x="13665" y="16941"/>
                  </a:cubicBezTo>
                  <a:cubicBezTo>
                    <a:pt x="13665" y="16200"/>
                    <a:pt x="13425" y="15565"/>
                    <a:pt x="13665" y="14824"/>
                  </a:cubicBezTo>
                  <a:cubicBezTo>
                    <a:pt x="13665" y="14294"/>
                    <a:pt x="13665" y="13871"/>
                    <a:pt x="13665" y="13341"/>
                  </a:cubicBezTo>
                  <a:cubicBezTo>
                    <a:pt x="13665" y="13129"/>
                    <a:pt x="13665" y="12918"/>
                    <a:pt x="13665" y="12706"/>
                  </a:cubicBezTo>
                  <a:cubicBezTo>
                    <a:pt x="13665" y="12600"/>
                    <a:pt x="13665" y="12600"/>
                    <a:pt x="13665" y="12600"/>
                  </a:cubicBezTo>
                  <a:cubicBezTo>
                    <a:pt x="13905" y="12494"/>
                    <a:pt x="13905" y="12388"/>
                    <a:pt x="13905" y="12282"/>
                  </a:cubicBezTo>
                  <a:cubicBezTo>
                    <a:pt x="13665" y="12176"/>
                    <a:pt x="13665" y="12071"/>
                    <a:pt x="13905" y="11859"/>
                  </a:cubicBezTo>
                  <a:cubicBezTo>
                    <a:pt x="13905" y="11647"/>
                    <a:pt x="14385" y="11647"/>
                    <a:pt x="15105" y="11541"/>
                  </a:cubicBezTo>
                  <a:cubicBezTo>
                    <a:pt x="15345" y="11541"/>
                    <a:pt x="15345" y="11541"/>
                    <a:pt x="15585" y="11541"/>
                  </a:cubicBezTo>
                  <a:cubicBezTo>
                    <a:pt x="16545" y="11435"/>
                    <a:pt x="16545" y="11012"/>
                    <a:pt x="16545" y="10588"/>
                  </a:cubicBezTo>
                  <a:cubicBezTo>
                    <a:pt x="16545" y="10376"/>
                    <a:pt x="16545" y="10165"/>
                    <a:pt x="16785" y="9953"/>
                  </a:cubicBezTo>
                  <a:cubicBezTo>
                    <a:pt x="17025" y="9847"/>
                    <a:pt x="17025" y="9741"/>
                    <a:pt x="17265" y="9635"/>
                  </a:cubicBezTo>
                  <a:cubicBezTo>
                    <a:pt x="17505" y="9424"/>
                    <a:pt x="17985" y="9106"/>
                    <a:pt x="18465" y="9000"/>
                  </a:cubicBezTo>
                  <a:cubicBezTo>
                    <a:pt x="18705" y="8894"/>
                    <a:pt x="18705" y="8894"/>
                    <a:pt x="18705" y="8894"/>
                  </a:cubicBezTo>
                  <a:cubicBezTo>
                    <a:pt x="19185" y="8788"/>
                    <a:pt x="19425" y="8788"/>
                    <a:pt x="19425" y="8576"/>
                  </a:cubicBezTo>
                  <a:cubicBezTo>
                    <a:pt x="19665" y="8576"/>
                    <a:pt x="19665" y="8471"/>
                    <a:pt x="19665" y="8471"/>
                  </a:cubicBezTo>
                  <a:cubicBezTo>
                    <a:pt x="19665" y="8365"/>
                    <a:pt x="19665" y="8365"/>
                    <a:pt x="19905" y="8259"/>
                  </a:cubicBezTo>
                  <a:cubicBezTo>
                    <a:pt x="19905" y="8259"/>
                    <a:pt x="19905" y="8153"/>
                    <a:pt x="19905" y="8153"/>
                  </a:cubicBezTo>
                  <a:cubicBezTo>
                    <a:pt x="20145" y="8153"/>
                    <a:pt x="20145" y="8047"/>
                    <a:pt x="20145" y="7941"/>
                  </a:cubicBezTo>
                  <a:cubicBezTo>
                    <a:pt x="20145" y="7835"/>
                    <a:pt x="20145" y="7729"/>
                    <a:pt x="20145" y="7729"/>
                  </a:cubicBezTo>
                  <a:cubicBezTo>
                    <a:pt x="19905" y="7729"/>
                    <a:pt x="19905" y="7729"/>
                    <a:pt x="19905" y="7729"/>
                  </a:cubicBezTo>
                  <a:cubicBezTo>
                    <a:pt x="19905" y="7624"/>
                    <a:pt x="19665" y="7518"/>
                    <a:pt x="19665" y="7412"/>
                  </a:cubicBezTo>
                  <a:cubicBezTo>
                    <a:pt x="19665" y="7200"/>
                    <a:pt x="19665" y="6988"/>
                    <a:pt x="20385" y="6882"/>
                  </a:cubicBezTo>
                  <a:cubicBezTo>
                    <a:pt x="20865" y="6882"/>
                    <a:pt x="21105" y="6671"/>
                    <a:pt x="21345" y="6459"/>
                  </a:cubicBezTo>
                  <a:cubicBezTo>
                    <a:pt x="21345" y="6247"/>
                    <a:pt x="21345" y="6035"/>
                    <a:pt x="21345" y="5824"/>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73" name="Shape">
              <a:extLst>
                <a:ext uri="{FF2B5EF4-FFF2-40B4-BE49-F238E27FC236}">
                  <a16:creationId xmlns:a16="http://schemas.microsoft.com/office/drawing/2014/main" id="{1FF3DD0F-B3F4-6842-A5F2-E4CA9631AF47}"/>
                </a:ext>
              </a:extLst>
            </p:cNvPr>
            <p:cNvSpPr/>
            <p:nvPr/>
          </p:nvSpPr>
          <p:spPr>
            <a:xfrm>
              <a:off x="937463" y="1143374"/>
              <a:ext cx="970796" cy="823466"/>
            </a:xfrm>
            <a:custGeom>
              <a:avLst/>
              <a:gdLst/>
              <a:ahLst/>
              <a:cxnLst>
                <a:cxn ang="0">
                  <a:pos x="wd2" y="hd2"/>
                </a:cxn>
                <a:cxn ang="5400000">
                  <a:pos x="wd2" y="hd2"/>
                </a:cxn>
                <a:cxn ang="10800000">
                  <a:pos x="wd2" y="hd2"/>
                </a:cxn>
                <a:cxn ang="16200000">
                  <a:pos x="wd2" y="hd2"/>
                </a:cxn>
              </a:cxnLst>
              <a:rect l="0" t="0" r="r" b="b"/>
              <a:pathLst>
                <a:path w="21578" h="21600" extrusionOk="0">
                  <a:moveTo>
                    <a:pt x="10432" y="0"/>
                  </a:moveTo>
                  <a:cubicBezTo>
                    <a:pt x="10346" y="94"/>
                    <a:pt x="10346" y="94"/>
                    <a:pt x="10346" y="94"/>
                  </a:cubicBezTo>
                  <a:cubicBezTo>
                    <a:pt x="10346" y="188"/>
                    <a:pt x="10260" y="376"/>
                    <a:pt x="10173" y="470"/>
                  </a:cubicBezTo>
                  <a:cubicBezTo>
                    <a:pt x="10173" y="657"/>
                    <a:pt x="10087" y="845"/>
                    <a:pt x="10000" y="939"/>
                  </a:cubicBezTo>
                  <a:cubicBezTo>
                    <a:pt x="10000" y="1127"/>
                    <a:pt x="10000" y="1221"/>
                    <a:pt x="9914" y="1315"/>
                  </a:cubicBezTo>
                  <a:cubicBezTo>
                    <a:pt x="9741" y="1878"/>
                    <a:pt x="9568" y="2536"/>
                    <a:pt x="9136" y="2911"/>
                  </a:cubicBezTo>
                  <a:cubicBezTo>
                    <a:pt x="8877" y="3287"/>
                    <a:pt x="8445" y="3475"/>
                    <a:pt x="8100" y="3663"/>
                  </a:cubicBezTo>
                  <a:cubicBezTo>
                    <a:pt x="8013" y="3663"/>
                    <a:pt x="7840" y="3757"/>
                    <a:pt x="7754" y="3850"/>
                  </a:cubicBezTo>
                  <a:cubicBezTo>
                    <a:pt x="7668" y="3850"/>
                    <a:pt x="7581" y="3944"/>
                    <a:pt x="7495" y="3944"/>
                  </a:cubicBezTo>
                  <a:cubicBezTo>
                    <a:pt x="7236" y="4038"/>
                    <a:pt x="7063" y="4132"/>
                    <a:pt x="6976" y="4414"/>
                  </a:cubicBezTo>
                  <a:cubicBezTo>
                    <a:pt x="6890" y="4602"/>
                    <a:pt x="6890" y="4790"/>
                    <a:pt x="6890" y="4883"/>
                  </a:cubicBezTo>
                  <a:cubicBezTo>
                    <a:pt x="6890" y="4883"/>
                    <a:pt x="6890" y="4977"/>
                    <a:pt x="6890" y="4977"/>
                  </a:cubicBezTo>
                  <a:cubicBezTo>
                    <a:pt x="6890" y="5165"/>
                    <a:pt x="6890" y="5165"/>
                    <a:pt x="6804" y="5353"/>
                  </a:cubicBezTo>
                  <a:cubicBezTo>
                    <a:pt x="6717" y="5541"/>
                    <a:pt x="6458" y="5823"/>
                    <a:pt x="6372" y="6104"/>
                  </a:cubicBezTo>
                  <a:cubicBezTo>
                    <a:pt x="6372" y="6292"/>
                    <a:pt x="6285" y="6386"/>
                    <a:pt x="6285" y="6480"/>
                  </a:cubicBezTo>
                  <a:cubicBezTo>
                    <a:pt x="6199" y="6574"/>
                    <a:pt x="6112" y="6668"/>
                    <a:pt x="6026" y="6856"/>
                  </a:cubicBezTo>
                  <a:cubicBezTo>
                    <a:pt x="6026" y="7137"/>
                    <a:pt x="5940" y="7513"/>
                    <a:pt x="6026" y="7795"/>
                  </a:cubicBezTo>
                  <a:cubicBezTo>
                    <a:pt x="6026" y="8077"/>
                    <a:pt x="5940" y="8358"/>
                    <a:pt x="5940" y="8640"/>
                  </a:cubicBezTo>
                  <a:cubicBezTo>
                    <a:pt x="5853" y="8828"/>
                    <a:pt x="5767" y="9016"/>
                    <a:pt x="5594" y="9203"/>
                  </a:cubicBezTo>
                  <a:cubicBezTo>
                    <a:pt x="5421" y="9391"/>
                    <a:pt x="5421" y="9391"/>
                    <a:pt x="5421" y="9391"/>
                  </a:cubicBezTo>
                  <a:cubicBezTo>
                    <a:pt x="5335" y="9485"/>
                    <a:pt x="5162" y="9673"/>
                    <a:pt x="4989" y="9861"/>
                  </a:cubicBezTo>
                  <a:cubicBezTo>
                    <a:pt x="4730" y="10049"/>
                    <a:pt x="4557" y="10330"/>
                    <a:pt x="4384" y="10518"/>
                  </a:cubicBezTo>
                  <a:cubicBezTo>
                    <a:pt x="4298" y="10612"/>
                    <a:pt x="4298" y="10612"/>
                    <a:pt x="4298" y="10612"/>
                  </a:cubicBezTo>
                  <a:cubicBezTo>
                    <a:pt x="4212" y="10800"/>
                    <a:pt x="4125" y="10894"/>
                    <a:pt x="4039" y="10988"/>
                  </a:cubicBezTo>
                  <a:cubicBezTo>
                    <a:pt x="3952" y="10988"/>
                    <a:pt x="3952" y="10988"/>
                    <a:pt x="3866" y="11082"/>
                  </a:cubicBezTo>
                  <a:cubicBezTo>
                    <a:pt x="3780" y="11082"/>
                    <a:pt x="3693" y="11176"/>
                    <a:pt x="3607" y="11270"/>
                  </a:cubicBezTo>
                  <a:cubicBezTo>
                    <a:pt x="3520" y="11363"/>
                    <a:pt x="3434" y="11457"/>
                    <a:pt x="3348" y="11551"/>
                  </a:cubicBezTo>
                  <a:cubicBezTo>
                    <a:pt x="3348" y="11645"/>
                    <a:pt x="3348" y="11645"/>
                    <a:pt x="3348" y="11645"/>
                  </a:cubicBezTo>
                  <a:cubicBezTo>
                    <a:pt x="3348" y="11645"/>
                    <a:pt x="3261" y="11739"/>
                    <a:pt x="3261" y="11739"/>
                  </a:cubicBezTo>
                  <a:cubicBezTo>
                    <a:pt x="3088" y="11927"/>
                    <a:pt x="3002" y="12021"/>
                    <a:pt x="3002" y="12209"/>
                  </a:cubicBezTo>
                  <a:cubicBezTo>
                    <a:pt x="3088" y="12490"/>
                    <a:pt x="3088" y="12490"/>
                    <a:pt x="3088" y="12490"/>
                  </a:cubicBezTo>
                  <a:cubicBezTo>
                    <a:pt x="3261" y="12397"/>
                    <a:pt x="3261" y="12397"/>
                    <a:pt x="3261" y="12397"/>
                  </a:cubicBezTo>
                  <a:cubicBezTo>
                    <a:pt x="3175" y="12397"/>
                    <a:pt x="3175" y="12397"/>
                    <a:pt x="3175" y="12490"/>
                  </a:cubicBezTo>
                  <a:cubicBezTo>
                    <a:pt x="3002" y="12772"/>
                    <a:pt x="2829" y="13054"/>
                    <a:pt x="2743" y="13430"/>
                  </a:cubicBezTo>
                  <a:cubicBezTo>
                    <a:pt x="2656" y="13523"/>
                    <a:pt x="2656" y="13711"/>
                    <a:pt x="2570" y="13805"/>
                  </a:cubicBezTo>
                  <a:cubicBezTo>
                    <a:pt x="2570" y="13993"/>
                    <a:pt x="2570" y="14181"/>
                    <a:pt x="2484" y="14275"/>
                  </a:cubicBezTo>
                  <a:cubicBezTo>
                    <a:pt x="2484" y="14369"/>
                    <a:pt x="2397" y="14369"/>
                    <a:pt x="2397" y="14369"/>
                  </a:cubicBezTo>
                  <a:cubicBezTo>
                    <a:pt x="2311" y="14463"/>
                    <a:pt x="2224" y="14557"/>
                    <a:pt x="2224" y="14650"/>
                  </a:cubicBezTo>
                  <a:cubicBezTo>
                    <a:pt x="2138" y="14838"/>
                    <a:pt x="2138" y="14932"/>
                    <a:pt x="2052" y="15120"/>
                  </a:cubicBezTo>
                  <a:cubicBezTo>
                    <a:pt x="2052" y="15214"/>
                    <a:pt x="2052" y="15214"/>
                    <a:pt x="2052" y="15214"/>
                  </a:cubicBezTo>
                  <a:cubicBezTo>
                    <a:pt x="2052" y="15214"/>
                    <a:pt x="2052" y="15308"/>
                    <a:pt x="2052" y="15308"/>
                  </a:cubicBezTo>
                  <a:cubicBezTo>
                    <a:pt x="2052" y="15402"/>
                    <a:pt x="2052" y="15496"/>
                    <a:pt x="1965" y="15590"/>
                  </a:cubicBezTo>
                  <a:cubicBezTo>
                    <a:pt x="1879" y="15777"/>
                    <a:pt x="1879" y="15871"/>
                    <a:pt x="1792" y="15965"/>
                  </a:cubicBezTo>
                  <a:cubicBezTo>
                    <a:pt x="1792" y="16059"/>
                    <a:pt x="1706" y="16153"/>
                    <a:pt x="1620" y="16247"/>
                  </a:cubicBezTo>
                  <a:cubicBezTo>
                    <a:pt x="1620" y="16341"/>
                    <a:pt x="1620" y="16341"/>
                    <a:pt x="1447" y="16341"/>
                  </a:cubicBezTo>
                  <a:cubicBezTo>
                    <a:pt x="1447" y="16341"/>
                    <a:pt x="1447" y="16341"/>
                    <a:pt x="1447" y="16341"/>
                  </a:cubicBezTo>
                  <a:cubicBezTo>
                    <a:pt x="1101" y="16435"/>
                    <a:pt x="928" y="16717"/>
                    <a:pt x="842" y="16998"/>
                  </a:cubicBezTo>
                  <a:cubicBezTo>
                    <a:pt x="756" y="16998"/>
                    <a:pt x="756" y="16998"/>
                    <a:pt x="756" y="16998"/>
                  </a:cubicBezTo>
                  <a:cubicBezTo>
                    <a:pt x="669" y="17280"/>
                    <a:pt x="583" y="17562"/>
                    <a:pt x="496" y="17750"/>
                  </a:cubicBezTo>
                  <a:cubicBezTo>
                    <a:pt x="410" y="18031"/>
                    <a:pt x="410" y="18407"/>
                    <a:pt x="410" y="18689"/>
                  </a:cubicBezTo>
                  <a:cubicBezTo>
                    <a:pt x="410" y="18877"/>
                    <a:pt x="410" y="19158"/>
                    <a:pt x="324" y="19346"/>
                  </a:cubicBezTo>
                  <a:cubicBezTo>
                    <a:pt x="237" y="19628"/>
                    <a:pt x="151" y="20003"/>
                    <a:pt x="151" y="20285"/>
                  </a:cubicBezTo>
                  <a:cubicBezTo>
                    <a:pt x="151" y="20379"/>
                    <a:pt x="151" y="20379"/>
                    <a:pt x="151" y="20379"/>
                  </a:cubicBezTo>
                  <a:cubicBezTo>
                    <a:pt x="64" y="20473"/>
                    <a:pt x="64" y="20473"/>
                    <a:pt x="64" y="20567"/>
                  </a:cubicBezTo>
                  <a:cubicBezTo>
                    <a:pt x="-22" y="20849"/>
                    <a:pt x="-22" y="21130"/>
                    <a:pt x="64" y="21412"/>
                  </a:cubicBezTo>
                  <a:cubicBezTo>
                    <a:pt x="151" y="21600"/>
                    <a:pt x="151" y="21600"/>
                    <a:pt x="151" y="21600"/>
                  </a:cubicBezTo>
                  <a:cubicBezTo>
                    <a:pt x="324" y="21506"/>
                    <a:pt x="324" y="21506"/>
                    <a:pt x="324" y="21506"/>
                  </a:cubicBezTo>
                  <a:cubicBezTo>
                    <a:pt x="496" y="21318"/>
                    <a:pt x="583" y="21037"/>
                    <a:pt x="583" y="20849"/>
                  </a:cubicBezTo>
                  <a:cubicBezTo>
                    <a:pt x="583" y="20755"/>
                    <a:pt x="583" y="20661"/>
                    <a:pt x="583" y="20661"/>
                  </a:cubicBezTo>
                  <a:cubicBezTo>
                    <a:pt x="669" y="20567"/>
                    <a:pt x="669" y="20473"/>
                    <a:pt x="669" y="20379"/>
                  </a:cubicBezTo>
                  <a:cubicBezTo>
                    <a:pt x="669" y="20379"/>
                    <a:pt x="669" y="20379"/>
                    <a:pt x="669" y="20379"/>
                  </a:cubicBezTo>
                  <a:cubicBezTo>
                    <a:pt x="669" y="19534"/>
                    <a:pt x="669" y="19534"/>
                    <a:pt x="669" y="19534"/>
                  </a:cubicBezTo>
                  <a:cubicBezTo>
                    <a:pt x="10346" y="19534"/>
                    <a:pt x="10346" y="19534"/>
                    <a:pt x="10346" y="19534"/>
                  </a:cubicBezTo>
                  <a:cubicBezTo>
                    <a:pt x="10260" y="15777"/>
                    <a:pt x="10260" y="15777"/>
                    <a:pt x="10260" y="15777"/>
                  </a:cubicBezTo>
                  <a:cubicBezTo>
                    <a:pt x="10173" y="15683"/>
                    <a:pt x="10173" y="15683"/>
                    <a:pt x="10173" y="15683"/>
                  </a:cubicBezTo>
                  <a:cubicBezTo>
                    <a:pt x="10087" y="15496"/>
                    <a:pt x="10087" y="15026"/>
                    <a:pt x="10260" y="14838"/>
                  </a:cubicBezTo>
                  <a:cubicBezTo>
                    <a:pt x="10432" y="14369"/>
                    <a:pt x="11037" y="13805"/>
                    <a:pt x="11469" y="13617"/>
                  </a:cubicBezTo>
                  <a:cubicBezTo>
                    <a:pt x="11642" y="13617"/>
                    <a:pt x="11728" y="13523"/>
                    <a:pt x="11815" y="13523"/>
                  </a:cubicBezTo>
                  <a:cubicBezTo>
                    <a:pt x="11988" y="13430"/>
                    <a:pt x="12074" y="13430"/>
                    <a:pt x="12247" y="13336"/>
                  </a:cubicBezTo>
                  <a:cubicBezTo>
                    <a:pt x="12506" y="13242"/>
                    <a:pt x="13024" y="13148"/>
                    <a:pt x="13024" y="12678"/>
                  </a:cubicBezTo>
                  <a:cubicBezTo>
                    <a:pt x="13024" y="12584"/>
                    <a:pt x="13024" y="12397"/>
                    <a:pt x="13024" y="12209"/>
                  </a:cubicBezTo>
                  <a:cubicBezTo>
                    <a:pt x="13024" y="12021"/>
                    <a:pt x="13024" y="12021"/>
                    <a:pt x="13024" y="12021"/>
                  </a:cubicBezTo>
                  <a:cubicBezTo>
                    <a:pt x="13024" y="11551"/>
                    <a:pt x="13111" y="11082"/>
                    <a:pt x="13111" y="10612"/>
                  </a:cubicBezTo>
                  <a:cubicBezTo>
                    <a:pt x="13111" y="10612"/>
                    <a:pt x="13111" y="10612"/>
                    <a:pt x="13111" y="10612"/>
                  </a:cubicBezTo>
                  <a:cubicBezTo>
                    <a:pt x="13111" y="9673"/>
                    <a:pt x="13197" y="8734"/>
                    <a:pt x="13197" y="7889"/>
                  </a:cubicBezTo>
                  <a:cubicBezTo>
                    <a:pt x="13197" y="7325"/>
                    <a:pt x="13284" y="6856"/>
                    <a:pt x="13284" y="6386"/>
                  </a:cubicBezTo>
                  <a:cubicBezTo>
                    <a:pt x="13284" y="6292"/>
                    <a:pt x="13284" y="6292"/>
                    <a:pt x="13284" y="6292"/>
                  </a:cubicBezTo>
                  <a:cubicBezTo>
                    <a:pt x="13284" y="5917"/>
                    <a:pt x="13284" y="5635"/>
                    <a:pt x="13284" y="5353"/>
                  </a:cubicBezTo>
                  <a:cubicBezTo>
                    <a:pt x="21492" y="5165"/>
                    <a:pt x="21492" y="5165"/>
                    <a:pt x="21492" y="5165"/>
                  </a:cubicBezTo>
                  <a:cubicBezTo>
                    <a:pt x="21578" y="0"/>
                    <a:pt x="21578" y="0"/>
                    <a:pt x="21578" y="0"/>
                  </a:cubicBezTo>
                  <a:lnTo>
                    <a:pt x="10432" y="0"/>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74" name="Shape">
              <a:extLst>
                <a:ext uri="{FF2B5EF4-FFF2-40B4-BE49-F238E27FC236}">
                  <a16:creationId xmlns:a16="http://schemas.microsoft.com/office/drawing/2014/main" id="{5DF78D06-717D-4C42-A172-CE8C8FCA4139}"/>
                </a:ext>
              </a:extLst>
            </p:cNvPr>
            <p:cNvSpPr/>
            <p:nvPr/>
          </p:nvSpPr>
          <p:spPr>
            <a:xfrm>
              <a:off x="1867766" y="3139834"/>
              <a:ext cx="679183" cy="764226"/>
            </a:xfrm>
            <a:custGeom>
              <a:avLst/>
              <a:gdLst/>
              <a:ahLst/>
              <a:cxnLst>
                <a:cxn ang="0">
                  <a:pos x="wd2" y="hd2"/>
                </a:cxn>
                <a:cxn ang="5400000">
                  <a:pos x="wd2" y="hd2"/>
                </a:cxn>
                <a:cxn ang="10800000">
                  <a:pos x="wd2" y="hd2"/>
                </a:cxn>
                <a:cxn ang="16200000">
                  <a:pos x="wd2" y="hd2"/>
                </a:cxn>
              </a:cxnLst>
              <a:rect l="0" t="0" r="r" b="b"/>
              <a:pathLst>
                <a:path w="21304" h="21600" extrusionOk="0">
                  <a:moveTo>
                    <a:pt x="20969" y="8924"/>
                  </a:moveTo>
                  <a:cubicBezTo>
                    <a:pt x="21457" y="8113"/>
                    <a:pt x="21335" y="7403"/>
                    <a:pt x="21091" y="6592"/>
                  </a:cubicBezTo>
                  <a:cubicBezTo>
                    <a:pt x="21091" y="6389"/>
                    <a:pt x="20969" y="6186"/>
                    <a:pt x="20847" y="5983"/>
                  </a:cubicBezTo>
                  <a:cubicBezTo>
                    <a:pt x="20725" y="5983"/>
                    <a:pt x="20725" y="5882"/>
                    <a:pt x="20603" y="5780"/>
                  </a:cubicBezTo>
                  <a:cubicBezTo>
                    <a:pt x="20481" y="5476"/>
                    <a:pt x="20481" y="5375"/>
                    <a:pt x="20603" y="5172"/>
                  </a:cubicBezTo>
                  <a:cubicBezTo>
                    <a:pt x="20603" y="4969"/>
                    <a:pt x="20603" y="4868"/>
                    <a:pt x="20603" y="4665"/>
                  </a:cubicBezTo>
                  <a:cubicBezTo>
                    <a:pt x="20481" y="4158"/>
                    <a:pt x="19871" y="3549"/>
                    <a:pt x="19382" y="3144"/>
                  </a:cubicBezTo>
                  <a:cubicBezTo>
                    <a:pt x="18894" y="2738"/>
                    <a:pt x="18406" y="2535"/>
                    <a:pt x="17674" y="2535"/>
                  </a:cubicBezTo>
                  <a:cubicBezTo>
                    <a:pt x="17430" y="2535"/>
                    <a:pt x="17186" y="2637"/>
                    <a:pt x="16820" y="2637"/>
                  </a:cubicBezTo>
                  <a:cubicBezTo>
                    <a:pt x="16576" y="2738"/>
                    <a:pt x="16332" y="2839"/>
                    <a:pt x="16088" y="2941"/>
                  </a:cubicBezTo>
                  <a:cubicBezTo>
                    <a:pt x="15965" y="2941"/>
                    <a:pt x="15965" y="2941"/>
                    <a:pt x="15965" y="2941"/>
                  </a:cubicBezTo>
                  <a:cubicBezTo>
                    <a:pt x="15965" y="3042"/>
                    <a:pt x="15843" y="3042"/>
                    <a:pt x="15721" y="3042"/>
                  </a:cubicBezTo>
                  <a:cubicBezTo>
                    <a:pt x="15599" y="3144"/>
                    <a:pt x="15477" y="3245"/>
                    <a:pt x="15233" y="3448"/>
                  </a:cubicBezTo>
                  <a:cubicBezTo>
                    <a:pt x="15111" y="3549"/>
                    <a:pt x="14989" y="3752"/>
                    <a:pt x="14745" y="3752"/>
                  </a:cubicBezTo>
                  <a:cubicBezTo>
                    <a:pt x="14623" y="3752"/>
                    <a:pt x="14501" y="3651"/>
                    <a:pt x="14379" y="3549"/>
                  </a:cubicBezTo>
                  <a:cubicBezTo>
                    <a:pt x="14257" y="3448"/>
                    <a:pt x="14013" y="3346"/>
                    <a:pt x="13891" y="3346"/>
                  </a:cubicBezTo>
                  <a:cubicBezTo>
                    <a:pt x="13891" y="3346"/>
                    <a:pt x="13769" y="3245"/>
                    <a:pt x="13647" y="3245"/>
                  </a:cubicBezTo>
                  <a:cubicBezTo>
                    <a:pt x="13403" y="3245"/>
                    <a:pt x="13281" y="3245"/>
                    <a:pt x="13037" y="2839"/>
                  </a:cubicBezTo>
                  <a:cubicBezTo>
                    <a:pt x="12793" y="2434"/>
                    <a:pt x="12182" y="1521"/>
                    <a:pt x="11450" y="1420"/>
                  </a:cubicBezTo>
                  <a:cubicBezTo>
                    <a:pt x="11328" y="1420"/>
                    <a:pt x="11328" y="1420"/>
                    <a:pt x="11206" y="1420"/>
                  </a:cubicBezTo>
                  <a:cubicBezTo>
                    <a:pt x="11084" y="1420"/>
                    <a:pt x="10962" y="1420"/>
                    <a:pt x="10840" y="1318"/>
                  </a:cubicBezTo>
                  <a:cubicBezTo>
                    <a:pt x="10718" y="1217"/>
                    <a:pt x="10718" y="1217"/>
                    <a:pt x="10596" y="1115"/>
                  </a:cubicBezTo>
                  <a:cubicBezTo>
                    <a:pt x="10596" y="1115"/>
                    <a:pt x="10474" y="1014"/>
                    <a:pt x="10352" y="1014"/>
                  </a:cubicBezTo>
                  <a:cubicBezTo>
                    <a:pt x="10352" y="913"/>
                    <a:pt x="10230" y="913"/>
                    <a:pt x="10230" y="913"/>
                  </a:cubicBezTo>
                  <a:cubicBezTo>
                    <a:pt x="9864" y="913"/>
                    <a:pt x="9620" y="1115"/>
                    <a:pt x="9376" y="1318"/>
                  </a:cubicBezTo>
                  <a:cubicBezTo>
                    <a:pt x="9376" y="1318"/>
                    <a:pt x="9254" y="1420"/>
                    <a:pt x="9254" y="1420"/>
                  </a:cubicBezTo>
                  <a:cubicBezTo>
                    <a:pt x="9132" y="1521"/>
                    <a:pt x="8765" y="1825"/>
                    <a:pt x="8521" y="1825"/>
                  </a:cubicBezTo>
                  <a:cubicBezTo>
                    <a:pt x="8521" y="1825"/>
                    <a:pt x="8521" y="1825"/>
                    <a:pt x="8399" y="1724"/>
                  </a:cubicBezTo>
                  <a:cubicBezTo>
                    <a:pt x="8277" y="1724"/>
                    <a:pt x="8277" y="1521"/>
                    <a:pt x="8399" y="1217"/>
                  </a:cubicBezTo>
                  <a:cubicBezTo>
                    <a:pt x="8399" y="1115"/>
                    <a:pt x="8399" y="1014"/>
                    <a:pt x="8399" y="913"/>
                  </a:cubicBezTo>
                  <a:cubicBezTo>
                    <a:pt x="8399" y="811"/>
                    <a:pt x="8399" y="203"/>
                    <a:pt x="8155" y="0"/>
                  </a:cubicBezTo>
                  <a:cubicBezTo>
                    <a:pt x="8033" y="0"/>
                    <a:pt x="8033" y="0"/>
                    <a:pt x="8033" y="0"/>
                  </a:cubicBezTo>
                  <a:cubicBezTo>
                    <a:pt x="7789" y="0"/>
                    <a:pt x="7789" y="0"/>
                    <a:pt x="7789" y="0"/>
                  </a:cubicBezTo>
                  <a:cubicBezTo>
                    <a:pt x="7789" y="0"/>
                    <a:pt x="7667" y="101"/>
                    <a:pt x="7545" y="304"/>
                  </a:cubicBezTo>
                  <a:cubicBezTo>
                    <a:pt x="7423" y="406"/>
                    <a:pt x="7423" y="608"/>
                    <a:pt x="7179" y="608"/>
                  </a:cubicBezTo>
                  <a:cubicBezTo>
                    <a:pt x="7179" y="608"/>
                    <a:pt x="7057" y="608"/>
                    <a:pt x="7057" y="507"/>
                  </a:cubicBezTo>
                  <a:cubicBezTo>
                    <a:pt x="6447" y="304"/>
                    <a:pt x="6447" y="304"/>
                    <a:pt x="6447" y="304"/>
                  </a:cubicBezTo>
                  <a:cubicBezTo>
                    <a:pt x="6691" y="811"/>
                    <a:pt x="6691" y="811"/>
                    <a:pt x="6691" y="811"/>
                  </a:cubicBezTo>
                  <a:cubicBezTo>
                    <a:pt x="6691" y="811"/>
                    <a:pt x="6691" y="913"/>
                    <a:pt x="6813" y="913"/>
                  </a:cubicBezTo>
                  <a:cubicBezTo>
                    <a:pt x="6813" y="1014"/>
                    <a:pt x="6935" y="1115"/>
                    <a:pt x="6813" y="1217"/>
                  </a:cubicBezTo>
                  <a:cubicBezTo>
                    <a:pt x="6813" y="1217"/>
                    <a:pt x="6813" y="1318"/>
                    <a:pt x="6325" y="1318"/>
                  </a:cubicBezTo>
                  <a:cubicBezTo>
                    <a:pt x="6081" y="1318"/>
                    <a:pt x="5959" y="1318"/>
                    <a:pt x="5837" y="1521"/>
                  </a:cubicBezTo>
                  <a:cubicBezTo>
                    <a:pt x="5837" y="1623"/>
                    <a:pt x="5715" y="1623"/>
                    <a:pt x="5715" y="1724"/>
                  </a:cubicBezTo>
                  <a:cubicBezTo>
                    <a:pt x="5593" y="1825"/>
                    <a:pt x="5471" y="1825"/>
                    <a:pt x="5349" y="1825"/>
                  </a:cubicBezTo>
                  <a:cubicBezTo>
                    <a:pt x="5226" y="1825"/>
                    <a:pt x="4860" y="1825"/>
                    <a:pt x="4494" y="1623"/>
                  </a:cubicBezTo>
                  <a:cubicBezTo>
                    <a:pt x="4372" y="1521"/>
                    <a:pt x="4250" y="1420"/>
                    <a:pt x="4128" y="1318"/>
                  </a:cubicBezTo>
                  <a:cubicBezTo>
                    <a:pt x="4006" y="1217"/>
                    <a:pt x="4006" y="1115"/>
                    <a:pt x="3762" y="1115"/>
                  </a:cubicBezTo>
                  <a:cubicBezTo>
                    <a:pt x="3640" y="1014"/>
                    <a:pt x="3640" y="1014"/>
                    <a:pt x="3518" y="1014"/>
                  </a:cubicBezTo>
                  <a:cubicBezTo>
                    <a:pt x="3396" y="1014"/>
                    <a:pt x="3396" y="1014"/>
                    <a:pt x="3396" y="1014"/>
                  </a:cubicBezTo>
                  <a:cubicBezTo>
                    <a:pt x="3396" y="1014"/>
                    <a:pt x="3396" y="1014"/>
                    <a:pt x="3396" y="1014"/>
                  </a:cubicBezTo>
                  <a:cubicBezTo>
                    <a:pt x="3274" y="1014"/>
                    <a:pt x="3152" y="1217"/>
                    <a:pt x="3030" y="1420"/>
                  </a:cubicBezTo>
                  <a:cubicBezTo>
                    <a:pt x="2908" y="1521"/>
                    <a:pt x="2908" y="1623"/>
                    <a:pt x="2786" y="1724"/>
                  </a:cubicBezTo>
                  <a:cubicBezTo>
                    <a:pt x="2664" y="1724"/>
                    <a:pt x="2664" y="1724"/>
                    <a:pt x="2542" y="1825"/>
                  </a:cubicBezTo>
                  <a:cubicBezTo>
                    <a:pt x="2542" y="1825"/>
                    <a:pt x="2542" y="1825"/>
                    <a:pt x="2542" y="1825"/>
                  </a:cubicBezTo>
                  <a:cubicBezTo>
                    <a:pt x="2420" y="1825"/>
                    <a:pt x="2298" y="1825"/>
                    <a:pt x="2298" y="1825"/>
                  </a:cubicBezTo>
                  <a:cubicBezTo>
                    <a:pt x="2176" y="1927"/>
                    <a:pt x="2176" y="1927"/>
                    <a:pt x="2176" y="1927"/>
                  </a:cubicBezTo>
                  <a:cubicBezTo>
                    <a:pt x="2176" y="2028"/>
                    <a:pt x="2176" y="2028"/>
                    <a:pt x="2176" y="2028"/>
                  </a:cubicBezTo>
                  <a:cubicBezTo>
                    <a:pt x="2054" y="2130"/>
                    <a:pt x="1932" y="2332"/>
                    <a:pt x="1688" y="2332"/>
                  </a:cubicBezTo>
                  <a:cubicBezTo>
                    <a:pt x="1565" y="2434"/>
                    <a:pt x="1565" y="2434"/>
                    <a:pt x="1565" y="2434"/>
                  </a:cubicBezTo>
                  <a:cubicBezTo>
                    <a:pt x="1565" y="2535"/>
                    <a:pt x="1565" y="2535"/>
                    <a:pt x="1565" y="2535"/>
                  </a:cubicBezTo>
                  <a:cubicBezTo>
                    <a:pt x="1565" y="3042"/>
                    <a:pt x="1565" y="3448"/>
                    <a:pt x="1565" y="3955"/>
                  </a:cubicBezTo>
                  <a:cubicBezTo>
                    <a:pt x="1565" y="4056"/>
                    <a:pt x="1688" y="4259"/>
                    <a:pt x="1932" y="4462"/>
                  </a:cubicBezTo>
                  <a:cubicBezTo>
                    <a:pt x="2054" y="4462"/>
                    <a:pt x="2054" y="4462"/>
                    <a:pt x="2176" y="4462"/>
                  </a:cubicBezTo>
                  <a:cubicBezTo>
                    <a:pt x="2298" y="4563"/>
                    <a:pt x="2420" y="4563"/>
                    <a:pt x="2420" y="4665"/>
                  </a:cubicBezTo>
                  <a:cubicBezTo>
                    <a:pt x="2420" y="4665"/>
                    <a:pt x="2420" y="4766"/>
                    <a:pt x="2420" y="4766"/>
                  </a:cubicBezTo>
                  <a:cubicBezTo>
                    <a:pt x="2420" y="4868"/>
                    <a:pt x="2298" y="4868"/>
                    <a:pt x="2420" y="5070"/>
                  </a:cubicBezTo>
                  <a:cubicBezTo>
                    <a:pt x="2420" y="5172"/>
                    <a:pt x="2542" y="5273"/>
                    <a:pt x="2664" y="5273"/>
                  </a:cubicBezTo>
                  <a:cubicBezTo>
                    <a:pt x="2786" y="5375"/>
                    <a:pt x="2786" y="5375"/>
                    <a:pt x="2786" y="5375"/>
                  </a:cubicBezTo>
                  <a:cubicBezTo>
                    <a:pt x="2786" y="5476"/>
                    <a:pt x="2908" y="5476"/>
                    <a:pt x="2908" y="5577"/>
                  </a:cubicBezTo>
                  <a:cubicBezTo>
                    <a:pt x="2908" y="5577"/>
                    <a:pt x="2786" y="5577"/>
                    <a:pt x="2664" y="5577"/>
                  </a:cubicBezTo>
                  <a:cubicBezTo>
                    <a:pt x="2664" y="5577"/>
                    <a:pt x="2542" y="5679"/>
                    <a:pt x="2420" y="5679"/>
                  </a:cubicBezTo>
                  <a:cubicBezTo>
                    <a:pt x="2298" y="5679"/>
                    <a:pt x="2298" y="5780"/>
                    <a:pt x="2176" y="5882"/>
                  </a:cubicBezTo>
                  <a:cubicBezTo>
                    <a:pt x="2176" y="6085"/>
                    <a:pt x="2176" y="6186"/>
                    <a:pt x="2298" y="6389"/>
                  </a:cubicBezTo>
                  <a:cubicBezTo>
                    <a:pt x="2298" y="6490"/>
                    <a:pt x="2420" y="6592"/>
                    <a:pt x="2542" y="6592"/>
                  </a:cubicBezTo>
                  <a:cubicBezTo>
                    <a:pt x="2542" y="6693"/>
                    <a:pt x="2664" y="6794"/>
                    <a:pt x="2786" y="6794"/>
                  </a:cubicBezTo>
                  <a:cubicBezTo>
                    <a:pt x="2786" y="6896"/>
                    <a:pt x="2786" y="6896"/>
                    <a:pt x="2786" y="6896"/>
                  </a:cubicBezTo>
                  <a:cubicBezTo>
                    <a:pt x="2908" y="6896"/>
                    <a:pt x="2908" y="6896"/>
                    <a:pt x="2908" y="6896"/>
                  </a:cubicBezTo>
                  <a:cubicBezTo>
                    <a:pt x="3030" y="6997"/>
                    <a:pt x="3030" y="6997"/>
                    <a:pt x="3030" y="6997"/>
                  </a:cubicBezTo>
                  <a:cubicBezTo>
                    <a:pt x="3274" y="7200"/>
                    <a:pt x="3274" y="7504"/>
                    <a:pt x="3152" y="7707"/>
                  </a:cubicBezTo>
                  <a:cubicBezTo>
                    <a:pt x="3152" y="7808"/>
                    <a:pt x="3030" y="7808"/>
                    <a:pt x="3030" y="7808"/>
                  </a:cubicBezTo>
                  <a:cubicBezTo>
                    <a:pt x="3030" y="7808"/>
                    <a:pt x="2908" y="7808"/>
                    <a:pt x="2908" y="7707"/>
                  </a:cubicBezTo>
                  <a:cubicBezTo>
                    <a:pt x="2786" y="7707"/>
                    <a:pt x="2786" y="7707"/>
                    <a:pt x="2786" y="7707"/>
                  </a:cubicBezTo>
                  <a:cubicBezTo>
                    <a:pt x="2786" y="7707"/>
                    <a:pt x="2786" y="7707"/>
                    <a:pt x="2786" y="7707"/>
                  </a:cubicBezTo>
                  <a:cubicBezTo>
                    <a:pt x="2664" y="7707"/>
                    <a:pt x="2664" y="7707"/>
                    <a:pt x="2664" y="7707"/>
                  </a:cubicBezTo>
                  <a:cubicBezTo>
                    <a:pt x="2664" y="7707"/>
                    <a:pt x="2664" y="7707"/>
                    <a:pt x="2664" y="7707"/>
                  </a:cubicBezTo>
                  <a:cubicBezTo>
                    <a:pt x="2542" y="7707"/>
                    <a:pt x="2542" y="7707"/>
                    <a:pt x="2542" y="7707"/>
                  </a:cubicBezTo>
                  <a:cubicBezTo>
                    <a:pt x="2542" y="7707"/>
                    <a:pt x="2420" y="7707"/>
                    <a:pt x="2420" y="7707"/>
                  </a:cubicBezTo>
                  <a:cubicBezTo>
                    <a:pt x="2298" y="7606"/>
                    <a:pt x="2176" y="7606"/>
                    <a:pt x="2176" y="7504"/>
                  </a:cubicBezTo>
                  <a:cubicBezTo>
                    <a:pt x="2054" y="7504"/>
                    <a:pt x="2054" y="7403"/>
                    <a:pt x="1810" y="7403"/>
                  </a:cubicBezTo>
                  <a:cubicBezTo>
                    <a:pt x="1810" y="7403"/>
                    <a:pt x="1810" y="7403"/>
                    <a:pt x="1688" y="7403"/>
                  </a:cubicBezTo>
                  <a:cubicBezTo>
                    <a:pt x="1565" y="7403"/>
                    <a:pt x="1565" y="7403"/>
                    <a:pt x="1443" y="7403"/>
                  </a:cubicBezTo>
                  <a:cubicBezTo>
                    <a:pt x="1199" y="7606"/>
                    <a:pt x="1077" y="7808"/>
                    <a:pt x="1077" y="8011"/>
                  </a:cubicBezTo>
                  <a:cubicBezTo>
                    <a:pt x="1077" y="8315"/>
                    <a:pt x="1321" y="8417"/>
                    <a:pt x="1565" y="8518"/>
                  </a:cubicBezTo>
                  <a:cubicBezTo>
                    <a:pt x="1688" y="8518"/>
                    <a:pt x="1810" y="8620"/>
                    <a:pt x="1932" y="8620"/>
                  </a:cubicBezTo>
                  <a:cubicBezTo>
                    <a:pt x="2054" y="8721"/>
                    <a:pt x="2054" y="8823"/>
                    <a:pt x="2054" y="8823"/>
                  </a:cubicBezTo>
                  <a:cubicBezTo>
                    <a:pt x="2054" y="8924"/>
                    <a:pt x="1932" y="9025"/>
                    <a:pt x="1810" y="9127"/>
                  </a:cubicBezTo>
                  <a:cubicBezTo>
                    <a:pt x="1810" y="9228"/>
                    <a:pt x="1688" y="9228"/>
                    <a:pt x="1688" y="9330"/>
                  </a:cubicBezTo>
                  <a:cubicBezTo>
                    <a:pt x="1565" y="9431"/>
                    <a:pt x="1565" y="9634"/>
                    <a:pt x="1565" y="9735"/>
                  </a:cubicBezTo>
                  <a:cubicBezTo>
                    <a:pt x="1565" y="9938"/>
                    <a:pt x="1443" y="10141"/>
                    <a:pt x="1321" y="10242"/>
                  </a:cubicBezTo>
                  <a:cubicBezTo>
                    <a:pt x="1199" y="10445"/>
                    <a:pt x="1199" y="10445"/>
                    <a:pt x="1077" y="10445"/>
                  </a:cubicBezTo>
                  <a:cubicBezTo>
                    <a:pt x="1077" y="10445"/>
                    <a:pt x="1077" y="10445"/>
                    <a:pt x="1077" y="10445"/>
                  </a:cubicBezTo>
                  <a:cubicBezTo>
                    <a:pt x="833" y="10445"/>
                    <a:pt x="833" y="10445"/>
                    <a:pt x="833" y="10445"/>
                  </a:cubicBezTo>
                  <a:cubicBezTo>
                    <a:pt x="833" y="10445"/>
                    <a:pt x="711" y="10445"/>
                    <a:pt x="589" y="10445"/>
                  </a:cubicBezTo>
                  <a:cubicBezTo>
                    <a:pt x="345" y="10546"/>
                    <a:pt x="345" y="10546"/>
                    <a:pt x="345" y="10546"/>
                  </a:cubicBezTo>
                  <a:cubicBezTo>
                    <a:pt x="345" y="10648"/>
                    <a:pt x="345" y="10648"/>
                    <a:pt x="345" y="10648"/>
                  </a:cubicBezTo>
                  <a:cubicBezTo>
                    <a:pt x="345" y="10952"/>
                    <a:pt x="467" y="11155"/>
                    <a:pt x="589" y="11358"/>
                  </a:cubicBezTo>
                  <a:cubicBezTo>
                    <a:pt x="589" y="11459"/>
                    <a:pt x="589" y="11459"/>
                    <a:pt x="711" y="11561"/>
                  </a:cubicBezTo>
                  <a:cubicBezTo>
                    <a:pt x="833" y="11662"/>
                    <a:pt x="955" y="11865"/>
                    <a:pt x="955" y="12068"/>
                  </a:cubicBezTo>
                  <a:cubicBezTo>
                    <a:pt x="955" y="12372"/>
                    <a:pt x="955" y="12575"/>
                    <a:pt x="833" y="12879"/>
                  </a:cubicBezTo>
                  <a:cubicBezTo>
                    <a:pt x="711" y="13183"/>
                    <a:pt x="467" y="13386"/>
                    <a:pt x="345" y="13589"/>
                  </a:cubicBezTo>
                  <a:cubicBezTo>
                    <a:pt x="101" y="13792"/>
                    <a:pt x="-143" y="14096"/>
                    <a:pt x="101" y="14299"/>
                  </a:cubicBezTo>
                  <a:cubicBezTo>
                    <a:pt x="345" y="14603"/>
                    <a:pt x="711" y="14806"/>
                    <a:pt x="1077" y="14806"/>
                  </a:cubicBezTo>
                  <a:cubicBezTo>
                    <a:pt x="1199" y="14907"/>
                    <a:pt x="1199" y="14907"/>
                    <a:pt x="1321" y="14907"/>
                  </a:cubicBezTo>
                  <a:cubicBezTo>
                    <a:pt x="1321" y="14907"/>
                    <a:pt x="1443" y="14907"/>
                    <a:pt x="1565" y="14806"/>
                  </a:cubicBezTo>
                  <a:cubicBezTo>
                    <a:pt x="1688" y="14806"/>
                    <a:pt x="1688" y="14806"/>
                    <a:pt x="1810" y="14806"/>
                  </a:cubicBezTo>
                  <a:cubicBezTo>
                    <a:pt x="2054" y="14806"/>
                    <a:pt x="2176" y="14907"/>
                    <a:pt x="2298" y="14907"/>
                  </a:cubicBezTo>
                  <a:cubicBezTo>
                    <a:pt x="2420" y="15008"/>
                    <a:pt x="2542" y="15211"/>
                    <a:pt x="2664" y="15515"/>
                  </a:cubicBezTo>
                  <a:cubicBezTo>
                    <a:pt x="2664" y="15617"/>
                    <a:pt x="2786" y="15617"/>
                    <a:pt x="2786" y="15718"/>
                  </a:cubicBezTo>
                  <a:cubicBezTo>
                    <a:pt x="3030" y="16023"/>
                    <a:pt x="3152" y="16023"/>
                    <a:pt x="3396" y="16124"/>
                  </a:cubicBezTo>
                  <a:cubicBezTo>
                    <a:pt x="3518" y="16225"/>
                    <a:pt x="3640" y="16225"/>
                    <a:pt x="3762" y="16327"/>
                  </a:cubicBezTo>
                  <a:cubicBezTo>
                    <a:pt x="4006" y="16428"/>
                    <a:pt x="4006" y="16732"/>
                    <a:pt x="4006" y="17037"/>
                  </a:cubicBezTo>
                  <a:cubicBezTo>
                    <a:pt x="4006" y="17239"/>
                    <a:pt x="4006" y="17239"/>
                    <a:pt x="4006" y="17239"/>
                  </a:cubicBezTo>
                  <a:cubicBezTo>
                    <a:pt x="4006" y="17544"/>
                    <a:pt x="4006" y="17746"/>
                    <a:pt x="4006" y="18051"/>
                  </a:cubicBezTo>
                  <a:cubicBezTo>
                    <a:pt x="4006" y="18355"/>
                    <a:pt x="3762" y="18659"/>
                    <a:pt x="3640" y="18963"/>
                  </a:cubicBezTo>
                  <a:cubicBezTo>
                    <a:pt x="3518" y="19166"/>
                    <a:pt x="3518" y="19470"/>
                    <a:pt x="3518" y="19775"/>
                  </a:cubicBezTo>
                  <a:cubicBezTo>
                    <a:pt x="3518" y="19977"/>
                    <a:pt x="3518" y="19977"/>
                    <a:pt x="3518" y="19977"/>
                  </a:cubicBezTo>
                  <a:cubicBezTo>
                    <a:pt x="3396" y="20485"/>
                    <a:pt x="3396" y="20890"/>
                    <a:pt x="3396" y="21296"/>
                  </a:cubicBezTo>
                  <a:cubicBezTo>
                    <a:pt x="3396" y="21600"/>
                    <a:pt x="3396" y="21600"/>
                    <a:pt x="3396" y="21600"/>
                  </a:cubicBezTo>
                  <a:cubicBezTo>
                    <a:pt x="3762" y="21499"/>
                    <a:pt x="3762" y="21499"/>
                    <a:pt x="3762" y="21499"/>
                  </a:cubicBezTo>
                  <a:cubicBezTo>
                    <a:pt x="4128" y="21397"/>
                    <a:pt x="4494" y="21194"/>
                    <a:pt x="4860" y="20992"/>
                  </a:cubicBezTo>
                  <a:cubicBezTo>
                    <a:pt x="4982" y="20890"/>
                    <a:pt x="4982" y="20789"/>
                    <a:pt x="5104" y="20789"/>
                  </a:cubicBezTo>
                  <a:cubicBezTo>
                    <a:pt x="5349" y="20687"/>
                    <a:pt x="5471" y="20687"/>
                    <a:pt x="5715" y="20586"/>
                  </a:cubicBezTo>
                  <a:cubicBezTo>
                    <a:pt x="5837" y="20586"/>
                    <a:pt x="5959" y="20586"/>
                    <a:pt x="6203" y="20485"/>
                  </a:cubicBezTo>
                  <a:cubicBezTo>
                    <a:pt x="6325" y="20485"/>
                    <a:pt x="6447" y="20485"/>
                    <a:pt x="6569" y="20383"/>
                  </a:cubicBezTo>
                  <a:cubicBezTo>
                    <a:pt x="6691" y="20282"/>
                    <a:pt x="6935" y="20282"/>
                    <a:pt x="7057" y="20180"/>
                  </a:cubicBezTo>
                  <a:cubicBezTo>
                    <a:pt x="7667" y="20079"/>
                    <a:pt x="8155" y="19876"/>
                    <a:pt x="8643" y="19673"/>
                  </a:cubicBezTo>
                  <a:cubicBezTo>
                    <a:pt x="8765" y="19673"/>
                    <a:pt x="8765" y="19572"/>
                    <a:pt x="8888" y="19470"/>
                  </a:cubicBezTo>
                  <a:cubicBezTo>
                    <a:pt x="9132" y="19369"/>
                    <a:pt x="9376" y="19268"/>
                    <a:pt x="9620" y="19166"/>
                  </a:cubicBezTo>
                  <a:cubicBezTo>
                    <a:pt x="9742" y="19166"/>
                    <a:pt x="9864" y="19166"/>
                    <a:pt x="9986" y="19166"/>
                  </a:cubicBezTo>
                  <a:cubicBezTo>
                    <a:pt x="10108" y="19166"/>
                    <a:pt x="10230" y="19166"/>
                    <a:pt x="10352" y="19166"/>
                  </a:cubicBezTo>
                  <a:cubicBezTo>
                    <a:pt x="10596" y="19065"/>
                    <a:pt x="10840" y="19065"/>
                    <a:pt x="11084" y="18963"/>
                  </a:cubicBezTo>
                  <a:cubicBezTo>
                    <a:pt x="11084" y="18963"/>
                    <a:pt x="11084" y="18963"/>
                    <a:pt x="11084" y="18963"/>
                  </a:cubicBezTo>
                  <a:cubicBezTo>
                    <a:pt x="11206" y="18963"/>
                    <a:pt x="11328" y="18862"/>
                    <a:pt x="11328" y="18862"/>
                  </a:cubicBezTo>
                  <a:cubicBezTo>
                    <a:pt x="11450" y="18761"/>
                    <a:pt x="11450" y="18659"/>
                    <a:pt x="11572" y="18659"/>
                  </a:cubicBezTo>
                  <a:cubicBezTo>
                    <a:pt x="11572" y="18659"/>
                    <a:pt x="11572" y="18558"/>
                    <a:pt x="11694" y="18558"/>
                  </a:cubicBezTo>
                  <a:cubicBezTo>
                    <a:pt x="12060" y="18558"/>
                    <a:pt x="12304" y="18659"/>
                    <a:pt x="12426" y="18761"/>
                  </a:cubicBezTo>
                  <a:cubicBezTo>
                    <a:pt x="12426" y="18761"/>
                    <a:pt x="12426" y="18761"/>
                    <a:pt x="12426" y="18761"/>
                  </a:cubicBezTo>
                  <a:cubicBezTo>
                    <a:pt x="12426" y="18862"/>
                    <a:pt x="12549" y="18862"/>
                    <a:pt x="12671" y="18963"/>
                  </a:cubicBezTo>
                  <a:cubicBezTo>
                    <a:pt x="12671" y="18963"/>
                    <a:pt x="12793" y="18963"/>
                    <a:pt x="12793" y="18963"/>
                  </a:cubicBezTo>
                  <a:cubicBezTo>
                    <a:pt x="12915" y="18963"/>
                    <a:pt x="13037" y="18963"/>
                    <a:pt x="13159" y="18963"/>
                  </a:cubicBezTo>
                  <a:cubicBezTo>
                    <a:pt x="13403" y="18862"/>
                    <a:pt x="13525" y="18659"/>
                    <a:pt x="13525" y="18558"/>
                  </a:cubicBezTo>
                  <a:cubicBezTo>
                    <a:pt x="13525" y="18456"/>
                    <a:pt x="13525" y="18456"/>
                    <a:pt x="13525" y="18456"/>
                  </a:cubicBezTo>
                  <a:cubicBezTo>
                    <a:pt x="13525" y="18456"/>
                    <a:pt x="13525" y="18456"/>
                    <a:pt x="13525" y="18456"/>
                  </a:cubicBezTo>
                  <a:cubicBezTo>
                    <a:pt x="13647" y="18456"/>
                    <a:pt x="13647" y="18456"/>
                    <a:pt x="13769" y="18456"/>
                  </a:cubicBezTo>
                  <a:cubicBezTo>
                    <a:pt x="13891" y="18558"/>
                    <a:pt x="13891" y="18558"/>
                    <a:pt x="14013" y="18558"/>
                  </a:cubicBezTo>
                  <a:cubicBezTo>
                    <a:pt x="14379" y="18558"/>
                    <a:pt x="14623" y="18456"/>
                    <a:pt x="14867" y="18456"/>
                  </a:cubicBezTo>
                  <a:cubicBezTo>
                    <a:pt x="15233" y="18355"/>
                    <a:pt x="15477" y="18355"/>
                    <a:pt x="15721" y="18355"/>
                  </a:cubicBezTo>
                  <a:cubicBezTo>
                    <a:pt x="15843" y="18355"/>
                    <a:pt x="15843" y="18355"/>
                    <a:pt x="15843" y="18355"/>
                  </a:cubicBezTo>
                  <a:cubicBezTo>
                    <a:pt x="16088" y="18355"/>
                    <a:pt x="16454" y="18355"/>
                    <a:pt x="16698" y="18456"/>
                  </a:cubicBezTo>
                  <a:cubicBezTo>
                    <a:pt x="16698" y="18456"/>
                    <a:pt x="16820" y="18558"/>
                    <a:pt x="16942" y="18558"/>
                  </a:cubicBezTo>
                  <a:cubicBezTo>
                    <a:pt x="17064" y="18659"/>
                    <a:pt x="17186" y="18862"/>
                    <a:pt x="17430" y="18862"/>
                  </a:cubicBezTo>
                  <a:cubicBezTo>
                    <a:pt x="17430" y="18862"/>
                    <a:pt x="17552" y="18963"/>
                    <a:pt x="17552" y="18963"/>
                  </a:cubicBezTo>
                  <a:cubicBezTo>
                    <a:pt x="17674" y="18963"/>
                    <a:pt x="17796" y="18862"/>
                    <a:pt x="17918" y="18862"/>
                  </a:cubicBezTo>
                  <a:cubicBezTo>
                    <a:pt x="17918" y="18862"/>
                    <a:pt x="17918" y="18862"/>
                    <a:pt x="17918" y="18862"/>
                  </a:cubicBezTo>
                  <a:cubicBezTo>
                    <a:pt x="18040" y="18862"/>
                    <a:pt x="18040" y="18862"/>
                    <a:pt x="18040" y="18862"/>
                  </a:cubicBezTo>
                  <a:cubicBezTo>
                    <a:pt x="18162" y="18862"/>
                    <a:pt x="18162" y="18862"/>
                    <a:pt x="18162" y="18862"/>
                  </a:cubicBezTo>
                  <a:cubicBezTo>
                    <a:pt x="18284" y="18862"/>
                    <a:pt x="18406" y="18862"/>
                    <a:pt x="18406" y="18862"/>
                  </a:cubicBezTo>
                  <a:cubicBezTo>
                    <a:pt x="18528" y="18761"/>
                    <a:pt x="18528" y="18761"/>
                    <a:pt x="18650" y="18761"/>
                  </a:cubicBezTo>
                  <a:cubicBezTo>
                    <a:pt x="18650" y="18862"/>
                    <a:pt x="18650" y="18963"/>
                    <a:pt x="18772" y="18963"/>
                  </a:cubicBezTo>
                  <a:cubicBezTo>
                    <a:pt x="18894" y="19065"/>
                    <a:pt x="19016" y="19166"/>
                    <a:pt x="19260" y="19166"/>
                  </a:cubicBezTo>
                  <a:cubicBezTo>
                    <a:pt x="19260" y="19166"/>
                    <a:pt x="19382" y="19166"/>
                    <a:pt x="19504" y="19166"/>
                  </a:cubicBezTo>
                  <a:cubicBezTo>
                    <a:pt x="19626" y="19065"/>
                    <a:pt x="19626" y="19065"/>
                    <a:pt x="19749" y="19065"/>
                  </a:cubicBezTo>
                  <a:cubicBezTo>
                    <a:pt x="19749" y="19065"/>
                    <a:pt x="19749" y="19065"/>
                    <a:pt x="19749" y="19065"/>
                  </a:cubicBezTo>
                  <a:cubicBezTo>
                    <a:pt x="19871" y="19065"/>
                    <a:pt x="19993" y="19166"/>
                    <a:pt x="20115" y="19166"/>
                  </a:cubicBezTo>
                  <a:cubicBezTo>
                    <a:pt x="20359" y="19268"/>
                    <a:pt x="20359" y="19268"/>
                    <a:pt x="20359" y="19268"/>
                  </a:cubicBezTo>
                  <a:cubicBezTo>
                    <a:pt x="20359" y="19065"/>
                    <a:pt x="20359" y="19065"/>
                    <a:pt x="20359" y="19065"/>
                  </a:cubicBezTo>
                  <a:cubicBezTo>
                    <a:pt x="20603" y="18456"/>
                    <a:pt x="20725" y="17848"/>
                    <a:pt x="20481" y="17341"/>
                  </a:cubicBezTo>
                  <a:cubicBezTo>
                    <a:pt x="20359" y="17239"/>
                    <a:pt x="20237" y="17138"/>
                    <a:pt x="20115" y="17037"/>
                  </a:cubicBezTo>
                  <a:cubicBezTo>
                    <a:pt x="19993" y="16935"/>
                    <a:pt x="19871" y="16834"/>
                    <a:pt x="19871" y="16732"/>
                  </a:cubicBezTo>
                  <a:cubicBezTo>
                    <a:pt x="19626" y="16530"/>
                    <a:pt x="19626" y="16327"/>
                    <a:pt x="19504" y="16124"/>
                  </a:cubicBezTo>
                  <a:cubicBezTo>
                    <a:pt x="19504" y="15921"/>
                    <a:pt x="19504" y="15921"/>
                    <a:pt x="19504" y="15921"/>
                  </a:cubicBezTo>
                  <a:cubicBezTo>
                    <a:pt x="19382" y="15718"/>
                    <a:pt x="19382" y="15617"/>
                    <a:pt x="19260" y="15414"/>
                  </a:cubicBezTo>
                  <a:cubicBezTo>
                    <a:pt x="19016" y="14907"/>
                    <a:pt x="18894" y="14400"/>
                    <a:pt x="18894" y="13792"/>
                  </a:cubicBezTo>
                  <a:cubicBezTo>
                    <a:pt x="18894" y="12980"/>
                    <a:pt x="19138" y="12169"/>
                    <a:pt x="19504" y="11358"/>
                  </a:cubicBezTo>
                  <a:cubicBezTo>
                    <a:pt x="19871" y="10445"/>
                    <a:pt x="20359" y="9735"/>
                    <a:pt x="20969" y="8924"/>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75" name="Shape">
              <a:extLst>
                <a:ext uri="{FF2B5EF4-FFF2-40B4-BE49-F238E27FC236}">
                  <a16:creationId xmlns:a16="http://schemas.microsoft.com/office/drawing/2014/main" id="{2317B8FD-3F8E-B74A-B669-3D1E4C89F055}"/>
                </a:ext>
              </a:extLst>
            </p:cNvPr>
            <p:cNvSpPr/>
            <p:nvPr/>
          </p:nvSpPr>
          <p:spPr>
            <a:xfrm>
              <a:off x="2466004" y="3090465"/>
              <a:ext cx="501973" cy="770150"/>
            </a:xfrm>
            <a:custGeom>
              <a:avLst/>
              <a:gdLst/>
              <a:ahLst/>
              <a:cxnLst>
                <a:cxn ang="0">
                  <a:pos x="wd2" y="hd2"/>
                </a:cxn>
                <a:cxn ang="5400000">
                  <a:pos x="wd2" y="hd2"/>
                </a:cxn>
                <a:cxn ang="10800000">
                  <a:pos x="wd2" y="hd2"/>
                </a:cxn>
                <a:cxn ang="16200000">
                  <a:pos x="wd2" y="hd2"/>
                </a:cxn>
              </a:cxnLst>
              <a:rect l="0" t="0" r="r" b="b"/>
              <a:pathLst>
                <a:path w="21600" h="21600" extrusionOk="0">
                  <a:moveTo>
                    <a:pt x="21433" y="16979"/>
                  </a:moveTo>
                  <a:cubicBezTo>
                    <a:pt x="21433" y="16878"/>
                    <a:pt x="21265" y="16577"/>
                    <a:pt x="21098" y="16476"/>
                  </a:cubicBezTo>
                  <a:cubicBezTo>
                    <a:pt x="20763" y="16275"/>
                    <a:pt x="20595" y="16175"/>
                    <a:pt x="20260" y="16074"/>
                  </a:cubicBezTo>
                  <a:cubicBezTo>
                    <a:pt x="19926" y="15974"/>
                    <a:pt x="19758" y="15974"/>
                    <a:pt x="19591" y="15873"/>
                  </a:cubicBezTo>
                  <a:cubicBezTo>
                    <a:pt x="18753" y="15371"/>
                    <a:pt x="17916" y="14467"/>
                    <a:pt x="18419" y="13663"/>
                  </a:cubicBezTo>
                  <a:cubicBezTo>
                    <a:pt x="18419" y="13663"/>
                    <a:pt x="18419" y="13563"/>
                    <a:pt x="18586" y="13462"/>
                  </a:cubicBezTo>
                  <a:cubicBezTo>
                    <a:pt x="18586" y="13362"/>
                    <a:pt x="18753" y="13261"/>
                    <a:pt x="18753" y="13161"/>
                  </a:cubicBezTo>
                  <a:cubicBezTo>
                    <a:pt x="18753" y="12960"/>
                    <a:pt x="18921" y="12860"/>
                    <a:pt x="18921" y="12659"/>
                  </a:cubicBezTo>
                  <a:cubicBezTo>
                    <a:pt x="18921" y="12558"/>
                    <a:pt x="18921" y="12558"/>
                    <a:pt x="18921" y="12558"/>
                  </a:cubicBezTo>
                  <a:cubicBezTo>
                    <a:pt x="18753" y="12458"/>
                    <a:pt x="18753" y="12458"/>
                    <a:pt x="18753" y="12458"/>
                  </a:cubicBezTo>
                  <a:cubicBezTo>
                    <a:pt x="18586" y="12458"/>
                    <a:pt x="18419" y="12357"/>
                    <a:pt x="18419" y="12257"/>
                  </a:cubicBezTo>
                  <a:cubicBezTo>
                    <a:pt x="18251" y="12156"/>
                    <a:pt x="18251" y="11955"/>
                    <a:pt x="18419" y="11754"/>
                  </a:cubicBezTo>
                  <a:cubicBezTo>
                    <a:pt x="18586" y="11553"/>
                    <a:pt x="18586" y="11353"/>
                    <a:pt x="18586" y="11252"/>
                  </a:cubicBezTo>
                  <a:cubicBezTo>
                    <a:pt x="18753" y="10850"/>
                    <a:pt x="18753" y="10549"/>
                    <a:pt x="18753" y="10247"/>
                  </a:cubicBezTo>
                  <a:cubicBezTo>
                    <a:pt x="18753" y="10247"/>
                    <a:pt x="18753" y="10147"/>
                    <a:pt x="18586" y="10147"/>
                  </a:cubicBezTo>
                  <a:cubicBezTo>
                    <a:pt x="18586" y="10047"/>
                    <a:pt x="18586" y="9946"/>
                    <a:pt x="18586" y="9846"/>
                  </a:cubicBezTo>
                  <a:cubicBezTo>
                    <a:pt x="18753" y="9745"/>
                    <a:pt x="18753" y="9745"/>
                    <a:pt x="18921" y="9745"/>
                  </a:cubicBezTo>
                  <a:cubicBezTo>
                    <a:pt x="18921" y="9645"/>
                    <a:pt x="19088" y="9645"/>
                    <a:pt x="19088" y="9645"/>
                  </a:cubicBezTo>
                  <a:cubicBezTo>
                    <a:pt x="19088" y="9645"/>
                    <a:pt x="19088" y="9645"/>
                    <a:pt x="19088" y="9645"/>
                  </a:cubicBezTo>
                  <a:cubicBezTo>
                    <a:pt x="19088" y="9544"/>
                    <a:pt x="19088" y="9544"/>
                    <a:pt x="19088" y="9544"/>
                  </a:cubicBezTo>
                  <a:cubicBezTo>
                    <a:pt x="19423" y="9243"/>
                    <a:pt x="18921" y="9042"/>
                    <a:pt x="18419" y="8740"/>
                  </a:cubicBezTo>
                  <a:cubicBezTo>
                    <a:pt x="18251" y="8640"/>
                    <a:pt x="17916" y="8439"/>
                    <a:pt x="17916" y="8339"/>
                  </a:cubicBezTo>
                  <a:cubicBezTo>
                    <a:pt x="17749" y="8138"/>
                    <a:pt x="17916" y="8037"/>
                    <a:pt x="18084" y="7937"/>
                  </a:cubicBezTo>
                  <a:cubicBezTo>
                    <a:pt x="18084" y="7836"/>
                    <a:pt x="18251" y="7836"/>
                    <a:pt x="18251" y="7635"/>
                  </a:cubicBezTo>
                  <a:cubicBezTo>
                    <a:pt x="18251" y="7535"/>
                    <a:pt x="18251" y="7434"/>
                    <a:pt x="18084" y="7233"/>
                  </a:cubicBezTo>
                  <a:cubicBezTo>
                    <a:pt x="18084" y="7133"/>
                    <a:pt x="17916" y="6932"/>
                    <a:pt x="17916" y="6832"/>
                  </a:cubicBezTo>
                  <a:cubicBezTo>
                    <a:pt x="17916" y="6731"/>
                    <a:pt x="18084" y="6530"/>
                    <a:pt x="18084" y="6430"/>
                  </a:cubicBezTo>
                  <a:cubicBezTo>
                    <a:pt x="18251" y="6229"/>
                    <a:pt x="18419" y="6028"/>
                    <a:pt x="18251" y="5927"/>
                  </a:cubicBezTo>
                  <a:cubicBezTo>
                    <a:pt x="18251" y="5827"/>
                    <a:pt x="18084" y="5626"/>
                    <a:pt x="17749" y="5626"/>
                  </a:cubicBezTo>
                  <a:cubicBezTo>
                    <a:pt x="17581" y="5626"/>
                    <a:pt x="17581" y="5626"/>
                    <a:pt x="17414" y="5626"/>
                  </a:cubicBezTo>
                  <a:cubicBezTo>
                    <a:pt x="17247" y="5626"/>
                    <a:pt x="17079" y="5727"/>
                    <a:pt x="16912" y="5727"/>
                  </a:cubicBezTo>
                  <a:cubicBezTo>
                    <a:pt x="16912" y="5626"/>
                    <a:pt x="16912" y="5626"/>
                    <a:pt x="16912" y="5626"/>
                  </a:cubicBezTo>
                  <a:cubicBezTo>
                    <a:pt x="16912" y="5325"/>
                    <a:pt x="16912" y="5325"/>
                    <a:pt x="17079" y="5023"/>
                  </a:cubicBezTo>
                  <a:cubicBezTo>
                    <a:pt x="17247" y="4923"/>
                    <a:pt x="17247" y="4722"/>
                    <a:pt x="17414" y="4521"/>
                  </a:cubicBezTo>
                  <a:cubicBezTo>
                    <a:pt x="17414" y="4420"/>
                    <a:pt x="17414" y="4420"/>
                    <a:pt x="17414" y="4420"/>
                  </a:cubicBezTo>
                  <a:cubicBezTo>
                    <a:pt x="17581" y="4019"/>
                    <a:pt x="17581" y="3315"/>
                    <a:pt x="17581" y="3014"/>
                  </a:cubicBezTo>
                  <a:cubicBezTo>
                    <a:pt x="17581" y="2913"/>
                    <a:pt x="17581" y="2913"/>
                    <a:pt x="17581" y="2913"/>
                  </a:cubicBezTo>
                  <a:cubicBezTo>
                    <a:pt x="15572" y="1708"/>
                    <a:pt x="15572" y="1708"/>
                    <a:pt x="15572" y="1708"/>
                  </a:cubicBezTo>
                  <a:cubicBezTo>
                    <a:pt x="16074" y="301"/>
                    <a:pt x="16074" y="301"/>
                    <a:pt x="16074" y="301"/>
                  </a:cubicBezTo>
                  <a:cubicBezTo>
                    <a:pt x="14735" y="0"/>
                    <a:pt x="14735" y="0"/>
                    <a:pt x="14735" y="0"/>
                  </a:cubicBezTo>
                  <a:cubicBezTo>
                    <a:pt x="12893" y="804"/>
                    <a:pt x="12893" y="804"/>
                    <a:pt x="12893" y="804"/>
                  </a:cubicBezTo>
                  <a:cubicBezTo>
                    <a:pt x="2177" y="603"/>
                    <a:pt x="2177" y="603"/>
                    <a:pt x="2177" y="603"/>
                  </a:cubicBezTo>
                  <a:cubicBezTo>
                    <a:pt x="2009" y="703"/>
                    <a:pt x="2009" y="703"/>
                    <a:pt x="2009" y="703"/>
                  </a:cubicBezTo>
                  <a:cubicBezTo>
                    <a:pt x="1674" y="1105"/>
                    <a:pt x="1172" y="2110"/>
                    <a:pt x="2177" y="2713"/>
                  </a:cubicBezTo>
                  <a:cubicBezTo>
                    <a:pt x="2177" y="5626"/>
                    <a:pt x="2177" y="5626"/>
                    <a:pt x="2177" y="5626"/>
                  </a:cubicBezTo>
                  <a:cubicBezTo>
                    <a:pt x="2177" y="5727"/>
                    <a:pt x="2177" y="5727"/>
                    <a:pt x="2177" y="5727"/>
                  </a:cubicBezTo>
                  <a:cubicBezTo>
                    <a:pt x="2344" y="5827"/>
                    <a:pt x="2344" y="5927"/>
                    <a:pt x="2344" y="6028"/>
                  </a:cubicBezTo>
                  <a:cubicBezTo>
                    <a:pt x="2512" y="6229"/>
                    <a:pt x="2344" y="6329"/>
                    <a:pt x="2344" y="6530"/>
                  </a:cubicBezTo>
                  <a:cubicBezTo>
                    <a:pt x="2344" y="6731"/>
                    <a:pt x="2344" y="6932"/>
                    <a:pt x="2512" y="7133"/>
                  </a:cubicBezTo>
                  <a:cubicBezTo>
                    <a:pt x="2512" y="7233"/>
                    <a:pt x="2679" y="7334"/>
                    <a:pt x="2679" y="7434"/>
                  </a:cubicBezTo>
                  <a:cubicBezTo>
                    <a:pt x="2847" y="7535"/>
                    <a:pt x="3014" y="7736"/>
                    <a:pt x="3181" y="8037"/>
                  </a:cubicBezTo>
                  <a:cubicBezTo>
                    <a:pt x="3349" y="8841"/>
                    <a:pt x="3516" y="9444"/>
                    <a:pt x="2847" y="10147"/>
                  </a:cubicBezTo>
                  <a:cubicBezTo>
                    <a:pt x="2009" y="11051"/>
                    <a:pt x="1340" y="11754"/>
                    <a:pt x="837" y="12659"/>
                  </a:cubicBezTo>
                  <a:cubicBezTo>
                    <a:pt x="502" y="13462"/>
                    <a:pt x="0" y="14266"/>
                    <a:pt x="0" y="15070"/>
                  </a:cubicBezTo>
                  <a:cubicBezTo>
                    <a:pt x="0" y="15673"/>
                    <a:pt x="335" y="16175"/>
                    <a:pt x="670" y="16778"/>
                  </a:cubicBezTo>
                  <a:cubicBezTo>
                    <a:pt x="670" y="16878"/>
                    <a:pt x="837" y="17079"/>
                    <a:pt x="837" y="17180"/>
                  </a:cubicBezTo>
                  <a:cubicBezTo>
                    <a:pt x="1005" y="17380"/>
                    <a:pt x="1005" y="17380"/>
                    <a:pt x="1005" y="17380"/>
                  </a:cubicBezTo>
                  <a:cubicBezTo>
                    <a:pt x="1005" y="17581"/>
                    <a:pt x="1172" y="17782"/>
                    <a:pt x="1340" y="17983"/>
                  </a:cubicBezTo>
                  <a:cubicBezTo>
                    <a:pt x="1507" y="18084"/>
                    <a:pt x="1674" y="18184"/>
                    <a:pt x="1842" y="18285"/>
                  </a:cubicBezTo>
                  <a:cubicBezTo>
                    <a:pt x="2009" y="18385"/>
                    <a:pt x="2177" y="18486"/>
                    <a:pt x="2177" y="18687"/>
                  </a:cubicBezTo>
                  <a:cubicBezTo>
                    <a:pt x="2512" y="19088"/>
                    <a:pt x="2344" y="19792"/>
                    <a:pt x="2177" y="20294"/>
                  </a:cubicBezTo>
                  <a:cubicBezTo>
                    <a:pt x="2009" y="20495"/>
                    <a:pt x="2009" y="20495"/>
                    <a:pt x="2009" y="20495"/>
                  </a:cubicBezTo>
                  <a:cubicBezTo>
                    <a:pt x="2344" y="20595"/>
                    <a:pt x="2344" y="20595"/>
                    <a:pt x="2344" y="20595"/>
                  </a:cubicBezTo>
                  <a:cubicBezTo>
                    <a:pt x="2679" y="20595"/>
                    <a:pt x="2847" y="20595"/>
                    <a:pt x="3014" y="20595"/>
                  </a:cubicBezTo>
                  <a:cubicBezTo>
                    <a:pt x="3181" y="20595"/>
                    <a:pt x="3349" y="20595"/>
                    <a:pt x="3516" y="20696"/>
                  </a:cubicBezTo>
                  <a:cubicBezTo>
                    <a:pt x="4019" y="20796"/>
                    <a:pt x="4353" y="20997"/>
                    <a:pt x="4856" y="21299"/>
                  </a:cubicBezTo>
                  <a:cubicBezTo>
                    <a:pt x="5023" y="21399"/>
                    <a:pt x="5023" y="21399"/>
                    <a:pt x="5023" y="21399"/>
                  </a:cubicBezTo>
                  <a:cubicBezTo>
                    <a:pt x="5191" y="21500"/>
                    <a:pt x="5358" y="21600"/>
                    <a:pt x="5526" y="21600"/>
                  </a:cubicBezTo>
                  <a:cubicBezTo>
                    <a:pt x="5693" y="21600"/>
                    <a:pt x="5860" y="21500"/>
                    <a:pt x="6028" y="21399"/>
                  </a:cubicBezTo>
                  <a:cubicBezTo>
                    <a:pt x="6363" y="21299"/>
                    <a:pt x="6698" y="21098"/>
                    <a:pt x="6865" y="20997"/>
                  </a:cubicBezTo>
                  <a:cubicBezTo>
                    <a:pt x="7033" y="20897"/>
                    <a:pt x="7200" y="20796"/>
                    <a:pt x="7367" y="20696"/>
                  </a:cubicBezTo>
                  <a:cubicBezTo>
                    <a:pt x="7702" y="20595"/>
                    <a:pt x="7870" y="20495"/>
                    <a:pt x="8205" y="20495"/>
                  </a:cubicBezTo>
                  <a:cubicBezTo>
                    <a:pt x="8372" y="20495"/>
                    <a:pt x="8372" y="20394"/>
                    <a:pt x="8540" y="20394"/>
                  </a:cubicBezTo>
                  <a:cubicBezTo>
                    <a:pt x="8707" y="20394"/>
                    <a:pt x="8707" y="20394"/>
                    <a:pt x="8874" y="20394"/>
                  </a:cubicBezTo>
                  <a:cubicBezTo>
                    <a:pt x="8874" y="20294"/>
                    <a:pt x="9042" y="20294"/>
                    <a:pt x="9209" y="20294"/>
                  </a:cubicBezTo>
                  <a:cubicBezTo>
                    <a:pt x="9377" y="20193"/>
                    <a:pt x="9544" y="20193"/>
                    <a:pt x="9544" y="20093"/>
                  </a:cubicBezTo>
                  <a:cubicBezTo>
                    <a:pt x="9712" y="20093"/>
                    <a:pt x="9712" y="20093"/>
                    <a:pt x="9712" y="20093"/>
                  </a:cubicBezTo>
                  <a:cubicBezTo>
                    <a:pt x="9712" y="20093"/>
                    <a:pt x="9879" y="20093"/>
                    <a:pt x="9879" y="20093"/>
                  </a:cubicBezTo>
                  <a:cubicBezTo>
                    <a:pt x="9879" y="20093"/>
                    <a:pt x="10047" y="20093"/>
                    <a:pt x="10047" y="20093"/>
                  </a:cubicBezTo>
                  <a:cubicBezTo>
                    <a:pt x="10047" y="20093"/>
                    <a:pt x="10214" y="20093"/>
                    <a:pt x="10214" y="20093"/>
                  </a:cubicBezTo>
                  <a:cubicBezTo>
                    <a:pt x="10381" y="20093"/>
                    <a:pt x="10381" y="20093"/>
                    <a:pt x="10381" y="20093"/>
                  </a:cubicBezTo>
                  <a:cubicBezTo>
                    <a:pt x="10549" y="19993"/>
                    <a:pt x="10716" y="19993"/>
                    <a:pt x="10884" y="19993"/>
                  </a:cubicBezTo>
                  <a:cubicBezTo>
                    <a:pt x="11051" y="19993"/>
                    <a:pt x="11051" y="19993"/>
                    <a:pt x="11219" y="19892"/>
                  </a:cubicBezTo>
                  <a:cubicBezTo>
                    <a:pt x="11553" y="19892"/>
                    <a:pt x="11888" y="19792"/>
                    <a:pt x="12223" y="19591"/>
                  </a:cubicBezTo>
                  <a:cubicBezTo>
                    <a:pt x="12223" y="19591"/>
                    <a:pt x="12391" y="19490"/>
                    <a:pt x="12558" y="19490"/>
                  </a:cubicBezTo>
                  <a:cubicBezTo>
                    <a:pt x="13228" y="19189"/>
                    <a:pt x="14065" y="18887"/>
                    <a:pt x="15070" y="18586"/>
                  </a:cubicBezTo>
                  <a:cubicBezTo>
                    <a:pt x="15572" y="18486"/>
                    <a:pt x="16074" y="18385"/>
                    <a:pt x="16577" y="18184"/>
                  </a:cubicBezTo>
                  <a:cubicBezTo>
                    <a:pt x="16744" y="18184"/>
                    <a:pt x="16912" y="18184"/>
                    <a:pt x="17079" y="18184"/>
                  </a:cubicBezTo>
                  <a:cubicBezTo>
                    <a:pt x="17247" y="18184"/>
                    <a:pt x="17247" y="18184"/>
                    <a:pt x="17414" y="18184"/>
                  </a:cubicBezTo>
                  <a:cubicBezTo>
                    <a:pt x="17581" y="18184"/>
                    <a:pt x="17749" y="18184"/>
                    <a:pt x="17916" y="18184"/>
                  </a:cubicBezTo>
                  <a:cubicBezTo>
                    <a:pt x="17916" y="18184"/>
                    <a:pt x="17916" y="18184"/>
                    <a:pt x="17916" y="18184"/>
                  </a:cubicBezTo>
                  <a:cubicBezTo>
                    <a:pt x="18251" y="18184"/>
                    <a:pt x="18419" y="18084"/>
                    <a:pt x="18753" y="18084"/>
                  </a:cubicBezTo>
                  <a:cubicBezTo>
                    <a:pt x="18753" y="18084"/>
                    <a:pt x="18921" y="17983"/>
                    <a:pt x="19088" y="17983"/>
                  </a:cubicBezTo>
                  <a:cubicBezTo>
                    <a:pt x="19256" y="17983"/>
                    <a:pt x="19256" y="17983"/>
                    <a:pt x="19423" y="17983"/>
                  </a:cubicBezTo>
                  <a:cubicBezTo>
                    <a:pt x="19758" y="17983"/>
                    <a:pt x="20093" y="17983"/>
                    <a:pt x="20428" y="17883"/>
                  </a:cubicBezTo>
                  <a:cubicBezTo>
                    <a:pt x="20595" y="17782"/>
                    <a:pt x="20930" y="17581"/>
                    <a:pt x="21098" y="17380"/>
                  </a:cubicBezTo>
                  <a:cubicBezTo>
                    <a:pt x="21098" y="17380"/>
                    <a:pt x="21265" y="17280"/>
                    <a:pt x="21265" y="17280"/>
                  </a:cubicBezTo>
                  <a:cubicBezTo>
                    <a:pt x="21600" y="17079"/>
                    <a:pt x="21600" y="17079"/>
                    <a:pt x="21600" y="17079"/>
                  </a:cubicBezTo>
                  <a:lnTo>
                    <a:pt x="21433" y="16979"/>
                  </a:ln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76" name="Shape">
              <a:extLst>
                <a:ext uri="{FF2B5EF4-FFF2-40B4-BE49-F238E27FC236}">
                  <a16:creationId xmlns:a16="http://schemas.microsoft.com/office/drawing/2014/main" id="{CFA586FB-2754-C948-8CFC-DC1C2EE82672}"/>
                </a:ext>
              </a:extLst>
            </p:cNvPr>
            <p:cNvSpPr/>
            <p:nvPr/>
          </p:nvSpPr>
          <p:spPr>
            <a:xfrm>
              <a:off x="2826395" y="3080591"/>
              <a:ext cx="201497" cy="618095"/>
            </a:xfrm>
            <a:custGeom>
              <a:avLst/>
              <a:gdLst/>
              <a:ahLst/>
              <a:cxnLst>
                <a:cxn ang="0">
                  <a:pos x="wd2" y="hd2"/>
                </a:cxn>
                <a:cxn ang="5400000">
                  <a:pos x="wd2" y="hd2"/>
                </a:cxn>
                <a:cxn ang="10800000">
                  <a:pos x="wd2" y="hd2"/>
                </a:cxn>
                <a:cxn ang="16200000">
                  <a:pos x="wd2" y="hd2"/>
                </a:cxn>
              </a:cxnLst>
              <a:rect l="0" t="0" r="r" b="b"/>
              <a:pathLst>
                <a:path w="21357" h="21600" extrusionOk="0">
                  <a:moveTo>
                    <a:pt x="20769" y="19602"/>
                  </a:moveTo>
                  <a:cubicBezTo>
                    <a:pt x="20354" y="19477"/>
                    <a:pt x="20354" y="19477"/>
                    <a:pt x="19938" y="19353"/>
                  </a:cubicBezTo>
                  <a:cubicBezTo>
                    <a:pt x="19108" y="18853"/>
                    <a:pt x="19523" y="18229"/>
                    <a:pt x="19523" y="17729"/>
                  </a:cubicBezTo>
                  <a:cubicBezTo>
                    <a:pt x="19938" y="17605"/>
                    <a:pt x="19938" y="17355"/>
                    <a:pt x="19938" y="17105"/>
                  </a:cubicBezTo>
                  <a:cubicBezTo>
                    <a:pt x="19938" y="16106"/>
                    <a:pt x="19938" y="15108"/>
                    <a:pt x="19938" y="14109"/>
                  </a:cubicBezTo>
                  <a:cubicBezTo>
                    <a:pt x="19938" y="13484"/>
                    <a:pt x="19938" y="12985"/>
                    <a:pt x="19938" y="12486"/>
                  </a:cubicBezTo>
                  <a:cubicBezTo>
                    <a:pt x="19938" y="12236"/>
                    <a:pt x="19938" y="11986"/>
                    <a:pt x="19938" y="11736"/>
                  </a:cubicBezTo>
                  <a:cubicBezTo>
                    <a:pt x="20354" y="10987"/>
                    <a:pt x="20354" y="10363"/>
                    <a:pt x="19938" y="9739"/>
                  </a:cubicBezTo>
                  <a:cubicBezTo>
                    <a:pt x="19523" y="9489"/>
                    <a:pt x="19108" y="9114"/>
                    <a:pt x="18277" y="8865"/>
                  </a:cubicBezTo>
                  <a:cubicBezTo>
                    <a:pt x="17862" y="8490"/>
                    <a:pt x="17031" y="8116"/>
                    <a:pt x="17031" y="7741"/>
                  </a:cubicBezTo>
                  <a:cubicBezTo>
                    <a:pt x="16615" y="7366"/>
                    <a:pt x="16615" y="7117"/>
                    <a:pt x="17031" y="6867"/>
                  </a:cubicBezTo>
                  <a:cubicBezTo>
                    <a:pt x="17031" y="6368"/>
                    <a:pt x="17031" y="5868"/>
                    <a:pt x="16200" y="5369"/>
                  </a:cubicBezTo>
                  <a:cubicBezTo>
                    <a:pt x="15785" y="4994"/>
                    <a:pt x="14123" y="4745"/>
                    <a:pt x="12877" y="4370"/>
                  </a:cubicBezTo>
                  <a:cubicBezTo>
                    <a:pt x="12877" y="4370"/>
                    <a:pt x="12462" y="4245"/>
                    <a:pt x="12046" y="4245"/>
                  </a:cubicBezTo>
                  <a:cubicBezTo>
                    <a:pt x="9969" y="3621"/>
                    <a:pt x="9554" y="3371"/>
                    <a:pt x="10385" y="2497"/>
                  </a:cubicBezTo>
                  <a:cubicBezTo>
                    <a:pt x="10385" y="2123"/>
                    <a:pt x="11215" y="1498"/>
                    <a:pt x="13292" y="1373"/>
                  </a:cubicBezTo>
                  <a:cubicBezTo>
                    <a:pt x="14538" y="1124"/>
                    <a:pt x="14538" y="874"/>
                    <a:pt x="14123" y="624"/>
                  </a:cubicBezTo>
                  <a:cubicBezTo>
                    <a:pt x="14123" y="0"/>
                    <a:pt x="14123" y="0"/>
                    <a:pt x="14123" y="0"/>
                  </a:cubicBezTo>
                  <a:cubicBezTo>
                    <a:pt x="12877" y="499"/>
                    <a:pt x="12877" y="499"/>
                    <a:pt x="12877" y="499"/>
                  </a:cubicBezTo>
                  <a:cubicBezTo>
                    <a:pt x="12462" y="499"/>
                    <a:pt x="12462" y="624"/>
                    <a:pt x="12046" y="624"/>
                  </a:cubicBezTo>
                  <a:cubicBezTo>
                    <a:pt x="12046" y="749"/>
                    <a:pt x="12046" y="749"/>
                    <a:pt x="11631" y="874"/>
                  </a:cubicBezTo>
                  <a:cubicBezTo>
                    <a:pt x="10800" y="1124"/>
                    <a:pt x="10800" y="1124"/>
                    <a:pt x="9554" y="1124"/>
                  </a:cubicBezTo>
                  <a:cubicBezTo>
                    <a:pt x="9554" y="1124"/>
                    <a:pt x="9138" y="1249"/>
                    <a:pt x="8723" y="1249"/>
                  </a:cubicBezTo>
                  <a:cubicBezTo>
                    <a:pt x="8308" y="1249"/>
                    <a:pt x="7477" y="1249"/>
                    <a:pt x="7062" y="1249"/>
                  </a:cubicBezTo>
                  <a:cubicBezTo>
                    <a:pt x="7062" y="1249"/>
                    <a:pt x="7062" y="1249"/>
                    <a:pt x="6646" y="1249"/>
                  </a:cubicBezTo>
                  <a:cubicBezTo>
                    <a:pt x="6231" y="1249"/>
                    <a:pt x="5815" y="1124"/>
                    <a:pt x="5400" y="1124"/>
                  </a:cubicBezTo>
                  <a:cubicBezTo>
                    <a:pt x="4985" y="999"/>
                    <a:pt x="4569" y="999"/>
                    <a:pt x="4154" y="874"/>
                  </a:cubicBezTo>
                  <a:cubicBezTo>
                    <a:pt x="3738" y="874"/>
                    <a:pt x="2908" y="874"/>
                    <a:pt x="2077" y="874"/>
                  </a:cubicBezTo>
                  <a:cubicBezTo>
                    <a:pt x="1246" y="874"/>
                    <a:pt x="1246" y="874"/>
                    <a:pt x="1246" y="874"/>
                  </a:cubicBezTo>
                  <a:cubicBezTo>
                    <a:pt x="0" y="2497"/>
                    <a:pt x="0" y="2497"/>
                    <a:pt x="0" y="2497"/>
                  </a:cubicBezTo>
                  <a:cubicBezTo>
                    <a:pt x="4985" y="3995"/>
                    <a:pt x="4985" y="3995"/>
                    <a:pt x="4985" y="3995"/>
                  </a:cubicBezTo>
                  <a:cubicBezTo>
                    <a:pt x="4985" y="4495"/>
                    <a:pt x="4985" y="5244"/>
                    <a:pt x="4569" y="5868"/>
                  </a:cubicBezTo>
                  <a:cubicBezTo>
                    <a:pt x="4154" y="5993"/>
                    <a:pt x="4154" y="5993"/>
                    <a:pt x="4154" y="5993"/>
                  </a:cubicBezTo>
                  <a:cubicBezTo>
                    <a:pt x="4154" y="6243"/>
                    <a:pt x="3738" y="6492"/>
                    <a:pt x="3738" y="6617"/>
                  </a:cubicBezTo>
                  <a:cubicBezTo>
                    <a:pt x="3323" y="6867"/>
                    <a:pt x="3323" y="6992"/>
                    <a:pt x="3323" y="7242"/>
                  </a:cubicBezTo>
                  <a:cubicBezTo>
                    <a:pt x="3323" y="7491"/>
                    <a:pt x="3323" y="7491"/>
                    <a:pt x="3323" y="7491"/>
                  </a:cubicBezTo>
                  <a:cubicBezTo>
                    <a:pt x="4569" y="7491"/>
                    <a:pt x="4569" y="7491"/>
                    <a:pt x="4569" y="7491"/>
                  </a:cubicBezTo>
                  <a:cubicBezTo>
                    <a:pt x="4569" y="7366"/>
                    <a:pt x="4985" y="7366"/>
                    <a:pt x="5400" y="7366"/>
                  </a:cubicBezTo>
                  <a:cubicBezTo>
                    <a:pt x="5815" y="7366"/>
                    <a:pt x="6231" y="7366"/>
                    <a:pt x="6646" y="7741"/>
                  </a:cubicBezTo>
                  <a:cubicBezTo>
                    <a:pt x="6646" y="7866"/>
                    <a:pt x="6646" y="8116"/>
                    <a:pt x="6231" y="8365"/>
                  </a:cubicBezTo>
                  <a:cubicBezTo>
                    <a:pt x="5815" y="8490"/>
                    <a:pt x="5815" y="8740"/>
                    <a:pt x="5815" y="8865"/>
                  </a:cubicBezTo>
                  <a:cubicBezTo>
                    <a:pt x="5815" y="8990"/>
                    <a:pt x="5815" y="9239"/>
                    <a:pt x="6231" y="9364"/>
                  </a:cubicBezTo>
                  <a:cubicBezTo>
                    <a:pt x="6231" y="9614"/>
                    <a:pt x="6646" y="9739"/>
                    <a:pt x="6646" y="9864"/>
                  </a:cubicBezTo>
                  <a:cubicBezTo>
                    <a:pt x="6646" y="9988"/>
                    <a:pt x="6231" y="10113"/>
                    <a:pt x="5815" y="10238"/>
                  </a:cubicBezTo>
                  <a:cubicBezTo>
                    <a:pt x="5400" y="10363"/>
                    <a:pt x="5400" y="10488"/>
                    <a:pt x="5400" y="10738"/>
                  </a:cubicBezTo>
                  <a:cubicBezTo>
                    <a:pt x="5815" y="10862"/>
                    <a:pt x="6646" y="11112"/>
                    <a:pt x="7062" y="11237"/>
                  </a:cubicBezTo>
                  <a:cubicBezTo>
                    <a:pt x="8308" y="11612"/>
                    <a:pt x="9138" y="11861"/>
                    <a:pt x="8723" y="12236"/>
                  </a:cubicBezTo>
                  <a:cubicBezTo>
                    <a:pt x="8308" y="12361"/>
                    <a:pt x="8308" y="12361"/>
                    <a:pt x="8308" y="12361"/>
                  </a:cubicBezTo>
                  <a:cubicBezTo>
                    <a:pt x="7892" y="12486"/>
                    <a:pt x="7477" y="12486"/>
                    <a:pt x="7477" y="12610"/>
                  </a:cubicBezTo>
                  <a:cubicBezTo>
                    <a:pt x="7477" y="12735"/>
                    <a:pt x="7477" y="12860"/>
                    <a:pt x="7477" y="12985"/>
                  </a:cubicBezTo>
                  <a:cubicBezTo>
                    <a:pt x="7477" y="13110"/>
                    <a:pt x="7477" y="13110"/>
                    <a:pt x="7477" y="13110"/>
                  </a:cubicBezTo>
                  <a:cubicBezTo>
                    <a:pt x="7477" y="13484"/>
                    <a:pt x="7477" y="13859"/>
                    <a:pt x="7477" y="14234"/>
                  </a:cubicBezTo>
                  <a:cubicBezTo>
                    <a:pt x="7477" y="14483"/>
                    <a:pt x="7062" y="14733"/>
                    <a:pt x="7062" y="14983"/>
                  </a:cubicBezTo>
                  <a:cubicBezTo>
                    <a:pt x="6646" y="15232"/>
                    <a:pt x="6231" y="15482"/>
                    <a:pt x="6646" y="15732"/>
                  </a:cubicBezTo>
                  <a:cubicBezTo>
                    <a:pt x="7062" y="15857"/>
                    <a:pt x="7477" y="15857"/>
                    <a:pt x="8308" y="15982"/>
                  </a:cubicBezTo>
                  <a:cubicBezTo>
                    <a:pt x="7892" y="16231"/>
                    <a:pt x="7892" y="16481"/>
                    <a:pt x="7892" y="16731"/>
                  </a:cubicBezTo>
                  <a:cubicBezTo>
                    <a:pt x="7477" y="16855"/>
                    <a:pt x="7477" y="16980"/>
                    <a:pt x="7062" y="17105"/>
                  </a:cubicBezTo>
                  <a:cubicBezTo>
                    <a:pt x="7062" y="17230"/>
                    <a:pt x="7062" y="17355"/>
                    <a:pt x="6646" y="17355"/>
                  </a:cubicBezTo>
                  <a:cubicBezTo>
                    <a:pt x="5815" y="18354"/>
                    <a:pt x="7892" y="19602"/>
                    <a:pt x="9969" y="20102"/>
                  </a:cubicBezTo>
                  <a:cubicBezTo>
                    <a:pt x="10385" y="20227"/>
                    <a:pt x="10800" y="20351"/>
                    <a:pt x="11631" y="20351"/>
                  </a:cubicBezTo>
                  <a:cubicBezTo>
                    <a:pt x="12046" y="20476"/>
                    <a:pt x="12877" y="20601"/>
                    <a:pt x="13292" y="20851"/>
                  </a:cubicBezTo>
                  <a:cubicBezTo>
                    <a:pt x="13708" y="20851"/>
                    <a:pt x="13708" y="21101"/>
                    <a:pt x="14123" y="21225"/>
                  </a:cubicBezTo>
                  <a:cubicBezTo>
                    <a:pt x="14538" y="21600"/>
                    <a:pt x="14538" y="21600"/>
                    <a:pt x="14538" y="21600"/>
                  </a:cubicBezTo>
                  <a:cubicBezTo>
                    <a:pt x="15369" y="21350"/>
                    <a:pt x="15369" y="21350"/>
                    <a:pt x="15369" y="21350"/>
                  </a:cubicBezTo>
                  <a:cubicBezTo>
                    <a:pt x="15785" y="21225"/>
                    <a:pt x="16200" y="21225"/>
                    <a:pt x="16615" y="21225"/>
                  </a:cubicBezTo>
                  <a:cubicBezTo>
                    <a:pt x="17031" y="21101"/>
                    <a:pt x="17862" y="20976"/>
                    <a:pt x="18692" y="20976"/>
                  </a:cubicBezTo>
                  <a:cubicBezTo>
                    <a:pt x="19108" y="20976"/>
                    <a:pt x="19523" y="20976"/>
                    <a:pt x="19938" y="20851"/>
                  </a:cubicBezTo>
                  <a:cubicBezTo>
                    <a:pt x="19938" y="20851"/>
                    <a:pt x="20769" y="20851"/>
                    <a:pt x="20769" y="20851"/>
                  </a:cubicBezTo>
                  <a:cubicBezTo>
                    <a:pt x="20769" y="20726"/>
                    <a:pt x="20769" y="20726"/>
                    <a:pt x="20769" y="20726"/>
                  </a:cubicBezTo>
                  <a:cubicBezTo>
                    <a:pt x="21185" y="20476"/>
                    <a:pt x="21600" y="20351"/>
                    <a:pt x="21185" y="20102"/>
                  </a:cubicBezTo>
                  <a:cubicBezTo>
                    <a:pt x="21185" y="19852"/>
                    <a:pt x="21185" y="19727"/>
                    <a:pt x="20769" y="19602"/>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77" name="Shape">
              <a:extLst>
                <a:ext uri="{FF2B5EF4-FFF2-40B4-BE49-F238E27FC236}">
                  <a16:creationId xmlns:a16="http://schemas.microsoft.com/office/drawing/2014/main" id="{9921BD8B-CC51-7444-8B61-5E8112CE7848}"/>
                </a:ext>
              </a:extLst>
            </p:cNvPr>
            <p:cNvSpPr/>
            <p:nvPr/>
          </p:nvSpPr>
          <p:spPr>
            <a:xfrm>
              <a:off x="1534996" y="3402473"/>
              <a:ext cx="463361" cy="497635"/>
            </a:xfrm>
            <a:custGeom>
              <a:avLst/>
              <a:gdLst/>
              <a:ahLst/>
              <a:cxnLst>
                <a:cxn ang="0">
                  <a:pos x="wd2" y="hd2"/>
                </a:cxn>
                <a:cxn ang="5400000">
                  <a:pos x="wd2" y="hd2"/>
                </a:cxn>
                <a:cxn ang="10800000">
                  <a:pos x="wd2" y="hd2"/>
                </a:cxn>
                <a:cxn ang="16200000">
                  <a:pos x="wd2" y="hd2"/>
                </a:cxn>
              </a:cxnLst>
              <a:rect l="0" t="0" r="r" b="b"/>
              <a:pathLst>
                <a:path w="21600" h="21600" extrusionOk="0">
                  <a:moveTo>
                    <a:pt x="21055" y="13519"/>
                  </a:moveTo>
                  <a:cubicBezTo>
                    <a:pt x="20874" y="13519"/>
                    <a:pt x="20692" y="13519"/>
                    <a:pt x="20511" y="13364"/>
                  </a:cubicBezTo>
                  <a:cubicBezTo>
                    <a:pt x="20329" y="13209"/>
                    <a:pt x="19966" y="13053"/>
                    <a:pt x="19785" y="12742"/>
                  </a:cubicBezTo>
                  <a:cubicBezTo>
                    <a:pt x="19603" y="12587"/>
                    <a:pt x="19603" y="12432"/>
                    <a:pt x="19422" y="12276"/>
                  </a:cubicBezTo>
                  <a:cubicBezTo>
                    <a:pt x="19422" y="11965"/>
                    <a:pt x="19240" y="11655"/>
                    <a:pt x="18877" y="11499"/>
                  </a:cubicBezTo>
                  <a:cubicBezTo>
                    <a:pt x="18696" y="11344"/>
                    <a:pt x="18333" y="11344"/>
                    <a:pt x="18151" y="11344"/>
                  </a:cubicBezTo>
                  <a:cubicBezTo>
                    <a:pt x="18151" y="11344"/>
                    <a:pt x="17970" y="11344"/>
                    <a:pt x="17788" y="11344"/>
                  </a:cubicBezTo>
                  <a:cubicBezTo>
                    <a:pt x="17607" y="11344"/>
                    <a:pt x="17425" y="11344"/>
                    <a:pt x="17425" y="11344"/>
                  </a:cubicBezTo>
                  <a:cubicBezTo>
                    <a:pt x="17244" y="11344"/>
                    <a:pt x="17244" y="11344"/>
                    <a:pt x="17062" y="11344"/>
                  </a:cubicBezTo>
                  <a:cubicBezTo>
                    <a:pt x="16518" y="11344"/>
                    <a:pt x="15973" y="11033"/>
                    <a:pt x="15792" y="10567"/>
                  </a:cubicBezTo>
                  <a:cubicBezTo>
                    <a:pt x="15429" y="10256"/>
                    <a:pt x="15610" y="9790"/>
                    <a:pt x="15973" y="9479"/>
                  </a:cubicBezTo>
                  <a:cubicBezTo>
                    <a:pt x="16336" y="9168"/>
                    <a:pt x="16518" y="8858"/>
                    <a:pt x="16699" y="8391"/>
                  </a:cubicBezTo>
                  <a:cubicBezTo>
                    <a:pt x="16881" y="7925"/>
                    <a:pt x="16881" y="7614"/>
                    <a:pt x="16881" y="7148"/>
                  </a:cubicBezTo>
                  <a:cubicBezTo>
                    <a:pt x="16881" y="6837"/>
                    <a:pt x="16699" y="6527"/>
                    <a:pt x="16518" y="6216"/>
                  </a:cubicBezTo>
                  <a:cubicBezTo>
                    <a:pt x="16336" y="6060"/>
                    <a:pt x="16336" y="6060"/>
                    <a:pt x="16336" y="6060"/>
                  </a:cubicBezTo>
                  <a:cubicBezTo>
                    <a:pt x="16155" y="5750"/>
                    <a:pt x="16155" y="5439"/>
                    <a:pt x="15973" y="4973"/>
                  </a:cubicBezTo>
                  <a:cubicBezTo>
                    <a:pt x="15973" y="4817"/>
                    <a:pt x="15973" y="4817"/>
                    <a:pt x="15973" y="4817"/>
                  </a:cubicBezTo>
                  <a:cubicBezTo>
                    <a:pt x="15792" y="4662"/>
                    <a:pt x="15792" y="4662"/>
                    <a:pt x="15792" y="4662"/>
                  </a:cubicBezTo>
                  <a:cubicBezTo>
                    <a:pt x="15792" y="4662"/>
                    <a:pt x="15610" y="4662"/>
                    <a:pt x="15429" y="4506"/>
                  </a:cubicBezTo>
                  <a:cubicBezTo>
                    <a:pt x="15429" y="4506"/>
                    <a:pt x="15247" y="4351"/>
                    <a:pt x="15247" y="4351"/>
                  </a:cubicBezTo>
                  <a:cubicBezTo>
                    <a:pt x="14884" y="4196"/>
                    <a:pt x="14884" y="4196"/>
                    <a:pt x="14884" y="4196"/>
                  </a:cubicBezTo>
                  <a:cubicBezTo>
                    <a:pt x="14703" y="4506"/>
                    <a:pt x="14703" y="4506"/>
                    <a:pt x="14703" y="4506"/>
                  </a:cubicBezTo>
                  <a:cubicBezTo>
                    <a:pt x="14703" y="4506"/>
                    <a:pt x="14703" y="4662"/>
                    <a:pt x="14703" y="4662"/>
                  </a:cubicBezTo>
                  <a:cubicBezTo>
                    <a:pt x="14521" y="5283"/>
                    <a:pt x="14339" y="5594"/>
                    <a:pt x="13795" y="6060"/>
                  </a:cubicBezTo>
                  <a:cubicBezTo>
                    <a:pt x="13795" y="6060"/>
                    <a:pt x="13795" y="6060"/>
                    <a:pt x="13795" y="6060"/>
                  </a:cubicBezTo>
                  <a:cubicBezTo>
                    <a:pt x="13250" y="6527"/>
                    <a:pt x="13069" y="6682"/>
                    <a:pt x="12524" y="6682"/>
                  </a:cubicBezTo>
                  <a:cubicBezTo>
                    <a:pt x="12343" y="6216"/>
                    <a:pt x="12161" y="5905"/>
                    <a:pt x="11798" y="5750"/>
                  </a:cubicBezTo>
                  <a:cubicBezTo>
                    <a:pt x="11798" y="5750"/>
                    <a:pt x="11617" y="5750"/>
                    <a:pt x="11617" y="5750"/>
                  </a:cubicBezTo>
                  <a:cubicBezTo>
                    <a:pt x="11435" y="5750"/>
                    <a:pt x="11435" y="5750"/>
                    <a:pt x="11254" y="5750"/>
                  </a:cubicBezTo>
                  <a:cubicBezTo>
                    <a:pt x="11254" y="5750"/>
                    <a:pt x="11254" y="5750"/>
                    <a:pt x="11072" y="5750"/>
                  </a:cubicBezTo>
                  <a:cubicBezTo>
                    <a:pt x="10891" y="5750"/>
                    <a:pt x="10891" y="5750"/>
                    <a:pt x="10891" y="5750"/>
                  </a:cubicBezTo>
                  <a:cubicBezTo>
                    <a:pt x="10709" y="5750"/>
                    <a:pt x="10709" y="5594"/>
                    <a:pt x="10709" y="5439"/>
                  </a:cubicBezTo>
                  <a:cubicBezTo>
                    <a:pt x="10709" y="5283"/>
                    <a:pt x="10891" y="5128"/>
                    <a:pt x="11072" y="4973"/>
                  </a:cubicBezTo>
                  <a:cubicBezTo>
                    <a:pt x="11072" y="4817"/>
                    <a:pt x="11254" y="4662"/>
                    <a:pt x="11254" y="4506"/>
                  </a:cubicBezTo>
                  <a:cubicBezTo>
                    <a:pt x="11435" y="4196"/>
                    <a:pt x="11254" y="3885"/>
                    <a:pt x="11254" y="3574"/>
                  </a:cubicBezTo>
                  <a:cubicBezTo>
                    <a:pt x="11072" y="3419"/>
                    <a:pt x="11072" y="3419"/>
                    <a:pt x="11072" y="3419"/>
                  </a:cubicBezTo>
                  <a:cubicBezTo>
                    <a:pt x="11072" y="3263"/>
                    <a:pt x="11072" y="2953"/>
                    <a:pt x="10891" y="2797"/>
                  </a:cubicBezTo>
                  <a:cubicBezTo>
                    <a:pt x="10891" y="2642"/>
                    <a:pt x="10891" y="2486"/>
                    <a:pt x="10891" y="2331"/>
                  </a:cubicBezTo>
                  <a:cubicBezTo>
                    <a:pt x="10891" y="2331"/>
                    <a:pt x="10709" y="2176"/>
                    <a:pt x="10709" y="2020"/>
                  </a:cubicBezTo>
                  <a:cubicBezTo>
                    <a:pt x="10709" y="1865"/>
                    <a:pt x="10528" y="1554"/>
                    <a:pt x="10528" y="1243"/>
                  </a:cubicBezTo>
                  <a:cubicBezTo>
                    <a:pt x="10528" y="466"/>
                    <a:pt x="9802" y="155"/>
                    <a:pt x="9076" y="0"/>
                  </a:cubicBezTo>
                  <a:cubicBezTo>
                    <a:pt x="8894" y="0"/>
                    <a:pt x="8894" y="0"/>
                    <a:pt x="8894" y="0"/>
                  </a:cubicBezTo>
                  <a:cubicBezTo>
                    <a:pt x="8713" y="0"/>
                    <a:pt x="8531" y="155"/>
                    <a:pt x="8350" y="155"/>
                  </a:cubicBezTo>
                  <a:cubicBezTo>
                    <a:pt x="8168" y="155"/>
                    <a:pt x="7987" y="311"/>
                    <a:pt x="7805" y="311"/>
                  </a:cubicBezTo>
                  <a:cubicBezTo>
                    <a:pt x="7624" y="311"/>
                    <a:pt x="7442" y="155"/>
                    <a:pt x="7261" y="155"/>
                  </a:cubicBezTo>
                  <a:cubicBezTo>
                    <a:pt x="7079" y="155"/>
                    <a:pt x="7079" y="155"/>
                    <a:pt x="6897" y="0"/>
                  </a:cubicBezTo>
                  <a:cubicBezTo>
                    <a:pt x="6534" y="0"/>
                    <a:pt x="6534" y="0"/>
                    <a:pt x="6534" y="0"/>
                  </a:cubicBezTo>
                  <a:cubicBezTo>
                    <a:pt x="6534" y="311"/>
                    <a:pt x="6534" y="311"/>
                    <a:pt x="6534" y="311"/>
                  </a:cubicBezTo>
                  <a:cubicBezTo>
                    <a:pt x="6534" y="622"/>
                    <a:pt x="6534" y="777"/>
                    <a:pt x="6534" y="932"/>
                  </a:cubicBezTo>
                  <a:cubicBezTo>
                    <a:pt x="6534" y="1088"/>
                    <a:pt x="6534" y="1399"/>
                    <a:pt x="6353" y="1554"/>
                  </a:cubicBezTo>
                  <a:cubicBezTo>
                    <a:pt x="6353" y="1709"/>
                    <a:pt x="6171" y="1709"/>
                    <a:pt x="5808" y="1709"/>
                  </a:cubicBezTo>
                  <a:cubicBezTo>
                    <a:pt x="5445" y="1709"/>
                    <a:pt x="5445" y="1709"/>
                    <a:pt x="5445" y="1709"/>
                  </a:cubicBezTo>
                  <a:cubicBezTo>
                    <a:pt x="5445" y="1709"/>
                    <a:pt x="5082" y="1709"/>
                    <a:pt x="5082" y="1865"/>
                  </a:cubicBezTo>
                  <a:cubicBezTo>
                    <a:pt x="4719" y="2020"/>
                    <a:pt x="4719" y="2486"/>
                    <a:pt x="4719" y="2953"/>
                  </a:cubicBezTo>
                  <a:cubicBezTo>
                    <a:pt x="4719" y="2953"/>
                    <a:pt x="4719" y="2953"/>
                    <a:pt x="4719" y="3108"/>
                  </a:cubicBezTo>
                  <a:cubicBezTo>
                    <a:pt x="4719" y="3574"/>
                    <a:pt x="4538" y="3885"/>
                    <a:pt x="4175" y="4196"/>
                  </a:cubicBezTo>
                  <a:cubicBezTo>
                    <a:pt x="3812" y="4506"/>
                    <a:pt x="3449" y="4817"/>
                    <a:pt x="3086" y="5128"/>
                  </a:cubicBezTo>
                  <a:cubicBezTo>
                    <a:pt x="2723" y="5283"/>
                    <a:pt x="2541" y="5439"/>
                    <a:pt x="2360" y="5594"/>
                  </a:cubicBezTo>
                  <a:cubicBezTo>
                    <a:pt x="1997" y="5750"/>
                    <a:pt x="1997" y="5750"/>
                    <a:pt x="1997" y="5750"/>
                  </a:cubicBezTo>
                  <a:cubicBezTo>
                    <a:pt x="1452" y="6216"/>
                    <a:pt x="726" y="6682"/>
                    <a:pt x="726" y="7148"/>
                  </a:cubicBezTo>
                  <a:cubicBezTo>
                    <a:pt x="545" y="7459"/>
                    <a:pt x="545" y="7770"/>
                    <a:pt x="182" y="8236"/>
                  </a:cubicBezTo>
                  <a:cubicBezTo>
                    <a:pt x="182" y="8236"/>
                    <a:pt x="182" y="8391"/>
                    <a:pt x="0" y="8391"/>
                  </a:cubicBezTo>
                  <a:cubicBezTo>
                    <a:pt x="0" y="8547"/>
                    <a:pt x="0" y="8547"/>
                    <a:pt x="0" y="8547"/>
                  </a:cubicBezTo>
                  <a:cubicBezTo>
                    <a:pt x="0" y="8702"/>
                    <a:pt x="0" y="8702"/>
                    <a:pt x="0" y="8702"/>
                  </a:cubicBezTo>
                  <a:cubicBezTo>
                    <a:pt x="0" y="8858"/>
                    <a:pt x="0" y="9013"/>
                    <a:pt x="182" y="9324"/>
                  </a:cubicBezTo>
                  <a:cubicBezTo>
                    <a:pt x="363" y="9790"/>
                    <a:pt x="908" y="9945"/>
                    <a:pt x="1452" y="10101"/>
                  </a:cubicBezTo>
                  <a:cubicBezTo>
                    <a:pt x="1634" y="10101"/>
                    <a:pt x="1815" y="10256"/>
                    <a:pt x="1997" y="10412"/>
                  </a:cubicBezTo>
                  <a:cubicBezTo>
                    <a:pt x="2360" y="10567"/>
                    <a:pt x="2904" y="10878"/>
                    <a:pt x="3267" y="11033"/>
                  </a:cubicBezTo>
                  <a:cubicBezTo>
                    <a:pt x="3630" y="11188"/>
                    <a:pt x="3812" y="11344"/>
                    <a:pt x="4175" y="11499"/>
                  </a:cubicBezTo>
                  <a:cubicBezTo>
                    <a:pt x="5082" y="11965"/>
                    <a:pt x="5627" y="12432"/>
                    <a:pt x="6353" y="13053"/>
                  </a:cubicBezTo>
                  <a:cubicBezTo>
                    <a:pt x="6534" y="13209"/>
                    <a:pt x="6897" y="13519"/>
                    <a:pt x="7079" y="13675"/>
                  </a:cubicBezTo>
                  <a:cubicBezTo>
                    <a:pt x="7261" y="13830"/>
                    <a:pt x="7442" y="13986"/>
                    <a:pt x="7442" y="14141"/>
                  </a:cubicBezTo>
                  <a:cubicBezTo>
                    <a:pt x="7624" y="14296"/>
                    <a:pt x="7805" y="14296"/>
                    <a:pt x="7987" y="14452"/>
                  </a:cubicBezTo>
                  <a:cubicBezTo>
                    <a:pt x="8168" y="14607"/>
                    <a:pt x="8350" y="14918"/>
                    <a:pt x="8531" y="15073"/>
                  </a:cubicBezTo>
                  <a:cubicBezTo>
                    <a:pt x="8713" y="15229"/>
                    <a:pt x="9076" y="15384"/>
                    <a:pt x="9257" y="15540"/>
                  </a:cubicBezTo>
                  <a:cubicBezTo>
                    <a:pt x="9620" y="15850"/>
                    <a:pt x="9983" y="16006"/>
                    <a:pt x="10165" y="16317"/>
                  </a:cubicBezTo>
                  <a:cubicBezTo>
                    <a:pt x="10346" y="16472"/>
                    <a:pt x="10528" y="16627"/>
                    <a:pt x="10709" y="16783"/>
                  </a:cubicBezTo>
                  <a:cubicBezTo>
                    <a:pt x="10891" y="16783"/>
                    <a:pt x="10891" y="16783"/>
                    <a:pt x="11072" y="16938"/>
                  </a:cubicBezTo>
                  <a:cubicBezTo>
                    <a:pt x="11435" y="17094"/>
                    <a:pt x="11798" y="17404"/>
                    <a:pt x="12161" y="17560"/>
                  </a:cubicBezTo>
                  <a:cubicBezTo>
                    <a:pt x="12706" y="17871"/>
                    <a:pt x="13069" y="18026"/>
                    <a:pt x="13432" y="18337"/>
                  </a:cubicBezTo>
                  <a:cubicBezTo>
                    <a:pt x="13613" y="18337"/>
                    <a:pt x="13795" y="18492"/>
                    <a:pt x="13795" y="18492"/>
                  </a:cubicBezTo>
                  <a:cubicBezTo>
                    <a:pt x="14158" y="18647"/>
                    <a:pt x="14339" y="18803"/>
                    <a:pt x="14521" y="18958"/>
                  </a:cubicBezTo>
                  <a:cubicBezTo>
                    <a:pt x="14703" y="19114"/>
                    <a:pt x="14703" y="19114"/>
                    <a:pt x="14703" y="19114"/>
                  </a:cubicBezTo>
                  <a:cubicBezTo>
                    <a:pt x="15066" y="19424"/>
                    <a:pt x="15429" y="19580"/>
                    <a:pt x="15792" y="19891"/>
                  </a:cubicBezTo>
                  <a:cubicBezTo>
                    <a:pt x="15973" y="20046"/>
                    <a:pt x="16155" y="20046"/>
                    <a:pt x="16518" y="20201"/>
                  </a:cubicBezTo>
                  <a:cubicBezTo>
                    <a:pt x="16699" y="20201"/>
                    <a:pt x="16699" y="20357"/>
                    <a:pt x="16881" y="20357"/>
                  </a:cubicBezTo>
                  <a:cubicBezTo>
                    <a:pt x="17062" y="20357"/>
                    <a:pt x="17062" y="20512"/>
                    <a:pt x="17244" y="20512"/>
                  </a:cubicBezTo>
                  <a:cubicBezTo>
                    <a:pt x="17607" y="20668"/>
                    <a:pt x="17788" y="20823"/>
                    <a:pt x="18151" y="20823"/>
                  </a:cubicBezTo>
                  <a:cubicBezTo>
                    <a:pt x="18514" y="20978"/>
                    <a:pt x="18696" y="21134"/>
                    <a:pt x="19059" y="21289"/>
                  </a:cubicBezTo>
                  <a:cubicBezTo>
                    <a:pt x="19422" y="21445"/>
                    <a:pt x="19785" y="21600"/>
                    <a:pt x="20148" y="21600"/>
                  </a:cubicBezTo>
                  <a:cubicBezTo>
                    <a:pt x="20511" y="21600"/>
                    <a:pt x="20511" y="21600"/>
                    <a:pt x="20511" y="21600"/>
                  </a:cubicBezTo>
                  <a:cubicBezTo>
                    <a:pt x="20511" y="21289"/>
                    <a:pt x="20511" y="21289"/>
                    <a:pt x="20511" y="21289"/>
                  </a:cubicBezTo>
                  <a:cubicBezTo>
                    <a:pt x="20692" y="20512"/>
                    <a:pt x="20692" y="19891"/>
                    <a:pt x="20692" y="19269"/>
                  </a:cubicBezTo>
                  <a:cubicBezTo>
                    <a:pt x="20692" y="18958"/>
                    <a:pt x="20692" y="18958"/>
                    <a:pt x="20692" y="18958"/>
                  </a:cubicBezTo>
                  <a:cubicBezTo>
                    <a:pt x="20692" y="18492"/>
                    <a:pt x="20692" y="18026"/>
                    <a:pt x="21055" y="17715"/>
                  </a:cubicBezTo>
                  <a:cubicBezTo>
                    <a:pt x="21237" y="17249"/>
                    <a:pt x="21418" y="16783"/>
                    <a:pt x="21418" y="16317"/>
                  </a:cubicBezTo>
                  <a:cubicBezTo>
                    <a:pt x="21600" y="15850"/>
                    <a:pt x="21600" y="15540"/>
                    <a:pt x="21600" y="15073"/>
                  </a:cubicBezTo>
                  <a:cubicBezTo>
                    <a:pt x="21600" y="14763"/>
                    <a:pt x="21600" y="14763"/>
                    <a:pt x="21600" y="14763"/>
                  </a:cubicBezTo>
                  <a:cubicBezTo>
                    <a:pt x="21600" y="14296"/>
                    <a:pt x="21600" y="13830"/>
                    <a:pt x="21055" y="13519"/>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sp>
          <p:nvSpPr>
            <p:cNvPr id="78" name="Shape">
              <a:extLst>
                <a:ext uri="{FF2B5EF4-FFF2-40B4-BE49-F238E27FC236}">
                  <a16:creationId xmlns:a16="http://schemas.microsoft.com/office/drawing/2014/main" id="{7607F4FD-3428-944C-A96A-1D8BB3606FF8}"/>
                </a:ext>
              </a:extLst>
            </p:cNvPr>
            <p:cNvSpPr/>
            <p:nvPr/>
          </p:nvSpPr>
          <p:spPr>
            <a:xfrm>
              <a:off x="1324769" y="3218824"/>
              <a:ext cx="349666" cy="381126"/>
            </a:xfrm>
            <a:custGeom>
              <a:avLst/>
              <a:gdLst/>
              <a:ahLst/>
              <a:cxnLst>
                <a:cxn ang="0">
                  <a:pos x="wd2" y="hd2"/>
                </a:cxn>
                <a:cxn ang="5400000">
                  <a:pos x="wd2" y="hd2"/>
                </a:cxn>
                <a:cxn ang="10800000">
                  <a:pos x="wd2" y="hd2"/>
                </a:cxn>
                <a:cxn ang="16200000">
                  <a:pos x="wd2" y="hd2"/>
                </a:cxn>
              </a:cxnLst>
              <a:rect l="0" t="0" r="r" b="b"/>
              <a:pathLst>
                <a:path w="21600" h="21600" extrusionOk="0">
                  <a:moveTo>
                    <a:pt x="21600" y="11004"/>
                  </a:moveTo>
                  <a:cubicBezTo>
                    <a:pt x="21600" y="10392"/>
                    <a:pt x="21600" y="10392"/>
                    <a:pt x="21600" y="10392"/>
                  </a:cubicBezTo>
                  <a:cubicBezTo>
                    <a:pt x="20880" y="10800"/>
                    <a:pt x="20880" y="10800"/>
                    <a:pt x="20880" y="10800"/>
                  </a:cubicBezTo>
                  <a:cubicBezTo>
                    <a:pt x="20640" y="10800"/>
                    <a:pt x="20400" y="11004"/>
                    <a:pt x="20160" y="11208"/>
                  </a:cubicBezTo>
                  <a:cubicBezTo>
                    <a:pt x="20160" y="11208"/>
                    <a:pt x="19920" y="11208"/>
                    <a:pt x="19920" y="11411"/>
                  </a:cubicBezTo>
                  <a:cubicBezTo>
                    <a:pt x="19680" y="11615"/>
                    <a:pt x="19440" y="11819"/>
                    <a:pt x="18960" y="11819"/>
                  </a:cubicBezTo>
                  <a:cubicBezTo>
                    <a:pt x="18960" y="11819"/>
                    <a:pt x="18960" y="11819"/>
                    <a:pt x="18960" y="11819"/>
                  </a:cubicBezTo>
                  <a:cubicBezTo>
                    <a:pt x="18960" y="11819"/>
                    <a:pt x="18960" y="11819"/>
                    <a:pt x="18960" y="11819"/>
                  </a:cubicBezTo>
                  <a:cubicBezTo>
                    <a:pt x="18960" y="11411"/>
                    <a:pt x="18960" y="10800"/>
                    <a:pt x="19200" y="10392"/>
                  </a:cubicBezTo>
                  <a:cubicBezTo>
                    <a:pt x="19200" y="10189"/>
                    <a:pt x="19440" y="10189"/>
                    <a:pt x="19440" y="9985"/>
                  </a:cubicBezTo>
                  <a:cubicBezTo>
                    <a:pt x="19680" y="9577"/>
                    <a:pt x="19920" y="9374"/>
                    <a:pt x="19680" y="8762"/>
                  </a:cubicBezTo>
                  <a:cubicBezTo>
                    <a:pt x="19680" y="8762"/>
                    <a:pt x="19680" y="8558"/>
                    <a:pt x="19440" y="8355"/>
                  </a:cubicBezTo>
                  <a:cubicBezTo>
                    <a:pt x="19440" y="8151"/>
                    <a:pt x="19200" y="7947"/>
                    <a:pt x="19200" y="7743"/>
                  </a:cubicBezTo>
                  <a:cubicBezTo>
                    <a:pt x="19200" y="7540"/>
                    <a:pt x="19200" y="7336"/>
                    <a:pt x="19200" y="7336"/>
                  </a:cubicBezTo>
                  <a:cubicBezTo>
                    <a:pt x="19200" y="7132"/>
                    <a:pt x="19200" y="7132"/>
                    <a:pt x="19200" y="6928"/>
                  </a:cubicBezTo>
                  <a:cubicBezTo>
                    <a:pt x="19200" y="6928"/>
                    <a:pt x="19200" y="6928"/>
                    <a:pt x="19200" y="6928"/>
                  </a:cubicBezTo>
                  <a:cubicBezTo>
                    <a:pt x="19200" y="6928"/>
                    <a:pt x="19200" y="6928"/>
                    <a:pt x="19200" y="6928"/>
                  </a:cubicBezTo>
                  <a:cubicBezTo>
                    <a:pt x="19200" y="6725"/>
                    <a:pt x="18960" y="6725"/>
                    <a:pt x="18720" y="6521"/>
                  </a:cubicBezTo>
                  <a:cubicBezTo>
                    <a:pt x="18240" y="6317"/>
                    <a:pt x="18240" y="6113"/>
                    <a:pt x="18480" y="5909"/>
                  </a:cubicBezTo>
                  <a:cubicBezTo>
                    <a:pt x="18480" y="5909"/>
                    <a:pt x="18480" y="5706"/>
                    <a:pt x="18720" y="5706"/>
                  </a:cubicBezTo>
                  <a:cubicBezTo>
                    <a:pt x="18960" y="5298"/>
                    <a:pt x="18720" y="5094"/>
                    <a:pt x="18240" y="4687"/>
                  </a:cubicBezTo>
                  <a:cubicBezTo>
                    <a:pt x="18240" y="4483"/>
                    <a:pt x="18240" y="4483"/>
                    <a:pt x="18240" y="4483"/>
                  </a:cubicBezTo>
                  <a:cubicBezTo>
                    <a:pt x="17520" y="4075"/>
                    <a:pt x="17040" y="3260"/>
                    <a:pt x="16800" y="2445"/>
                  </a:cubicBezTo>
                  <a:cubicBezTo>
                    <a:pt x="16560" y="2038"/>
                    <a:pt x="16080" y="1630"/>
                    <a:pt x="15840" y="1223"/>
                  </a:cubicBezTo>
                  <a:cubicBezTo>
                    <a:pt x="15840" y="1223"/>
                    <a:pt x="15840" y="1223"/>
                    <a:pt x="15840" y="1223"/>
                  </a:cubicBezTo>
                  <a:cubicBezTo>
                    <a:pt x="15600" y="1019"/>
                    <a:pt x="15600" y="815"/>
                    <a:pt x="15360" y="815"/>
                  </a:cubicBezTo>
                  <a:cubicBezTo>
                    <a:pt x="14880" y="204"/>
                    <a:pt x="14640" y="204"/>
                    <a:pt x="13920" y="204"/>
                  </a:cubicBezTo>
                  <a:cubicBezTo>
                    <a:pt x="13680" y="204"/>
                    <a:pt x="13440" y="0"/>
                    <a:pt x="12960" y="0"/>
                  </a:cubicBezTo>
                  <a:cubicBezTo>
                    <a:pt x="11760" y="0"/>
                    <a:pt x="10800" y="204"/>
                    <a:pt x="10320" y="815"/>
                  </a:cubicBezTo>
                  <a:cubicBezTo>
                    <a:pt x="10080" y="1019"/>
                    <a:pt x="9600" y="1223"/>
                    <a:pt x="9120" y="1223"/>
                  </a:cubicBezTo>
                  <a:cubicBezTo>
                    <a:pt x="8880" y="1223"/>
                    <a:pt x="8880" y="1223"/>
                    <a:pt x="8880" y="1223"/>
                  </a:cubicBezTo>
                  <a:cubicBezTo>
                    <a:pt x="8640" y="1223"/>
                    <a:pt x="8400" y="1019"/>
                    <a:pt x="8160" y="1019"/>
                  </a:cubicBezTo>
                  <a:cubicBezTo>
                    <a:pt x="8160" y="815"/>
                    <a:pt x="7920" y="815"/>
                    <a:pt x="7680" y="815"/>
                  </a:cubicBezTo>
                  <a:cubicBezTo>
                    <a:pt x="7440" y="815"/>
                    <a:pt x="7200" y="815"/>
                    <a:pt x="7200" y="815"/>
                  </a:cubicBezTo>
                  <a:cubicBezTo>
                    <a:pt x="6720" y="1019"/>
                    <a:pt x="6480" y="1426"/>
                    <a:pt x="6240" y="1834"/>
                  </a:cubicBezTo>
                  <a:cubicBezTo>
                    <a:pt x="6240" y="1834"/>
                    <a:pt x="6000" y="2038"/>
                    <a:pt x="6000" y="2242"/>
                  </a:cubicBezTo>
                  <a:cubicBezTo>
                    <a:pt x="5760" y="2649"/>
                    <a:pt x="5280" y="3057"/>
                    <a:pt x="5280" y="3464"/>
                  </a:cubicBezTo>
                  <a:cubicBezTo>
                    <a:pt x="5040" y="3464"/>
                    <a:pt x="5040" y="3668"/>
                    <a:pt x="5040" y="3872"/>
                  </a:cubicBezTo>
                  <a:cubicBezTo>
                    <a:pt x="4800" y="4279"/>
                    <a:pt x="4560" y="4687"/>
                    <a:pt x="4320" y="4891"/>
                  </a:cubicBezTo>
                  <a:cubicBezTo>
                    <a:pt x="4080" y="4891"/>
                    <a:pt x="3840" y="5094"/>
                    <a:pt x="3840" y="5094"/>
                  </a:cubicBezTo>
                  <a:cubicBezTo>
                    <a:pt x="3360" y="5298"/>
                    <a:pt x="3120" y="5298"/>
                    <a:pt x="3120" y="5909"/>
                  </a:cubicBezTo>
                  <a:cubicBezTo>
                    <a:pt x="2880" y="6521"/>
                    <a:pt x="2640" y="6521"/>
                    <a:pt x="1920" y="6521"/>
                  </a:cubicBezTo>
                  <a:cubicBezTo>
                    <a:pt x="1440" y="6521"/>
                    <a:pt x="1440" y="6521"/>
                    <a:pt x="1440" y="6521"/>
                  </a:cubicBezTo>
                  <a:cubicBezTo>
                    <a:pt x="1200" y="6521"/>
                    <a:pt x="960" y="6725"/>
                    <a:pt x="720" y="6725"/>
                  </a:cubicBezTo>
                  <a:cubicBezTo>
                    <a:pt x="0" y="6928"/>
                    <a:pt x="0" y="6928"/>
                    <a:pt x="0" y="6928"/>
                  </a:cubicBezTo>
                  <a:cubicBezTo>
                    <a:pt x="480" y="7336"/>
                    <a:pt x="480" y="7336"/>
                    <a:pt x="480" y="7336"/>
                  </a:cubicBezTo>
                  <a:cubicBezTo>
                    <a:pt x="720" y="7540"/>
                    <a:pt x="960" y="7540"/>
                    <a:pt x="960" y="7743"/>
                  </a:cubicBezTo>
                  <a:cubicBezTo>
                    <a:pt x="960" y="7743"/>
                    <a:pt x="960" y="7743"/>
                    <a:pt x="720" y="7743"/>
                  </a:cubicBezTo>
                  <a:cubicBezTo>
                    <a:pt x="480" y="7947"/>
                    <a:pt x="240" y="7947"/>
                    <a:pt x="240" y="8558"/>
                  </a:cubicBezTo>
                  <a:cubicBezTo>
                    <a:pt x="240" y="8558"/>
                    <a:pt x="0" y="9781"/>
                    <a:pt x="720" y="9985"/>
                  </a:cubicBezTo>
                  <a:cubicBezTo>
                    <a:pt x="720" y="10189"/>
                    <a:pt x="960" y="10189"/>
                    <a:pt x="1200" y="10189"/>
                  </a:cubicBezTo>
                  <a:cubicBezTo>
                    <a:pt x="960" y="10392"/>
                    <a:pt x="720" y="10392"/>
                    <a:pt x="720" y="10596"/>
                  </a:cubicBezTo>
                  <a:cubicBezTo>
                    <a:pt x="480" y="11208"/>
                    <a:pt x="480" y="11819"/>
                    <a:pt x="720" y="12226"/>
                  </a:cubicBezTo>
                  <a:cubicBezTo>
                    <a:pt x="960" y="12430"/>
                    <a:pt x="1200" y="12634"/>
                    <a:pt x="1680" y="12838"/>
                  </a:cubicBezTo>
                  <a:cubicBezTo>
                    <a:pt x="1920" y="12838"/>
                    <a:pt x="1920" y="12838"/>
                    <a:pt x="1920" y="12838"/>
                  </a:cubicBezTo>
                  <a:cubicBezTo>
                    <a:pt x="2400" y="12838"/>
                    <a:pt x="2400" y="13042"/>
                    <a:pt x="2400" y="13245"/>
                  </a:cubicBezTo>
                  <a:cubicBezTo>
                    <a:pt x="2640" y="13653"/>
                    <a:pt x="2640" y="13857"/>
                    <a:pt x="2640" y="14264"/>
                  </a:cubicBezTo>
                  <a:cubicBezTo>
                    <a:pt x="2640" y="14264"/>
                    <a:pt x="2640" y="14468"/>
                    <a:pt x="2640" y="14672"/>
                  </a:cubicBezTo>
                  <a:cubicBezTo>
                    <a:pt x="2880" y="15283"/>
                    <a:pt x="3120" y="15487"/>
                    <a:pt x="3360" y="15691"/>
                  </a:cubicBezTo>
                  <a:cubicBezTo>
                    <a:pt x="3600" y="15691"/>
                    <a:pt x="3600" y="15691"/>
                    <a:pt x="3600" y="15894"/>
                  </a:cubicBezTo>
                  <a:cubicBezTo>
                    <a:pt x="3600" y="15894"/>
                    <a:pt x="3600" y="16098"/>
                    <a:pt x="3600" y="16098"/>
                  </a:cubicBezTo>
                  <a:cubicBezTo>
                    <a:pt x="3600" y="16302"/>
                    <a:pt x="3600" y="16709"/>
                    <a:pt x="3840" y="16913"/>
                  </a:cubicBezTo>
                  <a:cubicBezTo>
                    <a:pt x="4080" y="17117"/>
                    <a:pt x="4320" y="17117"/>
                    <a:pt x="4560" y="17117"/>
                  </a:cubicBezTo>
                  <a:cubicBezTo>
                    <a:pt x="4560" y="17117"/>
                    <a:pt x="4800" y="17117"/>
                    <a:pt x="5040" y="17117"/>
                  </a:cubicBezTo>
                  <a:cubicBezTo>
                    <a:pt x="5040" y="17117"/>
                    <a:pt x="5040" y="16913"/>
                    <a:pt x="5280" y="16913"/>
                  </a:cubicBezTo>
                  <a:cubicBezTo>
                    <a:pt x="5280" y="17117"/>
                    <a:pt x="5280" y="17117"/>
                    <a:pt x="5280" y="17117"/>
                  </a:cubicBezTo>
                  <a:cubicBezTo>
                    <a:pt x="5280" y="17321"/>
                    <a:pt x="5280" y="17728"/>
                    <a:pt x="5760" y="17932"/>
                  </a:cubicBezTo>
                  <a:cubicBezTo>
                    <a:pt x="6000" y="18136"/>
                    <a:pt x="6480" y="18340"/>
                    <a:pt x="6960" y="18543"/>
                  </a:cubicBezTo>
                  <a:cubicBezTo>
                    <a:pt x="7200" y="18543"/>
                    <a:pt x="7200" y="18747"/>
                    <a:pt x="7440" y="18747"/>
                  </a:cubicBezTo>
                  <a:cubicBezTo>
                    <a:pt x="7920" y="18951"/>
                    <a:pt x="8400" y="19155"/>
                    <a:pt x="8880" y="19562"/>
                  </a:cubicBezTo>
                  <a:cubicBezTo>
                    <a:pt x="9360" y="19766"/>
                    <a:pt x="9840" y="19970"/>
                    <a:pt x="10320" y="20174"/>
                  </a:cubicBezTo>
                  <a:cubicBezTo>
                    <a:pt x="10800" y="20377"/>
                    <a:pt x="11280" y="20581"/>
                    <a:pt x="11520" y="20785"/>
                  </a:cubicBezTo>
                  <a:cubicBezTo>
                    <a:pt x="12000" y="20989"/>
                    <a:pt x="12240" y="21192"/>
                    <a:pt x="12480" y="21396"/>
                  </a:cubicBezTo>
                  <a:cubicBezTo>
                    <a:pt x="12960" y="21600"/>
                    <a:pt x="12960" y="21600"/>
                    <a:pt x="12960" y="21600"/>
                  </a:cubicBezTo>
                  <a:cubicBezTo>
                    <a:pt x="13200" y="21192"/>
                    <a:pt x="13200" y="21192"/>
                    <a:pt x="13200" y="21192"/>
                  </a:cubicBezTo>
                  <a:cubicBezTo>
                    <a:pt x="13680" y="20581"/>
                    <a:pt x="13680" y="20377"/>
                    <a:pt x="13920" y="19766"/>
                  </a:cubicBezTo>
                  <a:cubicBezTo>
                    <a:pt x="14160" y="19155"/>
                    <a:pt x="15120" y="18543"/>
                    <a:pt x="15840" y="17932"/>
                  </a:cubicBezTo>
                  <a:cubicBezTo>
                    <a:pt x="16080" y="17728"/>
                    <a:pt x="16080" y="17728"/>
                    <a:pt x="16080" y="17728"/>
                  </a:cubicBezTo>
                  <a:cubicBezTo>
                    <a:pt x="16320" y="17525"/>
                    <a:pt x="16800" y="17321"/>
                    <a:pt x="17040" y="17117"/>
                  </a:cubicBezTo>
                  <a:cubicBezTo>
                    <a:pt x="17520" y="16709"/>
                    <a:pt x="18240" y="16506"/>
                    <a:pt x="18720" y="15894"/>
                  </a:cubicBezTo>
                  <a:cubicBezTo>
                    <a:pt x="18960" y="15487"/>
                    <a:pt x="19200" y="15079"/>
                    <a:pt x="19200" y="14468"/>
                  </a:cubicBezTo>
                  <a:cubicBezTo>
                    <a:pt x="19200" y="14264"/>
                    <a:pt x="19200" y="14264"/>
                    <a:pt x="19200" y="14264"/>
                  </a:cubicBezTo>
                  <a:cubicBezTo>
                    <a:pt x="19200" y="13653"/>
                    <a:pt x="19200" y="13245"/>
                    <a:pt x="19680" y="12838"/>
                  </a:cubicBezTo>
                  <a:cubicBezTo>
                    <a:pt x="19680" y="12838"/>
                    <a:pt x="19920" y="12838"/>
                    <a:pt x="20400" y="12838"/>
                  </a:cubicBezTo>
                  <a:cubicBezTo>
                    <a:pt x="20640" y="12838"/>
                    <a:pt x="20640" y="12838"/>
                    <a:pt x="20640" y="12838"/>
                  </a:cubicBezTo>
                  <a:cubicBezTo>
                    <a:pt x="20880" y="12838"/>
                    <a:pt x="21360" y="12634"/>
                    <a:pt x="21360" y="12430"/>
                  </a:cubicBezTo>
                  <a:cubicBezTo>
                    <a:pt x="21600" y="12226"/>
                    <a:pt x="21600" y="11819"/>
                    <a:pt x="21600" y="11615"/>
                  </a:cubicBezTo>
                  <a:cubicBezTo>
                    <a:pt x="21600" y="11411"/>
                    <a:pt x="21600" y="11208"/>
                    <a:pt x="21600" y="11004"/>
                  </a:cubicBezTo>
                  <a:close/>
                </a:path>
              </a:pathLst>
            </a:custGeom>
            <a:grpFill/>
            <a:ln w="3175" cap="rnd">
              <a:solidFill>
                <a:srgbClr val="EBEBEB">
                  <a:lumOff val="7843"/>
                </a:srgbClr>
              </a:solidFill>
              <a:prstDash val="solid"/>
              <a:round/>
            </a:ln>
            <a:effectLst/>
          </p:spPr>
          <p:txBody>
            <a:bodyPr wrap="square" lIns="45719" tIns="45719" rIns="45719" bIns="45719" numCol="1" anchor="t">
              <a:noAutofit/>
            </a:bodyPr>
            <a:lstStyle/>
            <a:p>
              <a:pPr marL="0" marR="0" lvl="0" indent="0" defTabSz="1828433" eaLnBrk="1" fontAlgn="auto" latinLnBrk="0" hangingPunct="0">
                <a:lnSpc>
                  <a:spcPct val="100000"/>
                </a:lnSpc>
                <a:spcBef>
                  <a:spcPts val="0"/>
                </a:spcBef>
                <a:spcAft>
                  <a:spcPts val="0"/>
                </a:spcAft>
                <a:buClrTx/>
                <a:buSzTx/>
                <a:buFontTx/>
                <a:buNone/>
                <a:tabLst/>
                <a:defRPr sz="3500"/>
              </a:pPr>
              <a:endParaRPr kumimoji="0" sz="3500" b="0" i="0" u="none" strike="noStrike" kern="0" cap="none" spc="0" normalizeH="0" baseline="0" noProof="0">
                <a:ln>
                  <a:noFill/>
                </a:ln>
                <a:solidFill>
                  <a:srgbClr val="7F7F7F"/>
                </a:solidFill>
                <a:effectLst/>
                <a:uLnTx/>
                <a:uFillTx/>
                <a:latin typeface="Helvetica"/>
                <a:sym typeface="Helvetica"/>
              </a:endParaRPr>
            </a:p>
          </p:txBody>
        </p:sp>
      </p:grpSp>
      <p:sp>
        <p:nvSpPr>
          <p:cNvPr id="3" name="TextBox 2">
            <a:extLst>
              <a:ext uri="{FF2B5EF4-FFF2-40B4-BE49-F238E27FC236}">
                <a16:creationId xmlns:a16="http://schemas.microsoft.com/office/drawing/2014/main" id="{BCDA8B45-CD34-1B46-B492-27EBE5DE5CEC}"/>
              </a:ext>
            </a:extLst>
          </p:cNvPr>
          <p:cNvSpPr txBox="1"/>
          <p:nvPr userDrawn="1"/>
        </p:nvSpPr>
        <p:spPr>
          <a:xfrm>
            <a:off x="-114300" y="-298938"/>
            <a:ext cx="0" cy="0"/>
          </a:xfrm>
          <a:prstGeom prst="rect">
            <a:avLst/>
          </a:prstGeom>
          <a:noFill/>
        </p:spPr>
        <p:txBody>
          <a:bodyPr wrap="none" rtlCol="0">
            <a:noAutofit/>
          </a:bodyPr>
          <a:lstStyle/>
          <a:p>
            <a:pPr algn="l"/>
            <a:endParaRPr lang="en-US"/>
          </a:p>
        </p:txBody>
      </p:sp>
      <p:sp>
        <p:nvSpPr>
          <p:cNvPr id="22" name="Subtitle 2">
            <a:extLst>
              <a:ext uri="{FF2B5EF4-FFF2-40B4-BE49-F238E27FC236}">
                <a16:creationId xmlns:a16="http://schemas.microsoft.com/office/drawing/2014/main" id="{F6CDF346-50C6-5D48-870A-39318E1B18B7}"/>
              </a:ext>
            </a:extLst>
          </p:cNvPr>
          <p:cNvSpPr>
            <a:spLocks noGrp="1"/>
          </p:cNvSpPr>
          <p:nvPr>
            <p:ph type="subTitle" idx="13" hasCustomPrompt="1"/>
          </p:nvPr>
        </p:nvSpPr>
        <p:spPr>
          <a:xfrm>
            <a:off x="1130051" y="2636998"/>
            <a:ext cx="4496511" cy="3109577"/>
          </a:xfrm>
        </p:spPr>
        <p:txBody>
          <a:bodyPr>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Title</a:t>
            </a:r>
          </a:p>
          <a:p>
            <a:r>
              <a:rPr lang="en-GB"/>
              <a:t>Title</a:t>
            </a:r>
          </a:p>
          <a:p>
            <a:r>
              <a:rPr lang="en-GB"/>
              <a:t>Title</a:t>
            </a:r>
          </a:p>
          <a:p>
            <a:r>
              <a:rPr lang="en-GB"/>
              <a:t>Title</a:t>
            </a:r>
          </a:p>
          <a:p>
            <a:endParaRPr lang="en-GB"/>
          </a:p>
        </p:txBody>
      </p:sp>
    </p:spTree>
    <p:extLst>
      <p:ext uri="{BB962C8B-B14F-4D97-AF65-F5344CB8AC3E}">
        <p14:creationId xmlns:p14="http://schemas.microsoft.com/office/powerpoint/2010/main" val="2204222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_SKI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1B1382-F08E-944B-90E6-4DFF75DBA7D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Title 1">
            <a:extLst>
              <a:ext uri="{FF2B5EF4-FFF2-40B4-BE49-F238E27FC236}">
                <a16:creationId xmlns:a16="http://schemas.microsoft.com/office/drawing/2014/main" id="{7C49EED9-2DC9-AF44-A0AF-86FB7295FCF8}"/>
              </a:ext>
            </a:extLst>
          </p:cNvPr>
          <p:cNvSpPr>
            <a:spLocks noGrp="1"/>
          </p:cNvSpPr>
          <p:nvPr>
            <p:ph type="ctrTitle" hasCustomPrompt="1"/>
          </p:nvPr>
        </p:nvSpPr>
        <p:spPr>
          <a:xfrm>
            <a:off x="2873376" y="578098"/>
            <a:ext cx="9144000" cy="1438024"/>
          </a:xfrm>
        </p:spPr>
        <p:txBody>
          <a:bodyPr anchor="t"/>
          <a:lstStyle>
            <a:lvl1pPr algn="r">
              <a:lnSpc>
                <a:spcPts val="5280"/>
              </a:lnSpc>
              <a:defRPr sz="4400" b="1" i="0">
                <a:solidFill>
                  <a:schemeClr val="tx2"/>
                </a:solidFill>
                <a:latin typeface="Arial Black" panose="020B0604020202020204" pitchFamily="34" charset="0"/>
                <a:cs typeface="Arial Black" panose="020B0604020202020204" pitchFamily="34" charset="0"/>
              </a:defRPr>
            </a:lvl1pPr>
          </a:lstStyle>
          <a:p>
            <a:r>
              <a:rPr lang="en-GB"/>
              <a:t>CLICK TO EDIT MASTER DIVIDER SLIDE</a:t>
            </a:r>
          </a:p>
        </p:txBody>
      </p:sp>
      <p:sp>
        <p:nvSpPr>
          <p:cNvPr id="13" name="Subtitle 2">
            <a:extLst>
              <a:ext uri="{FF2B5EF4-FFF2-40B4-BE49-F238E27FC236}">
                <a16:creationId xmlns:a16="http://schemas.microsoft.com/office/drawing/2014/main" id="{713F9D65-2323-8443-A976-1E0685A67774}"/>
              </a:ext>
            </a:extLst>
          </p:cNvPr>
          <p:cNvSpPr>
            <a:spLocks noGrp="1"/>
          </p:cNvSpPr>
          <p:nvPr>
            <p:ph type="subTitle" idx="1" hasCustomPrompt="1"/>
          </p:nvPr>
        </p:nvSpPr>
        <p:spPr>
          <a:xfrm>
            <a:off x="4733364" y="2091173"/>
            <a:ext cx="7284011" cy="1072431"/>
          </a:xfrm>
        </p:spPr>
        <p:txBody>
          <a:bodyPr/>
          <a:lstStyle>
            <a:lvl1pPr marL="0" indent="0" algn="r">
              <a:buNone/>
              <a:defRPr sz="32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grpSp>
        <p:nvGrpSpPr>
          <p:cNvPr id="10" name="Group 9">
            <a:extLst>
              <a:ext uri="{FF2B5EF4-FFF2-40B4-BE49-F238E27FC236}">
                <a16:creationId xmlns:a16="http://schemas.microsoft.com/office/drawing/2014/main" id="{08618A65-DBAF-1A4C-A906-A75F2CFB96B8}"/>
              </a:ext>
            </a:extLst>
          </p:cNvPr>
          <p:cNvGrpSpPr/>
          <p:nvPr userDrawn="1"/>
        </p:nvGrpSpPr>
        <p:grpSpPr>
          <a:xfrm>
            <a:off x="10121901" y="4705643"/>
            <a:ext cx="1778000" cy="2182266"/>
            <a:chOff x="10121901" y="4705815"/>
            <a:chExt cx="1778000" cy="2182266"/>
          </a:xfrm>
        </p:grpSpPr>
        <p:sp>
          <p:nvSpPr>
            <p:cNvPr id="16" name="Rectangle 15">
              <a:extLst>
                <a:ext uri="{FF2B5EF4-FFF2-40B4-BE49-F238E27FC236}">
                  <a16:creationId xmlns:a16="http://schemas.microsoft.com/office/drawing/2014/main" id="{FE160001-081D-3849-A3AD-B8758996A609}"/>
                </a:ext>
              </a:extLst>
            </p:cNvPr>
            <p:cNvSpPr/>
            <p:nvPr userDrawn="1"/>
          </p:nvSpPr>
          <p:spPr>
            <a:xfrm>
              <a:off x="10121901" y="4847063"/>
              <a:ext cx="1778000" cy="2041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42F58B0-8C79-E94B-BB77-3508A7B20A08}"/>
                </a:ext>
              </a:extLst>
            </p:cNvPr>
            <p:cNvSpPr/>
            <p:nvPr userDrawn="1"/>
          </p:nvSpPr>
          <p:spPr>
            <a:xfrm>
              <a:off x="11009971" y="4705815"/>
              <a:ext cx="889930" cy="2155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A4B41507-CA24-6C4C-A491-5BE1F1BCFE60}"/>
              </a:ext>
            </a:extLst>
          </p:cNvPr>
          <p:cNvPicPr>
            <a:picLocks noChangeAspect="1"/>
          </p:cNvPicPr>
          <p:nvPr userDrawn="1"/>
        </p:nvPicPr>
        <p:blipFill>
          <a:blip r:embed="rId3"/>
          <a:stretch>
            <a:fillRect/>
          </a:stretch>
        </p:blipFill>
        <p:spPr>
          <a:xfrm>
            <a:off x="10427097" y="5132717"/>
            <a:ext cx="1220617" cy="1349859"/>
          </a:xfrm>
          <a:prstGeom prst="rect">
            <a:avLst/>
          </a:prstGeom>
        </p:spPr>
      </p:pic>
      <p:sp>
        <p:nvSpPr>
          <p:cNvPr id="14" name="Freeform 13">
            <a:extLst>
              <a:ext uri="{FF2B5EF4-FFF2-40B4-BE49-F238E27FC236}">
                <a16:creationId xmlns:a16="http://schemas.microsoft.com/office/drawing/2014/main" id="{43721039-EDBA-264A-836A-9B098134F452}"/>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35443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_EYE">
    <p:spTree>
      <p:nvGrpSpPr>
        <p:cNvPr id="1" name=""/>
        <p:cNvGrpSpPr/>
        <p:nvPr/>
      </p:nvGrpSpPr>
      <p:grpSpPr>
        <a:xfrm>
          <a:off x="0" y="0"/>
          <a:ext cx="0" cy="0"/>
          <a:chOff x="0" y="0"/>
          <a:chExt cx="0" cy="0"/>
        </a:xfrm>
      </p:grpSpPr>
      <p:pic>
        <p:nvPicPr>
          <p:cNvPr id="4" name="Picture 3" descr="A picture containing outdoor, rock, close, stone&#10;&#10;Description automatically generated">
            <a:extLst>
              <a:ext uri="{FF2B5EF4-FFF2-40B4-BE49-F238E27FC236}">
                <a16:creationId xmlns:a16="http://schemas.microsoft.com/office/drawing/2014/main" id="{9D803C11-FEA5-FF48-89F0-D9F7D7B8EB3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flipH="1">
            <a:off x="0" y="0"/>
            <a:ext cx="12192000" cy="6858000"/>
          </a:xfrm>
          <a:prstGeom prst="rect">
            <a:avLst/>
          </a:prstGeom>
        </p:spPr>
      </p:pic>
      <p:sp>
        <p:nvSpPr>
          <p:cNvPr id="12" name="Title 1">
            <a:extLst>
              <a:ext uri="{FF2B5EF4-FFF2-40B4-BE49-F238E27FC236}">
                <a16:creationId xmlns:a16="http://schemas.microsoft.com/office/drawing/2014/main" id="{7C49EED9-2DC9-AF44-A0AF-86FB7295FCF8}"/>
              </a:ext>
            </a:extLst>
          </p:cNvPr>
          <p:cNvSpPr>
            <a:spLocks noGrp="1"/>
          </p:cNvSpPr>
          <p:nvPr>
            <p:ph type="ctrTitle" hasCustomPrompt="1"/>
          </p:nvPr>
        </p:nvSpPr>
        <p:spPr>
          <a:xfrm>
            <a:off x="2873376" y="578098"/>
            <a:ext cx="9144000" cy="1438024"/>
          </a:xfrm>
        </p:spPr>
        <p:txBody>
          <a:bodyPr anchor="t"/>
          <a:lstStyle>
            <a:lvl1pPr algn="r">
              <a:lnSpc>
                <a:spcPts val="5280"/>
              </a:lnSpc>
              <a:defRPr sz="4400" b="1" i="0">
                <a:solidFill>
                  <a:schemeClr val="tx2"/>
                </a:solidFill>
                <a:latin typeface="Arial Black" panose="020B0604020202020204" pitchFamily="34" charset="0"/>
                <a:cs typeface="Arial Black" panose="020B0604020202020204" pitchFamily="34" charset="0"/>
              </a:defRPr>
            </a:lvl1pPr>
          </a:lstStyle>
          <a:p>
            <a:r>
              <a:rPr lang="en-GB"/>
              <a:t>CLICK TO EDIT MASTER DIVIDER SLIDE</a:t>
            </a:r>
          </a:p>
        </p:txBody>
      </p:sp>
      <p:sp>
        <p:nvSpPr>
          <p:cNvPr id="13" name="Subtitle 2">
            <a:extLst>
              <a:ext uri="{FF2B5EF4-FFF2-40B4-BE49-F238E27FC236}">
                <a16:creationId xmlns:a16="http://schemas.microsoft.com/office/drawing/2014/main" id="{713F9D65-2323-8443-A976-1E0685A67774}"/>
              </a:ext>
            </a:extLst>
          </p:cNvPr>
          <p:cNvSpPr>
            <a:spLocks noGrp="1"/>
          </p:cNvSpPr>
          <p:nvPr>
            <p:ph type="subTitle" idx="1" hasCustomPrompt="1"/>
          </p:nvPr>
        </p:nvSpPr>
        <p:spPr>
          <a:xfrm>
            <a:off x="4733364" y="2091173"/>
            <a:ext cx="7284011" cy="1072431"/>
          </a:xfrm>
        </p:spPr>
        <p:txBody>
          <a:bodyPr/>
          <a:lstStyle>
            <a:lvl1pPr marL="0" indent="0" algn="r">
              <a:buNone/>
              <a:defRPr sz="32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grpSp>
        <p:nvGrpSpPr>
          <p:cNvPr id="10" name="Group 9">
            <a:extLst>
              <a:ext uri="{FF2B5EF4-FFF2-40B4-BE49-F238E27FC236}">
                <a16:creationId xmlns:a16="http://schemas.microsoft.com/office/drawing/2014/main" id="{08618A65-DBAF-1A4C-A906-A75F2CFB96B8}"/>
              </a:ext>
            </a:extLst>
          </p:cNvPr>
          <p:cNvGrpSpPr/>
          <p:nvPr userDrawn="1"/>
        </p:nvGrpSpPr>
        <p:grpSpPr>
          <a:xfrm>
            <a:off x="10121901" y="4705643"/>
            <a:ext cx="1778000" cy="2182266"/>
            <a:chOff x="10121901" y="4705815"/>
            <a:chExt cx="1778000" cy="2182266"/>
          </a:xfrm>
        </p:grpSpPr>
        <p:sp>
          <p:nvSpPr>
            <p:cNvPr id="16" name="Rectangle 15">
              <a:extLst>
                <a:ext uri="{FF2B5EF4-FFF2-40B4-BE49-F238E27FC236}">
                  <a16:creationId xmlns:a16="http://schemas.microsoft.com/office/drawing/2014/main" id="{FE160001-081D-3849-A3AD-B8758996A609}"/>
                </a:ext>
              </a:extLst>
            </p:cNvPr>
            <p:cNvSpPr/>
            <p:nvPr userDrawn="1"/>
          </p:nvSpPr>
          <p:spPr>
            <a:xfrm>
              <a:off x="10121901" y="4847063"/>
              <a:ext cx="1778000" cy="2041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42F58B0-8C79-E94B-BB77-3508A7B20A08}"/>
                </a:ext>
              </a:extLst>
            </p:cNvPr>
            <p:cNvSpPr/>
            <p:nvPr userDrawn="1"/>
          </p:nvSpPr>
          <p:spPr>
            <a:xfrm>
              <a:off x="11009971" y="4705815"/>
              <a:ext cx="889930" cy="2155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A4B41507-CA24-6C4C-A491-5BE1F1BCFE60}"/>
              </a:ext>
            </a:extLst>
          </p:cNvPr>
          <p:cNvPicPr>
            <a:picLocks noChangeAspect="1"/>
          </p:cNvPicPr>
          <p:nvPr userDrawn="1"/>
        </p:nvPicPr>
        <p:blipFill>
          <a:blip r:embed="rId3"/>
          <a:stretch>
            <a:fillRect/>
          </a:stretch>
        </p:blipFill>
        <p:spPr>
          <a:xfrm>
            <a:off x="10427097" y="5132717"/>
            <a:ext cx="1220617" cy="1349859"/>
          </a:xfrm>
          <a:prstGeom prst="rect">
            <a:avLst/>
          </a:prstGeom>
        </p:spPr>
      </p:pic>
      <p:sp>
        <p:nvSpPr>
          <p:cNvPr id="14" name="Freeform 13">
            <a:extLst>
              <a:ext uri="{FF2B5EF4-FFF2-40B4-BE49-F238E27FC236}">
                <a16:creationId xmlns:a16="http://schemas.microsoft.com/office/drawing/2014/main" id="{43721039-EDBA-264A-836A-9B098134F452}"/>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52874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_TRUNK">
    <p:spTree>
      <p:nvGrpSpPr>
        <p:cNvPr id="1" name=""/>
        <p:cNvGrpSpPr/>
        <p:nvPr/>
      </p:nvGrpSpPr>
      <p:grpSpPr>
        <a:xfrm>
          <a:off x="0" y="0"/>
          <a:ext cx="0" cy="0"/>
          <a:chOff x="0" y="0"/>
          <a:chExt cx="0" cy="0"/>
        </a:xfrm>
      </p:grpSpPr>
      <p:pic>
        <p:nvPicPr>
          <p:cNvPr id="3" name="Picture 2" descr="A close-up of some snow&#10;&#10;Description automatically generated with low confidence">
            <a:extLst>
              <a:ext uri="{FF2B5EF4-FFF2-40B4-BE49-F238E27FC236}">
                <a16:creationId xmlns:a16="http://schemas.microsoft.com/office/drawing/2014/main" id="{FEEFA07D-21DE-7B42-873E-D698FA97BCC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flipH="1">
            <a:off x="0" y="0"/>
            <a:ext cx="12192000" cy="6858000"/>
          </a:xfrm>
          <a:prstGeom prst="rect">
            <a:avLst/>
          </a:prstGeom>
        </p:spPr>
      </p:pic>
      <p:sp>
        <p:nvSpPr>
          <p:cNvPr id="12" name="Title 1">
            <a:extLst>
              <a:ext uri="{FF2B5EF4-FFF2-40B4-BE49-F238E27FC236}">
                <a16:creationId xmlns:a16="http://schemas.microsoft.com/office/drawing/2014/main" id="{7C49EED9-2DC9-AF44-A0AF-86FB7295FCF8}"/>
              </a:ext>
            </a:extLst>
          </p:cNvPr>
          <p:cNvSpPr>
            <a:spLocks noGrp="1"/>
          </p:cNvSpPr>
          <p:nvPr>
            <p:ph type="ctrTitle" hasCustomPrompt="1"/>
          </p:nvPr>
        </p:nvSpPr>
        <p:spPr>
          <a:xfrm>
            <a:off x="2873376" y="578098"/>
            <a:ext cx="9144000" cy="1438024"/>
          </a:xfrm>
        </p:spPr>
        <p:txBody>
          <a:bodyPr anchor="t"/>
          <a:lstStyle>
            <a:lvl1pPr algn="r">
              <a:lnSpc>
                <a:spcPts val="5280"/>
              </a:lnSpc>
              <a:defRPr sz="4400" b="1" i="0">
                <a:solidFill>
                  <a:schemeClr val="tx2"/>
                </a:solidFill>
                <a:latin typeface="Arial Black" panose="020B0604020202020204" pitchFamily="34" charset="0"/>
                <a:cs typeface="Arial Black" panose="020B0604020202020204" pitchFamily="34" charset="0"/>
              </a:defRPr>
            </a:lvl1pPr>
          </a:lstStyle>
          <a:p>
            <a:r>
              <a:rPr lang="en-GB"/>
              <a:t>CLICK TO EDIT MASTER DIVIDER SLIDE</a:t>
            </a:r>
          </a:p>
        </p:txBody>
      </p:sp>
      <p:sp>
        <p:nvSpPr>
          <p:cNvPr id="13" name="Subtitle 2">
            <a:extLst>
              <a:ext uri="{FF2B5EF4-FFF2-40B4-BE49-F238E27FC236}">
                <a16:creationId xmlns:a16="http://schemas.microsoft.com/office/drawing/2014/main" id="{713F9D65-2323-8443-A976-1E0685A67774}"/>
              </a:ext>
            </a:extLst>
          </p:cNvPr>
          <p:cNvSpPr>
            <a:spLocks noGrp="1"/>
          </p:cNvSpPr>
          <p:nvPr>
            <p:ph type="subTitle" idx="1" hasCustomPrompt="1"/>
          </p:nvPr>
        </p:nvSpPr>
        <p:spPr>
          <a:xfrm>
            <a:off x="4733364" y="2091173"/>
            <a:ext cx="7284011" cy="1072431"/>
          </a:xfrm>
        </p:spPr>
        <p:txBody>
          <a:bodyPr/>
          <a:lstStyle>
            <a:lvl1pPr marL="0" indent="0" algn="r">
              <a:buNone/>
              <a:defRPr sz="32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grpSp>
        <p:nvGrpSpPr>
          <p:cNvPr id="10" name="Group 9">
            <a:extLst>
              <a:ext uri="{FF2B5EF4-FFF2-40B4-BE49-F238E27FC236}">
                <a16:creationId xmlns:a16="http://schemas.microsoft.com/office/drawing/2014/main" id="{08618A65-DBAF-1A4C-A906-A75F2CFB96B8}"/>
              </a:ext>
            </a:extLst>
          </p:cNvPr>
          <p:cNvGrpSpPr/>
          <p:nvPr userDrawn="1"/>
        </p:nvGrpSpPr>
        <p:grpSpPr>
          <a:xfrm>
            <a:off x="10121901" y="4705643"/>
            <a:ext cx="1778000" cy="2182266"/>
            <a:chOff x="10121901" y="4705815"/>
            <a:chExt cx="1778000" cy="2182266"/>
          </a:xfrm>
        </p:grpSpPr>
        <p:sp>
          <p:nvSpPr>
            <p:cNvPr id="16" name="Rectangle 15">
              <a:extLst>
                <a:ext uri="{FF2B5EF4-FFF2-40B4-BE49-F238E27FC236}">
                  <a16:creationId xmlns:a16="http://schemas.microsoft.com/office/drawing/2014/main" id="{FE160001-081D-3849-A3AD-B8758996A609}"/>
                </a:ext>
              </a:extLst>
            </p:cNvPr>
            <p:cNvSpPr/>
            <p:nvPr userDrawn="1"/>
          </p:nvSpPr>
          <p:spPr>
            <a:xfrm>
              <a:off x="10121901" y="4847063"/>
              <a:ext cx="1778000" cy="2041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42F58B0-8C79-E94B-BB77-3508A7B20A08}"/>
                </a:ext>
              </a:extLst>
            </p:cNvPr>
            <p:cNvSpPr/>
            <p:nvPr userDrawn="1"/>
          </p:nvSpPr>
          <p:spPr>
            <a:xfrm>
              <a:off x="11009971" y="4705815"/>
              <a:ext cx="889930" cy="2155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A4B41507-CA24-6C4C-A491-5BE1F1BCFE60}"/>
              </a:ext>
            </a:extLst>
          </p:cNvPr>
          <p:cNvPicPr>
            <a:picLocks noChangeAspect="1"/>
          </p:cNvPicPr>
          <p:nvPr userDrawn="1"/>
        </p:nvPicPr>
        <p:blipFill>
          <a:blip r:embed="rId3"/>
          <a:stretch>
            <a:fillRect/>
          </a:stretch>
        </p:blipFill>
        <p:spPr>
          <a:xfrm>
            <a:off x="10427097" y="5132717"/>
            <a:ext cx="1220617" cy="1349859"/>
          </a:xfrm>
          <a:prstGeom prst="rect">
            <a:avLst/>
          </a:prstGeom>
        </p:spPr>
      </p:pic>
      <p:sp>
        <p:nvSpPr>
          <p:cNvPr id="14" name="Freeform 13">
            <a:extLst>
              <a:ext uri="{FF2B5EF4-FFF2-40B4-BE49-F238E27FC236}">
                <a16:creationId xmlns:a16="http://schemas.microsoft.com/office/drawing/2014/main" id="{43721039-EDBA-264A-836A-9B098134F452}"/>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74049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_CEMENT ELEPHANTS">
    <p:spTree>
      <p:nvGrpSpPr>
        <p:cNvPr id="1" name=""/>
        <p:cNvGrpSpPr/>
        <p:nvPr/>
      </p:nvGrpSpPr>
      <p:grpSpPr>
        <a:xfrm>
          <a:off x="0" y="0"/>
          <a:ext cx="0" cy="0"/>
          <a:chOff x="0" y="0"/>
          <a:chExt cx="0" cy="0"/>
        </a:xfrm>
      </p:grpSpPr>
      <p:pic>
        <p:nvPicPr>
          <p:cNvPr id="5" name="Picture 4" descr="A picture containing elephant, standing, baby, adult&#10;&#10;Description automatically generated">
            <a:extLst>
              <a:ext uri="{FF2B5EF4-FFF2-40B4-BE49-F238E27FC236}">
                <a16:creationId xmlns:a16="http://schemas.microsoft.com/office/drawing/2014/main" id="{AFFE3569-9B57-2143-8385-09C6E31EC93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2" name="Subtitle 2">
            <a:extLst>
              <a:ext uri="{FF2B5EF4-FFF2-40B4-BE49-F238E27FC236}">
                <a16:creationId xmlns:a16="http://schemas.microsoft.com/office/drawing/2014/main" id="{F6CDF346-50C6-5D48-870A-39318E1B18B7}"/>
              </a:ext>
            </a:extLst>
          </p:cNvPr>
          <p:cNvSpPr>
            <a:spLocks noGrp="1"/>
          </p:cNvSpPr>
          <p:nvPr>
            <p:ph type="subTitle" idx="13" hasCustomPrompt="1"/>
          </p:nvPr>
        </p:nvSpPr>
        <p:spPr>
          <a:xfrm>
            <a:off x="4733364" y="2091173"/>
            <a:ext cx="7284011" cy="1072431"/>
          </a:xfrm>
        </p:spPr>
        <p:txBody>
          <a:bodyPr/>
          <a:lstStyle>
            <a:lvl1pPr marL="0" indent="0" algn="r">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sp>
        <p:nvSpPr>
          <p:cNvPr id="2" name="Title 1">
            <a:extLst>
              <a:ext uri="{FF2B5EF4-FFF2-40B4-BE49-F238E27FC236}">
                <a16:creationId xmlns:a16="http://schemas.microsoft.com/office/drawing/2014/main" id="{B9E8D1C9-8D43-A841-8FDA-8751CEAC9568}"/>
              </a:ext>
            </a:extLst>
          </p:cNvPr>
          <p:cNvSpPr>
            <a:spLocks noGrp="1"/>
          </p:cNvSpPr>
          <p:nvPr>
            <p:ph type="title" hasCustomPrompt="1"/>
          </p:nvPr>
        </p:nvSpPr>
        <p:spPr>
          <a:xfrm>
            <a:off x="4213412" y="649758"/>
            <a:ext cx="7803963" cy="1504359"/>
          </a:xfrm>
        </p:spPr>
        <p:txBody>
          <a:bodyPr anchor="t"/>
          <a:lstStyle>
            <a:lvl1pPr algn="r">
              <a:defRPr sz="4400" b="1" i="0">
                <a:solidFill>
                  <a:schemeClr val="tx2"/>
                </a:solidFill>
                <a:latin typeface="Arial Black" panose="020B0604020202020204" pitchFamily="34" charset="0"/>
                <a:cs typeface="Arial Black" panose="020B0604020202020204" pitchFamily="34" charset="0"/>
              </a:defRPr>
            </a:lvl1pPr>
          </a:lstStyle>
          <a:p>
            <a:r>
              <a:rPr lang="en-GB"/>
              <a:t>CLICK TO EDIT MASTER</a:t>
            </a:r>
            <a:br>
              <a:rPr lang="en-GB"/>
            </a:br>
            <a:r>
              <a:rPr lang="en-GB"/>
              <a:t>DIVIDER SLIDE</a:t>
            </a:r>
          </a:p>
        </p:txBody>
      </p:sp>
      <p:grpSp>
        <p:nvGrpSpPr>
          <p:cNvPr id="19" name="Group 18">
            <a:extLst>
              <a:ext uri="{FF2B5EF4-FFF2-40B4-BE49-F238E27FC236}">
                <a16:creationId xmlns:a16="http://schemas.microsoft.com/office/drawing/2014/main" id="{3847EB8A-A1CE-E549-B991-0F46A61FF6E7}"/>
              </a:ext>
            </a:extLst>
          </p:cNvPr>
          <p:cNvGrpSpPr/>
          <p:nvPr userDrawn="1"/>
        </p:nvGrpSpPr>
        <p:grpSpPr>
          <a:xfrm>
            <a:off x="10121901" y="4705643"/>
            <a:ext cx="1778000" cy="2182266"/>
            <a:chOff x="10121901" y="4705815"/>
            <a:chExt cx="1778000" cy="2182266"/>
          </a:xfrm>
        </p:grpSpPr>
        <p:sp>
          <p:nvSpPr>
            <p:cNvPr id="20" name="Rectangle 19">
              <a:extLst>
                <a:ext uri="{FF2B5EF4-FFF2-40B4-BE49-F238E27FC236}">
                  <a16:creationId xmlns:a16="http://schemas.microsoft.com/office/drawing/2014/main" id="{CE8F0691-7E56-ED41-A807-F63312D82DD0}"/>
                </a:ext>
              </a:extLst>
            </p:cNvPr>
            <p:cNvSpPr/>
            <p:nvPr userDrawn="1"/>
          </p:nvSpPr>
          <p:spPr>
            <a:xfrm>
              <a:off x="10121901" y="4847063"/>
              <a:ext cx="1778000" cy="2041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5D7317-F36A-E74A-8651-673AAAB2D083}"/>
                </a:ext>
              </a:extLst>
            </p:cNvPr>
            <p:cNvSpPr/>
            <p:nvPr userDrawn="1"/>
          </p:nvSpPr>
          <p:spPr>
            <a:xfrm>
              <a:off x="11009971" y="4705815"/>
              <a:ext cx="889930" cy="2155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3" name="Picture 22">
            <a:extLst>
              <a:ext uri="{FF2B5EF4-FFF2-40B4-BE49-F238E27FC236}">
                <a16:creationId xmlns:a16="http://schemas.microsoft.com/office/drawing/2014/main" id="{04A5A7A5-ECF6-8D4E-9031-92E91B13A630}"/>
              </a:ext>
            </a:extLst>
          </p:cNvPr>
          <p:cNvPicPr>
            <a:picLocks noChangeAspect="1"/>
          </p:cNvPicPr>
          <p:nvPr userDrawn="1"/>
        </p:nvPicPr>
        <p:blipFill>
          <a:blip r:embed="rId3"/>
          <a:stretch>
            <a:fillRect/>
          </a:stretch>
        </p:blipFill>
        <p:spPr>
          <a:xfrm>
            <a:off x="10427097" y="5132717"/>
            <a:ext cx="1220617" cy="1349859"/>
          </a:xfrm>
          <a:prstGeom prst="rect">
            <a:avLst/>
          </a:prstGeom>
        </p:spPr>
      </p:pic>
      <p:sp>
        <p:nvSpPr>
          <p:cNvPr id="24" name="Freeform 23">
            <a:extLst>
              <a:ext uri="{FF2B5EF4-FFF2-40B4-BE49-F238E27FC236}">
                <a16:creationId xmlns:a16="http://schemas.microsoft.com/office/drawing/2014/main" id="{32CD7190-E660-D842-A3D3-129AECF93B5F}"/>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73044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_CEMENT">
    <p:spTree>
      <p:nvGrpSpPr>
        <p:cNvPr id="1" name=""/>
        <p:cNvGrpSpPr/>
        <p:nvPr/>
      </p:nvGrpSpPr>
      <p:grpSpPr>
        <a:xfrm>
          <a:off x="0" y="0"/>
          <a:ext cx="0" cy="0"/>
          <a:chOff x="0" y="0"/>
          <a:chExt cx="0" cy="0"/>
        </a:xfrm>
      </p:grpSpPr>
      <p:pic>
        <p:nvPicPr>
          <p:cNvPr id="4" name="Picture 3" descr="A picture containing text, elephant, outdoor, standing&#10;&#10;Description automatically generated">
            <a:extLst>
              <a:ext uri="{FF2B5EF4-FFF2-40B4-BE49-F238E27FC236}">
                <a16:creationId xmlns:a16="http://schemas.microsoft.com/office/drawing/2014/main" id="{44203DE0-7D7F-E04C-B1EA-DDBC4BA9760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2" name="Subtitle 2">
            <a:extLst>
              <a:ext uri="{FF2B5EF4-FFF2-40B4-BE49-F238E27FC236}">
                <a16:creationId xmlns:a16="http://schemas.microsoft.com/office/drawing/2014/main" id="{F6CDF346-50C6-5D48-870A-39318E1B18B7}"/>
              </a:ext>
            </a:extLst>
          </p:cNvPr>
          <p:cNvSpPr>
            <a:spLocks noGrp="1"/>
          </p:cNvSpPr>
          <p:nvPr>
            <p:ph type="subTitle" idx="13" hasCustomPrompt="1"/>
          </p:nvPr>
        </p:nvSpPr>
        <p:spPr>
          <a:xfrm>
            <a:off x="4733364" y="2091173"/>
            <a:ext cx="7284011" cy="1072431"/>
          </a:xfrm>
        </p:spPr>
        <p:txBody>
          <a:bodyPr/>
          <a:lstStyle>
            <a:lvl1pPr marL="0" indent="0" algn="r">
              <a:buNone/>
              <a:defRPr sz="32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sp>
        <p:nvSpPr>
          <p:cNvPr id="2" name="Title 1">
            <a:extLst>
              <a:ext uri="{FF2B5EF4-FFF2-40B4-BE49-F238E27FC236}">
                <a16:creationId xmlns:a16="http://schemas.microsoft.com/office/drawing/2014/main" id="{B9E8D1C9-8D43-A841-8FDA-8751CEAC9568}"/>
              </a:ext>
            </a:extLst>
          </p:cNvPr>
          <p:cNvSpPr>
            <a:spLocks noGrp="1"/>
          </p:cNvSpPr>
          <p:nvPr>
            <p:ph type="title" hasCustomPrompt="1"/>
          </p:nvPr>
        </p:nvSpPr>
        <p:spPr>
          <a:xfrm>
            <a:off x="4213412" y="649758"/>
            <a:ext cx="7803963" cy="1504359"/>
          </a:xfrm>
        </p:spPr>
        <p:txBody>
          <a:bodyPr anchor="t"/>
          <a:lstStyle>
            <a:lvl1pPr algn="r">
              <a:defRPr sz="4400" b="1" i="0">
                <a:solidFill>
                  <a:schemeClr val="tx2"/>
                </a:solidFill>
                <a:latin typeface="Arial Black" panose="020B0604020202020204" pitchFamily="34" charset="0"/>
                <a:cs typeface="Arial Black" panose="020B0604020202020204" pitchFamily="34" charset="0"/>
              </a:defRPr>
            </a:lvl1pPr>
          </a:lstStyle>
          <a:p>
            <a:r>
              <a:rPr lang="en-GB"/>
              <a:t>CLICK TO EDIT MASTER</a:t>
            </a:r>
            <a:br>
              <a:rPr lang="en-GB"/>
            </a:br>
            <a:r>
              <a:rPr lang="en-GB"/>
              <a:t>DIVIDER SLIDE</a:t>
            </a:r>
          </a:p>
        </p:txBody>
      </p:sp>
      <p:grpSp>
        <p:nvGrpSpPr>
          <p:cNvPr id="19" name="Group 18">
            <a:extLst>
              <a:ext uri="{FF2B5EF4-FFF2-40B4-BE49-F238E27FC236}">
                <a16:creationId xmlns:a16="http://schemas.microsoft.com/office/drawing/2014/main" id="{3847EB8A-A1CE-E549-B991-0F46A61FF6E7}"/>
              </a:ext>
            </a:extLst>
          </p:cNvPr>
          <p:cNvGrpSpPr/>
          <p:nvPr userDrawn="1"/>
        </p:nvGrpSpPr>
        <p:grpSpPr>
          <a:xfrm>
            <a:off x="10121901" y="4705643"/>
            <a:ext cx="1778000" cy="2182266"/>
            <a:chOff x="10121901" y="4705815"/>
            <a:chExt cx="1778000" cy="2182266"/>
          </a:xfrm>
        </p:grpSpPr>
        <p:sp>
          <p:nvSpPr>
            <p:cNvPr id="20" name="Rectangle 19">
              <a:extLst>
                <a:ext uri="{FF2B5EF4-FFF2-40B4-BE49-F238E27FC236}">
                  <a16:creationId xmlns:a16="http://schemas.microsoft.com/office/drawing/2014/main" id="{CE8F0691-7E56-ED41-A807-F63312D82DD0}"/>
                </a:ext>
              </a:extLst>
            </p:cNvPr>
            <p:cNvSpPr/>
            <p:nvPr userDrawn="1"/>
          </p:nvSpPr>
          <p:spPr>
            <a:xfrm>
              <a:off x="10121901" y="4847063"/>
              <a:ext cx="1778000" cy="2041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5D7317-F36A-E74A-8651-673AAAB2D083}"/>
                </a:ext>
              </a:extLst>
            </p:cNvPr>
            <p:cNvSpPr/>
            <p:nvPr userDrawn="1"/>
          </p:nvSpPr>
          <p:spPr>
            <a:xfrm>
              <a:off x="11009971" y="4705815"/>
              <a:ext cx="889930" cy="2155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3" name="Picture 22">
            <a:extLst>
              <a:ext uri="{FF2B5EF4-FFF2-40B4-BE49-F238E27FC236}">
                <a16:creationId xmlns:a16="http://schemas.microsoft.com/office/drawing/2014/main" id="{04A5A7A5-ECF6-8D4E-9031-92E91B13A630}"/>
              </a:ext>
            </a:extLst>
          </p:cNvPr>
          <p:cNvPicPr>
            <a:picLocks noChangeAspect="1"/>
          </p:cNvPicPr>
          <p:nvPr userDrawn="1"/>
        </p:nvPicPr>
        <p:blipFill>
          <a:blip r:embed="rId3"/>
          <a:stretch>
            <a:fillRect/>
          </a:stretch>
        </p:blipFill>
        <p:spPr>
          <a:xfrm>
            <a:off x="10427097" y="5132717"/>
            <a:ext cx="1220617" cy="1349859"/>
          </a:xfrm>
          <a:prstGeom prst="rect">
            <a:avLst/>
          </a:prstGeom>
        </p:spPr>
      </p:pic>
      <p:sp>
        <p:nvSpPr>
          <p:cNvPr id="24" name="Freeform 23">
            <a:extLst>
              <a:ext uri="{FF2B5EF4-FFF2-40B4-BE49-F238E27FC236}">
                <a16:creationId xmlns:a16="http://schemas.microsoft.com/office/drawing/2014/main" id="{32CD7190-E660-D842-A3D3-129AECF93B5F}"/>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258694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OTSWANA TITLE SLIDE">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118E5925-B80B-7445-876A-6C812D53F60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2" name="Subtitle 2">
            <a:extLst>
              <a:ext uri="{FF2B5EF4-FFF2-40B4-BE49-F238E27FC236}">
                <a16:creationId xmlns:a16="http://schemas.microsoft.com/office/drawing/2014/main" id="{F6CDF346-50C6-5D48-870A-39318E1B18B7}"/>
              </a:ext>
            </a:extLst>
          </p:cNvPr>
          <p:cNvSpPr>
            <a:spLocks noGrp="1"/>
          </p:cNvSpPr>
          <p:nvPr>
            <p:ph type="subTitle" idx="13" hasCustomPrompt="1"/>
          </p:nvPr>
        </p:nvSpPr>
        <p:spPr>
          <a:xfrm>
            <a:off x="4733364" y="2091173"/>
            <a:ext cx="7284011" cy="1072431"/>
          </a:xfrm>
        </p:spPr>
        <p:txBody>
          <a:bodyPr/>
          <a:lstStyle>
            <a:lvl1pPr marL="0" indent="0" algn="r">
              <a:buNone/>
              <a:defRPr sz="32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sp>
        <p:nvSpPr>
          <p:cNvPr id="2" name="Title 1">
            <a:extLst>
              <a:ext uri="{FF2B5EF4-FFF2-40B4-BE49-F238E27FC236}">
                <a16:creationId xmlns:a16="http://schemas.microsoft.com/office/drawing/2014/main" id="{B9E8D1C9-8D43-A841-8FDA-8751CEAC9568}"/>
              </a:ext>
            </a:extLst>
          </p:cNvPr>
          <p:cNvSpPr>
            <a:spLocks noGrp="1"/>
          </p:cNvSpPr>
          <p:nvPr>
            <p:ph type="title" hasCustomPrompt="1"/>
          </p:nvPr>
        </p:nvSpPr>
        <p:spPr>
          <a:xfrm>
            <a:off x="2109356" y="649758"/>
            <a:ext cx="9908020" cy="1504359"/>
          </a:xfrm>
        </p:spPr>
        <p:txBody>
          <a:bodyPr anchor="t"/>
          <a:lstStyle>
            <a:lvl1pPr algn="r">
              <a:defRPr sz="4400" b="1" i="0">
                <a:solidFill>
                  <a:schemeClr val="tx2"/>
                </a:solidFill>
                <a:latin typeface="Arial Black" panose="020B0604020202020204" pitchFamily="34" charset="0"/>
                <a:cs typeface="Arial Black" panose="020B0604020202020204" pitchFamily="34" charset="0"/>
              </a:defRPr>
            </a:lvl1pPr>
          </a:lstStyle>
          <a:p>
            <a:r>
              <a:rPr lang="en-GB"/>
              <a:t>BOTSWANA PATTERN </a:t>
            </a:r>
            <a:br>
              <a:rPr lang="en-GB"/>
            </a:br>
            <a:r>
              <a:rPr lang="en-GB"/>
              <a:t>DIVIDER SLIDE</a:t>
            </a:r>
          </a:p>
        </p:txBody>
      </p:sp>
      <p:grpSp>
        <p:nvGrpSpPr>
          <p:cNvPr id="19" name="Group 18">
            <a:extLst>
              <a:ext uri="{FF2B5EF4-FFF2-40B4-BE49-F238E27FC236}">
                <a16:creationId xmlns:a16="http://schemas.microsoft.com/office/drawing/2014/main" id="{3847EB8A-A1CE-E549-B991-0F46A61FF6E7}"/>
              </a:ext>
            </a:extLst>
          </p:cNvPr>
          <p:cNvGrpSpPr/>
          <p:nvPr userDrawn="1"/>
        </p:nvGrpSpPr>
        <p:grpSpPr>
          <a:xfrm>
            <a:off x="10121901" y="4705643"/>
            <a:ext cx="1778000" cy="2182266"/>
            <a:chOff x="10121901" y="4705815"/>
            <a:chExt cx="1778000" cy="2182266"/>
          </a:xfrm>
        </p:grpSpPr>
        <p:sp>
          <p:nvSpPr>
            <p:cNvPr id="20" name="Rectangle 19">
              <a:extLst>
                <a:ext uri="{FF2B5EF4-FFF2-40B4-BE49-F238E27FC236}">
                  <a16:creationId xmlns:a16="http://schemas.microsoft.com/office/drawing/2014/main" id="{CE8F0691-7E56-ED41-A807-F63312D82DD0}"/>
                </a:ext>
              </a:extLst>
            </p:cNvPr>
            <p:cNvSpPr/>
            <p:nvPr userDrawn="1"/>
          </p:nvSpPr>
          <p:spPr>
            <a:xfrm>
              <a:off x="10121901" y="4847063"/>
              <a:ext cx="1778000" cy="2041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5D7317-F36A-E74A-8651-673AAAB2D083}"/>
                </a:ext>
              </a:extLst>
            </p:cNvPr>
            <p:cNvSpPr/>
            <p:nvPr userDrawn="1"/>
          </p:nvSpPr>
          <p:spPr>
            <a:xfrm>
              <a:off x="11009971" y="4705815"/>
              <a:ext cx="889930" cy="2155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3" name="Picture 22">
            <a:extLst>
              <a:ext uri="{FF2B5EF4-FFF2-40B4-BE49-F238E27FC236}">
                <a16:creationId xmlns:a16="http://schemas.microsoft.com/office/drawing/2014/main" id="{04A5A7A5-ECF6-8D4E-9031-92E91B13A630}"/>
              </a:ext>
            </a:extLst>
          </p:cNvPr>
          <p:cNvPicPr>
            <a:picLocks noChangeAspect="1"/>
          </p:cNvPicPr>
          <p:nvPr userDrawn="1"/>
        </p:nvPicPr>
        <p:blipFill>
          <a:blip r:embed="rId3"/>
          <a:stretch>
            <a:fillRect/>
          </a:stretch>
        </p:blipFill>
        <p:spPr>
          <a:xfrm>
            <a:off x="10427097" y="5132717"/>
            <a:ext cx="1220617" cy="1349859"/>
          </a:xfrm>
          <a:prstGeom prst="rect">
            <a:avLst/>
          </a:prstGeom>
        </p:spPr>
      </p:pic>
      <p:sp>
        <p:nvSpPr>
          <p:cNvPr id="24" name="Freeform 23">
            <a:extLst>
              <a:ext uri="{FF2B5EF4-FFF2-40B4-BE49-F238E27FC236}">
                <a16:creationId xmlns:a16="http://schemas.microsoft.com/office/drawing/2014/main" id="{32CD7190-E660-D842-A3D3-129AECF93B5F}"/>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051377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LL COUNTRIES TITLE SLIDE">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C0E2F36C-5B6C-C74A-B8B0-E04D5A1505D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2" name="Subtitle 2">
            <a:extLst>
              <a:ext uri="{FF2B5EF4-FFF2-40B4-BE49-F238E27FC236}">
                <a16:creationId xmlns:a16="http://schemas.microsoft.com/office/drawing/2014/main" id="{F6CDF346-50C6-5D48-870A-39318E1B18B7}"/>
              </a:ext>
            </a:extLst>
          </p:cNvPr>
          <p:cNvSpPr>
            <a:spLocks noGrp="1"/>
          </p:cNvSpPr>
          <p:nvPr>
            <p:ph type="subTitle" idx="13" hasCustomPrompt="1"/>
          </p:nvPr>
        </p:nvSpPr>
        <p:spPr>
          <a:xfrm>
            <a:off x="4733364" y="2091173"/>
            <a:ext cx="7284011" cy="1072431"/>
          </a:xfrm>
        </p:spPr>
        <p:txBody>
          <a:bodyPr/>
          <a:lstStyle>
            <a:lvl1pPr marL="0" indent="0" algn="r">
              <a:buNone/>
              <a:defRPr sz="32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sp>
        <p:nvSpPr>
          <p:cNvPr id="2" name="Title 1">
            <a:extLst>
              <a:ext uri="{FF2B5EF4-FFF2-40B4-BE49-F238E27FC236}">
                <a16:creationId xmlns:a16="http://schemas.microsoft.com/office/drawing/2014/main" id="{B9E8D1C9-8D43-A841-8FDA-8751CEAC9568}"/>
              </a:ext>
            </a:extLst>
          </p:cNvPr>
          <p:cNvSpPr>
            <a:spLocks noGrp="1"/>
          </p:cNvSpPr>
          <p:nvPr>
            <p:ph type="title" hasCustomPrompt="1"/>
          </p:nvPr>
        </p:nvSpPr>
        <p:spPr>
          <a:xfrm>
            <a:off x="2965938" y="649758"/>
            <a:ext cx="9051437" cy="1504359"/>
          </a:xfrm>
        </p:spPr>
        <p:txBody>
          <a:bodyPr anchor="t"/>
          <a:lstStyle>
            <a:lvl1pPr algn="r">
              <a:defRPr sz="4400" b="1" i="0">
                <a:solidFill>
                  <a:schemeClr val="tx2"/>
                </a:solidFill>
                <a:latin typeface="Arial Black" panose="020B0604020202020204" pitchFamily="34" charset="0"/>
                <a:cs typeface="Arial Black" panose="020B0604020202020204" pitchFamily="34" charset="0"/>
              </a:defRPr>
            </a:lvl1pPr>
          </a:lstStyle>
          <a:p>
            <a:r>
              <a:rPr lang="en-GB"/>
              <a:t>ALL COUNTRIES PATTERN DIVIDER SLIDE</a:t>
            </a:r>
          </a:p>
        </p:txBody>
      </p:sp>
      <p:grpSp>
        <p:nvGrpSpPr>
          <p:cNvPr id="19" name="Group 18">
            <a:extLst>
              <a:ext uri="{FF2B5EF4-FFF2-40B4-BE49-F238E27FC236}">
                <a16:creationId xmlns:a16="http://schemas.microsoft.com/office/drawing/2014/main" id="{3847EB8A-A1CE-E549-B991-0F46A61FF6E7}"/>
              </a:ext>
            </a:extLst>
          </p:cNvPr>
          <p:cNvGrpSpPr/>
          <p:nvPr userDrawn="1"/>
        </p:nvGrpSpPr>
        <p:grpSpPr>
          <a:xfrm>
            <a:off x="10121901" y="4705643"/>
            <a:ext cx="1778000" cy="2182266"/>
            <a:chOff x="10121901" y="4705815"/>
            <a:chExt cx="1778000" cy="2182266"/>
          </a:xfrm>
        </p:grpSpPr>
        <p:sp>
          <p:nvSpPr>
            <p:cNvPr id="20" name="Rectangle 19">
              <a:extLst>
                <a:ext uri="{FF2B5EF4-FFF2-40B4-BE49-F238E27FC236}">
                  <a16:creationId xmlns:a16="http://schemas.microsoft.com/office/drawing/2014/main" id="{CE8F0691-7E56-ED41-A807-F63312D82DD0}"/>
                </a:ext>
              </a:extLst>
            </p:cNvPr>
            <p:cNvSpPr/>
            <p:nvPr userDrawn="1"/>
          </p:nvSpPr>
          <p:spPr>
            <a:xfrm>
              <a:off x="10121901" y="4847063"/>
              <a:ext cx="1778000" cy="2041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5D7317-F36A-E74A-8651-673AAAB2D083}"/>
                </a:ext>
              </a:extLst>
            </p:cNvPr>
            <p:cNvSpPr/>
            <p:nvPr userDrawn="1"/>
          </p:nvSpPr>
          <p:spPr>
            <a:xfrm>
              <a:off x="11009971" y="4705815"/>
              <a:ext cx="889930" cy="2155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3" name="Picture 22">
            <a:extLst>
              <a:ext uri="{FF2B5EF4-FFF2-40B4-BE49-F238E27FC236}">
                <a16:creationId xmlns:a16="http://schemas.microsoft.com/office/drawing/2014/main" id="{04A5A7A5-ECF6-8D4E-9031-92E91B13A630}"/>
              </a:ext>
            </a:extLst>
          </p:cNvPr>
          <p:cNvPicPr>
            <a:picLocks noChangeAspect="1"/>
          </p:cNvPicPr>
          <p:nvPr userDrawn="1"/>
        </p:nvPicPr>
        <p:blipFill>
          <a:blip r:embed="rId3"/>
          <a:stretch>
            <a:fillRect/>
          </a:stretch>
        </p:blipFill>
        <p:spPr>
          <a:xfrm>
            <a:off x="10427097" y="5132717"/>
            <a:ext cx="1220617" cy="1349859"/>
          </a:xfrm>
          <a:prstGeom prst="rect">
            <a:avLst/>
          </a:prstGeom>
        </p:spPr>
      </p:pic>
      <p:sp>
        <p:nvSpPr>
          <p:cNvPr id="24" name="Freeform 23">
            <a:extLst>
              <a:ext uri="{FF2B5EF4-FFF2-40B4-BE49-F238E27FC236}">
                <a16:creationId xmlns:a16="http://schemas.microsoft.com/office/drawing/2014/main" id="{32CD7190-E660-D842-A3D3-129AECF93B5F}"/>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63489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RC TITLE SLIDE">
    <p:spTree>
      <p:nvGrpSpPr>
        <p:cNvPr id="1" name=""/>
        <p:cNvGrpSpPr/>
        <p:nvPr/>
      </p:nvGrpSpPr>
      <p:grpSpPr>
        <a:xfrm>
          <a:off x="0" y="0"/>
          <a:ext cx="0" cy="0"/>
          <a:chOff x="0" y="0"/>
          <a:chExt cx="0" cy="0"/>
        </a:xfrm>
      </p:grpSpPr>
      <p:pic>
        <p:nvPicPr>
          <p:cNvPr id="4" name="Picture 3" descr="A picture containing text, indoor, bath&#10;&#10;Description automatically generated">
            <a:extLst>
              <a:ext uri="{FF2B5EF4-FFF2-40B4-BE49-F238E27FC236}">
                <a16:creationId xmlns:a16="http://schemas.microsoft.com/office/drawing/2014/main" id="{69D1A214-4516-6841-A8EA-2EF39CEA8D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2" name="Subtitle 2">
            <a:extLst>
              <a:ext uri="{FF2B5EF4-FFF2-40B4-BE49-F238E27FC236}">
                <a16:creationId xmlns:a16="http://schemas.microsoft.com/office/drawing/2014/main" id="{F6CDF346-50C6-5D48-870A-39318E1B18B7}"/>
              </a:ext>
            </a:extLst>
          </p:cNvPr>
          <p:cNvSpPr>
            <a:spLocks noGrp="1"/>
          </p:cNvSpPr>
          <p:nvPr>
            <p:ph type="subTitle" idx="13" hasCustomPrompt="1"/>
          </p:nvPr>
        </p:nvSpPr>
        <p:spPr>
          <a:xfrm>
            <a:off x="4733364" y="2091173"/>
            <a:ext cx="7284011" cy="1072431"/>
          </a:xfrm>
        </p:spPr>
        <p:txBody>
          <a:bodyPr/>
          <a:lstStyle>
            <a:lvl1pPr marL="0" indent="0" algn="r">
              <a:buNone/>
              <a:defRPr sz="32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sp>
        <p:nvSpPr>
          <p:cNvPr id="2" name="Title 1">
            <a:extLst>
              <a:ext uri="{FF2B5EF4-FFF2-40B4-BE49-F238E27FC236}">
                <a16:creationId xmlns:a16="http://schemas.microsoft.com/office/drawing/2014/main" id="{B9E8D1C9-8D43-A841-8FDA-8751CEAC9568}"/>
              </a:ext>
            </a:extLst>
          </p:cNvPr>
          <p:cNvSpPr>
            <a:spLocks noGrp="1"/>
          </p:cNvSpPr>
          <p:nvPr>
            <p:ph type="title" hasCustomPrompt="1"/>
          </p:nvPr>
        </p:nvSpPr>
        <p:spPr>
          <a:xfrm>
            <a:off x="4213412" y="649758"/>
            <a:ext cx="7803963" cy="1504359"/>
          </a:xfrm>
        </p:spPr>
        <p:txBody>
          <a:bodyPr anchor="t"/>
          <a:lstStyle>
            <a:lvl1pPr algn="r">
              <a:defRPr sz="4400" b="1" i="0">
                <a:solidFill>
                  <a:schemeClr val="tx2"/>
                </a:solidFill>
                <a:latin typeface="Arial Black" panose="020B0604020202020204" pitchFamily="34" charset="0"/>
                <a:cs typeface="Arial Black" panose="020B0604020202020204" pitchFamily="34" charset="0"/>
              </a:defRPr>
            </a:lvl1pPr>
          </a:lstStyle>
          <a:p>
            <a:r>
              <a:rPr lang="en-GB"/>
              <a:t>DRC PATTERN</a:t>
            </a:r>
            <a:br>
              <a:rPr lang="en-GB"/>
            </a:br>
            <a:r>
              <a:rPr lang="en-GB"/>
              <a:t>DIVIDER SLIDE</a:t>
            </a:r>
          </a:p>
        </p:txBody>
      </p:sp>
      <p:grpSp>
        <p:nvGrpSpPr>
          <p:cNvPr id="19" name="Group 18">
            <a:extLst>
              <a:ext uri="{FF2B5EF4-FFF2-40B4-BE49-F238E27FC236}">
                <a16:creationId xmlns:a16="http://schemas.microsoft.com/office/drawing/2014/main" id="{3847EB8A-A1CE-E549-B991-0F46A61FF6E7}"/>
              </a:ext>
            </a:extLst>
          </p:cNvPr>
          <p:cNvGrpSpPr/>
          <p:nvPr userDrawn="1"/>
        </p:nvGrpSpPr>
        <p:grpSpPr>
          <a:xfrm>
            <a:off x="10121901" y="4705643"/>
            <a:ext cx="1778000" cy="2182266"/>
            <a:chOff x="10121901" y="4705815"/>
            <a:chExt cx="1778000" cy="2182266"/>
          </a:xfrm>
        </p:grpSpPr>
        <p:sp>
          <p:nvSpPr>
            <p:cNvPr id="20" name="Rectangle 19">
              <a:extLst>
                <a:ext uri="{FF2B5EF4-FFF2-40B4-BE49-F238E27FC236}">
                  <a16:creationId xmlns:a16="http://schemas.microsoft.com/office/drawing/2014/main" id="{CE8F0691-7E56-ED41-A807-F63312D82DD0}"/>
                </a:ext>
              </a:extLst>
            </p:cNvPr>
            <p:cNvSpPr/>
            <p:nvPr userDrawn="1"/>
          </p:nvSpPr>
          <p:spPr>
            <a:xfrm>
              <a:off x="10121901" y="4847063"/>
              <a:ext cx="1778000" cy="2041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5D7317-F36A-E74A-8651-673AAAB2D083}"/>
                </a:ext>
              </a:extLst>
            </p:cNvPr>
            <p:cNvSpPr/>
            <p:nvPr userDrawn="1"/>
          </p:nvSpPr>
          <p:spPr>
            <a:xfrm>
              <a:off x="11009971" y="4705815"/>
              <a:ext cx="889930" cy="2155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3" name="Picture 22">
            <a:extLst>
              <a:ext uri="{FF2B5EF4-FFF2-40B4-BE49-F238E27FC236}">
                <a16:creationId xmlns:a16="http://schemas.microsoft.com/office/drawing/2014/main" id="{04A5A7A5-ECF6-8D4E-9031-92E91B13A630}"/>
              </a:ext>
            </a:extLst>
          </p:cNvPr>
          <p:cNvPicPr>
            <a:picLocks noChangeAspect="1"/>
          </p:cNvPicPr>
          <p:nvPr userDrawn="1"/>
        </p:nvPicPr>
        <p:blipFill>
          <a:blip r:embed="rId3"/>
          <a:stretch>
            <a:fillRect/>
          </a:stretch>
        </p:blipFill>
        <p:spPr>
          <a:xfrm>
            <a:off x="10427097" y="5132717"/>
            <a:ext cx="1220617" cy="1349859"/>
          </a:xfrm>
          <a:prstGeom prst="rect">
            <a:avLst/>
          </a:prstGeom>
        </p:spPr>
      </p:pic>
      <p:sp>
        <p:nvSpPr>
          <p:cNvPr id="24" name="Freeform 23">
            <a:extLst>
              <a:ext uri="{FF2B5EF4-FFF2-40B4-BE49-F238E27FC236}">
                <a16:creationId xmlns:a16="http://schemas.microsoft.com/office/drawing/2014/main" id="{32CD7190-E660-D842-A3D3-129AECF93B5F}"/>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848576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OUTH AFRICA TITLE SLIDE">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3852D0AC-DA31-544D-888E-CF93D694633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2" name="Subtitle 2">
            <a:extLst>
              <a:ext uri="{FF2B5EF4-FFF2-40B4-BE49-F238E27FC236}">
                <a16:creationId xmlns:a16="http://schemas.microsoft.com/office/drawing/2014/main" id="{F6CDF346-50C6-5D48-870A-39318E1B18B7}"/>
              </a:ext>
            </a:extLst>
          </p:cNvPr>
          <p:cNvSpPr>
            <a:spLocks noGrp="1"/>
          </p:cNvSpPr>
          <p:nvPr>
            <p:ph type="subTitle" idx="13" hasCustomPrompt="1"/>
          </p:nvPr>
        </p:nvSpPr>
        <p:spPr>
          <a:xfrm>
            <a:off x="4733364" y="2091173"/>
            <a:ext cx="7284011" cy="1072431"/>
          </a:xfrm>
        </p:spPr>
        <p:txBody>
          <a:bodyPr/>
          <a:lstStyle>
            <a:lvl1pPr marL="0" indent="0" algn="r">
              <a:buNone/>
              <a:defRPr sz="32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sp>
        <p:nvSpPr>
          <p:cNvPr id="2" name="Title 1">
            <a:extLst>
              <a:ext uri="{FF2B5EF4-FFF2-40B4-BE49-F238E27FC236}">
                <a16:creationId xmlns:a16="http://schemas.microsoft.com/office/drawing/2014/main" id="{B9E8D1C9-8D43-A841-8FDA-8751CEAC9568}"/>
              </a:ext>
            </a:extLst>
          </p:cNvPr>
          <p:cNvSpPr>
            <a:spLocks noGrp="1"/>
          </p:cNvSpPr>
          <p:nvPr>
            <p:ph type="title" hasCustomPrompt="1"/>
          </p:nvPr>
        </p:nvSpPr>
        <p:spPr>
          <a:xfrm>
            <a:off x="2961410" y="649758"/>
            <a:ext cx="9055966" cy="1504359"/>
          </a:xfrm>
        </p:spPr>
        <p:txBody>
          <a:bodyPr anchor="t"/>
          <a:lstStyle>
            <a:lvl1pPr algn="r">
              <a:defRPr sz="4400" b="1" i="0">
                <a:solidFill>
                  <a:schemeClr val="tx2"/>
                </a:solidFill>
                <a:latin typeface="Arial Black" panose="020B0604020202020204" pitchFamily="34" charset="0"/>
                <a:cs typeface="Arial Black" panose="020B0604020202020204" pitchFamily="34" charset="0"/>
              </a:defRPr>
            </a:lvl1pPr>
          </a:lstStyle>
          <a:p>
            <a:r>
              <a:rPr lang="en-GB"/>
              <a:t>SOUTH AFRICA PATTERN DIVIDER SLIDE</a:t>
            </a:r>
          </a:p>
        </p:txBody>
      </p:sp>
      <p:grpSp>
        <p:nvGrpSpPr>
          <p:cNvPr id="19" name="Group 18">
            <a:extLst>
              <a:ext uri="{FF2B5EF4-FFF2-40B4-BE49-F238E27FC236}">
                <a16:creationId xmlns:a16="http://schemas.microsoft.com/office/drawing/2014/main" id="{3847EB8A-A1CE-E549-B991-0F46A61FF6E7}"/>
              </a:ext>
            </a:extLst>
          </p:cNvPr>
          <p:cNvGrpSpPr/>
          <p:nvPr userDrawn="1"/>
        </p:nvGrpSpPr>
        <p:grpSpPr>
          <a:xfrm>
            <a:off x="10121901" y="4705643"/>
            <a:ext cx="1778000" cy="2182266"/>
            <a:chOff x="10121901" y="4705815"/>
            <a:chExt cx="1778000" cy="2182266"/>
          </a:xfrm>
        </p:grpSpPr>
        <p:sp>
          <p:nvSpPr>
            <p:cNvPr id="20" name="Rectangle 19">
              <a:extLst>
                <a:ext uri="{FF2B5EF4-FFF2-40B4-BE49-F238E27FC236}">
                  <a16:creationId xmlns:a16="http://schemas.microsoft.com/office/drawing/2014/main" id="{CE8F0691-7E56-ED41-A807-F63312D82DD0}"/>
                </a:ext>
              </a:extLst>
            </p:cNvPr>
            <p:cNvSpPr/>
            <p:nvPr userDrawn="1"/>
          </p:nvSpPr>
          <p:spPr>
            <a:xfrm>
              <a:off x="10121901" y="4847063"/>
              <a:ext cx="1778000" cy="2041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5D7317-F36A-E74A-8651-673AAAB2D083}"/>
                </a:ext>
              </a:extLst>
            </p:cNvPr>
            <p:cNvSpPr/>
            <p:nvPr userDrawn="1"/>
          </p:nvSpPr>
          <p:spPr>
            <a:xfrm>
              <a:off x="11009971" y="4705815"/>
              <a:ext cx="889930" cy="2155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3" name="Picture 22">
            <a:extLst>
              <a:ext uri="{FF2B5EF4-FFF2-40B4-BE49-F238E27FC236}">
                <a16:creationId xmlns:a16="http://schemas.microsoft.com/office/drawing/2014/main" id="{04A5A7A5-ECF6-8D4E-9031-92E91B13A630}"/>
              </a:ext>
            </a:extLst>
          </p:cNvPr>
          <p:cNvPicPr>
            <a:picLocks noChangeAspect="1"/>
          </p:cNvPicPr>
          <p:nvPr userDrawn="1"/>
        </p:nvPicPr>
        <p:blipFill>
          <a:blip r:embed="rId3"/>
          <a:stretch>
            <a:fillRect/>
          </a:stretch>
        </p:blipFill>
        <p:spPr>
          <a:xfrm>
            <a:off x="10427097" y="5132717"/>
            <a:ext cx="1220617" cy="1349859"/>
          </a:xfrm>
          <a:prstGeom prst="rect">
            <a:avLst/>
          </a:prstGeom>
        </p:spPr>
      </p:pic>
      <p:sp>
        <p:nvSpPr>
          <p:cNvPr id="24" name="Freeform 23">
            <a:extLst>
              <a:ext uri="{FF2B5EF4-FFF2-40B4-BE49-F238E27FC236}">
                <a16:creationId xmlns:a16="http://schemas.microsoft.com/office/drawing/2014/main" id="{32CD7190-E660-D842-A3D3-129AECF93B5F}"/>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61896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MBABWE 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EB152-5196-7D48-95DD-24806BDCABF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2" name="Subtitle 2">
            <a:extLst>
              <a:ext uri="{FF2B5EF4-FFF2-40B4-BE49-F238E27FC236}">
                <a16:creationId xmlns:a16="http://schemas.microsoft.com/office/drawing/2014/main" id="{F6CDF346-50C6-5D48-870A-39318E1B18B7}"/>
              </a:ext>
            </a:extLst>
          </p:cNvPr>
          <p:cNvSpPr>
            <a:spLocks noGrp="1"/>
          </p:cNvSpPr>
          <p:nvPr>
            <p:ph type="subTitle" idx="13" hasCustomPrompt="1"/>
          </p:nvPr>
        </p:nvSpPr>
        <p:spPr>
          <a:xfrm>
            <a:off x="4733364" y="2091173"/>
            <a:ext cx="7284011" cy="1072431"/>
          </a:xfrm>
        </p:spPr>
        <p:txBody>
          <a:bodyPr/>
          <a:lstStyle>
            <a:lvl1pPr marL="0" indent="0" algn="r">
              <a:buNone/>
              <a:defRPr sz="32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sp>
        <p:nvSpPr>
          <p:cNvPr id="2" name="Title 1">
            <a:extLst>
              <a:ext uri="{FF2B5EF4-FFF2-40B4-BE49-F238E27FC236}">
                <a16:creationId xmlns:a16="http://schemas.microsoft.com/office/drawing/2014/main" id="{B9E8D1C9-8D43-A841-8FDA-8751CEAC9568}"/>
              </a:ext>
            </a:extLst>
          </p:cNvPr>
          <p:cNvSpPr>
            <a:spLocks noGrp="1"/>
          </p:cNvSpPr>
          <p:nvPr>
            <p:ph type="title" hasCustomPrompt="1"/>
          </p:nvPr>
        </p:nvSpPr>
        <p:spPr>
          <a:xfrm>
            <a:off x="3761510" y="649758"/>
            <a:ext cx="8255866" cy="1504359"/>
          </a:xfrm>
        </p:spPr>
        <p:txBody>
          <a:bodyPr anchor="t"/>
          <a:lstStyle>
            <a:lvl1pPr algn="r">
              <a:defRPr sz="4400" b="1" i="0">
                <a:solidFill>
                  <a:schemeClr val="tx2"/>
                </a:solidFill>
                <a:latin typeface="Arial Black" panose="020B0604020202020204" pitchFamily="34" charset="0"/>
                <a:cs typeface="Arial Black" panose="020B0604020202020204" pitchFamily="34" charset="0"/>
              </a:defRPr>
            </a:lvl1pPr>
          </a:lstStyle>
          <a:p>
            <a:r>
              <a:rPr lang="en-GB"/>
              <a:t>ZIMBABWE PATTERN</a:t>
            </a:r>
            <a:br>
              <a:rPr lang="en-GB"/>
            </a:br>
            <a:r>
              <a:rPr lang="en-GB"/>
              <a:t>DIVIDER SLIDE</a:t>
            </a:r>
          </a:p>
        </p:txBody>
      </p:sp>
      <p:grpSp>
        <p:nvGrpSpPr>
          <p:cNvPr id="19" name="Group 18">
            <a:extLst>
              <a:ext uri="{FF2B5EF4-FFF2-40B4-BE49-F238E27FC236}">
                <a16:creationId xmlns:a16="http://schemas.microsoft.com/office/drawing/2014/main" id="{3847EB8A-A1CE-E549-B991-0F46A61FF6E7}"/>
              </a:ext>
            </a:extLst>
          </p:cNvPr>
          <p:cNvGrpSpPr/>
          <p:nvPr userDrawn="1"/>
        </p:nvGrpSpPr>
        <p:grpSpPr>
          <a:xfrm>
            <a:off x="10121901" y="4705643"/>
            <a:ext cx="1778000" cy="2182266"/>
            <a:chOff x="10121901" y="4705815"/>
            <a:chExt cx="1778000" cy="2182266"/>
          </a:xfrm>
        </p:grpSpPr>
        <p:sp>
          <p:nvSpPr>
            <p:cNvPr id="20" name="Rectangle 19">
              <a:extLst>
                <a:ext uri="{FF2B5EF4-FFF2-40B4-BE49-F238E27FC236}">
                  <a16:creationId xmlns:a16="http://schemas.microsoft.com/office/drawing/2014/main" id="{CE8F0691-7E56-ED41-A807-F63312D82DD0}"/>
                </a:ext>
              </a:extLst>
            </p:cNvPr>
            <p:cNvSpPr/>
            <p:nvPr userDrawn="1"/>
          </p:nvSpPr>
          <p:spPr>
            <a:xfrm>
              <a:off x="10121901" y="4847063"/>
              <a:ext cx="1778000" cy="2041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5D7317-F36A-E74A-8651-673AAAB2D083}"/>
                </a:ext>
              </a:extLst>
            </p:cNvPr>
            <p:cNvSpPr/>
            <p:nvPr userDrawn="1"/>
          </p:nvSpPr>
          <p:spPr>
            <a:xfrm>
              <a:off x="11009971" y="4705815"/>
              <a:ext cx="889930" cy="2155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3" name="Picture 22">
            <a:extLst>
              <a:ext uri="{FF2B5EF4-FFF2-40B4-BE49-F238E27FC236}">
                <a16:creationId xmlns:a16="http://schemas.microsoft.com/office/drawing/2014/main" id="{04A5A7A5-ECF6-8D4E-9031-92E91B13A630}"/>
              </a:ext>
            </a:extLst>
          </p:cNvPr>
          <p:cNvPicPr>
            <a:picLocks noChangeAspect="1"/>
          </p:cNvPicPr>
          <p:nvPr userDrawn="1"/>
        </p:nvPicPr>
        <p:blipFill>
          <a:blip r:embed="rId3"/>
          <a:stretch>
            <a:fillRect/>
          </a:stretch>
        </p:blipFill>
        <p:spPr>
          <a:xfrm>
            <a:off x="10427097" y="5132717"/>
            <a:ext cx="1220617" cy="1349859"/>
          </a:xfrm>
          <a:prstGeom prst="rect">
            <a:avLst/>
          </a:prstGeom>
        </p:spPr>
      </p:pic>
      <p:sp>
        <p:nvSpPr>
          <p:cNvPr id="24" name="Freeform 23">
            <a:extLst>
              <a:ext uri="{FF2B5EF4-FFF2-40B4-BE49-F238E27FC236}">
                <a16:creationId xmlns:a16="http://schemas.microsoft.com/office/drawing/2014/main" id="{32CD7190-E660-D842-A3D3-129AECF93B5F}"/>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287356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ENERIC TITLE SLIDE">
    <p:spTree>
      <p:nvGrpSpPr>
        <p:cNvPr id="1" name=""/>
        <p:cNvGrpSpPr/>
        <p:nvPr/>
      </p:nvGrpSpPr>
      <p:grpSpPr>
        <a:xfrm>
          <a:off x="0" y="0"/>
          <a:ext cx="0" cy="0"/>
          <a:chOff x="0" y="0"/>
          <a:chExt cx="0" cy="0"/>
        </a:xfrm>
      </p:grpSpPr>
      <p:sp>
        <p:nvSpPr>
          <p:cNvPr id="22" name="Subtitle 2">
            <a:extLst>
              <a:ext uri="{FF2B5EF4-FFF2-40B4-BE49-F238E27FC236}">
                <a16:creationId xmlns:a16="http://schemas.microsoft.com/office/drawing/2014/main" id="{F6CDF346-50C6-5D48-870A-39318E1B18B7}"/>
              </a:ext>
            </a:extLst>
          </p:cNvPr>
          <p:cNvSpPr>
            <a:spLocks noGrp="1"/>
          </p:cNvSpPr>
          <p:nvPr>
            <p:ph type="subTitle" idx="13" hasCustomPrompt="1"/>
          </p:nvPr>
        </p:nvSpPr>
        <p:spPr>
          <a:xfrm>
            <a:off x="392541" y="3629140"/>
            <a:ext cx="8661811" cy="1624178"/>
          </a:xfrm>
        </p:spPr>
        <p:txBody>
          <a:bodyPr/>
          <a:lstStyle>
            <a:lvl1pPr marL="0" indent="0" algn="l">
              <a:buNone/>
              <a:defRPr sz="32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sp>
        <p:nvSpPr>
          <p:cNvPr id="2" name="Title 1">
            <a:extLst>
              <a:ext uri="{FF2B5EF4-FFF2-40B4-BE49-F238E27FC236}">
                <a16:creationId xmlns:a16="http://schemas.microsoft.com/office/drawing/2014/main" id="{B9E8D1C9-8D43-A841-8FDA-8751CEAC9568}"/>
              </a:ext>
            </a:extLst>
          </p:cNvPr>
          <p:cNvSpPr>
            <a:spLocks noGrp="1"/>
          </p:cNvSpPr>
          <p:nvPr>
            <p:ph type="title" hasCustomPrompt="1"/>
          </p:nvPr>
        </p:nvSpPr>
        <p:spPr>
          <a:xfrm>
            <a:off x="392541" y="2209951"/>
            <a:ext cx="7803963" cy="1419189"/>
          </a:xfrm>
        </p:spPr>
        <p:txBody>
          <a:bodyPr anchor="t"/>
          <a:lstStyle>
            <a:lvl1pPr algn="l">
              <a:defRPr sz="4400" b="1" i="0">
                <a:solidFill>
                  <a:schemeClr val="tx2"/>
                </a:solidFill>
                <a:latin typeface="Arial Black" panose="020B0604020202020204" pitchFamily="34" charset="0"/>
                <a:cs typeface="Arial Black" panose="020B0604020202020204" pitchFamily="34" charset="0"/>
              </a:defRPr>
            </a:lvl1pPr>
          </a:lstStyle>
          <a:p>
            <a:r>
              <a:rPr lang="en-GB"/>
              <a:t>TITLE SLIDE OVER TWO LINES IN ALL CAPS</a:t>
            </a:r>
          </a:p>
        </p:txBody>
      </p:sp>
      <p:sp>
        <p:nvSpPr>
          <p:cNvPr id="7" name="Freeform 6">
            <a:extLst>
              <a:ext uri="{FF2B5EF4-FFF2-40B4-BE49-F238E27FC236}">
                <a16:creationId xmlns:a16="http://schemas.microsoft.com/office/drawing/2014/main" id="{0C028C47-E465-ED44-9DAB-3D5F3700951D}"/>
              </a:ext>
            </a:extLst>
          </p:cNvPr>
          <p:cNvSpPr/>
          <p:nvPr userDrawn="1"/>
        </p:nvSpPr>
        <p:spPr>
          <a:xfrm>
            <a:off x="404630" y="6533039"/>
            <a:ext cx="2481663" cy="737834"/>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82792"/>
              <a:gd name="connsiteY0" fmla="*/ 0 h 2042410"/>
              <a:gd name="connsiteX1" fmla="*/ 888167 w 1782792"/>
              <a:gd name="connsiteY1" fmla="*/ 0 h 2042410"/>
              <a:gd name="connsiteX2" fmla="*/ 888167 w 1782792"/>
              <a:gd name="connsiteY2" fmla="*/ 176135 h 2042410"/>
              <a:gd name="connsiteX3" fmla="*/ 0 w 1782792"/>
              <a:gd name="connsiteY3" fmla="*/ 176135 h 2042410"/>
              <a:gd name="connsiteX4" fmla="*/ 0 w 1782792"/>
              <a:gd name="connsiteY4" fmla="*/ 2042410 h 2042410"/>
              <a:gd name="connsiteX5" fmla="*/ 1782792 w 1782792"/>
              <a:gd name="connsiteY5" fmla="*/ 977345 h 2042410"/>
              <a:gd name="connsiteX6" fmla="*/ 1776335 w 1782792"/>
              <a:gd name="connsiteY6" fmla="*/ 0 h 2042410"/>
              <a:gd name="connsiteX0" fmla="*/ 1776335 w 1782792"/>
              <a:gd name="connsiteY0" fmla="*/ 0 h 977346"/>
              <a:gd name="connsiteX1" fmla="*/ 888167 w 1782792"/>
              <a:gd name="connsiteY1" fmla="*/ 0 h 977346"/>
              <a:gd name="connsiteX2" fmla="*/ 888167 w 1782792"/>
              <a:gd name="connsiteY2" fmla="*/ 176135 h 977346"/>
              <a:gd name="connsiteX3" fmla="*/ 0 w 1782792"/>
              <a:gd name="connsiteY3" fmla="*/ 176135 h 977346"/>
              <a:gd name="connsiteX4" fmla="*/ 0 w 1782792"/>
              <a:gd name="connsiteY4" fmla="*/ 977346 h 977346"/>
              <a:gd name="connsiteX5" fmla="*/ 1782792 w 1782792"/>
              <a:gd name="connsiteY5" fmla="*/ 977345 h 977346"/>
              <a:gd name="connsiteX6" fmla="*/ 1776335 w 1782792"/>
              <a:gd name="connsiteY6" fmla="*/ 0 h 977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2792" h="977346">
                <a:moveTo>
                  <a:pt x="1776335" y="0"/>
                </a:moveTo>
                <a:lnTo>
                  <a:pt x="888167" y="0"/>
                </a:lnTo>
                <a:lnTo>
                  <a:pt x="888167" y="176135"/>
                </a:lnTo>
                <a:lnTo>
                  <a:pt x="0" y="176135"/>
                </a:lnTo>
                <a:lnTo>
                  <a:pt x="0" y="977346"/>
                </a:lnTo>
                <a:lnTo>
                  <a:pt x="1782792" y="977345"/>
                </a:lnTo>
                <a:cubicBezTo>
                  <a:pt x="1780640" y="651563"/>
                  <a:pt x="1778487" y="325782"/>
                  <a:pt x="177633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7">
            <a:extLst>
              <a:ext uri="{FF2B5EF4-FFF2-40B4-BE49-F238E27FC236}">
                <a16:creationId xmlns:a16="http://schemas.microsoft.com/office/drawing/2014/main" id="{76EABED6-D58C-D744-964A-F29BEB3E5042}"/>
              </a:ext>
            </a:extLst>
          </p:cNvPr>
          <p:cNvSpPr/>
          <p:nvPr userDrawn="1"/>
        </p:nvSpPr>
        <p:spPr>
          <a:xfrm flipH="1" flipV="1">
            <a:off x="404629" y="-174279"/>
            <a:ext cx="2481663" cy="737834"/>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82792"/>
              <a:gd name="connsiteY0" fmla="*/ 0 h 2042410"/>
              <a:gd name="connsiteX1" fmla="*/ 888167 w 1782792"/>
              <a:gd name="connsiteY1" fmla="*/ 0 h 2042410"/>
              <a:gd name="connsiteX2" fmla="*/ 888167 w 1782792"/>
              <a:gd name="connsiteY2" fmla="*/ 176135 h 2042410"/>
              <a:gd name="connsiteX3" fmla="*/ 0 w 1782792"/>
              <a:gd name="connsiteY3" fmla="*/ 176135 h 2042410"/>
              <a:gd name="connsiteX4" fmla="*/ 0 w 1782792"/>
              <a:gd name="connsiteY4" fmla="*/ 2042410 h 2042410"/>
              <a:gd name="connsiteX5" fmla="*/ 1782792 w 1782792"/>
              <a:gd name="connsiteY5" fmla="*/ 977345 h 2042410"/>
              <a:gd name="connsiteX6" fmla="*/ 1776335 w 1782792"/>
              <a:gd name="connsiteY6" fmla="*/ 0 h 2042410"/>
              <a:gd name="connsiteX0" fmla="*/ 1776335 w 1782792"/>
              <a:gd name="connsiteY0" fmla="*/ 0 h 977346"/>
              <a:gd name="connsiteX1" fmla="*/ 888167 w 1782792"/>
              <a:gd name="connsiteY1" fmla="*/ 0 h 977346"/>
              <a:gd name="connsiteX2" fmla="*/ 888167 w 1782792"/>
              <a:gd name="connsiteY2" fmla="*/ 176135 h 977346"/>
              <a:gd name="connsiteX3" fmla="*/ 0 w 1782792"/>
              <a:gd name="connsiteY3" fmla="*/ 176135 h 977346"/>
              <a:gd name="connsiteX4" fmla="*/ 0 w 1782792"/>
              <a:gd name="connsiteY4" fmla="*/ 977346 h 977346"/>
              <a:gd name="connsiteX5" fmla="*/ 1782792 w 1782792"/>
              <a:gd name="connsiteY5" fmla="*/ 977345 h 977346"/>
              <a:gd name="connsiteX6" fmla="*/ 1776335 w 1782792"/>
              <a:gd name="connsiteY6" fmla="*/ 0 h 977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2792" h="977346">
                <a:moveTo>
                  <a:pt x="1776335" y="0"/>
                </a:moveTo>
                <a:lnTo>
                  <a:pt x="888167" y="0"/>
                </a:lnTo>
                <a:lnTo>
                  <a:pt x="888167" y="176135"/>
                </a:lnTo>
                <a:lnTo>
                  <a:pt x="0" y="176135"/>
                </a:lnTo>
                <a:lnTo>
                  <a:pt x="0" y="977346"/>
                </a:lnTo>
                <a:lnTo>
                  <a:pt x="1782792" y="977345"/>
                </a:lnTo>
                <a:cubicBezTo>
                  <a:pt x="1780640" y="651563"/>
                  <a:pt x="1778487" y="325782"/>
                  <a:pt x="177633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70189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ENERIC TITLE SLIDE 2">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2F61D1B6-A2CF-6D43-9EA7-E7442AE57541}"/>
              </a:ext>
            </a:extLst>
          </p:cNvPr>
          <p:cNvSpPr/>
          <p:nvPr userDrawn="1"/>
        </p:nvSpPr>
        <p:spPr>
          <a:xfrm rot="16200000" flipH="1">
            <a:off x="10676502" y="4675237"/>
            <a:ext cx="1957741" cy="1073255"/>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82792"/>
              <a:gd name="connsiteY0" fmla="*/ 0 h 2042410"/>
              <a:gd name="connsiteX1" fmla="*/ 888167 w 1782792"/>
              <a:gd name="connsiteY1" fmla="*/ 0 h 2042410"/>
              <a:gd name="connsiteX2" fmla="*/ 888167 w 1782792"/>
              <a:gd name="connsiteY2" fmla="*/ 176135 h 2042410"/>
              <a:gd name="connsiteX3" fmla="*/ 0 w 1782792"/>
              <a:gd name="connsiteY3" fmla="*/ 176135 h 2042410"/>
              <a:gd name="connsiteX4" fmla="*/ 0 w 1782792"/>
              <a:gd name="connsiteY4" fmla="*/ 2042410 h 2042410"/>
              <a:gd name="connsiteX5" fmla="*/ 1782792 w 1782792"/>
              <a:gd name="connsiteY5" fmla="*/ 977345 h 2042410"/>
              <a:gd name="connsiteX6" fmla="*/ 1776335 w 1782792"/>
              <a:gd name="connsiteY6" fmla="*/ 0 h 2042410"/>
              <a:gd name="connsiteX0" fmla="*/ 1776335 w 1782792"/>
              <a:gd name="connsiteY0" fmla="*/ 0 h 977346"/>
              <a:gd name="connsiteX1" fmla="*/ 888167 w 1782792"/>
              <a:gd name="connsiteY1" fmla="*/ 0 h 977346"/>
              <a:gd name="connsiteX2" fmla="*/ 888167 w 1782792"/>
              <a:gd name="connsiteY2" fmla="*/ 176135 h 977346"/>
              <a:gd name="connsiteX3" fmla="*/ 0 w 1782792"/>
              <a:gd name="connsiteY3" fmla="*/ 176135 h 977346"/>
              <a:gd name="connsiteX4" fmla="*/ 0 w 1782792"/>
              <a:gd name="connsiteY4" fmla="*/ 977346 h 977346"/>
              <a:gd name="connsiteX5" fmla="*/ 1782792 w 1782792"/>
              <a:gd name="connsiteY5" fmla="*/ 977345 h 977346"/>
              <a:gd name="connsiteX6" fmla="*/ 1776335 w 1782792"/>
              <a:gd name="connsiteY6" fmla="*/ 0 h 977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2792" h="977346">
                <a:moveTo>
                  <a:pt x="1776335" y="0"/>
                </a:moveTo>
                <a:lnTo>
                  <a:pt x="888167" y="0"/>
                </a:lnTo>
                <a:lnTo>
                  <a:pt x="888167" y="176135"/>
                </a:lnTo>
                <a:lnTo>
                  <a:pt x="0" y="176135"/>
                </a:lnTo>
                <a:lnTo>
                  <a:pt x="0" y="977346"/>
                </a:lnTo>
                <a:lnTo>
                  <a:pt x="1782792" y="977345"/>
                </a:lnTo>
                <a:cubicBezTo>
                  <a:pt x="1780640" y="651563"/>
                  <a:pt x="1778487" y="325782"/>
                  <a:pt x="177633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Subtitle 2">
            <a:extLst>
              <a:ext uri="{FF2B5EF4-FFF2-40B4-BE49-F238E27FC236}">
                <a16:creationId xmlns:a16="http://schemas.microsoft.com/office/drawing/2014/main" id="{F6CDF346-50C6-5D48-870A-39318E1B18B7}"/>
              </a:ext>
            </a:extLst>
          </p:cNvPr>
          <p:cNvSpPr>
            <a:spLocks noGrp="1"/>
          </p:cNvSpPr>
          <p:nvPr>
            <p:ph type="subTitle" idx="13" hasCustomPrompt="1"/>
          </p:nvPr>
        </p:nvSpPr>
        <p:spPr>
          <a:xfrm>
            <a:off x="1414518" y="2148009"/>
            <a:ext cx="8661811" cy="1624178"/>
          </a:xfrm>
        </p:spPr>
        <p:txBody>
          <a:bodyPr/>
          <a:lstStyle>
            <a:lvl1pPr marL="0" indent="0" algn="l">
              <a:buNone/>
              <a:defRPr sz="32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 TITLE GOES HERE</a:t>
            </a:r>
            <a:br>
              <a:rPr lang="en-GB"/>
            </a:br>
            <a:r>
              <a:rPr lang="en-GB"/>
              <a:t>IN TWO LINES WHERE NEEDED</a:t>
            </a:r>
          </a:p>
        </p:txBody>
      </p:sp>
      <p:sp>
        <p:nvSpPr>
          <p:cNvPr id="2" name="Title 1">
            <a:extLst>
              <a:ext uri="{FF2B5EF4-FFF2-40B4-BE49-F238E27FC236}">
                <a16:creationId xmlns:a16="http://schemas.microsoft.com/office/drawing/2014/main" id="{B9E8D1C9-8D43-A841-8FDA-8751CEAC9568}"/>
              </a:ext>
            </a:extLst>
          </p:cNvPr>
          <p:cNvSpPr>
            <a:spLocks noGrp="1"/>
          </p:cNvSpPr>
          <p:nvPr>
            <p:ph type="title" hasCustomPrompt="1"/>
          </p:nvPr>
        </p:nvSpPr>
        <p:spPr>
          <a:xfrm>
            <a:off x="1414518" y="728820"/>
            <a:ext cx="7803963" cy="1419189"/>
          </a:xfrm>
        </p:spPr>
        <p:txBody>
          <a:bodyPr anchor="t"/>
          <a:lstStyle>
            <a:lvl1pPr algn="l">
              <a:defRPr sz="4400" b="1" i="0">
                <a:solidFill>
                  <a:schemeClr val="tx2"/>
                </a:solidFill>
                <a:latin typeface="Arial Black" panose="020B0604020202020204" pitchFamily="34" charset="0"/>
                <a:cs typeface="Arial Black" panose="020B0604020202020204" pitchFamily="34" charset="0"/>
              </a:defRPr>
            </a:lvl1pPr>
          </a:lstStyle>
          <a:p>
            <a:r>
              <a:rPr lang="en-GB"/>
              <a:t>TITLE SLIDE OVER TWO LINES IN ALL CAPS</a:t>
            </a:r>
          </a:p>
        </p:txBody>
      </p:sp>
      <p:sp>
        <p:nvSpPr>
          <p:cNvPr id="7" name="Freeform 6">
            <a:extLst>
              <a:ext uri="{FF2B5EF4-FFF2-40B4-BE49-F238E27FC236}">
                <a16:creationId xmlns:a16="http://schemas.microsoft.com/office/drawing/2014/main" id="{4C7EFA3B-E4AE-304F-B9AE-190B2857D628}"/>
              </a:ext>
            </a:extLst>
          </p:cNvPr>
          <p:cNvSpPr/>
          <p:nvPr userDrawn="1"/>
        </p:nvSpPr>
        <p:spPr>
          <a:xfrm rot="16200000" flipV="1">
            <a:off x="-445734" y="1171063"/>
            <a:ext cx="1957741" cy="1073255"/>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82792"/>
              <a:gd name="connsiteY0" fmla="*/ 0 h 2042410"/>
              <a:gd name="connsiteX1" fmla="*/ 888167 w 1782792"/>
              <a:gd name="connsiteY1" fmla="*/ 0 h 2042410"/>
              <a:gd name="connsiteX2" fmla="*/ 888167 w 1782792"/>
              <a:gd name="connsiteY2" fmla="*/ 176135 h 2042410"/>
              <a:gd name="connsiteX3" fmla="*/ 0 w 1782792"/>
              <a:gd name="connsiteY3" fmla="*/ 176135 h 2042410"/>
              <a:gd name="connsiteX4" fmla="*/ 0 w 1782792"/>
              <a:gd name="connsiteY4" fmla="*/ 2042410 h 2042410"/>
              <a:gd name="connsiteX5" fmla="*/ 1782792 w 1782792"/>
              <a:gd name="connsiteY5" fmla="*/ 977345 h 2042410"/>
              <a:gd name="connsiteX6" fmla="*/ 1776335 w 1782792"/>
              <a:gd name="connsiteY6" fmla="*/ 0 h 2042410"/>
              <a:gd name="connsiteX0" fmla="*/ 1776335 w 1782792"/>
              <a:gd name="connsiteY0" fmla="*/ 0 h 977346"/>
              <a:gd name="connsiteX1" fmla="*/ 888167 w 1782792"/>
              <a:gd name="connsiteY1" fmla="*/ 0 h 977346"/>
              <a:gd name="connsiteX2" fmla="*/ 888167 w 1782792"/>
              <a:gd name="connsiteY2" fmla="*/ 176135 h 977346"/>
              <a:gd name="connsiteX3" fmla="*/ 0 w 1782792"/>
              <a:gd name="connsiteY3" fmla="*/ 176135 h 977346"/>
              <a:gd name="connsiteX4" fmla="*/ 0 w 1782792"/>
              <a:gd name="connsiteY4" fmla="*/ 977346 h 977346"/>
              <a:gd name="connsiteX5" fmla="*/ 1782792 w 1782792"/>
              <a:gd name="connsiteY5" fmla="*/ 977345 h 977346"/>
              <a:gd name="connsiteX6" fmla="*/ 1776335 w 1782792"/>
              <a:gd name="connsiteY6" fmla="*/ 0 h 977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2792" h="977346">
                <a:moveTo>
                  <a:pt x="1776335" y="0"/>
                </a:moveTo>
                <a:lnTo>
                  <a:pt x="888167" y="0"/>
                </a:lnTo>
                <a:lnTo>
                  <a:pt x="888167" y="176135"/>
                </a:lnTo>
                <a:lnTo>
                  <a:pt x="0" y="176135"/>
                </a:lnTo>
                <a:lnTo>
                  <a:pt x="0" y="977346"/>
                </a:lnTo>
                <a:lnTo>
                  <a:pt x="1782792" y="977345"/>
                </a:lnTo>
                <a:cubicBezTo>
                  <a:pt x="1780640" y="651563"/>
                  <a:pt x="1778487" y="325782"/>
                  <a:pt x="177633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640309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URST QUOTE LAYOUT">
    <p:spTree>
      <p:nvGrpSpPr>
        <p:cNvPr id="1" name=""/>
        <p:cNvGrpSpPr/>
        <p:nvPr/>
      </p:nvGrpSpPr>
      <p:grpSpPr>
        <a:xfrm>
          <a:off x="0" y="0"/>
          <a:ext cx="0" cy="0"/>
          <a:chOff x="0" y="0"/>
          <a:chExt cx="0" cy="0"/>
        </a:xfrm>
      </p:grpSpPr>
      <p:sp>
        <p:nvSpPr>
          <p:cNvPr id="38" name="Text Placeholder 3">
            <a:extLst>
              <a:ext uri="{FF2B5EF4-FFF2-40B4-BE49-F238E27FC236}">
                <a16:creationId xmlns:a16="http://schemas.microsoft.com/office/drawing/2014/main" id="{DF7E4BD6-C7D4-BE48-B310-3A0322CCDE0E}"/>
              </a:ext>
            </a:extLst>
          </p:cNvPr>
          <p:cNvSpPr>
            <a:spLocks noGrp="1"/>
          </p:cNvSpPr>
          <p:nvPr>
            <p:ph type="body" sz="half" idx="15" hasCustomPrompt="1"/>
          </p:nvPr>
        </p:nvSpPr>
        <p:spPr>
          <a:xfrm>
            <a:off x="1941558" y="2407007"/>
            <a:ext cx="7454824" cy="455431"/>
          </a:xfrm>
        </p:spPr>
        <p:txBody>
          <a:bodyPr anchor="t" anchorCtr="0">
            <a:noAutofit/>
          </a:bodyPr>
          <a:lstStyle>
            <a:lvl1pPr marL="0" indent="0" algn="ctr">
              <a:lnSpc>
                <a:spcPts val="3500"/>
              </a:lnSpc>
              <a:spcBef>
                <a:spcPts val="0"/>
              </a:spcBef>
              <a:buNone/>
              <a:defRPr sz="3000" b="1" i="0">
                <a:solidFill>
                  <a:schemeClr val="tx2"/>
                </a:solidFill>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SHORT BURST TEXT TITLE</a:t>
            </a:r>
          </a:p>
        </p:txBody>
      </p:sp>
      <p:pic>
        <p:nvPicPr>
          <p:cNvPr id="14" name="Picture 13">
            <a:extLst>
              <a:ext uri="{FF2B5EF4-FFF2-40B4-BE49-F238E27FC236}">
                <a16:creationId xmlns:a16="http://schemas.microsoft.com/office/drawing/2014/main" id="{0742FBDA-43D4-FE49-9225-52C7A1D3AEA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24837" t="-1" b="-20378"/>
          <a:stretch/>
        </p:blipFill>
        <p:spPr>
          <a:xfrm>
            <a:off x="815190" y="1916886"/>
            <a:ext cx="1192658" cy="1110607"/>
          </a:xfrm>
          <a:prstGeom prst="rect">
            <a:avLst/>
          </a:prstGeom>
        </p:spPr>
      </p:pic>
      <p:pic>
        <p:nvPicPr>
          <p:cNvPr id="20" name="Picture 19">
            <a:extLst>
              <a:ext uri="{FF2B5EF4-FFF2-40B4-BE49-F238E27FC236}">
                <a16:creationId xmlns:a16="http://schemas.microsoft.com/office/drawing/2014/main" id="{96032F34-0932-8648-80C5-C4A6EB3A0C6F}"/>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t="-1" r="-47412" b="-20378"/>
          <a:stretch/>
        </p:blipFill>
        <p:spPr>
          <a:xfrm>
            <a:off x="9203603" y="1916886"/>
            <a:ext cx="860297" cy="1110607"/>
          </a:xfrm>
          <a:prstGeom prst="rect">
            <a:avLst/>
          </a:prstGeom>
        </p:spPr>
      </p:pic>
      <p:sp>
        <p:nvSpPr>
          <p:cNvPr id="3" name="Text Placeholder 2">
            <a:extLst>
              <a:ext uri="{FF2B5EF4-FFF2-40B4-BE49-F238E27FC236}">
                <a16:creationId xmlns:a16="http://schemas.microsoft.com/office/drawing/2014/main" id="{88EB71F9-C97C-C042-B705-BEE95BE1B522}"/>
              </a:ext>
            </a:extLst>
          </p:cNvPr>
          <p:cNvSpPr>
            <a:spLocks noGrp="1"/>
          </p:cNvSpPr>
          <p:nvPr>
            <p:ph type="body" sz="quarter" idx="16"/>
          </p:nvPr>
        </p:nvSpPr>
        <p:spPr>
          <a:xfrm>
            <a:off x="1941558" y="3141147"/>
            <a:ext cx="7454824" cy="2008188"/>
          </a:xfrm>
        </p:spPr>
        <p:txBody>
          <a:bodyPr>
            <a:noAutofit/>
          </a:bodyPr>
          <a:lstStyle>
            <a:lvl1pPr>
              <a:buNone/>
              <a:defRPr sz="2000">
                <a:latin typeface="Arial" panose="020B0604020202020204" pitchFamily="34" charset="0"/>
                <a:cs typeface="Arial" panose="020B0604020202020204" pitchFamily="34" charset="0"/>
              </a:defRPr>
            </a:lvl1pPr>
            <a:lvl2pPr>
              <a:buNone/>
              <a:defRPr sz="2000">
                <a:latin typeface="Arial" panose="020B0604020202020204" pitchFamily="34" charset="0"/>
                <a:cs typeface="Arial" panose="020B0604020202020204" pitchFamily="34" charset="0"/>
              </a:defRPr>
            </a:lvl2pPr>
            <a:lvl3pPr>
              <a:buNone/>
              <a:defRPr sz="1800">
                <a:latin typeface="Arial" panose="020B0604020202020204" pitchFamily="34" charset="0"/>
                <a:cs typeface="Arial" panose="020B0604020202020204" pitchFamily="34" charset="0"/>
              </a:defRPr>
            </a:lvl3pPr>
            <a:lvl4pPr>
              <a:buNone/>
              <a:defRPr sz="1600">
                <a:latin typeface="Arial" panose="020B0604020202020204" pitchFamily="34" charset="0"/>
                <a:cs typeface="Arial" panose="020B0604020202020204" pitchFamily="34" charset="0"/>
              </a:defRPr>
            </a:lvl4pPr>
            <a:lvl5pPr>
              <a:buNone/>
              <a:defRPr sz="1600">
                <a:latin typeface="Arial" panose="020B0604020202020204" pitchFamily="34" charset="0"/>
                <a:cs typeface="Arial" panose="020B0604020202020204" pitchFamily="34" charset="0"/>
              </a:defRPr>
            </a:lvl5pPr>
          </a:lstStyle>
          <a:p>
            <a:pPr lvl="0"/>
            <a:r>
              <a:rPr lang="en-GB"/>
              <a:t>Click to edit Master text styles</a:t>
            </a:r>
          </a:p>
        </p:txBody>
      </p:sp>
      <p:sp>
        <p:nvSpPr>
          <p:cNvPr id="12" name="Title 1">
            <a:extLst>
              <a:ext uri="{FF2B5EF4-FFF2-40B4-BE49-F238E27FC236}">
                <a16:creationId xmlns:a16="http://schemas.microsoft.com/office/drawing/2014/main" id="{CCA9F840-2F8E-5548-88D8-F96D45CC4AE9}"/>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pic>
        <p:nvPicPr>
          <p:cNvPr id="15" name="Picture 14" descr="Arrow, funnel chart&#10;&#10;Description automatically generated">
            <a:extLst>
              <a:ext uri="{FF2B5EF4-FFF2-40B4-BE49-F238E27FC236}">
                <a16:creationId xmlns:a16="http://schemas.microsoft.com/office/drawing/2014/main" id="{BC812D57-E9CF-0749-9CE3-CF6998544B7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6" name="Picture 15" descr="Arrow&#10;&#10;Description automatically generated with medium confidence">
            <a:extLst>
              <a:ext uri="{FF2B5EF4-FFF2-40B4-BE49-F238E27FC236}">
                <a16:creationId xmlns:a16="http://schemas.microsoft.com/office/drawing/2014/main" id="{6F94DA3E-50F7-C34A-BD17-F3E0E0AC67BA}"/>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11" name="Slide Number Placeholder 5">
            <a:extLst>
              <a:ext uri="{FF2B5EF4-FFF2-40B4-BE49-F238E27FC236}">
                <a16:creationId xmlns:a16="http://schemas.microsoft.com/office/drawing/2014/main" id="{97F18128-26AC-004B-B3D4-E38ADE3124B8}"/>
              </a:ext>
            </a:extLst>
          </p:cNvPr>
          <p:cNvSpPr>
            <a:spLocks noGrp="1"/>
          </p:cNvSpPr>
          <p:nvPr>
            <p:ph type="sldNum" sz="quarter" idx="4"/>
          </p:nvPr>
        </p:nvSpPr>
        <p:spPr>
          <a:xfrm>
            <a:off x="8739667" y="6381529"/>
            <a:ext cx="2743200" cy="365125"/>
          </a:xfrm>
          <a:prstGeom prst="rect">
            <a:avLst/>
          </a:prstGeom>
        </p:spPr>
        <p:txBody>
          <a:bodyPr vert="horz" lIns="91440" tIns="45720" rIns="91440" bIns="45720" rtlCol="0" anchor="ctr"/>
          <a:lstStyle>
            <a:lvl1pPr algn="r">
              <a:defRPr sz="800">
                <a:solidFill>
                  <a:schemeClr val="tx1"/>
                </a:solidFill>
                <a:latin typeface="Arial" panose="020B0604020202020204" pitchFamily="34" charset="0"/>
                <a:cs typeface="Arial" panose="020B0604020202020204" pitchFamily="34" charset="0"/>
              </a:defRPr>
            </a:lvl1pPr>
          </a:lstStyle>
          <a:p>
            <a:fld id="{DDAFD0C9-8BC0-5147-B74C-78C6A0363883}" type="slidenum">
              <a:rPr lang="en-GB" smtClean="0"/>
              <a:pPr/>
              <a:t>‹#›</a:t>
            </a:fld>
            <a:endParaRPr lang="en-GB"/>
          </a:p>
        </p:txBody>
      </p:sp>
    </p:spTree>
    <p:extLst>
      <p:ext uri="{BB962C8B-B14F-4D97-AF65-F5344CB8AC3E}">
        <p14:creationId xmlns:p14="http://schemas.microsoft.com/office/powerpoint/2010/main" val="5338777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URST QUOTE LAYOUT">
    <p:spTree>
      <p:nvGrpSpPr>
        <p:cNvPr id="1" name=""/>
        <p:cNvGrpSpPr/>
        <p:nvPr/>
      </p:nvGrpSpPr>
      <p:grpSpPr>
        <a:xfrm>
          <a:off x="0" y="0"/>
          <a:ext cx="0" cy="0"/>
          <a:chOff x="0" y="0"/>
          <a:chExt cx="0" cy="0"/>
        </a:xfrm>
      </p:grpSpPr>
      <p:sp>
        <p:nvSpPr>
          <p:cNvPr id="38" name="Text Placeholder 3">
            <a:extLst>
              <a:ext uri="{FF2B5EF4-FFF2-40B4-BE49-F238E27FC236}">
                <a16:creationId xmlns:a16="http://schemas.microsoft.com/office/drawing/2014/main" id="{DF7E4BD6-C7D4-BE48-B310-3A0322CCDE0E}"/>
              </a:ext>
            </a:extLst>
          </p:cNvPr>
          <p:cNvSpPr>
            <a:spLocks noGrp="1"/>
          </p:cNvSpPr>
          <p:nvPr>
            <p:ph type="body" sz="half" idx="15" hasCustomPrompt="1"/>
          </p:nvPr>
        </p:nvSpPr>
        <p:spPr>
          <a:xfrm>
            <a:off x="1941558" y="2407007"/>
            <a:ext cx="7454824" cy="455431"/>
          </a:xfrm>
        </p:spPr>
        <p:txBody>
          <a:bodyPr anchor="t" anchorCtr="0">
            <a:noAutofit/>
          </a:bodyPr>
          <a:lstStyle>
            <a:lvl1pPr marL="0" indent="0" algn="ctr">
              <a:lnSpc>
                <a:spcPts val="3500"/>
              </a:lnSpc>
              <a:spcBef>
                <a:spcPts val="0"/>
              </a:spcBef>
              <a:buNone/>
              <a:defRPr sz="3000" b="1" i="0">
                <a:solidFill>
                  <a:schemeClr val="tx2"/>
                </a:solidFill>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SHORT BURST TEXT TITLE</a:t>
            </a:r>
          </a:p>
        </p:txBody>
      </p:sp>
      <p:sp>
        <p:nvSpPr>
          <p:cNvPr id="3" name="Text Placeholder 2">
            <a:extLst>
              <a:ext uri="{FF2B5EF4-FFF2-40B4-BE49-F238E27FC236}">
                <a16:creationId xmlns:a16="http://schemas.microsoft.com/office/drawing/2014/main" id="{88EB71F9-C97C-C042-B705-BEE95BE1B522}"/>
              </a:ext>
            </a:extLst>
          </p:cNvPr>
          <p:cNvSpPr>
            <a:spLocks noGrp="1"/>
          </p:cNvSpPr>
          <p:nvPr>
            <p:ph type="body" sz="quarter" idx="16"/>
          </p:nvPr>
        </p:nvSpPr>
        <p:spPr>
          <a:xfrm>
            <a:off x="1941558" y="3141147"/>
            <a:ext cx="7454824" cy="2008188"/>
          </a:xfrm>
        </p:spPr>
        <p:txBody>
          <a:bodyPr>
            <a:noAutofit/>
          </a:bodyPr>
          <a:lstStyle>
            <a:lvl1pPr>
              <a:buNone/>
              <a:defRPr sz="2000">
                <a:latin typeface="Arial" panose="020B0604020202020204" pitchFamily="34" charset="0"/>
                <a:cs typeface="Arial" panose="020B0604020202020204" pitchFamily="34" charset="0"/>
              </a:defRPr>
            </a:lvl1pPr>
            <a:lvl2pPr>
              <a:buNone/>
              <a:defRPr sz="2000">
                <a:latin typeface="Arial" panose="020B0604020202020204" pitchFamily="34" charset="0"/>
                <a:cs typeface="Arial" panose="020B0604020202020204" pitchFamily="34" charset="0"/>
              </a:defRPr>
            </a:lvl2pPr>
            <a:lvl3pPr>
              <a:buNone/>
              <a:defRPr sz="1800">
                <a:latin typeface="Arial" panose="020B0604020202020204" pitchFamily="34" charset="0"/>
                <a:cs typeface="Arial" panose="020B0604020202020204" pitchFamily="34" charset="0"/>
              </a:defRPr>
            </a:lvl3pPr>
            <a:lvl4pPr>
              <a:buNone/>
              <a:defRPr sz="1600">
                <a:latin typeface="Arial" panose="020B0604020202020204" pitchFamily="34" charset="0"/>
                <a:cs typeface="Arial" panose="020B0604020202020204" pitchFamily="34" charset="0"/>
              </a:defRPr>
            </a:lvl4pPr>
            <a:lvl5pPr>
              <a:buNone/>
              <a:defRPr sz="1600">
                <a:latin typeface="Arial" panose="020B0604020202020204" pitchFamily="34" charset="0"/>
                <a:cs typeface="Arial" panose="020B0604020202020204" pitchFamily="34" charset="0"/>
              </a:defRPr>
            </a:lvl5pPr>
          </a:lstStyle>
          <a:p>
            <a:pPr lvl="0"/>
            <a:r>
              <a:rPr lang="en-GB"/>
              <a:t>Click to edit Master text styles</a:t>
            </a:r>
          </a:p>
        </p:txBody>
      </p:sp>
      <p:sp>
        <p:nvSpPr>
          <p:cNvPr id="12" name="Title 1">
            <a:extLst>
              <a:ext uri="{FF2B5EF4-FFF2-40B4-BE49-F238E27FC236}">
                <a16:creationId xmlns:a16="http://schemas.microsoft.com/office/drawing/2014/main" id="{CCA9F840-2F8E-5548-88D8-F96D45CC4AE9}"/>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pic>
        <p:nvPicPr>
          <p:cNvPr id="15" name="Picture 14" descr="Arrow, funnel chart&#10;&#10;Description automatically generated">
            <a:extLst>
              <a:ext uri="{FF2B5EF4-FFF2-40B4-BE49-F238E27FC236}">
                <a16:creationId xmlns:a16="http://schemas.microsoft.com/office/drawing/2014/main" id="{BC812D57-E9CF-0749-9CE3-CF6998544B7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6" name="Picture 15" descr="Arrow&#10;&#10;Description automatically generated with medium confidence">
            <a:extLst>
              <a:ext uri="{FF2B5EF4-FFF2-40B4-BE49-F238E27FC236}">
                <a16:creationId xmlns:a16="http://schemas.microsoft.com/office/drawing/2014/main" id="{6F94DA3E-50F7-C34A-BD17-F3E0E0AC67B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11" name="Slide Number Placeholder 5">
            <a:extLst>
              <a:ext uri="{FF2B5EF4-FFF2-40B4-BE49-F238E27FC236}">
                <a16:creationId xmlns:a16="http://schemas.microsoft.com/office/drawing/2014/main" id="{97F18128-26AC-004B-B3D4-E38ADE3124B8}"/>
              </a:ext>
            </a:extLst>
          </p:cNvPr>
          <p:cNvSpPr>
            <a:spLocks noGrp="1"/>
          </p:cNvSpPr>
          <p:nvPr>
            <p:ph type="sldNum" sz="quarter" idx="4"/>
          </p:nvPr>
        </p:nvSpPr>
        <p:spPr>
          <a:xfrm>
            <a:off x="8739667" y="6381529"/>
            <a:ext cx="2743200" cy="365125"/>
          </a:xfrm>
          <a:prstGeom prst="rect">
            <a:avLst/>
          </a:prstGeom>
        </p:spPr>
        <p:txBody>
          <a:bodyPr vert="horz" lIns="91440" tIns="45720" rIns="91440" bIns="45720" rtlCol="0" anchor="ctr"/>
          <a:lstStyle>
            <a:lvl1pPr algn="r">
              <a:defRPr sz="800">
                <a:solidFill>
                  <a:schemeClr val="tx1"/>
                </a:solidFill>
                <a:latin typeface="Arial" panose="020B0604020202020204" pitchFamily="34" charset="0"/>
                <a:cs typeface="Arial" panose="020B0604020202020204" pitchFamily="34" charset="0"/>
              </a:defRPr>
            </a:lvl1pPr>
          </a:lstStyle>
          <a:p>
            <a:fld id="{DDAFD0C9-8BC0-5147-B74C-78C6A0363883}" type="slidenum">
              <a:rPr lang="en-GB" smtClean="0"/>
              <a:pPr/>
              <a:t>‹#›</a:t>
            </a:fld>
            <a:endParaRPr lang="en-GB"/>
          </a:p>
        </p:txBody>
      </p:sp>
      <p:pic>
        <p:nvPicPr>
          <p:cNvPr id="10" name="Picture 9" descr="Icon&#10;&#10;Description automatically generated">
            <a:extLst>
              <a:ext uri="{FF2B5EF4-FFF2-40B4-BE49-F238E27FC236}">
                <a16:creationId xmlns:a16="http://schemas.microsoft.com/office/drawing/2014/main" id="{7A4B6925-0E6F-764B-953A-A977370058DF}"/>
              </a:ext>
            </a:extLst>
          </p:cNvPr>
          <p:cNvPicPr>
            <a:picLocks noChangeAspect="1"/>
          </p:cNvPicPr>
          <p:nvPr userDrawn="1"/>
        </p:nvPicPr>
        <p:blipFill>
          <a:blip r:embed="rId4"/>
          <a:stretch>
            <a:fillRect/>
          </a:stretch>
        </p:blipFill>
        <p:spPr>
          <a:xfrm>
            <a:off x="30271" y="2379941"/>
            <a:ext cx="1858256" cy="2769390"/>
          </a:xfrm>
          <a:prstGeom prst="rect">
            <a:avLst/>
          </a:prstGeom>
        </p:spPr>
      </p:pic>
      <p:pic>
        <p:nvPicPr>
          <p:cNvPr id="13" name="Picture 12" descr="Icon&#10;&#10;Description automatically generated">
            <a:extLst>
              <a:ext uri="{FF2B5EF4-FFF2-40B4-BE49-F238E27FC236}">
                <a16:creationId xmlns:a16="http://schemas.microsoft.com/office/drawing/2014/main" id="{82A63EC1-E8B6-CA41-9AB1-2CE3FD5D9072}"/>
              </a:ext>
            </a:extLst>
          </p:cNvPr>
          <p:cNvPicPr>
            <a:picLocks noChangeAspect="1"/>
          </p:cNvPicPr>
          <p:nvPr userDrawn="1"/>
        </p:nvPicPr>
        <p:blipFill>
          <a:blip r:embed="rId4"/>
          <a:stretch>
            <a:fillRect/>
          </a:stretch>
        </p:blipFill>
        <p:spPr>
          <a:xfrm flipH="1">
            <a:off x="9462990" y="2379941"/>
            <a:ext cx="1858256" cy="2769390"/>
          </a:xfrm>
          <a:prstGeom prst="rect">
            <a:avLst/>
          </a:prstGeom>
        </p:spPr>
      </p:pic>
    </p:spTree>
    <p:extLst>
      <p:ext uri="{BB962C8B-B14F-4D97-AF65-F5344CB8AC3E}">
        <p14:creationId xmlns:p14="http://schemas.microsoft.com/office/powerpoint/2010/main" val="30848440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BURST QUOTE LAYOUT">
    <p:spTree>
      <p:nvGrpSpPr>
        <p:cNvPr id="1" name=""/>
        <p:cNvGrpSpPr/>
        <p:nvPr/>
      </p:nvGrpSpPr>
      <p:grpSpPr>
        <a:xfrm>
          <a:off x="0" y="0"/>
          <a:ext cx="0" cy="0"/>
          <a:chOff x="0" y="0"/>
          <a:chExt cx="0" cy="0"/>
        </a:xfrm>
      </p:grpSpPr>
      <p:pic>
        <p:nvPicPr>
          <p:cNvPr id="14" name="Picture 13" descr="Icon&#10;&#10;Description automatically generated">
            <a:extLst>
              <a:ext uri="{FF2B5EF4-FFF2-40B4-BE49-F238E27FC236}">
                <a16:creationId xmlns:a16="http://schemas.microsoft.com/office/drawing/2014/main" id="{B9E405B0-080D-A043-B0CF-373C4E05E99C}"/>
              </a:ext>
            </a:extLst>
          </p:cNvPr>
          <p:cNvPicPr>
            <a:picLocks noChangeAspect="1"/>
          </p:cNvPicPr>
          <p:nvPr userDrawn="1"/>
        </p:nvPicPr>
        <p:blipFill>
          <a:blip r:embed="rId2"/>
          <a:stretch>
            <a:fillRect/>
          </a:stretch>
        </p:blipFill>
        <p:spPr>
          <a:xfrm flipH="1">
            <a:off x="7955280" y="4636870"/>
            <a:ext cx="3361086" cy="2221130"/>
          </a:xfrm>
          <a:prstGeom prst="rect">
            <a:avLst/>
          </a:prstGeom>
        </p:spPr>
      </p:pic>
      <p:sp>
        <p:nvSpPr>
          <p:cNvPr id="38" name="Text Placeholder 3">
            <a:extLst>
              <a:ext uri="{FF2B5EF4-FFF2-40B4-BE49-F238E27FC236}">
                <a16:creationId xmlns:a16="http://schemas.microsoft.com/office/drawing/2014/main" id="{DF7E4BD6-C7D4-BE48-B310-3A0322CCDE0E}"/>
              </a:ext>
            </a:extLst>
          </p:cNvPr>
          <p:cNvSpPr>
            <a:spLocks noGrp="1"/>
          </p:cNvSpPr>
          <p:nvPr>
            <p:ph type="body" sz="half" idx="15" hasCustomPrompt="1"/>
          </p:nvPr>
        </p:nvSpPr>
        <p:spPr>
          <a:xfrm>
            <a:off x="1941558" y="2407007"/>
            <a:ext cx="7454824" cy="455431"/>
          </a:xfrm>
        </p:spPr>
        <p:txBody>
          <a:bodyPr anchor="t" anchorCtr="0">
            <a:noAutofit/>
          </a:bodyPr>
          <a:lstStyle>
            <a:lvl1pPr marL="0" indent="0" algn="ctr">
              <a:lnSpc>
                <a:spcPts val="3500"/>
              </a:lnSpc>
              <a:spcBef>
                <a:spcPts val="0"/>
              </a:spcBef>
              <a:buNone/>
              <a:defRPr sz="3000" b="1" i="0">
                <a:solidFill>
                  <a:schemeClr val="tx2"/>
                </a:solidFill>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SHORT BURST TEXT TITLE</a:t>
            </a:r>
          </a:p>
        </p:txBody>
      </p:sp>
      <p:sp>
        <p:nvSpPr>
          <p:cNvPr id="3" name="Text Placeholder 2">
            <a:extLst>
              <a:ext uri="{FF2B5EF4-FFF2-40B4-BE49-F238E27FC236}">
                <a16:creationId xmlns:a16="http://schemas.microsoft.com/office/drawing/2014/main" id="{88EB71F9-C97C-C042-B705-BEE95BE1B522}"/>
              </a:ext>
            </a:extLst>
          </p:cNvPr>
          <p:cNvSpPr>
            <a:spLocks noGrp="1"/>
          </p:cNvSpPr>
          <p:nvPr>
            <p:ph type="body" sz="quarter" idx="16"/>
          </p:nvPr>
        </p:nvSpPr>
        <p:spPr>
          <a:xfrm>
            <a:off x="1941558" y="3141147"/>
            <a:ext cx="7454824" cy="2008188"/>
          </a:xfrm>
        </p:spPr>
        <p:txBody>
          <a:bodyPr>
            <a:noAutofit/>
          </a:bodyPr>
          <a:lstStyle>
            <a:lvl1pPr>
              <a:buNone/>
              <a:defRPr sz="2000">
                <a:latin typeface="Arial" panose="020B0604020202020204" pitchFamily="34" charset="0"/>
                <a:cs typeface="Arial" panose="020B0604020202020204" pitchFamily="34" charset="0"/>
              </a:defRPr>
            </a:lvl1pPr>
            <a:lvl2pPr>
              <a:buNone/>
              <a:defRPr sz="2000">
                <a:latin typeface="Arial" panose="020B0604020202020204" pitchFamily="34" charset="0"/>
                <a:cs typeface="Arial" panose="020B0604020202020204" pitchFamily="34" charset="0"/>
              </a:defRPr>
            </a:lvl2pPr>
            <a:lvl3pPr>
              <a:buNone/>
              <a:defRPr sz="1800">
                <a:latin typeface="Arial" panose="020B0604020202020204" pitchFamily="34" charset="0"/>
                <a:cs typeface="Arial" panose="020B0604020202020204" pitchFamily="34" charset="0"/>
              </a:defRPr>
            </a:lvl3pPr>
            <a:lvl4pPr>
              <a:buNone/>
              <a:defRPr sz="1600">
                <a:latin typeface="Arial" panose="020B0604020202020204" pitchFamily="34" charset="0"/>
                <a:cs typeface="Arial" panose="020B0604020202020204" pitchFamily="34" charset="0"/>
              </a:defRPr>
            </a:lvl4pPr>
            <a:lvl5pPr>
              <a:buNone/>
              <a:defRPr sz="1600">
                <a:latin typeface="Arial" panose="020B0604020202020204" pitchFamily="34" charset="0"/>
                <a:cs typeface="Arial" panose="020B0604020202020204" pitchFamily="34" charset="0"/>
              </a:defRPr>
            </a:lvl5pPr>
          </a:lstStyle>
          <a:p>
            <a:pPr lvl="0"/>
            <a:r>
              <a:rPr lang="en-GB"/>
              <a:t>Click to edit Master text styles</a:t>
            </a:r>
          </a:p>
        </p:txBody>
      </p:sp>
      <p:sp>
        <p:nvSpPr>
          <p:cNvPr id="12" name="Title 1">
            <a:extLst>
              <a:ext uri="{FF2B5EF4-FFF2-40B4-BE49-F238E27FC236}">
                <a16:creationId xmlns:a16="http://schemas.microsoft.com/office/drawing/2014/main" id="{CCA9F840-2F8E-5548-88D8-F96D45CC4AE9}"/>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pic>
        <p:nvPicPr>
          <p:cNvPr id="15" name="Picture 14" descr="Arrow, funnel chart&#10;&#10;Description automatically generated">
            <a:extLst>
              <a:ext uri="{FF2B5EF4-FFF2-40B4-BE49-F238E27FC236}">
                <a16:creationId xmlns:a16="http://schemas.microsoft.com/office/drawing/2014/main" id="{BC812D57-E9CF-0749-9CE3-CF6998544B7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6" name="Picture 15" descr="Arrow&#10;&#10;Description automatically generated with medium confidence">
            <a:extLst>
              <a:ext uri="{FF2B5EF4-FFF2-40B4-BE49-F238E27FC236}">
                <a16:creationId xmlns:a16="http://schemas.microsoft.com/office/drawing/2014/main" id="{6F94DA3E-50F7-C34A-BD17-F3E0E0AC67B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11" name="Slide Number Placeholder 5">
            <a:extLst>
              <a:ext uri="{FF2B5EF4-FFF2-40B4-BE49-F238E27FC236}">
                <a16:creationId xmlns:a16="http://schemas.microsoft.com/office/drawing/2014/main" id="{97F18128-26AC-004B-B3D4-E38ADE3124B8}"/>
              </a:ext>
            </a:extLst>
          </p:cNvPr>
          <p:cNvSpPr>
            <a:spLocks noGrp="1"/>
          </p:cNvSpPr>
          <p:nvPr>
            <p:ph type="sldNum" sz="quarter" idx="4"/>
          </p:nvPr>
        </p:nvSpPr>
        <p:spPr>
          <a:xfrm>
            <a:off x="8739667" y="6381529"/>
            <a:ext cx="2743200" cy="365125"/>
          </a:xfrm>
          <a:prstGeom prst="rect">
            <a:avLst/>
          </a:prstGeom>
        </p:spPr>
        <p:txBody>
          <a:bodyPr vert="horz" lIns="91440" tIns="45720" rIns="91440" bIns="45720" rtlCol="0" anchor="ctr"/>
          <a:lstStyle>
            <a:lvl1pPr algn="r">
              <a:defRPr sz="800">
                <a:solidFill>
                  <a:schemeClr val="tx1"/>
                </a:solidFill>
                <a:latin typeface="Arial" panose="020B0604020202020204" pitchFamily="34" charset="0"/>
                <a:cs typeface="Arial" panose="020B0604020202020204" pitchFamily="34" charset="0"/>
              </a:defRPr>
            </a:lvl1pPr>
          </a:lstStyle>
          <a:p>
            <a:fld id="{DDAFD0C9-8BC0-5147-B74C-78C6A0363883}" type="slidenum">
              <a:rPr lang="en-GB" smtClean="0"/>
              <a:pPr/>
              <a:t>‹#›</a:t>
            </a:fld>
            <a:endParaRPr lang="en-GB"/>
          </a:p>
        </p:txBody>
      </p:sp>
    </p:spTree>
    <p:extLst>
      <p:ext uri="{BB962C8B-B14F-4D97-AF65-F5344CB8AC3E}">
        <p14:creationId xmlns:p14="http://schemas.microsoft.com/office/powerpoint/2010/main" val="15026172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BURST QUOTE LAYOUT">
    <p:spTree>
      <p:nvGrpSpPr>
        <p:cNvPr id="1" name=""/>
        <p:cNvGrpSpPr/>
        <p:nvPr/>
      </p:nvGrpSpPr>
      <p:grpSpPr>
        <a:xfrm>
          <a:off x="0" y="0"/>
          <a:ext cx="0" cy="0"/>
          <a:chOff x="0" y="0"/>
          <a:chExt cx="0" cy="0"/>
        </a:xfrm>
      </p:grpSpPr>
      <p:pic>
        <p:nvPicPr>
          <p:cNvPr id="15" name="Picture 14" descr="Arrow, funnel chart&#10;&#10;Description automatically generated">
            <a:extLst>
              <a:ext uri="{FF2B5EF4-FFF2-40B4-BE49-F238E27FC236}">
                <a16:creationId xmlns:a16="http://schemas.microsoft.com/office/drawing/2014/main" id="{BC812D57-E9CF-0749-9CE3-CF6998544B7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6" name="Picture 15" descr="Arrow&#10;&#10;Description automatically generated with medium confidence">
            <a:extLst>
              <a:ext uri="{FF2B5EF4-FFF2-40B4-BE49-F238E27FC236}">
                <a16:creationId xmlns:a16="http://schemas.microsoft.com/office/drawing/2014/main" id="{6F94DA3E-50F7-C34A-BD17-F3E0E0AC67B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11" name="Slide Number Placeholder 5">
            <a:extLst>
              <a:ext uri="{FF2B5EF4-FFF2-40B4-BE49-F238E27FC236}">
                <a16:creationId xmlns:a16="http://schemas.microsoft.com/office/drawing/2014/main" id="{97F18128-26AC-004B-B3D4-E38ADE3124B8}"/>
              </a:ext>
            </a:extLst>
          </p:cNvPr>
          <p:cNvSpPr>
            <a:spLocks noGrp="1"/>
          </p:cNvSpPr>
          <p:nvPr>
            <p:ph type="sldNum" sz="quarter" idx="4"/>
          </p:nvPr>
        </p:nvSpPr>
        <p:spPr>
          <a:xfrm>
            <a:off x="8739667" y="6381529"/>
            <a:ext cx="2743200" cy="365125"/>
          </a:xfrm>
          <a:prstGeom prst="rect">
            <a:avLst/>
          </a:prstGeom>
        </p:spPr>
        <p:txBody>
          <a:bodyPr vert="horz" lIns="91440" tIns="45720" rIns="91440" bIns="45720" rtlCol="0" anchor="ctr"/>
          <a:lstStyle>
            <a:lvl1pPr algn="r">
              <a:defRPr sz="800">
                <a:solidFill>
                  <a:schemeClr val="tx1"/>
                </a:solidFill>
                <a:latin typeface="Arial" panose="020B0604020202020204" pitchFamily="34" charset="0"/>
                <a:cs typeface="Arial" panose="020B0604020202020204" pitchFamily="34" charset="0"/>
              </a:defRPr>
            </a:lvl1pPr>
          </a:lstStyle>
          <a:p>
            <a:fld id="{DDAFD0C9-8BC0-5147-B74C-78C6A0363883}" type="slidenum">
              <a:rPr lang="en-GB" smtClean="0"/>
              <a:pPr/>
              <a:t>‹#›</a:t>
            </a:fld>
            <a:endParaRPr lang="en-GB"/>
          </a:p>
        </p:txBody>
      </p:sp>
      <p:pic>
        <p:nvPicPr>
          <p:cNvPr id="9" name="Picture 8">
            <a:extLst>
              <a:ext uri="{FF2B5EF4-FFF2-40B4-BE49-F238E27FC236}">
                <a16:creationId xmlns:a16="http://schemas.microsoft.com/office/drawing/2014/main" id="{DF2FEA4B-9378-EA4D-9703-5F5F3EA7EDD0}"/>
              </a:ext>
            </a:extLst>
          </p:cNvPr>
          <p:cNvPicPr>
            <a:picLocks noChangeAspect="1"/>
          </p:cNvPicPr>
          <p:nvPr userDrawn="1"/>
        </p:nvPicPr>
        <p:blipFill>
          <a:blip r:embed="rId4"/>
          <a:stretch>
            <a:fillRect/>
          </a:stretch>
        </p:blipFill>
        <p:spPr>
          <a:xfrm>
            <a:off x="8848338" y="1627300"/>
            <a:ext cx="1648436" cy="1620497"/>
          </a:xfrm>
          <a:prstGeom prst="rect">
            <a:avLst/>
          </a:prstGeom>
        </p:spPr>
      </p:pic>
      <p:pic>
        <p:nvPicPr>
          <p:cNvPr id="10" name="Picture 9">
            <a:extLst>
              <a:ext uri="{FF2B5EF4-FFF2-40B4-BE49-F238E27FC236}">
                <a16:creationId xmlns:a16="http://schemas.microsoft.com/office/drawing/2014/main" id="{10AB8CB2-0B8C-9F41-853D-DC2CAD8E4B6A}"/>
              </a:ext>
            </a:extLst>
          </p:cNvPr>
          <p:cNvPicPr>
            <a:picLocks noChangeAspect="1"/>
          </p:cNvPicPr>
          <p:nvPr userDrawn="1"/>
        </p:nvPicPr>
        <p:blipFill>
          <a:blip r:embed="rId4"/>
          <a:stretch>
            <a:fillRect/>
          </a:stretch>
        </p:blipFill>
        <p:spPr>
          <a:xfrm>
            <a:off x="5309072" y="1614383"/>
            <a:ext cx="1648436" cy="1620497"/>
          </a:xfrm>
          <a:prstGeom prst="rect">
            <a:avLst/>
          </a:prstGeom>
        </p:spPr>
      </p:pic>
      <p:pic>
        <p:nvPicPr>
          <p:cNvPr id="13" name="Picture 12">
            <a:extLst>
              <a:ext uri="{FF2B5EF4-FFF2-40B4-BE49-F238E27FC236}">
                <a16:creationId xmlns:a16="http://schemas.microsoft.com/office/drawing/2014/main" id="{0E2C43B1-6706-C14A-9E37-C99C8921F791}"/>
              </a:ext>
            </a:extLst>
          </p:cNvPr>
          <p:cNvPicPr>
            <a:picLocks noChangeAspect="1"/>
          </p:cNvPicPr>
          <p:nvPr userDrawn="1"/>
        </p:nvPicPr>
        <p:blipFill>
          <a:blip r:embed="rId4"/>
          <a:stretch>
            <a:fillRect/>
          </a:stretch>
        </p:blipFill>
        <p:spPr>
          <a:xfrm>
            <a:off x="1780564" y="1614383"/>
            <a:ext cx="1648436" cy="1620497"/>
          </a:xfrm>
          <a:prstGeom prst="rect">
            <a:avLst/>
          </a:prstGeom>
        </p:spPr>
      </p:pic>
      <p:sp>
        <p:nvSpPr>
          <p:cNvPr id="17" name="Title 1">
            <a:extLst>
              <a:ext uri="{FF2B5EF4-FFF2-40B4-BE49-F238E27FC236}">
                <a16:creationId xmlns:a16="http://schemas.microsoft.com/office/drawing/2014/main" id="{3DB1B406-55AE-154C-BFF7-46FDAA4BEA1F}"/>
              </a:ext>
            </a:extLst>
          </p:cNvPr>
          <p:cNvSpPr>
            <a:spLocks noGrp="1"/>
          </p:cNvSpPr>
          <p:nvPr>
            <p:ph type="title" hasCustomPrompt="1"/>
          </p:nvPr>
        </p:nvSpPr>
        <p:spPr>
          <a:xfrm>
            <a:off x="404629" y="751359"/>
            <a:ext cx="1086271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 TITLE STYLE</a:t>
            </a:r>
          </a:p>
        </p:txBody>
      </p:sp>
      <p:sp>
        <p:nvSpPr>
          <p:cNvPr id="18" name="Text Placeholder 3">
            <a:extLst>
              <a:ext uri="{FF2B5EF4-FFF2-40B4-BE49-F238E27FC236}">
                <a16:creationId xmlns:a16="http://schemas.microsoft.com/office/drawing/2014/main" id="{1E83CA53-C548-0C43-AD60-AA7DB40E1A82}"/>
              </a:ext>
            </a:extLst>
          </p:cNvPr>
          <p:cNvSpPr>
            <a:spLocks noGrp="1"/>
          </p:cNvSpPr>
          <p:nvPr>
            <p:ph type="body" sz="half" idx="2" hasCustomPrompt="1"/>
          </p:nvPr>
        </p:nvSpPr>
        <p:spPr>
          <a:xfrm>
            <a:off x="1001806" y="3388615"/>
            <a:ext cx="3190366" cy="2481026"/>
          </a:xfrm>
        </p:spPr>
        <p:txBody>
          <a:bodyPr/>
          <a:lstStyle>
            <a:lvl1pPr marL="0" indent="0">
              <a:lnSpc>
                <a:spcPts val="1400"/>
              </a:lnSpc>
              <a:buFontTx/>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p:txBody>
      </p:sp>
      <p:sp>
        <p:nvSpPr>
          <p:cNvPr id="19" name="Text Placeholder 3">
            <a:extLst>
              <a:ext uri="{FF2B5EF4-FFF2-40B4-BE49-F238E27FC236}">
                <a16:creationId xmlns:a16="http://schemas.microsoft.com/office/drawing/2014/main" id="{F7198BB3-92CF-3A4C-B6E4-0377B1AF30E4}"/>
              </a:ext>
            </a:extLst>
          </p:cNvPr>
          <p:cNvSpPr>
            <a:spLocks noGrp="1"/>
          </p:cNvSpPr>
          <p:nvPr>
            <p:ph type="body" sz="half" idx="15" hasCustomPrompt="1"/>
          </p:nvPr>
        </p:nvSpPr>
        <p:spPr>
          <a:xfrm>
            <a:off x="2065057" y="2468505"/>
            <a:ext cx="1044411" cy="327401"/>
          </a:xfrm>
        </p:spPr>
        <p:txBody>
          <a:bodyPr>
            <a:noAutofit/>
          </a:bodyPr>
          <a:lstStyle>
            <a:lvl1pPr marL="0" indent="0">
              <a:lnSpc>
                <a:spcPts val="1000"/>
              </a:lnSpc>
              <a:buNone/>
              <a:defRPr sz="2000" b="1" i="0" spc="30" baseline="0">
                <a:solidFill>
                  <a:srgbClr val="D42E12"/>
                </a:solidFill>
                <a:latin typeface="Arial Narrow" panose="020B0604020202020204" pitchFamily="34" charset="0"/>
                <a:cs typeface="Arial Narrow"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heading</a:t>
            </a:r>
          </a:p>
        </p:txBody>
      </p:sp>
      <p:sp>
        <p:nvSpPr>
          <p:cNvPr id="20" name="Text Placeholder 3">
            <a:extLst>
              <a:ext uri="{FF2B5EF4-FFF2-40B4-BE49-F238E27FC236}">
                <a16:creationId xmlns:a16="http://schemas.microsoft.com/office/drawing/2014/main" id="{DC1D089F-12E8-8C41-9C82-4119C67DA431}"/>
              </a:ext>
            </a:extLst>
          </p:cNvPr>
          <p:cNvSpPr>
            <a:spLocks noGrp="1"/>
          </p:cNvSpPr>
          <p:nvPr>
            <p:ph type="body" sz="half" idx="16" hasCustomPrompt="1"/>
          </p:nvPr>
        </p:nvSpPr>
        <p:spPr>
          <a:xfrm>
            <a:off x="4522246" y="3388615"/>
            <a:ext cx="3190366" cy="2481026"/>
          </a:xfrm>
        </p:spPr>
        <p:txBody>
          <a:bodyPr/>
          <a:lstStyle>
            <a:lvl1pPr marL="0" indent="0">
              <a:lnSpc>
                <a:spcPts val="1400"/>
              </a:lnSpc>
              <a:buFontTx/>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p:txBody>
      </p:sp>
      <p:sp>
        <p:nvSpPr>
          <p:cNvPr id="21" name="Text Placeholder 3">
            <a:extLst>
              <a:ext uri="{FF2B5EF4-FFF2-40B4-BE49-F238E27FC236}">
                <a16:creationId xmlns:a16="http://schemas.microsoft.com/office/drawing/2014/main" id="{563C5540-6277-144E-98B1-DA4B848707E8}"/>
              </a:ext>
            </a:extLst>
          </p:cNvPr>
          <p:cNvSpPr>
            <a:spLocks noGrp="1"/>
          </p:cNvSpPr>
          <p:nvPr>
            <p:ph type="body" sz="half" idx="17" hasCustomPrompt="1"/>
          </p:nvPr>
        </p:nvSpPr>
        <p:spPr>
          <a:xfrm>
            <a:off x="5585497" y="2468505"/>
            <a:ext cx="1044411" cy="327401"/>
          </a:xfrm>
        </p:spPr>
        <p:txBody>
          <a:bodyPr>
            <a:noAutofit/>
          </a:bodyPr>
          <a:lstStyle>
            <a:lvl1pPr marL="0" indent="0">
              <a:lnSpc>
                <a:spcPts val="1000"/>
              </a:lnSpc>
              <a:buNone/>
              <a:defRPr sz="2000" b="1" i="0" spc="30" baseline="0">
                <a:solidFill>
                  <a:srgbClr val="D42E12"/>
                </a:solidFill>
                <a:latin typeface="Arial Narrow" panose="020B0604020202020204" pitchFamily="34" charset="0"/>
                <a:cs typeface="Arial Narrow"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heading</a:t>
            </a:r>
          </a:p>
        </p:txBody>
      </p:sp>
      <p:sp>
        <p:nvSpPr>
          <p:cNvPr id="22" name="Text Placeholder 3">
            <a:extLst>
              <a:ext uri="{FF2B5EF4-FFF2-40B4-BE49-F238E27FC236}">
                <a16:creationId xmlns:a16="http://schemas.microsoft.com/office/drawing/2014/main" id="{480004E1-B833-2D44-B5AB-8A045E91A4FE}"/>
              </a:ext>
            </a:extLst>
          </p:cNvPr>
          <p:cNvSpPr>
            <a:spLocks noGrp="1"/>
          </p:cNvSpPr>
          <p:nvPr>
            <p:ph type="body" sz="half" idx="18" hasCustomPrompt="1"/>
          </p:nvPr>
        </p:nvSpPr>
        <p:spPr>
          <a:xfrm>
            <a:off x="8076976" y="3388615"/>
            <a:ext cx="3190366" cy="2481026"/>
          </a:xfrm>
        </p:spPr>
        <p:txBody>
          <a:bodyPr/>
          <a:lstStyle>
            <a:lvl1pPr marL="0" indent="0">
              <a:lnSpc>
                <a:spcPts val="1400"/>
              </a:lnSpc>
              <a:buFontTx/>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p:txBody>
      </p:sp>
      <p:sp>
        <p:nvSpPr>
          <p:cNvPr id="23" name="Text Placeholder 3">
            <a:extLst>
              <a:ext uri="{FF2B5EF4-FFF2-40B4-BE49-F238E27FC236}">
                <a16:creationId xmlns:a16="http://schemas.microsoft.com/office/drawing/2014/main" id="{CFCCAFE4-7AC9-044A-82C8-02C1418AB3AC}"/>
              </a:ext>
            </a:extLst>
          </p:cNvPr>
          <p:cNvSpPr>
            <a:spLocks noGrp="1"/>
          </p:cNvSpPr>
          <p:nvPr>
            <p:ph type="body" sz="half" idx="19" hasCustomPrompt="1"/>
          </p:nvPr>
        </p:nvSpPr>
        <p:spPr>
          <a:xfrm>
            <a:off x="9140227" y="2468505"/>
            <a:ext cx="1044411" cy="327401"/>
          </a:xfrm>
        </p:spPr>
        <p:txBody>
          <a:bodyPr>
            <a:noAutofit/>
          </a:bodyPr>
          <a:lstStyle>
            <a:lvl1pPr marL="0" indent="0">
              <a:lnSpc>
                <a:spcPts val="1000"/>
              </a:lnSpc>
              <a:buNone/>
              <a:defRPr sz="2000" b="1" i="0" spc="30" baseline="0">
                <a:solidFill>
                  <a:srgbClr val="D42E12"/>
                </a:solidFill>
                <a:latin typeface="Arial Narrow" panose="020B0604020202020204" pitchFamily="34" charset="0"/>
                <a:cs typeface="Arial Narrow"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heading</a:t>
            </a:r>
          </a:p>
        </p:txBody>
      </p:sp>
    </p:spTree>
    <p:extLst>
      <p:ext uri="{BB962C8B-B14F-4D97-AF65-F5344CB8AC3E}">
        <p14:creationId xmlns:p14="http://schemas.microsoft.com/office/powerpoint/2010/main" val="40837076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PY_PARAGRAPHS">
    <p:spTree>
      <p:nvGrpSpPr>
        <p:cNvPr id="1" name=""/>
        <p:cNvGrpSpPr/>
        <p:nvPr/>
      </p:nvGrpSpPr>
      <p:grpSpPr>
        <a:xfrm>
          <a:off x="0" y="0"/>
          <a:ext cx="0" cy="0"/>
          <a:chOff x="0" y="0"/>
          <a:chExt cx="0" cy="0"/>
        </a:xfrm>
      </p:grpSpPr>
      <p:pic>
        <p:nvPicPr>
          <p:cNvPr id="12" name="Picture 11" descr="Arrow, funnel chart&#10;&#10;Description automatically generated">
            <a:extLst>
              <a:ext uri="{FF2B5EF4-FFF2-40B4-BE49-F238E27FC236}">
                <a16:creationId xmlns:a16="http://schemas.microsoft.com/office/drawing/2014/main" id="{E0DC06AE-BBD6-6E4D-8E72-C4F27C38B69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3" name="Picture 12" descr="Arrow&#10;&#10;Description automatically generated with medium confidence">
            <a:extLst>
              <a:ext uri="{FF2B5EF4-FFF2-40B4-BE49-F238E27FC236}">
                <a16:creationId xmlns:a16="http://schemas.microsoft.com/office/drawing/2014/main" id="{48C29F6C-7F04-A044-A0A3-FF87075C2D0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16" name="Title 1">
            <a:extLst>
              <a:ext uri="{FF2B5EF4-FFF2-40B4-BE49-F238E27FC236}">
                <a16:creationId xmlns:a16="http://schemas.microsoft.com/office/drawing/2014/main" id="{7F9325BE-0F35-5047-B121-01311C110860}"/>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sp>
        <p:nvSpPr>
          <p:cNvPr id="20" name="Text Placeholder 3">
            <a:extLst>
              <a:ext uri="{FF2B5EF4-FFF2-40B4-BE49-F238E27FC236}">
                <a16:creationId xmlns:a16="http://schemas.microsoft.com/office/drawing/2014/main" id="{87340554-8D4C-9E4D-BB4C-773E92327C95}"/>
              </a:ext>
            </a:extLst>
          </p:cNvPr>
          <p:cNvSpPr>
            <a:spLocks noGrp="1"/>
          </p:cNvSpPr>
          <p:nvPr>
            <p:ph type="body" sz="half" idx="15" hasCustomPrompt="1"/>
          </p:nvPr>
        </p:nvSpPr>
        <p:spPr>
          <a:xfrm>
            <a:off x="404629" y="1768419"/>
            <a:ext cx="5268686"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21" name="Text Placeholder 3">
            <a:extLst>
              <a:ext uri="{FF2B5EF4-FFF2-40B4-BE49-F238E27FC236}">
                <a16:creationId xmlns:a16="http://schemas.microsoft.com/office/drawing/2014/main" id="{42AAEA6D-97C6-C849-B489-FC8B6E3D2DF7}"/>
              </a:ext>
            </a:extLst>
          </p:cNvPr>
          <p:cNvSpPr>
            <a:spLocks noGrp="1"/>
          </p:cNvSpPr>
          <p:nvPr>
            <p:ph type="body" sz="half" idx="16" hasCustomPrompt="1"/>
          </p:nvPr>
        </p:nvSpPr>
        <p:spPr>
          <a:xfrm>
            <a:off x="6214181" y="1768419"/>
            <a:ext cx="5268686"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14" name="Slide Number Placeholder 5">
            <a:extLst>
              <a:ext uri="{FF2B5EF4-FFF2-40B4-BE49-F238E27FC236}">
                <a16:creationId xmlns:a16="http://schemas.microsoft.com/office/drawing/2014/main" id="{337516FB-57B8-164F-8FE1-E140A46379AE}"/>
              </a:ext>
            </a:extLst>
          </p:cNvPr>
          <p:cNvSpPr>
            <a:spLocks noGrp="1"/>
          </p:cNvSpPr>
          <p:nvPr>
            <p:ph type="sldNum" sz="quarter" idx="4"/>
          </p:nvPr>
        </p:nvSpPr>
        <p:spPr>
          <a:xfrm>
            <a:off x="8739667" y="6381530"/>
            <a:ext cx="2743200" cy="365125"/>
          </a:xfrm>
          <a:prstGeom prst="rect">
            <a:avLst/>
          </a:prstGeom>
        </p:spPr>
        <p:txBody>
          <a:bodyPr vert="horz" lIns="91440" tIns="45720" rIns="91440" bIns="45720" rtlCol="0" anchor="ctr"/>
          <a:lstStyle>
            <a:lvl1pPr algn="r">
              <a:defRPr sz="800">
                <a:solidFill>
                  <a:schemeClr val="tx1"/>
                </a:solidFill>
                <a:latin typeface="Arial" panose="020B0604020202020204" pitchFamily="34" charset="0"/>
                <a:cs typeface="Arial" panose="020B0604020202020204" pitchFamily="34" charset="0"/>
              </a:defRPr>
            </a:lvl1pPr>
          </a:lstStyle>
          <a:p>
            <a:fld id="{DDAFD0C9-8BC0-5147-B74C-78C6A0363883}" type="slidenum">
              <a:rPr lang="en-ZA" smtClean="0"/>
              <a:pPr/>
              <a:t>‹#›</a:t>
            </a:fld>
            <a:endParaRPr lang="en-ZA"/>
          </a:p>
        </p:txBody>
      </p:sp>
      <p:sp>
        <p:nvSpPr>
          <p:cNvPr id="11" name="Text Placeholder 3">
            <a:extLst>
              <a:ext uri="{FF2B5EF4-FFF2-40B4-BE49-F238E27FC236}">
                <a16:creationId xmlns:a16="http://schemas.microsoft.com/office/drawing/2014/main" id="{8BAC0E85-683A-BC42-AA2B-393FE4407A44}"/>
              </a:ext>
            </a:extLst>
          </p:cNvPr>
          <p:cNvSpPr>
            <a:spLocks noGrp="1"/>
          </p:cNvSpPr>
          <p:nvPr>
            <p:ph type="body" sz="half" idx="2" hasCustomPrompt="1"/>
          </p:nvPr>
        </p:nvSpPr>
        <p:spPr>
          <a:xfrm>
            <a:off x="997527" y="2378019"/>
            <a:ext cx="4675788" cy="3811588"/>
          </a:xfrm>
        </p:spPr>
        <p:txBody>
          <a:bodyPr/>
          <a:lstStyle>
            <a:lvl1pPr marL="171450" indent="-171450">
              <a:lnSpc>
                <a:spcPts val="1400"/>
              </a:lnSpc>
              <a:buFontTx/>
              <a:buBlip>
                <a:blip r:embed="rId4"/>
              </a:buBlip>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a:p>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pretium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dignissim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suspendisse</a:t>
            </a:r>
            <a:r>
              <a:rPr lang="en-ZA" sz="1200">
                <a:latin typeface="Arial" panose="020B0604020202020204" pitchFamily="34" charset="0"/>
                <a:cs typeface="Arial" panose="020B0604020202020204" pitchFamily="34" charset="0"/>
              </a:rPr>
              <a:t> in.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pharetra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suscipit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imperdiet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fermentum </a:t>
            </a:r>
            <a:r>
              <a:rPr lang="en-ZA" sz="1200" err="1">
                <a:latin typeface="Arial" panose="020B0604020202020204" pitchFamily="34" charset="0"/>
                <a:cs typeface="Arial" panose="020B0604020202020204" pitchFamily="34" charset="0"/>
              </a:rPr>
              <a:t>leo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Consequat</a:t>
            </a:r>
            <a:r>
              <a:rPr lang="en-ZA" sz="1200">
                <a:latin typeface="Arial" panose="020B0604020202020204" pitchFamily="34" charset="0"/>
                <a:cs typeface="Arial" panose="020B0604020202020204" pitchFamily="34" charset="0"/>
              </a:rPr>
              <a:t> ac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donec</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Urna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sagittis</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p>
        </p:txBody>
      </p:sp>
      <p:sp>
        <p:nvSpPr>
          <p:cNvPr id="15" name="Text Placeholder 3">
            <a:extLst>
              <a:ext uri="{FF2B5EF4-FFF2-40B4-BE49-F238E27FC236}">
                <a16:creationId xmlns:a16="http://schemas.microsoft.com/office/drawing/2014/main" id="{B04BBECB-D9E4-0F4A-9E2A-FD88264D0C7A}"/>
              </a:ext>
            </a:extLst>
          </p:cNvPr>
          <p:cNvSpPr>
            <a:spLocks noGrp="1"/>
          </p:cNvSpPr>
          <p:nvPr>
            <p:ph type="body" sz="half" idx="14" hasCustomPrompt="1"/>
          </p:nvPr>
        </p:nvSpPr>
        <p:spPr>
          <a:xfrm>
            <a:off x="6923314" y="2378019"/>
            <a:ext cx="4559553" cy="3811588"/>
          </a:xfrm>
        </p:spPr>
        <p:txBody>
          <a:bodyPr/>
          <a:lstStyle>
            <a:lvl1pPr marL="171450" indent="-171450">
              <a:lnSpc>
                <a:spcPts val="1400"/>
              </a:lnSpc>
              <a:buFontTx/>
              <a:buBlip>
                <a:blip r:embed="rId4"/>
              </a:buBlip>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habitant.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duis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tristique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sollicitudin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cursus </a:t>
            </a:r>
            <a:r>
              <a:rPr lang="en-ZA" sz="1200" err="1">
                <a:latin typeface="Arial" panose="020B0604020202020204" pitchFamily="34" charset="0"/>
                <a:cs typeface="Arial" panose="020B0604020202020204" pitchFamily="34" charset="0"/>
              </a:rPr>
              <a:t>mattis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 </a:t>
            </a:r>
            <a:r>
              <a:rPr lang="en-ZA" sz="1200" err="1">
                <a:latin typeface="Arial" panose="020B0604020202020204" pitchFamily="34" charset="0"/>
                <a:cs typeface="Arial" panose="020B0604020202020204" pitchFamily="34" charset="0"/>
              </a:rPr>
              <a:t>iaculis</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Penatibus</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magnis</a:t>
            </a:r>
            <a:r>
              <a:rPr lang="en-ZA" sz="1200">
                <a:latin typeface="Arial" panose="020B0604020202020204" pitchFamily="34" charset="0"/>
                <a:cs typeface="Arial" panose="020B0604020202020204" pitchFamily="34" charset="0"/>
              </a:rPr>
              <a:t> dis parturient </a:t>
            </a:r>
            <a:r>
              <a:rPr lang="en-ZA" sz="1200" err="1">
                <a:latin typeface="Arial" panose="020B0604020202020204" pitchFamily="34" charset="0"/>
                <a:cs typeface="Arial" panose="020B0604020202020204" pitchFamily="34" charset="0"/>
              </a:rPr>
              <a:t>montes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nascetur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ridiculus</a:t>
            </a:r>
            <a:r>
              <a:rPr lang="en-ZA" sz="1200">
                <a:latin typeface="Arial" panose="020B0604020202020204" pitchFamily="34" charset="0"/>
                <a:cs typeface="Arial" panose="020B0604020202020204" pitchFamily="34" charset="0"/>
              </a:rPr>
              <a:t> mus.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viverra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maecenas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magnis</a:t>
            </a:r>
            <a:r>
              <a:rPr lang="en-ZA" sz="1200">
                <a:latin typeface="Arial" panose="020B0604020202020204" pitchFamily="34" charset="0"/>
                <a:cs typeface="Arial" panose="020B0604020202020204" pitchFamily="34" charset="0"/>
              </a:rPr>
              <a:t> dis parturient </a:t>
            </a:r>
            <a:r>
              <a:rPr lang="en-ZA" sz="1200" err="1">
                <a:latin typeface="Arial" panose="020B0604020202020204" pitchFamily="34" charset="0"/>
                <a:cs typeface="Arial" panose="020B0604020202020204" pitchFamily="34" charset="0"/>
              </a:rPr>
              <a:t>montes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nascetur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ridiculus</a:t>
            </a:r>
            <a:r>
              <a:rPr lang="en-ZA" sz="1200">
                <a:latin typeface="Arial" panose="020B0604020202020204" pitchFamily="34" charset="0"/>
                <a:cs typeface="Arial" panose="020B0604020202020204" pitchFamily="34" charset="0"/>
              </a:rPr>
              <a:t> mus.</a:t>
            </a:r>
          </a:p>
          <a:p>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ac auctor </a:t>
            </a:r>
            <a:r>
              <a:rPr lang="en-ZA" sz="1200" err="1">
                <a:latin typeface="Arial" panose="020B0604020202020204" pitchFamily="34" charset="0"/>
                <a:cs typeface="Arial" panose="020B0604020202020204" pitchFamily="34" charset="0"/>
              </a:rPr>
              <a:t>augue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augue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neque</a:t>
            </a:r>
            <a:r>
              <a:rPr lang="en-ZA" sz="1200">
                <a:latin typeface="Arial" panose="020B0604020202020204" pitchFamily="34" charset="0"/>
                <a:cs typeface="Arial" panose="020B0604020202020204" pitchFamily="34" charset="0"/>
              </a:rPr>
              <a:t> gravida in fermentum. Morbi </a:t>
            </a:r>
            <a:r>
              <a:rPr lang="en-ZA" sz="1200" err="1">
                <a:latin typeface="Arial" panose="020B0604020202020204" pitchFamily="34" charset="0"/>
                <a:cs typeface="Arial" panose="020B0604020202020204" pitchFamily="34" charset="0"/>
              </a:rPr>
              <a:t>tincidunt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ornare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massa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 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Leo in vitae </a:t>
            </a:r>
            <a:r>
              <a:rPr lang="en-ZA" sz="1200" err="1">
                <a:latin typeface="Arial" panose="020B0604020202020204" pitchFamily="34" charset="0"/>
                <a:cs typeface="Arial" panose="020B0604020202020204" pitchFamily="34" charset="0"/>
              </a:rPr>
              <a:t>turpis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massa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tempus. </a:t>
            </a:r>
            <a:r>
              <a:rPr lang="en-ZA" sz="1200" err="1">
                <a:latin typeface="Arial" panose="020B0604020202020204" pitchFamily="34" charset="0"/>
                <a:cs typeface="Arial" panose="020B0604020202020204" pitchFamily="34" charset="0"/>
              </a:rPr>
              <a:t>Aliquam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etiam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erat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in dictum non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Mattis </a:t>
            </a:r>
            <a:r>
              <a:rPr lang="en-ZA" sz="1200" err="1">
                <a:latin typeface="Arial" panose="020B0604020202020204" pitchFamily="34" charset="0"/>
                <a:cs typeface="Arial" panose="020B0604020202020204" pitchFamily="34" charset="0"/>
              </a:rPr>
              <a:t>ullamcorper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ullamcorper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Libero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cras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ornare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 Ipsum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vitae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nec</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viverra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viverra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cras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mattis</a:t>
            </a:r>
            <a:r>
              <a:rPr lang="en-ZA" sz="1200">
                <a:latin typeface="Arial" panose="020B0604020202020204" pitchFamily="34" charset="0"/>
                <a:cs typeface="Arial" panose="020B0604020202020204" pitchFamily="34" charset="0"/>
              </a:rPr>
              <a:t>. </a:t>
            </a:r>
          </a:p>
        </p:txBody>
      </p:sp>
      <p:pic>
        <p:nvPicPr>
          <p:cNvPr id="22" name="Picture 21">
            <a:extLst>
              <a:ext uri="{FF2B5EF4-FFF2-40B4-BE49-F238E27FC236}">
                <a16:creationId xmlns:a16="http://schemas.microsoft.com/office/drawing/2014/main" id="{C9F8DD7C-8A11-864B-B219-4D73C3436668}"/>
              </a:ext>
            </a:extLst>
          </p:cNvPr>
          <p:cNvPicPr>
            <a:picLocks noChangeAspect="1"/>
          </p:cNvPicPr>
          <p:nvPr userDrawn="1"/>
        </p:nvPicPr>
        <p:blipFill>
          <a:blip r:embed="rId5"/>
          <a:stretch>
            <a:fillRect/>
          </a:stretch>
        </p:blipFill>
        <p:spPr>
          <a:xfrm>
            <a:off x="396875" y="2531121"/>
            <a:ext cx="511209" cy="494654"/>
          </a:xfrm>
          <a:prstGeom prst="rect">
            <a:avLst/>
          </a:prstGeom>
        </p:spPr>
      </p:pic>
      <p:pic>
        <p:nvPicPr>
          <p:cNvPr id="23" name="Picture 22">
            <a:extLst>
              <a:ext uri="{FF2B5EF4-FFF2-40B4-BE49-F238E27FC236}">
                <a16:creationId xmlns:a16="http://schemas.microsoft.com/office/drawing/2014/main" id="{57F1149A-2F5D-2344-9182-99861907276A}"/>
              </a:ext>
            </a:extLst>
          </p:cNvPr>
          <p:cNvPicPr>
            <a:picLocks noChangeAspect="1"/>
          </p:cNvPicPr>
          <p:nvPr userDrawn="1"/>
        </p:nvPicPr>
        <p:blipFill>
          <a:blip r:embed="rId5"/>
          <a:stretch>
            <a:fillRect/>
          </a:stretch>
        </p:blipFill>
        <p:spPr>
          <a:xfrm>
            <a:off x="6190252" y="2531121"/>
            <a:ext cx="511209" cy="494654"/>
          </a:xfrm>
          <a:prstGeom prst="rect">
            <a:avLst/>
          </a:prstGeom>
        </p:spPr>
      </p:pic>
    </p:spTree>
    <p:extLst>
      <p:ext uri="{BB962C8B-B14F-4D97-AF65-F5344CB8AC3E}">
        <p14:creationId xmlns:p14="http://schemas.microsoft.com/office/powerpoint/2010/main" val="7640269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PY_PARAGRAPHS">
    <p:spTree>
      <p:nvGrpSpPr>
        <p:cNvPr id="1" name=""/>
        <p:cNvGrpSpPr/>
        <p:nvPr/>
      </p:nvGrpSpPr>
      <p:grpSpPr>
        <a:xfrm>
          <a:off x="0" y="0"/>
          <a:ext cx="0" cy="0"/>
          <a:chOff x="0" y="0"/>
          <a:chExt cx="0" cy="0"/>
        </a:xfrm>
      </p:grpSpPr>
      <p:pic>
        <p:nvPicPr>
          <p:cNvPr id="12" name="Picture 11" descr="Arrow, funnel chart&#10;&#10;Description automatically generated">
            <a:extLst>
              <a:ext uri="{FF2B5EF4-FFF2-40B4-BE49-F238E27FC236}">
                <a16:creationId xmlns:a16="http://schemas.microsoft.com/office/drawing/2014/main" id="{E0DC06AE-BBD6-6E4D-8E72-C4F27C38B69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3" name="Picture 12" descr="Arrow&#10;&#10;Description automatically generated with medium confidence">
            <a:extLst>
              <a:ext uri="{FF2B5EF4-FFF2-40B4-BE49-F238E27FC236}">
                <a16:creationId xmlns:a16="http://schemas.microsoft.com/office/drawing/2014/main" id="{48C29F6C-7F04-A044-A0A3-FF87075C2D0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16" name="Title 1">
            <a:extLst>
              <a:ext uri="{FF2B5EF4-FFF2-40B4-BE49-F238E27FC236}">
                <a16:creationId xmlns:a16="http://schemas.microsoft.com/office/drawing/2014/main" id="{7F9325BE-0F35-5047-B121-01311C110860}"/>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sp>
        <p:nvSpPr>
          <p:cNvPr id="17" name="Text Placeholder 3">
            <a:extLst>
              <a:ext uri="{FF2B5EF4-FFF2-40B4-BE49-F238E27FC236}">
                <a16:creationId xmlns:a16="http://schemas.microsoft.com/office/drawing/2014/main" id="{01B0EF18-D73E-EE46-9665-1BAF991376F4}"/>
              </a:ext>
            </a:extLst>
          </p:cNvPr>
          <p:cNvSpPr>
            <a:spLocks noGrp="1"/>
          </p:cNvSpPr>
          <p:nvPr>
            <p:ph type="body" sz="half" idx="2" hasCustomPrompt="1"/>
          </p:nvPr>
        </p:nvSpPr>
        <p:spPr>
          <a:xfrm>
            <a:off x="404629" y="2378019"/>
            <a:ext cx="5268686" cy="3811588"/>
          </a:xfrm>
        </p:spPr>
        <p:txBody>
          <a:bodyPr/>
          <a:lstStyle>
            <a:lvl1pPr marL="171450" indent="-171450">
              <a:lnSpc>
                <a:spcPts val="1400"/>
              </a:lnSpc>
              <a:buFontTx/>
              <a:buBlip>
                <a:blip r:embed="rId4"/>
              </a:buBlip>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a:p>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pretium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dignissim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suspendisse</a:t>
            </a:r>
            <a:r>
              <a:rPr lang="en-ZA" sz="1200">
                <a:latin typeface="Arial" panose="020B0604020202020204" pitchFamily="34" charset="0"/>
                <a:cs typeface="Arial" panose="020B0604020202020204" pitchFamily="34" charset="0"/>
              </a:rPr>
              <a:t> in.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pharetra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suscipit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imperdiet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fermentum </a:t>
            </a:r>
            <a:r>
              <a:rPr lang="en-ZA" sz="1200" err="1">
                <a:latin typeface="Arial" panose="020B0604020202020204" pitchFamily="34" charset="0"/>
                <a:cs typeface="Arial" panose="020B0604020202020204" pitchFamily="34" charset="0"/>
              </a:rPr>
              <a:t>leo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Consequat</a:t>
            </a:r>
            <a:r>
              <a:rPr lang="en-ZA" sz="1200">
                <a:latin typeface="Arial" panose="020B0604020202020204" pitchFamily="34" charset="0"/>
                <a:cs typeface="Arial" panose="020B0604020202020204" pitchFamily="34" charset="0"/>
              </a:rPr>
              <a:t> ac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donec</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Urna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sagittis</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p>
        </p:txBody>
      </p:sp>
      <p:sp>
        <p:nvSpPr>
          <p:cNvPr id="18" name="Text Placeholder 3">
            <a:extLst>
              <a:ext uri="{FF2B5EF4-FFF2-40B4-BE49-F238E27FC236}">
                <a16:creationId xmlns:a16="http://schemas.microsoft.com/office/drawing/2014/main" id="{EB5C51EE-2BAC-D54C-BB01-0B4C36C4B165}"/>
              </a:ext>
            </a:extLst>
          </p:cNvPr>
          <p:cNvSpPr>
            <a:spLocks noGrp="1"/>
          </p:cNvSpPr>
          <p:nvPr>
            <p:ph type="body" sz="half" idx="14" hasCustomPrompt="1"/>
          </p:nvPr>
        </p:nvSpPr>
        <p:spPr>
          <a:xfrm>
            <a:off x="6214181" y="2378019"/>
            <a:ext cx="5268686" cy="3811588"/>
          </a:xfrm>
        </p:spPr>
        <p:txBody>
          <a:bodyPr/>
          <a:lstStyle>
            <a:lvl1pPr marL="171450" indent="-171450">
              <a:lnSpc>
                <a:spcPts val="1400"/>
              </a:lnSpc>
              <a:buFontTx/>
              <a:buBlip>
                <a:blip r:embed="rId4"/>
              </a:buBlip>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habitant.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duis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tristique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sollicitudin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cursus </a:t>
            </a:r>
            <a:r>
              <a:rPr lang="en-ZA" sz="1200" err="1">
                <a:latin typeface="Arial" panose="020B0604020202020204" pitchFamily="34" charset="0"/>
                <a:cs typeface="Arial" panose="020B0604020202020204" pitchFamily="34" charset="0"/>
              </a:rPr>
              <a:t>mattis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 </a:t>
            </a:r>
            <a:r>
              <a:rPr lang="en-ZA" sz="1200" err="1">
                <a:latin typeface="Arial" panose="020B0604020202020204" pitchFamily="34" charset="0"/>
                <a:cs typeface="Arial" panose="020B0604020202020204" pitchFamily="34" charset="0"/>
              </a:rPr>
              <a:t>iaculis</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Penatibus</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magnis</a:t>
            </a:r>
            <a:r>
              <a:rPr lang="en-ZA" sz="1200">
                <a:latin typeface="Arial" panose="020B0604020202020204" pitchFamily="34" charset="0"/>
                <a:cs typeface="Arial" panose="020B0604020202020204" pitchFamily="34" charset="0"/>
              </a:rPr>
              <a:t> dis parturient </a:t>
            </a:r>
            <a:r>
              <a:rPr lang="en-ZA" sz="1200" err="1">
                <a:latin typeface="Arial" panose="020B0604020202020204" pitchFamily="34" charset="0"/>
                <a:cs typeface="Arial" panose="020B0604020202020204" pitchFamily="34" charset="0"/>
              </a:rPr>
              <a:t>montes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nascetur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ridiculus</a:t>
            </a:r>
            <a:r>
              <a:rPr lang="en-ZA" sz="1200">
                <a:latin typeface="Arial" panose="020B0604020202020204" pitchFamily="34" charset="0"/>
                <a:cs typeface="Arial" panose="020B0604020202020204" pitchFamily="34" charset="0"/>
              </a:rPr>
              <a:t> mus.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viverra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maecenas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magnis</a:t>
            </a:r>
            <a:r>
              <a:rPr lang="en-ZA" sz="1200">
                <a:latin typeface="Arial" panose="020B0604020202020204" pitchFamily="34" charset="0"/>
                <a:cs typeface="Arial" panose="020B0604020202020204" pitchFamily="34" charset="0"/>
              </a:rPr>
              <a:t> dis parturient </a:t>
            </a:r>
            <a:r>
              <a:rPr lang="en-ZA" sz="1200" err="1">
                <a:latin typeface="Arial" panose="020B0604020202020204" pitchFamily="34" charset="0"/>
                <a:cs typeface="Arial" panose="020B0604020202020204" pitchFamily="34" charset="0"/>
              </a:rPr>
              <a:t>montes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nascetur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ridiculus</a:t>
            </a:r>
            <a:r>
              <a:rPr lang="en-ZA" sz="1200">
                <a:latin typeface="Arial" panose="020B0604020202020204" pitchFamily="34" charset="0"/>
                <a:cs typeface="Arial" panose="020B0604020202020204" pitchFamily="34" charset="0"/>
              </a:rPr>
              <a:t> mus.</a:t>
            </a:r>
          </a:p>
          <a:p>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ac auctor </a:t>
            </a:r>
            <a:r>
              <a:rPr lang="en-ZA" sz="1200" err="1">
                <a:latin typeface="Arial" panose="020B0604020202020204" pitchFamily="34" charset="0"/>
                <a:cs typeface="Arial" panose="020B0604020202020204" pitchFamily="34" charset="0"/>
              </a:rPr>
              <a:t>augue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augue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neque</a:t>
            </a:r>
            <a:r>
              <a:rPr lang="en-ZA" sz="1200">
                <a:latin typeface="Arial" panose="020B0604020202020204" pitchFamily="34" charset="0"/>
                <a:cs typeface="Arial" panose="020B0604020202020204" pitchFamily="34" charset="0"/>
              </a:rPr>
              <a:t> gravida in fermentum. Morbi </a:t>
            </a:r>
            <a:r>
              <a:rPr lang="en-ZA" sz="1200" err="1">
                <a:latin typeface="Arial" panose="020B0604020202020204" pitchFamily="34" charset="0"/>
                <a:cs typeface="Arial" panose="020B0604020202020204" pitchFamily="34" charset="0"/>
              </a:rPr>
              <a:t>tincidunt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ornare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massa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 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Leo in vitae </a:t>
            </a:r>
            <a:r>
              <a:rPr lang="en-ZA" sz="1200" err="1">
                <a:latin typeface="Arial" panose="020B0604020202020204" pitchFamily="34" charset="0"/>
                <a:cs typeface="Arial" panose="020B0604020202020204" pitchFamily="34" charset="0"/>
              </a:rPr>
              <a:t>turpis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massa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tempus. </a:t>
            </a:r>
            <a:r>
              <a:rPr lang="en-ZA" sz="1200" err="1">
                <a:latin typeface="Arial" panose="020B0604020202020204" pitchFamily="34" charset="0"/>
                <a:cs typeface="Arial" panose="020B0604020202020204" pitchFamily="34" charset="0"/>
              </a:rPr>
              <a:t>Aliquam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etiam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erat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in dictum non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Mattis </a:t>
            </a:r>
            <a:r>
              <a:rPr lang="en-ZA" sz="1200" err="1">
                <a:latin typeface="Arial" panose="020B0604020202020204" pitchFamily="34" charset="0"/>
                <a:cs typeface="Arial" panose="020B0604020202020204" pitchFamily="34" charset="0"/>
              </a:rPr>
              <a:t>ullamcorper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ullamcorper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Libero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cras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ornare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 Ipsum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vitae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nec</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viverra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viverra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cras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mattis</a:t>
            </a:r>
            <a:r>
              <a:rPr lang="en-ZA" sz="1200">
                <a:latin typeface="Arial" panose="020B0604020202020204" pitchFamily="34" charset="0"/>
                <a:cs typeface="Arial" panose="020B0604020202020204" pitchFamily="34" charset="0"/>
              </a:rPr>
              <a:t>. </a:t>
            </a:r>
          </a:p>
        </p:txBody>
      </p:sp>
      <p:sp>
        <p:nvSpPr>
          <p:cNvPr id="20" name="Text Placeholder 3">
            <a:extLst>
              <a:ext uri="{FF2B5EF4-FFF2-40B4-BE49-F238E27FC236}">
                <a16:creationId xmlns:a16="http://schemas.microsoft.com/office/drawing/2014/main" id="{87340554-8D4C-9E4D-BB4C-773E92327C95}"/>
              </a:ext>
            </a:extLst>
          </p:cNvPr>
          <p:cNvSpPr>
            <a:spLocks noGrp="1"/>
          </p:cNvSpPr>
          <p:nvPr>
            <p:ph type="body" sz="half" idx="15" hasCustomPrompt="1"/>
          </p:nvPr>
        </p:nvSpPr>
        <p:spPr>
          <a:xfrm>
            <a:off x="404629" y="1768419"/>
            <a:ext cx="5268686"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21" name="Text Placeholder 3">
            <a:extLst>
              <a:ext uri="{FF2B5EF4-FFF2-40B4-BE49-F238E27FC236}">
                <a16:creationId xmlns:a16="http://schemas.microsoft.com/office/drawing/2014/main" id="{42AAEA6D-97C6-C849-B489-FC8B6E3D2DF7}"/>
              </a:ext>
            </a:extLst>
          </p:cNvPr>
          <p:cNvSpPr>
            <a:spLocks noGrp="1"/>
          </p:cNvSpPr>
          <p:nvPr>
            <p:ph type="body" sz="half" idx="16" hasCustomPrompt="1"/>
          </p:nvPr>
        </p:nvSpPr>
        <p:spPr>
          <a:xfrm>
            <a:off x="6214181" y="1768419"/>
            <a:ext cx="5268686"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14" name="Slide Number Placeholder 5">
            <a:extLst>
              <a:ext uri="{FF2B5EF4-FFF2-40B4-BE49-F238E27FC236}">
                <a16:creationId xmlns:a16="http://schemas.microsoft.com/office/drawing/2014/main" id="{337516FB-57B8-164F-8FE1-E140A46379AE}"/>
              </a:ext>
            </a:extLst>
          </p:cNvPr>
          <p:cNvSpPr>
            <a:spLocks noGrp="1"/>
          </p:cNvSpPr>
          <p:nvPr>
            <p:ph type="sldNum" sz="quarter" idx="4"/>
          </p:nvPr>
        </p:nvSpPr>
        <p:spPr>
          <a:xfrm>
            <a:off x="8739667" y="6381530"/>
            <a:ext cx="2743200" cy="365125"/>
          </a:xfrm>
          <a:prstGeom prst="rect">
            <a:avLst/>
          </a:prstGeom>
        </p:spPr>
        <p:txBody>
          <a:bodyPr vert="horz" lIns="91440" tIns="45720" rIns="91440" bIns="45720" rtlCol="0" anchor="ctr"/>
          <a:lstStyle>
            <a:lvl1pPr algn="r">
              <a:defRPr sz="800">
                <a:solidFill>
                  <a:schemeClr val="tx1"/>
                </a:solidFill>
                <a:latin typeface="Arial" panose="020B0604020202020204" pitchFamily="34" charset="0"/>
                <a:cs typeface="Arial" panose="020B0604020202020204" pitchFamily="34" charset="0"/>
              </a:defRPr>
            </a:lvl1pPr>
          </a:lstStyle>
          <a:p>
            <a:fld id="{DDAFD0C9-8BC0-5147-B74C-78C6A0363883}" type="slidenum">
              <a:rPr lang="en-ZA" smtClean="0"/>
              <a:pPr/>
              <a:t>‹#›</a:t>
            </a:fld>
            <a:endParaRPr lang="en-ZA"/>
          </a:p>
        </p:txBody>
      </p:sp>
    </p:spTree>
    <p:extLst>
      <p:ext uri="{BB962C8B-B14F-4D97-AF65-F5344CB8AC3E}">
        <p14:creationId xmlns:p14="http://schemas.microsoft.com/office/powerpoint/2010/main" val="9144820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PY">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A152F2-A2CC-5743-960D-B215E594CD2C}"/>
              </a:ext>
            </a:extLst>
          </p:cNvPr>
          <p:cNvSpPr txBox="1"/>
          <p:nvPr userDrawn="1"/>
        </p:nvSpPr>
        <p:spPr>
          <a:xfrm>
            <a:off x="1965434" y="-882869"/>
            <a:ext cx="0" cy="0"/>
          </a:xfrm>
          <a:prstGeom prst="rect">
            <a:avLst/>
          </a:prstGeom>
          <a:noFill/>
        </p:spPr>
        <p:txBody>
          <a:bodyPr wrap="none" rtlCol="0">
            <a:noAutofit/>
          </a:bodyPr>
          <a:lstStyle/>
          <a:p>
            <a:pPr algn="l"/>
            <a:endParaRPr lang="en-US"/>
          </a:p>
        </p:txBody>
      </p:sp>
      <p:sp>
        <p:nvSpPr>
          <p:cNvPr id="3" name="TextBox 2">
            <a:extLst>
              <a:ext uri="{FF2B5EF4-FFF2-40B4-BE49-F238E27FC236}">
                <a16:creationId xmlns:a16="http://schemas.microsoft.com/office/drawing/2014/main" id="{4EC83089-3A30-5A40-B530-607FAEFBA67E}"/>
              </a:ext>
            </a:extLst>
          </p:cNvPr>
          <p:cNvSpPr txBox="1"/>
          <p:nvPr userDrawn="1"/>
        </p:nvSpPr>
        <p:spPr>
          <a:xfrm>
            <a:off x="3343275" y="-842963"/>
            <a:ext cx="0" cy="0"/>
          </a:xfrm>
          <a:prstGeom prst="rect">
            <a:avLst/>
          </a:prstGeom>
          <a:noFill/>
        </p:spPr>
        <p:txBody>
          <a:bodyPr wrap="none" rtlCol="0">
            <a:noAutofit/>
          </a:bodyPr>
          <a:lstStyle/>
          <a:p>
            <a:pPr algn="l"/>
            <a:endParaRPr lang="en-US"/>
          </a:p>
        </p:txBody>
      </p:sp>
      <p:sp>
        <p:nvSpPr>
          <p:cNvPr id="10" name="Text Placeholder 3">
            <a:extLst>
              <a:ext uri="{FF2B5EF4-FFF2-40B4-BE49-F238E27FC236}">
                <a16:creationId xmlns:a16="http://schemas.microsoft.com/office/drawing/2014/main" id="{7CAF83C4-7EF0-B44E-A9F6-CD9545BDD84F}"/>
              </a:ext>
            </a:extLst>
          </p:cNvPr>
          <p:cNvSpPr>
            <a:spLocks noGrp="1"/>
          </p:cNvSpPr>
          <p:nvPr>
            <p:ph type="body" sz="half" idx="2" hasCustomPrompt="1"/>
          </p:nvPr>
        </p:nvSpPr>
        <p:spPr>
          <a:xfrm>
            <a:off x="404628" y="1978599"/>
            <a:ext cx="9980343" cy="4036884"/>
          </a:xfrm>
        </p:spPr>
        <p:txBody>
          <a:bodyPr/>
          <a:lstStyle>
            <a:lvl1pPr marL="0" indent="0">
              <a:lnSpc>
                <a:spcPts val="1400"/>
              </a:lnSpc>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a:p>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pretium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dignissim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suspendisse</a:t>
            </a:r>
            <a:r>
              <a:rPr lang="en-ZA" sz="1200">
                <a:latin typeface="Arial" panose="020B0604020202020204" pitchFamily="34" charset="0"/>
                <a:cs typeface="Arial" panose="020B0604020202020204" pitchFamily="34" charset="0"/>
              </a:rPr>
              <a:t> in.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pharetra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suscipit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imperdiet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fermentum </a:t>
            </a:r>
            <a:r>
              <a:rPr lang="en-ZA" sz="1200" err="1">
                <a:latin typeface="Arial" panose="020B0604020202020204" pitchFamily="34" charset="0"/>
                <a:cs typeface="Arial" panose="020B0604020202020204" pitchFamily="34" charset="0"/>
              </a:rPr>
              <a:t>leo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Consequat</a:t>
            </a:r>
            <a:r>
              <a:rPr lang="en-ZA" sz="1200">
                <a:latin typeface="Arial" panose="020B0604020202020204" pitchFamily="34" charset="0"/>
                <a:cs typeface="Arial" panose="020B0604020202020204" pitchFamily="34" charset="0"/>
              </a:rPr>
              <a:t> ac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donec</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Urna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sagittis</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p>
        </p:txBody>
      </p:sp>
      <p:pic>
        <p:nvPicPr>
          <p:cNvPr id="11" name="Picture 10" descr="Arrow, funnel chart&#10;&#10;Description automatically generated">
            <a:extLst>
              <a:ext uri="{FF2B5EF4-FFF2-40B4-BE49-F238E27FC236}">
                <a16:creationId xmlns:a16="http://schemas.microsoft.com/office/drawing/2014/main" id="{2D8E92D5-915C-6D47-8333-5119CE95CE0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2" name="Picture 11" descr="Arrow&#10;&#10;Description automatically generated with medium confidence">
            <a:extLst>
              <a:ext uri="{FF2B5EF4-FFF2-40B4-BE49-F238E27FC236}">
                <a16:creationId xmlns:a16="http://schemas.microsoft.com/office/drawing/2014/main" id="{6B2B6B72-3093-874F-90AF-367BA5AE829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9" name="Title 1">
            <a:extLst>
              <a:ext uri="{FF2B5EF4-FFF2-40B4-BE49-F238E27FC236}">
                <a16:creationId xmlns:a16="http://schemas.microsoft.com/office/drawing/2014/main" id="{14C25450-573F-DE44-A8CC-2B31B6FF8CEB}"/>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sp>
        <p:nvSpPr>
          <p:cNvPr id="13" name="Slide Number Placeholder 5">
            <a:extLst>
              <a:ext uri="{FF2B5EF4-FFF2-40B4-BE49-F238E27FC236}">
                <a16:creationId xmlns:a16="http://schemas.microsoft.com/office/drawing/2014/main" id="{89469E39-899B-A541-807D-6E514AF153CC}"/>
              </a:ext>
            </a:extLst>
          </p:cNvPr>
          <p:cNvSpPr>
            <a:spLocks noGrp="1"/>
          </p:cNvSpPr>
          <p:nvPr>
            <p:ph type="sldNum" sz="quarter" idx="4"/>
          </p:nvPr>
        </p:nvSpPr>
        <p:spPr>
          <a:xfrm>
            <a:off x="8739667" y="6381530"/>
            <a:ext cx="2743200" cy="365125"/>
          </a:xfrm>
          <a:prstGeom prst="rect">
            <a:avLst/>
          </a:prstGeom>
        </p:spPr>
        <p:txBody>
          <a:bodyPr vert="horz" lIns="91440" tIns="45720" rIns="91440" bIns="45720" rtlCol="0" anchor="ctr"/>
          <a:lstStyle>
            <a:lvl1pPr algn="r">
              <a:defRPr sz="800">
                <a:solidFill>
                  <a:schemeClr val="tx1"/>
                </a:solidFill>
                <a:latin typeface="Arial" panose="020B0604020202020204" pitchFamily="34" charset="0"/>
                <a:cs typeface="Arial" panose="020B0604020202020204" pitchFamily="34" charset="0"/>
              </a:defRPr>
            </a:lvl1pPr>
          </a:lstStyle>
          <a:p>
            <a:fld id="{DDAFD0C9-8BC0-5147-B74C-78C6A0363883}" type="slidenum">
              <a:rPr lang="en-ZA" smtClean="0"/>
              <a:pPr/>
              <a:t>‹#›</a:t>
            </a:fld>
            <a:endParaRPr lang="en-ZA"/>
          </a:p>
        </p:txBody>
      </p:sp>
    </p:spTree>
    <p:extLst>
      <p:ext uri="{BB962C8B-B14F-4D97-AF65-F5344CB8AC3E}">
        <p14:creationId xmlns:p14="http://schemas.microsoft.com/office/powerpoint/2010/main" val="39443921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57">
          <p15:clr>
            <a:srgbClr val="FBAE40"/>
          </p15:clr>
        </p15:guide>
        <p15:guide id="4" pos="7446">
          <p15:clr>
            <a:srgbClr val="FBAE40"/>
          </p15:clr>
        </p15:guide>
        <p15:guide id="5" orient="horz" pos="482">
          <p15:clr>
            <a:srgbClr val="FBAE40"/>
          </p15:clr>
        </p15:guide>
        <p15:guide id="6" orient="horz" pos="392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PY_PARAGRAPHS 1">
    <p:spTree>
      <p:nvGrpSpPr>
        <p:cNvPr id="1" name=""/>
        <p:cNvGrpSpPr/>
        <p:nvPr/>
      </p:nvGrpSpPr>
      <p:grpSpPr>
        <a:xfrm>
          <a:off x="0" y="0"/>
          <a:ext cx="0" cy="0"/>
          <a:chOff x="0" y="0"/>
          <a:chExt cx="0" cy="0"/>
        </a:xfrm>
      </p:grpSpPr>
      <p:pic>
        <p:nvPicPr>
          <p:cNvPr id="12" name="Picture 11" descr="Arrow, funnel chart&#10;&#10;Description automatically generated">
            <a:extLst>
              <a:ext uri="{FF2B5EF4-FFF2-40B4-BE49-F238E27FC236}">
                <a16:creationId xmlns:a16="http://schemas.microsoft.com/office/drawing/2014/main" id="{E0DC06AE-BBD6-6E4D-8E72-C4F27C38B69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3" name="Picture 12" descr="Arrow&#10;&#10;Description automatically generated with medium confidence">
            <a:extLst>
              <a:ext uri="{FF2B5EF4-FFF2-40B4-BE49-F238E27FC236}">
                <a16:creationId xmlns:a16="http://schemas.microsoft.com/office/drawing/2014/main" id="{48C29F6C-7F04-A044-A0A3-FF87075C2D0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16" name="Title 1">
            <a:extLst>
              <a:ext uri="{FF2B5EF4-FFF2-40B4-BE49-F238E27FC236}">
                <a16:creationId xmlns:a16="http://schemas.microsoft.com/office/drawing/2014/main" id="{7F9325BE-0F35-5047-B121-01311C110860}"/>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sp>
        <p:nvSpPr>
          <p:cNvPr id="17" name="Text Placeholder 3">
            <a:extLst>
              <a:ext uri="{FF2B5EF4-FFF2-40B4-BE49-F238E27FC236}">
                <a16:creationId xmlns:a16="http://schemas.microsoft.com/office/drawing/2014/main" id="{01B0EF18-D73E-EE46-9665-1BAF991376F4}"/>
              </a:ext>
            </a:extLst>
          </p:cNvPr>
          <p:cNvSpPr>
            <a:spLocks noGrp="1"/>
          </p:cNvSpPr>
          <p:nvPr>
            <p:ph type="body" sz="half" idx="2" hasCustomPrompt="1"/>
          </p:nvPr>
        </p:nvSpPr>
        <p:spPr>
          <a:xfrm>
            <a:off x="404629" y="2378019"/>
            <a:ext cx="5268686" cy="3811588"/>
          </a:xfrm>
        </p:spPr>
        <p:txBody>
          <a:bodyPr/>
          <a:lstStyle>
            <a:lvl1pPr marL="0" indent="0">
              <a:lnSpc>
                <a:spcPts val="1400"/>
              </a:lnSpc>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a:p>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pretium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dignissim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suspendisse</a:t>
            </a:r>
            <a:r>
              <a:rPr lang="en-ZA" sz="1200">
                <a:latin typeface="Arial" panose="020B0604020202020204" pitchFamily="34" charset="0"/>
                <a:cs typeface="Arial" panose="020B0604020202020204" pitchFamily="34" charset="0"/>
              </a:rPr>
              <a:t> in.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pharetra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suscipit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imperdiet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fermentum </a:t>
            </a:r>
            <a:r>
              <a:rPr lang="en-ZA" sz="1200" err="1">
                <a:latin typeface="Arial" panose="020B0604020202020204" pitchFamily="34" charset="0"/>
                <a:cs typeface="Arial" panose="020B0604020202020204" pitchFamily="34" charset="0"/>
              </a:rPr>
              <a:t>leo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Consequat</a:t>
            </a:r>
            <a:r>
              <a:rPr lang="en-ZA" sz="1200">
                <a:latin typeface="Arial" panose="020B0604020202020204" pitchFamily="34" charset="0"/>
                <a:cs typeface="Arial" panose="020B0604020202020204" pitchFamily="34" charset="0"/>
              </a:rPr>
              <a:t> ac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donec</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Urna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sagittis</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p>
        </p:txBody>
      </p:sp>
      <p:sp>
        <p:nvSpPr>
          <p:cNvPr id="18" name="Text Placeholder 3">
            <a:extLst>
              <a:ext uri="{FF2B5EF4-FFF2-40B4-BE49-F238E27FC236}">
                <a16:creationId xmlns:a16="http://schemas.microsoft.com/office/drawing/2014/main" id="{EB5C51EE-2BAC-D54C-BB01-0B4C36C4B165}"/>
              </a:ext>
            </a:extLst>
          </p:cNvPr>
          <p:cNvSpPr>
            <a:spLocks noGrp="1"/>
          </p:cNvSpPr>
          <p:nvPr>
            <p:ph type="body" sz="half" idx="14" hasCustomPrompt="1"/>
          </p:nvPr>
        </p:nvSpPr>
        <p:spPr>
          <a:xfrm>
            <a:off x="6214181" y="2378019"/>
            <a:ext cx="5268686" cy="3811588"/>
          </a:xfrm>
        </p:spPr>
        <p:txBody>
          <a:bodyPr/>
          <a:lstStyle>
            <a:lvl1pPr marL="0" indent="0">
              <a:lnSpc>
                <a:spcPts val="1400"/>
              </a:lnSpc>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Sit amet consectetur adipiscing elit pellentesque habitant. Sit amet consectetur adipiscing elit duis tristique sollicitudin. Mauris cursus mattis molestie a iaculis at. Penatibus et magnis dis parturient montes nascetur ridiculus mus. Risus commodo viverra maecenas accumsan lacus vel facilisis volutpat. Et magnis dis parturient montes nascetur ridiculus mus.</a:t>
            </a:r>
          </a:p>
          <a:p>
            <a:r>
              <a:rPr lang="en-ZA" sz="1200">
                <a:latin typeface="Arial" panose="020B0604020202020204" pitchFamily="34" charset="0"/>
                <a:cs typeface="Arial" panose="020B0604020202020204" pitchFamily="34" charset="0"/>
              </a:rPr>
              <a:t>Orci ac auctor augue mauris augue neque gravida in fermentum. Morbi tincidunt ornare massa eget egestas purus. Posuere lorem ipsum dolor sit amet. Leo in vitae turpis massa sed elementum tempus. Aliquam etiam erat velit scelerisque in dictum non consectetur. Mattis ullamcorper velit sed ullamcorper morbi. Libero volutpat sed cras ornare. Nibh nisl condimentum id venenatis a. Ipsum faucibus vitae aliquet nec. Quis risus sed vulputate odio ut. Sed enim ut sem viverra. Arcu cursus euismod quis viverra nibh cras pulvinar mattis. </a:t>
            </a:r>
          </a:p>
        </p:txBody>
      </p:sp>
      <p:sp>
        <p:nvSpPr>
          <p:cNvPr id="20" name="Text Placeholder 3">
            <a:extLst>
              <a:ext uri="{FF2B5EF4-FFF2-40B4-BE49-F238E27FC236}">
                <a16:creationId xmlns:a16="http://schemas.microsoft.com/office/drawing/2014/main" id="{87340554-8D4C-9E4D-BB4C-773E92327C95}"/>
              </a:ext>
            </a:extLst>
          </p:cNvPr>
          <p:cNvSpPr>
            <a:spLocks noGrp="1"/>
          </p:cNvSpPr>
          <p:nvPr>
            <p:ph type="body" sz="half" idx="15" hasCustomPrompt="1"/>
          </p:nvPr>
        </p:nvSpPr>
        <p:spPr>
          <a:xfrm>
            <a:off x="404629" y="1768419"/>
            <a:ext cx="5268686"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21" name="Text Placeholder 3">
            <a:extLst>
              <a:ext uri="{FF2B5EF4-FFF2-40B4-BE49-F238E27FC236}">
                <a16:creationId xmlns:a16="http://schemas.microsoft.com/office/drawing/2014/main" id="{42AAEA6D-97C6-C849-B489-FC8B6E3D2DF7}"/>
              </a:ext>
            </a:extLst>
          </p:cNvPr>
          <p:cNvSpPr>
            <a:spLocks noGrp="1"/>
          </p:cNvSpPr>
          <p:nvPr>
            <p:ph type="body" sz="half" idx="16" hasCustomPrompt="1"/>
          </p:nvPr>
        </p:nvSpPr>
        <p:spPr>
          <a:xfrm>
            <a:off x="6214181" y="1768419"/>
            <a:ext cx="5268686"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14" name="Slide Number Placeholder 5">
            <a:extLst>
              <a:ext uri="{FF2B5EF4-FFF2-40B4-BE49-F238E27FC236}">
                <a16:creationId xmlns:a16="http://schemas.microsoft.com/office/drawing/2014/main" id="{1C66C98C-1E15-AA46-B62C-70E6A75B02B2}"/>
              </a:ext>
            </a:extLst>
          </p:cNvPr>
          <p:cNvSpPr>
            <a:spLocks noGrp="1"/>
          </p:cNvSpPr>
          <p:nvPr>
            <p:ph type="sldNum" sz="quarter" idx="4"/>
          </p:nvPr>
        </p:nvSpPr>
        <p:spPr>
          <a:xfrm>
            <a:off x="8739667" y="6381530"/>
            <a:ext cx="2743200" cy="365125"/>
          </a:xfrm>
          <a:prstGeom prst="rect">
            <a:avLst/>
          </a:prstGeom>
        </p:spPr>
        <p:txBody>
          <a:bodyPr vert="horz" lIns="91440" tIns="45720" rIns="91440" bIns="45720" rtlCol="0" anchor="ctr"/>
          <a:lstStyle>
            <a:lvl1pPr algn="r">
              <a:defRPr sz="800">
                <a:solidFill>
                  <a:schemeClr val="tx1"/>
                </a:solidFill>
                <a:latin typeface="Arial" panose="020B0604020202020204" pitchFamily="34" charset="0"/>
                <a:cs typeface="Arial" panose="020B0604020202020204" pitchFamily="34" charset="0"/>
              </a:defRPr>
            </a:lvl1pPr>
          </a:lstStyle>
          <a:p>
            <a:fld id="{DDAFD0C9-8BC0-5147-B74C-78C6A0363883}" type="slidenum">
              <a:rPr lang="en-ZA" smtClean="0"/>
              <a:pPr/>
              <a:t>‹#›</a:t>
            </a:fld>
            <a:endParaRPr lang="en-ZA"/>
          </a:p>
        </p:txBody>
      </p:sp>
    </p:spTree>
    <p:extLst>
      <p:ext uri="{BB962C8B-B14F-4D97-AF65-F5344CB8AC3E}">
        <p14:creationId xmlns:p14="http://schemas.microsoft.com/office/powerpoint/2010/main" val="33943526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PY_PARAGRAPHS 2">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0B2A0FD-86A3-DC43-9DBF-C72B504462E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977348" y="0"/>
            <a:ext cx="4214651" cy="6858000"/>
          </a:xfrm>
          <a:prstGeom prst="rect">
            <a:avLst/>
          </a:prstGeom>
        </p:spPr>
      </p:pic>
      <p:sp>
        <p:nvSpPr>
          <p:cNvPr id="34" name="Text Placeholder 3">
            <a:extLst>
              <a:ext uri="{FF2B5EF4-FFF2-40B4-BE49-F238E27FC236}">
                <a16:creationId xmlns:a16="http://schemas.microsoft.com/office/drawing/2014/main" id="{6B897CF3-4C44-3F47-BDFB-0BA1589CACDD}"/>
              </a:ext>
            </a:extLst>
          </p:cNvPr>
          <p:cNvSpPr>
            <a:spLocks noGrp="1"/>
          </p:cNvSpPr>
          <p:nvPr>
            <p:ph type="body" sz="half" idx="2" hasCustomPrompt="1"/>
          </p:nvPr>
        </p:nvSpPr>
        <p:spPr>
          <a:xfrm>
            <a:off x="404630" y="2378019"/>
            <a:ext cx="3600000" cy="3811588"/>
          </a:xfrm>
        </p:spPr>
        <p:txBody>
          <a:bodyPr/>
          <a:lstStyle>
            <a:lvl1pPr marL="0" indent="0">
              <a:lnSpc>
                <a:spcPts val="1400"/>
              </a:lnSpc>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a:p>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pretium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dignissim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suspendisse</a:t>
            </a:r>
            <a:r>
              <a:rPr lang="en-ZA" sz="1200">
                <a:latin typeface="Arial" panose="020B0604020202020204" pitchFamily="34" charset="0"/>
                <a:cs typeface="Arial" panose="020B0604020202020204" pitchFamily="34" charset="0"/>
              </a:rPr>
              <a:t> in.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pharetra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suscipit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imperdiet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fermentum </a:t>
            </a:r>
            <a:r>
              <a:rPr lang="en-ZA" sz="1200" err="1">
                <a:latin typeface="Arial" panose="020B0604020202020204" pitchFamily="34" charset="0"/>
                <a:cs typeface="Arial" panose="020B0604020202020204" pitchFamily="34" charset="0"/>
              </a:rPr>
              <a:t>leo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Consequat</a:t>
            </a:r>
            <a:r>
              <a:rPr lang="en-ZA" sz="1200">
                <a:latin typeface="Arial" panose="020B0604020202020204" pitchFamily="34" charset="0"/>
                <a:cs typeface="Arial" panose="020B0604020202020204" pitchFamily="34" charset="0"/>
              </a:rPr>
              <a:t> ac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donec</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Urna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sagittis</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p>
        </p:txBody>
      </p:sp>
      <p:sp>
        <p:nvSpPr>
          <p:cNvPr id="37" name="Text Placeholder 3">
            <a:extLst>
              <a:ext uri="{FF2B5EF4-FFF2-40B4-BE49-F238E27FC236}">
                <a16:creationId xmlns:a16="http://schemas.microsoft.com/office/drawing/2014/main" id="{11E9AACB-5390-A340-A109-9D2B787EC3B6}"/>
              </a:ext>
            </a:extLst>
          </p:cNvPr>
          <p:cNvSpPr>
            <a:spLocks noGrp="1"/>
          </p:cNvSpPr>
          <p:nvPr>
            <p:ph type="body" sz="half" idx="14" hasCustomPrompt="1"/>
          </p:nvPr>
        </p:nvSpPr>
        <p:spPr>
          <a:xfrm>
            <a:off x="4133948" y="2378019"/>
            <a:ext cx="3600000" cy="3811588"/>
          </a:xfrm>
        </p:spPr>
        <p:txBody>
          <a:bodyPr/>
          <a:lstStyle>
            <a:lvl1pPr marL="0" indent="0">
              <a:lnSpc>
                <a:spcPts val="1400"/>
              </a:lnSpc>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Sit amet consectetur adipiscing elit pellentesque habitant. Sit amet consectetur adipiscing elit duis tristique sollicitudin. Mauris cursus mattis molestie a iaculis at. Penatibus et magnis dis parturient montes nascetur ridiculus mus. Risus commodo viverra maecenas accumsan lacus vel facilisis volutpat. Et magnis dis parturient montes nascetur ridiculus mus.</a:t>
            </a:r>
          </a:p>
          <a:p>
            <a:r>
              <a:rPr lang="en-ZA" sz="1200">
                <a:latin typeface="Arial" panose="020B0604020202020204" pitchFamily="34" charset="0"/>
                <a:cs typeface="Arial" panose="020B0604020202020204" pitchFamily="34" charset="0"/>
              </a:rPr>
              <a:t>Orci ac auctor augue mauris augue neque gravida in fermentum. Morbi tincidunt ornare massa eget egestas purus. Posuere lorem ipsum dolor sit amet. Leo in vitae turpis massa sed elementum tempus. Aliquam etiam erat velit scelerisque in dictum non consectetur. Mattis ullamcorper velit sed ullamcorper morbi. Libero volutpat sed cras ornare. Nibh nisl condimentum id venenatis a. Ipsum faucibus vitae aliquet nec. Quis risus sed vulputate odio ut. Sed enim ut sem viverra. Arcu cursus euismod quis viverra nibh cras pulvinar mattis. </a:t>
            </a:r>
          </a:p>
        </p:txBody>
      </p:sp>
      <p:sp>
        <p:nvSpPr>
          <p:cNvPr id="38" name="Text Placeholder 3">
            <a:extLst>
              <a:ext uri="{FF2B5EF4-FFF2-40B4-BE49-F238E27FC236}">
                <a16:creationId xmlns:a16="http://schemas.microsoft.com/office/drawing/2014/main" id="{DF7E4BD6-C7D4-BE48-B310-3A0322CCDE0E}"/>
              </a:ext>
            </a:extLst>
          </p:cNvPr>
          <p:cNvSpPr>
            <a:spLocks noGrp="1"/>
          </p:cNvSpPr>
          <p:nvPr>
            <p:ph type="body" sz="half" idx="15" hasCustomPrompt="1"/>
          </p:nvPr>
        </p:nvSpPr>
        <p:spPr>
          <a:xfrm>
            <a:off x="404630" y="1768419"/>
            <a:ext cx="3600000"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39" name="Text Placeholder 3">
            <a:extLst>
              <a:ext uri="{FF2B5EF4-FFF2-40B4-BE49-F238E27FC236}">
                <a16:creationId xmlns:a16="http://schemas.microsoft.com/office/drawing/2014/main" id="{EDEDF781-E4C9-EF48-972F-7E09E80BD0C0}"/>
              </a:ext>
            </a:extLst>
          </p:cNvPr>
          <p:cNvSpPr>
            <a:spLocks noGrp="1"/>
          </p:cNvSpPr>
          <p:nvPr>
            <p:ph type="body" sz="half" idx="16" hasCustomPrompt="1"/>
          </p:nvPr>
        </p:nvSpPr>
        <p:spPr>
          <a:xfrm>
            <a:off x="4133948" y="1768419"/>
            <a:ext cx="3600000"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pic>
        <p:nvPicPr>
          <p:cNvPr id="12" name="Picture 11" descr="Arrow, funnel chart&#10;&#10;Description automatically generated">
            <a:extLst>
              <a:ext uri="{FF2B5EF4-FFF2-40B4-BE49-F238E27FC236}">
                <a16:creationId xmlns:a16="http://schemas.microsoft.com/office/drawing/2014/main" id="{D41C1FD6-4D04-5B4C-93DB-E66500A5532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3" name="Picture 12" descr="Arrow&#10;&#10;Description automatically generated with medium confidence">
            <a:extLst>
              <a:ext uri="{FF2B5EF4-FFF2-40B4-BE49-F238E27FC236}">
                <a16:creationId xmlns:a16="http://schemas.microsoft.com/office/drawing/2014/main" id="{5FA85186-CBA9-2B4D-9D82-A6E26F603AEE}"/>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14" name="Title 1">
            <a:extLst>
              <a:ext uri="{FF2B5EF4-FFF2-40B4-BE49-F238E27FC236}">
                <a16:creationId xmlns:a16="http://schemas.microsoft.com/office/drawing/2014/main" id="{6D0C0035-ADA1-7F4E-AE9F-8896BCB81BD4}"/>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sp>
        <p:nvSpPr>
          <p:cNvPr id="15" name="Slide Number Placeholder 5">
            <a:extLst>
              <a:ext uri="{FF2B5EF4-FFF2-40B4-BE49-F238E27FC236}">
                <a16:creationId xmlns:a16="http://schemas.microsoft.com/office/drawing/2014/main" id="{AEE75D66-EA5A-B04C-B596-9ECF456F2114}"/>
              </a:ext>
            </a:extLst>
          </p:cNvPr>
          <p:cNvSpPr>
            <a:spLocks noGrp="1"/>
          </p:cNvSpPr>
          <p:nvPr>
            <p:ph type="sldNum" sz="quarter" idx="4"/>
          </p:nvPr>
        </p:nvSpPr>
        <p:spPr>
          <a:xfrm>
            <a:off x="8739667" y="6381530"/>
            <a:ext cx="2743200"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DDAFD0C9-8BC0-5147-B74C-78C6A0363883}" type="slidenum">
              <a:rPr lang="en-ZA" smtClean="0"/>
              <a:pPr/>
              <a:t>‹#›</a:t>
            </a:fld>
            <a:endParaRPr lang="en-ZA"/>
          </a:p>
        </p:txBody>
      </p:sp>
    </p:spTree>
    <p:extLst>
      <p:ext uri="{BB962C8B-B14F-4D97-AF65-F5344CB8AC3E}">
        <p14:creationId xmlns:p14="http://schemas.microsoft.com/office/powerpoint/2010/main" val="22352159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PY_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DFF0DE-B8D0-FA4A-AF83-AA6FD7B2A96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977348" y="0"/>
            <a:ext cx="4214651" cy="6858000"/>
          </a:xfrm>
          <a:prstGeom prst="rect">
            <a:avLst/>
          </a:prstGeom>
        </p:spPr>
      </p:pic>
      <p:sp>
        <p:nvSpPr>
          <p:cNvPr id="12" name="Text Placeholder 3">
            <a:extLst>
              <a:ext uri="{FF2B5EF4-FFF2-40B4-BE49-F238E27FC236}">
                <a16:creationId xmlns:a16="http://schemas.microsoft.com/office/drawing/2014/main" id="{A88F7E5C-5166-B24B-9636-FA92F5E72E0A}"/>
              </a:ext>
            </a:extLst>
          </p:cNvPr>
          <p:cNvSpPr>
            <a:spLocks noGrp="1"/>
          </p:cNvSpPr>
          <p:nvPr>
            <p:ph type="body" sz="half" idx="2" hasCustomPrompt="1"/>
          </p:nvPr>
        </p:nvSpPr>
        <p:spPr>
          <a:xfrm>
            <a:off x="404629" y="2565786"/>
            <a:ext cx="7139171" cy="3811588"/>
          </a:xfrm>
        </p:spPr>
        <p:txBody>
          <a:bodyPr/>
          <a:lstStyle>
            <a:lvl1pPr marL="0" indent="0">
              <a:lnSpc>
                <a:spcPts val="1400"/>
              </a:lnSpc>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a:p>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pretium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dignissim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suspendisse</a:t>
            </a:r>
            <a:r>
              <a:rPr lang="en-ZA" sz="1200">
                <a:latin typeface="Arial" panose="020B0604020202020204" pitchFamily="34" charset="0"/>
                <a:cs typeface="Arial" panose="020B0604020202020204" pitchFamily="34" charset="0"/>
              </a:rPr>
              <a:t> in.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pharetra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suscipit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imperdiet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fermentum </a:t>
            </a:r>
            <a:r>
              <a:rPr lang="en-ZA" sz="1200" err="1">
                <a:latin typeface="Arial" panose="020B0604020202020204" pitchFamily="34" charset="0"/>
                <a:cs typeface="Arial" panose="020B0604020202020204" pitchFamily="34" charset="0"/>
              </a:rPr>
              <a:t>leo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Consequat</a:t>
            </a:r>
            <a:r>
              <a:rPr lang="en-ZA" sz="1200">
                <a:latin typeface="Arial" panose="020B0604020202020204" pitchFamily="34" charset="0"/>
                <a:cs typeface="Arial" panose="020B0604020202020204" pitchFamily="34" charset="0"/>
              </a:rPr>
              <a:t> ac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donec</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Urna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sagittis</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Tincidunt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ornare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massa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viverra</a:t>
            </a:r>
            <a:r>
              <a:rPr lang="en-ZA" sz="1200">
                <a:latin typeface="Arial" panose="020B0604020202020204" pitchFamily="34" charset="0"/>
                <a:cs typeface="Arial" panose="020B0604020202020204" pitchFamily="34" charset="0"/>
              </a:rPr>
              <a:t>.</a:t>
            </a:r>
          </a:p>
        </p:txBody>
      </p:sp>
      <p:sp>
        <p:nvSpPr>
          <p:cNvPr id="13" name="Text Placeholder 3">
            <a:extLst>
              <a:ext uri="{FF2B5EF4-FFF2-40B4-BE49-F238E27FC236}">
                <a16:creationId xmlns:a16="http://schemas.microsoft.com/office/drawing/2014/main" id="{02E6DCCD-8CA1-4544-9423-A32589AC14F6}"/>
              </a:ext>
            </a:extLst>
          </p:cNvPr>
          <p:cNvSpPr>
            <a:spLocks noGrp="1"/>
          </p:cNvSpPr>
          <p:nvPr>
            <p:ph type="body" sz="half" idx="15" hasCustomPrompt="1"/>
          </p:nvPr>
        </p:nvSpPr>
        <p:spPr>
          <a:xfrm>
            <a:off x="404629" y="1800521"/>
            <a:ext cx="7376735"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14" name="Title 1">
            <a:extLst>
              <a:ext uri="{FF2B5EF4-FFF2-40B4-BE49-F238E27FC236}">
                <a16:creationId xmlns:a16="http://schemas.microsoft.com/office/drawing/2014/main" id="{25B27C78-163F-E64A-B9B1-EDFA0477D904}"/>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pic>
        <p:nvPicPr>
          <p:cNvPr id="16" name="Picture 15" descr="Arrow, funnel chart&#10;&#10;Description automatically generated">
            <a:extLst>
              <a:ext uri="{FF2B5EF4-FFF2-40B4-BE49-F238E27FC236}">
                <a16:creationId xmlns:a16="http://schemas.microsoft.com/office/drawing/2014/main" id="{74BFBF46-B220-D440-BD5C-5E0B0FB4C88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7" name="Picture 16" descr="Arrow&#10;&#10;Description automatically generated with medium confidence">
            <a:extLst>
              <a:ext uri="{FF2B5EF4-FFF2-40B4-BE49-F238E27FC236}">
                <a16:creationId xmlns:a16="http://schemas.microsoft.com/office/drawing/2014/main" id="{BC9AB555-34EC-EB46-A8E2-F7376AC2555E}"/>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10" name="Slide Number Placeholder 5">
            <a:extLst>
              <a:ext uri="{FF2B5EF4-FFF2-40B4-BE49-F238E27FC236}">
                <a16:creationId xmlns:a16="http://schemas.microsoft.com/office/drawing/2014/main" id="{DB959307-AB97-5E44-9737-2A6305EF9C53}"/>
              </a:ext>
            </a:extLst>
          </p:cNvPr>
          <p:cNvSpPr>
            <a:spLocks noGrp="1"/>
          </p:cNvSpPr>
          <p:nvPr>
            <p:ph type="sldNum" sz="quarter" idx="4"/>
          </p:nvPr>
        </p:nvSpPr>
        <p:spPr>
          <a:xfrm>
            <a:off x="8739667" y="6381530"/>
            <a:ext cx="2743200"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DDAFD0C9-8BC0-5147-B74C-78C6A0363883}" type="slidenum">
              <a:rPr lang="en-ZA" smtClean="0"/>
              <a:pPr/>
              <a:t>‹#›</a:t>
            </a:fld>
            <a:endParaRPr lang="en-ZA"/>
          </a:p>
        </p:txBody>
      </p:sp>
    </p:spTree>
    <p:extLst>
      <p:ext uri="{BB962C8B-B14F-4D97-AF65-F5344CB8AC3E}">
        <p14:creationId xmlns:p14="http://schemas.microsoft.com/office/powerpoint/2010/main" val="7041776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PY_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72F93A-A163-CB47-9BD4-2D716BC9DAE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r="-206"/>
          <a:stretch/>
        </p:blipFill>
        <p:spPr>
          <a:xfrm>
            <a:off x="7977350" y="0"/>
            <a:ext cx="4214650" cy="6858000"/>
          </a:xfrm>
          <a:prstGeom prst="rect">
            <a:avLst/>
          </a:prstGeom>
        </p:spPr>
      </p:pic>
      <p:sp>
        <p:nvSpPr>
          <p:cNvPr id="12" name="Text Placeholder 3">
            <a:extLst>
              <a:ext uri="{FF2B5EF4-FFF2-40B4-BE49-F238E27FC236}">
                <a16:creationId xmlns:a16="http://schemas.microsoft.com/office/drawing/2014/main" id="{6892B6D4-AAD9-3748-B5F1-A18A2B1F4807}"/>
              </a:ext>
            </a:extLst>
          </p:cNvPr>
          <p:cNvSpPr>
            <a:spLocks noGrp="1"/>
          </p:cNvSpPr>
          <p:nvPr>
            <p:ph type="body" sz="half" idx="2" hasCustomPrompt="1"/>
          </p:nvPr>
        </p:nvSpPr>
        <p:spPr>
          <a:xfrm>
            <a:off x="404629" y="2565786"/>
            <a:ext cx="7139171" cy="3811588"/>
          </a:xfrm>
        </p:spPr>
        <p:txBody>
          <a:bodyPr/>
          <a:lstStyle>
            <a:lvl1pPr marL="0" indent="0">
              <a:lnSpc>
                <a:spcPts val="1400"/>
              </a:lnSpc>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a:p>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pretium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dignissim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suspendisse</a:t>
            </a:r>
            <a:r>
              <a:rPr lang="en-ZA" sz="1200">
                <a:latin typeface="Arial" panose="020B0604020202020204" pitchFamily="34" charset="0"/>
                <a:cs typeface="Arial" panose="020B0604020202020204" pitchFamily="34" charset="0"/>
              </a:rPr>
              <a:t> in.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pharetra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suscipit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imperdiet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fermentum </a:t>
            </a:r>
            <a:r>
              <a:rPr lang="en-ZA" sz="1200" err="1">
                <a:latin typeface="Arial" panose="020B0604020202020204" pitchFamily="34" charset="0"/>
                <a:cs typeface="Arial" panose="020B0604020202020204" pitchFamily="34" charset="0"/>
              </a:rPr>
              <a:t>leo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Consequat</a:t>
            </a:r>
            <a:r>
              <a:rPr lang="en-ZA" sz="1200">
                <a:latin typeface="Arial" panose="020B0604020202020204" pitchFamily="34" charset="0"/>
                <a:cs typeface="Arial" panose="020B0604020202020204" pitchFamily="34" charset="0"/>
              </a:rPr>
              <a:t> ac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donec</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Urna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sagittis</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Tincidunt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ornare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massa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viverra</a:t>
            </a:r>
            <a:r>
              <a:rPr lang="en-ZA" sz="1200">
                <a:latin typeface="Arial" panose="020B0604020202020204" pitchFamily="34" charset="0"/>
                <a:cs typeface="Arial" panose="020B0604020202020204" pitchFamily="34" charset="0"/>
              </a:rPr>
              <a:t>.</a:t>
            </a:r>
          </a:p>
        </p:txBody>
      </p:sp>
      <p:sp>
        <p:nvSpPr>
          <p:cNvPr id="13" name="Text Placeholder 3">
            <a:extLst>
              <a:ext uri="{FF2B5EF4-FFF2-40B4-BE49-F238E27FC236}">
                <a16:creationId xmlns:a16="http://schemas.microsoft.com/office/drawing/2014/main" id="{CE374397-865C-FE40-9E7C-00F0C282D178}"/>
              </a:ext>
            </a:extLst>
          </p:cNvPr>
          <p:cNvSpPr>
            <a:spLocks noGrp="1"/>
          </p:cNvSpPr>
          <p:nvPr>
            <p:ph type="body" sz="half" idx="15" hasCustomPrompt="1"/>
          </p:nvPr>
        </p:nvSpPr>
        <p:spPr>
          <a:xfrm>
            <a:off x="404629" y="1800521"/>
            <a:ext cx="7376735"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14" name="Title 1">
            <a:extLst>
              <a:ext uri="{FF2B5EF4-FFF2-40B4-BE49-F238E27FC236}">
                <a16:creationId xmlns:a16="http://schemas.microsoft.com/office/drawing/2014/main" id="{0A84566C-4FBB-5843-A32B-00B41EF5953A}"/>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pic>
        <p:nvPicPr>
          <p:cNvPr id="16" name="Picture 15" descr="Arrow, funnel chart&#10;&#10;Description automatically generated">
            <a:extLst>
              <a:ext uri="{FF2B5EF4-FFF2-40B4-BE49-F238E27FC236}">
                <a16:creationId xmlns:a16="http://schemas.microsoft.com/office/drawing/2014/main" id="{2B1BFF6A-1347-A64C-8FC0-EA6C9E3F97D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7" name="Picture 16" descr="Arrow&#10;&#10;Description automatically generated with medium confidence">
            <a:extLst>
              <a:ext uri="{FF2B5EF4-FFF2-40B4-BE49-F238E27FC236}">
                <a16:creationId xmlns:a16="http://schemas.microsoft.com/office/drawing/2014/main" id="{11C3C46C-9061-8642-B274-7AA0C5FEB73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10" name="Slide Number Placeholder 5">
            <a:extLst>
              <a:ext uri="{FF2B5EF4-FFF2-40B4-BE49-F238E27FC236}">
                <a16:creationId xmlns:a16="http://schemas.microsoft.com/office/drawing/2014/main" id="{D8EA3427-3E98-1C48-B01B-CB07A5FC5FAD}"/>
              </a:ext>
            </a:extLst>
          </p:cNvPr>
          <p:cNvSpPr>
            <a:spLocks noGrp="1"/>
          </p:cNvSpPr>
          <p:nvPr>
            <p:ph type="sldNum" sz="quarter" idx="4"/>
          </p:nvPr>
        </p:nvSpPr>
        <p:spPr>
          <a:xfrm>
            <a:off x="8739667" y="6381530"/>
            <a:ext cx="2743200"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DDAFD0C9-8BC0-5147-B74C-78C6A0363883}" type="slidenum">
              <a:rPr lang="en-ZA" smtClean="0"/>
              <a:pPr/>
              <a:t>‹#›</a:t>
            </a:fld>
            <a:endParaRPr lang="en-ZA"/>
          </a:p>
        </p:txBody>
      </p:sp>
    </p:spTree>
    <p:extLst>
      <p:ext uri="{BB962C8B-B14F-4D97-AF65-F5344CB8AC3E}">
        <p14:creationId xmlns:p14="http://schemas.microsoft.com/office/powerpoint/2010/main" val="8109653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PY_3">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72F93A-A163-CB47-9BD4-2D716BC9DAE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977350" y="0"/>
            <a:ext cx="4214650" cy="6858000"/>
          </a:xfrm>
          <a:prstGeom prst="rect">
            <a:avLst/>
          </a:prstGeom>
        </p:spPr>
      </p:pic>
      <p:sp>
        <p:nvSpPr>
          <p:cNvPr id="12" name="Text Placeholder 3">
            <a:extLst>
              <a:ext uri="{FF2B5EF4-FFF2-40B4-BE49-F238E27FC236}">
                <a16:creationId xmlns:a16="http://schemas.microsoft.com/office/drawing/2014/main" id="{581E3EB7-5594-9B42-88B1-2E84C948EDA9}"/>
              </a:ext>
            </a:extLst>
          </p:cNvPr>
          <p:cNvSpPr>
            <a:spLocks noGrp="1"/>
          </p:cNvSpPr>
          <p:nvPr>
            <p:ph type="body" sz="half" idx="2" hasCustomPrompt="1"/>
          </p:nvPr>
        </p:nvSpPr>
        <p:spPr>
          <a:xfrm>
            <a:off x="404629" y="2565786"/>
            <a:ext cx="7139171" cy="3811588"/>
          </a:xfrm>
        </p:spPr>
        <p:txBody>
          <a:bodyPr/>
          <a:lstStyle>
            <a:lvl1pPr marL="0" indent="0">
              <a:lnSpc>
                <a:spcPts val="1400"/>
              </a:lnSpc>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a:p>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pretium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dignissim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suspendisse</a:t>
            </a:r>
            <a:r>
              <a:rPr lang="en-ZA" sz="1200">
                <a:latin typeface="Arial" panose="020B0604020202020204" pitchFamily="34" charset="0"/>
                <a:cs typeface="Arial" panose="020B0604020202020204" pitchFamily="34" charset="0"/>
              </a:rPr>
              <a:t> in.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pharetra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suscipit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imperdiet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fermentum </a:t>
            </a:r>
            <a:r>
              <a:rPr lang="en-ZA" sz="1200" err="1">
                <a:latin typeface="Arial" panose="020B0604020202020204" pitchFamily="34" charset="0"/>
                <a:cs typeface="Arial" panose="020B0604020202020204" pitchFamily="34" charset="0"/>
              </a:rPr>
              <a:t>leo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Consequat</a:t>
            </a:r>
            <a:r>
              <a:rPr lang="en-ZA" sz="1200">
                <a:latin typeface="Arial" panose="020B0604020202020204" pitchFamily="34" charset="0"/>
                <a:cs typeface="Arial" panose="020B0604020202020204" pitchFamily="34" charset="0"/>
              </a:rPr>
              <a:t> ac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donec</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Urna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sagittis</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Tincidunt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ornare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massa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viverra</a:t>
            </a:r>
            <a:r>
              <a:rPr lang="en-ZA" sz="1200">
                <a:latin typeface="Arial" panose="020B0604020202020204" pitchFamily="34" charset="0"/>
                <a:cs typeface="Arial" panose="020B0604020202020204" pitchFamily="34" charset="0"/>
              </a:rPr>
              <a:t>.</a:t>
            </a:r>
          </a:p>
        </p:txBody>
      </p:sp>
      <p:sp>
        <p:nvSpPr>
          <p:cNvPr id="13" name="Text Placeholder 3">
            <a:extLst>
              <a:ext uri="{FF2B5EF4-FFF2-40B4-BE49-F238E27FC236}">
                <a16:creationId xmlns:a16="http://schemas.microsoft.com/office/drawing/2014/main" id="{10C827C3-E046-9546-985E-DB5A844B985E}"/>
              </a:ext>
            </a:extLst>
          </p:cNvPr>
          <p:cNvSpPr>
            <a:spLocks noGrp="1"/>
          </p:cNvSpPr>
          <p:nvPr>
            <p:ph type="body" sz="half" idx="15" hasCustomPrompt="1"/>
          </p:nvPr>
        </p:nvSpPr>
        <p:spPr>
          <a:xfrm>
            <a:off x="404629" y="1800521"/>
            <a:ext cx="7376735"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14" name="Title 1">
            <a:extLst>
              <a:ext uri="{FF2B5EF4-FFF2-40B4-BE49-F238E27FC236}">
                <a16:creationId xmlns:a16="http://schemas.microsoft.com/office/drawing/2014/main" id="{4CE87CF2-603C-5449-B400-AFEE35E14A2E}"/>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pic>
        <p:nvPicPr>
          <p:cNvPr id="16" name="Picture 15" descr="Arrow, funnel chart&#10;&#10;Description automatically generated">
            <a:extLst>
              <a:ext uri="{FF2B5EF4-FFF2-40B4-BE49-F238E27FC236}">
                <a16:creationId xmlns:a16="http://schemas.microsoft.com/office/drawing/2014/main" id="{C9334B1C-D25E-1242-AF05-FEAF4B309CF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7" name="Picture 16" descr="Arrow&#10;&#10;Description automatically generated with medium confidence">
            <a:extLst>
              <a:ext uri="{FF2B5EF4-FFF2-40B4-BE49-F238E27FC236}">
                <a16:creationId xmlns:a16="http://schemas.microsoft.com/office/drawing/2014/main" id="{C35FB686-1206-1443-8D9A-889A81B50B4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10" name="Slide Number Placeholder 5">
            <a:extLst>
              <a:ext uri="{FF2B5EF4-FFF2-40B4-BE49-F238E27FC236}">
                <a16:creationId xmlns:a16="http://schemas.microsoft.com/office/drawing/2014/main" id="{4988BE3D-9BE8-BC4F-B8FB-A8A6AE662E73}"/>
              </a:ext>
            </a:extLst>
          </p:cNvPr>
          <p:cNvSpPr>
            <a:spLocks noGrp="1"/>
          </p:cNvSpPr>
          <p:nvPr>
            <p:ph type="sldNum" sz="quarter" idx="4"/>
          </p:nvPr>
        </p:nvSpPr>
        <p:spPr>
          <a:xfrm>
            <a:off x="8739667" y="6381530"/>
            <a:ext cx="2743200"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DDAFD0C9-8BC0-5147-B74C-78C6A0363883}" type="slidenum">
              <a:rPr lang="en-ZA" smtClean="0"/>
              <a:pPr/>
              <a:t>‹#›</a:t>
            </a:fld>
            <a:endParaRPr lang="en-ZA"/>
          </a:p>
        </p:txBody>
      </p:sp>
    </p:spTree>
    <p:extLst>
      <p:ext uri="{BB962C8B-B14F-4D97-AF65-F5344CB8AC3E}">
        <p14:creationId xmlns:p14="http://schemas.microsoft.com/office/powerpoint/2010/main" val="29829670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PY_4">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72F93A-A163-CB47-9BD4-2D716BC9DAE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977350" y="0"/>
            <a:ext cx="4214650" cy="6858000"/>
          </a:xfrm>
          <a:prstGeom prst="rect">
            <a:avLst/>
          </a:prstGeom>
        </p:spPr>
      </p:pic>
      <p:sp>
        <p:nvSpPr>
          <p:cNvPr id="12" name="Text Placeholder 3">
            <a:extLst>
              <a:ext uri="{FF2B5EF4-FFF2-40B4-BE49-F238E27FC236}">
                <a16:creationId xmlns:a16="http://schemas.microsoft.com/office/drawing/2014/main" id="{9BC6AD2C-B4F0-9145-B434-3BED7A67F0D6}"/>
              </a:ext>
            </a:extLst>
          </p:cNvPr>
          <p:cNvSpPr>
            <a:spLocks noGrp="1"/>
          </p:cNvSpPr>
          <p:nvPr>
            <p:ph type="body" sz="half" idx="2" hasCustomPrompt="1"/>
          </p:nvPr>
        </p:nvSpPr>
        <p:spPr>
          <a:xfrm>
            <a:off x="404629" y="2565786"/>
            <a:ext cx="7139171" cy="3811588"/>
          </a:xfrm>
        </p:spPr>
        <p:txBody>
          <a:bodyPr/>
          <a:lstStyle>
            <a:lvl1pPr marL="0" indent="0">
              <a:lnSpc>
                <a:spcPts val="1400"/>
              </a:lnSpc>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a:p>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pretium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dignissim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suspendisse</a:t>
            </a:r>
            <a:r>
              <a:rPr lang="en-ZA" sz="1200">
                <a:latin typeface="Arial" panose="020B0604020202020204" pitchFamily="34" charset="0"/>
                <a:cs typeface="Arial" panose="020B0604020202020204" pitchFamily="34" charset="0"/>
              </a:rPr>
              <a:t> in.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pharetra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suscipit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imperdiet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fermentum </a:t>
            </a:r>
            <a:r>
              <a:rPr lang="en-ZA" sz="1200" err="1">
                <a:latin typeface="Arial" panose="020B0604020202020204" pitchFamily="34" charset="0"/>
                <a:cs typeface="Arial" panose="020B0604020202020204" pitchFamily="34" charset="0"/>
              </a:rPr>
              <a:t>leo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Consequat</a:t>
            </a:r>
            <a:r>
              <a:rPr lang="en-ZA" sz="1200">
                <a:latin typeface="Arial" panose="020B0604020202020204" pitchFamily="34" charset="0"/>
                <a:cs typeface="Arial" panose="020B0604020202020204" pitchFamily="34" charset="0"/>
              </a:rPr>
              <a:t> ac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donec</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Urna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sagittis</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Tincidunt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ornare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massa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viverra</a:t>
            </a:r>
            <a:r>
              <a:rPr lang="en-ZA" sz="1200">
                <a:latin typeface="Arial" panose="020B0604020202020204" pitchFamily="34" charset="0"/>
                <a:cs typeface="Arial" panose="020B0604020202020204" pitchFamily="34" charset="0"/>
              </a:rPr>
              <a:t>.</a:t>
            </a:r>
          </a:p>
        </p:txBody>
      </p:sp>
      <p:sp>
        <p:nvSpPr>
          <p:cNvPr id="13" name="Text Placeholder 3">
            <a:extLst>
              <a:ext uri="{FF2B5EF4-FFF2-40B4-BE49-F238E27FC236}">
                <a16:creationId xmlns:a16="http://schemas.microsoft.com/office/drawing/2014/main" id="{A7C78CF8-570D-2F4C-8753-0875A58F6FBD}"/>
              </a:ext>
            </a:extLst>
          </p:cNvPr>
          <p:cNvSpPr>
            <a:spLocks noGrp="1"/>
          </p:cNvSpPr>
          <p:nvPr>
            <p:ph type="body" sz="half" idx="15" hasCustomPrompt="1"/>
          </p:nvPr>
        </p:nvSpPr>
        <p:spPr>
          <a:xfrm>
            <a:off x="404629" y="1800521"/>
            <a:ext cx="7376735"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14" name="Title 1">
            <a:extLst>
              <a:ext uri="{FF2B5EF4-FFF2-40B4-BE49-F238E27FC236}">
                <a16:creationId xmlns:a16="http://schemas.microsoft.com/office/drawing/2014/main" id="{18363151-20FC-C54D-889B-56CFCD691A09}"/>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pic>
        <p:nvPicPr>
          <p:cNvPr id="16" name="Picture 15" descr="Arrow, funnel chart&#10;&#10;Description automatically generated">
            <a:extLst>
              <a:ext uri="{FF2B5EF4-FFF2-40B4-BE49-F238E27FC236}">
                <a16:creationId xmlns:a16="http://schemas.microsoft.com/office/drawing/2014/main" id="{95B7EFFE-8A50-8A49-9404-F23C27FD403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7" name="Picture 16" descr="Arrow&#10;&#10;Description automatically generated with medium confidence">
            <a:extLst>
              <a:ext uri="{FF2B5EF4-FFF2-40B4-BE49-F238E27FC236}">
                <a16:creationId xmlns:a16="http://schemas.microsoft.com/office/drawing/2014/main" id="{B2A28750-0742-C843-B266-91C1569A9043}"/>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10" name="Slide Number Placeholder 5">
            <a:extLst>
              <a:ext uri="{FF2B5EF4-FFF2-40B4-BE49-F238E27FC236}">
                <a16:creationId xmlns:a16="http://schemas.microsoft.com/office/drawing/2014/main" id="{F1A1FE18-8386-0448-A33E-55382CA62414}"/>
              </a:ext>
            </a:extLst>
          </p:cNvPr>
          <p:cNvSpPr>
            <a:spLocks noGrp="1"/>
          </p:cNvSpPr>
          <p:nvPr>
            <p:ph type="sldNum" sz="quarter" idx="4"/>
          </p:nvPr>
        </p:nvSpPr>
        <p:spPr>
          <a:xfrm>
            <a:off x="8739667" y="6381530"/>
            <a:ext cx="2743200"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DDAFD0C9-8BC0-5147-B74C-78C6A0363883}" type="slidenum">
              <a:rPr lang="en-ZA" smtClean="0"/>
              <a:pPr/>
              <a:t>‹#›</a:t>
            </a:fld>
            <a:endParaRPr lang="en-ZA"/>
          </a:p>
        </p:txBody>
      </p:sp>
    </p:spTree>
    <p:extLst>
      <p:ext uri="{BB962C8B-B14F-4D97-AF65-F5344CB8AC3E}">
        <p14:creationId xmlns:p14="http://schemas.microsoft.com/office/powerpoint/2010/main" val="97307984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PY_5">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72F93A-A163-CB47-9BD4-2D716BC9DAE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977350" y="0"/>
            <a:ext cx="4214650" cy="6858000"/>
          </a:xfrm>
          <a:prstGeom prst="rect">
            <a:avLst/>
          </a:prstGeom>
        </p:spPr>
      </p:pic>
      <p:sp>
        <p:nvSpPr>
          <p:cNvPr id="12" name="Text Placeholder 3">
            <a:extLst>
              <a:ext uri="{FF2B5EF4-FFF2-40B4-BE49-F238E27FC236}">
                <a16:creationId xmlns:a16="http://schemas.microsoft.com/office/drawing/2014/main" id="{5BDF543E-88C9-F743-BF1C-510C218B2A7B}"/>
              </a:ext>
            </a:extLst>
          </p:cNvPr>
          <p:cNvSpPr>
            <a:spLocks noGrp="1"/>
          </p:cNvSpPr>
          <p:nvPr>
            <p:ph type="body" sz="half" idx="2" hasCustomPrompt="1"/>
          </p:nvPr>
        </p:nvSpPr>
        <p:spPr>
          <a:xfrm>
            <a:off x="404629" y="2565786"/>
            <a:ext cx="7139171" cy="3811588"/>
          </a:xfrm>
        </p:spPr>
        <p:txBody>
          <a:bodyPr/>
          <a:lstStyle>
            <a:lvl1pPr marL="0" indent="0">
              <a:lnSpc>
                <a:spcPts val="1400"/>
              </a:lnSpc>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a:p>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pretium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dignissim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suspendisse</a:t>
            </a:r>
            <a:r>
              <a:rPr lang="en-ZA" sz="1200">
                <a:latin typeface="Arial" panose="020B0604020202020204" pitchFamily="34" charset="0"/>
                <a:cs typeface="Arial" panose="020B0604020202020204" pitchFamily="34" charset="0"/>
              </a:rPr>
              <a:t> in.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pharetra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suscipit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imperdiet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fermentum </a:t>
            </a:r>
            <a:r>
              <a:rPr lang="en-ZA" sz="1200" err="1">
                <a:latin typeface="Arial" panose="020B0604020202020204" pitchFamily="34" charset="0"/>
                <a:cs typeface="Arial" panose="020B0604020202020204" pitchFamily="34" charset="0"/>
              </a:rPr>
              <a:t>leo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Consequat</a:t>
            </a:r>
            <a:r>
              <a:rPr lang="en-ZA" sz="1200">
                <a:latin typeface="Arial" panose="020B0604020202020204" pitchFamily="34" charset="0"/>
                <a:cs typeface="Arial" panose="020B0604020202020204" pitchFamily="34" charset="0"/>
              </a:rPr>
              <a:t> ac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donec</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Urna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sagittis</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Tincidunt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ornare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massa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viverra</a:t>
            </a:r>
            <a:r>
              <a:rPr lang="en-ZA" sz="1200">
                <a:latin typeface="Arial" panose="020B0604020202020204" pitchFamily="34" charset="0"/>
                <a:cs typeface="Arial" panose="020B0604020202020204" pitchFamily="34" charset="0"/>
              </a:rPr>
              <a:t>.</a:t>
            </a:r>
          </a:p>
        </p:txBody>
      </p:sp>
      <p:sp>
        <p:nvSpPr>
          <p:cNvPr id="13" name="Text Placeholder 3">
            <a:extLst>
              <a:ext uri="{FF2B5EF4-FFF2-40B4-BE49-F238E27FC236}">
                <a16:creationId xmlns:a16="http://schemas.microsoft.com/office/drawing/2014/main" id="{3BD8129E-A54F-0B4F-BB6A-8B44AF791B2C}"/>
              </a:ext>
            </a:extLst>
          </p:cNvPr>
          <p:cNvSpPr>
            <a:spLocks noGrp="1"/>
          </p:cNvSpPr>
          <p:nvPr>
            <p:ph type="body" sz="half" idx="15" hasCustomPrompt="1"/>
          </p:nvPr>
        </p:nvSpPr>
        <p:spPr>
          <a:xfrm>
            <a:off x="404629" y="1800521"/>
            <a:ext cx="7376735"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14" name="Title 1">
            <a:extLst>
              <a:ext uri="{FF2B5EF4-FFF2-40B4-BE49-F238E27FC236}">
                <a16:creationId xmlns:a16="http://schemas.microsoft.com/office/drawing/2014/main" id="{A3A9CCE5-D92C-0247-8972-F4919AC19DCF}"/>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pic>
        <p:nvPicPr>
          <p:cNvPr id="16" name="Picture 15" descr="Arrow, funnel chart&#10;&#10;Description automatically generated">
            <a:extLst>
              <a:ext uri="{FF2B5EF4-FFF2-40B4-BE49-F238E27FC236}">
                <a16:creationId xmlns:a16="http://schemas.microsoft.com/office/drawing/2014/main" id="{DCB59CA8-441E-5245-B024-4BFF864CD2E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7" name="Picture 16" descr="Arrow&#10;&#10;Description automatically generated with medium confidence">
            <a:extLst>
              <a:ext uri="{FF2B5EF4-FFF2-40B4-BE49-F238E27FC236}">
                <a16:creationId xmlns:a16="http://schemas.microsoft.com/office/drawing/2014/main" id="{6287F84C-DFE3-9341-BBC1-F948D036DAE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10" name="Slide Number Placeholder 5">
            <a:extLst>
              <a:ext uri="{FF2B5EF4-FFF2-40B4-BE49-F238E27FC236}">
                <a16:creationId xmlns:a16="http://schemas.microsoft.com/office/drawing/2014/main" id="{784842C1-2C80-EB45-84A4-64BF2B6AA8FE}"/>
              </a:ext>
            </a:extLst>
          </p:cNvPr>
          <p:cNvSpPr>
            <a:spLocks noGrp="1"/>
          </p:cNvSpPr>
          <p:nvPr>
            <p:ph type="sldNum" sz="quarter" idx="4"/>
          </p:nvPr>
        </p:nvSpPr>
        <p:spPr>
          <a:xfrm>
            <a:off x="8739667" y="6381530"/>
            <a:ext cx="2743200"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DDAFD0C9-8BC0-5147-B74C-78C6A0363883}" type="slidenum">
              <a:rPr lang="en-ZA" smtClean="0"/>
              <a:pPr/>
              <a:t>‹#›</a:t>
            </a:fld>
            <a:endParaRPr lang="en-ZA"/>
          </a:p>
        </p:txBody>
      </p:sp>
    </p:spTree>
    <p:extLst>
      <p:ext uri="{BB962C8B-B14F-4D97-AF65-F5344CB8AC3E}">
        <p14:creationId xmlns:p14="http://schemas.microsoft.com/office/powerpoint/2010/main" val="38432502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PY_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72F93A-A163-CB47-9BD4-2D716BC9DAE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977350" y="0"/>
            <a:ext cx="4214650" cy="6858000"/>
          </a:xfrm>
          <a:prstGeom prst="rect">
            <a:avLst/>
          </a:prstGeom>
        </p:spPr>
      </p:pic>
      <p:sp>
        <p:nvSpPr>
          <p:cNvPr id="12" name="Text Placeholder 3">
            <a:extLst>
              <a:ext uri="{FF2B5EF4-FFF2-40B4-BE49-F238E27FC236}">
                <a16:creationId xmlns:a16="http://schemas.microsoft.com/office/drawing/2014/main" id="{7AEFE55D-EC79-1045-A861-4A7265EFDEFD}"/>
              </a:ext>
            </a:extLst>
          </p:cNvPr>
          <p:cNvSpPr>
            <a:spLocks noGrp="1"/>
          </p:cNvSpPr>
          <p:nvPr>
            <p:ph type="body" sz="half" idx="2" hasCustomPrompt="1"/>
          </p:nvPr>
        </p:nvSpPr>
        <p:spPr>
          <a:xfrm>
            <a:off x="404629" y="2565786"/>
            <a:ext cx="7139171" cy="3811588"/>
          </a:xfrm>
        </p:spPr>
        <p:txBody>
          <a:bodyPr/>
          <a:lstStyle>
            <a:lvl1pPr marL="0" indent="0">
              <a:lnSpc>
                <a:spcPts val="1400"/>
              </a:lnSpc>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a:p>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pretium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dignissim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suspendisse</a:t>
            </a:r>
            <a:r>
              <a:rPr lang="en-ZA" sz="1200">
                <a:latin typeface="Arial" panose="020B0604020202020204" pitchFamily="34" charset="0"/>
                <a:cs typeface="Arial" panose="020B0604020202020204" pitchFamily="34" charset="0"/>
              </a:rPr>
              <a:t> in.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pharetra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suscipit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imperdiet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fermentum </a:t>
            </a:r>
            <a:r>
              <a:rPr lang="en-ZA" sz="1200" err="1">
                <a:latin typeface="Arial" panose="020B0604020202020204" pitchFamily="34" charset="0"/>
                <a:cs typeface="Arial" panose="020B0604020202020204" pitchFamily="34" charset="0"/>
              </a:rPr>
              <a:t>leo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Consequat</a:t>
            </a:r>
            <a:r>
              <a:rPr lang="en-ZA" sz="1200">
                <a:latin typeface="Arial" panose="020B0604020202020204" pitchFamily="34" charset="0"/>
                <a:cs typeface="Arial" panose="020B0604020202020204" pitchFamily="34" charset="0"/>
              </a:rPr>
              <a:t> ac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donec</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Urna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sagittis</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Tincidunt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ornare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massa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viverra</a:t>
            </a:r>
            <a:r>
              <a:rPr lang="en-ZA" sz="1200">
                <a:latin typeface="Arial" panose="020B0604020202020204" pitchFamily="34" charset="0"/>
                <a:cs typeface="Arial" panose="020B0604020202020204" pitchFamily="34" charset="0"/>
              </a:rPr>
              <a:t>.</a:t>
            </a:r>
          </a:p>
        </p:txBody>
      </p:sp>
      <p:sp>
        <p:nvSpPr>
          <p:cNvPr id="13" name="Text Placeholder 3">
            <a:extLst>
              <a:ext uri="{FF2B5EF4-FFF2-40B4-BE49-F238E27FC236}">
                <a16:creationId xmlns:a16="http://schemas.microsoft.com/office/drawing/2014/main" id="{7E95045A-192C-E143-AD7E-58692971C53C}"/>
              </a:ext>
            </a:extLst>
          </p:cNvPr>
          <p:cNvSpPr>
            <a:spLocks noGrp="1"/>
          </p:cNvSpPr>
          <p:nvPr>
            <p:ph type="body" sz="half" idx="15" hasCustomPrompt="1"/>
          </p:nvPr>
        </p:nvSpPr>
        <p:spPr>
          <a:xfrm>
            <a:off x="404629" y="1800521"/>
            <a:ext cx="7376735"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14" name="Title 1">
            <a:extLst>
              <a:ext uri="{FF2B5EF4-FFF2-40B4-BE49-F238E27FC236}">
                <a16:creationId xmlns:a16="http://schemas.microsoft.com/office/drawing/2014/main" id="{53627EB0-9B17-7B48-9D85-983B426783EB}"/>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pic>
        <p:nvPicPr>
          <p:cNvPr id="16" name="Picture 15" descr="Arrow, funnel chart&#10;&#10;Description automatically generated">
            <a:extLst>
              <a:ext uri="{FF2B5EF4-FFF2-40B4-BE49-F238E27FC236}">
                <a16:creationId xmlns:a16="http://schemas.microsoft.com/office/drawing/2014/main" id="{0ED36640-2E4F-6745-90D9-0D394C35210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7" name="Picture 16" descr="Arrow&#10;&#10;Description automatically generated with medium confidence">
            <a:extLst>
              <a:ext uri="{FF2B5EF4-FFF2-40B4-BE49-F238E27FC236}">
                <a16:creationId xmlns:a16="http://schemas.microsoft.com/office/drawing/2014/main" id="{CD140B89-CCC8-DB4B-A0BD-32BA8ECD2FF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10" name="Slide Number Placeholder 5">
            <a:extLst>
              <a:ext uri="{FF2B5EF4-FFF2-40B4-BE49-F238E27FC236}">
                <a16:creationId xmlns:a16="http://schemas.microsoft.com/office/drawing/2014/main" id="{2CD00A1E-8116-024A-97F8-A72166D0B981}"/>
              </a:ext>
            </a:extLst>
          </p:cNvPr>
          <p:cNvSpPr>
            <a:spLocks noGrp="1"/>
          </p:cNvSpPr>
          <p:nvPr>
            <p:ph type="sldNum" sz="quarter" idx="4"/>
          </p:nvPr>
        </p:nvSpPr>
        <p:spPr>
          <a:xfrm>
            <a:off x="8739667" y="6381530"/>
            <a:ext cx="2743200"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DDAFD0C9-8BC0-5147-B74C-78C6A0363883}" type="slidenum">
              <a:rPr lang="en-ZA" smtClean="0"/>
              <a:pPr/>
              <a:t>‹#›</a:t>
            </a:fld>
            <a:endParaRPr lang="en-ZA"/>
          </a:p>
        </p:txBody>
      </p:sp>
    </p:spTree>
    <p:extLst>
      <p:ext uri="{BB962C8B-B14F-4D97-AF65-F5344CB8AC3E}">
        <p14:creationId xmlns:p14="http://schemas.microsoft.com/office/powerpoint/2010/main" val="38013373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COPY_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72F93A-A163-CB47-9BD4-2D716BC9DAE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977350" y="0"/>
            <a:ext cx="4214650" cy="6858000"/>
          </a:xfrm>
          <a:prstGeom prst="rect">
            <a:avLst/>
          </a:prstGeom>
        </p:spPr>
      </p:pic>
      <p:sp>
        <p:nvSpPr>
          <p:cNvPr id="12" name="Text Placeholder 3">
            <a:extLst>
              <a:ext uri="{FF2B5EF4-FFF2-40B4-BE49-F238E27FC236}">
                <a16:creationId xmlns:a16="http://schemas.microsoft.com/office/drawing/2014/main" id="{FFFA4681-8F3E-964E-9E24-73A16D7120EC}"/>
              </a:ext>
            </a:extLst>
          </p:cNvPr>
          <p:cNvSpPr>
            <a:spLocks noGrp="1"/>
          </p:cNvSpPr>
          <p:nvPr>
            <p:ph type="body" sz="half" idx="2" hasCustomPrompt="1"/>
          </p:nvPr>
        </p:nvSpPr>
        <p:spPr>
          <a:xfrm>
            <a:off x="404629" y="2565786"/>
            <a:ext cx="7139171" cy="3811588"/>
          </a:xfrm>
        </p:spPr>
        <p:txBody>
          <a:bodyPr/>
          <a:lstStyle>
            <a:lvl1pPr marL="0" indent="0">
              <a:lnSpc>
                <a:spcPts val="1400"/>
              </a:lnSpc>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a:p>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pretium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dignissim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suspendisse</a:t>
            </a:r>
            <a:r>
              <a:rPr lang="en-ZA" sz="1200">
                <a:latin typeface="Arial" panose="020B0604020202020204" pitchFamily="34" charset="0"/>
                <a:cs typeface="Arial" panose="020B0604020202020204" pitchFamily="34" charset="0"/>
              </a:rPr>
              <a:t> in.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pharetra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suscipit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imperdiet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fermentum </a:t>
            </a:r>
            <a:r>
              <a:rPr lang="en-ZA" sz="1200" err="1">
                <a:latin typeface="Arial" panose="020B0604020202020204" pitchFamily="34" charset="0"/>
                <a:cs typeface="Arial" panose="020B0604020202020204" pitchFamily="34" charset="0"/>
              </a:rPr>
              <a:t>leo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Consequat</a:t>
            </a:r>
            <a:r>
              <a:rPr lang="en-ZA" sz="1200">
                <a:latin typeface="Arial" panose="020B0604020202020204" pitchFamily="34" charset="0"/>
                <a:cs typeface="Arial" panose="020B0604020202020204" pitchFamily="34" charset="0"/>
              </a:rPr>
              <a:t> ac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donec</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Urna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sagittis</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Tincidunt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ornare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massa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viverra</a:t>
            </a:r>
            <a:r>
              <a:rPr lang="en-ZA" sz="1200">
                <a:latin typeface="Arial" panose="020B0604020202020204" pitchFamily="34" charset="0"/>
                <a:cs typeface="Arial" panose="020B0604020202020204" pitchFamily="34" charset="0"/>
              </a:rPr>
              <a:t>.</a:t>
            </a:r>
          </a:p>
        </p:txBody>
      </p:sp>
      <p:sp>
        <p:nvSpPr>
          <p:cNvPr id="13" name="Text Placeholder 3">
            <a:extLst>
              <a:ext uri="{FF2B5EF4-FFF2-40B4-BE49-F238E27FC236}">
                <a16:creationId xmlns:a16="http://schemas.microsoft.com/office/drawing/2014/main" id="{6D3D9364-99DB-C140-B7E8-C7311DD449FD}"/>
              </a:ext>
            </a:extLst>
          </p:cNvPr>
          <p:cNvSpPr>
            <a:spLocks noGrp="1"/>
          </p:cNvSpPr>
          <p:nvPr>
            <p:ph type="body" sz="half" idx="15" hasCustomPrompt="1"/>
          </p:nvPr>
        </p:nvSpPr>
        <p:spPr>
          <a:xfrm>
            <a:off x="404629" y="1800521"/>
            <a:ext cx="7376735"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14" name="Title 1">
            <a:extLst>
              <a:ext uri="{FF2B5EF4-FFF2-40B4-BE49-F238E27FC236}">
                <a16:creationId xmlns:a16="http://schemas.microsoft.com/office/drawing/2014/main" id="{AEC4CD98-E5DC-AA46-BA3B-1905EB577D57}"/>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pic>
        <p:nvPicPr>
          <p:cNvPr id="16" name="Picture 15" descr="Arrow, funnel chart&#10;&#10;Description automatically generated">
            <a:extLst>
              <a:ext uri="{FF2B5EF4-FFF2-40B4-BE49-F238E27FC236}">
                <a16:creationId xmlns:a16="http://schemas.microsoft.com/office/drawing/2014/main" id="{B903DD1F-B01C-864D-9AA0-6DAC4DB2205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7" name="Picture 16" descr="Arrow&#10;&#10;Description automatically generated with medium confidence">
            <a:extLst>
              <a:ext uri="{FF2B5EF4-FFF2-40B4-BE49-F238E27FC236}">
                <a16:creationId xmlns:a16="http://schemas.microsoft.com/office/drawing/2014/main" id="{6B24A990-7F32-BF43-8E8F-268D8452DA3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9" name="Slide Number Placeholder 5">
            <a:extLst>
              <a:ext uri="{FF2B5EF4-FFF2-40B4-BE49-F238E27FC236}">
                <a16:creationId xmlns:a16="http://schemas.microsoft.com/office/drawing/2014/main" id="{D911FF6E-6801-D046-B6B7-630191CA568B}"/>
              </a:ext>
            </a:extLst>
          </p:cNvPr>
          <p:cNvSpPr>
            <a:spLocks noGrp="1"/>
          </p:cNvSpPr>
          <p:nvPr>
            <p:ph type="sldNum" sz="quarter" idx="4"/>
          </p:nvPr>
        </p:nvSpPr>
        <p:spPr>
          <a:xfrm>
            <a:off x="8739667" y="6381530"/>
            <a:ext cx="2743200"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DDAFD0C9-8BC0-5147-B74C-78C6A0363883}" type="slidenum">
              <a:rPr lang="en-ZA" smtClean="0"/>
              <a:pPr/>
              <a:t>‹#›</a:t>
            </a:fld>
            <a:endParaRPr lang="en-ZA"/>
          </a:p>
        </p:txBody>
      </p:sp>
    </p:spTree>
    <p:extLst>
      <p:ext uri="{BB962C8B-B14F-4D97-AF65-F5344CB8AC3E}">
        <p14:creationId xmlns:p14="http://schemas.microsoft.com/office/powerpoint/2010/main" val="658879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COPY_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72F93A-A163-CB47-9BD4-2D716BC9DAE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977350" y="0"/>
            <a:ext cx="4214650" cy="6858000"/>
          </a:xfrm>
          <a:prstGeom prst="rect">
            <a:avLst/>
          </a:prstGeom>
        </p:spPr>
      </p:pic>
      <p:sp>
        <p:nvSpPr>
          <p:cNvPr id="12" name="Text Placeholder 3">
            <a:extLst>
              <a:ext uri="{FF2B5EF4-FFF2-40B4-BE49-F238E27FC236}">
                <a16:creationId xmlns:a16="http://schemas.microsoft.com/office/drawing/2014/main" id="{3C1CB351-38B8-1348-8502-DF74BC819960}"/>
              </a:ext>
            </a:extLst>
          </p:cNvPr>
          <p:cNvSpPr>
            <a:spLocks noGrp="1"/>
          </p:cNvSpPr>
          <p:nvPr>
            <p:ph type="body" sz="half" idx="2" hasCustomPrompt="1"/>
          </p:nvPr>
        </p:nvSpPr>
        <p:spPr>
          <a:xfrm>
            <a:off x="404629" y="2565786"/>
            <a:ext cx="7139171" cy="3811588"/>
          </a:xfrm>
        </p:spPr>
        <p:txBody>
          <a:bodyPr/>
          <a:lstStyle>
            <a:lvl1pPr marL="0" indent="0">
              <a:lnSpc>
                <a:spcPts val="1400"/>
              </a:lnSpc>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a:p>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pretium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dignissim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suspendisse</a:t>
            </a:r>
            <a:r>
              <a:rPr lang="en-ZA" sz="1200">
                <a:latin typeface="Arial" panose="020B0604020202020204" pitchFamily="34" charset="0"/>
                <a:cs typeface="Arial" panose="020B0604020202020204" pitchFamily="34" charset="0"/>
              </a:rPr>
              <a:t> in.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pharetra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suscipit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imperdiet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fermentum </a:t>
            </a:r>
            <a:r>
              <a:rPr lang="en-ZA" sz="1200" err="1">
                <a:latin typeface="Arial" panose="020B0604020202020204" pitchFamily="34" charset="0"/>
                <a:cs typeface="Arial" panose="020B0604020202020204" pitchFamily="34" charset="0"/>
              </a:rPr>
              <a:t>leo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Consequat</a:t>
            </a:r>
            <a:r>
              <a:rPr lang="en-ZA" sz="1200">
                <a:latin typeface="Arial" panose="020B0604020202020204" pitchFamily="34" charset="0"/>
                <a:cs typeface="Arial" panose="020B0604020202020204" pitchFamily="34" charset="0"/>
              </a:rPr>
              <a:t> ac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donec</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Urna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sagittis</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Tincidunt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ornare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massa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viverra</a:t>
            </a:r>
            <a:r>
              <a:rPr lang="en-ZA" sz="1200">
                <a:latin typeface="Arial" panose="020B0604020202020204" pitchFamily="34" charset="0"/>
                <a:cs typeface="Arial" panose="020B0604020202020204" pitchFamily="34" charset="0"/>
              </a:rPr>
              <a:t>.</a:t>
            </a:r>
          </a:p>
        </p:txBody>
      </p:sp>
      <p:sp>
        <p:nvSpPr>
          <p:cNvPr id="13" name="Text Placeholder 3">
            <a:extLst>
              <a:ext uri="{FF2B5EF4-FFF2-40B4-BE49-F238E27FC236}">
                <a16:creationId xmlns:a16="http://schemas.microsoft.com/office/drawing/2014/main" id="{865F50F1-65DC-134D-85FE-4171250C7C33}"/>
              </a:ext>
            </a:extLst>
          </p:cNvPr>
          <p:cNvSpPr>
            <a:spLocks noGrp="1"/>
          </p:cNvSpPr>
          <p:nvPr>
            <p:ph type="body" sz="half" idx="15" hasCustomPrompt="1"/>
          </p:nvPr>
        </p:nvSpPr>
        <p:spPr>
          <a:xfrm>
            <a:off x="404629" y="1800521"/>
            <a:ext cx="7376735"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14" name="Title 1">
            <a:extLst>
              <a:ext uri="{FF2B5EF4-FFF2-40B4-BE49-F238E27FC236}">
                <a16:creationId xmlns:a16="http://schemas.microsoft.com/office/drawing/2014/main" id="{D5C336B1-5F81-E14C-89A7-5AF831613210}"/>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pic>
        <p:nvPicPr>
          <p:cNvPr id="5" name="Picture 4" descr="Arrow&#10;&#10;Description automatically generated with medium confidence">
            <a:extLst>
              <a:ext uri="{FF2B5EF4-FFF2-40B4-BE49-F238E27FC236}">
                <a16:creationId xmlns:a16="http://schemas.microsoft.com/office/drawing/2014/main" id="{769A5210-8CAD-814C-AFF3-4204CDFFCD5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pic>
        <p:nvPicPr>
          <p:cNvPr id="7" name="Picture 6" descr="Arrow, funnel chart&#10;&#10;Description automatically generated">
            <a:extLst>
              <a:ext uri="{FF2B5EF4-FFF2-40B4-BE49-F238E27FC236}">
                <a16:creationId xmlns:a16="http://schemas.microsoft.com/office/drawing/2014/main" id="{054C498C-8201-504B-87F4-BDDC65FDB9A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sp>
        <p:nvSpPr>
          <p:cNvPr id="10" name="Slide Number Placeholder 5">
            <a:extLst>
              <a:ext uri="{FF2B5EF4-FFF2-40B4-BE49-F238E27FC236}">
                <a16:creationId xmlns:a16="http://schemas.microsoft.com/office/drawing/2014/main" id="{1CDD5E90-BEE8-844C-A616-22EF8FCB1357}"/>
              </a:ext>
            </a:extLst>
          </p:cNvPr>
          <p:cNvSpPr>
            <a:spLocks noGrp="1"/>
          </p:cNvSpPr>
          <p:nvPr>
            <p:ph type="sldNum" sz="quarter" idx="4"/>
          </p:nvPr>
        </p:nvSpPr>
        <p:spPr>
          <a:xfrm>
            <a:off x="8739667" y="6381530"/>
            <a:ext cx="2743200"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DDAFD0C9-8BC0-5147-B74C-78C6A0363883}" type="slidenum">
              <a:rPr lang="en-ZA" smtClean="0"/>
              <a:pPr/>
              <a:t>‹#›</a:t>
            </a:fld>
            <a:endParaRPr lang="en-ZA"/>
          </a:p>
        </p:txBody>
      </p:sp>
    </p:spTree>
    <p:extLst>
      <p:ext uri="{BB962C8B-B14F-4D97-AF65-F5344CB8AC3E}">
        <p14:creationId xmlns:p14="http://schemas.microsoft.com/office/powerpoint/2010/main" val="15879551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PY_9">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72F93A-A163-CB47-9BD4-2D716BC9DAE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977350" y="0"/>
            <a:ext cx="4214650" cy="6858000"/>
          </a:xfrm>
          <a:prstGeom prst="rect">
            <a:avLst/>
          </a:prstGeom>
        </p:spPr>
      </p:pic>
      <p:sp>
        <p:nvSpPr>
          <p:cNvPr id="13" name="Text Placeholder 3">
            <a:extLst>
              <a:ext uri="{FF2B5EF4-FFF2-40B4-BE49-F238E27FC236}">
                <a16:creationId xmlns:a16="http://schemas.microsoft.com/office/drawing/2014/main" id="{18444D01-96A8-B941-969A-10E277A5D82E}"/>
              </a:ext>
            </a:extLst>
          </p:cNvPr>
          <p:cNvSpPr>
            <a:spLocks noGrp="1"/>
          </p:cNvSpPr>
          <p:nvPr>
            <p:ph type="body" sz="half" idx="2" hasCustomPrompt="1"/>
          </p:nvPr>
        </p:nvSpPr>
        <p:spPr>
          <a:xfrm>
            <a:off x="404629" y="2565786"/>
            <a:ext cx="7139171" cy="3811588"/>
          </a:xfrm>
        </p:spPr>
        <p:txBody>
          <a:bodyPr/>
          <a:lstStyle>
            <a:lvl1pPr marL="0" indent="0">
              <a:lnSpc>
                <a:spcPts val="1400"/>
              </a:lnSpc>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ZA" sz="1200">
                <a:latin typeface="Arial" panose="020B0604020202020204" pitchFamily="34" charset="0"/>
                <a:cs typeface="Arial" panose="020B0604020202020204" pitchFamily="34" charset="0"/>
              </a:rPr>
              <a:t>Lorem ipsum </a:t>
            </a:r>
            <a:r>
              <a:rPr lang="en-ZA" sz="1200" err="1">
                <a:latin typeface="Arial" panose="020B0604020202020204" pitchFamily="34" charset="0"/>
                <a:cs typeface="Arial" panose="020B0604020202020204" pitchFamily="34" charset="0"/>
              </a:rPr>
              <a:t>dolor</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do </a:t>
            </a:r>
            <a:r>
              <a:rPr lang="en-ZA" sz="1200" err="1">
                <a:latin typeface="Arial" panose="020B0604020202020204" pitchFamily="34" charset="0"/>
                <a:cs typeface="Arial" panose="020B0604020202020204" pitchFamily="34" charset="0"/>
              </a:rPr>
              <a:t>eiusmod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tempor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incididunt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labore</a:t>
            </a:r>
            <a:r>
              <a:rPr lang="en-ZA" sz="1200">
                <a:latin typeface="Arial" panose="020B0604020202020204" pitchFamily="34" charset="0"/>
                <a:cs typeface="Arial" panose="020B0604020202020204" pitchFamily="34" charset="0"/>
              </a:rPr>
              <a:t> et dolore magna </a:t>
            </a:r>
            <a:r>
              <a:rPr lang="en-ZA" sz="1200" err="1">
                <a:latin typeface="Arial" panose="020B0604020202020204" pitchFamily="34" charset="0"/>
                <a:cs typeface="Arial" panose="020B0604020202020204" pitchFamily="34" charset="0"/>
              </a:rPr>
              <a:t>aliqua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lectus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nibh</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condimentum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dui </a:t>
            </a:r>
            <a:r>
              <a:rPr lang="en-ZA" sz="1200" err="1">
                <a:latin typeface="Arial" panose="020B0604020202020204" pitchFamily="34" charset="0"/>
                <a:cs typeface="Arial" panose="020B0604020202020204" pitchFamily="34" charset="0"/>
              </a:rPr>
              <a:t>vivamus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bibendum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Arcu</a:t>
            </a:r>
            <a:r>
              <a:rPr lang="en-ZA" sz="1200">
                <a:latin typeface="Arial" panose="020B0604020202020204" pitchFamily="34" charset="0"/>
                <a:cs typeface="Arial" panose="020B0604020202020204" pitchFamily="34" charset="0"/>
              </a:rPr>
              <a:t> cursus vitae </a:t>
            </a:r>
            <a:r>
              <a:rPr lang="en-ZA" sz="1200" err="1">
                <a:latin typeface="Arial" panose="020B0604020202020204" pitchFamily="34" charset="0"/>
                <a:cs typeface="Arial" panose="020B0604020202020204" pitchFamily="34" charset="0"/>
              </a:rPr>
              <a:t>congue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mauris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rhoncus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aenean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elit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euismod</a:t>
            </a:r>
            <a:r>
              <a:rPr lang="en-ZA" sz="1200">
                <a:latin typeface="Arial" panose="020B0604020202020204" pitchFamily="34" charset="0"/>
                <a:cs typeface="Arial" panose="020B0604020202020204" pitchFamily="34" charset="0"/>
              </a:rPr>
              <a:t> nisi porta lorem.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fringilla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phasellus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enim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porttitor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lacus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luctus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accumsan</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tortor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posuere</a:t>
            </a:r>
            <a:r>
              <a:rPr lang="en-ZA" sz="1200">
                <a:latin typeface="Arial" panose="020B0604020202020204" pitchFamily="34" charset="0"/>
                <a:cs typeface="Arial" panose="020B0604020202020204" pitchFamily="34" charset="0"/>
              </a:rPr>
              <a:t>.</a:t>
            </a:r>
          </a:p>
          <a:p>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risus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pretium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quam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dignissim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suspendisse</a:t>
            </a:r>
            <a:r>
              <a:rPr lang="en-ZA" sz="1200">
                <a:latin typeface="Arial" panose="020B0604020202020204" pitchFamily="34" charset="0"/>
                <a:cs typeface="Arial" panose="020B0604020202020204" pitchFamily="34" charset="0"/>
              </a:rPr>
              <a:t> in. </a:t>
            </a:r>
            <a:r>
              <a:rPr lang="en-ZA" sz="1200" err="1">
                <a:latin typeface="Arial" panose="020B0604020202020204" pitchFamily="34" charset="0"/>
                <a:cs typeface="Arial" panose="020B0604020202020204" pitchFamily="34" charset="0"/>
              </a:rPr>
              <a:t>Nulla</a:t>
            </a:r>
            <a:r>
              <a:rPr lang="en-ZA" sz="1200">
                <a:latin typeface="Arial" panose="020B0604020202020204" pitchFamily="34" charset="0"/>
                <a:cs typeface="Arial" panose="020B0604020202020204" pitchFamily="34" charset="0"/>
              </a:rPr>
              <a:t> pharetra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sit </a:t>
            </a:r>
            <a:r>
              <a:rPr lang="en-ZA" sz="1200" err="1">
                <a:latin typeface="Arial" panose="020B0604020202020204" pitchFamily="34" charset="0"/>
                <a:cs typeface="Arial" panose="020B0604020202020204" pitchFamily="34" charset="0"/>
              </a:rPr>
              <a:t>amet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nisl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suscipit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adipiscing</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Vulputate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scelerisque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imperdiet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proin</a:t>
            </a:r>
            <a:r>
              <a:rPr lang="en-ZA" sz="1200">
                <a:latin typeface="Arial" panose="020B0604020202020204" pitchFamily="34" charset="0"/>
                <a:cs typeface="Arial" panose="020B0604020202020204" pitchFamily="34" charset="0"/>
              </a:rPr>
              <a:t> fermentum </a:t>
            </a:r>
            <a:r>
              <a:rPr lang="en-ZA" sz="1200" err="1">
                <a:latin typeface="Arial" panose="020B0604020202020204" pitchFamily="34" charset="0"/>
                <a:cs typeface="Arial" panose="020B0604020202020204" pitchFamily="34" charset="0"/>
              </a:rPr>
              <a:t>leo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vel</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orci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venenatis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tellus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Consequat</a:t>
            </a:r>
            <a:r>
              <a:rPr lang="en-ZA" sz="1200">
                <a:latin typeface="Arial" panose="020B0604020202020204" pitchFamily="34" charset="0"/>
                <a:cs typeface="Arial" panose="020B0604020202020204" pitchFamily="34" charset="0"/>
              </a:rPr>
              <a:t> ac </a:t>
            </a:r>
            <a:r>
              <a:rPr lang="en-ZA" sz="1200" err="1">
                <a:latin typeface="Arial" panose="020B0604020202020204" pitchFamily="34" charset="0"/>
                <a:cs typeface="Arial" panose="020B0604020202020204" pitchFamily="34" charset="0"/>
              </a:rPr>
              <a:t>felis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donec</a:t>
            </a:r>
            <a:r>
              <a:rPr lang="en-ZA" sz="1200">
                <a:latin typeface="Arial" panose="020B0604020202020204" pitchFamily="34" charset="0"/>
                <a:cs typeface="Arial" panose="020B0604020202020204" pitchFamily="34" charset="0"/>
              </a:rPr>
              <a:t> et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pellentesque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diam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volutpat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commodo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Urna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molestie</a:t>
            </a:r>
            <a:r>
              <a:rPr lang="en-ZA" sz="1200">
                <a:latin typeface="Arial" panose="020B0604020202020204" pitchFamily="34" charset="0"/>
                <a:cs typeface="Arial" panose="020B0604020202020204" pitchFamily="34" charset="0"/>
              </a:rPr>
              <a:t> at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eu</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facilisis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sed</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odio</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morbi</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Aliquet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sagittis</a:t>
            </a:r>
            <a:r>
              <a:rPr lang="en-ZA" sz="1200">
                <a:latin typeface="Arial" panose="020B0604020202020204" pitchFamily="34" charset="0"/>
                <a:cs typeface="Arial" panose="020B0604020202020204" pitchFamily="34" charset="0"/>
              </a:rPr>
              <a:t> id </a:t>
            </a:r>
            <a:r>
              <a:rPr lang="en-ZA" sz="1200" err="1">
                <a:latin typeface="Arial" panose="020B0604020202020204" pitchFamily="34" charset="0"/>
                <a:cs typeface="Arial" panose="020B0604020202020204" pitchFamily="34" charset="0"/>
              </a:rPr>
              <a:t>consectetur</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ut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faucibus</a:t>
            </a:r>
            <a:r>
              <a:rPr lang="en-ZA" sz="1200">
                <a:latin typeface="Arial" panose="020B0604020202020204" pitchFamily="34" charset="0"/>
                <a:cs typeface="Arial" panose="020B0604020202020204" pitchFamily="34" charset="0"/>
              </a:rPr>
              <a:t> pulvinar </a:t>
            </a:r>
            <a:r>
              <a:rPr lang="en-ZA" sz="1200" err="1">
                <a:latin typeface="Arial" panose="020B0604020202020204" pitchFamily="34" charset="0"/>
                <a:cs typeface="Arial" panose="020B0604020202020204" pitchFamily="34" charset="0"/>
              </a:rPr>
              <a:t>elementum</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Tincidunt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ornare</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massa</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eget</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egestas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purus</a:t>
            </a:r>
            <a:r>
              <a:rPr lang="en-ZA" sz="1200">
                <a:latin typeface="Arial" panose="020B0604020202020204" pitchFamily="34" charset="0"/>
                <a:cs typeface="Arial" panose="020B0604020202020204" pitchFamily="34" charset="0"/>
              </a:rPr>
              <a:t> </a:t>
            </a:r>
            <a:r>
              <a:rPr lang="en-ZA" sz="1200" err="1">
                <a:latin typeface="Arial" panose="020B0604020202020204" pitchFamily="34" charset="0"/>
                <a:cs typeface="Arial" panose="020B0604020202020204" pitchFamily="34" charset="0"/>
              </a:rPr>
              <a:t>viverra</a:t>
            </a:r>
            <a:r>
              <a:rPr lang="en-ZA" sz="1200">
                <a:latin typeface="Arial" panose="020B0604020202020204" pitchFamily="34" charset="0"/>
                <a:cs typeface="Arial" panose="020B0604020202020204" pitchFamily="34" charset="0"/>
              </a:rPr>
              <a:t>.</a:t>
            </a:r>
          </a:p>
        </p:txBody>
      </p:sp>
      <p:sp>
        <p:nvSpPr>
          <p:cNvPr id="14" name="Text Placeholder 3">
            <a:extLst>
              <a:ext uri="{FF2B5EF4-FFF2-40B4-BE49-F238E27FC236}">
                <a16:creationId xmlns:a16="http://schemas.microsoft.com/office/drawing/2014/main" id="{29EFE747-DBA4-D047-B440-DFED69BCEFBF}"/>
              </a:ext>
            </a:extLst>
          </p:cNvPr>
          <p:cNvSpPr>
            <a:spLocks noGrp="1"/>
          </p:cNvSpPr>
          <p:nvPr>
            <p:ph type="body" sz="half" idx="15" hasCustomPrompt="1"/>
          </p:nvPr>
        </p:nvSpPr>
        <p:spPr>
          <a:xfrm>
            <a:off x="404629" y="1800521"/>
            <a:ext cx="7376735" cy="609600"/>
          </a:xfrm>
        </p:spPr>
        <p:txBody>
          <a:bodyPr/>
          <a:lstStyle>
            <a:lvl1pPr marL="0" indent="0">
              <a:lnSpc>
                <a:spcPts val="1000"/>
              </a:lnSpc>
              <a:buNone/>
              <a:defRPr sz="1600" b="1" i="0">
                <a:latin typeface="Arial Black" panose="020B0604020202020204" pitchFamily="34" charset="0"/>
                <a:cs typeface="Arial Black"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GB"/>
              <a:t>LONG FORM</a:t>
            </a:r>
          </a:p>
          <a:p>
            <a:r>
              <a:rPr lang="en-GB"/>
              <a:t>PARAGRAPH TITLE</a:t>
            </a:r>
          </a:p>
        </p:txBody>
      </p:sp>
      <p:sp>
        <p:nvSpPr>
          <p:cNvPr id="16" name="Title 1">
            <a:extLst>
              <a:ext uri="{FF2B5EF4-FFF2-40B4-BE49-F238E27FC236}">
                <a16:creationId xmlns:a16="http://schemas.microsoft.com/office/drawing/2014/main" id="{8103AA43-05EF-9E44-A70B-ED66B3FBC6C4}"/>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en-GB"/>
              <a:t>CLICK TO EDIT MASTER</a:t>
            </a:r>
            <a:br>
              <a:rPr lang="en-GB"/>
            </a:br>
            <a:r>
              <a:rPr lang="en-GB"/>
              <a:t>TITLE STYLE</a:t>
            </a:r>
          </a:p>
        </p:txBody>
      </p:sp>
      <p:pic>
        <p:nvPicPr>
          <p:cNvPr id="17" name="Picture 16" descr="Arrow, funnel chart&#10;&#10;Description automatically generated">
            <a:extLst>
              <a:ext uri="{FF2B5EF4-FFF2-40B4-BE49-F238E27FC236}">
                <a16:creationId xmlns:a16="http://schemas.microsoft.com/office/drawing/2014/main" id="{6A189FF2-C244-C346-8A3C-1100C549E59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8" name="Picture 17" descr="Arrow&#10;&#10;Description automatically generated with medium confidence">
            <a:extLst>
              <a:ext uri="{FF2B5EF4-FFF2-40B4-BE49-F238E27FC236}">
                <a16:creationId xmlns:a16="http://schemas.microsoft.com/office/drawing/2014/main" id="{DBCAE0D8-0481-0846-854B-ECE6B44AB790}"/>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10" name="Slide Number Placeholder 5">
            <a:extLst>
              <a:ext uri="{FF2B5EF4-FFF2-40B4-BE49-F238E27FC236}">
                <a16:creationId xmlns:a16="http://schemas.microsoft.com/office/drawing/2014/main" id="{286B296A-B51B-444B-8E33-82D9518FB868}"/>
              </a:ext>
            </a:extLst>
          </p:cNvPr>
          <p:cNvSpPr>
            <a:spLocks noGrp="1"/>
          </p:cNvSpPr>
          <p:nvPr>
            <p:ph type="sldNum" sz="quarter" idx="4"/>
          </p:nvPr>
        </p:nvSpPr>
        <p:spPr>
          <a:xfrm>
            <a:off x="8739667" y="6381530"/>
            <a:ext cx="2743200"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DDAFD0C9-8BC0-5147-B74C-78C6A0363883}" type="slidenum">
              <a:rPr lang="en-ZA" smtClean="0"/>
              <a:pPr/>
              <a:t>‹#›</a:t>
            </a:fld>
            <a:endParaRPr lang="en-ZA"/>
          </a:p>
        </p:txBody>
      </p:sp>
    </p:spTree>
    <p:extLst>
      <p:ext uri="{BB962C8B-B14F-4D97-AF65-F5344CB8AC3E}">
        <p14:creationId xmlns:p14="http://schemas.microsoft.com/office/powerpoint/2010/main" val="25977826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ND SLIDE_ELEPHANTS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4F4B4A-0EF9-5D46-A8B6-A697152FE2D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Title 1">
            <a:extLst>
              <a:ext uri="{FF2B5EF4-FFF2-40B4-BE49-F238E27FC236}">
                <a16:creationId xmlns:a16="http://schemas.microsoft.com/office/drawing/2014/main" id="{7C49EED9-2DC9-AF44-A0AF-86FB7295FCF8}"/>
              </a:ext>
            </a:extLst>
          </p:cNvPr>
          <p:cNvSpPr>
            <a:spLocks noGrp="1"/>
          </p:cNvSpPr>
          <p:nvPr>
            <p:ph type="ctrTitle" hasCustomPrompt="1"/>
          </p:nvPr>
        </p:nvSpPr>
        <p:spPr>
          <a:xfrm>
            <a:off x="2873376" y="578098"/>
            <a:ext cx="9144000" cy="1438024"/>
          </a:xfrm>
        </p:spPr>
        <p:txBody>
          <a:bodyPr anchor="t"/>
          <a:lstStyle>
            <a:lvl1pPr algn="r">
              <a:lnSpc>
                <a:spcPts val="5280"/>
              </a:lnSpc>
              <a:defRPr sz="4400" b="1" i="0">
                <a:solidFill>
                  <a:schemeClr val="bg1"/>
                </a:solidFill>
                <a:latin typeface="Arial Black" panose="020B0604020202020204" pitchFamily="34" charset="0"/>
                <a:cs typeface="Arial Black" panose="020B0604020202020204" pitchFamily="34" charset="0"/>
              </a:defRPr>
            </a:lvl1pPr>
          </a:lstStyle>
          <a:p>
            <a:r>
              <a:rPr lang="en-GB"/>
              <a:t>THANK YOU</a:t>
            </a:r>
          </a:p>
        </p:txBody>
      </p:sp>
      <p:grpSp>
        <p:nvGrpSpPr>
          <p:cNvPr id="11" name="Group 10">
            <a:extLst>
              <a:ext uri="{FF2B5EF4-FFF2-40B4-BE49-F238E27FC236}">
                <a16:creationId xmlns:a16="http://schemas.microsoft.com/office/drawing/2014/main" id="{3A357208-6B89-9A4B-9C71-0C89F331F394}"/>
              </a:ext>
            </a:extLst>
          </p:cNvPr>
          <p:cNvGrpSpPr/>
          <p:nvPr userDrawn="1"/>
        </p:nvGrpSpPr>
        <p:grpSpPr>
          <a:xfrm>
            <a:off x="10121901" y="4705643"/>
            <a:ext cx="1778000" cy="2182266"/>
            <a:chOff x="10121901" y="4705815"/>
            <a:chExt cx="1778000" cy="2182266"/>
          </a:xfrm>
        </p:grpSpPr>
        <p:sp>
          <p:nvSpPr>
            <p:cNvPr id="16" name="Rectangle 15">
              <a:extLst>
                <a:ext uri="{FF2B5EF4-FFF2-40B4-BE49-F238E27FC236}">
                  <a16:creationId xmlns:a16="http://schemas.microsoft.com/office/drawing/2014/main" id="{9F807E36-FF0E-264C-BD8E-6E7165054AB9}"/>
                </a:ext>
              </a:extLst>
            </p:cNvPr>
            <p:cNvSpPr/>
            <p:nvPr userDrawn="1"/>
          </p:nvSpPr>
          <p:spPr>
            <a:xfrm>
              <a:off x="10121901" y="4847063"/>
              <a:ext cx="1778000" cy="2041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057829D-AEFC-DF46-8671-26C602C744AB}"/>
                </a:ext>
              </a:extLst>
            </p:cNvPr>
            <p:cNvSpPr/>
            <p:nvPr userDrawn="1"/>
          </p:nvSpPr>
          <p:spPr>
            <a:xfrm>
              <a:off x="11009971" y="4705815"/>
              <a:ext cx="889930" cy="2155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9" name="Picture 18">
            <a:extLst>
              <a:ext uri="{FF2B5EF4-FFF2-40B4-BE49-F238E27FC236}">
                <a16:creationId xmlns:a16="http://schemas.microsoft.com/office/drawing/2014/main" id="{7D39D4DF-AF35-D94F-8F15-327C67E22F9F}"/>
              </a:ext>
            </a:extLst>
          </p:cNvPr>
          <p:cNvPicPr>
            <a:picLocks noChangeAspect="1"/>
          </p:cNvPicPr>
          <p:nvPr userDrawn="1"/>
        </p:nvPicPr>
        <p:blipFill>
          <a:blip r:embed="rId3"/>
          <a:stretch>
            <a:fillRect/>
          </a:stretch>
        </p:blipFill>
        <p:spPr>
          <a:xfrm>
            <a:off x="10427097" y="5132717"/>
            <a:ext cx="1220617" cy="1349859"/>
          </a:xfrm>
          <a:prstGeom prst="rect">
            <a:avLst/>
          </a:prstGeom>
        </p:spPr>
      </p:pic>
      <p:sp>
        <p:nvSpPr>
          <p:cNvPr id="20" name="Freeform 19">
            <a:extLst>
              <a:ext uri="{FF2B5EF4-FFF2-40B4-BE49-F238E27FC236}">
                <a16:creationId xmlns:a16="http://schemas.microsoft.com/office/drawing/2014/main" id="{4AABB89A-C3FF-274E-AC8E-0381087552D4}"/>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3516322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ND SLIDE_ELEPHANTS">
    <p:spTree>
      <p:nvGrpSpPr>
        <p:cNvPr id="1" name=""/>
        <p:cNvGrpSpPr/>
        <p:nvPr/>
      </p:nvGrpSpPr>
      <p:grpSpPr>
        <a:xfrm>
          <a:off x="0" y="0"/>
          <a:ext cx="0" cy="0"/>
          <a:chOff x="0" y="0"/>
          <a:chExt cx="0" cy="0"/>
        </a:xfrm>
      </p:grpSpPr>
      <p:pic>
        <p:nvPicPr>
          <p:cNvPr id="4" name="Picture 3" descr="A picture containing elephant, outdoor&#10;&#10;Description automatically generated">
            <a:extLst>
              <a:ext uri="{FF2B5EF4-FFF2-40B4-BE49-F238E27FC236}">
                <a16:creationId xmlns:a16="http://schemas.microsoft.com/office/drawing/2014/main" id="{2C278DEA-B9D2-324E-88B5-AE048D8126F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Title 1">
            <a:extLst>
              <a:ext uri="{FF2B5EF4-FFF2-40B4-BE49-F238E27FC236}">
                <a16:creationId xmlns:a16="http://schemas.microsoft.com/office/drawing/2014/main" id="{7C49EED9-2DC9-AF44-A0AF-86FB7295FCF8}"/>
              </a:ext>
            </a:extLst>
          </p:cNvPr>
          <p:cNvSpPr>
            <a:spLocks noGrp="1"/>
          </p:cNvSpPr>
          <p:nvPr>
            <p:ph type="ctrTitle" hasCustomPrompt="1"/>
          </p:nvPr>
        </p:nvSpPr>
        <p:spPr>
          <a:xfrm>
            <a:off x="2873376" y="578098"/>
            <a:ext cx="9144000" cy="1438024"/>
          </a:xfrm>
        </p:spPr>
        <p:txBody>
          <a:bodyPr anchor="t"/>
          <a:lstStyle>
            <a:lvl1pPr algn="r">
              <a:lnSpc>
                <a:spcPts val="5280"/>
              </a:lnSpc>
              <a:defRPr sz="4400" b="1" i="0">
                <a:solidFill>
                  <a:schemeClr val="tx2"/>
                </a:solidFill>
                <a:latin typeface="Arial Black" panose="020B0604020202020204" pitchFamily="34" charset="0"/>
                <a:cs typeface="Arial Black" panose="020B0604020202020204" pitchFamily="34" charset="0"/>
              </a:defRPr>
            </a:lvl1pPr>
          </a:lstStyle>
          <a:p>
            <a:r>
              <a:rPr lang="en-GB"/>
              <a:t>THANK YOU</a:t>
            </a:r>
          </a:p>
        </p:txBody>
      </p:sp>
      <p:grpSp>
        <p:nvGrpSpPr>
          <p:cNvPr id="11" name="Group 10">
            <a:extLst>
              <a:ext uri="{FF2B5EF4-FFF2-40B4-BE49-F238E27FC236}">
                <a16:creationId xmlns:a16="http://schemas.microsoft.com/office/drawing/2014/main" id="{3A357208-6B89-9A4B-9C71-0C89F331F394}"/>
              </a:ext>
            </a:extLst>
          </p:cNvPr>
          <p:cNvGrpSpPr/>
          <p:nvPr userDrawn="1"/>
        </p:nvGrpSpPr>
        <p:grpSpPr>
          <a:xfrm>
            <a:off x="10121901" y="4705643"/>
            <a:ext cx="1778000" cy="2182266"/>
            <a:chOff x="10121901" y="4705815"/>
            <a:chExt cx="1778000" cy="2182266"/>
          </a:xfrm>
        </p:grpSpPr>
        <p:sp>
          <p:nvSpPr>
            <p:cNvPr id="16" name="Rectangle 15">
              <a:extLst>
                <a:ext uri="{FF2B5EF4-FFF2-40B4-BE49-F238E27FC236}">
                  <a16:creationId xmlns:a16="http://schemas.microsoft.com/office/drawing/2014/main" id="{9F807E36-FF0E-264C-BD8E-6E7165054AB9}"/>
                </a:ext>
              </a:extLst>
            </p:cNvPr>
            <p:cNvSpPr/>
            <p:nvPr userDrawn="1"/>
          </p:nvSpPr>
          <p:spPr>
            <a:xfrm>
              <a:off x="10121901" y="4847063"/>
              <a:ext cx="1778000" cy="2041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057829D-AEFC-DF46-8671-26C602C744AB}"/>
                </a:ext>
              </a:extLst>
            </p:cNvPr>
            <p:cNvSpPr/>
            <p:nvPr userDrawn="1"/>
          </p:nvSpPr>
          <p:spPr>
            <a:xfrm>
              <a:off x="11009971" y="4705815"/>
              <a:ext cx="889930" cy="2155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9" name="Picture 18">
            <a:extLst>
              <a:ext uri="{FF2B5EF4-FFF2-40B4-BE49-F238E27FC236}">
                <a16:creationId xmlns:a16="http://schemas.microsoft.com/office/drawing/2014/main" id="{7D39D4DF-AF35-D94F-8F15-327C67E22F9F}"/>
              </a:ext>
            </a:extLst>
          </p:cNvPr>
          <p:cNvPicPr>
            <a:picLocks noChangeAspect="1"/>
          </p:cNvPicPr>
          <p:nvPr userDrawn="1"/>
        </p:nvPicPr>
        <p:blipFill>
          <a:blip r:embed="rId3"/>
          <a:stretch>
            <a:fillRect/>
          </a:stretch>
        </p:blipFill>
        <p:spPr>
          <a:xfrm>
            <a:off x="10427097" y="5132717"/>
            <a:ext cx="1220617" cy="1349859"/>
          </a:xfrm>
          <a:prstGeom prst="rect">
            <a:avLst/>
          </a:prstGeom>
        </p:spPr>
      </p:pic>
      <p:sp>
        <p:nvSpPr>
          <p:cNvPr id="20" name="Freeform 19">
            <a:extLst>
              <a:ext uri="{FF2B5EF4-FFF2-40B4-BE49-F238E27FC236}">
                <a16:creationId xmlns:a16="http://schemas.microsoft.com/office/drawing/2014/main" id="{4AABB89A-C3FF-274E-AC8E-0381087552D4}"/>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704467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ND SLIDE_PLAIN">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7C49EED9-2DC9-AF44-A0AF-86FB7295FCF8}"/>
              </a:ext>
            </a:extLst>
          </p:cNvPr>
          <p:cNvSpPr>
            <a:spLocks noGrp="1"/>
          </p:cNvSpPr>
          <p:nvPr>
            <p:ph type="ctrTitle" hasCustomPrompt="1"/>
          </p:nvPr>
        </p:nvSpPr>
        <p:spPr>
          <a:xfrm>
            <a:off x="2873376" y="578098"/>
            <a:ext cx="9144000" cy="1438024"/>
          </a:xfrm>
        </p:spPr>
        <p:txBody>
          <a:bodyPr anchor="t"/>
          <a:lstStyle>
            <a:lvl1pPr algn="r">
              <a:lnSpc>
                <a:spcPts val="5280"/>
              </a:lnSpc>
              <a:defRPr sz="4400" b="1" i="0">
                <a:solidFill>
                  <a:schemeClr val="tx1"/>
                </a:solidFill>
                <a:latin typeface="Arial Black" panose="020B0604020202020204" pitchFamily="34" charset="0"/>
                <a:cs typeface="Arial Black" panose="020B0604020202020204" pitchFamily="34" charset="0"/>
              </a:defRPr>
            </a:lvl1pPr>
          </a:lstStyle>
          <a:p>
            <a:r>
              <a:rPr lang="en-GB"/>
              <a:t>THANK YOU</a:t>
            </a:r>
          </a:p>
        </p:txBody>
      </p:sp>
      <p:grpSp>
        <p:nvGrpSpPr>
          <p:cNvPr id="6" name="Group 5">
            <a:extLst>
              <a:ext uri="{FF2B5EF4-FFF2-40B4-BE49-F238E27FC236}">
                <a16:creationId xmlns:a16="http://schemas.microsoft.com/office/drawing/2014/main" id="{BF363ADD-F0AC-7C4A-8090-2B7BC43CF1D3}"/>
              </a:ext>
            </a:extLst>
          </p:cNvPr>
          <p:cNvGrpSpPr/>
          <p:nvPr userDrawn="1"/>
        </p:nvGrpSpPr>
        <p:grpSpPr>
          <a:xfrm>
            <a:off x="10121901" y="4705643"/>
            <a:ext cx="1778000" cy="2182266"/>
            <a:chOff x="10121901" y="4705815"/>
            <a:chExt cx="1778000" cy="2182266"/>
          </a:xfrm>
          <a:solidFill>
            <a:schemeClr val="tx2"/>
          </a:solidFill>
        </p:grpSpPr>
        <p:sp>
          <p:nvSpPr>
            <p:cNvPr id="7" name="Rectangle 6">
              <a:extLst>
                <a:ext uri="{FF2B5EF4-FFF2-40B4-BE49-F238E27FC236}">
                  <a16:creationId xmlns:a16="http://schemas.microsoft.com/office/drawing/2014/main" id="{E03D5729-DC4B-0D47-A7AC-1BEED71CBA4F}"/>
                </a:ext>
              </a:extLst>
            </p:cNvPr>
            <p:cNvSpPr/>
            <p:nvPr userDrawn="1"/>
          </p:nvSpPr>
          <p:spPr>
            <a:xfrm>
              <a:off x="10121901" y="4847063"/>
              <a:ext cx="1778000" cy="20410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FD32FF5-1B35-254B-A418-0BB956181DD9}"/>
                </a:ext>
              </a:extLst>
            </p:cNvPr>
            <p:cNvSpPr/>
            <p:nvPr userDrawn="1"/>
          </p:nvSpPr>
          <p:spPr>
            <a:xfrm>
              <a:off x="11009971" y="4705815"/>
              <a:ext cx="889930" cy="21559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Picture 12">
            <a:extLst>
              <a:ext uri="{FF2B5EF4-FFF2-40B4-BE49-F238E27FC236}">
                <a16:creationId xmlns:a16="http://schemas.microsoft.com/office/drawing/2014/main" id="{20C247EC-EA8D-9D47-A0E3-4CAADFAA7416}"/>
              </a:ext>
            </a:extLst>
          </p:cNvPr>
          <p:cNvPicPr>
            <a:picLocks noChangeAspect="1"/>
          </p:cNvPicPr>
          <p:nvPr userDrawn="1"/>
        </p:nvPicPr>
        <p:blipFill>
          <a:blip r:embed="rId2"/>
          <a:stretch>
            <a:fillRect/>
          </a:stretch>
        </p:blipFill>
        <p:spPr>
          <a:xfrm>
            <a:off x="10427097" y="5132717"/>
            <a:ext cx="1220617" cy="1349859"/>
          </a:xfrm>
          <a:prstGeom prst="rect">
            <a:avLst/>
          </a:prstGeom>
        </p:spPr>
      </p:pic>
      <p:sp>
        <p:nvSpPr>
          <p:cNvPr id="16" name="Freeform 15">
            <a:extLst>
              <a:ext uri="{FF2B5EF4-FFF2-40B4-BE49-F238E27FC236}">
                <a16:creationId xmlns:a16="http://schemas.microsoft.com/office/drawing/2014/main" id="{4EBA3C85-1AF7-564E-B9F0-09262AB0201A}"/>
              </a:ext>
            </a:extLst>
          </p:cNvPr>
          <p:cNvSpPr/>
          <p:nvPr userDrawn="1"/>
        </p:nvSpPr>
        <p:spPr>
          <a:xfrm rot="10800000">
            <a:off x="10111443" y="2352"/>
            <a:ext cx="1788457" cy="416616"/>
          </a:xfrm>
          <a:custGeom>
            <a:avLst/>
            <a:gdLst>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6335 w 1776335"/>
              <a:gd name="connsiteY5" fmla="*/ 2042410 h 2042410"/>
              <a:gd name="connsiteX6" fmla="*/ 1776335 w 1776335"/>
              <a:gd name="connsiteY6" fmla="*/ 0 h 2042410"/>
              <a:gd name="connsiteX0" fmla="*/ 1776335 w 1776335"/>
              <a:gd name="connsiteY0" fmla="*/ 0 h 2042410"/>
              <a:gd name="connsiteX1" fmla="*/ 888167 w 1776335"/>
              <a:gd name="connsiteY1" fmla="*/ 0 h 2042410"/>
              <a:gd name="connsiteX2" fmla="*/ 888167 w 1776335"/>
              <a:gd name="connsiteY2" fmla="*/ 176135 h 2042410"/>
              <a:gd name="connsiteX3" fmla="*/ 0 w 1776335"/>
              <a:gd name="connsiteY3" fmla="*/ 176135 h 2042410"/>
              <a:gd name="connsiteX4" fmla="*/ 0 w 1776335"/>
              <a:gd name="connsiteY4" fmla="*/ 2042410 h 2042410"/>
              <a:gd name="connsiteX5" fmla="*/ 1773444 w 1776335"/>
              <a:gd name="connsiteY5" fmla="*/ 634359 h 2042410"/>
              <a:gd name="connsiteX6" fmla="*/ 1776335 w 1776335"/>
              <a:gd name="connsiteY6" fmla="*/ 0 h 2042410"/>
              <a:gd name="connsiteX0" fmla="*/ 1776335 w 1776335"/>
              <a:gd name="connsiteY0" fmla="*/ 0 h 640142"/>
              <a:gd name="connsiteX1" fmla="*/ 888167 w 1776335"/>
              <a:gd name="connsiteY1" fmla="*/ 0 h 640142"/>
              <a:gd name="connsiteX2" fmla="*/ 888167 w 1776335"/>
              <a:gd name="connsiteY2" fmla="*/ 176135 h 640142"/>
              <a:gd name="connsiteX3" fmla="*/ 0 w 1776335"/>
              <a:gd name="connsiteY3" fmla="*/ 176135 h 640142"/>
              <a:gd name="connsiteX4" fmla="*/ 0 w 1776335"/>
              <a:gd name="connsiteY4" fmla="*/ 640142 h 640142"/>
              <a:gd name="connsiteX5" fmla="*/ 1773444 w 1776335"/>
              <a:gd name="connsiteY5" fmla="*/ 634359 h 640142"/>
              <a:gd name="connsiteX6" fmla="*/ 1776335 w 1776335"/>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637251 h 640142"/>
              <a:gd name="connsiteX6" fmla="*/ 1776335 w 1776613"/>
              <a:gd name="connsiteY6" fmla="*/ 0 h 640142"/>
              <a:gd name="connsiteX0" fmla="*/ 1776335 w 1776613"/>
              <a:gd name="connsiteY0" fmla="*/ 0 h 640142"/>
              <a:gd name="connsiteX1" fmla="*/ 888167 w 1776613"/>
              <a:gd name="connsiteY1" fmla="*/ 0 h 640142"/>
              <a:gd name="connsiteX2" fmla="*/ 888167 w 1776613"/>
              <a:gd name="connsiteY2" fmla="*/ 176135 h 640142"/>
              <a:gd name="connsiteX3" fmla="*/ 0 w 1776613"/>
              <a:gd name="connsiteY3" fmla="*/ 176135 h 640142"/>
              <a:gd name="connsiteX4" fmla="*/ 0 w 1776613"/>
              <a:gd name="connsiteY4" fmla="*/ 640142 h 640142"/>
              <a:gd name="connsiteX5" fmla="*/ 1776335 w 1776613"/>
              <a:gd name="connsiteY5" fmla="*/ 480849 h 640142"/>
              <a:gd name="connsiteX6" fmla="*/ 1776335 w 1776613"/>
              <a:gd name="connsiteY6" fmla="*/ 0 h 640142"/>
              <a:gd name="connsiteX0" fmla="*/ 1776335 w 1776613"/>
              <a:gd name="connsiteY0" fmla="*/ 0 h 487650"/>
              <a:gd name="connsiteX1" fmla="*/ 888167 w 1776613"/>
              <a:gd name="connsiteY1" fmla="*/ 0 h 487650"/>
              <a:gd name="connsiteX2" fmla="*/ 888167 w 1776613"/>
              <a:gd name="connsiteY2" fmla="*/ 176135 h 487650"/>
              <a:gd name="connsiteX3" fmla="*/ 0 w 1776613"/>
              <a:gd name="connsiteY3" fmla="*/ 176135 h 487650"/>
              <a:gd name="connsiteX4" fmla="*/ 0 w 1776613"/>
              <a:gd name="connsiteY4" fmla="*/ 487650 h 487650"/>
              <a:gd name="connsiteX5" fmla="*/ 1776335 w 1776613"/>
              <a:gd name="connsiteY5" fmla="*/ 480849 h 487650"/>
              <a:gd name="connsiteX6" fmla="*/ 1776335 w 1776613"/>
              <a:gd name="connsiteY6" fmla="*/ 0 h 487650"/>
              <a:gd name="connsiteX0" fmla="*/ 1776335 w 1776335"/>
              <a:gd name="connsiteY0" fmla="*/ 0 h 492579"/>
              <a:gd name="connsiteX1" fmla="*/ 888167 w 1776335"/>
              <a:gd name="connsiteY1" fmla="*/ 0 h 492579"/>
              <a:gd name="connsiteX2" fmla="*/ 888167 w 1776335"/>
              <a:gd name="connsiteY2" fmla="*/ 176135 h 492579"/>
              <a:gd name="connsiteX3" fmla="*/ 0 w 1776335"/>
              <a:gd name="connsiteY3" fmla="*/ 176135 h 492579"/>
              <a:gd name="connsiteX4" fmla="*/ 0 w 1776335"/>
              <a:gd name="connsiteY4" fmla="*/ 487650 h 492579"/>
              <a:gd name="connsiteX5" fmla="*/ 1773044 w 1776335"/>
              <a:gd name="connsiteY5" fmla="*/ 492579 h 492579"/>
              <a:gd name="connsiteX6" fmla="*/ 1776335 w 1776335"/>
              <a:gd name="connsiteY6" fmla="*/ 0 h 492579"/>
              <a:gd name="connsiteX0" fmla="*/ 1776335 w 1776613"/>
              <a:gd name="connsiteY0" fmla="*/ 0 h 492579"/>
              <a:gd name="connsiteX1" fmla="*/ 888167 w 1776613"/>
              <a:gd name="connsiteY1" fmla="*/ 0 h 492579"/>
              <a:gd name="connsiteX2" fmla="*/ 888167 w 1776613"/>
              <a:gd name="connsiteY2" fmla="*/ 176135 h 492579"/>
              <a:gd name="connsiteX3" fmla="*/ 0 w 1776613"/>
              <a:gd name="connsiteY3" fmla="*/ 176135 h 492579"/>
              <a:gd name="connsiteX4" fmla="*/ 0 w 1776613"/>
              <a:gd name="connsiteY4" fmla="*/ 487650 h 492579"/>
              <a:gd name="connsiteX5" fmla="*/ 1776335 w 1776613"/>
              <a:gd name="connsiteY5" fmla="*/ 492579 h 492579"/>
              <a:gd name="connsiteX6" fmla="*/ 1776335 w 1776613"/>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91561 h 492579"/>
              <a:gd name="connsiteX5" fmla="*/ 1779626 w 1779904"/>
              <a:gd name="connsiteY5" fmla="*/ 492579 h 492579"/>
              <a:gd name="connsiteX6" fmla="*/ 1779626 w 1779904"/>
              <a:gd name="connsiteY6" fmla="*/ 0 h 492579"/>
              <a:gd name="connsiteX0" fmla="*/ 1779626 w 1779904"/>
              <a:gd name="connsiteY0" fmla="*/ 0 h 492579"/>
              <a:gd name="connsiteX1" fmla="*/ 891458 w 1779904"/>
              <a:gd name="connsiteY1" fmla="*/ 0 h 492579"/>
              <a:gd name="connsiteX2" fmla="*/ 891458 w 1779904"/>
              <a:gd name="connsiteY2" fmla="*/ 176135 h 492579"/>
              <a:gd name="connsiteX3" fmla="*/ 3291 w 1779904"/>
              <a:gd name="connsiteY3" fmla="*/ 176135 h 492579"/>
              <a:gd name="connsiteX4" fmla="*/ 0 w 1779904"/>
              <a:gd name="connsiteY4" fmla="*/ 487650 h 492579"/>
              <a:gd name="connsiteX5" fmla="*/ 1779626 w 1779904"/>
              <a:gd name="connsiteY5" fmla="*/ 492579 h 492579"/>
              <a:gd name="connsiteX6" fmla="*/ 1779626 w 1779904"/>
              <a:gd name="connsiteY6" fmla="*/ 0 h 49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904" h="492579">
                <a:moveTo>
                  <a:pt x="1779626" y="0"/>
                </a:moveTo>
                <a:lnTo>
                  <a:pt x="891458" y="0"/>
                </a:lnTo>
                <a:lnTo>
                  <a:pt x="891458" y="176135"/>
                </a:lnTo>
                <a:lnTo>
                  <a:pt x="3291" y="176135"/>
                </a:lnTo>
                <a:lnTo>
                  <a:pt x="0" y="487650"/>
                </a:lnTo>
                <a:lnTo>
                  <a:pt x="1779626" y="492579"/>
                </a:lnTo>
                <a:cubicBezTo>
                  <a:pt x="1780590" y="281126"/>
                  <a:pt x="1778662" y="211453"/>
                  <a:pt x="17796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453577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over Slide - Option 3 with Image">
    <p:spTree>
      <p:nvGrpSpPr>
        <p:cNvPr id="1" name=""/>
        <p:cNvGrpSpPr/>
        <p:nvPr/>
      </p:nvGrpSpPr>
      <p:grpSpPr>
        <a:xfrm>
          <a:off x="0" y="0"/>
          <a:ext cx="0" cy="0"/>
          <a:chOff x="0" y="0"/>
          <a:chExt cx="0" cy="0"/>
        </a:xfrm>
      </p:grpSpPr>
      <p:sp>
        <p:nvSpPr>
          <p:cNvPr id="132" name="Rectangle 131">
            <a:extLst>
              <a:ext uri="{FF2B5EF4-FFF2-40B4-BE49-F238E27FC236}">
                <a16:creationId xmlns:a16="http://schemas.microsoft.com/office/drawing/2014/main" id="{C1302885-494B-4D5E-BA18-62EC8294AA94}"/>
              </a:ext>
            </a:extLst>
          </p:cNvPr>
          <p:cNvSpPr/>
          <p:nvPr userDrawn="1"/>
        </p:nvSpPr>
        <p:spPr>
          <a:xfrm>
            <a:off x="4277190" y="103910"/>
            <a:ext cx="3637621" cy="44948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a:p>
        </p:txBody>
      </p:sp>
      <p:grpSp>
        <p:nvGrpSpPr>
          <p:cNvPr id="133" name="Group 132">
            <a:extLst>
              <a:ext uri="{FF2B5EF4-FFF2-40B4-BE49-F238E27FC236}">
                <a16:creationId xmlns:a16="http://schemas.microsoft.com/office/drawing/2014/main" id="{89926491-97CE-4F6D-B012-7783414D3242}"/>
              </a:ext>
            </a:extLst>
          </p:cNvPr>
          <p:cNvGrpSpPr/>
          <p:nvPr userDrawn="1"/>
        </p:nvGrpSpPr>
        <p:grpSpPr>
          <a:xfrm>
            <a:off x="4563087" y="465865"/>
            <a:ext cx="3065828" cy="3487642"/>
            <a:chOff x="10197128" y="11141518"/>
            <a:chExt cx="4100716" cy="4666132"/>
          </a:xfrm>
        </p:grpSpPr>
        <p:grpSp>
          <p:nvGrpSpPr>
            <p:cNvPr id="135" name="Group 134">
              <a:extLst>
                <a:ext uri="{FF2B5EF4-FFF2-40B4-BE49-F238E27FC236}">
                  <a16:creationId xmlns:a16="http://schemas.microsoft.com/office/drawing/2014/main" id="{2747BAD1-F632-4CF6-83B9-5E493C822473}"/>
                </a:ext>
              </a:extLst>
            </p:cNvPr>
            <p:cNvGrpSpPr/>
            <p:nvPr/>
          </p:nvGrpSpPr>
          <p:grpSpPr>
            <a:xfrm>
              <a:off x="10687284" y="11141518"/>
              <a:ext cx="3122333" cy="3172507"/>
              <a:chOff x="7693025" y="8069263"/>
              <a:chExt cx="2568575" cy="2609850"/>
            </a:xfrm>
          </p:grpSpPr>
          <p:sp>
            <p:nvSpPr>
              <p:cNvPr id="140" name="Oval 5">
                <a:extLst>
                  <a:ext uri="{FF2B5EF4-FFF2-40B4-BE49-F238E27FC236}">
                    <a16:creationId xmlns:a16="http://schemas.microsoft.com/office/drawing/2014/main" id="{79CC1642-9B43-426F-93E4-F1D9DC41CC76}"/>
                  </a:ext>
                </a:extLst>
              </p:cNvPr>
              <p:cNvSpPr>
                <a:spLocks noChangeArrowheads="1"/>
              </p:cNvSpPr>
              <p:nvPr/>
            </p:nvSpPr>
            <p:spPr bwMode="auto">
              <a:xfrm>
                <a:off x="7696200" y="8069263"/>
                <a:ext cx="2562225" cy="260985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41" name="Freeform 6">
                <a:extLst>
                  <a:ext uri="{FF2B5EF4-FFF2-40B4-BE49-F238E27FC236}">
                    <a16:creationId xmlns:a16="http://schemas.microsoft.com/office/drawing/2014/main" id="{79CC2E42-4D06-4170-9177-27B09CAC00DF}"/>
                  </a:ext>
                </a:extLst>
              </p:cNvPr>
              <p:cNvSpPr>
                <a:spLocks/>
              </p:cNvSpPr>
              <p:nvPr/>
            </p:nvSpPr>
            <p:spPr bwMode="auto">
              <a:xfrm>
                <a:off x="9717088" y="8410576"/>
                <a:ext cx="119063" cy="120650"/>
              </a:xfrm>
              <a:custGeom>
                <a:avLst/>
                <a:gdLst>
                  <a:gd name="T0" fmla="*/ 15 w 37"/>
                  <a:gd name="T1" fmla="*/ 25 h 37"/>
                  <a:gd name="T2" fmla="*/ 28 w 37"/>
                  <a:gd name="T3" fmla="*/ 37 h 37"/>
                  <a:gd name="T4" fmla="*/ 37 w 37"/>
                  <a:gd name="T5" fmla="*/ 0 h 37"/>
                  <a:gd name="T6" fmla="*/ 0 w 37"/>
                  <a:gd name="T7" fmla="*/ 12 h 37"/>
                  <a:gd name="T8" fmla="*/ 15 w 37"/>
                  <a:gd name="T9" fmla="*/ 25 h 37"/>
                </a:gdLst>
                <a:ahLst/>
                <a:cxnLst>
                  <a:cxn ang="0">
                    <a:pos x="T0" y="T1"/>
                  </a:cxn>
                  <a:cxn ang="0">
                    <a:pos x="T2" y="T3"/>
                  </a:cxn>
                  <a:cxn ang="0">
                    <a:pos x="T4" y="T5"/>
                  </a:cxn>
                  <a:cxn ang="0">
                    <a:pos x="T6" y="T7"/>
                  </a:cxn>
                  <a:cxn ang="0">
                    <a:pos x="T8" y="T9"/>
                  </a:cxn>
                </a:cxnLst>
                <a:rect l="0" t="0" r="r" b="b"/>
                <a:pathLst>
                  <a:path w="37" h="37">
                    <a:moveTo>
                      <a:pt x="15" y="25"/>
                    </a:moveTo>
                    <a:cubicBezTo>
                      <a:pt x="19" y="28"/>
                      <a:pt x="23" y="32"/>
                      <a:pt x="28" y="37"/>
                    </a:cubicBezTo>
                    <a:cubicBezTo>
                      <a:pt x="37" y="0"/>
                      <a:pt x="37" y="0"/>
                      <a:pt x="37" y="0"/>
                    </a:cubicBezTo>
                    <a:cubicBezTo>
                      <a:pt x="0" y="12"/>
                      <a:pt x="0" y="12"/>
                      <a:pt x="0" y="12"/>
                    </a:cubicBezTo>
                    <a:cubicBezTo>
                      <a:pt x="5" y="16"/>
                      <a:pt x="10" y="20"/>
                      <a:pt x="15" y="2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42" name="Freeform 7">
                <a:extLst>
                  <a:ext uri="{FF2B5EF4-FFF2-40B4-BE49-F238E27FC236}">
                    <a16:creationId xmlns:a16="http://schemas.microsoft.com/office/drawing/2014/main" id="{6B782C34-BB76-41AB-81ED-14E67C415835}"/>
                  </a:ext>
                </a:extLst>
              </p:cNvPr>
              <p:cNvSpPr>
                <a:spLocks/>
              </p:cNvSpPr>
              <p:nvPr/>
            </p:nvSpPr>
            <p:spPr bwMode="auto">
              <a:xfrm>
                <a:off x="9512300" y="8251826"/>
                <a:ext cx="109538" cy="123825"/>
              </a:xfrm>
              <a:custGeom>
                <a:avLst/>
                <a:gdLst>
                  <a:gd name="T0" fmla="*/ 32 w 34"/>
                  <a:gd name="T1" fmla="*/ 38 h 38"/>
                  <a:gd name="T2" fmla="*/ 34 w 34"/>
                  <a:gd name="T3" fmla="*/ 0 h 38"/>
                  <a:gd name="T4" fmla="*/ 0 w 34"/>
                  <a:gd name="T5" fmla="*/ 19 h 38"/>
                  <a:gd name="T6" fmla="*/ 17 w 34"/>
                  <a:gd name="T7" fmla="*/ 29 h 38"/>
                  <a:gd name="T8" fmla="*/ 32 w 34"/>
                  <a:gd name="T9" fmla="*/ 38 h 38"/>
                </a:gdLst>
                <a:ahLst/>
                <a:cxnLst>
                  <a:cxn ang="0">
                    <a:pos x="T0" y="T1"/>
                  </a:cxn>
                  <a:cxn ang="0">
                    <a:pos x="T2" y="T3"/>
                  </a:cxn>
                  <a:cxn ang="0">
                    <a:pos x="T4" y="T5"/>
                  </a:cxn>
                  <a:cxn ang="0">
                    <a:pos x="T6" y="T7"/>
                  </a:cxn>
                  <a:cxn ang="0">
                    <a:pos x="T8" y="T9"/>
                  </a:cxn>
                </a:cxnLst>
                <a:rect l="0" t="0" r="r" b="b"/>
                <a:pathLst>
                  <a:path w="34" h="38">
                    <a:moveTo>
                      <a:pt x="32" y="38"/>
                    </a:moveTo>
                    <a:cubicBezTo>
                      <a:pt x="34" y="0"/>
                      <a:pt x="34" y="0"/>
                      <a:pt x="34" y="0"/>
                    </a:cubicBezTo>
                    <a:cubicBezTo>
                      <a:pt x="0" y="19"/>
                      <a:pt x="0" y="19"/>
                      <a:pt x="0" y="19"/>
                    </a:cubicBezTo>
                    <a:cubicBezTo>
                      <a:pt x="6" y="23"/>
                      <a:pt x="11" y="26"/>
                      <a:pt x="17" y="29"/>
                    </a:cubicBezTo>
                    <a:cubicBezTo>
                      <a:pt x="22" y="31"/>
                      <a:pt x="26" y="35"/>
                      <a:pt x="32" y="3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44" name="Freeform 8">
                <a:extLst>
                  <a:ext uri="{FF2B5EF4-FFF2-40B4-BE49-F238E27FC236}">
                    <a16:creationId xmlns:a16="http://schemas.microsoft.com/office/drawing/2014/main" id="{3A39CA20-EC25-4623-AA32-3E18F6B975F7}"/>
                  </a:ext>
                </a:extLst>
              </p:cNvPr>
              <p:cNvSpPr>
                <a:spLocks/>
              </p:cNvSpPr>
              <p:nvPr/>
            </p:nvSpPr>
            <p:spPr bwMode="auto">
              <a:xfrm>
                <a:off x="9618663" y="8326438"/>
                <a:ext cx="114300" cy="120650"/>
              </a:xfrm>
              <a:custGeom>
                <a:avLst/>
                <a:gdLst>
                  <a:gd name="T0" fmla="*/ 16 w 36"/>
                  <a:gd name="T1" fmla="*/ 27 h 37"/>
                  <a:gd name="T2" fmla="*/ 30 w 36"/>
                  <a:gd name="T3" fmla="*/ 37 h 37"/>
                  <a:gd name="T4" fmla="*/ 36 w 36"/>
                  <a:gd name="T5" fmla="*/ 0 h 37"/>
                  <a:gd name="T6" fmla="*/ 0 w 36"/>
                  <a:gd name="T7" fmla="*/ 16 h 37"/>
                  <a:gd name="T8" fmla="*/ 16 w 36"/>
                  <a:gd name="T9" fmla="*/ 27 h 37"/>
                </a:gdLst>
                <a:ahLst/>
                <a:cxnLst>
                  <a:cxn ang="0">
                    <a:pos x="T0" y="T1"/>
                  </a:cxn>
                  <a:cxn ang="0">
                    <a:pos x="T2" y="T3"/>
                  </a:cxn>
                  <a:cxn ang="0">
                    <a:pos x="T4" y="T5"/>
                  </a:cxn>
                  <a:cxn ang="0">
                    <a:pos x="T6" y="T7"/>
                  </a:cxn>
                  <a:cxn ang="0">
                    <a:pos x="T8" y="T9"/>
                  </a:cxn>
                </a:cxnLst>
                <a:rect l="0" t="0" r="r" b="b"/>
                <a:pathLst>
                  <a:path w="36" h="37">
                    <a:moveTo>
                      <a:pt x="16" y="27"/>
                    </a:moveTo>
                    <a:cubicBezTo>
                      <a:pt x="21" y="30"/>
                      <a:pt x="25" y="33"/>
                      <a:pt x="30" y="37"/>
                    </a:cubicBezTo>
                    <a:cubicBezTo>
                      <a:pt x="36" y="0"/>
                      <a:pt x="36" y="0"/>
                      <a:pt x="36" y="0"/>
                    </a:cubicBezTo>
                    <a:cubicBezTo>
                      <a:pt x="0" y="16"/>
                      <a:pt x="0" y="16"/>
                      <a:pt x="0" y="16"/>
                    </a:cubicBezTo>
                    <a:cubicBezTo>
                      <a:pt x="5" y="19"/>
                      <a:pt x="11" y="23"/>
                      <a:pt x="16" y="2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46" name="Freeform 9">
                <a:extLst>
                  <a:ext uri="{FF2B5EF4-FFF2-40B4-BE49-F238E27FC236}">
                    <a16:creationId xmlns:a16="http://schemas.microsoft.com/office/drawing/2014/main" id="{3502DD1A-4D35-4A77-B779-3438698BCB40}"/>
                  </a:ext>
                </a:extLst>
              </p:cNvPr>
              <p:cNvSpPr>
                <a:spLocks noEditPoints="1"/>
              </p:cNvSpPr>
              <p:nvPr/>
            </p:nvSpPr>
            <p:spPr bwMode="auto">
              <a:xfrm>
                <a:off x="7888288" y="8274051"/>
                <a:ext cx="2187575" cy="2209800"/>
              </a:xfrm>
              <a:custGeom>
                <a:avLst/>
                <a:gdLst>
                  <a:gd name="T0" fmla="*/ 682 w 683"/>
                  <a:gd name="T1" fmla="*/ 372 h 678"/>
                  <a:gd name="T2" fmla="*/ 511 w 683"/>
                  <a:gd name="T3" fmla="*/ 104 h 678"/>
                  <a:gd name="T4" fmla="*/ 500 w 683"/>
                  <a:gd name="T5" fmla="*/ 97 h 678"/>
                  <a:gd name="T6" fmla="*/ 467 w 683"/>
                  <a:gd name="T7" fmla="*/ 56 h 678"/>
                  <a:gd name="T8" fmla="*/ 457 w 683"/>
                  <a:gd name="T9" fmla="*/ 75 h 678"/>
                  <a:gd name="T10" fmla="*/ 415 w 683"/>
                  <a:gd name="T11" fmla="*/ 80 h 678"/>
                  <a:gd name="T12" fmla="*/ 396 w 683"/>
                  <a:gd name="T13" fmla="*/ 49 h 678"/>
                  <a:gd name="T14" fmla="*/ 374 w 683"/>
                  <a:gd name="T15" fmla="*/ 56 h 678"/>
                  <a:gd name="T16" fmla="*/ 317 w 683"/>
                  <a:gd name="T17" fmla="*/ 30 h 678"/>
                  <a:gd name="T18" fmla="*/ 283 w 683"/>
                  <a:gd name="T19" fmla="*/ 43 h 678"/>
                  <a:gd name="T20" fmla="*/ 230 w 683"/>
                  <a:gd name="T21" fmla="*/ 50 h 678"/>
                  <a:gd name="T22" fmla="*/ 218 w 683"/>
                  <a:gd name="T23" fmla="*/ 64 h 678"/>
                  <a:gd name="T24" fmla="*/ 247 w 683"/>
                  <a:gd name="T25" fmla="*/ 86 h 678"/>
                  <a:gd name="T26" fmla="*/ 228 w 683"/>
                  <a:gd name="T27" fmla="*/ 86 h 678"/>
                  <a:gd name="T28" fmla="*/ 196 w 683"/>
                  <a:gd name="T29" fmla="*/ 71 h 678"/>
                  <a:gd name="T30" fmla="*/ 342 w 683"/>
                  <a:gd name="T31" fmla="*/ 583 h 678"/>
                  <a:gd name="T32" fmla="*/ 116 w 683"/>
                  <a:gd name="T33" fmla="*/ 127 h 678"/>
                  <a:gd name="T34" fmla="*/ 111 w 683"/>
                  <a:gd name="T35" fmla="*/ 145 h 678"/>
                  <a:gd name="T36" fmla="*/ 152 w 683"/>
                  <a:gd name="T37" fmla="*/ 137 h 678"/>
                  <a:gd name="T38" fmla="*/ 100 w 683"/>
                  <a:gd name="T39" fmla="*/ 146 h 678"/>
                  <a:gd name="T40" fmla="*/ 86 w 683"/>
                  <a:gd name="T41" fmla="*/ 217 h 678"/>
                  <a:gd name="T42" fmla="*/ 40 w 683"/>
                  <a:gd name="T43" fmla="*/ 268 h 678"/>
                  <a:gd name="T44" fmla="*/ 77 w 683"/>
                  <a:gd name="T45" fmla="*/ 290 h 678"/>
                  <a:gd name="T46" fmla="*/ 57 w 683"/>
                  <a:gd name="T47" fmla="*/ 474 h 678"/>
                  <a:gd name="T48" fmla="*/ 93 w 683"/>
                  <a:gd name="T49" fmla="*/ 458 h 678"/>
                  <a:gd name="T50" fmla="*/ 80 w 683"/>
                  <a:gd name="T51" fmla="*/ 445 h 678"/>
                  <a:gd name="T52" fmla="*/ 71 w 683"/>
                  <a:gd name="T53" fmla="*/ 454 h 678"/>
                  <a:gd name="T54" fmla="*/ 91 w 683"/>
                  <a:gd name="T55" fmla="*/ 528 h 678"/>
                  <a:gd name="T56" fmla="*/ 107 w 683"/>
                  <a:gd name="T57" fmla="*/ 536 h 678"/>
                  <a:gd name="T58" fmla="*/ 107 w 683"/>
                  <a:gd name="T59" fmla="*/ 547 h 678"/>
                  <a:gd name="T60" fmla="*/ 170 w 683"/>
                  <a:gd name="T61" fmla="*/ 592 h 678"/>
                  <a:gd name="T62" fmla="*/ 197 w 683"/>
                  <a:gd name="T63" fmla="*/ 570 h 678"/>
                  <a:gd name="T64" fmla="*/ 262 w 683"/>
                  <a:gd name="T65" fmla="*/ 641 h 678"/>
                  <a:gd name="T66" fmla="*/ 211 w 683"/>
                  <a:gd name="T67" fmla="*/ 622 h 678"/>
                  <a:gd name="T68" fmla="*/ 274 w 683"/>
                  <a:gd name="T69" fmla="*/ 609 h 678"/>
                  <a:gd name="T70" fmla="*/ 311 w 683"/>
                  <a:gd name="T71" fmla="*/ 648 h 678"/>
                  <a:gd name="T72" fmla="*/ 328 w 683"/>
                  <a:gd name="T73" fmla="*/ 650 h 678"/>
                  <a:gd name="T74" fmla="*/ 369 w 683"/>
                  <a:gd name="T75" fmla="*/ 609 h 678"/>
                  <a:gd name="T76" fmla="*/ 430 w 683"/>
                  <a:gd name="T77" fmla="*/ 639 h 678"/>
                  <a:gd name="T78" fmla="*/ 451 w 683"/>
                  <a:gd name="T79" fmla="*/ 596 h 678"/>
                  <a:gd name="T80" fmla="*/ 488 w 683"/>
                  <a:gd name="T81" fmla="*/ 579 h 678"/>
                  <a:gd name="T82" fmla="*/ 524 w 683"/>
                  <a:gd name="T83" fmla="*/ 593 h 678"/>
                  <a:gd name="T84" fmla="*/ 537 w 683"/>
                  <a:gd name="T85" fmla="*/ 542 h 678"/>
                  <a:gd name="T86" fmla="*/ 530 w 683"/>
                  <a:gd name="T87" fmla="*/ 566 h 678"/>
                  <a:gd name="T88" fmla="*/ 580 w 683"/>
                  <a:gd name="T89" fmla="*/ 542 h 678"/>
                  <a:gd name="T90" fmla="*/ 577 w 683"/>
                  <a:gd name="T91" fmla="*/ 494 h 678"/>
                  <a:gd name="T92" fmla="*/ 577 w 683"/>
                  <a:gd name="T93" fmla="*/ 518 h 678"/>
                  <a:gd name="T94" fmla="*/ 636 w 683"/>
                  <a:gd name="T95" fmla="*/ 453 h 678"/>
                  <a:gd name="T96" fmla="*/ 637 w 683"/>
                  <a:gd name="T97" fmla="*/ 436 h 678"/>
                  <a:gd name="T98" fmla="*/ 645 w 683"/>
                  <a:gd name="T99" fmla="*/ 283 h 678"/>
                  <a:gd name="T100" fmla="*/ 620 w 683"/>
                  <a:gd name="T101" fmla="*/ 279 h 678"/>
                  <a:gd name="T102" fmla="*/ 611 w 683"/>
                  <a:gd name="T103" fmla="*/ 184 h 678"/>
                  <a:gd name="T104" fmla="*/ 580 w 683"/>
                  <a:gd name="T105" fmla="*/ 211 h 678"/>
                  <a:gd name="T106" fmla="*/ 586 w 683"/>
                  <a:gd name="T107" fmla="*/ 171 h 678"/>
                  <a:gd name="T108" fmla="*/ 557 w 683"/>
                  <a:gd name="T109" fmla="*/ 166 h 678"/>
                  <a:gd name="T110" fmla="*/ 571 w 683"/>
                  <a:gd name="T111" fmla="*/ 183 h 678"/>
                  <a:gd name="T112" fmla="*/ 570 w 683"/>
                  <a:gd name="T113" fmla="*/ 131 h 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83" h="678">
                    <a:moveTo>
                      <a:pt x="342" y="0"/>
                    </a:moveTo>
                    <a:cubicBezTo>
                      <a:pt x="153" y="0"/>
                      <a:pt x="0" y="153"/>
                      <a:pt x="0" y="340"/>
                    </a:cubicBezTo>
                    <a:cubicBezTo>
                      <a:pt x="0" y="351"/>
                      <a:pt x="1" y="361"/>
                      <a:pt x="2" y="372"/>
                    </a:cubicBezTo>
                    <a:cubicBezTo>
                      <a:pt x="18" y="544"/>
                      <a:pt x="164" y="678"/>
                      <a:pt x="342" y="678"/>
                    </a:cubicBezTo>
                    <a:cubicBezTo>
                      <a:pt x="519" y="678"/>
                      <a:pt x="666" y="544"/>
                      <a:pt x="682" y="372"/>
                    </a:cubicBezTo>
                    <a:cubicBezTo>
                      <a:pt x="683" y="361"/>
                      <a:pt x="683" y="351"/>
                      <a:pt x="683" y="340"/>
                    </a:cubicBezTo>
                    <a:cubicBezTo>
                      <a:pt x="683" y="153"/>
                      <a:pt x="530" y="0"/>
                      <a:pt x="342" y="0"/>
                    </a:cubicBezTo>
                    <a:moveTo>
                      <a:pt x="494" y="68"/>
                    </a:moveTo>
                    <a:cubicBezTo>
                      <a:pt x="511" y="80"/>
                      <a:pt x="511" y="80"/>
                      <a:pt x="511" y="80"/>
                    </a:cubicBezTo>
                    <a:cubicBezTo>
                      <a:pt x="511" y="104"/>
                      <a:pt x="511" y="104"/>
                      <a:pt x="511" y="104"/>
                    </a:cubicBezTo>
                    <a:cubicBezTo>
                      <a:pt x="523" y="89"/>
                      <a:pt x="523" y="89"/>
                      <a:pt x="523" y="89"/>
                    </a:cubicBezTo>
                    <a:cubicBezTo>
                      <a:pt x="540" y="100"/>
                      <a:pt x="540" y="100"/>
                      <a:pt x="540" y="100"/>
                    </a:cubicBezTo>
                    <a:cubicBezTo>
                      <a:pt x="516" y="132"/>
                      <a:pt x="516" y="132"/>
                      <a:pt x="516" y="132"/>
                    </a:cubicBezTo>
                    <a:cubicBezTo>
                      <a:pt x="501" y="121"/>
                      <a:pt x="501" y="121"/>
                      <a:pt x="501" y="121"/>
                    </a:cubicBezTo>
                    <a:cubicBezTo>
                      <a:pt x="500" y="97"/>
                      <a:pt x="500" y="97"/>
                      <a:pt x="500" y="97"/>
                    </a:cubicBezTo>
                    <a:cubicBezTo>
                      <a:pt x="489" y="112"/>
                      <a:pt x="489" y="112"/>
                      <a:pt x="489" y="112"/>
                    </a:cubicBezTo>
                    <a:cubicBezTo>
                      <a:pt x="471" y="100"/>
                      <a:pt x="471" y="100"/>
                      <a:pt x="471" y="100"/>
                    </a:cubicBezTo>
                    <a:lnTo>
                      <a:pt x="494" y="68"/>
                    </a:lnTo>
                    <a:close/>
                    <a:moveTo>
                      <a:pt x="428" y="42"/>
                    </a:moveTo>
                    <a:cubicBezTo>
                      <a:pt x="467" y="56"/>
                      <a:pt x="467" y="56"/>
                      <a:pt x="467" y="56"/>
                    </a:cubicBezTo>
                    <a:cubicBezTo>
                      <a:pt x="465" y="62"/>
                      <a:pt x="465" y="62"/>
                      <a:pt x="465" y="62"/>
                    </a:cubicBezTo>
                    <a:cubicBezTo>
                      <a:pt x="446" y="56"/>
                      <a:pt x="446" y="56"/>
                      <a:pt x="446" y="56"/>
                    </a:cubicBezTo>
                    <a:cubicBezTo>
                      <a:pt x="444" y="64"/>
                      <a:pt x="444" y="64"/>
                      <a:pt x="444" y="64"/>
                    </a:cubicBezTo>
                    <a:cubicBezTo>
                      <a:pt x="459" y="69"/>
                      <a:pt x="459" y="69"/>
                      <a:pt x="459" y="69"/>
                    </a:cubicBezTo>
                    <a:cubicBezTo>
                      <a:pt x="457" y="75"/>
                      <a:pt x="457" y="75"/>
                      <a:pt x="457" y="75"/>
                    </a:cubicBezTo>
                    <a:cubicBezTo>
                      <a:pt x="442" y="70"/>
                      <a:pt x="442" y="70"/>
                      <a:pt x="442" y="70"/>
                    </a:cubicBezTo>
                    <a:cubicBezTo>
                      <a:pt x="439" y="80"/>
                      <a:pt x="439" y="80"/>
                      <a:pt x="439" y="80"/>
                    </a:cubicBezTo>
                    <a:cubicBezTo>
                      <a:pt x="457" y="86"/>
                      <a:pt x="457" y="86"/>
                      <a:pt x="457" y="86"/>
                    </a:cubicBezTo>
                    <a:cubicBezTo>
                      <a:pt x="455" y="93"/>
                      <a:pt x="455" y="93"/>
                      <a:pt x="455" y="93"/>
                    </a:cubicBezTo>
                    <a:cubicBezTo>
                      <a:pt x="415" y="80"/>
                      <a:pt x="415" y="80"/>
                      <a:pt x="415" y="80"/>
                    </a:cubicBezTo>
                    <a:lnTo>
                      <a:pt x="428" y="42"/>
                    </a:lnTo>
                    <a:close/>
                    <a:moveTo>
                      <a:pt x="343" y="30"/>
                    </a:moveTo>
                    <a:cubicBezTo>
                      <a:pt x="382" y="32"/>
                      <a:pt x="382" y="32"/>
                      <a:pt x="382" y="32"/>
                    </a:cubicBezTo>
                    <a:cubicBezTo>
                      <a:pt x="396" y="40"/>
                      <a:pt x="396" y="40"/>
                      <a:pt x="396" y="40"/>
                    </a:cubicBezTo>
                    <a:cubicBezTo>
                      <a:pt x="396" y="49"/>
                      <a:pt x="396" y="49"/>
                      <a:pt x="396" y="49"/>
                    </a:cubicBezTo>
                    <a:cubicBezTo>
                      <a:pt x="384" y="53"/>
                      <a:pt x="384" y="53"/>
                      <a:pt x="384" y="53"/>
                    </a:cubicBezTo>
                    <a:cubicBezTo>
                      <a:pt x="395" y="57"/>
                      <a:pt x="395" y="57"/>
                      <a:pt x="395" y="57"/>
                    </a:cubicBezTo>
                    <a:cubicBezTo>
                      <a:pt x="394" y="73"/>
                      <a:pt x="394" y="73"/>
                      <a:pt x="394" y="73"/>
                    </a:cubicBezTo>
                    <a:cubicBezTo>
                      <a:pt x="373" y="71"/>
                      <a:pt x="373" y="71"/>
                      <a:pt x="373" y="71"/>
                    </a:cubicBezTo>
                    <a:cubicBezTo>
                      <a:pt x="374" y="56"/>
                      <a:pt x="374" y="56"/>
                      <a:pt x="374" y="56"/>
                    </a:cubicBezTo>
                    <a:cubicBezTo>
                      <a:pt x="364" y="55"/>
                      <a:pt x="364" y="55"/>
                      <a:pt x="364" y="55"/>
                    </a:cubicBezTo>
                    <a:cubicBezTo>
                      <a:pt x="363" y="71"/>
                      <a:pt x="363" y="71"/>
                      <a:pt x="363" y="71"/>
                    </a:cubicBezTo>
                    <a:cubicBezTo>
                      <a:pt x="340" y="69"/>
                      <a:pt x="340" y="69"/>
                      <a:pt x="340" y="69"/>
                    </a:cubicBezTo>
                    <a:lnTo>
                      <a:pt x="343" y="30"/>
                    </a:lnTo>
                    <a:close/>
                    <a:moveTo>
                      <a:pt x="317" y="30"/>
                    </a:moveTo>
                    <a:cubicBezTo>
                      <a:pt x="318" y="37"/>
                      <a:pt x="318" y="37"/>
                      <a:pt x="318" y="37"/>
                    </a:cubicBezTo>
                    <a:cubicBezTo>
                      <a:pt x="305" y="40"/>
                      <a:pt x="305" y="40"/>
                      <a:pt x="305" y="40"/>
                    </a:cubicBezTo>
                    <a:cubicBezTo>
                      <a:pt x="311" y="71"/>
                      <a:pt x="311" y="71"/>
                      <a:pt x="311" y="71"/>
                    </a:cubicBezTo>
                    <a:cubicBezTo>
                      <a:pt x="288" y="74"/>
                      <a:pt x="288" y="74"/>
                      <a:pt x="288" y="74"/>
                    </a:cubicBezTo>
                    <a:cubicBezTo>
                      <a:pt x="283" y="43"/>
                      <a:pt x="283" y="43"/>
                      <a:pt x="283" y="43"/>
                    </a:cubicBezTo>
                    <a:cubicBezTo>
                      <a:pt x="270" y="45"/>
                      <a:pt x="270" y="45"/>
                      <a:pt x="270" y="45"/>
                    </a:cubicBezTo>
                    <a:cubicBezTo>
                      <a:pt x="269" y="37"/>
                      <a:pt x="269" y="37"/>
                      <a:pt x="269" y="37"/>
                    </a:cubicBezTo>
                    <a:lnTo>
                      <a:pt x="317" y="30"/>
                    </a:lnTo>
                    <a:close/>
                    <a:moveTo>
                      <a:pt x="208" y="60"/>
                    </a:moveTo>
                    <a:cubicBezTo>
                      <a:pt x="230" y="50"/>
                      <a:pt x="230" y="50"/>
                      <a:pt x="230" y="50"/>
                    </a:cubicBezTo>
                    <a:cubicBezTo>
                      <a:pt x="246" y="49"/>
                      <a:pt x="246" y="49"/>
                      <a:pt x="246" y="49"/>
                    </a:cubicBezTo>
                    <a:cubicBezTo>
                      <a:pt x="249" y="56"/>
                      <a:pt x="249" y="56"/>
                      <a:pt x="249" y="56"/>
                    </a:cubicBezTo>
                    <a:cubicBezTo>
                      <a:pt x="229" y="65"/>
                      <a:pt x="229" y="65"/>
                      <a:pt x="229" y="65"/>
                    </a:cubicBezTo>
                    <a:cubicBezTo>
                      <a:pt x="227" y="60"/>
                      <a:pt x="227" y="60"/>
                      <a:pt x="227" y="60"/>
                    </a:cubicBezTo>
                    <a:cubicBezTo>
                      <a:pt x="218" y="64"/>
                      <a:pt x="218" y="64"/>
                      <a:pt x="218" y="64"/>
                    </a:cubicBezTo>
                    <a:cubicBezTo>
                      <a:pt x="221" y="71"/>
                      <a:pt x="221" y="71"/>
                      <a:pt x="221" y="71"/>
                    </a:cubicBezTo>
                    <a:cubicBezTo>
                      <a:pt x="237" y="65"/>
                      <a:pt x="237" y="65"/>
                      <a:pt x="237" y="65"/>
                    </a:cubicBezTo>
                    <a:cubicBezTo>
                      <a:pt x="253" y="64"/>
                      <a:pt x="253" y="64"/>
                      <a:pt x="253" y="64"/>
                    </a:cubicBezTo>
                    <a:cubicBezTo>
                      <a:pt x="258" y="74"/>
                      <a:pt x="258" y="74"/>
                      <a:pt x="258" y="74"/>
                    </a:cubicBezTo>
                    <a:cubicBezTo>
                      <a:pt x="247" y="86"/>
                      <a:pt x="247" y="86"/>
                      <a:pt x="247" y="86"/>
                    </a:cubicBezTo>
                    <a:cubicBezTo>
                      <a:pt x="224" y="96"/>
                      <a:pt x="224" y="96"/>
                      <a:pt x="224" y="96"/>
                    </a:cubicBezTo>
                    <a:cubicBezTo>
                      <a:pt x="208" y="97"/>
                      <a:pt x="208" y="97"/>
                      <a:pt x="208" y="97"/>
                    </a:cubicBezTo>
                    <a:cubicBezTo>
                      <a:pt x="205" y="91"/>
                      <a:pt x="205" y="91"/>
                      <a:pt x="205" y="91"/>
                    </a:cubicBezTo>
                    <a:cubicBezTo>
                      <a:pt x="226" y="81"/>
                      <a:pt x="226" y="81"/>
                      <a:pt x="226" y="81"/>
                    </a:cubicBezTo>
                    <a:cubicBezTo>
                      <a:pt x="228" y="86"/>
                      <a:pt x="228" y="86"/>
                      <a:pt x="228" y="86"/>
                    </a:cubicBezTo>
                    <a:cubicBezTo>
                      <a:pt x="237" y="82"/>
                      <a:pt x="237" y="82"/>
                      <a:pt x="237" y="82"/>
                    </a:cubicBezTo>
                    <a:cubicBezTo>
                      <a:pt x="233" y="74"/>
                      <a:pt x="233" y="74"/>
                      <a:pt x="233" y="74"/>
                    </a:cubicBezTo>
                    <a:cubicBezTo>
                      <a:pt x="218" y="81"/>
                      <a:pt x="218" y="81"/>
                      <a:pt x="218" y="81"/>
                    </a:cubicBezTo>
                    <a:cubicBezTo>
                      <a:pt x="202" y="82"/>
                      <a:pt x="202" y="82"/>
                      <a:pt x="202" y="82"/>
                    </a:cubicBezTo>
                    <a:cubicBezTo>
                      <a:pt x="196" y="71"/>
                      <a:pt x="196" y="71"/>
                      <a:pt x="196" y="71"/>
                    </a:cubicBezTo>
                    <a:lnTo>
                      <a:pt x="208" y="60"/>
                    </a:lnTo>
                    <a:close/>
                    <a:moveTo>
                      <a:pt x="342" y="96"/>
                    </a:moveTo>
                    <a:cubicBezTo>
                      <a:pt x="477" y="96"/>
                      <a:pt x="588" y="205"/>
                      <a:pt x="588" y="340"/>
                    </a:cubicBezTo>
                    <a:cubicBezTo>
                      <a:pt x="588" y="351"/>
                      <a:pt x="587" y="361"/>
                      <a:pt x="586" y="372"/>
                    </a:cubicBezTo>
                    <a:cubicBezTo>
                      <a:pt x="569" y="491"/>
                      <a:pt x="466" y="583"/>
                      <a:pt x="342" y="583"/>
                    </a:cubicBezTo>
                    <a:cubicBezTo>
                      <a:pt x="217" y="583"/>
                      <a:pt x="115" y="491"/>
                      <a:pt x="99" y="372"/>
                    </a:cubicBezTo>
                    <a:cubicBezTo>
                      <a:pt x="97" y="361"/>
                      <a:pt x="96" y="351"/>
                      <a:pt x="96" y="340"/>
                    </a:cubicBezTo>
                    <a:cubicBezTo>
                      <a:pt x="96" y="205"/>
                      <a:pt x="206" y="96"/>
                      <a:pt x="342" y="96"/>
                    </a:cubicBezTo>
                    <a:moveTo>
                      <a:pt x="100" y="146"/>
                    </a:moveTo>
                    <a:cubicBezTo>
                      <a:pt x="116" y="127"/>
                      <a:pt x="116" y="127"/>
                      <a:pt x="116" y="127"/>
                    </a:cubicBezTo>
                    <a:cubicBezTo>
                      <a:pt x="130" y="119"/>
                      <a:pt x="130" y="119"/>
                      <a:pt x="130" y="119"/>
                    </a:cubicBezTo>
                    <a:cubicBezTo>
                      <a:pt x="137" y="125"/>
                      <a:pt x="137" y="125"/>
                      <a:pt x="137" y="125"/>
                    </a:cubicBezTo>
                    <a:cubicBezTo>
                      <a:pt x="122" y="142"/>
                      <a:pt x="122" y="142"/>
                      <a:pt x="122" y="142"/>
                    </a:cubicBezTo>
                    <a:cubicBezTo>
                      <a:pt x="117" y="137"/>
                      <a:pt x="117" y="137"/>
                      <a:pt x="117" y="137"/>
                    </a:cubicBezTo>
                    <a:cubicBezTo>
                      <a:pt x="111" y="145"/>
                      <a:pt x="111" y="145"/>
                      <a:pt x="111" y="145"/>
                    </a:cubicBezTo>
                    <a:cubicBezTo>
                      <a:pt x="129" y="160"/>
                      <a:pt x="129" y="160"/>
                      <a:pt x="129" y="160"/>
                    </a:cubicBezTo>
                    <a:cubicBezTo>
                      <a:pt x="136" y="153"/>
                      <a:pt x="136" y="153"/>
                      <a:pt x="136" y="153"/>
                    </a:cubicBezTo>
                    <a:cubicBezTo>
                      <a:pt x="129" y="147"/>
                      <a:pt x="129" y="147"/>
                      <a:pt x="129" y="147"/>
                    </a:cubicBezTo>
                    <a:cubicBezTo>
                      <a:pt x="143" y="130"/>
                      <a:pt x="143" y="130"/>
                      <a:pt x="143" y="130"/>
                    </a:cubicBezTo>
                    <a:cubicBezTo>
                      <a:pt x="152" y="137"/>
                      <a:pt x="152" y="137"/>
                      <a:pt x="152" y="137"/>
                    </a:cubicBezTo>
                    <a:cubicBezTo>
                      <a:pt x="146" y="153"/>
                      <a:pt x="146" y="153"/>
                      <a:pt x="146" y="153"/>
                    </a:cubicBezTo>
                    <a:cubicBezTo>
                      <a:pt x="131" y="170"/>
                      <a:pt x="131" y="170"/>
                      <a:pt x="131" y="170"/>
                    </a:cubicBezTo>
                    <a:cubicBezTo>
                      <a:pt x="116" y="179"/>
                      <a:pt x="116" y="179"/>
                      <a:pt x="116" y="179"/>
                    </a:cubicBezTo>
                    <a:cubicBezTo>
                      <a:pt x="94" y="160"/>
                      <a:pt x="94" y="160"/>
                      <a:pt x="94" y="160"/>
                    </a:cubicBezTo>
                    <a:lnTo>
                      <a:pt x="100" y="146"/>
                    </a:lnTo>
                    <a:close/>
                    <a:moveTo>
                      <a:pt x="68" y="193"/>
                    </a:moveTo>
                    <a:cubicBezTo>
                      <a:pt x="80" y="181"/>
                      <a:pt x="80" y="181"/>
                      <a:pt x="80" y="181"/>
                    </a:cubicBezTo>
                    <a:cubicBezTo>
                      <a:pt x="93" y="187"/>
                      <a:pt x="93" y="187"/>
                      <a:pt x="93" y="187"/>
                    </a:cubicBezTo>
                    <a:cubicBezTo>
                      <a:pt x="92" y="204"/>
                      <a:pt x="92" y="204"/>
                      <a:pt x="92" y="204"/>
                    </a:cubicBezTo>
                    <a:cubicBezTo>
                      <a:pt x="86" y="217"/>
                      <a:pt x="86" y="217"/>
                      <a:pt x="86" y="217"/>
                    </a:cubicBezTo>
                    <a:cubicBezTo>
                      <a:pt x="99" y="222"/>
                      <a:pt x="99" y="222"/>
                      <a:pt x="99" y="222"/>
                    </a:cubicBezTo>
                    <a:cubicBezTo>
                      <a:pt x="89" y="243"/>
                      <a:pt x="89" y="243"/>
                      <a:pt x="89" y="243"/>
                    </a:cubicBezTo>
                    <a:cubicBezTo>
                      <a:pt x="53" y="227"/>
                      <a:pt x="53" y="227"/>
                      <a:pt x="53" y="227"/>
                    </a:cubicBezTo>
                    <a:lnTo>
                      <a:pt x="68" y="193"/>
                    </a:lnTo>
                    <a:close/>
                    <a:moveTo>
                      <a:pt x="40" y="268"/>
                    </a:moveTo>
                    <a:cubicBezTo>
                      <a:pt x="49" y="254"/>
                      <a:pt x="49" y="254"/>
                      <a:pt x="49" y="254"/>
                    </a:cubicBezTo>
                    <a:cubicBezTo>
                      <a:pt x="63" y="257"/>
                      <a:pt x="63" y="257"/>
                      <a:pt x="63" y="257"/>
                    </a:cubicBezTo>
                    <a:cubicBezTo>
                      <a:pt x="66" y="272"/>
                      <a:pt x="66" y="272"/>
                      <a:pt x="66" y="272"/>
                    </a:cubicBezTo>
                    <a:cubicBezTo>
                      <a:pt x="64" y="286"/>
                      <a:pt x="64" y="286"/>
                      <a:pt x="64" y="286"/>
                    </a:cubicBezTo>
                    <a:cubicBezTo>
                      <a:pt x="77" y="290"/>
                      <a:pt x="77" y="290"/>
                      <a:pt x="77" y="290"/>
                    </a:cubicBezTo>
                    <a:cubicBezTo>
                      <a:pt x="72" y="311"/>
                      <a:pt x="72" y="311"/>
                      <a:pt x="72" y="311"/>
                    </a:cubicBezTo>
                    <a:cubicBezTo>
                      <a:pt x="33" y="305"/>
                      <a:pt x="33" y="305"/>
                      <a:pt x="33" y="305"/>
                    </a:cubicBezTo>
                    <a:lnTo>
                      <a:pt x="40" y="268"/>
                    </a:lnTo>
                    <a:close/>
                    <a:moveTo>
                      <a:pt x="68" y="485"/>
                    </a:moveTo>
                    <a:cubicBezTo>
                      <a:pt x="57" y="474"/>
                      <a:pt x="57" y="474"/>
                      <a:pt x="57" y="474"/>
                    </a:cubicBezTo>
                    <a:cubicBezTo>
                      <a:pt x="47" y="452"/>
                      <a:pt x="47" y="452"/>
                      <a:pt x="47" y="452"/>
                    </a:cubicBezTo>
                    <a:cubicBezTo>
                      <a:pt x="46" y="434"/>
                      <a:pt x="46" y="434"/>
                      <a:pt x="46" y="434"/>
                    </a:cubicBezTo>
                    <a:cubicBezTo>
                      <a:pt x="72" y="423"/>
                      <a:pt x="72" y="423"/>
                      <a:pt x="72" y="423"/>
                    </a:cubicBezTo>
                    <a:cubicBezTo>
                      <a:pt x="83" y="435"/>
                      <a:pt x="83" y="435"/>
                      <a:pt x="83" y="435"/>
                    </a:cubicBezTo>
                    <a:cubicBezTo>
                      <a:pt x="93" y="458"/>
                      <a:pt x="93" y="458"/>
                      <a:pt x="93" y="458"/>
                    </a:cubicBezTo>
                    <a:cubicBezTo>
                      <a:pt x="94" y="474"/>
                      <a:pt x="94" y="474"/>
                      <a:pt x="94" y="474"/>
                    </a:cubicBezTo>
                    <a:cubicBezTo>
                      <a:pt x="86" y="479"/>
                      <a:pt x="86" y="479"/>
                      <a:pt x="86" y="479"/>
                    </a:cubicBezTo>
                    <a:cubicBezTo>
                      <a:pt x="77" y="457"/>
                      <a:pt x="77" y="457"/>
                      <a:pt x="77" y="457"/>
                    </a:cubicBezTo>
                    <a:cubicBezTo>
                      <a:pt x="83" y="455"/>
                      <a:pt x="83" y="455"/>
                      <a:pt x="83" y="455"/>
                    </a:cubicBezTo>
                    <a:cubicBezTo>
                      <a:pt x="80" y="445"/>
                      <a:pt x="80" y="445"/>
                      <a:pt x="80" y="445"/>
                    </a:cubicBezTo>
                    <a:cubicBezTo>
                      <a:pt x="57" y="455"/>
                      <a:pt x="57" y="455"/>
                      <a:pt x="57" y="455"/>
                    </a:cubicBezTo>
                    <a:cubicBezTo>
                      <a:pt x="61" y="465"/>
                      <a:pt x="61" y="465"/>
                      <a:pt x="61" y="465"/>
                    </a:cubicBezTo>
                    <a:cubicBezTo>
                      <a:pt x="66" y="463"/>
                      <a:pt x="66" y="463"/>
                      <a:pt x="66" y="463"/>
                    </a:cubicBezTo>
                    <a:cubicBezTo>
                      <a:pt x="64" y="457"/>
                      <a:pt x="64" y="457"/>
                      <a:pt x="64" y="457"/>
                    </a:cubicBezTo>
                    <a:cubicBezTo>
                      <a:pt x="71" y="454"/>
                      <a:pt x="71" y="454"/>
                      <a:pt x="71" y="454"/>
                    </a:cubicBezTo>
                    <a:cubicBezTo>
                      <a:pt x="82" y="480"/>
                      <a:pt x="82" y="480"/>
                      <a:pt x="82" y="480"/>
                    </a:cubicBezTo>
                    <a:lnTo>
                      <a:pt x="68" y="485"/>
                    </a:lnTo>
                    <a:close/>
                    <a:moveTo>
                      <a:pt x="107" y="547"/>
                    </a:moveTo>
                    <a:cubicBezTo>
                      <a:pt x="103" y="542"/>
                      <a:pt x="103" y="542"/>
                      <a:pt x="103" y="542"/>
                    </a:cubicBezTo>
                    <a:cubicBezTo>
                      <a:pt x="91" y="528"/>
                      <a:pt x="91" y="528"/>
                      <a:pt x="91" y="528"/>
                    </a:cubicBezTo>
                    <a:cubicBezTo>
                      <a:pt x="86" y="513"/>
                      <a:pt x="86" y="513"/>
                      <a:pt x="86" y="513"/>
                    </a:cubicBezTo>
                    <a:cubicBezTo>
                      <a:pt x="112" y="491"/>
                      <a:pt x="112" y="491"/>
                      <a:pt x="112" y="491"/>
                    </a:cubicBezTo>
                    <a:cubicBezTo>
                      <a:pt x="126" y="508"/>
                      <a:pt x="126" y="508"/>
                      <a:pt x="126" y="508"/>
                    </a:cubicBezTo>
                    <a:cubicBezTo>
                      <a:pt x="102" y="529"/>
                      <a:pt x="102" y="529"/>
                      <a:pt x="102" y="529"/>
                    </a:cubicBezTo>
                    <a:cubicBezTo>
                      <a:pt x="107" y="536"/>
                      <a:pt x="107" y="536"/>
                      <a:pt x="107" y="536"/>
                    </a:cubicBezTo>
                    <a:cubicBezTo>
                      <a:pt x="132" y="516"/>
                      <a:pt x="132" y="516"/>
                      <a:pt x="132" y="516"/>
                    </a:cubicBezTo>
                    <a:cubicBezTo>
                      <a:pt x="147" y="533"/>
                      <a:pt x="147" y="533"/>
                      <a:pt x="147" y="533"/>
                    </a:cubicBezTo>
                    <a:cubicBezTo>
                      <a:pt x="136" y="542"/>
                      <a:pt x="136" y="542"/>
                      <a:pt x="136" y="542"/>
                    </a:cubicBezTo>
                    <a:cubicBezTo>
                      <a:pt x="121" y="555"/>
                      <a:pt x="121" y="555"/>
                      <a:pt x="121" y="555"/>
                    </a:cubicBezTo>
                    <a:lnTo>
                      <a:pt x="107" y="547"/>
                    </a:lnTo>
                    <a:close/>
                    <a:moveTo>
                      <a:pt x="190" y="596"/>
                    </a:moveTo>
                    <a:cubicBezTo>
                      <a:pt x="187" y="611"/>
                      <a:pt x="187" y="611"/>
                      <a:pt x="187" y="611"/>
                    </a:cubicBezTo>
                    <a:cubicBezTo>
                      <a:pt x="168" y="598"/>
                      <a:pt x="168" y="598"/>
                      <a:pt x="168" y="598"/>
                    </a:cubicBezTo>
                    <a:cubicBezTo>
                      <a:pt x="169" y="596"/>
                      <a:pt x="169" y="596"/>
                      <a:pt x="169" y="596"/>
                    </a:cubicBezTo>
                    <a:cubicBezTo>
                      <a:pt x="170" y="592"/>
                      <a:pt x="170" y="592"/>
                      <a:pt x="170" y="592"/>
                    </a:cubicBezTo>
                    <a:cubicBezTo>
                      <a:pt x="159" y="584"/>
                      <a:pt x="159" y="584"/>
                      <a:pt x="159" y="584"/>
                    </a:cubicBezTo>
                    <a:cubicBezTo>
                      <a:pt x="154" y="589"/>
                      <a:pt x="154" y="589"/>
                      <a:pt x="154" y="589"/>
                    </a:cubicBezTo>
                    <a:cubicBezTo>
                      <a:pt x="136" y="577"/>
                      <a:pt x="136" y="577"/>
                      <a:pt x="136" y="577"/>
                    </a:cubicBezTo>
                    <a:cubicBezTo>
                      <a:pt x="170" y="552"/>
                      <a:pt x="170" y="552"/>
                      <a:pt x="170" y="552"/>
                    </a:cubicBezTo>
                    <a:cubicBezTo>
                      <a:pt x="197" y="570"/>
                      <a:pt x="197" y="570"/>
                      <a:pt x="197" y="570"/>
                    </a:cubicBezTo>
                    <a:lnTo>
                      <a:pt x="190" y="596"/>
                    </a:lnTo>
                    <a:close/>
                    <a:moveTo>
                      <a:pt x="270" y="619"/>
                    </a:moveTo>
                    <a:cubicBezTo>
                      <a:pt x="258" y="619"/>
                      <a:pt x="258" y="619"/>
                      <a:pt x="258" y="619"/>
                    </a:cubicBezTo>
                    <a:cubicBezTo>
                      <a:pt x="267" y="627"/>
                      <a:pt x="267" y="627"/>
                      <a:pt x="267" y="627"/>
                    </a:cubicBezTo>
                    <a:cubicBezTo>
                      <a:pt x="262" y="641"/>
                      <a:pt x="262" y="641"/>
                      <a:pt x="262" y="641"/>
                    </a:cubicBezTo>
                    <a:cubicBezTo>
                      <a:pt x="241" y="633"/>
                      <a:pt x="241" y="633"/>
                      <a:pt x="241" y="633"/>
                    </a:cubicBezTo>
                    <a:cubicBezTo>
                      <a:pt x="246" y="619"/>
                      <a:pt x="246" y="619"/>
                      <a:pt x="246" y="619"/>
                    </a:cubicBezTo>
                    <a:cubicBezTo>
                      <a:pt x="238" y="616"/>
                      <a:pt x="238" y="616"/>
                      <a:pt x="238" y="616"/>
                    </a:cubicBezTo>
                    <a:cubicBezTo>
                      <a:pt x="232" y="630"/>
                      <a:pt x="232" y="630"/>
                      <a:pt x="232" y="630"/>
                    </a:cubicBezTo>
                    <a:cubicBezTo>
                      <a:pt x="211" y="622"/>
                      <a:pt x="211" y="622"/>
                      <a:pt x="211" y="622"/>
                    </a:cubicBezTo>
                    <a:cubicBezTo>
                      <a:pt x="220" y="596"/>
                      <a:pt x="220" y="596"/>
                      <a:pt x="220" y="596"/>
                    </a:cubicBezTo>
                    <a:cubicBezTo>
                      <a:pt x="225" y="585"/>
                      <a:pt x="225" y="585"/>
                      <a:pt x="225" y="585"/>
                    </a:cubicBezTo>
                    <a:cubicBezTo>
                      <a:pt x="255" y="596"/>
                      <a:pt x="255" y="596"/>
                      <a:pt x="255" y="596"/>
                    </a:cubicBezTo>
                    <a:cubicBezTo>
                      <a:pt x="262" y="598"/>
                      <a:pt x="262" y="598"/>
                      <a:pt x="262" y="598"/>
                    </a:cubicBezTo>
                    <a:cubicBezTo>
                      <a:pt x="274" y="609"/>
                      <a:pt x="274" y="609"/>
                      <a:pt x="274" y="609"/>
                    </a:cubicBezTo>
                    <a:lnTo>
                      <a:pt x="270" y="619"/>
                    </a:lnTo>
                    <a:close/>
                    <a:moveTo>
                      <a:pt x="328" y="650"/>
                    </a:moveTo>
                    <a:cubicBezTo>
                      <a:pt x="327" y="642"/>
                      <a:pt x="327" y="642"/>
                      <a:pt x="327" y="642"/>
                    </a:cubicBezTo>
                    <a:cubicBezTo>
                      <a:pt x="314" y="641"/>
                      <a:pt x="314" y="641"/>
                      <a:pt x="314" y="641"/>
                    </a:cubicBezTo>
                    <a:cubicBezTo>
                      <a:pt x="311" y="648"/>
                      <a:pt x="311" y="648"/>
                      <a:pt x="311" y="648"/>
                    </a:cubicBezTo>
                    <a:cubicBezTo>
                      <a:pt x="289" y="646"/>
                      <a:pt x="289" y="646"/>
                      <a:pt x="289" y="646"/>
                    </a:cubicBezTo>
                    <a:cubicBezTo>
                      <a:pt x="305" y="608"/>
                      <a:pt x="305" y="608"/>
                      <a:pt x="305" y="608"/>
                    </a:cubicBezTo>
                    <a:cubicBezTo>
                      <a:pt x="339" y="610"/>
                      <a:pt x="339" y="610"/>
                      <a:pt x="339" y="610"/>
                    </a:cubicBezTo>
                    <a:cubicBezTo>
                      <a:pt x="351" y="651"/>
                      <a:pt x="351" y="651"/>
                      <a:pt x="351" y="651"/>
                    </a:cubicBezTo>
                    <a:lnTo>
                      <a:pt x="328" y="650"/>
                    </a:lnTo>
                    <a:close/>
                    <a:moveTo>
                      <a:pt x="412" y="642"/>
                    </a:moveTo>
                    <a:cubicBezTo>
                      <a:pt x="393" y="626"/>
                      <a:pt x="393" y="626"/>
                      <a:pt x="393" y="626"/>
                    </a:cubicBezTo>
                    <a:cubicBezTo>
                      <a:pt x="396" y="645"/>
                      <a:pt x="396" y="645"/>
                      <a:pt x="396" y="645"/>
                    </a:cubicBezTo>
                    <a:cubicBezTo>
                      <a:pt x="376" y="648"/>
                      <a:pt x="376" y="648"/>
                      <a:pt x="376" y="648"/>
                    </a:cubicBezTo>
                    <a:cubicBezTo>
                      <a:pt x="369" y="609"/>
                      <a:pt x="369" y="609"/>
                      <a:pt x="369" y="609"/>
                    </a:cubicBezTo>
                    <a:cubicBezTo>
                      <a:pt x="388" y="606"/>
                      <a:pt x="388" y="606"/>
                      <a:pt x="388" y="606"/>
                    </a:cubicBezTo>
                    <a:cubicBezTo>
                      <a:pt x="405" y="622"/>
                      <a:pt x="405" y="622"/>
                      <a:pt x="405" y="622"/>
                    </a:cubicBezTo>
                    <a:cubicBezTo>
                      <a:pt x="402" y="604"/>
                      <a:pt x="402" y="604"/>
                      <a:pt x="402" y="604"/>
                    </a:cubicBezTo>
                    <a:cubicBezTo>
                      <a:pt x="424" y="599"/>
                      <a:pt x="424" y="599"/>
                      <a:pt x="424" y="599"/>
                    </a:cubicBezTo>
                    <a:cubicBezTo>
                      <a:pt x="430" y="639"/>
                      <a:pt x="430" y="639"/>
                      <a:pt x="430" y="639"/>
                    </a:cubicBezTo>
                    <a:lnTo>
                      <a:pt x="412" y="642"/>
                    </a:lnTo>
                    <a:close/>
                    <a:moveTo>
                      <a:pt x="470" y="622"/>
                    </a:moveTo>
                    <a:cubicBezTo>
                      <a:pt x="457" y="596"/>
                      <a:pt x="457" y="596"/>
                      <a:pt x="457" y="596"/>
                    </a:cubicBezTo>
                    <a:cubicBezTo>
                      <a:pt x="456" y="594"/>
                      <a:pt x="456" y="594"/>
                      <a:pt x="456" y="594"/>
                    </a:cubicBezTo>
                    <a:cubicBezTo>
                      <a:pt x="451" y="596"/>
                      <a:pt x="451" y="596"/>
                      <a:pt x="451" y="596"/>
                    </a:cubicBezTo>
                    <a:cubicBezTo>
                      <a:pt x="444" y="601"/>
                      <a:pt x="444" y="601"/>
                      <a:pt x="444" y="601"/>
                    </a:cubicBezTo>
                    <a:cubicBezTo>
                      <a:pt x="442" y="596"/>
                      <a:pt x="442" y="596"/>
                      <a:pt x="442" y="596"/>
                    </a:cubicBezTo>
                    <a:cubicBezTo>
                      <a:pt x="441" y="593"/>
                      <a:pt x="441" y="593"/>
                      <a:pt x="441" y="593"/>
                    </a:cubicBezTo>
                    <a:cubicBezTo>
                      <a:pt x="485" y="571"/>
                      <a:pt x="485" y="571"/>
                      <a:pt x="485" y="571"/>
                    </a:cubicBezTo>
                    <a:cubicBezTo>
                      <a:pt x="488" y="579"/>
                      <a:pt x="488" y="579"/>
                      <a:pt x="488" y="579"/>
                    </a:cubicBezTo>
                    <a:cubicBezTo>
                      <a:pt x="476" y="584"/>
                      <a:pt x="476" y="584"/>
                      <a:pt x="476" y="584"/>
                    </a:cubicBezTo>
                    <a:cubicBezTo>
                      <a:pt x="482" y="596"/>
                      <a:pt x="482" y="596"/>
                      <a:pt x="482" y="596"/>
                    </a:cubicBezTo>
                    <a:cubicBezTo>
                      <a:pt x="491" y="613"/>
                      <a:pt x="491" y="613"/>
                      <a:pt x="491" y="613"/>
                    </a:cubicBezTo>
                    <a:lnTo>
                      <a:pt x="470" y="622"/>
                    </a:lnTo>
                    <a:close/>
                    <a:moveTo>
                      <a:pt x="524" y="593"/>
                    </a:moveTo>
                    <a:cubicBezTo>
                      <a:pt x="499" y="563"/>
                      <a:pt x="499" y="563"/>
                      <a:pt x="499" y="563"/>
                    </a:cubicBezTo>
                    <a:cubicBezTo>
                      <a:pt x="525" y="542"/>
                      <a:pt x="525" y="542"/>
                      <a:pt x="525" y="542"/>
                    </a:cubicBezTo>
                    <a:cubicBezTo>
                      <a:pt x="531" y="536"/>
                      <a:pt x="531" y="536"/>
                      <a:pt x="531" y="536"/>
                    </a:cubicBezTo>
                    <a:cubicBezTo>
                      <a:pt x="536" y="542"/>
                      <a:pt x="536" y="542"/>
                      <a:pt x="536" y="542"/>
                    </a:cubicBezTo>
                    <a:cubicBezTo>
                      <a:pt x="537" y="542"/>
                      <a:pt x="537" y="542"/>
                      <a:pt x="537" y="542"/>
                    </a:cubicBezTo>
                    <a:cubicBezTo>
                      <a:pt x="521" y="554"/>
                      <a:pt x="521" y="554"/>
                      <a:pt x="521" y="554"/>
                    </a:cubicBezTo>
                    <a:cubicBezTo>
                      <a:pt x="526" y="560"/>
                      <a:pt x="526" y="560"/>
                      <a:pt x="526" y="560"/>
                    </a:cubicBezTo>
                    <a:cubicBezTo>
                      <a:pt x="539" y="551"/>
                      <a:pt x="539" y="551"/>
                      <a:pt x="539" y="551"/>
                    </a:cubicBezTo>
                    <a:cubicBezTo>
                      <a:pt x="543" y="556"/>
                      <a:pt x="543" y="556"/>
                      <a:pt x="543" y="556"/>
                    </a:cubicBezTo>
                    <a:cubicBezTo>
                      <a:pt x="530" y="566"/>
                      <a:pt x="530" y="566"/>
                      <a:pt x="530" y="566"/>
                    </a:cubicBezTo>
                    <a:cubicBezTo>
                      <a:pt x="537" y="573"/>
                      <a:pt x="537" y="573"/>
                      <a:pt x="537" y="573"/>
                    </a:cubicBezTo>
                    <a:cubicBezTo>
                      <a:pt x="552" y="561"/>
                      <a:pt x="552" y="561"/>
                      <a:pt x="552" y="561"/>
                    </a:cubicBezTo>
                    <a:cubicBezTo>
                      <a:pt x="556" y="567"/>
                      <a:pt x="556" y="567"/>
                      <a:pt x="556" y="567"/>
                    </a:cubicBezTo>
                    <a:lnTo>
                      <a:pt x="524" y="593"/>
                    </a:lnTo>
                    <a:close/>
                    <a:moveTo>
                      <a:pt x="580" y="542"/>
                    </a:moveTo>
                    <a:cubicBezTo>
                      <a:pt x="577" y="546"/>
                      <a:pt x="577" y="546"/>
                      <a:pt x="577" y="546"/>
                    </a:cubicBezTo>
                    <a:cubicBezTo>
                      <a:pt x="571" y="542"/>
                      <a:pt x="571" y="542"/>
                      <a:pt x="571" y="542"/>
                    </a:cubicBezTo>
                    <a:cubicBezTo>
                      <a:pt x="545" y="522"/>
                      <a:pt x="545" y="522"/>
                      <a:pt x="545" y="522"/>
                    </a:cubicBezTo>
                    <a:cubicBezTo>
                      <a:pt x="571" y="490"/>
                      <a:pt x="571" y="490"/>
                      <a:pt x="571" y="490"/>
                    </a:cubicBezTo>
                    <a:cubicBezTo>
                      <a:pt x="577" y="494"/>
                      <a:pt x="577" y="494"/>
                      <a:pt x="577" y="494"/>
                    </a:cubicBezTo>
                    <a:cubicBezTo>
                      <a:pt x="565" y="509"/>
                      <a:pt x="565" y="509"/>
                      <a:pt x="565" y="509"/>
                    </a:cubicBezTo>
                    <a:cubicBezTo>
                      <a:pt x="571" y="514"/>
                      <a:pt x="571" y="514"/>
                      <a:pt x="571" y="514"/>
                    </a:cubicBezTo>
                    <a:cubicBezTo>
                      <a:pt x="581" y="502"/>
                      <a:pt x="581" y="502"/>
                      <a:pt x="581" y="502"/>
                    </a:cubicBezTo>
                    <a:cubicBezTo>
                      <a:pt x="587" y="506"/>
                      <a:pt x="587" y="506"/>
                      <a:pt x="587" y="506"/>
                    </a:cubicBezTo>
                    <a:cubicBezTo>
                      <a:pt x="577" y="518"/>
                      <a:pt x="577" y="518"/>
                      <a:pt x="577" y="518"/>
                    </a:cubicBezTo>
                    <a:cubicBezTo>
                      <a:pt x="585" y="524"/>
                      <a:pt x="585" y="524"/>
                      <a:pt x="585" y="524"/>
                    </a:cubicBezTo>
                    <a:cubicBezTo>
                      <a:pt x="598" y="509"/>
                      <a:pt x="598" y="509"/>
                      <a:pt x="598" y="509"/>
                    </a:cubicBezTo>
                    <a:cubicBezTo>
                      <a:pt x="603" y="514"/>
                      <a:pt x="603" y="514"/>
                      <a:pt x="603" y="514"/>
                    </a:cubicBezTo>
                    <a:lnTo>
                      <a:pt x="580" y="542"/>
                    </a:lnTo>
                    <a:close/>
                    <a:moveTo>
                      <a:pt x="636" y="453"/>
                    </a:moveTo>
                    <a:cubicBezTo>
                      <a:pt x="619" y="489"/>
                      <a:pt x="619" y="489"/>
                      <a:pt x="619" y="489"/>
                    </a:cubicBezTo>
                    <a:cubicBezTo>
                      <a:pt x="582" y="473"/>
                      <a:pt x="582" y="473"/>
                      <a:pt x="582" y="473"/>
                    </a:cubicBezTo>
                    <a:cubicBezTo>
                      <a:pt x="599" y="437"/>
                      <a:pt x="599" y="437"/>
                      <a:pt x="599" y="437"/>
                    </a:cubicBezTo>
                    <a:cubicBezTo>
                      <a:pt x="611" y="426"/>
                      <a:pt x="611" y="426"/>
                      <a:pt x="611" y="426"/>
                    </a:cubicBezTo>
                    <a:cubicBezTo>
                      <a:pt x="637" y="436"/>
                      <a:pt x="637" y="436"/>
                      <a:pt x="637" y="436"/>
                    </a:cubicBezTo>
                    <a:lnTo>
                      <a:pt x="636" y="453"/>
                    </a:lnTo>
                    <a:close/>
                    <a:moveTo>
                      <a:pt x="644" y="274"/>
                    </a:moveTo>
                    <a:cubicBezTo>
                      <a:pt x="628" y="277"/>
                      <a:pt x="628" y="277"/>
                      <a:pt x="628" y="277"/>
                    </a:cubicBezTo>
                    <a:cubicBezTo>
                      <a:pt x="630" y="286"/>
                      <a:pt x="630" y="286"/>
                      <a:pt x="630" y="286"/>
                    </a:cubicBezTo>
                    <a:cubicBezTo>
                      <a:pt x="645" y="283"/>
                      <a:pt x="645" y="283"/>
                      <a:pt x="645" y="283"/>
                    </a:cubicBezTo>
                    <a:cubicBezTo>
                      <a:pt x="650" y="306"/>
                      <a:pt x="650" y="306"/>
                      <a:pt x="650" y="306"/>
                    </a:cubicBezTo>
                    <a:cubicBezTo>
                      <a:pt x="611" y="312"/>
                      <a:pt x="611" y="312"/>
                      <a:pt x="611" y="312"/>
                    </a:cubicBezTo>
                    <a:cubicBezTo>
                      <a:pt x="606" y="291"/>
                      <a:pt x="606" y="291"/>
                      <a:pt x="606" y="291"/>
                    </a:cubicBezTo>
                    <a:cubicBezTo>
                      <a:pt x="623" y="287"/>
                      <a:pt x="623" y="287"/>
                      <a:pt x="623" y="287"/>
                    </a:cubicBezTo>
                    <a:cubicBezTo>
                      <a:pt x="620" y="279"/>
                      <a:pt x="620" y="279"/>
                      <a:pt x="620" y="279"/>
                    </a:cubicBezTo>
                    <a:cubicBezTo>
                      <a:pt x="605" y="281"/>
                      <a:pt x="605" y="281"/>
                      <a:pt x="605" y="281"/>
                    </a:cubicBezTo>
                    <a:cubicBezTo>
                      <a:pt x="601" y="259"/>
                      <a:pt x="601" y="259"/>
                      <a:pt x="601" y="259"/>
                    </a:cubicBezTo>
                    <a:cubicBezTo>
                      <a:pt x="640" y="252"/>
                      <a:pt x="640" y="252"/>
                      <a:pt x="640" y="252"/>
                    </a:cubicBezTo>
                    <a:lnTo>
                      <a:pt x="644" y="274"/>
                    </a:lnTo>
                    <a:close/>
                    <a:moveTo>
                      <a:pt x="611" y="184"/>
                    </a:moveTo>
                    <a:cubicBezTo>
                      <a:pt x="631" y="228"/>
                      <a:pt x="631" y="228"/>
                      <a:pt x="631" y="228"/>
                    </a:cubicBezTo>
                    <a:cubicBezTo>
                      <a:pt x="624" y="231"/>
                      <a:pt x="624" y="231"/>
                      <a:pt x="624" y="231"/>
                    </a:cubicBezTo>
                    <a:cubicBezTo>
                      <a:pt x="618" y="219"/>
                      <a:pt x="618" y="219"/>
                      <a:pt x="618" y="219"/>
                    </a:cubicBezTo>
                    <a:cubicBezTo>
                      <a:pt x="589" y="232"/>
                      <a:pt x="589" y="232"/>
                      <a:pt x="589" y="232"/>
                    </a:cubicBezTo>
                    <a:cubicBezTo>
                      <a:pt x="580" y="211"/>
                      <a:pt x="580" y="211"/>
                      <a:pt x="580" y="211"/>
                    </a:cubicBezTo>
                    <a:cubicBezTo>
                      <a:pt x="610" y="198"/>
                      <a:pt x="610" y="198"/>
                      <a:pt x="610" y="198"/>
                    </a:cubicBezTo>
                    <a:cubicBezTo>
                      <a:pt x="604" y="186"/>
                      <a:pt x="604" y="186"/>
                      <a:pt x="604" y="186"/>
                    </a:cubicBezTo>
                    <a:lnTo>
                      <a:pt x="611" y="184"/>
                    </a:lnTo>
                    <a:close/>
                    <a:moveTo>
                      <a:pt x="593" y="165"/>
                    </a:moveTo>
                    <a:cubicBezTo>
                      <a:pt x="586" y="171"/>
                      <a:pt x="586" y="171"/>
                      <a:pt x="586" y="171"/>
                    </a:cubicBezTo>
                    <a:cubicBezTo>
                      <a:pt x="571" y="154"/>
                      <a:pt x="571" y="154"/>
                      <a:pt x="571" y="154"/>
                    </a:cubicBezTo>
                    <a:cubicBezTo>
                      <a:pt x="577" y="149"/>
                      <a:pt x="577" y="149"/>
                      <a:pt x="577" y="149"/>
                    </a:cubicBezTo>
                    <a:cubicBezTo>
                      <a:pt x="569" y="142"/>
                      <a:pt x="569" y="142"/>
                      <a:pt x="569" y="142"/>
                    </a:cubicBezTo>
                    <a:cubicBezTo>
                      <a:pt x="551" y="157"/>
                      <a:pt x="551" y="157"/>
                      <a:pt x="551" y="157"/>
                    </a:cubicBezTo>
                    <a:cubicBezTo>
                      <a:pt x="557" y="166"/>
                      <a:pt x="557" y="166"/>
                      <a:pt x="557" y="166"/>
                    </a:cubicBezTo>
                    <a:cubicBezTo>
                      <a:pt x="562" y="161"/>
                      <a:pt x="562" y="161"/>
                      <a:pt x="562" y="161"/>
                    </a:cubicBezTo>
                    <a:cubicBezTo>
                      <a:pt x="558" y="157"/>
                      <a:pt x="558" y="157"/>
                      <a:pt x="558" y="157"/>
                    </a:cubicBezTo>
                    <a:cubicBezTo>
                      <a:pt x="564" y="153"/>
                      <a:pt x="564" y="153"/>
                      <a:pt x="564" y="153"/>
                    </a:cubicBezTo>
                    <a:cubicBezTo>
                      <a:pt x="582" y="173"/>
                      <a:pt x="582" y="173"/>
                      <a:pt x="582" y="173"/>
                    </a:cubicBezTo>
                    <a:cubicBezTo>
                      <a:pt x="571" y="183"/>
                      <a:pt x="571" y="183"/>
                      <a:pt x="571" y="183"/>
                    </a:cubicBezTo>
                    <a:cubicBezTo>
                      <a:pt x="557" y="175"/>
                      <a:pt x="557" y="175"/>
                      <a:pt x="557" y="175"/>
                    </a:cubicBezTo>
                    <a:cubicBezTo>
                      <a:pt x="541" y="157"/>
                      <a:pt x="541" y="157"/>
                      <a:pt x="541" y="157"/>
                    </a:cubicBezTo>
                    <a:cubicBezTo>
                      <a:pt x="535" y="142"/>
                      <a:pt x="535" y="142"/>
                      <a:pt x="535" y="142"/>
                    </a:cubicBezTo>
                    <a:cubicBezTo>
                      <a:pt x="556" y="123"/>
                      <a:pt x="556" y="123"/>
                      <a:pt x="556" y="123"/>
                    </a:cubicBezTo>
                    <a:cubicBezTo>
                      <a:pt x="570" y="131"/>
                      <a:pt x="570" y="131"/>
                      <a:pt x="570" y="131"/>
                    </a:cubicBezTo>
                    <a:cubicBezTo>
                      <a:pt x="587" y="149"/>
                      <a:pt x="587" y="149"/>
                      <a:pt x="587" y="149"/>
                    </a:cubicBezTo>
                    <a:lnTo>
                      <a:pt x="593" y="16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48" name="Freeform 10">
                <a:extLst>
                  <a:ext uri="{FF2B5EF4-FFF2-40B4-BE49-F238E27FC236}">
                    <a16:creationId xmlns:a16="http://schemas.microsoft.com/office/drawing/2014/main" id="{5F9F6294-E76D-4A0A-BAD1-87071C3BB4CA}"/>
                  </a:ext>
                </a:extLst>
              </p:cNvPr>
              <p:cNvSpPr>
                <a:spLocks/>
              </p:cNvSpPr>
              <p:nvPr/>
            </p:nvSpPr>
            <p:spPr bwMode="auto">
              <a:xfrm>
                <a:off x="9398000" y="8186738"/>
                <a:ext cx="107950" cy="127000"/>
              </a:xfrm>
              <a:custGeom>
                <a:avLst/>
                <a:gdLst>
                  <a:gd name="T0" fmla="*/ 34 w 34"/>
                  <a:gd name="T1" fmla="*/ 39 h 39"/>
                  <a:gd name="T2" fmla="*/ 32 w 34"/>
                  <a:gd name="T3" fmla="*/ 0 h 39"/>
                  <a:gd name="T4" fmla="*/ 0 w 34"/>
                  <a:gd name="T5" fmla="*/ 24 h 39"/>
                  <a:gd name="T6" fmla="*/ 19 w 34"/>
                  <a:gd name="T7" fmla="*/ 32 h 39"/>
                  <a:gd name="T8" fmla="*/ 34 w 34"/>
                  <a:gd name="T9" fmla="*/ 39 h 39"/>
                </a:gdLst>
                <a:ahLst/>
                <a:cxnLst>
                  <a:cxn ang="0">
                    <a:pos x="T0" y="T1"/>
                  </a:cxn>
                  <a:cxn ang="0">
                    <a:pos x="T2" y="T3"/>
                  </a:cxn>
                  <a:cxn ang="0">
                    <a:pos x="T4" y="T5"/>
                  </a:cxn>
                  <a:cxn ang="0">
                    <a:pos x="T6" y="T7"/>
                  </a:cxn>
                  <a:cxn ang="0">
                    <a:pos x="T8" y="T9"/>
                  </a:cxn>
                </a:cxnLst>
                <a:rect l="0" t="0" r="r" b="b"/>
                <a:pathLst>
                  <a:path w="34" h="39">
                    <a:moveTo>
                      <a:pt x="34" y="39"/>
                    </a:moveTo>
                    <a:cubicBezTo>
                      <a:pt x="32" y="0"/>
                      <a:pt x="32" y="0"/>
                      <a:pt x="32" y="0"/>
                    </a:cubicBezTo>
                    <a:cubicBezTo>
                      <a:pt x="0" y="24"/>
                      <a:pt x="0" y="24"/>
                      <a:pt x="0" y="24"/>
                    </a:cubicBezTo>
                    <a:cubicBezTo>
                      <a:pt x="7" y="26"/>
                      <a:pt x="12" y="29"/>
                      <a:pt x="19" y="32"/>
                    </a:cubicBezTo>
                    <a:cubicBezTo>
                      <a:pt x="24" y="34"/>
                      <a:pt x="29" y="36"/>
                      <a:pt x="34" y="3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49" name="Freeform 11">
                <a:extLst>
                  <a:ext uri="{FF2B5EF4-FFF2-40B4-BE49-F238E27FC236}">
                    <a16:creationId xmlns:a16="http://schemas.microsoft.com/office/drawing/2014/main" id="{DE0BAEE0-2986-473F-B063-CF380FCAC995}"/>
                  </a:ext>
                </a:extLst>
              </p:cNvPr>
              <p:cNvSpPr>
                <a:spLocks/>
              </p:cNvSpPr>
              <p:nvPr/>
            </p:nvSpPr>
            <p:spPr bwMode="auto">
              <a:xfrm>
                <a:off x="9967913" y="8726488"/>
                <a:ext cx="123825" cy="101600"/>
              </a:xfrm>
              <a:custGeom>
                <a:avLst/>
                <a:gdLst>
                  <a:gd name="T0" fmla="*/ 9 w 39"/>
                  <a:gd name="T1" fmla="*/ 16 h 31"/>
                  <a:gd name="T2" fmla="*/ 18 w 39"/>
                  <a:gd name="T3" fmla="*/ 31 h 31"/>
                  <a:gd name="T4" fmla="*/ 39 w 39"/>
                  <a:gd name="T5" fmla="*/ 0 h 31"/>
                  <a:gd name="T6" fmla="*/ 0 w 39"/>
                  <a:gd name="T7" fmla="*/ 0 h 31"/>
                  <a:gd name="T8" fmla="*/ 9 w 39"/>
                  <a:gd name="T9" fmla="*/ 16 h 31"/>
                </a:gdLst>
                <a:ahLst/>
                <a:cxnLst>
                  <a:cxn ang="0">
                    <a:pos x="T0" y="T1"/>
                  </a:cxn>
                  <a:cxn ang="0">
                    <a:pos x="T2" y="T3"/>
                  </a:cxn>
                  <a:cxn ang="0">
                    <a:pos x="T4" y="T5"/>
                  </a:cxn>
                  <a:cxn ang="0">
                    <a:pos x="T6" y="T7"/>
                  </a:cxn>
                  <a:cxn ang="0">
                    <a:pos x="T8" y="T9"/>
                  </a:cxn>
                </a:cxnLst>
                <a:rect l="0" t="0" r="r" b="b"/>
                <a:pathLst>
                  <a:path w="39" h="31">
                    <a:moveTo>
                      <a:pt x="9" y="16"/>
                    </a:moveTo>
                    <a:cubicBezTo>
                      <a:pt x="13" y="21"/>
                      <a:pt x="15" y="27"/>
                      <a:pt x="18" y="31"/>
                    </a:cubicBezTo>
                    <a:cubicBezTo>
                      <a:pt x="39" y="0"/>
                      <a:pt x="39" y="0"/>
                      <a:pt x="39" y="0"/>
                    </a:cubicBezTo>
                    <a:cubicBezTo>
                      <a:pt x="0" y="0"/>
                      <a:pt x="0" y="0"/>
                      <a:pt x="0" y="0"/>
                    </a:cubicBezTo>
                    <a:cubicBezTo>
                      <a:pt x="3" y="5"/>
                      <a:pt x="6" y="10"/>
                      <a:pt x="9"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4" name="Freeform 12">
                <a:extLst>
                  <a:ext uri="{FF2B5EF4-FFF2-40B4-BE49-F238E27FC236}">
                    <a16:creationId xmlns:a16="http://schemas.microsoft.com/office/drawing/2014/main" id="{42EB8E60-4EAC-4C3E-8A45-067B44E69CDE}"/>
                  </a:ext>
                </a:extLst>
              </p:cNvPr>
              <p:cNvSpPr>
                <a:spLocks/>
              </p:cNvSpPr>
              <p:nvPr/>
            </p:nvSpPr>
            <p:spPr bwMode="auto">
              <a:xfrm>
                <a:off x="9810750" y="8505826"/>
                <a:ext cx="122238" cy="117475"/>
              </a:xfrm>
              <a:custGeom>
                <a:avLst/>
                <a:gdLst>
                  <a:gd name="T0" fmla="*/ 13 w 38"/>
                  <a:gd name="T1" fmla="*/ 23 h 36"/>
                  <a:gd name="T2" fmla="*/ 25 w 38"/>
                  <a:gd name="T3" fmla="*/ 36 h 36"/>
                  <a:gd name="T4" fmla="*/ 38 w 38"/>
                  <a:gd name="T5" fmla="*/ 0 h 36"/>
                  <a:gd name="T6" fmla="*/ 0 w 38"/>
                  <a:gd name="T7" fmla="*/ 9 h 36"/>
                  <a:gd name="T8" fmla="*/ 13 w 38"/>
                  <a:gd name="T9" fmla="*/ 23 h 36"/>
                </a:gdLst>
                <a:ahLst/>
                <a:cxnLst>
                  <a:cxn ang="0">
                    <a:pos x="T0" y="T1"/>
                  </a:cxn>
                  <a:cxn ang="0">
                    <a:pos x="T2" y="T3"/>
                  </a:cxn>
                  <a:cxn ang="0">
                    <a:pos x="T4" y="T5"/>
                  </a:cxn>
                  <a:cxn ang="0">
                    <a:pos x="T6" y="T7"/>
                  </a:cxn>
                  <a:cxn ang="0">
                    <a:pos x="T8" y="T9"/>
                  </a:cxn>
                </a:cxnLst>
                <a:rect l="0" t="0" r="r" b="b"/>
                <a:pathLst>
                  <a:path w="38" h="36">
                    <a:moveTo>
                      <a:pt x="13" y="23"/>
                    </a:moveTo>
                    <a:cubicBezTo>
                      <a:pt x="17" y="27"/>
                      <a:pt x="20" y="32"/>
                      <a:pt x="25" y="36"/>
                    </a:cubicBezTo>
                    <a:cubicBezTo>
                      <a:pt x="38" y="0"/>
                      <a:pt x="38" y="0"/>
                      <a:pt x="38" y="0"/>
                    </a:cubicBezTo>
                    <a:cubicBezTo>
                      <a:pt x="0" y="9"/>
                      <a:pt x="0" y="9"/>
                      <a:pt x="0" y="9"/>
                    </a:cubicBezTo>
                    <a:cubicBezTo>
                      <a:pt x="4" y="13"/>
                      <a:pt x="8" y="18"/>
                      <a:pt x="13" y="2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5" name="Freeform 13">
                <a:extLst>
                  <a:ext uri="{FF2B5EF4-FFF2-40B4-BE49-F238E27FC236}">
                    <a16:creationId xmlns:a16="http://schemas.microsoft.com/office/drawing/2014/main" id="{E9FDBCFC-3DD9-45C8-AE70-8004C27E0295}"/>
                  </a:ext>
                </a:extLst>
              </p:cNvPr>
              <p:cNvSpPr>
                <a:spLocks/>
              </p:cNvSpPr>
              <p:nvPr/>
            </p:nvSpPr>
            <p:spPr bwMode="auto">
              <a:xfrm>
                <a:off x="9893300" y="8613776"/>
                <a:ext cx="125413" cy="106363"/>
              </a:xfrm>
              <a:custGeom>
                <a:avLst/>
                <a:gdLst>
                  <a:gd name="T0" fmla="*/ 12 w 39"/>
                  <a:gd name="T1" fmla="*/ 19 h 33"/>
                  <a:gd name="T2" fmla="*/ 22 w 39"/>
                  <a:gd name="T3" fmla="*/ 33 h 33"/>
                  <a:gd name="T4" fmla="*/ 39 w 39"/>
                  <a:gd name="T5" fmla="*/ 0 h 33"/>
                  <a:gd name="T6" fmla="*/ 0 w 39"/>
                  <a:gd name="T7" fmla="*/ 4 h 33"/>
                  <a:gd name="T8" fmla="*/ 12 w 39"/>
                  <a:gd name="T9" fmla="*/ 19 h 33"/>
                </a:gdLst>
                <a:ahLst/>
                <a:cxnLst>
                  <a:cxn ang="0">
                    <a:pos x="T0" y="T1"/>
                  </a:cxn>
                  <a:cxn ang="0">
                    <a:pos x="T2" y="T3"/>
                  </a:cxn>
                  <a:cxn ang="0">
                    <a:pos x="T4" y="T5"/>
                  </a:cxn>
                  <a:cxn ang="0">
                    <a:pos x="T6" y="T7"/>
                  </a:cxn>
                  <a:cxn ang="0">
                    <a:pos x="T8" y="T9"/>
                  </a:cxn>
                </a:cxnLst>
                <a:rect l="0" t="0" r="r" b="b"/>
                <a:pathLst>
                  <a:path w="39" h="33">
                    <a:moveTo>
                      <a:pt x="12" y="19"/>
                    </a:moveTo>
                    <a:cubicBezTo>
                      <a:pt x="15" y="24"/>
                      <a:pt x="18" y="29"/>
                      <a:pt x="22" y="33"/>
                    </a:cubicBezTo>
                    <a:cubicBezTo>
                      <a:pt x="39" y="0"/>
                      <a:pt x="39" y="0"/>
                      <a:pt x="39" y="0"/>
                    </a:cubicBezTo>
                    <a:cubicBezTo>
                      <a:pt x="0" y="4"/>
                      <a:pt x="0" y="4"/>
                      <a:pt x="0" y="4"/>
                    </a:cubicBezTo>
                    <a:cubicBezTo>
                      <a:pt x="4" y="8"/>
                      <a:pt x="7" y="14"/>
                      <a:pt x="12" y="1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6" name="Freeform 14">
                <a:extLst>
                  <a:ext uri="{FF2B5EF4-FFF2-40B4-BE49-F238E27FC236}">
                    <a16:creationId xmlns:a16="http://schemas.microsoft.com/office/drawing/2014/main" id="{F5E4EDA6-746D-4C9D-A634-2090A5136C76}"/>
                  </a:ext>
                </a:extLst>
              </p:cNvPr>
              <p:cNvSpPr>
                <a:spLocks/>
              </p:cNvSpPr>
              <p:nvPr/>
            </p:nvSpPr>
            <p:spPr bwMode="auto">
              <a:xfrm>
                <a:off x="9163050" y="8104188"/>
                <a:ext cx="112713" cy="120650"/>
              </a:xfrm>
              <a:custGeom>
                <a:avLst/>
                <a:gdLst>
                  <a:gd name="T0" fmla="*/ 35 w 35"/>
                  <a:gd name="T1" fmla="*/ 37 h 37"/>
                  <a:gd name="T2" fmla="*/ 26 w 35"/>
                  <a:gd name="T3" fmla="*/ 0 h 37"/>
                  <a:gd name="T4" fmla="*/ 0 w 35"/>
                  <a:gd name="T5" fmla="*/ 30 h 37"/>
                  <a:gd name="T6" fmla="*/ 18 w 35"/>
                  <a:gd name="T7" fmla="*/ 33 h 37"/>
                  <a:gd name="T8" fmla="*/ 35 w 35"/>
                  <a:gd name="T9" fmla="*/ 37 h 37"/>
                </a:gdLst>
                <a:ahLst/>
                <a:cxnLst>
                  <a:cxn ang="0">
                    <a:pos x="T0" y="T1"/>
                  </a:cxn>
                  <a:cxn ang="0">
                    <a:pos x="T2" y="T3"/>
                  </a:cxn>
                  <a:cxn ang="0">
                    <a:pos x="T4" y="T5"/>
                  </a:cxn>
                  <a:cxn ang="0">
                    <a:pos x="T6" y="T7"/>
                  </a:cxn>
                  <a:cxn ang="0">
                    <a:pos x="T8" y="T9"/>
                  </a:cxn>
                </a:cxnLst>
                <a:rect l="0" t="0" r="r" b="b"/>
                <a:pathLst>
                  <a:path w="35" h="37">
                    <a:moveTo>
                      <a:pt x="35" y="37"/>
                    </a:moveTo>
                    <a:cubicBezTo>
                      <a:pt x="26" y="0"/>
                      <a:pt x="26" y="0"/>
                      <a:pt x="26" y="0"/>
                    </a:cubicBezTo>
                    <a:cubicBezTo>
                      <a:pt x="0" y="30"/>
                      <a:pt x="0" y="30"/>
                      <a:pt x="0" y="30"/>
                    </a:cubicBezTo>
                    <a:cubicBezTo>
                      <a:pt x="6" y="31"/>
                      <a:pt x="13" y="32"/>
                      <a:pt x="18" y="33"/>
                    </a:cubicBezTo>
                    <a:cubicBezTo>
                      <a:pt x="25" y="34"/>
                      <a:pt x="30" y="35"/>
                      <a:pt x="35" y="3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7" name="Freeform 15">
                <a:extLst>
                  <a:ext uri="{FF2B5EF4-FFF2-40B4-BE49-F238E27FC236}">
                    <a16:creationId xmlns:a16="http://schemas.microsoft.com/office/drawing/2014/main" id="{4A2BB538-DBD7-421B-956D-0E2473C3ADDE}"/>
                  </a:ext>
                </a:extLst>
              </p:cNvPr>
              <p:cNvSpPr>
                <a:spLocks/>
              </p:cNvSpPr>
              <p:nvPr/>
            </p:nvSpPr>
            <p:spPr bwMode="auto">
              <a:xfrm>
                <a:off x="9285288" y="8140701"/>
                <a:ext cx="109538" cy="120650"/>
              </a:xfrm>
              <a:custGeom>
                <a:avLst/>
                <a:gdLst>
                  <a:gd name="T0" fmla="*/ 34 w 34"/>
                  <a:gd name="T1" fmla="*/ 37 h 37"/>
                  <a:gd name="T2" fmla="*/ 28 w 34"/>
                  <a:gd name="T3" fmla="*/ 0 h 37"/>
                  <a:gd name="T4" fmla="*/ 0 w 34"/>
                  <a:gd name="T5" fmla="*/ 26 h 37"/>
                  <a:gd name="T6" fmla="*/ 18 w 34"/>
                  <a:gd name="T7" fmla="*/ 32 h 37"/>
                  <a:gd name="T8" fmla="*/ 34 w 34"/>
                  <a:gd name="T9" fmla="*/ 37 h 37"/>
                </a:gdLst>
                <a:ahLst/>
                <a:cxnLst>
                  <a:cxn ang="0">
                    <a:pos x="T0" y="T1"/>
                  </a:cxn>
                  <a:cxn ang="0">
                    <a:pos x="T2" y="T3"/>
                  </a:cxn>
                  <a:cxn ang="0">
                    <a:pos x="T4" y="T5"/>
                  </a:cxn>
                  <a:cxn ang="0">
                    <a:pos x="T6" y="T7"/>
                  </a:cxn>
                  <a:cxn ang="0">
                    <a:pos x="T8" y="T9"/>
                  </a:cxn>
                </a:cxnLst>
                <a:rect l="0" t="0" r="r" b="b"/>
                <a:pathLst>
                  <a:path w="34" h="37">
                    <a:moveTo>
                      <a:pt x="34" y="37"/>
                    </a:moveTo>
                    <a:cubicBezTo>
                      <a:pt x="28" y="0"/>
                      <a:pt x="28" y="0"/>
                      <a:pt x="28" y="0"/>
                    </a:cubicBezTo>
                    <a:cubicBezTo>
                      <a:pt x="0" y="26"/>
                      <a:pt x="0" y="26"/>
                      <a:pt x="0" y="26"/>
                    </a:cubicBezTo>
                    <a:cubicBezTo>
                      <a:pt x="5" y="28"/>
                      <a:pt x="12" y="29"/>
                      <a:pt x="18" y="32"/>
                    </a:cubicBezTo>
                    <a:cubicBezTo>
                      <a:pt x="23" y="34"/>
                      <a:pt x="29" y="36"/>
                      <a:pt x="34" y="3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8" name="Freeform 16">
                <a:extLst>
                  <a:ext uri="{FF2B5EF4-FFF2-40B4-BE49-F238E27FC236}">
                    <a16:creationId xmlns:a16="http://schemas.microsoft.com/office/drawing/2014/main" id="{917DEC75-F885-472E-97E4-9D7E03CC61F4}"/>
                  </a:ext>
                </a:extLst>
              </p:cNvPr>
              <p:cNvSpPr>
                <a:spLocks/>
              </p:cNvSpPr>
              <p:nvPr/>
            </p:nvSpPr>
            <p:spPr bwMode="auto">
              <a:xfrm>
                <a:off x="8555038" y="8140701"/>
                <a:ext cx="112713" cy="123825"/>
              </a:xfrm>
              <a:custGeom>
                <a:avLst/>
                <a:gdLst>
                  <a:gd name="T0" fmla="*/ 35 w 35"/>
                  <a:gd name="T1" fmla="*/ 27 h 38"/>
                  <a:gd name="T2" fmla="*/ 8 w 35"/>
                  <a:gd name="T3" fmla="*/ 0 h 38"/>
                  <a:gd name="T4" fmla="*/ 0 w 35"/>
                  <a:gd name="T5" fmla="*/ 38 h 38"/>
                  <a:gd name="T6" fmla="*/ 19 w 35"/>
                  <a:gd name="T7" fmla="*/ 32 h 38"/>
                  <a:gd name="T8" fmla="*/ 35 w 35"/>
                  <a:gd name="T9" fmla="*/ 27 h 38"/>
                </a:gdLst>
                <a:ahLst/>
                <a:cxnLst>
                  <a:cxn ang="0">
                    <a:pos x="T0" y="T1"/>
                  </a:cxn>
                  <a:cxn ang="0">
                    <a:pos x="T2" y="T3"/>
                  </a:cxn>
                  <a:cxn ang="0">
                    <a:pos x="T4" y="T5"/>
                  </a:cxn>
                  <a:cxn ang="0">
                    <a:pos x="T6" y="T7"/>
                  </a:cxn>
                  <a:cxn ang="0">
                    <a:pos x="T8" y="T9"/>
                  </a:cxn>
                </a:cxnLst>
                <a:rect l="0" t="0" r="r" b="b"/>
                <a:pathLst>
                  <a:path w="35" h="38">
                    <a:moveTo>
                      <a:pt x="35" y="27"/>
                    </a:moveTo>
                    <a:cubicBezTo>
                      <a:pt x="8" y="0"/>
                      <a:pt x="8" y="0"/>
                      <a:pt x="8" y="0"/>
                    </a:cubicBezTo>
                    <a:cubicBezTo>
                      <a:pt x="0" y="38"/>
                      <a:pt x="0" y="38"/>
                      <a:pt x="0" y="38"/>
                    </a:cubicBezTo>
                    <a:cubicBezTo>
                      <a:pt x="6" y="36"/>
                      <a:pt x="12" y="34"/>
                      <a:pt x="19" y="32"/>
                    </a:cubicBezTo>
                    <a:cubicBezTo>
                      <a:pt x="24" y="31"/>
                      <a:pt x="30" y="28"/>
                      <a:pt x="35" y="2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9" name="Freeform 17">
                <a:extLst>
                  <a:ext uri="{FF2B5EF4-FFF2-40B4-BE49-F238E27FC236}">
                    <a16:creationId xmlns:a16="http://schemas.microsoft.com/office/drawing/2014/main" id="{CEE85A78-7A06-4F45-95B9-0DC2D7DCCF02}"/>
                  </a:ext>
                </a:extLst>
              </p:cNvPr>
              <p:cNvSpPr>
                <a:spLocks/>
              </p:cNvSpPr>
              <p:nvPr/>
            </p:nvSpPr>
            <p:spPr bwMode="auto">
              <a:xfrm>
                <a:off x="8439150" y="8189913"/>
                <a:ext cx="109538" cy="123825"/>
              </a:xfrm>
              <a:custGeom>
                <a:avLst/>
                <a:gdLst>
                  <a:gd name="T0" fmla="*/ 34 w 34"/>
                  <a:gd name="T1" fmla="*/ 24 h 38"/>
                  <a:gd name="T2" fmla="*/ 5 w 34"/>
                  <a:gd name="T3" fmla="*/ 0 h 38"/>
                  <a:gd name="T4" fmla="*/ 0 w 34"/>
                  <a:gd name="T5" fmla="*/ 38 h 38"/>
                  <a:gd name="T6" fmla="*/ 19 w 34"/>
                  <a:gd name="T7" fmla="*/ 31 h 38"/>
                  <a:gd name="T8" fmla="*/ 34 w 34"/>
                  <a:gd name="T9" fmla="*/ 24 h 38"/>
                </a:gdLst>
                <a:ahLst/>
                <a:cxnLst>
                  <a:cxn ang="0">
                    <a:pos x="T0" y="T1"/>
                  </a:cxn>
                  <a:cxn ang="0">
                    <a:pos x="T2" y="T3"/>
                  </a:cxn>
                  <a:cxn ang="0">
                    <a:pos x="T4" y="T5"/>
                  </a:cxn>
                  <a:cxn ang="0">
                    <a:pos x="T6" y="T7"/>
                  </a:cxn>
                  <a:cxn ang="0">
                    <a:pos x="T8" y="T9"/>
                  </a:cxn>
                </a:cxnLst>
                <a:rect l="0" t="0" r="r" b="b"/>
                <a:pathLst>
                  <a:path w="34" h="38">
                    <a:moveTo>
                      <a:pt x="34" y="24"/>
                    </a:moveTo>
                    <a:cubicBezTo>
                      <a:pt x="5" y="0"/>
                      <a:pt x="5" y="0"/>
                      <a:pt x="5" y="0"/>
                    </a:cubicBezTo>
                    <a:cubicBezTo>
                      <a:pt x="0" y="38"/>
                      <a:pt x="0" y="38"/>
                      <a:pt x="0" y="38"/>
                    </a:cubicBezTo>
                    <a:cubicBezTo>
                      <a:pt x="7" y="36"/>
                      <a:pt x="12" y="33"/>
                      <a:pt x="19" y="31"/>
                    </a:cubicBezTo>
                    <a:cubicBezTo>
                      <a:pt x="23" y="29"/>
                      <a:pt x="29" y="26"/>
                      <a:pt x="34" y="2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0" name="Freeform 18">
                <a:extLst>
                  <a:ext uri="{FF2B5EF4-FFF2-40B4-BE49-F238E27FC236}">
                    <a16:creationId xmlns:a16="http://schemas.microsoft.com/office/drawing/2014/main" id="{ACAD5194-B1D3-48A2-9229-F951E4794C46}"/>
                  </a:ext>
                </a:extLst>
              </p:cNvPr>
              <p:cNvSpPr>
                <a:spLocks/>
              </p:cNvSpPr>
              <p:nvPr/>
            </p:nvSpPr>
            <p:spPr bwMode="auto">
              <a:xfrm>
                <a:off x="8334375" y="8251826"/>
                <a:ext cx="101600" cy="127000"/>
              </a:xfrm>
              <a:custGeom>
                <a:avLst/>
                <a:gdLst>
                  <a:gd name="T0" fmla="*/ 17 w 32"/>
                  <a:gd name="T1" fmla="*/ 29 h 39"/>
                  <a:gd name="T2" fmla="*/ 32 w 32"/>
                  <a:gd name="T3" fmla="*/ 20 h 39"/>
                  <a:gd name="T4" fmla="*/ 0 w 32"/>
                  <a:gd name="T5" fmla="*/ 0 h 39"/>
                  <a:gd name="T6" fmla="*/ 1 w 32"/>
                  <a:gd name="T7" fmla="*/ 39 h 39"/>
                  <a:gd name="T8" fmla="*/ 17 w 32"/>
                  <a:gd name="T9" fmla="*/ 29 h 39"/>
                </a:gdLst>
                <a:ahLst/>
                <a:cxnLst>
                  <a:cxn ang="0">
                    <a:pos x="T0" y="T1"/>
                  </a:cxn>
                  <a:cxn ang="0">
                    <a:pos x="T2" y="T3"/>
                  </a:cxn>
                  <a:cxn ang="0">
                    <a:pos x="T4" y="T5"/>
                  </a:cxn>
                  <a:cxn ang="0">
                    <a:pos x="T6" y="T7"/>
                  </a:cxn>
                  <a:cxn ang="0">
                    <a:pos x="T8" y="T9"/>
                  </a:cxn>
                </a:cxnLst>
                <a:rect l="0" t="0" r="r" b="b"/>
                <a:pathLst>
                  <a:path w="32" h="39">
                    <a:moveTo>
                      <a:pt x="17" y="29"/>
                    </a:moveTo>
                    <a:cubicBezTo>
                      <a:pt x="23" y="26"/>
                      <a:pt x="27" y="23"/>
                      <a:pt x="32" y="20"/>
                    </a:cubicBezTo>
                    <a:cubicBezTo>
                      <a:pt x="0" y="0"/>
                      <a:pt x="0" y="0"/>
                      <a:pt x="0" y="0"/>
                    </a:cubicBezTo>
                    <a:cubicBezTo>
                      <a:pt x="1" y="39"/>
                      <a:pt x="1" y="39"/>
                      <a:pt x="1" y="39"/>
                    </a:cubicBezTo>
                    <a:cubicBezTo>
                      <a:pt x="6" y="36"/>
                      <a:pt x="12" y="32"/>
                      <a:pt x="17" y="2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1" name="Freeform 19">
                <a:extLst>
                  <a:ext uri="{FF2B5EF4-FFF2-40B4-BE49-F238E27FC236}">
                    <a16:creationId xmlns:a16="http://schemas.microsoft.com/office/drawing/2014/main" id="{ADCFEA0A-6131-4E2A-BD29-9CD53B5AD5D0}"/>
                  </a:ext>
                </a:extLst>
              </p:cNvPr>
              <p:cNvSpPr>
                <a:spLocks/>
              </p:cNvSpPr>
              <p:nvPr/>
            </p:nvSpPr>
            <p:spPr bwMode="auto">
              <a:xfrm>
                <a:off x="8670925" y="8104188"/>
                <a:ext cx="114300" cy="120650"/>
              </a:xfrm>
              <a:custGeom>
                <a:avLst/>
                <a:gdLst>
                  <a:gd name="T0" fmla="*/ 36 w 36"/>
                  <a:gd name="T1" fmla="*/ 30 h 37"/>
                  <a:gd name="T2" fmla="*/ 12 w 36"/>
                  <a:gd name="T3" fmla="*/ 0 h 37"/>
                  <a:gd name="T4" fmla="*/ 0 w 36"/>
                  <a:gd name="T5" fmla="*/ 37 h 37"/>
                  <a:gd name="T6" fmla="*/ 20 w 36"/>
                  <a:gd name="T7" fmla="*/ 33 h 37"/>
                  <a:gd name="T8" fmla="*/ 36 w 36"/>
                  <a:gd name="T9" fmla="*/ 30 h 37"/>
                </a:gdLst>
                <a:ahLst/>
                <a:cxnLst>
                  <a:cxn ang="0">
                    <a:pos x="T0" y="T1"/>
                  </a:cxn>
                  <a:cxn ang="0">
                    <a:pos x="T2" y="T3"/>
                  </a:cxn>
                  <a:cxn ang="0">
                    <a:pos x="T4" y="T5"/>
                  </a:cxn>
                  <a:cxn ang="0">
                    <a:pos x="T6" y="T7"/>
                  </a:cxn>
                  <a:cxn ang="0">
                    <a:pos x="T8" y="T9"/>
                  </a:cxn>
                </a:cxnLst>
                <a:rect l="0" t="0" r="r" b="b"/>
                <a:pathLst>
                  <a:path w="36" h="37">
                    <a:moveTo>
                      <a:pt x="36" y="30"/>
                    </a:moveTo>
                    <a:cubicBezTo>
                      <a:pt x="12" y="0"/>
                      <a:pt x="12" y="0"/>
                      <a:pt x="12" y="0"/>
                    </a:cubicBezTo>
                    <a:cubicBezTo>
                      <a:pt x="0" y="37"/>
                      <a:pt x="0" y="37"/>
                      <a:pt x="0" y="37"/>
                    </a:cubicBezTo>
                    <a:cubicBezTo>
                      <a:pt x="7" y="36"/>
                      <a:pt x="13" y="34"/>
                      <a:pt x="20" y="33"/>
                    </a:cubicBezTo>
                    <a:cubicBezTo>
                      <a:pt x="25" y="32"/>
                      <a:pt x="31" y="31"/>
                      <a:pt x="36" y="3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2" name="Freeform 20">
                <a:extLst>
                  <a:ext uri="{FF2B5EF4-FFF2-40B4-BE49-F238E27FC236}">
                    <a16:creationId xmlns:a16="http://schemas.microsoft.com/office/drawing/2014/main" id="{02855D91-CB59-4A51-BFEA-7629E5DB186B}"/>
                  </a:ext>
                </a:extLst>
              </p:cNvPr>
              <p:cNvSpPr>
                <a:spLocks/>
              </p:cNvSpPr>
              <p:nvPr/>
            </p:nvSpPr>
            <p:spPr bwMode="auto">
              <a:xfrm>
                <a:off x="9039225" y="8085138"/>
                <a:ext cx="114300" cy="117475"/>
              </a:xfrm>
              <a:custGeom>
                <a:avLst/>
                <a:gdLst>
                  <a:gd name="T0" fmla="*/ 36 w 36"/>
                  <a:gd name="T1" fmla="*/ 36 h 36"/>
                  <a:gd name="T2" fmla="*/ 22 w 36"/>
                  <a:gd name="T3" fmla="*/ 0 h 36"/>
                  <a:gd name="T4" fmla="*/ 0 w 36"/>
                  <a:gd name="T5" fmla="*/ 31 h 36"/>
                  <a:gd name="T6" fmla="*/ 20 w 36"/>
                  <a:gd name="T7" fmla="*/ 33 h 36"/>
                  <a:gd name="T8" fmla="*/ 36 w 36"/>
                  <a:gd name="T9" fmla="*/ 36 h 36"/>
                </a:gdLst>
                <a:ahLst/>
                <a:cxnLst>
                  <a:cxn ang="0">
                    <a:pos x="T0" y="T1"/>
                  </a:cxn>
                  <a:cxn ang="0">
                    <a:pos x="T2" y="T3"/>
                  </a:cxn>
                  <a:cxn ang="0">
                    <a:pos x="T4" y="T5"/>
                  </a:cxn>
                  <a:cxn ang="0">
                    <a:pos x="T6" y="T7"/>
                  </a:cxn>
                  <a:cxn ang="0">
                    <a:pos x="T8" y="T9"/>
                  </a:cxn>
                </a:cxnLst>
                <a:rect l="0" t="0" r="r" b="b"/>
                <a:pathLst>
                  <a:path w="36" h="36">
                    <a:moveTo>
                      <a:pt x="36" y="36"/>
                    </a:moveTo>
                    <a:cubicBezTo>
                      <a:pt x="22" y="0"/>
                      <a:pt x="22" y="0"/>
                      <a:pt x="22" y="0"/>
                    </a:cubicBezTo>
                    <a:cubicBezTo>
                      <a:pt x="0" y="31"/>
                      <a:pt x="0" y="31"/>
                      <a:pt x="0" y="31"/>
                    </a:cubicBezTo>
                    <a:cubicBezTo>
                      <a:pt x="7" y="32"/>
                      <a:pt x="14" y="32"/>
                      <a:pt x="20" y="33"/>
                    </a:cubicBezTo>
                    <a:cubicBezTo>
                      <a:pt x="25" y="33"/>
                      <a:pt x="31" y="35"/>
                      <a:pt x="36" y="3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3" name="Freeform 21">
                <a:extLst>
                  <a:ext uri="{FF2B5EF4-FFF2-40B4-BE49-F238E27FC236}">
                    <a16:creationId xmlns:a16="http://schemas.microsoft.com/office/drawing/2014/main" id="{5BBC9AFC-5511-4BD3-8B2B-5C2C9D4EC623}"/>
                  </a:ext>
                </a:extLst>
              </p:cNvPr>
              <p:cNvSpPr>
                <a:spLocks/>
              </p:cNvSpPr>
              <p:nvPr/>
            </p:nvSpPr>
            <p:spPr bwMode="auto">
              <a:xfrm>
                <a:off x="8791575" y="8085138"/>
                <a:ext cx="119063" cy="117475"/>
              </a:xfrm>
              <a:custGeom>
                <a:avLst/>
                <a:gdLst>
                  <a:gd name="T0" fmla="*/ 37 w 37"/>
                  <a:gd name="T1" fmla="*/ 31 h 36"/>
                  <a:gd name="T2" fmla="*/ 16 w 37"/>
                  <a:gd name="T3" fmla="*/ 0 h 36"/>
                  <a:gd name="T4" fmla="*/ 0 w 37"/>
                  <a:gd name="T5" fmla="*/ 36 h 36"/>
                  <a:gd name="T6" fmla="*/ 20 w 37"/>
                  <a:gd name="T7" fmla="*/ 33 h 36"/>
                  <a:gd name="T8" fmla="*/ 37 w 37"/>
                  <a:gd name="T9" fmla="*/ 31 h 36"/>
                </a:gdLst>
                <a:ahLst/>
                <a:cxnLst>
                  <a:cxn ang="0">
                    <a:pos x="T0" y="T1"/>
                  </a:cxn>
                  <a:cxn ang="0">
                    <a:pos x="T2" y="T3"/>
                  </a:cxn>
                  <a:cxn ang="0">
                    <a:pos x="T4" y="T5"/>
                  </a:cxn>
                  <a:cxn ang="0">
                    <a:pos x="T6" y="T7"/>
                  </a:cxn>
                  <a:cxn ang="0">
                    <a:pos x="T8" y="T9"/>
                  </a:cxn>
                </a:cxnLst>
                <a:rect l="0" t="0" r="r" b="b"/>
                <a:pathLst>
                  <a:path w="37" h="36">
                    <a:moveTo>
                      <a:pt x="37" y="31"/>
                    </a:moveTo>
                    <a:cubicBezTo>
                      <a:pt x="16" y="0"/>
                      <a:pt x="16" y="0"/>
                      <a:pt x="16" y="0"/>
                    </a:cubicBezTo>
                    <a:cubicBezTo>
                      <a:pt x="0" y="36"/>
                      <a:pt x="0" y="36"/>
                      <a:pt x="0" y="36"/>
                    </a:cubicBezTo>
                    <a:cubicBezTo>
                      <a:pt x="7" y="35"/>
                      <a:pt x="13" y="33"/>
                      <a:pt x="20" y="33"/>
                    </a:cubicBezTo>
                    <a:cubicBezTo>
                      <a:pt x="25" y="32"/>
                      <a:pt x="31" y="32"/>
                      <a:pt x="37" y="31"/>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4" name="Freeform 22">
                <a:extLst>
                  <a:ext uri="{FF2B5EF4-FFF2-40B4-BE49-F238E27FC236}">
                    <a16:creationId xmlns:a16="http://schemas.microsoft.com/office/drawing/2014/main" id="{7C61F794-0683-4D76-8CE6-361757583CF4}"/>
                  </a:ext>
                </a:extLst>
              </p:cNvPr>
              <p:cNvSpPr>
                <a:spLocks/>
              </p:cNvSpPr>
              <p:nvPr/>
            </p:nvSpPr>
            <p:spPr bwMode="auto">
              <a:xfrm>
                <a:off x="9807575" y="9728201"/>
                <a:ext cx="85725" cy="65088"/>
              </a:xfrm>
              <a:custGeom>
                <a:avLst/>
                <a:gdLst>
                  <a:gd name="T0" fmla="*/ 0 w 54"/>
                  <a:gd name="T1" fmla="*/ 18 h 41"/>
                  <a:gd name="T2" fmla="*/ 44 w 54"/>
                  <a:gd name="T3" fmla="*/ 41 h 41"/>
                  <a:gd name="T4" fmla="*/ 54 w 54"/>
                  <a:gd name="T5" fmla="*/ 22 h 41"/>
                  <a:gd name="T6" fmla="*/ 8 w 54"/>
                  <a:gd name="T7" fmla="*/ 0 h 41"/>
                  <a:gd name="T8" fmla="*/ 0 w 54"/>
                  <a:gd name="T9" fmla="*/ 18 h 41"/>
                </a:gdLst>
                <a:ahLst/>
                <a:cxnLst>
                  <a:cxn ang="0">
                    <a:pos x="T0" y="T1"/>
                  </a:cxn>
                  <a:cxn ang="0">
                    <a:pos x="T2" y="T3"/>
                  </a:cxn>
                  <a:cxn ang="0">
                    <a:pos x="T4" y="T5"/>
                  </a:cxn>
                  <a:cxn ang="0">
                    <a:pos x="T6" y="T7"/>
                  </a:cxn>
                  <a:cxn ang="0">
                    <a:pos x="T8" y="T9"/>
                  </a:cxn>
                </a:cxnLst>
                <a:rect l="0" t="0" r="r" b="b"/>
                <a:pathLst>
                  <a:path w="54" h="41">
                    <a:moveTo>
                      <a:pt x="0" y="18"/>
                    </a:moveTo>
                    <a:lnTo>
                      <a:pt x="44" y="41"/>
                    </a:lnTo>
                    <a:lnTo>
                      <a:pt x="54" y="22"/>
                    </a:lnTo>
                    <a:lnTo>
                      <a:pt x="8" y="0"/>
                    </a:lnTo>
                    <a:lnTo>
                      <a:pt x="0" y="1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5" name="Freeform 23">
                <a:extLst>
                  <a:ext uri="{FF2B5EF4-FFF2-40B4-BE49-F238E27FC236}">
                    <a16:creationId xmlns:a16="http://schemas.microsoft.com/office/drawing/2014/main" id="{EEB9D90E-7C9D-4CEA-A0BF-4376A0B4F8A7}"/>
                  </a:ext>
                </a:extLst>
              </p:cNvPr>
              <p:cNvSpPr>
                <a:spLocks/>
              </p:cNvSpPr>
              <p:nvPr/>
            </p:nvSpPr>
            <p:spPr bwMode="auto">
              <a:xfrm>
                <a:off x="8913813" y="8078788"/>
                <a:ext cx="119063" cy="107950"/>
              </a:xfrm>
              <a:custGeom>
                <a:avLst/>
                <a:gdLst>
                  <a:gd name="T0" fmla="*/ 75 w 75"/>
                  <a:gd name="T1" fmla="*/ 68 h 68"/>
                  <a:gd name="T2" fmla="*/ 40 w 75"/>
                  <a:gd name="T3" fmla="*/ 0 h 68"/>
                  <a:gd name="T4" fmla="*/ 40 w 75"/>
                  <a:gd name="T5" fmla="*/ 0 h 68"/>
                  <a:gd name="T6" fmla="*/ 0 w 75"/>
                  <a:gd name="T7" fmla="*/ 68 h 68"/>
                  <a:gd name="T8" fmla="*/ 40 w 75"/>
                  <a:gd name="T9" fmla="*/ 68 h 68"/>
                  <a:gd name="T10" fmla="*/ 75 w 75"/>
                  <a:gd name="T11" fmla="*/ 68 h 68"/>
                </a:gdLst>
                <a:ahLst/>
                <a:cxnLst>
                  <a:cxn ang="0">
                    <a:pos x="T0" y="T1"/>
                  </a:cxn>
                  <a:cxn ang="0">
                    <a:pos x="T2" y="T3"/>
                  </a:cxn>
                  <a:cxn ang="0">
                    <a:pos x="T4" y="T5"/>
                  </a:cxn>
                  <a:cxn ang="0">
                    <a:pos x="T6" y="T7"/>
                  </a:cxn>
                  <a:cxn ang="0">
                    <a:pos x="T8" y="T9"/>
                  </a:cxn>
                  <a:cxn ang="0">
                    <a:pos x="T10" y="T11"/>
                  </a:cxn>
                </a:cxnLst>
                <a:rect l="0" t="0" r="r" b="b"/>
                <a:pathLst>
                  <a:path w="75" h="68">
                    <a:moveTo>
                      <a:pt x="75" y="68"/>
                    </a:moveTo>
                    <a:lnTo>
                      <a:pt x="40" y="0"/>
                    </a:lnTo>
                    <a:lnTo>
                      <a:pt x="40" y="0"/>
                    </a:lnTo>
                    <a:lnTo>
                      <a:pt x="0" y="68"/>
                    </a:lnTo>
                    <a:lnTo>
                      <a:pt x="40" y="68"/>
                    </a:lnTo>
                    <a:lnTo>
                      <a:pt x="75" y="6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6" name="Freeform 24">
                <a:extLst>
                  <a:ext uri="{FF2B5EF4-FFF2-40B4-BE49-F238E27FC236}">
                    <a16:creationId xmlns:a16="http://schemas.microsoft.com/office/drawing/2014/main" id="{0159EED8-4E6C-408B-85AD-FBB37B1C96AD}"/>
                  </a:ext>
                </a:extLst>
              </p:cNvPr>
              <p:cNvSpPr>
                <a:spLocks/>
              </p:cNvSpPr>
              <p:nvPr/>
            </p:nvSpPr>
            <p:spPr bwMode="auto">
              <a:xfrm>
                <a:off x="8901113" y="10288588"/>
                <a:ext cx="31750" cy="52388"/>
              </a:xfrm>
              <a:custGeom>
                <a:avLst/>
                <a:gdLst>
                  <a:gd name="T0" fmla="*/ 8 w 20"/>
                  <a:gd name="T1" fmla="*/ 0 h 33"/>
                  <a:gd name="T2" fmla="*/ 0 w 20"/>
                  <a:gd name="T3" fmla="*/ 33 h 33"/>
                  <a:gd name="T4" fmla="*/ 20 w 20"/>
                  <a:gd name="T5" fmla="*/ 33 h 33"/>
                  <a:gd name="T6" fmla="*/ 14 w 20"/>
                  <a:gd name="T7" fmla="*/ 0 h 33"/>
                  <a:gd name="T8" fmla="*/ 8 w 20"/>
                  <a:gd name="T9" fmla="*/ 0 h 33"/>
                </a:gdLst>
                <a:ahLst/>
                <a:cxnLst>
                  <a:cxn ang="0">
                    <a:pos x="T0" y="T1"/>
                  </a:cxn>
                  <a:cxn ang="0">
                    <a:pos x="T2" y="T3"/>
                  </a:cxn>
                  <a:cxn ang="0">
                    <a:pos x="T4" y="T5"/>
                  </a:cxn>
                  <a:cxn ang="0">
                    <a:pos x="T6" y="T7"/>
                  </a:cxn>
                  <a:cxn ang="0">
                    <a:pos x="T8" y="T9"/>
                  </a:cxn>
                </a:cxnLst>
                <a:rect l="0" t="0" r="r" b="b"/>
                <a:pathLst>
                  <a:path w="20" h="33">
                    <a:moveTo>
                      <a:pt x="8" y="0"/>
                    </a:moveTo>
                    <a:lnTo>
                      <a:pt x="0" y="33"/>
                    </a:lnTo>
                    <a:lnTo>
                      <a:pt x="20" y="33"/>
                    </a:lnTo>
                    <a:lnTo>
                      <a:pt x="14" y="0"/>
                    </a:lnTo>
                    <a:lnTo>
                      <a:pt x="8" y="0"/>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7" name="Freeform 25">
                <a:extLst>
                  <a:ext uri="{FF2B5EF4-FFF2-40B4-BE49-F238E27FC236}">
                    <a16:creationId xmlns:a16="http://schemas.microsoft.com/office/drawing/2014/main" id="{3EAE67CA-9E79-44B1-BF5E-9F4D84F1B948}"/>
                  </a:ext>
                </a:extLst>
              </p:cNvPr>
              <p:cNvSpPr>
                <a:spLocks/>
              </p:cNvSpPr>
              <p:nvPr/>
            </p:nvSpPr>
            <p:spPr bwMode="auto">
              <a:xfrm>
                <a:off x="9058275" y="8401051"/>
                <a:ext cx="31750" cy="30163"/>
              </a:xfrm>
              <a:custGeom>
                <a:avLst/>
                <a:gdLst>
                  <a:gd name="T0" fmla="*/ 0 w 20"/>
                  <a:gd name="T1" fmla="*/ 17 h 19"/>
                  <a:gd name="T2" fmla="*/ 18 w 20"/>
                  <a:gd name="T3" fmla="*/ 19 h 19"/>
                  <a:gd name="T4" fmla="*/ 20 w 20"/>
                  <a:gd name="T5" fmla="*/ 2 h 19"/>
                  <a:gd name="T6" fmla="*/ 0 w 20"/>
                  <a:gd name="T7" fmla="*/ 0 h 19"/>
                  <a:gd name="T8" fmla="*/ 0 w 20"/>
                  <a:gd name="T9" fmla="*/ 17 h 19"/>
                </a:gdLst>
                <a:ahLst/>
                <a:cxnLst>
                  <a:cxn ang="0">
                    <a:pos x="T0" y="T1"/>
                  </a:cxn>
                  <a:cxn ang="0">
                    <a:pos x="T2" y="T3"/>
                  </a:cxn>
                  <a:cxn ang="0">
                    <a:pos x="T4" y="T5"/>
                  </a:cxn>
                  <a:cxn ang="0">
                    <a:pos x="T6" y="T7"/>
                  </a:cxn>
                  <a:cxn ang="0">
                    <a:pos x="T8" y="T9"/>
                  </a:cxn>
                </a:cxnLst>
                <a:rect l="0" t="0" r="r" b="b"/>
                <a:pathLst>
                  <a:path w="20" h="19">
                    <a:moveTo>
                      <a:pt x="0" y="17"/>
                    </a:moveTo>
                    <a:lnTo>
                      <a:pt x="18" y="19"/>
                    </a:lnTo>
                    <a:lnTo>
                      <a:pt x="20" y="2"/>
                    </a:lnTo>
                    <a:lnTo>
                      <a:pt x="0" y="0"/>
                    </a:lnTo>
                    <a:lnTo>
                      <a:pt x="0" y="17"/>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8" name="Freeform 26">
                <a:extLst>
                  <a:ext uri="{FF2B5EF4-FFF2-40B4-BE49-F238E27FC236}">
                    <a16:creationId xmlns:a16="http://schemas.microsoft.com/office/drawing/2014/main" id="{4A54ACFC-754A-4F16-99C0-77382CEDA4DA}"/>
                  </a:ext>
                </a:extLst>
              </p:cNvPr>
              <p:cNvSpPr>
                <a:spLocks/>
              </p:cNvSpPr>
              <p:nvPr/>
            </p:nvSpPr>
            <p:spPr bwMode="auto">
              <a:xfrm>
                <a:off x="8677275" y="9574213"/>
                <a:ext cx="158750" cy="463550"/>
              </a:xfrm>
              <a:custGeom>
                <a:avLst/>
                <a:gdLst>
                  <a:gd name="T0" fmla="*/ 25 w 50"/>
                  <a:gd name="T1" fmla="*/ 5 h 142"/>
                  <a:gd name="T2" fmla="*/ 12 w 50"/>
                  <a:gd name="T3" fmla="*/ 0 h 142"/>
                  <a:gd name="T4" fmla="*/ 0 w 50"/>
                  <a:gd name="T5" fmla="*/ 4 h 142"/>
                  <a:gd name="T6" fmla="*/ 0 w 50"/>
                  <a:gd name="T7" fmla="*/ 5 h 142"/>
                  <a:gd name="T8" fmla="*/ 0 w 50"/>
                  <a:gd name="T9" fmla="*/ 12 h 142"/>
                  <a:gd name="T10" fmla="*/ 50 w 50"/>
                  <a:gd name="T11" fmla="*/ 142 h 142"/>
                  <a:gd name="T12" fmla="*/ 25 w 50"/>
                  <a:gd name="T13" fmla="*/ 7 h 142"/>
                  <a:gd name="T14" fmla="*/ 25 w 50"/>
                  <a:gd name="T15" fmla="*/ 5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42">
                    <a:moveTo>
                      <a:pt x="25" y="5"/>
                    </a:moveTo>
                    <a:cubicBezTo>
                      <a:pt x="21" y="3"/>
                      <a:pt x="17" y="0"/>
                      <a:pt x="12" y="0"/>
                    </a:cubicBezTo>
                    <a:cubicBezTo>
                      <a:pt x="8" y="0"/>
                      <a:pt x="4" y="2"/>
                      <a:pt x="0" y="4"/>
                    </a:cubicBezTo>
                    <a:cubicBezTo>
                      <a:pt x="0" y="5"/>
                      <a:pt x="0" y="5"/>
                      <a:pt x="0" y="5"/>
                    </a:cubicBezTo>
                    <a:cubicBezTo>
                      <a:pt x="0" y="12"/>
                      <a:pt x="0" y="12"/>
                      <a:pt x="0" y="12"/>
                    </a:cubicBezTo>
                    <a:cubicBezTo>
                      <a:pt x="0" y="62"/>
                      <a:pt x="19" y="107"/>
                      <a:pt x="50" y="142"/>
                    </a:cubicBezTo>
                    <a:cubicBezTo>
                      <a:pt x="34" y="100"/>
                      <a:pt x="25" y="55"/>
                      <a:pt x="25" y="7"/>
                    </a:cubicBezTo>
                    <a:lnTo>
                      <a:pt x="25" y="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9" name="Freeform 27">
                <a:extLst>
                  <a:ext uri="{FF2B5EF4-FFF2-40B4-BE49-F238E27FC236}">
                    <a16:creationId xmlns:a16="http://schemas.microsoft.com/office/drawing/2014/main" id="{1E87ADBD-FC85-48D2-A80E-D238805F8741}"/>
                  </a:ext>
                </a:extLst>
              </p:cNvPr>
              <p:cNvSpPr>
                <a:spLocks/>
              </p:cNvSpPr>
              <p:nvPr/>
            </p:nvSpPr>
            <p:spPr bwMode="auto">
              <a:xfrm>
                <a:off x="9128125" y="9574213"/>
                <a:ext cx="160338" cy="463550"/>
              </a:xfrm>
              <a:custGeom>
                <a:avLst/>
                <a:gdLst>
                  <a:gd name="T0" fmla="*/ 26 w 50"/>
                  <a:gd name="T1" fmla="*/ 5 h 142"/>
                  <a:gd name="T2" fmla="*/ 26 w 50"/>
                  <a:gd name="T3" fmla="*/ 7 h 142"/>
                  <a:gd name="T4" fmla="*/ 0 w 50"/>
                  <a:gd name="T5" fmla="*/ 142 h 142"/>
                  <a:gd name="T6" fmla="*/ 1 w 50"/>
                  <a:gd name="T7" fmla="*/ 142 h 142"/>
                  <a:gd name="T8" fmla="*/ 50 w 50"/>
                  <a:gd name="T9" fmla="*/ 12 h 142"/>
                  <a:gd name="T10" fmla="*/ 50 w 50"/>
                  <a:gd name="T11" fmla="*/ 5 h 142"/>
                  <a:gd name="T12" fmla="*/ 50 w 50"/>
                  <a:gd name="T13" fmla="*/ 4 h 142"/>
                  <a:gd name="T14" fmla="*/ 39 w 50"/>
                  <a:gd name="T15" fmla="*/ 0 h 142"/>
                  <a:gd name="T16" fmla="*/ 26 w 50"/>
                  <a:gd name="T17" fmla="*/ 5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142">
                    <a:moveTo>
                      <a:pt x="26" y="5"/>
                    </a:moveTo>
                    <a:cubicBezTo>
                      <a:pt x="26" y="7"/>
                      <a:pt x="26" y="7"/>
                      <a:pt x="26" y="7"/>
                    </a:cubicBezTo>
                    <a:cubicBezTo>
                      <a:pt x="26" y="55"/>
                      <a:pt x="17" y="100"/>
                      <a:pt x="0" y="142"/>
                    </a:cubicBezTo>
                    <a:cubicBezTo>
                      <a:pt x="1" y="142"/>
                      <a:pt x="1" y="142"/>
                      <a:pt x="1" y="142"/>
                    </a:cubicBezTo>
                    <a:cubicBezTo>
                      <a:pt x="31" y="107"/>
                      <a:pt x="50" y="62"/>
                      <a:pt x="50" y="12"/>
                    </a:cubicBezTo>
                    <a:cubicBezTo>
                      <a:pt x="50" y="5"/>
                      <a:pt x="50" y="5"/>
                      <a:pt x="50" y="5"/>
                    </a:cubicBezTo>
                    <a:cubicBezTo>
                      <a:pt x="50" y="4"/>
                      <a:pt x="50" y="4"/>
                      <a:pt x="50" y="4"/>
                    </a:cubicBezTo>
                    <a:cubicBezTo>
                      <a:pt x="46" y="2"/>
                      <a:pt x="42" y="0"/>
                      <a:pt x="39" y="0"/>
                    </a:cubicBezTo>
                    <a:cubicBezTo>
                      <a:pt x="33" y="0"/>
                      <a:pt x="29" y="3"/>
                      <a:pt x="26" y="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0" name="Freeform 28">
                <a:extLst>
                  <a:ext uri="{FF2B5EF4-FFF2-40B4-BE49-F238E27FC236}">
                    <a16:creationId xmlns:a16="http://schemas.microsoft.com/office/drawing/2014/main" id="{E8A984BD-7C6A-4519-AFB8-22CC76F761C8}"/>
                  </a:ext>
                </a:extLst>
              </p:cNvPr>
              <p:cNvSpPr>
                <a:spLocks noEditPoints="1"/>
              </p:cNvSpPr>
              <p:nvPr/>
            </p:nvSpPr>
            <p:spPr bwMode="auto">
              <a:xfrm>
                <a:off x="9144000" y="8782051"/>
                <a:ext cx="525463" cy="785813"/>
              </a:xfrm>
              <a:custGeom>
                <a:avLst/>
                <a:gdLst>
                  <a:gd name="T0" fmla="*/ 54 w 164"/>
                  <a:gd name="T1" fmla="*/ 90 h 241"/>
                  <a:gd name="T2" fmla="*/ 35 w 164"/>
                  <a:gd name="T3" fmla="*/ 137 h 241"/>
                  <a:gd name="T4" fmla="*/ 53 w 164"/>
                  <a:gd name="T5" fmla="*/ 176 h 241"/>
                  <a:gd name="T6" fmla="*/ 40 w 164"/>
                  <a:gd name="T7" fmla="*/ 200 h 241"/>
                  <a:gd name="T8" fmla="*/ 28 w 164"/>
                  <a:gd name="T9" fmla="*/ 188 h 241"/>
                  <a:gd name="T10" fmla="*/ 9 w 164"/>
                  <a:gd name="T11" fmla="*/ 226 h 241"/>
                  <a:gd name="T12" fmla="*/ 13 w 164"/>
                  <a:gd name="T13" fmla="*/ 241 h 241"/>
                  <a:gd name="T14" fmla="*/ 14 w 164"/>
                  <a:gd name="T15" fmla="*/ 241 h 241"/>
                  <a:gd name="T16" fmla="*/ 33 w 164"/>
                  <a:gd name="T17" fmla="*/ 233 h 241"/>
                  <a:gd name="T18" fmla="*/ 51 w 164"/>
                  <a:gd name="T19" fmla="*/ 240 h 241"/>
                  <a:gd name="T20" fmla="*/ 51 w 164"/>
                  <a:gd name="T21" fmla="*/ 239 h 241"/>
                  <a:gd name="T22" fmla="*/ 50 w 164"/>
                  <a:gd name="T23" fmla="*/ 218 h 241"/>
                  <a:gd name="T24" fmla="*/ 70 w 164"/>
                  <a:gd name="T25" fmla="*/ 218 h 241"/>
                  <a:gd name="T26" fmla="*/ 164 w 164"/>
                  <a:gd name="T27" fmla="*/ 171 h 241"/>
                  <a:gd name="T28" fmla="*/ 164 w 164"/>
                  <a:gd name="T29" fmla="*/ 76 h 241"/>
                  <a:gd name="T30" fmla="*/ 71 w 164"/>
                  <a:gd name="T31" fmla="*/ 27 h 241"/>
                  <a:gd name="T32" fmla="*/ 29 w 164"/>
                  <a:gd name="T33" fmla="*/ 27 h 241"/>
                  <a:gd name="T34" fmla="*/ 0 w 164"/>
                  <a:gd name="T35" fmla="*/ 0 h 241"/>
                  <a:gd name="T36" fmla="*/ 23 w 164"/>
                  <a:gd name="T37" fmla="*/ 60 h 241"/>
                  <a:gd name="T38" fmla="*/ 54 w 164"/>
                  <a:gd name="T39" fmla="*/ 90 h 241"/>
                  <a:gd name="T40" fmla="*/ 100 w 164"/>
                  <a:gd name="T41" fmla="*/ 95 h 241"/>
                  <a:gd name="T42" fmla="*/ 140 w 164"/>
                  <a:gd name="T43" fmla="*/ 153 h 241"/>
                  <a:gd name="T44" fmla="*/ 125 w 164"/>
                  <a:gd name="T45" fmla="*/ 161 h 241"/>
                  <a:gd name="T46" fmla="*/ 110 w 164"/>
                  <a:gd name="T47" fmla="*/ 167 h 241"/>
                  <a:gd name="T48" fmla="*/ 85 w 164"/>
                  <a:gd name="T49" fmla="*/ 102 h 241"/>
                  <a:gd name="T50" fmla="*/ 125 w 164"/>
                  <a:gd name="T51" fmla="*/ 161 h 241"/>
                  <a:gd name="T52" fmla="*/ 100 w 164"/>
                  <a:gd name="T53" fmla="*/ 95 h 241"/>
                  <a:gd name="T54" fmla="*/ 110 w 164"/>
                  <a:gd name="T55" fmla="*/ 168 h 241"/>
                  <a:gd name="T56" fmla="*/ 95 w 164"/>
                  <a:gd name="T57" fmla="*/ 175 h 241"/>
                  <a:gd name="T58" fmla="*/ 70 w 164"/>
                  <a:gd name="T59" fmla="*/ 110 h 241"/>
                  <a:gd name="T60" fmla="*/ 110 w 164"/>
                  <a:gd name="T61" fmla="*/ 168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64" h="241">
                    <a:moveTo>
                      <a:pt x="54" y="90"/>
                    </a:moveTo>
                    <a:cubicBezTo>
                      <a:pt x="35" y="137"/>
                      <a:pt x="35" y="137"/>
                      <a:pt x="35" y="137"/>
                    </a:cubicBezTo>
                    <a:cubicBezTo>
                      <a:pt x="53" y="176"/>
                      <a:pt x="53" y="176"/>
                      <a:pt x="53" y="176"/>
                    </a:cubicBezTo>
                    <a:cubicBezTo>
                      <a:pt x="40" y="200"/>
                      <a:pt x="40" y="200"/>
                      <a:pt x="40" y="200"/>
                    </a:cubicBezTo>
                    <a:cubicBezTo>
                      <a:pt x="28" y="188"/>
                      <a:pt x="28" y="188"/>
                      <a:pt x="28" y="188"/>
                    </a:cubicBezTo>
                    <a:cubicBezTo>
                      <a:pt x="9" y="226"/>
                      <a:pt x="9" y="226"/>
                      <a:pt x="9" y="226"/>
                    </a:cubicBezTo>
                    <a:cubicBezTo>
                      <a:pt x="10" y="230"/>
                      <a:pt x="12" y="236"/>
                      <a:pt x="13" y="241"/>
                    </a:cubicBezTo>
                    <a:cubicBezTo>
                      <a:pt x="14" y="241"/>
                      <a:pt x="14" y="241"/>
                      <a:pt x="14" y="241"/>
                    </a:cubicBezTo>
                    <a:cubicBezTo>
                      <a:pt x="19" y="236"/>
                      <a:pt x="25" y="233"/>
                      <a:pt x="33" y="233"/>
                    </a:cubicBezTo>
                    <a:cubicBezTo>
                      <a:pt x="40" y="233"/>
                      <a:pt x="46" y="235"/>
                      <a:pt x="51" y="240"/>
                    </a:cubicBezTo>
                    <a:cubicBezTo>
                      <a:pt x="51" y="239"/>
                      <a:pt x="51" y="239"/>
                      <a:pt x="51" y="239"/>
                    </a:cubicBezTo>
                    <a:cubicBezTo>
                      <a:pt x="51" y="233"/>
                      <a:pt x="50" y="225"/>
                      <a:pt x="50" y="218"/>
                    </a:cubicBezTo>
                    <a:cubicBezTo>
                      <a:pt x="70" y="218"/>
                      <a:pt x="70" y="218"/>
                      <a:pt x="70" y="218"/>
                    </a:cubicBezTo>
                    <a:cubicBezTo>
                      <a:pt x="164" y="171"/>
                      <a:pt x="164" y="171"/>
                      <a:pt x="164" y="171"/>
                    </a:cubicBezTo>
                    <a:cubicBezTo>
                      <a:pt x="164" y="76"/>
                      <a:pt x="164" y="76"/>
                      <a:pt x="164" y="76"/>
                    </a:cubicBezTo>
                    <a:cubicBezTo>
                      <a:pt x="71" y="27"/>
                      <a:pt x="71" y="27"/>
                      <a:pt x="71" y="27"/>
                    </a:cubicBezTo>
                    <a:cubicBezTo>
                      <a:pt x="29" y="27"/>
                      <a:pt x="29" y="27"/>
                      <a:pt x="29" y="27"/>
                    </a:cubicBezTo>
                    <a:cubicBezTo>
                      <a:pt x="0" y="0"/>
                      <a:pt x="0" y="0"/>
                      <a:pt x="0" y="0"/>
                    </a:cubicBezTo>
                    <a:cubicBezTo>
                      <a:pt x="23" y="60"/>
                      <a:pt x="23" y="60"/>
                      <a:pt x="23" y="60"/>
                    </a:cubicBezTo>
                    <a:lnTo>
                      <a:pt x="54" y="90"/>
                    </a:lnTo>
                    <a:close/>
                    <a:moveTo>
                      <a:pt x="100" y="95"/>
                    </a:moveTo>
                    <a:cubicBezTo>
                      <a:pt x="140" y="153"/>
                      <a:pt x="140" y="153"/>
                      <a:pt x="140" y="153"/>
                    </a:cubicBezTo>
                    <a:cubicBezTo>
                      <a:pt x="125" y="161"/>
                      <a:pt x="125" y="161"/>
                      <a:pt x="125" y="161"/>
                    </a:cubicBezTo>
                    <a:cubicBezTo>
                      <a:pt x="110" y="167"/>
                      <a:pt x="110" y="167"/>
                      <a:pt x="110" y="167"/>
                    </a:cubicBezTo>
                    <a:cubicBezTo>
                      <a:pt x="85" y="102"/>
                      <a:pt x="85" y="102"/>
                      <a:pt x="85" y="102"/>
                    </a:cubicBezTo>
                    <a:cubicBezTo>
                      <a:pt x="125" y="161"/>
                      <a:pt x="125" y="161"/>
                      <a:pt x="125" y="161"/>
                    </a:cubicBezTo>
                    <a:lnTo>
                      <a:pt x="100" y="95"/>
                    </a:lnTo>
                    <a:close/>
                    <a:moveTo>
                      <a:pt x="110" y="168"/>
                    </a:moveTo>
                    <a:cubicBezTo>
                      <a:pt x="95" y="175"/>
                      <a:pt x="95" y="175"/>
                      <a:pt x="95" y="175"/>
                    </a:cubicBezTo>
                    <a:cubicBezTo>
                      <a:pt x="70" y="110"/>
                      <a:pt x="70" y="110"/>
                      <a:pt x="70" y="110"/>
                    </a:cubicBezTo>
                    <a:lnTo>
                      <a:pt x="110" y="16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1" name="Freeform 29">
                <a:extLst>
                  <a:ext uri="{FF2B5EF4-FFF2-40B4-BE49-F238E27FC236}">
                    <a16:creationId xmlns:a16="http://schemas.microsoft.com/office/drawing/2014/main" id="{206D9433-D6FC-4B4A-9CF0-C4AB64B15F6B}"/>
                  </a:ext>
                </a:extLst>
              </p:cNvPr>
              <p:cNvSpPr>
                <a:spLocks/>
              </p:cNvSpPr>
              <p:nvPr/>
            </p:nvSpPr>
            <p:spPr bwMode="auto">
              <a:xfrm>
                <a:off x="10025063" y="8834438"/>
                <a:ext cx="125413" cy="107950"/>
              </a:xfrm>
              <a:custGeom>
                <a:avLst/>
                <a:gdLst>
                  <a:gd name="T0" fmla="*/ 9 w 39"/>
                  <a:gd name="T1" fmla="*/ 18 h 33"/>
                  <a:gd name="T2" fmla="*/ 15 w 39"/>
                  <a:gd name="T3" fmla="*/ 33 h 33"/>
                  <a:gd name="T4" fmla="*/ 39 w 39"/>
                  <a:gd name="T5" fmla="*/ 3 h 33"/>
                  <a:gd name="T6" fmla="*/ 0 w 39"/>
                  <a:gd name="T7" fmla="*/ 0 h 33"/>
                  <a:gd name="T8" fmla="*/ 9 w 39"/>
                  <a:gd name="T9" fmla="*/ 18 h 33"/>
                </a:gdLst>
                <a:ahLst/>
                <a:cxnLst>
                  <a:cxn ang="0">
                    <a:pos x="T0" y="T1"/>
                  </a:cxn>
                  <a:cxn ang="0">
                    <a:pos x="T2" y="T3"/>
                  </a:cxn>
                  <a:cxn ang="0">
                    <a:pos x="T4" y="T5"/>
                  </a:cxn>
                  <a:cxn ang="0">
                    <a:pos x="T6" y="T7"/>
                  </a:cxn>
                  <a:cxn ang="0">
                    <a:pos x="T8" y="T9"/>
                  </a:cxn>
                </a:cxnLst>
                <a:rect l="0" t="0" r="r" b="b"/>
                <a:pathLst>
                  <a:path w="39" h="33">
                    <a:moveTo>
                      <a:pt x="9" y="18"/>
                    </a:moveTo>
                    <a:cubicBezTo>
                      <a:pt x="11" y="22"/>
                      <a:pt x="13" y="27"/>
                      <a:pt x="15" y="33"/>
                    </a:cubicBezTo>
                    <a:cubicBezTo>
                      <a:pt x="39" y="3"/>
                      <a:pt x="39" y="3"/>
                      <a:pt x="39" y="3"/>
                    </a:cubicBezTo>
                    <a:cubicBezTo>
                      <a:pt x="0" y="0"/>
                      <a:pt x="0" y="0"/>
                      <a:pt x="0" y="0"/>
                    </a:cubicBezTo>
                    <a:cubicBezTo>
                      <a:pt x="3" y="6"/>
                      <a:pt x="7" y="11"/>
                      <a:pt x="9"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2" name="Freeform 30">
                <a:extLst>
                  <a:ext uri="{FF2B5EF4-FFF2-40B4-BE49-F238E27FC236}">
                    <a16:creationId xmlns:a16="http://schemas.microsoft.com/office/drawing/2014/main" id="{B365ED9C-46BC-43BE-B1FB-5BB2B09E9CE4}"/>
                  </a:ext>
                </a:extLst>
              </p:cNvPr>
              <p:cNvSpPr>
                <a:spLocks/>
              </p:cNvSpPr>
              <p:nvPr/>
            </p:nvSpPr>
            <p:spPr bwMode="auto">
              <a:xfrm>
                <a:off x="10140950" y="9186863"/>
                <a:ext cx="114300" cy="120650"/>
              </a:xfrm>
              <a:custGeom>
                <a:avLst/>
                <a:gdLst>
                  <a:gd name="T0" fmla="*/ 2 w 36"/>
                  <a:gd name="T1" fmla="*/ 19 h 37"/>
                  <a:gd name="T2" fmla="*/ 4 w 36"/>
                  <a:gd name="T3" fmla="*/ 37 h 37"/>
                  <a:gd name="T4" fmla="*/ 36 w 36"/>
                  <a:gd name="T5" fmla="*/ 15 h 37"/>
                  <a:gd name="T6" fmla="*/ 0 w 36"/>
                  <a:gd name="T7" fmla="*/ 0 h 37"/>
                  <a:gd name="T8" fmla="*/ 2 w 36"/>
                  <a:gd name="T9" fmla="*/ 19 h 37"/>
                </a:gdLst>
                <a:ahLst/>
                <a:cxnLst>
                  <a:cxn ang="0">
                    <a:pos x="T0" y="T1"/>
                  </a:cxn>
                  <a:cxn ang="0">
                    <a:pos x="T2" y="T3"/>
                  </a:cxn>
                  <a:cxn ang="0">
                    <a:pos x="T4" y="T5"/>
                  </a:cxn>
                  <a:cxn ang="0">
                    <a:pos x="T6" y="T7"/>
                  </a:cxn>
                  <a:cxn ang="0">
                    <a:pos x="T8" y="T9"/>
                  </a:cxn>
                </a:cxnLst>
                <a:rect l="0" t="0" r="r" b="b"/>
                <a:pathLst>
                  <a:path w="36" h="37">
                    <a:moveTo>
                      <a:pt x="2" y="19"/>
                    </a:moveTo>
                    <a:cubicBezTo>
                      <a:pt x="3" y="25"/>
                      <a:pt x="3" y="30"/>
                      <a:pt x="4" y="37"/>
                    </a:cubicBezTo>
                    <a:cubicBezTo>
                      <a:pt x="36" y="15"/>
                      <a:pt x="36" y="15"/>
                      <a:pt x="36" y="15"/>
                    </a:cubicBezTo>
                    <a:cubicBezTo>
                      <a:pt x="0" y="0"/>
                      <a:pt x="0" y="0"/>
                      <a:pt x="0" y="0"/>
                    </a:cubicBezTo>
                    <a:cubicBezTo>
                      <a:pt x="1" y="6"/>
                      <a:pt x="2" y="13"/>
                      <a:pt x="2" y="1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3" name="Freeform 31">
                <a:extLst>
                  <a:ext uri="{FF2B5EF4-FFF2-40B4-BE49-F238E27FC236}">
                    <a16:creationId xmlns:a16="http://schemas.microsoft.com/office/drawing/2014/main" id="{E801C864-D066-40E6-9460-0D27BDC16828}"/>
                  </a:ext>
                </a:extLst>
              </p:cNvPr>
              <p:cNvSpPr>
                <a:spLocks/>
              </p:cNvSpPr>
              <p:nvPr/>
            </p:nvSpPr>
            <p:spPr bwMode="auto">
              <a:xfrm>
                <a:off x="8221663" y="8326438"/>
                <a:ext cx="109538" cy="127000"/>
              </a:xfrm>
              <a:custGeom>
                <a:avLst/>
                <a:gdLst>
                  <a:gd name="T0" fmla="*/ 20 w 34"/>
                  <a:gd name="T1" fmla="*/ 27 h 39"/>
                  <a:gd name="T2" fmla="*/ 34 w 34"/>
                  <a:gd name="T3" fmla="*/ 17 h 39"/>
                  <a:gd name="T4" fmla="*/ 0 w 34"/>
                  <a:gd name="T5" fmla="*/ 0 h 39"/>
                  <a:gd name="T6" fmla="*/ 4 w 34"/>
                  <a:gd name="T7" fmla="*/ 39 h 39"/>
                  <a:gd name="T8" fmla="*/ 20 w 34"/>
                  <a:gd name="T9" fmla="*/ 27 h 39"/>
                </a:gdLst>
                <a:ahLst/>
                <a:cxnLst>
                  <a:cxn ang="0">
                    <a:pos x="T0" y="T1"/>
                  </a:cxn>
                  <a:cxn ang="0">
                    <a:pos x="T2" y="T3"/>
                  </a:cxn>
                  <a:cxn ang="0">
                    <a:pos x="T4" y="T5"/>
                  </a:cxn>
                  <a:cxn ang="0">
                    <a:pos x="T6" y="T7"/>
                  </a:cxn>
                  <a:cxn ang="0">
                    <a:pos x="T8" y="T9"/>
                  </a:cxn>
                </a:cxnLst>
                <a:rect l="0" t="0" r="r" b="b"/>
                <a:pathLst>
                  <a:path w="34" h="39">
                    <a:moveTo>
                      <a:pt x="20" y="27"/>
                    </a:moveTo>
                    <a:cubicBezTo>
                      <a:pt x="25" y="24"/>
                      <a:pt x="29" y="20"/>
                      <a:pt x="34" y="17"/>
                    </a:cubicBezTo>
                    <a:cubicBezTo>
                      <a:pt x="0" y="0"/>
                      <a:pt x="0" y="0"/>
                      <a:pt x="0" y="0"/>
                    </a:cubicBezTo>
                    <a:cubicBezTo>
                      <a:pt x="4" y="39"/>
                      <a:pt x="4" y="39"/>
                      <a:pt x="4" y="39"/>
                    </a:cubicBezTo>
                    <a:cubicBezTo>
                      <a:pt x="10" y="34"/>
                      <a:pt x="14" y="30"/>
                      <a:pt x="20" y="2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4" name="Freeform 32">
                <a:extLst>
                  <a:ext uri="{FF2B5EF4-FFF2-40B4-BE49-F238E27FC236}">
                    <a16:creationId xmlns:a16="http://schemas.microsoft.com/office/drawing/2014/main" id="{F06D3406-0EC5-4910-9EE1-88E368B4ABAE}"/>
                  </a:ext>
                </a:extLst>
              </p:cNvPr>
              <p:cNvSpPr>
                <a:spLocks/>
              </p:cNvSpPr>
              <p:nvPr/>
            </p:nvSpPr>
            <p:spPr bwMode="auto">
              <a:xfrm>
                <a:off x="10115550" y="9066213"/>
                <a:ext cx="117475" cy="117475"/>
              </a:xfrm>
              <a:custGeom>
                <a:avLst/>
                <a:gdLst>
                  <a:gd name="T0" fmla="*/ 5 w 37"/>
                  <a:gd name="T1" fmla="*/ 18 h 36"/>
                  <a:gd name="T2" fmla="*/ 8 w 37"/>
                  <a:gd name="T3" fmla="*/ 36 h 36"/>
                  <a:gd name="T4" fmla="*/ 37 w 37"/>
                  <a:gd name="T5" fmla="*/ 12 h 36"/>
                  <a:gd name="T6" fmla="*/ 0 w 37"/>
                  <a:gd name="T7" fmla="*/ 0 h 36"/>
                  <a:gd name="T8" fmla="*/ 5 w 37"/>
                  <a:gd name="T9" fmla="*/ 18 h 36"/>
                </a:gdLst>
                <a:ahLst/>
                <a:cxnLst>
                  <a:cxn ang="0">
                    <a:pos x="T0" y="T1"/>
                  </a:cxn>
                  <a:cxn ang="0">
                    <a:pos x="T2" y="T3"/>
                  </a:cxn>
                  <a:cxn ang="0">
                    <a:pos x="T4" y="T5"/>
                  </a:cxn>
                  <a:cxn ang="0">
                    <a:pos x="T6" y="T7"/>
                  </a:cxn>
                  <a:cxn ang="0">
                    <a:pos x="T8" y="T9"/>
                  </a:cxn>
                </a:cxnLst>
                <a:rect l="0" t="0" r="r" b="b"/>
                <a:pathLst>
                  <a:path w="37" h="36">
                    <a:moveTo>
                      <a:pt x="5" y="18"/>
                    </a:moveTo>
                    <a:cubicBezTo>
                      <a:pt x="6" y="24"/>
                      <a:pt x="7" y="30"/>
                      <a:pt x="8" y="36"/>
                    </a:cubicBezTo>
                    <a:cubicBezTo>
                      <a:pt x="37" y="12"/>
                      <a:pt x="37" y="12"/>
                      <a:pt x="37" y="12"/>
                    </a:cubicBezTo>
                    <a:cubicBezTo>
                      <a:pt x="0" y="0"/>
                      <a:pt x="0" y="0"/>
                      <a:pt x="0" y="0"/>
                    </a:cubicBezTo>
                    <a:cubicBezTo>
                      <a:pt x="2" y="6"/>
                      <a:pt x="4" y="12"/>
                      <a:pt x="5"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5" name="Freeform 33">
                <a:extLst>
                  <a:ext uri="{FF2B5EF4-FFF2-40B4-BE49-F238E27FC236}">
                    <a16:creationId xmlns:a16="http://schemas.microsoft.com/office/drawing/2014/main" id="{E55E5ACF-5231-4B6A-901B-93DD38B726AA}"/>
                  </a:ext>
                </a:extLst>
              </p:cNvPr>
              <p:cNvSpPr>
                <a:spLocks/>
              </p:cNvSpPr>
              <p:nvPr/>
            </p:nvSpPr>
            <p:spPr bwMode="auto">
              <a:xfrm>
                <a:off x="10075863" y="8948738"/>
                <a:ext cx="125413" cy="114300"/>
              </a:xfrm>
              <a:custGeom>
                <a:avLst/>
                <a:gdLst>
                  <a:gd name="T0" fmla="*/ 7 w 39"/>
                  <a:gd name="T1" fmla="*/ 17 h 35"/>
                  <a:gd name="T2" fmla="*/ 11 w 39"/>
                  <a:gd name="T3" fmla="*/ 35 h 35"/>
                  <a:gd name="T4" fmla="*/ 39 w 39"/>
                  <a:gd name="T5" fmla="*/ 8 h 35"/>
                  <a:gd name="T6" fmla="*/ 0 w 39"/>
                  <a:gd name="T7" fmla="*/ 0 h 35"/>
                  <a:gd name="T8" fmla="*/ 7 w 39"/>
                  <a:gd name="T9" fmla="*/ 17 h 35"/>
                </a:gdLst>
                <a:ahLst/>
                <a:cxnLst>
                  <a:cxn ang="0">
                    <a:pos x="T0" y="T1"/>
                  </a:cxn>
                  <a:cxn ang="0">
                    <a:pos x="T2" y="T3"/>
                  </a:cxn>
                  <a:cxn ang="0">
                    <a:pos x="T4" y="T5"/>
                  </a:cxn>
                  <a:cxn ang="0">
                    <a:pos x="T6" y="T7"/>
                  </a:cxn>
                  <a:cxn ang="0">
                    <a:pos x="T8" y="T9"/>
                  </a:cxn>
                </a:cxnLst>
                <a:rect l="0" t="0" r="r" b="b"/>
                <a:pathLst>
                  <a:path w="39" h="35">
                    <a:moveTo>
                      <a:pt x="7" y="17"/>
                    </a:moveTo>
                    <a:cubicBezTo>
                      <a:pt x="8" y="23"/>
                      <a:pt x="10" y="28"/>
                      <a:pt x="11" y="35"/>
                    </a:cubicBezTo>
                    <a:cubicBezTo>
                      <a:pt x="39" y="8"/>
                      <a:pt x="39" y="8"/>
                      <a:pt x="39" y="8"/>
                    </a:cubicBezTo>
                    <a:cubicBezTo>
                      <a:pt x="0" y="0"/>
                      <a:pt x="0" y="0"/>
                      <a:pt x="0" y="0"/>
                    </a:cubicBezTo>
                    <a:cubicBezTo>
                      <a:pt x="3" y="5"/>
                      <a:pt x="5" y="12"/>
                      <a:pt x="7"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6" name="Freeform 34">
                <a:extLst>
                  <a:ext uri="{FF2B5EF4-FFF2-40B4-BE49-F238E27FC236}">
                    <a16:creationId xmlns:a16="http://schemas.microsoft.com/office/drawing/2014/main" id="{21B60B13-CD04-4006-9A96-1ED4ECE11F98}"/>
                  </a:ext>
                </a:extLst>
              </p:cNvPr>
              <p:cNvSpPr>
                <a:spLocks/>
              </p:cNvSpPr>
              <p:nvPr/>
            </p:nvSpPr>
            <p:spPr bwMode="auto">
              <a:xfrm>
                <a:off x="10153650" y="9310688"/>
                <a:ext cx="107950" cy="120650"/>
              </a:xfrm>
              <a:custGeom>
                <a:avLst/>
                <a:gdLst>
                  <a:gd name="T0" fmla="*/ 0 w 68"/>
                  <a:gd name="T1" fmla="*/ 39 h 76"/>
                  <a:gd name="T2" fmla="*/ 0 w 68"/>
                  <a:gd name="T3" fmla="*/ 76 h 76"/>
                  <a:gd name="T4" fmla="*/ 68 w 68"/>
                  <a:gd name="T5" fmla="*/ 39 h 76"/>
                  <a:gd name="T6" fmla="*/ 0 w 68"/>
                  <a:gd name="T7" fmla="*/ 0 h 76"/>
                  <a:gd name="T8" fmla="*/ 0 w 68"/>
                  <a:gd name="T9" fmla="*/ 39 h 76"/>
                </a:gdLst>
                <a:ahLst/>
                <a:cxnLst>
                  <a:cxn ang="0">
                    <a:pos x="T0" y="T1"/>
                  </a:cxn>
                  <a:cxn ang="0">
                    <a:pos x="T2" y="T3"/>
                  </a:cxn>
                  <a:cxn ang="0">
                    <a:pos x="T4" y="T5"/>
                  </a:cxn>
                  <a:cxn ang="0">
                    <a:pos x="T6" y="T7"/>
                  </a:cxn>
                  <a:cxn ang="0">
                    <a:pos x="T8" y="T9"/>
                  </a:cxn>
                </a:cxnLst>
                <a:rect l="0" t="0" r="r" b="b"/>
                <a:pathLst>
                  <a:path w="68" h="76">
                    <a:moveTo>
                      <a:pt x="0" y="39"/>
                    </a:moveTo>
                    <a:lnTo>
                      <a:pt x="0" y="76"/>
                    </a:lnTo>
                    <a:lnTo>
                      <a:pt x="68" y="39"/>
                    </a:lnTo>
                    <a:lnTo>
                      <a:pt x="0" y="0"/>
                    </a:lnTo>
                    <a:lnTo>
                      <a:pt x="0" y="39"/>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7" name="Freeform 35">
                <a:extLst>
                  <a:ext uri="{FF2B5EF4-FFF2-40B4-BE49-F238E27FC236}">
                    <a16:creationId xmlns:a16="http://schemas.microsoft.com/office/drawing/2014/main" id="{6CD15795-DA72-4D93-91C0-172594C66266}"/>
                  </a:ext>
                </a:extLst>
              </p:cNvPr>
              <p:cNvSpPr>
                <a:spLocks/>
              </p:cNvSpPr>
              <p:nvPr/>
            </p:nvSpPr>
            <p:spPr bwMode="auto">
              <a:xfrm>
                <a:off x="8108950" y="8932863"/>
                <a:ext cx="42863" cy="38100"/>
              </a:xfrm>
              <a:custGeom>
                <a:avLst/>
                <a:gdLst>
                  <a:gd name="T0" fmla="*/ 0 w 27"/>
                  <a:gd name="T1" fmla="*/ 14 h 24"/>
                  <a:gd name="T2" fmla="*/ 21 w 27"/>
                  <a:gd name="T3" fmla="*/ 24 h 24"/>
                  <a:gd name="T4" fmla="*/ 27 w 27"/>
                  <a:gd name="T5" fmla="*/ 8 h 24"/>
                  <a:gd name="T6" fmla="*/ 6 w 27"/>
                  <a:gd name="T7" fmla="*/ 0 h 24"/>
                  <a:gd name="T8" fmla="*/ 0 w 27"/>
                  <a:gd name="T9" fmla="*/ 14 h 24"/>
                </a:gdLst>
                <a:ahLst/>
                <a:cxnLst>
                  <a:cxn ang="0">
                    <a:pos x="T0" y="T1"/>
                  </a:cxn>
                  <a:cxn ang="0">
                    <a:pos x="T2" y="T3"/>
                  </a:cxn>
                  <a:cxn ang="0">
                    <a:pos x="T4" y="T5"/>
                  </a:cxn>
                  <a:cxn ang="0">
                    <a:pos x="T6" y="T7"/>
                  </a:cxn>
                  <a:cxn ang="0">
                    <a:pos x="T8" y="T9"/>
                  </a:cxn>
                </a:cxnLst>
                <a:rect l="0" t="0" r="r" b="b"/>
                <a:pathLst>
                  <a:path w="27" h="24">
                    <a:moveTo>
                      <a:pt x="0" y="14"/>
                    </a:moveTo>
                    <a:lnTo>
                      <a:pt x="21" y="24"/>
                    </a:lnTo>
                    <a:lnTo>
                      <a:pt x="27" y="8"/>
                    </a:lnTo>
                    <a:lnTo>
                      <a:pt x="6" y="0"/>
                    </a:lnTo>
                    <a:lnTo>
                      <a:pt x="0" y="14"/>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8" name="Freeform 36">
                <a:extLst>
                  <a:ext uri="{FF2B5EF4-FFF2-40B4-BE49-F238E27FC236}">
                    <a16:creationId xmlns:a16="http://schemas.microsoft.com/office/drawing/2014/main" id="{F558ADD5-6CD8-4AB1-BDBD-2C53E4BCA6C8}"/>
                  </a:ext>
                </a:extLst>
              </p:cNvPr>
              <p:cNvSpPr>
                <a:spLocks/>
              </p:cNvSpPr>
              <p:nvPr/>
            </p:nvSpPr>
            <p:spPr bwMode="auto">
              <a:xfrm>
                <a:off x="8420100" y="10121901"/>
                <a:ext cx="44450" cy="55563"/>
              </a:xfrm>
              <a:custGeom>
                <a:avLst/>
                <a:gdLst>
                  <a:gd name="T0" fmla="*/ 16 w 28"/>
                  <a:gd name="T1" fmla="*/ 35 h 35"/>
                  <a:gd name="T2" fmla="*/ 28 w 28"/>
                  <a:gd name="T3" fmla="*/ 2 h 35"/>
                  <a:gd name="T4" fmla="*/ 24 w 28"/>
                  <a:gd name="T5" fmla="*/ 0 h 35"/>
                  <a:gd name="T6" fmla="*/ 0 w 28"/>
                  <a:gd name="T7" fmla="*/ 25 h 35"/>
                  <a:gd name="T8" fmla="*/ 16 w 28"/>
                  <a:gd name="T9" fmla="*/ 35 h 35"/>
                </a:gdLst>
                <a:ahLst/>
                <a:cxnLst>
                  <a:cxn ang="0">
                    <a:pos x="T0" y="T1"/>
                  </a:cxn>
                  <a:cxn ang="0">
                    <a:pos x="T2" y="T3"/>
                  </a:cxn>
                  <a:cxn ang="0">
                    <a:pos x="T4" y="T5"/>
                  </a:cxn>
                  <a:cxn ang="0">
                    <a:pos x="T6" y="T7"/>
                  </a:cxn>
                  <a:cxn ang="0">
                    <a:pos x="T8" y="T9"/>
                  </a:cxn>
                </a:cxnLst>
                <a:rect l="0" t="0" r="r" b="b"/>
                <a:pathLst>
                  <a:path w="28" h="35">
                    <a:moveTo>
                      <a:pt x="16" y="35"/>
                    </a:moveTo>
                    <a:lnTo>
                      <a:pt x="28" y="2"/>
                    </a:lnTo>
                    <a:lnTo>
                      <a:pt x="24" y="0"/>
                    </a:lnTo>
                    <a:lnTo>
                      <a:pt x="0" y="25"/>
                    </a:lnTo>
                    <a:lnTo>
                      <a:pt x="16" y="3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9" name="Freeform 37">
                <a:extLst>
                  <a:ext uri="{FF2B5EF4-FFF2-40B4-BE49-F238E27FC236}">
                    <a16:creationId xmlns:a16="http://schemas.microsoft.com/office/drawing/2014/main" id="{753FB91A-E7A3-46E1-96E2-65BCE01B6A83}"/>
                  </a:ext>
                </a:extLst>
              </p:cNvPr>
              <p:cNvSpPr>
                <a:spLocks/>
              </p:cNvSpPr>
              <p:nvPr/>
            </p:nvSpPr>
            <p:spPr bwMode="auto">
              <a:xfrm>
                <a:off x="8032750" y="9174163"/>
                <a:ext cx="38100" cy="28575"/>
              </a:xfrm>
              <a:custGeom>
                <a:avLst/>
                <a:gdLst>
                  <a:gd name="T0" fmla="*/ 0 w 24"/>
                  <a:gd name="T1" fmla="*/ 16 h 18"/>
                  <a:gd name="T2" fmla="*/ 22 w 24"/>
                  <a:gd name="T3" fmla="*/ 18 h 18"/>
                  <a:gd name="T4" fmla="*/ 24 w 24"/>
                  <a:gd name="T5" fmla="*/ 4 h 18"/>
                  <a:gd name="T6" fmla="*/ 2 w 24"/>
                  <a:gd name="T7" fmla="*/ 0 h 18"/>
                  <a:gd name="T8" fmla="*/ 0 w 24"/>
                  <a:gd name="T9" fmla="*/ 16 h 18"/>
                </a:gdLst>
                <a:ahLst/>
                <a:cxnLst>
                  <a:cxn ang="0">
                    <a:pos x="T0" y="T1"/>
                  </a:cxn>
                  <a:cxn ang="0">
                    <a:pos x="T2" y="T3"/>
                  </a:cxn>
                  <a:cxn ang="0">
                    <a:pos x="T4" y="T5"/>
                  </a:cxn>
                  <a:cxn ang="0">
                    <a:pos x="T6" y="T7"/>
                  </a:cxn>
                  <a:cxn ang="0">
                    <a:pos x="T8" y="T9"/>
                  </a:cxn>
                </a:cxnLst>
                <a:rect l="0" t="0" r="r" b="b"/>
                <a:pathLst>
                  <a:path w="24" h="18">
                    <a:moveTo>
                      <a:pt x="0" y="16"/>
                    </a:moveTo>
                    <a:lnTo>
                      <a:pt x="22" y="18"/>
                    </a:lnTo>
                    <a:lnTo>
                      <a:pt x="24" y="4"/>
                    </a:lnTo>
                    <a:lnTo>
                      <a:pt x="2" y="0"/>
                    </a:lnTo>
                    <a:lnTo>
                      <a:pt x="0" y="16"/>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0" name="Freeform 38">
                <a:extLst>
                  <a:ext uri="{FF2B5EF4-FFF2-40B4-BE49-F238E27FC236}">
                    <a16:creationId xmlns:a16="http://schemas.microsoft.com/office/drawing/2014/main" id="{A637EB78-9365-4D08-89E2-DE27F0A7DF95}"/>
                  </a:ext>
                </a:extLst>
              </p:cNvPr>
              <p:cNvSpPr>
                <a:spLocks/>
              </p:cNvSpPr>
              <p:nvPr/>
            </p:nvSpPr>
            <p:spPr bwMode="auto">
              <a:xfrm>
                <a:off x="8656638" y="10233026"/>
                <a:ext cx="39688" cy="31750"/>
              </a:xfrm>
              <a:custGeom>
                <a:avLst/>
                <a:gdLst>
                  <a:gd name="T0" fmla="*/ 0 w 25"/>
                  <a:gd name="T1" fmla="*/ 14 h 20"/>
                  <a:gd name="T2" fmla="*/ 21 w 25"/>
                  <a:gd name="T3" fmla="*/ 20 h 20"/>
                  <a:gd name="T4" fmla="*/ 25 w 25"/>
                  <a:gd name="T5" fmla="*/ 6 h 20"/>
                  <a:gd name="T6" fmla="*/ 7 w 25"/>
                  <a:gd name="T7" fmla="*/ 0 h 20"/>
                  <a:gd name="T8" fmla="*/ 0 w 25"/>
                  <a:gd name="T9" fmla="*/ 14 h 20"/>
                </a:gdLst>
                <a:ahLst/>
                <a:cxnLst>
                  <a:cxn ang="0">
                    <a:pos x="T0" y="T1"/>
                  </a:cxn>
                  <a:cxn ang="0">
                    <a:pos x="T2" y="T3"/>
                  </a:cxn>
                  <a:cxn ang="0">
                    <a:pos x="T4" y="T5"/>
                  </a:cxn>
                  <a:cxn ang="0">
                    <a:pos x="T6" y="T7"/>
                  </a:cxn>
                  <a:cxn ang="0">
                    <a:pos x="T8" y="T9"/>
                  </a:cxn>
                </a:cxnLst>
                <a:rect l="0" t="0" r="r" b="b"/>
                <a:pathLst>
                  <a:path w="25" h="20">
                    <a:moveTo>
                      <a:pt x="0" y="14"/>
                    </a:moveTo>
                    <a:lnTo>
                      <a:pt x="21" y="20"/>
                    </a:lnTo>
                    <a:lnTo>
                      <a:pt x="25" y="6"/>
                    </a:lnTo>
                    <a:lnTo>
                      <a:pt x="7" y="0"/>
                    </a:lnTo>
                    <a:lnTo>
                      <a:pt x="0" y="14"/>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1" name="Freeform 39">
                <a:extLst>
                  <a:ext uri="{FF2B5EF4-FFF2-40B4-BE49-F238E27FC236}">
                    <a16:creationId xmlns:a16="http://schemas.microsoft.com/office/drawing/2014/main" id="{BEDACC85-A806-4A66-AD01-A17B829DD25C}"/>
                  </a:ext>
                </a:extLst>
              </p:cNvPr>
              <p:cNvSpPr>
                <a:spLocks noEditPoints="1"/>
              </p:cNvSpPr>
              <p:nvPr/>
            </p:nvSpPr>
            <p:spPr bwMode="auto">
              <a:xfrm>
                <a:off x="8743950" y="8782051"/>
                <a:ext cx="477838" cy="1358900"/>
              </a:xfrm>
              <a:custGeom>
                <a:avLst/>
                <a:gdLst>
                  <a:gd name="T0" fmla="*/ 33 w 149"/>
                  <a:gd name="T1" fmla="*/ 110 h 417"/>
                  <a:gd name="T2" fmla="*/ 0 w 149"/>
                  <a:gd name="T3" fmla="*/ 179 h 417"/>
                  <a:gd name="T4" fmla="*/ 27 w 149"/>
                  <a:gd name="T5" fmla="*/ 233 h 417"/>
                  <a:gd name="T6" fmla="*/ 44 w 149"/>
                  <a:gd name="T7" fmla="*/ 274 h 417"/>
                  <a:gd name="T8" fmla="*/ 54 w 149"/>
                  <a:gd name="T9" fmla="*/ 321 h 417"/>
                  <a:gd name="T10" fmla="*/ 59 w 149"/>
                  <a:gd name="T11" fmla="*/ 413 h 417"/>
                  <a:gd name="T12" fmla="*/ 74 w 149"/>
                  <a:gd name="T13" fmla="*/ 417 h 417"/>
                  <a:gd name="T14" fmla="*/ 75 w 149"/>
                  <a:gd name="T15" fmla="*/ 417 h 417"/>
                  <a:gd name="T16" fmla="*/ 90 w 149"/>
                  <a:gd name="T17" fmla="*/ 413 h 417"/>
                  <a:gd name="T18" fmla="*/ 95 w 149"/>
                  <a:gd name="T19" fmla="*/ 321 h 417"/>
                  <a:gd name="T20" fmla="*/ 106 w 149"/>
                  <a:gd name="T21" fmla="*/ 274 h 417"/>
                  <a:gd name="T22" fmla="*/ 122 w 149"/>
                  <a:gd name="T23" fmla="*/ 233 h 417"/>
                  <a:gd name="T24" fmla="*/ 149 w 149"/>
                  <a:gd name="T25" fmla="*/ 179 h 417"/>
                  <a:gd name="T26" fmla="*/ 116 w 149"/>
                  <a:gd name="T27" fmla="*/ 110 h 417"/>
                  <a:gd name="T28" fmla="*/ 137 w 149"/>
                  <a:gd name="T29" fmla="*/ 62 h 417"/>
                  <a:gd name="T30" fmla="*/ 114 w 149"/>
                  <a:gd name="T31" fmla="*/ 0 h 417"/>
                  <a:gd name="T32" fmla="*/ 35 w 149"/>
                  <a:gd name="T33" fmla="*/ 0 h 417"/>
                  <a:gd name="T34" fmla="*/ 12 w 149"/>
                  <a:gd name="T35" fmla="*/ 62 h 417"/>
                  <a:gd name="T36" fmla="*/ 33 w 149"/>
                  <a:gd name="T37" fmla="*/ 110 h 417"/>
                  <a:gd name="T38" fmla="*/ 86 w 149"/>
                  <a:gd name="T39" fmla="*/ 322 h 417"/>
                  <a:gd name="T40" fmla="*/ 74 w 149"/>
                  <a:gd name="T41" fmla="*/ 316 h 417"/>
                  <a:gd name="T42" fmla="*/ 62 w 149"/>
                  <a:gd name="T43" fmla="*/ 322 h 417"/>
                  <a:gd name="T44" fmla="*/ 74 w 149"/>
                  <a:gd name="T45" fmla="*/ 311 h 417"/>
                  <a:gd name="T46" fmla="*/ 87 w 149"/>
                  <a:gd name="T47" fmla="*/ 322 h 417"/>
                  <a:gd name="T48" fmla="*/ 86 w 149"/>
                  <a:gd name="T49" fmla="*/ 322 h 417"/>
                  <a:gd name="T50" fmla="*/ 74 w 149"/>
                  <a:gd name="T51" fmla="*/ 281 h 417"/>
                  <a:gd name="T52" fmla="*/ 59 w 149"/>
                  <a:gd name="T53" fmla="*/ 289 h 417"/>
                  <a:gd name="T54" fmla="*/ 58 w 149"/>
                  <a:gd name="T55" fmla="*/ 289 h 417"/>
                  <a:gd name="T56" fmla="*/ 74 w 149"/>
                  <a:gd name="T57" fmla="*/ 275 h 417"/>
                  <a:gd name="T58" fmla="*/ 90 w 149"/>
                  <a:gd name="T59" fmla="*/ 289 h 417"/>
                  <a:gd name="T60" fmla="*/ 74 w 149"/>
                  <a:gd name="T61" fmla="*/ 281 h 417"/>
                  <a:gd name="T62" fmla="*/ 100 w 149"/>
                  <a:gd name="T63" fmla="*/ 253 h 417"/>
                  <a:gd name="T64" fmla="*/ 75 w 149"/>
                  <a:gd name="T65" fmla="*/ 248 h 417"/>
                  <a:gd name="T66" fmla="*/ 49 w 149"/>
                  <a:gd name="T67" fmla="*/ 253 h 417"/>
                  <a:gd name="T68" fmla="*/ 75 w 149"/>
                  <a:gd name="T69" fmla="*/ 241 h 417"/>
                  <a:gd name="T70" fmla="*/ 101 w 149"/>
                  <a:gd name="T71" fmla="*/ 253 h 417"/>
                  <a:gd name="T72" fmla="*/ 100 w 149"/>
                  <a:gd name="T73" fmla="*/ 253 h 417"/>
                  <a:gd name="T74" fmla="*/ 113 w 149"/>
                  <a:gd name="T75" fmla="*/ 220 h 417"/>
                  <a:gd name="T76" fmla="*/ 74 w 149"/>
                  <a:gd name="T77" fmla="*/ 200 h 417"/>
                  <a:gd name="T78" fmla="*/ 35 w 149"/>
                  <a:gd name="T79" fmla="*/ 218 h 417"/>
                  <a:gd name="T80" fmla="*/ 74 w 149"/>
                  <a:gd name="T81" fmla="*/ 193 h 417"/>
                  <a:gd name="T82" fmla="*/ 114 w 149"/>
                  <a:gd name="T83" fmla="*/ 220 h 417"/>
                  <a:gd name="T84" fmla="*/ 113 w 149"/>
                  <a:gd name="T85" fmla="*/ 220 h 417"/>
                  <a:gd name="T86" fmla="*/ 124 w 149"/>
                  <a:gd name="T87" fmla="*/ 171 h 417"/>
                  <a:gd name="T88" fmla="*/ 124 w 149"/>
                  <a:gd name="T89" fmla="*/ 172 h 417"/>
                  <a:gd name="T90" fmla="*/ 74 w 149"/>
                  <a:gd name="T91" fmla="*/ 150 h 417"/>
                  <a:gd name="T92" fmla="*/ 25 w 149"/>
                  <a:gd name="T93" fmla="*/ 172 h 417"/>
                  <a:gd name="T94" fmla="*/ 24 w 149"/>
                  <a:gd name="T95" fmla="*/ 171 h 417"/>
                  <a:gd name="T96" fmla="*/ 74 w 149"/>
                  <a:gd name="T97" fmla="*/ 141 h 417"/>
                  <a:gd name="T98" fmla="*/ 124 w 149"/>
                  <a:gd name="T99" fmla="*/ 171 h 417"/>
                  <a:gd name="T100" fmla="*/ 74 w 149"/>
                  <a:gd name="T101" fmla="*/ 40 h 417"/>
                  <a:gd name="T102" fmla="*/ 116 w 149"/>
                  <a:gd name="T103" fmla="*/ 61 h 417"/>
                  <a:gd name="T104" fmla="*/ 74 w 149"/>
                  <a:gd name="T105" fmla="*/ 52 h 417"/>
                  <a:gd name="T106" fmla="*/ 32 w 149"/>
                  <a:gd name="T107" fmla="*/ 61 h 417"/>
                  <a:gd name="T108" fmla="*/ 74 w 149"/>
                  <a:gd name="T109" fmla="*/ 4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9" h="417">
                    <a:moveTo>
                      <a:pt x="33" y="110"/>
                    </a:moveTo>
                    <a:cubicBezTo>
                      <a:pt x="0" y="179"/>
                      <a:pt x="0" y="179"/>
                      <a:pt x="0" y="179"/>
                    </a:cubicBezTo>
                    <a:cubicBezTo>
                      <a:pt x="0" y="179"/>
                      <a:pt x="23" y="224"/>
                      <a:pt x="27" y="233"/>
                    </a:cubicBezTo>
                    <a:cubicBezTo>
                      <a:pt x="31" y="240"/>
                      <a:pt x="39" y="264"/>
                      <a:pt x="44" y="274"/>
                    </a:cubicBezTo>
                    <a:cubicBezTo>
                      <a:pt x="47" y="284"/>
                      <a:pt x="53" y="312"/>
                      <a:pt x="54" y="321"/>
                    </a:cubicBezTo>
                    <a:cubicBezTo>
                      <a:pt x="56" y="329"/>
                      <a:pt x="59" y="413"/>
                      <a:pt x="59" y="413"/>
                    </a:cubicBezTo>
                    <a:cubicBezTo>
                      <a:pt x="63" y="416"/>
                      <a:pt x="69" y="417"/>
                      <a:pt x="74" y="417"/>
                    </a:cubicBezTo>
                    <a:cubicBezTo>
                      <a:pt x="75" y="417"/>
                      <a:pt x="75" y="417"/>
                      <a:pt x="75" y="417"/>
                    </a:cubicBezTo>
                    <a:cubicBezTo>
                      <a:pt x="81" y="417"/>
                      <a:pt x="86" y="416"/>
                      <a:pt x="90" y="413"/>
                    </a:cubicBezTo>
                    <a:cubicBezTo>
                      <a:pt x="90" y="413"/>
                      <a:pt x="94" y="329"/>
                      <a:pt x="95" y="321"/>
                    </a:cubicBezTo>
                    <a:cubicBezTo>
                      <a:pt x="96" y="312"/>
                      <a:pt x="102" y="284"/>
                      <a:pt x="106" y="274"/>
                    </a:cubicBezTo>
                    <a:cubicBezTo>
                      <a:pt x="110" y="264"/>
                      <a:pt x="119" y="240"/>
                      <a:pt x="122" y="233"/>
                    </a:cubicBezTo>
                    <a:cubicBezTo>
                      <a:pt x="126" y="224"/>
                      <a:pt x="149" y="179"/>
                      <a:pt x="149" y="179"/>
                    </a:cubicBezTo>
                    <a:cubicBezTo>
                      <a:pt x="116" y="110"/>
                      <a:pt x="116" y="110"/>
                      <a:pt x="116" y="110"/>
                    </a:cubicBezTo>
                    <a:cubicBezTo>
                      <a:pt x="137" y="62"/>
                      <a:pt x="137" y="62"/>
                      <a:pt x="137" y="62"/>
                    </a:cubicBezTo>
                    <a:cubicBezTo>
                      <a:pt x="114" y="0"/>
                      <a:pt x="114" y="0"/>
                      <a:pt x="114" y="0"/>
                    </a:cubicBezTo>
                    <a:cubicBezTo>
                      <a:pt x="35" y="0"/>
                      <a:pt x="35" y="0"/>
                      <a:pt x="35" y="0"/>
                    </a:cubicBezTo>
                    <a:cubicBezTo>
                      <a:pt x="12" y="62"/>
                      <a:pt x="12" y="62"/>
                      <a:pt x="12" y="62"/>
                    </a:cubicBezTo>
                    <a:lnTo>
                      <a:pt x="33" y="110"/>
                    </a:lnTo>
                    <a:close/>
                    <a:moveTo>
                      <a:pt x="86" y="322"/>
                    </a:moveTo>
                    <a:cubicBezTo>
                      <a:pt x="84" y="318"/>
                      <a:pt x="79" y="316"/>
                      <a:pt x="74" y="316"/>
                    </a:cubicBezTo>
                    <a:cubicBezTo>
                      <a:pt x="70" y="316"/>
                      <a:pt x="65" y="318"/>
                      <a:pt x="62" y="322"/>
                    </a:cubicBezTo>
                    <a:cubicBezTo>
                      <a:pt x="63" y="315"/>
                      <a:pt x="67" y="311"/>
                      <a:pt x="74" y="311"/>
                    </a:cubicBezTo>
                    <a:cubicBezTo>
                      <a:pt x="81" y="311"/>
                      <a:pt x="86" y="315"/>
                      <a:pt x="87" y="322"/>
                    </a:cubicBezTo>
                    <a:lnTo>
                      <a:pt x="86" y="322"/>
                    </a:lnTo>
                    <a:close/>
                    <a:moveTo>
                      <a:pt x="74" y="281"/>
                    </a:moveTo>
                    <a:cubicBezTo>
                      <a:pt x="67" y="281"/>
                      <a:pt x="62" y="285"/>
                      <a:pt x="59" y="289"/>
                    </a:cubicBezTo>
                    <a:cubicBezTo>
                      <a:pt x="58" y="289"/>
                      <a:pt x="58" y="289"/>
                      <a:pt x="58" y="289"/>
                    </a:cubicBezTo>
                    <a:cubicBezTo>
                      <a:pt x="60" y="281"/>
                      <a:pt x="66" y="275"/>
                      <a:pt x="74" y="275"/>
                    </a:cubicBezTo>
                    <a:cubicBezTo>
                      <a:pt x="83" y="275"/>
                      <a:pt x="89" y="281"/>
                      <a:pt x="90" y="289"/>
                    </a:cubicBezTo>
                    <a:cubicBezTo>
                      <a:pt x="86" y="285"/>
                      <a:pt x="81" y="281"/>
                      <a:pt x="74" y="281"/>
                    </a:cubicBezTo>
                    <a:moveTo>
                      <a:pt x="100" y="253"/>
                    </a:moveTo>
                    <a:cubicBezTo>
                      <a:pt x="92" y="250"/>
                      <a:pt x="84" y="248"/>
                      <a:pt x="75" y="248"/>
                    </a:cubicBezTo>
                    <a:cubicBezTo>
                      <a:pt x="65" y="248"/>
                      <a:pt x="57" y="250"/>
                      <a:pt x="49" y="253"/>
                    </a:cubicBezTo>
                    <a:cubicBezTo>
                      <a:pt x="54" y="246"/>
                      <a:pt x="64" y="241"/>
                      <a:pt x="75" y="241"/>
                    </a:cubicBezTo>
                    <a:cubicBezTo>
                      <a:pt x="85" y="241"/>
                      <a:pt x="95" y="246"/>
                      <a:pt x="101" y="253"/>
                    </a:cubicBezTo>
                    <a:lnTo>
                      <a:pt x="100" y="253"/>
                    </a:lnTo>
                    <a:close/>
                    <a:moveTo>
                      <a:pt x="113" y="220"/>
                    </a:moveTo>
                    <a:cubicBezTo>
                      <a:pt x="104" y="208"/>
                      <a:pt x="90" y="200"/>
                      <a:pt x="74" y="200"/>
                    </a:cubicBezTo>
                    <a:cubicBezTo>
                      <a:pt x="59" y="200"/>
                      <a:pt x="45" y="208"/>
                      <a:pt x="35" y="218"/>
                    </a:cubicBezTo>
                    <a:cubicBezTo>
                      <a:pt x="41" y="203"/>
                      <a:pt x="57" y="193"/>
                      <a:pt x="74" y="193"/>
                    </a:cubicBezTo>
                    <a:cubicBezTo>
                      <a:pt x="92" y="193"/>
                      <a:pt x="108" y="204"/>
                      <a:pt x="114" y="220"/>
                    </a:cubicBezTo>
                    <a:lnTo>
                      <a:pt x="113" y="220"/>
                    </a:lnTo>
                    <a:close/>
                    <a:moveTo>
                      <a:pt x="124" y="171"/>
                    </a:moveTo>
                    <a:cubicBezTo>
                      <a:pt x="124" y="172"/>
                      <a:pt x="124" y="172"/>
                      <a:pt x="124" y="172"/>
                    </a:cubicBezTo>
                    <a:cubicBezTo>
                      <a:pt x="111" y="158"/>
                      <a:pt x="94" y="150"/>
                      <a:pt x="74" y="150"/>
                    </a:cubicBezTo>
                    <a:cubicBezTo>
                      <a:pt x="54" y="150"/>
                      <a:pt x="37" y="159"/>
                      <a:pt x="25" y="172"/>
                    </a:cubicBezTo>
                    <a:cubicBezTo>
                      <a:pt x="24" y="171"/>
                      <a:pt x="24" y="171"/>
                      <a:pt x="24" y="171"/>
                    </a:cubicBezTo>
                    <a:cubicBezTo>
                      <a:pt x="34" y="153"/>
                      <a:pt x="52" y="141"/>
                      <a:pt x="74" y="141"/>
                    </a:cubicBezTo>
                    <a:cubicBezTo>
                      <a:pt x="96" y="141"/>
                      <a:pt x="115" y="153"/>
                      <a:pt x="124" y="171"/>
                    </a:cubicBezTo>
                    <a:moveTo>
                      <a:pt x="74" y="40"/>
                    </a:moveTo>
                    <a:cubicBezTo>
                      <a:pt x="91" y="40"/>
                      <a:pt x="107" y="48"/>
                      <a:pt x="116" y="61"/>
                    </a:cubicBezTo>
                    <a:cubicBezTo>
                      <a:pt x="103" y="55"/>
                      <a:pt x="89" y="52"/>
                      <a:pt x="74" y="52"/>
                    </a:cubicBezTo>
                    <a:cubicBezTo>
                      <a:pt x="59" y="52"/>
                      <a:pt x="45" y="55"/>
                      <a:pt x="32" y="61"/>
                    </a:cubicBezTo>
                    <a:cubicBezTo>
                      <a:pt x="41" y="48"/>
                      <a:pt x="57" y="40"/>
                      <a:pt x="74" y="4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2" name="Freeform 40">
                <a:extLst>
                  <a:ext uri="{FF2B5EF4-FFF2-40B4-BE49-F238E27FC236}">
                    <a16:creationId xmlns:a16="http://schemas.microsoft.com/office/drawing/2014/main" id="{3BDCF201-5D0B-41EC-AA0B-45849D570925}"/>
                  </a:ext>
                </a:extLst>
              </p:cNvPr>
              <p:cNvSpPr>
                <a:spLocks noEditPoints="1"/>
              </p:cNvSpPr>
              <p:nvPr/>
            </p:nvSpPr>
            <p:spPr bwMode="auto">
              <a:xfrm>
                <a:off x="8297863" y="8782051"/>
                <a:ext cx="522288" cy="785813"/>
              </a:xfrm>
              <a:custGeom>
                <a:avLst/>
                <a:gdLst>
                  <a:gd name="T0" fmla="*/ 114 w 163"/>
                  <a:gd name="T1" fmla="*/ 218 h 241"/>
                  <a:gd name="T2" fmla="*/ 113 w 163"/>
                  <a:gd name="T3" fmla="*/ 239 h 241"/>
                  <a:gd name="T4" fmla="*/ 130 w 163"/>
                  <a:gd name="T5" fmla="*/ 233 h 241"/>
                  <a:gd name="T6" fmla="*/ 150 w 163"/>
                  <a:gd name="T7" fmla="*/ 241 h 241"/>
                  <a:gd name="T8" fmla="*/ 155 w 163"/>
                  <a:gd name="T9" fmla="*/ 226 h 241"/>
                  <a:gd name="T10" fmla="*/ 136 w 163"/>
                  <a:gd name="T11" fmla="*/ 188 h 241"/>
                  <a:gd name="T12" fmla="*/ 124 w 163"/>
                  <a:gd name="T13" fmla="*/ 200 h 241"/>
                  <a:gd name="T14" fmla="*/ 110 w 163"/>
                  <a:gd name="T15" fmla="*/ 176 h 241"/>
                  <a:gd name="T16" fmla="*/ 129 w 163"/>
                  <a:gd name="T17" fmla="*/ 137 h 241"/>
                  <a:gd name="T18" fmla="*/ 110 w 163"/>
                  <a:gd name="T19" fmla="*/ 90 h 241"/>
                  <a:gd name="T20" fmla="*/ 141 w 163"/>
                  <a:gd name="T21" fmla="*/ 60 h 241"/>
                  <a:gd name="T22" fmla="*/ 163 w 163"/>
                  <a:gd name="T23" fmla="*/ 0 h 241"/>
                  <a:gd name="T24" fmla="*/ 135 w 163"/>
                  <a:gd name="T25" fmla="*/ 27 h 241"/>
                  <a:gd name="T26" fmla="*/ 92 w 163"/>
                  <a:gd name="T27" fmla="*/ 27 h 241"/>
                  <a:gd name="T28" fmla="*/ 0 w 163"/>
                  <a:gd name="T29" fmla="*/ 76 h 241"/>
                  <a:gd name="T30" fmla="*/ 0 w 163"/>
                  <a:gd name="T31" fmla="*/ 171 h 241"/>
                  <a:gd name="T32" fmla="*/ 93 w 163"/>
                  <a:gd name="T33" fmla="*/ 218 h 241"/>
                  <a:gd name="T34" fmla="*/ 114 w 163"/>
                  <a:gd name="T35" fmla="*/ 218 h 241"/>
                  <a:gd name="T36" fmla="*/ 24 w 163"/>
                  <a:gd name="T37" fmla="*/ 153 h 241"/>
                  <a:gd name="T38" fmla="*/ 63 w 163"/>
                  <a:gd name="T39" fmla="*/ 95 h 241"/>
                  <a:gd name="T40" fmla="*/ 38 w 163"/>
                  <a:gd name="T41" fmla="*/ 160 h 241"/>
                  <a:gd name="T42" fmla="*/ 24 w 163"/>
                  <a:gd name="T43" fmla="*/ 153 h 241"/>
                  <a:gd name="T44" fmla="*/ 39 w 163"/>
                  <a:gd name="T45" fmla="*/ 161 h 241"/>
                  <a:gd name="T46" fmla="*/ 78 w 163"/>
                  <a:gd name="T47" fmla="*/ 102 h 241"/>
                  <a:gd name="T48" fmla="*/ 53 w 163"/>
                  <a:gd name="T49" fmla="*/ 167 h 241"/>
                  <a:gd name="T50" fmla="*/ 39 w 163"/>
                  <a:gd name="T51" fmla="*/ 161 h 241"/>
                  <a:gd name="T52" fmla="*/ 54 w 163"/>
                  <a:gd name="T53" fmla="*/ 168 h 241"/>
                  <a:gd name="T54" fmla="*/ 95 w 163"/>
                  <a:gd name="T55" fmla="*/ 110 h 241"/>
                  <a:gd name="T56" fmla="*/ 69 w 163"/>
                  <a:gd name="T57" fmla="*/ 175 h 241"/>
                  <a:gd name="T58" fmla="*/ 54 w 163"/>
                  <a:gd name="T59" fmla="*/ 168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3" h="241">
                    <a:moveTo>
                      <a:pt x="114" y="218"/>
                    </a:moveTo>
                    <a:cubicBezTo>
                      <a:pt x="113" y="225"/>
                      <a:pt x="113" y="233"/>
                      <a:pt x="113" y="239"/>
                    </a:cubicBezTo>
                    <a:cubicBezTo>
                      <a:pt x="117" y="235"/>
                      <a:pt x="124" y="233"/>
                      <a:pt x="130" y="233"/>
                    </a:cubicBezTo>
                    <a:cubicBezTo>
                      <a:pt x="138" y="233"/>
                      <a:pt x="145" y="236"/>
                      <a:pt x="150" y="241"/>
                    </a:cubicBezTo>
                    <a:cubicBezTo>
                      <a:pt x="152" y="236"/>
                      <a:pt x="153" y="230"/>
                      <a:pt x="155" y="226"/>
                    </a:cubicBezTo>
                    <a:cubicBezTo>
                      <a:pt x="136" y="188"/>
                      <a:pt x="136" y="188"/>
                      <a:pt x="136" y="188"/>
                    </a:cubicBezTo>
                    <a:cubicBezTo>
                      <a:pt x="124" y="200"/>
                      <a:pt x="124" y="200"/>
                      <a:pt x="124" y="200"/>
                    </a:cubicBezTo>
                    <a:cubicBezTo>
                      <a:pt x="110" y="176"/>
                      <a:pt x="110" y="176"/>
                      <a:pt x="110" y="176"/>
                    </a:cubicBezTo>
                    <a:cubicBezTo>
                      <a:pt x="129" y="137"/>
                      <a:pt x="129" y="137"/>
                      <a:pt x="129" y="137"/>
                    </a:cubicBezTo>
                    <a:cubicBezTo>
                      <a:pt x="110" y="90"/>
                      <a:pt x="110" y="90"/>
                      <a:pt x="110" y="90"/>
                    </a:cubicBezTo>
                    <a:cubicBezTo>
                      <a:pt x="141" y="60"/>
                      <a:pt x="141" y="60"/>
                      <a:pt x="141" y="60"/>
                    </a:cubicBezTo>
                    <a:cubicBezTo>
                      <a:pt x="163" y="0"/>
                      <a:pt x="163" y="0"/>
                      <a:pt x="163" y="0"/>
                    </a:cubicBezTo>
                    <a:cubicBezTo>
                      <a:pt x="135" y="27"/>
                      <a:pt x="135" y="27"/>
                      <a:pt x="135" y="27"/>
                    </a:cubicBezTo>
                    <a:cubicBezTo>
                      <a:pt x="92" y="27"/>
                      <a:pt x="92" y="27"/>
                      <a:pt x="92" y="27"/>
                    </a:cubicBezTo>
                    <a:cubicBezTo>
                      <a:pt x="0" y="76"/>
                      <a:pt x="0" y="76"/>
                      <a:pt x="0" y="76"/>
                    </a:cubicBezTo>
                    <a:cubicBezTo>
                      <a:pt x="0" y="171"/>
                      <a:pt x="0" y="171"/>
                      <a:pt x="0" y="171"/>
                    </a:cubicBezTo>
                    <a:cubicBezTo>
                      <a:pt x="93" y="218"/>
                      <a:pt x="93" y="218"/>
                      <a:pt x="93" y="218"/>
                    </a:cubicBezTo>
                    <a:lnTo>
                      <a:pt x="114" y="218"/>
                    </a:lnTo>
                    <a:close/>
                    <a:moveTo>
                      <a:pt x="24" y="153"/>
                    </a:moveTo>
                    <a:cubicBezTo>
                      <a:pt x="63" y="95"/>
                      <a:pt x="63" y="95"/>
                      <a:pt x="63" y="95"/>
                    </a:cubicBezTo>
                    <a:cubicBezTo>
                      <a:pt x="38" y="160"/>
                      <a:pt x="38" y="160"/>
                      <a:pt x="38" y="160"/>
                    </a:cubicBezTo>
                    <a:lnTo>
                      <a:pt x="24" y="153"/>
                    </a:lnTo>
                    <a:close/>
                    <a:moveTo>
                      <a:pt x="39" y="161"/>
                    </a:moveTo>
                    <a:cubicBezTo>
                      <a:pt x="78" y="102"/>
                      <a:pt x="78" y="102"/>
                      <a:pt x="78" y="102"/>
                    </a:cubicBezTo>
                    <a:cubicBezTo>
                      <a:pt x="53" y="167"/>
                      <a:pt x="53" y="167"/>
                      <a:pt x="53" y="167"/>
                    </a:cubicBezTo>
                    <a:lnTo>
                      <a:pt x="39" y="161"/>
                    </a:lnTo>
                    <a:close/>
                    <a:moveTo>
                      <a:pt x="54" y="168"/>
                    </a:moveTo>
                    <a:cubicBezTo>
                      <a:pt x="95" y="110"/>
                      <a:pt x="95" y="110"/>
                      <a:pt x="95" y="110"/>
                    </a:cubicBezTo>
                    <a:cubicBezTo>
                      <a:pt x="69" y="175"/>
                      <a:pt x="69" y="175"/>
                      <a:pt x="69" y="175"/>
                    </a:cubicBezTo>
                    <a:lnTo>
                      <a:pt x="54" y="16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3" name="Freeform 41">
                <a:extLst>
                  <a:ext uri="{FF2B5EF4-FFF2-40B4-BE49-F238E27FC236}">
                    <a16:creationId xmlns:a16="http://schemas.microsoft.com/office/drawing/2014/main" id="{7A0B6311-47BE-46B7-B983-33D035352D72}"/>
                  </a:ext>
                </a:extLst>
              </p:cNvPr>
              <p:cNvSpPr>
                <a:spLocks/>
              </p:cNvSpPr>
              <p:nvPr/>
            </p:nvSpPr>
            <p:spPr bwMode="auto">
              <a:xfrm>
                <a:off x="9169400" y="9053513"/>
                <a:ext cx="96838" cy="142875"/>
              </a:xfrm>
              <a:custGeom>
                <a:avLst/>
                <a:gdLst>
                  <a:gd name="T0" fmla="*/ 2 w 30"/>
                  <a:gd name="T1" fmla="*/ 38 h 44"/>
                  <a:gd name="T2" fmla="*/ 3 w 30"/>
                  <a:gd name="T3" fmla="*/ 44 h 44"/>
                  <a:gd name="T4" fmla="*/ 28 w 30"/>
                  <a:gd name="T5" fmla="*/ 6 h 44"/>
                  <a:gd name="T6" fmla="*/ 28 w 30"/>
                  <a:gd name="T7" fmla="*/ 0 h 44"/>
                  <a:gd name="T8" fmla="*/ 2 w 30"/>
                  <a:gd name="T9" fmla="*/ 38 h 44"/>
                </a:gdLst>
                <a:ahLst/>
                <a:cxnLst>
                  <a:cxn ang="0">
                    <a:pos x="T0" y="T1"/>
                  </a:cxn>
                  <a:cxn ang="0">
                    <a:pos x="T2" y="T3"/>
                  </a:cxn>
                  <a:cxn ang="0">
                    <a:pos x="T4" y="T5"/>
                  </a:cxn>
                  <a:cxn ang="0">
                    <a:pos x="T6" y="T7"/>
                  </a:cxn>
                  <a:cxn ang="0">
                    <a:pos x="T8" y="T9"/>
                  </a:cxn>
                </a:cxnLst>
                <a:rect l="0" t="0" r="r" b="b"/>
                <a:pathLst>
                  <a:path w="30" h="44">
                    <a:moveTo>
                      <a:pt x="2" y="38"/>
                    </a:moveTo>
                    <a:cubicBezTo>
                      <a:pt x="2" y="40"/>
                      <a:pt x="2" y="42"/>
                      <a:pt x="3" y="44"/>
                    </a:cubicBezTo>
                    <a:cubicBezTo>
                      <a:pt x="19" y="38"/>
                      <a:pt x="30" y="22"/>
                      <a:pt x="28" y="6"/>
                    </a:cubicBezTo>
                    <a:cubicBezTo>
                      <a:pt x="28" y="0"/>
                      <a:pt x="28" y="0"/>
                      <a:pt x="28" y="0"/>
                    </a:cubicBezTo>
                    <a:cubicBezTo>
                      <a:pt x="12" y="6"/>
                      <a:pt x="0" y="20"/>
                      <a:pt x="2" y="3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4" name="Freeform 42">
                <a:extLst>
                  <a:ext uri="{FF2B5EF4-FFF2-40B4-BE49-F238E27FC236}">
                    <a16:creationId xmlns:a16="http://schemas.microsoft.com/office/drawing/2014/main" id="{5FED7D49-3233-43D7-ABDC-709BE3E07ABF}"/>
                  </a:ext>
                </a:extLst>
              </p:cNvPr>
              <p:cNvSpPr>
                <a:spLocks/>
              </p:cNvSpPr>
              <p:nvPr/>
            </p:nvSpPr>
            <p:spPr bwMode="auto">
              <a:xfrm>
                <a:off x="8702675" y="9053513"/>
                <a:ext cx="92075" cy="142875"/>
              </a:xfrm>
              <a:custGeom>
                <a:avLst/>
                <a:gdLst>
                  <a:gd name="T0" fmla="*/ 28 w 29"/>
                  <a:gd name="T1" fmla="*/ 38 h 44"/>
                  <a:gd name="T2" fmla="*/ 2 w 29"/>
                  <a:gd name="T3" fmla="*/ 0 h 44"/>
                  <a:gd name="T4" fmla="*/ 1 w 29"/>
                  <a:gd name="T5" fmla="*/ 6 h 44"/>
                  <a:gd name="T6" fmla="*/ 27 w 29"/>
                  <a:gd name="T7" fmla="*/ 44 h 44"/>
                  <a:gd name="T8" fmla="*/ 27 w 29"/>
                  <a:gd name="T9" fmla="*/ 43 h 44"/>
                  <a:gd name="T10" fmla="*/ 28 w 29"/>
                  <a:gd name="T11" fmla="*/ 38 h 44"/>
                </a:gdLst>
                <a:ahLst/>
                <a:cxnLst>
                  <a:cxn ang="0">
                    <a:pos x="T0" y="T1"/>
                  </a:cxn>
                  <a:cxn ang="0">
                    <a:pos x="T2" y="T3"/>
                  </a:cxn>
                  <a:cxn ang="0">
                    <a:pos x="T4" y="T5"/>
                  </a:cxn>
                  <a:cxn ang="0">
                    <a:pos x="T6" y="T7"/>
                  </a:cxn>
                  <a:cxn ang="0">
                    <a:pos x="T8" y="T9"/>
                  </a:cxn>
                  <a:cxn ang="0">
                    <a:pos x="T10" y="T11"/>
                  </a:cxn>
                </a:cxnLst>
                <a:rect l="0" t="0" r="r" b="b"/>
                <a:pathLst>
                  <a:path w="29" h="44">
                    <a:moveTo>
                      <a:pt x="28" y="38"/>
                    </a:moveTo>
                    <a:cubicBezTo>
                      <a:pt x="29" y="20"/>
                      <a:pt x="19" y="6"/>
                      <a:pt x="2" y="0"/>
                    </a:cubicBezTo>
                    <a:cubicBezTo>
                      <a:pt x="2" y="2"/>
                      <a:pt x="1" y="4"/>
                      <a:pt x="1" y="6"/>
                    </a:cubicBezTo>
                    <a:cubicBezTo>
                      <a:pt x="0" y="22"/>
                      <a:pt x="11" y="38"/>
                      <a:pt x="27" y="44"/>
                    </a:cubicBezTo>
                    <a:cubicBezTo>
                      <a:pt x="27" y="43"/>
                      <a:pt x="27" y="43"/>
                      <a:pt x="27" y="43"/>
                    </a:cubicBezTo>
                    <a:cubicBezTo>
                      <a:pt x="28" y="42"/>
                      <a:pt x="28" y="40"/>
                      <a:pt x="28" y="3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5" name="Freeform 43">
                <a:extLst>
                  <a:ext uri="{FF2B5EF4-FFF2-40B4-BE49-F238E27FC236}">
                    <a16:creationId xmlns:a16="http://schemas.microsoft.com/office/drawing/2014/main" id="{F82AF405-6384-4426-9DB8-59D3AE491062}"/>
                  </a:ext>
                </a:extLst>
              </p:cNvPr>
              <p:cNvSpPr>
                <a:spLocks/>
              </p:cNvSpPr>
              <p:nvPr/>
            </p:nvSpPr>
            <p:spPr bwMode="auto">
              <a:xfrm>
                <a:off x="7935913" y="8613776"/>
                <a:ext cx="122238" cy="112713"/>
              </a:xfrm>
              <a:custGeom>
                <a:avLst/>
                <a:gdLst>
                  <a:gd name="T0" fmla="*/ 27 w 38"/>
                  <a:gd name="T1" fmla="*/ 19 h 35"/>
                  <a:gd name="T2" fmla="*/ 38 w 38"/>
                  <a:gd name="T3" fmla="*/ 5 h 35"/>
                  <a:gd name="T4" fmla="*/ 0 w 38"/>
                  <a:gd name="T5" fmla="*/ 0 h 35"/>
                  <a:gd name="T6" fmla="*/ 16 w 38"/>
                  <a:gd name="T7" fmla="*/ 35 h 35"/>
                  <a:gd name="T8" fmla="*/ 27 w 38"/>
                  <a:gd name="T9" fmla="*/ 19 h 35"/>
                </a:gdLst>
                <a:ahLst/>
                <a:cxnLst>
                  <a:cxn ang="0">
                    <a:pos x="T0" y="T1"/>
                  </a:cxn>
                  <a:cxn ang="0">
                    <a:pos x="T2" y="T3"/>
                  </a:cxn>
                  <a:cxn ang="0">
                    <a:pos x="T4" y="T5"/>
                  </a:cxn>
                  <a:cxn ang="0">
                    <a:pos x="T6" y="T7"/>
                  </a:cxn>
                  <a:cxn ang="0">
                    <a:pos x="T8" y="T9"/>
                  </a:cxn>
                </a:cxnLst>
                <a:rect l="0" t="0" r="r" b="b"/>
                <a:pathLst>
                  <a:path w="38" h="35">
                    <a:moveTo>
                      <a:pt x="27" y="19"/>
                    </a:moveTo>
                    <a:cubicBezTo>
                      <a:pt x="31" y="15"/>
                      <a:pt x="35" y="10"/>
                      <a:pt x="38" y="5"/>
                    </a:cubicBezTo>
                    <a:cubicBezTo>
                      <a:pt x="0" y="0"/>
                      <a:pt x="0" y="0"/>
                      <a:pt x="0" y="0"/>
                    </a:cubicBezTo>
                    <a:cubicBezTo>
                      <a:pt x="16" y="35"/>
                      <a:pt x="16" y="35"/>
                      <a:pt x="16" y="35"/>
                    </a:cubicBezTo>
                    <a:cubicBezTo>
                      <a:pt x="21" y="30"/>
                      <a:pt x="24" y="25"/>
                      <a:pt x="27" y="1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6" name="Freeform 44">
                <a:extLst>
                  <a:ext uri="{FF2B5EF4-FFF2-40B4-BE49-F238E27FC236}">
                    <a16:creationId xmlns:a16="http://schemas.microsoft.com/office/drawing/2014/main" id="{F229BB6D-785D-4136-B204-6D1F2A534BD6}"/>
                  </a:ext>
                </a:extLst>
              </p:cNvPr>
              <p:cNvSpPr>
                <a:spLocks/>
              </p:cNvSpPr>
              <p:nvPr/>
            </p:nvSpPr>
            <p:spPr bwMode="auto">
              <a:xfrm>
                <a:off x="9045575" y="10545763"/>
                <a:ext cx="117475" cy="117475"/>
              </a:xfrm>
              <a:custGeom>
                <a:avLst/>
                <a:gdLst>
                  <a:gd name="T0" fmla="*/ 0 w 37"/>
                  <a:gd name="T1" fmla="*/ 4 h 36"/>
                  <a:gd name="T2" fmla="*/ 21 w 37"/>
                  <a:gd name="T3" fmla="*/ 36 h 36"/>
                  <a:gd name="T4" fmla="*/ 37 w 37"/>
                  <a:gd name="T5" fmla="*/ 0 h 36"/>
                  <a:gd name="T6" fmla="*/ 17 w 37"/>
                  <a:gd name="T7" fmla="*/ 3 h 36"/>
                  <a:gd name="T8" fmla="*/ 0 w 37"/>
                  <a:gd name="T9" fmla="*/ 4 h 36"/>
                </a:gdLst>
                <a:ahLst/>
                <a:cxnLst>
                  <a:cxn ang="0">
                    <a:pos x="T0" y="T1"/>
                  </a:cxn>
                  <a:cxn ang="0">
                    <a:pos x="T2" y="T3"/>
                  </a:cxn>
                  <a:cxn ang="0">
                    <a:pos x="T4" y="T5"/>
                  </a:cxn>
                  <a:cxn ang="0">
                    <a:pos x="T6" y="T7"/>
                  </a:cxn>
                  <a:cxn ang="0">
                    <a:pos x="T8" y="T9"/>
                  </a:cxn>
                </a:cxnLst>
                <a:rect l="0" t="0" r="r" b="b"/>
                <a:pathLst>
                  <a:path w="37" h="36">
                    <a:moveTo>
                      <a:pt x="0" y="4"/>
                    </a:moveTo>
                    <a:cubicBezTo>
                      <a:pt x="21" y="36"/>
                      <a:pt x="21" y="36"/>
                      <a:pt x="21" y="36"/>
                    </a:cubicBezTo>
                    <a:cubicBezTo>
                      <a:pt x="37" y="0"/>
                      <a:pt x="37" y="0"/>
                      <a:pt x="37" y="0"/>
                    </a:cubicBezTo>
                    <a:cubicBezTo>
                      <a:pt x="30" y="1"/>
                      <a:pt x="23" y="1"/>
                      <a:pt x="17" y="3"/>
                    </a:cubicBezTo>
                    <a:cubicBezTo>
                      <a:pt x="12" y="4"/>
                      <a:pt x="6" y="4"/>
                      <a:pt x="0" y="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7" name="Freeform 45">
                <a:extLst>
                  <a:ext uri="{FF2B5EF4-FFF2-40B4-BE49-F238E27FC236}">
                    <a16:creationId xmlns:a16="http://schemas.microsoft.com/office/drawing/2014/main" id="{EAC62FAE-F2C5-42B1-9B8A-6057A2E6F3DC}"/>
                  </a:ext>
                </a:extLst>
              </p:cNvPr>
              <p:cNvSpPr>
                <a:spLocks/>
              </p:cNvSpPr>
              <p:nvPr/>
            </p:nvSpPr>
            <p:spPr bwMode="auto">
              <a:xfrm>
                <a:off x="8923338" y="10558463"/>
                <a:ext cx="115888" cy="111125"/>
              </a:xfrm>
              <a:custGeom>
                <a:avLst/>
                <a:gdLst>
                  <a:gd name="T0" fmla="*/ 0 w 36"/>
                  <a:gd name="T1" fmla="*/ 0 h 34"/>
                  <a:gd name="T2" fmla="*/ 17 w 36"/>
                  <a:gd name="T3" fmla="*/ 34 h 34"/>
                  <a:gd name="T4" fmla="*/ 36 w 36"/>
                  <a:gd name="T5" fmla="*/ 0 h 34"/>
                  <a:gd name="T6" fmla="*/ 17 w 36"/>
                  <a:gd name="T7" fmla="*/ 1 h 34"/>
                  <a:gd name="T8" fmla="*/ 0 w 36"/>
                  <a:gd name="T9" fmla="*/ 0 h 34"/>
                </a:gdLst>
                <a:ahLst/>
                <a:cxnLst>
                  <a:cxn ang="0">
                    <a:pos x="T0" y="T1"/>
                  </a:cxn>
                  <a:cxn ang="0">
                    <a:pos x="T2" y="T3"/>
                  </a:cxn>
                  <a:cxn ang="0">
                    <a:pos x="T4" y="T5"/>
                  </a:cxn>
                  <a:cxn ang="0">
                    <a:pos x="T6" y="T7"/>
                  </a:cxn>
                  <a:cxn ang="0">
                    <a:pos x="T8" y="T9"/>
                  </a:cxn>
                </a:cxnLst>
                <a:rect l="0" t="0" r="r" b="b"/>
                <a:pathLst>
                  <a:path w="36" h="34">
                    <a:moveTo>
                      <a:pt x="0" y="0"/>
                    </a:moveTo>
                    <a:cubicBezTo>
                      <a:pt x="17" y="34"/>
                      <a:pt x="17" y="34"/>
                      <a:pt x="17" y="34"/>
                    </a:cubicBezTo>
                    <a:cubicBezTo>
                      <a:pt x="36" y="0"/>
                      <a:pt x="36" y="0"/>
                      <a:pt x="36" y="0"/>
                    </a:cubicBezTo>
                    <a:cubicBezTo>
                      <a:pt x="30" y="1"/>
                      <a:pt x="23" y="1"/>
                      <a:pt x="17" y="1"/>
                    </a:cubicBezTo>
                    <a:cubicBezTo>
                      <a:pt x="11" y="1"/>
                      <a:pt x="5" y="1"/>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8" name="Freeform 46">
                <a:extLst>
                  <a:ext uri="{FF2B5EF4-FFF2-40B4-BE49-F238E27FC236}">
                    <a16:creationId xmlns:a16="http://schemas.microsoft.com/office/drawing/2014/main" id="{6B868E6F-3159-4985-8AC3-20F763E63132}"/>
                  </a:ext>
                </a:extLst>
              </p:cNvPr>
              <p:cNvSpPr>
                <a:spLocks/>
              </p:cNvSpPr>
              <p:nvPr/>
            </p:nvSpPr>
            <p:spPr bwMode="auto">
              <a:xfrm>
                <a:off x="9169400" y="10520363"/>
                <a:ext cx="115888" cy="123825"/>
              </a:xfrm>
              <a:custGeom>
                <a:avLst/>
                <a:gdLst>
                  <a:gd name="T0" fmla="*/ 0 w 36"/>
                  <a:gd name="T1" fmla="*/ 7 h 38"/>
                  <a:gd name="T2" fmla="*/ 24 w 36"/>
                  <a:gd name="T3" fmla="*/ 38 h 38"/>
                  <a:gd name="T4" fmla="*/ 36 w 36"/>
                  <a:gd name="T5" fmla="*/ 0 h 38"/>
                  <a:gd name="T6" fmla="*/ 16 w 36"/>
                  <a:gd name="T7" fmla="*/ 5 h 38"/>
                  <a:gd name="T8" fmla="*/ 0 w 36"/>
                  <a:gd name="T9" fmla="*/ 7 h 38"/>
                </a:gdLst>
                <a:ahLst/>
                <a:cxnLst>
                  <a:cxn ang="0">
                    <a:pos x="T0" y="T1"/>
                  </a:cxn>
                  <a:cxn ang="0">
                    <a:pos x="T2" y="T3"/>
                  </a:cxn>
                  <a:cxn ang="0">
                    <a:pos x="T4" y="T5"/>
                  </a:cxn>
                  <a:cxn ang="0">
                    <a:pos x="T6" y="T7"/>
                  </a:cxn>
                  <a:cxn ang="0">
                    <a:pos x="T8" y="T9"/>
                  </a:cxn>
                </a:cxnLst>
                <a:rect l="0" t="0" r="r" b="b"/>
                <a:pathLst>
                  <a:path w="36" h="38">
                    <a:moveTo>
                      <a:pt x="0" y="7"/>
                    </a:moveTo>
                    <a:cubicBezTo>
                      <a:pt x="24" y="38"/>
                      <a:pt x="24" y="38"/>
                      <a:pt x="24" y="38"/>
                    </a:cubicBezTo>
                    <a:cubicBezTo>
                      <a:pt x="36" y="0"/>
                      <a:pt x="36" y="0"/>
                      <a:pt x="36" y="0"/>
                    </a:cubicBezTo>
                    <a:cubicBezTo>
                      <a:pt x="29" y="2"/>
                      <a:pt x="23" y="3"/>
                      <a:pt x="16" y="5"/>
                    </a:cubicBezTo>
                    <a:cubicBezTo>
                      <a:pt x="11" y="6"/>
                      <a:pt x="5" y="7"/>
                      <a:pt x="0" y="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9" name="Freeform 47">
                <a:extLst>
                  <a:ext uri="{FF2B5EF4-FFF2-40B4-BE49-F238E27FC236}">
                    <a16:creationId xmlns:a16="http://schemas.microsoft.com/office/drawing/2014/main" id="{CB6957AB-98FB-4F14-83D4-008D8EE8AA73}"/>
                  </a:ext>
                </a:extLst>
              </p:cNvPr>
              <p:cNvSpPr>
                <a:spLocks/>
              </p:cNvSpPr>
              <p:nvPr/>
            </p:nvSpPr>
            <p:spPr bwMode="auto">
              <a:xfrm>
                <a:off x="9288463" y="10483851"/>
                <a:ext cx="109538" cy="123825"/>
              </a:xfrm>
              <a:custGeom>
                <a:avLst/>
                <a:gdLst>
                  <a:gd name="T0" fmla="*/ 0 w 34"/>
                  <a:gd name="T1" fmla="*/ 11 h 38"/>
                  <a:gd name="T2" fmla="*/ 27 w 34"/>
                  <a:gd name="T3" fmla="*/ 38 h 38"/>
                  <a:gd name="T4" fmla="*/ 34 w 34"/>
                  <a:gd name="T5" fmla="*/ 0 h 38"/>
                  <a:gd name="T6" fmla="*/ 17 w 34"/>
                  <a:gd name="T7" fmla="*/ 5 h 38"/>
                  <a:gd name="T8" fmla="*/ 0 w 34"/>
                  <a:gd name="T9" fmla="*/ 11 h 38"/>
                </a:gdLst>
                <a:ahLst/>
                <a:cxnLst>
                  <a:cxn ang="0">
                    <a:pos x="T0" y="T1"/>
                  </a:cxn>
                  <a:cxn ang="0">
                    <a:pos x="T2" y="T3"/>
                  </a:cxn>
                  <a:cxn ang="0">
                    <a:pos x="T4" y="T5"/>
                  </a:cxn>
                  <a:cxn ang="0">
                    <a:pos x="T6" y="T7"/>
                  </a:cxn>
                  <a:cxn ang="0">
                    <a:pos x="T8" y="T9"/>
                  </a:cxn>
                </a:cxnLst>
                <a:rect l="0" t="0" r="r" b="b"/>
                <a:pathLst>
                  <a:path w="34" h="38">
                    <a:moveTo>
                      <a:pt x="0" y="11"/>
                    </a:moveTo>
                    <a:cubicBezTo>
                      <a:pt x="27" y="38"/>
                      <a:pt x="27" y="38"/>
                      <a:pt x="27" y="38"/>
                    </a:cubicBezTo>
                    <a:cubicBezTo>
                      <a:pt x="34" y="0"/>
                      <a:pt x="34" y="0"/>
                      <a:pt x="34" y="0"/>
                    </a:cubicBezTo>
                    <a:cubicBezTo>
                      <a:pt x="29" y="2"/>
                      <a:pt x="22" y="4"/>
                      <a:pt x="17" y="5"/>
                    </a:cubicBezTo>
                    <a:cubicBezTo>
                      <a:pt x="11" y="7"/>
                      <a:pt x="5" y="10"/>
                      <a:pt x="0" y="11"/>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0" name="Freeform 48">
                <a:extLst>
                  <a:ext uri="{FF2B5EF4-FFF2-40B4-BE49-F238E27FC236}">
                    <a16:creationId xmlns:a16="http://schemas.microsoft.com/office/drawing/2014/main" id="{A1655997-8BC2-4C7A-AC41-059C267947BC}"/>
                  </a:ext>
                </a:extLst>
              </p:cNvPr>
              <p:cNvSpPr>
                <a:spLocks/>
              </p:cNvSpPr>
              <p:nvPr/>
            </p:nvSpPr>
            <p:spPr bwMode="auto">
              <a:xfrm>
                <a:off x="9407525" y="10428288"/>
                <a:ext cx="104775" cy="130175"/>
              </a:xfrm>
              <a:custGeom>
                <a:avLst/>
                <a:gdLst>
                  <a:gd name="T0" fmla="*/ 0 w 33"/>
                  <a:gd name="T1" fmla="*/ 16 h 40"/>
                  <a:gd name="T2" fmla="*/ 30 w 33"/>
                  <a:gd name="T3" fmla="*/ 40 h 40"/>
                  <a:gd name="T4" fmla="*/ 33 w 33"/>
                  <a:gd name="T5" fmla="*/ 0 h 40"/>
                  <a:gd name="T6" fmla="*/ 16 w 33"/>
                  <a:gd name="T7" fmla="*/ 9 h 40"/>
                  <a:gd name="T8" fmla="*/ 0 w 33"/>
                  <a:gd name="T9" fmla="*/ 16 h 40"/>
                </a:gdLst>
                <a:ahLst/>
                <a:cxnLst>
                  <a:cxn ang="0">
                    <a:pos x="T0" y="T1"/>
                  </a:cxn>
                  <a:cxn ang="0">
                    <a:pos x="T2" y="T3"/>
                  </a:cxn>
                  <a:cxn ang="0">
                    <a:pos x="T4" y="T5"/>
                  </a:cxn>
                  <a:cxn ang="0">
                    <a:pos x="T6" y="T7"/>
                  </a:cxn>
                  <a:cxn ang="0">
                    <a:pos x="T8" y="T9"/>
                  </a:cxn>
                </a:cxnLst>
                <a:rect l="0" t="0" r="r" b="b"/>
                <a:pathLst>
                  <a:path w="33" h="40">
                    <a:moveTo>
                      <a:pt x="0" y="16"/>
                    </a:moveTo>
                    <a:cubicBezTo>
                      <a:pt x="30" y="40"/>
                      <a:pt x="30" y="40"/>
                      <a:pt x="30" y="40"/>
                    </a:cubicBezTo>
                    <a:cubicBezTo>
                      <a:pt x="33" y="0"/>
                      <a:pt x="33" y="0"/>
                      <a:pt x="33" y="0"/>
                    </a:cubicBezTo>
                    <a:cubicBezTo>
                      <a:pt x="27" y="4"/>
                      <a:pt x="21" y="6"/>
                      <a:pt x="16" y="9"/>
                    </a:cubicBezTo>
                    <a:cubicBezTo>
                      <a:pt x="10" y="11"/>
                      <a:pt x="5" y="14"/>
                      <a:pt x="0"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1" name="Freeform 49">
                <a:extLst>
                  <a:ext uri="{FF2B5EF4-FFF2-40B4-BE49-F238E27FC236}">
                    <a16:creationId xmlns:a16="http://schemas.microsoft.com/office/drawing/2014/main" id="{ABDCD787-890C-4E4F-BE40-F0F1ECD8D47F}"/>
                  </a:ext>
                </a:extLst>
              </p:cNvPr>
              <p:cNvSpPr>
                <a:spLocks/>
              </p:cNvSpPr>
              <p:nvPr/>
            </p:nvSpPr>
            <p:spPr bwMode="auto">
              <a:xfrm>
                <a:off x="8448675" y="10434638"/>
                <a:ext cx="106363" cy="123825"/>
              </a:xfrm>
              <a:custGeom>
                <a:avLst/>
                <a:gdLst>
                  <a:gd name="T0" fmla="*/ 0 w 33"/>
                  <a:gd name="T1" fmla="*/ 0 h 38"/>
                  <a:gd name="T2" fmla="*/ 2 w 33"/>
                  <a:gd name="T3" fmla="*/ 38 h 38"/>
                  <a:gd name="T4" fmla="*/ 33 w 33"/>
                  <a:gd name="T5" fmla="*/ 15 h 38"/>
                  <a:gd name="T6" fmla="*/ 15 w 33"/>
                  <a:gd name="T7" fmla="*/ 7 h 38"/>
                  <a:gd name="T8" fmla="*/ 0 w 33"/>
                  <a:gd name="T9" fmla="*/ 0 h 38"/>
                </a:gdLst>
                <a:ahLst/>
                <a:cxnLst>
                  <a:cxn ang="0">
                    <a:pos x="T0" y="T1"/>
                  </a:cxn>
                  <a:cxn ang="0">
                    <a:pos x="T2" y="T3"/>
                  </a:cxn>
                  <a:cxn ang="0">
                    <a:pos x="T4" y="T5"/>
                  </a:cxn>
                  <a:cxn ang="0">
                    <a:pos x="T6" y="T7"/>
                  </a:cxn>
                  <a:cxn ang="0">
                    <a:pos x="T8" y="T9"/>
                  </a:cxn>
                </a:cxnLst>
                <a:rect l="0" t="0" r="r" b="b"/>
                <a:pathLst>
                  <a:path w="33" h="38">
                    <a:moveTo>
                      <a:pt x="0" y="0"/>
                    </a:moveTo>
                    <a:cubicBezTo>
                      <a:pt x="2" y="38"/>
                      <a:pt x="2" y="38"/>
                      <a:pt x="2" y="38"/>
                    </a:cubicBezTo>
                    <a:cubicBezTo>
                      <a:pt x="33" y="15"/>
                      <a:pt x="33" y="15"/>
                      <a:pt x="33" y="15"/>
                    </a:cubicBezTo>
                    <a:cubicBezTo>
                      <a:pt x="27" y="12"/>
                      <a:pt x="21" y="9"/>
                      <a:pt x="15" y="7"/>
                    </a:cubicBezTo>
                    <a:cubicBezTo>
                      <a:pt x="11" y="5"/>
                      <a:pt x="5" y="2"/>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2" name="Freeform 50">
                <a:extLst>
                  <a:ext uri="{FF2B5EF4-FFF2-40B4-BE49-F238E27FC236}">
                    <a16:creationId xmlns:a16="http://schemas.microsoft.com/office/drawing/2014/main" id="{42AA99DD-BA82-401F-B0F9-1CADF8DCDA65}"/>
                  </a:ext>
                </a:extLst>
              </p:cNvPr>
              <p:cNvSpPr>
                <a:spLocks/>
              </p:cNvSpPr>
              <p:nvPr/>
            </p:nvSpPr>
            <p:spPr bwMode="auto">
              <a:xfrm>
                <a:off x="9515475" y="10369551"/>
                <a:ext cx="106363" cy="127000"/>
              </a:xfrm>
              <a:custGeom>
                <a:avLst/>
                <a:gdLst>
                  <a:gd name="T0" fmla="*/ 16 w 33"/>
                  <a:gd name="T1" fmla="*/ 10 h 39"/>
                  <a:gd name="T2" fmla="*/ 0 w 33"/>
                  <a:gd name="T3" fmla="*/ 18 h 39"/>
                  <a:gd name="T4" fmla="*/ 33 w 33"/>
                  <a:gd name="T5" fmla="*/ 39 h 39"/>
                  <a:gd name="T6" fmla="*/ 32 w 33"/>
                  <a:gd name="T7" fmla="*/ 0 h 39"/>
                  <a:gd name="T8" fmla="*/ 16 w 33"/>
                  <a:gd name="T9" fmla="*/ 10 h 39"/>
                </a:gdLst>
                <a:ahLst/>
                <a:cxnLst>
                  <a:cxn ang="0">
                    <a:pos x="T0" y="T1"/>
                  </a:cxn>
                  <a:cxn ang="0">
                    <a:pos x="T2" y="T3"/>
                  </a:cxn>
                  <a:cxn ang="0">
                    <a:pos x="T4" y="T5"/>
                  </a:cxn>
                  <a:cxn ang="0">
                    <a:pos x="T6" y="T7"/>
                  </a:cxn>
                  <a:cxn ang="0">
                    <a:pos x="T8" y="T9"/>
                  </a:cxn>
                </a:cxnLst>
                <a:rect l="0" t="0" r="r" b="b"/>
                <a:pathLst>
                  <a:path w="33" h="39">
                    <a:moveTo>
                      <a:pt x="16" y="10"/>
                    </a:moveTo>
                    <a:cubicBezTo>
                      <a:pt x="10" y="13"/>
                      <a:pt x="6" y="15"/>
                      <a:pt x="0" y="18"/>
                    </a:cubicBezTo>
                    <a:cubicBezTo>
                      <a:pt x="33" y="39"/>
                      <a:pt x="33" y="39"/>
                      <a:pt x="33" y="39"/>
                    </a:cubicBezTo>
                    <a:cubicBezTo>
                      <a:pt x="32" y="0"/>
                      <a:pt x="32" y="0"/>
                      <a:pt x="32" y="0"/>
                    </a:cubicBezTo>
                    <a:cubicBezTo>
                      <a:pt x="27" y="3"/>
                      <a:pt x="21" y="6"/>
                      <a:pt x="16" y="1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3" name="Freeform 51">
                <a:extLst>
                  <a:ext uri="{FF2B5EF4-FFF2-40B4-BE49-F238E27FC236}">
                    <a16:creationId xmlns:a16="http://schemas.microsoft.com/office/drawing/2014/main" id="{9AE39DED-EAF7-475E-9B3B-B816E8296523}"/>
                  </a:ext>
                </a:extLst>
              </p:cNvPr>
              <p:cNvSpPr>
                <a:spLocks/>
              </p:cNvSpPr>
              <p:nvPr/>
            </p:nvSpPr>
            <p:spPr bwMode="auto">
              <a:xfrm>
                <a:off x="8558213" y="10483851"/>
                <a:ext cx="115888" cy="123825"/>
              </a:xfrm>
              <a:custGeom>
                <a:avLst/>
                <a:gdLst>
                  <a:gd name="T0" fmla="*/ 0 w 36"/>
                  <a:gd name="T1" fmla="*/ 0 h 38"/>
                  <a:gd name="T2" fmla="*/ 7 w 36"/>
                  <a:gd name="T3" fmla="*/ 38 h 38"/>
                  <a:gd name="T4" fmla="*/ 36 w 36"/>
                  <a:gd name="T5" fmla="*/ 11 h 38"/>
                  <a:gd name="T6" fmla="*/ 18 w 36"/>
                  <a:gd name="T7" fmla="*/ 5 h 38"/>
                  <a:gd name="T8" fmla="*/ 0 w 36"/>
                  <a:gd name="T9" fmla="*/ 0 h 38"/>
                </a:gdLst>
                <a:ahLst/>
                <a:cxnLst>
                  <a:cxn ang="0">
                    <a:pos x="T0" y="T1"/>
                  </a:cxn>
                  <a:cxn ang="0">
                    <a:pos x="T2" y="T3"/>
                  </a:cxn>
                  <a:cxn ang="0">
                    <a:pos x="T4" y="T5"/>
                  </a:cxn>
                  <a:cxn ang="0">
                    <a:pos x="T6" y="T7"/>
                  </a:cxn>
                  <a:cxn ang="0">
                    <a:pos x="T8" y="T9"/>
                  </a:cxn>
                </a:cxnLst>
                <a:rect l="0" t="0" r="r" b="b"/>
                <a:pathLst>
                  <a:path w="36" h="38">
                    <a:moveTo>
                      <a:pt x="0" y="0"/>
                    </a:moveTo>
                    <a:cubicBezTo>
                      <a:pt x="7" y="38"/>
                      <a:pt x="7" y="38"/>
                      <a:pt x="7" y="38"/>
                    </a:cubicBezTo>
                    <a:cubicBezTo>
                      <a:pt x="36" y="11"/>
                      <a:pt x="36" y="11"/>
                      <a:pt x="36" y="11"/>
                    </a:cubicBezTo>
                    <a:cubicBezTo>
                      <a:pt x="30" y="10"/>
                      <a:pt x="23" y="7"/>
                      <a:pt x="18" y="5"/>
                    </a:cubicBezTo>
                    <a:cubicBezTo>
                      <a:pt x="11" y="4"/>
                      <a:pt x="6" y="2"/>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4" name="Freeform 52">
                <a:extLst>
                  <a:ext uri="{FF2B5EF4-FFF2-40B4-BE49-F238E27FC236}">
                    <a16:creationId xmlns:a16="http://schemas.microsoft.com/office/drawing/2014/main" id="{647EBDFD-928A-4E0D-9020-CD9A9D4685E9}"/>
                  </a:ext>
                </a:extLst>
              </p:cNvPr>
              <p:cNvSpPr>
                <a:spLocks/>
              </p:cNvSpPr>
              <p:nvPr/>
            </p:nvSpPr>
            <p:spPr bwMode="auto">
              <a:xfrm>
                <a:off x="8797925" y="10545763"/>
                <a:ext cx="115888" cy="117475"/>
              </a:xfrm>
              <a:custGeom>
                <a:avLst/>
                <a:gdLst>
                  <a:gd name="T0" fmla="*/ 0 w 36"/>
                  <a:gd name="T1" fmla="*/ 0 h 36"/>
                  <a:gd name="T2" fmla="*/ 15 w 36"/>
                  <a:gd name="T3" fmla="*/ 36 h 36"/>
                  <a:gd name="T4" fmla="*/ 36 w 36"/>
                  <a:gd name="T5" fmla="*/ 4 h 36"/>
                  <a:gd name="T6" fmla="*/ 18 w 36"/>
                  <a:gd name="T7" fmla="*/ 3 h 36"/>
                  <a:gd name="T8" fmla="*/ 0 w 36"/>
                  <a:gd name="T9" fmla="*/ 0 h 36"/>
                </a:gdLst>
                <a:ahLst/>
                <a:cxnLst>
                  <a:cxn ang="0">
                    <a:pos x="T0" y="T1"/>
                  </a:cxn>
                  <a:cxn ang="0">
                    <a:pos x="T2" y="T3"/>
                  </a:cxn>
                  <a:cxn ang="0">
                    <a:pos x="T4" y="T5"/>
                  </a:cxn>
                  <a:cxn ang="0">
                    <a:pos x="T6" y="T7"/>
                  </a:cxn>
                  <a:cxn ang="0">
                    <a:pos x="T8" y="T9"/>
                  </a:cxn>
                </a:cxnLst>
                <a:rect l="0" t="0" r="r" b="b"/>
                <a:pathLst>
                  <a:path w="36" h="36">
                    <a:moveTo>
                      <a:pt x="0" y="0"/>
                    </a:moveTo>
                    <a:cubicBezTo>
                      <a:pt x="15" y="36"/>
                      <a:pt x="15" y="36"/>
                      <a:pt x="15" y="36"/>
                    </a:cubicBezTo>
                    <a:cubicBezTo>
                      <a:pt x="36" y="4"/>
                      <a:pt x="36" y="4"/>
                      <a:pt x="36" y="4"/>
                    </a:cubicBezTo>
                    <a:cubicBezTo>
                      <a:pt x="31" y="4"/>
                      <a:pt x="24" y="4"/>
                      <a:pt x="18" y="3"/>
                    </a:cubicBezTo>
                    <a:cubicBezTo>
                      <a:pt x="11" y="1"/>
                      <a:pt x="6" y="1"/>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5" name="Freeform 53">
                <a:extLst>
                  <a:ext uri="{FF2B5EF4-FFF2-40B4-BE49-F238E27FC236}">
                    <a16:creationId xmlns:a16="http://schemas.microsoft.com/office/drawing/2014/main" id="{F421F8A3-86EC-48DD-B71D-609631806E92}"/>
                  </a:ext>
                </a:extLst>
              </p:cNvPr>
              <p:cNvSpPr>
                <a:spLocks/>
              </p:cNvSpPr>
              <p:nvPr/>
            </p:nvSpPr>
            <p:spPr bwMode="auto">
              <a:xfrm>
                <a:off x="8677275" y="10523538"/>
                <a:ext cx="114300" cy="120650"/>
              </a:xfrm>
              <a:custGeom>
                <a:avLst/>
                <a:gdLst>
                  <a:gd name="T0" fmla="*/ 0 w 36"/>
                  <a:gd name="T1" fmla="*/ 0 h 37"/>
                  <a:gd name="T2" fmla="*/ 11 w 36"/>
                  <a:gd name="T3" fmla="*/ 37 h 37"/>
                  <a:gd name="T4" fmla="*/ 36 w 36"/>
                  <a:gd name="T5" fmla="*/ 7 h 37"/>
                  <a:gd name="T6" fmla="*/ 18 w 36"/>
                  <a:gd name="T7" fmla="*/ 3 h 37"/>
                  <a:gd name="T8" fmla="*/ 0 w 36"/>
                  <a:gd name="T9" fmla="*/ 0 h 37"/>
                </a:gdLst>
                <a:ahLst/>
                <a:cxnLst>
                  <a:cxn ang="0">
                    <a:pos x="T0" y="T1"/>
                  </a:cxn>
                  <a:cxn ang="0">
                    <a:pos x="T2" y="T3"/>
                  </a:cxn>
                  <a:cxn ang="0">
                    <a:pos x="T4" y="T5"/>
                  </a:cxn>
                  <a:cxn ang="0">
                    <a:pos x="T6" y="T7"/>
                  </a:cxn>
                  <a:cxn ang="0">
                    <a:pos x="T8" y="T9"/>
                  </a:cxn>
                </a:cxnLst>
                <a:rect l="0" t="0" r="r" b="b"/>
                <a:pathLst>
                  <a:path w="36" h="37">
                    <a:moveTo>
                      <a:pt x="0" y="0"/>
                    </a:moveTo>
                    <a:cubicBezTo>
                      <a:pt x="11" y="37"/>
                      <a:pt x="11" y="37"/>
                      <a:pt x="11" y="37"/>
                    </a:cubicBezTo>
                    <a:cubicBezTo>
                      <a:pt x="36" y="7"/>
                      <a:pt x="36" y="7"/>
                      <a:pt x="36" y="7"/>
                    </a:cubicBezTo>
                    <a:cubicBezTo>
                      <a:pt x="30" y="6"/>
                      <a:pt x="24" y="5"/>
                      <a:pt x="18" y="3"/>
                    </a:cubicBezTo>
                    <a:cubicBezTo>
                      <a:pt x="11" y="2"/>
                      <a:pt x="6" y="1"/>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6" name="Freeform 54">
                <a:extLst>
                  <a:ext uri="{FF2B5EF4-FFF2-40B4-BE49-F238E27FC236}">
                    <a16:creationId xmlns:a16="http://schemas.microsoft.com/office/drawing/2014/main" id="{19A99B5F-00F5-4BDF-B953-22F2DEC77AD5}"/>
                  </a:ext>
                </a:extLst>
              </p:cNvPr>
              <p:cNvSpPr>
                <a:spLocks/>
              </p:cNvSpPr>
              <p:nvPr/>
            </p:nvSpPr>
            <p:spPr bwMode="auto">
              <a:xfrm>
                <a:off x="10115550" y="9558338"/>
                <a:ext cx="117475" cy="117475"/>
              </a:xfrm>
              <a:custGeom>
                <a:avLst/>
                <a:gdLst>
                  <a:gd name="T0" fmla="*/ 5 w 37"/>
                  <a:gd name="T1" fmla="*/ 20 h 36"/>
                  <a:gd name="T2" fmla="*/ 0 w 37"/>
                  <a:gd name="T3" fmla="*/ 36 h 36"/>
                  <a:gd name="T4" fmla="*/ 37 w 37"/>
                  <a:gd name="T5" fmla="*/ 26 h 36"/>
                  <a:gd name="T6" fmla="*/ 8 w 37"/>
                  <a:gd name="T7" fmla="*/ 0 h 36"/>
                  <a:gd name="T8" fmla="*/ 5 w 37"/>
                  <a:gd name="T9" fmla="*/ 20 h 36"/>
                </a:gdLst>
                <a:ahLst/>
                <a:cxnLst>
                  <a:cxn ang="0">
                    <a:pos x="T0" y="T1"/>
                  </a:cxn>
                  <a:cxn ang="0">
                    <a:pos x="T2" y="T3"/>
                  </a:cxn>
                  <a:cxn ang="0">
                    <a:pos x="T4" y="T5"/>
                  </a:cxn>
                  <a:cxn ang="0">
                    <a:pos x="T6" y="T7"/>
                  </a:cxn>
                  <a:cxn ang="0">
                    <a:pos x="T8" y="T9"/>
                  </a:cxn>
                </a:cxnLst>
                <a:rect l="0" t="0" r="r" b="b"/>
                <a:pathLst>
                  <a:path w="37" h="36">
                    <a:moveTo>
                      <a:pt x="5" y="20"/>
                    </a:moveTo>
                    <a:cubicBezTo>
                      <a:pt x="4" y="25"/>
                      <a:pt x="3" y="30"/>
                      <a:pt x="0" y="36"/>
                    </a:cubicBezTo>
                    <a:cubicBezTo>
                      <a:pt x="37" y="26"/>
                      <a:pt x="37" y="26"/>
                      <a:pt x="37" y="26"/>
                    </a:cubicBezTo>
                    <a:cubicBezTo>
                      <a:pt x="8" y="0"/>
                      <a:pt x="8" y="0"/>
                      <a:pt x="8" y="0"/>
                    </a:cubicBezTo>
                    <a:cubicBezTo>
                      <a:pt x="7" y="7"/>
                      <a:pt x="6" y="13"/>
                      <a:pt x="5" y="2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7" name="Freeform 55">
                <a:extLst>
                  <a:ext uri="{FF2B5EF4-FFF2-40B4-BE49-F238E27FC236}">
                    <a16:creationId xmlns:a16="http://schemas.microsoft.com/office/drawing/2014/main" id="{A07FB277-F7B4-4978-AB4E-E82B186B8DAE}"/>
                  </a:ext>
                </a:extLst>
              </p:cNvPr>
              <p:cNvSpPr>
                <a:spLocks/>
              </p:cNvSpPr>
              <p:nvPr/>
            </p:nvSpPr>
            <p:spPr bwMode="auto">
              <a:xfrm>
                <a:off x="10075863" y="9678988"/>
                <a:ext cx="125413" cy="114300"/>
              </a:xfrm>
              <a:custGeom>
                <a:avLst/>
                <a:gdLst>
                  <a:gd name="T0" fmla="*/ 7 w 39"/>
                  <a:gd name="T1" fmla="*/ 18 h 35"/>
                  <a:gd name="T2" fmla="*/ 0 w 39"/>
                  <a:gd name="T3" fmla="*/ 35 h 35"/>
                  <a:gd name="T4" fmla="*/ 39 w 39"/>
                  <a:gd name="T5" fmla="*/ 29 h 35"/>
                  <a:gd name="T6" fmla="*/ 12 w 39"/>
                  <a:gd name="T7" fmla="*/ 0 h 35"/>
                  <a:gd name="T8" fmla="*/ 7 w 39"/>
                  <a:gd name="T9" fmla="*/ 18 h 35"/>
                </a:gdLst>
                <a:ahLst/>
                <a:cxnLst>
                  <a:cxn ang="0">
                    <a:pos x="T0" y="T1"/>
                  </a:cxn>
                  <a:cxn ang="0">
                    <a:pos x="T2" y="T3"/>
                  </a:cxn>
                  <a:cxn ang="0">
                    <a:pos x="T4" y="T5"/>
                  </a:cxn>
                  <a:cxn ang="0">
                    <a:pos x="T6" y="T7"/>
                  </a:cxn>
                  <a:cxn ang="0">
                    <a:pos x="T8" y="T9"/>
                  </a:cxn>
                </a:cxnLst>
                <a:rect l="0" t="0" r="r" b="b"/>
                <a:pathLst>
                  <a:path w="39" h="35">
                    <a:moveTo>
                      <a:pt x="7" y="18"/>
                    </a:moveTo>
                    <a:cubicBezTo>
                      <a:pt x="5" y="24"/>
                      <a:pt x="3" y="29"/>
                      <a:pt x="0" y="35"/>
                    </a:cubicBezTo>
                    <a:cubicBezTo>
                      <a:pt x="39" y="29"/>
                      <a:pt x="39" y="29"/>
                      <a:pt x="39" y="29"/>
                    </a:cubicBezTo>
                    <a:cubicBezTo>
                      <a:pt x="12" y="0"/>
                      <a:pt x="12" y="0"/>
                      <a:pt x="12" y="0"/>
                    </a:cubicBezTo>
                    <a:cubicBezTo>
                      <a:pt x="10" y="6"/>
                      <a:pt x="9" y="13"/>
                      <a:pt x="7"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8" name="Freeform 56">
                <a:extLst>
                  <a:ext uri="{FF2B5EF4-FFF2-40B4-BE49-F238E27FC236}">
                    <a16:creationId xmlns:a16="http://schemas.microsoft.com/office/drawing/2014/main" id="{A4024F95-D2EB-4E95-AABF-7E828433E09D}"/>
                  </a:ext>
                </a:extLst>
              </p:cNvPr>
              <p:cNvSpPr>
                <a:spLocks/>
              </p:cNvSpPr>
              <p:nvPr/>
            </p:nvSpPr>
            <p:spPr bwMode="auto">
              <a:xfrm>
                <a:off x="8337550" y="10372726"/>
                <a:ext cx="107950" cy="123825"/>
              </a:xfrm>
              <a:custGeom>
                <a:avLst/>
                <a:gdLst>
                  <a:gd name="T0" fmla="*/ 1 w 34"/>
                  <a:gd name="T1" fmla="*/ 0 h 38"/>
                  <a:gd name="T2" fmla="*/ 0 w 34"/>
                  <a:gd name="T3" fmla="*/ 38 h 38"/>
                  <a:gd name="T4" fmla="*/ 34 w 34"/>
                  <a:gd name="T5" fmla="*/ 17 h 38"/>
                  <a:gd name="T6" fmla="*/ 16 w 34"/>
                  <a:gd name="T7" fmla="*/ 9 h 38"/>
                  <a:gd name="T8" fmla="*/ 1 w 34"/>
                  <a:gd name="T9" fmla="*/ 0 h 38"/>
                </a:gdLst>
                <a:ahLst/>
                <a:cxnLst>
                  <a:cxn ang="0">
                    <a:pos x="T0" y="T1"/>
                  </a:cxn>
                  <a:cxn ang="0">
                    <a:pos x="T2" y="T3"/>
                  </a:cxn>
                  <a:cxn ang="0">
                    <a:pos x="T4" y="T5"/>
                  </a:cxn>
                  <a:cxn ang="0">
                    <a:pos x="T6" y="T7"/>
                  </a:cxn>
                  <a:cxn ang="0">
                    <a:pos x="T8" y="T9"/>
                  </a:cxn>
                </a:cxnLst>
                <a:rect l="0" t="0" r="r" b="b"/>
                <a:pathLst>
                  <a:path w="34" h="38">
                    <a:moveTo>
                      <a:pt x="1" y="0"/>
                    </a:moveTo>
                    <a:cubicBezTo>
                      <a:pt x="0" y="38"/>
                      <a:pt x="0" y="38"/>
                      <a:pt x="0" y="38"/>
                    </a:cubicBezTo>
                    <a:cubicBezTo>
                      <a:pt x="34" y="17"/>
                      <a:pt x="34" y="17"/>
                      <a:pt x="34" y="17"/>
                    </a:cubicBezTo>
                    <a:cubicBezTo>
                      <a:pt x="27" y="15"/>
                      <a:pt x="22" y="12"/>
                      <a:pt x="16" y="9"/>
                    </a:cubicBezTo>
                    <a:cubicBezTo>
                      <a:pt x="11" y="6"/>
                      <a:pt x="6" y="3"/>
                      <a:pt x="1"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9" name="Freeform 57">
                <a:extLst>
                  <a:ext uri="{FF2B5EF4-FFF2-40B4-BE49-F238E27FC236}">
                    <a16:creationId xmlns:a16="http://schemas.microsoft.com/office/drawing/2014/main" id="{57A1C22C-074B-4B9A-B32A-62D36E3E6A3F}"/>
                  </a:ext>
                </a:extLst>
              </p:cNvPr>
              <p:cNvSpPr>
                <a:spLocks/>
              </p:cNvSpPr>
              <p:nvPr/>
            </p:nvSpPr>
            <p:spPr bwMode="auto">
              <a:xfrm>
                <a:off x="10140950" y="9434513"/>
                <a:ext cx="114300" cy="120650"/>
              </a:xfrm>
              <a:custGeom>
                <a:avLst/>
                <a:gdLst>
                  <a:gd name="T0" fmla="*/ 2 w 36"/>
                  <a:gd name="T1" fmla="*/ 20 h 37"/>
                  <a:gd name="T2" fmla="*/ 0 w 36"/>
                  <a:gd name="T3" fmla="*/ 37 h 37"/>
                  <a:gd name="T4" fmla="*/ 36 w 36"/>
                  <a:gd name="T5" fmla="*/ 23 h 37"/>
                  <a:gd name="T6" fmla="*/ 4 w 36"/>
                  <a:gd name="T7" fmla="*/ 0 h 37"/>
                  <a:gd name="T8" fmla="*/ 2 w 36"/>
                  <a:gd name="T9" fmla="*/ 20 h 37"/>
                </a:gdLst>
                <a:ahLst/>
                <a:cxnLst>
                  <a:cxn ang="0">
                    <a:pos x="T0" y="T1"/>
                  </a:cxn>
                  <a:cxn ang="0">
                    <a:pos x="T2" y="T3"/>
                  </a:cxn>
                  <a:cxn ang="0">
                    <a:pos x="T4" y="T5"/>
                  </a:cxn>
                  <a:cxn ang="0">
                    <a:pos x="T6" y="T7"/>
                  </a:cxn>
                  <a:cxn ang="0">
                    <a:pos x="T8" y="T9"/>
                  </a:cxn>
                </a:cxnLst>
                <a:rect l="0" t="0" r="r" b="b"/>
                <a:pathLst>
                  <a:path w="36" h="37">
                    <a:moveTo>
                      <a:pt x="2" y="20"/>
                    </a:moveTo>
                    <a:cubicBezTo>
                      <a:pt x="2" y="25"/>
                      <a:pt x="1" y="30"/>
                      <a:pt x="0" y="37"/>
                    </a:cubicBezTo>
                    <a:cubicBezTo>
                      <a:pt x="36" y="23"/>
                      <a:pt x="36" y="23"/>
                      <a:pt x="36" y="23"/>
                    </a:cubicBezTo>
                    <a:cubicBezTo>
                      <a:pt x="4" y="0"/>
                      <a:pt x="4" y="0"/>
                      <a:pt x="4" y="0"/>
                    </a:cubicBezTo>
                    <a:cubicBezTo>
                      <a:pt x="3" y="6"/>
                      <a:pt x="3" y="13"/>
                      <a:pt x="2" y="2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0" name="Freeform 58">
                <a:extLst>
                  <a:ext uri="{FF2B5EF4-FFF2-40B4-BE49-F238E27FC236}">
                    <a16:creationId xmlns:a16="http://schemas.microsoft.com/office/drawing/2014/main" id="{6CCFDD79-D82C-4A0A-BF46-851EFC09BC76}"/>
                  </a:ext>
                </a:extLst>
              </p:cNvPr>
              <p:cNvSpPr>
                <a:spLocks/>
              </p:cNvSpPr>
              <p:nvPr/>
            </p:nvSpPr>
            <p:spPr bwMode="auto">
              <a:xfrm>
                <a:off x="10028238" y="9799638"/>
                <a:ext cx="125413" cy="107950"/>
              </a:xfrm>
              <a:custGeom>
                <a:avLst/>
                <a:gdLst>
                  <a:gd name="T0" fmla="*/ 8 w 39"/>
                  <a:gd name="T1" fmla="*/ 17 h 33"/>
                  <a:gd name="T2" fmla="*/ 0 w 39"/>
                  <a:gd name="T3" fmla="*/ 33 h 33"/>
                  <a:gd name="T4" fmla="*/ 39 w 39"/>
                  <a:gd name="T5" fmla="*/ 30 h 33"/>
                  <a:gd name="T6" fmla="*/ 15 w 39"/>
                  <a:gd name="T7" fmla="*/ 0 h 33"/>
                  <a:gd name="T8" fmla="*/ 8 w 39"/>
                  <a:gd name="T9" fmla="*/ 17 h 33"/>
                </a:gdLst>
                <a:ahLst/>
                <a:cxnLst>
                  <a:cxn ang="0">
                    <a:pos x="T0" y="T1"/>
                  </a:cxn>
                  <a:cxn ang="0">
                    <a:pos x="T2" y="T3"/>
                  </a:cxn>
                  <a:cxn ang="0">
                    <a:pos x="T4" y="T5"/>
                  </a:cxn>
                  <a:cxn ang="0">
                    <a:pos x="T6" y="T7"/>
                  </a:cxn>
                  <a:cxn ang="0">
                    <a:pos x="T8" y="T9"/>
                  </a:cxn>
                </a:cxnLst>
                <a:rect l="0" t="0" r="r" b="b"/>
                <a:pathLst>
                  <a:path w="39" h="33">
                    <a:moveTo>
                      <a:pt x="8" y="17"/>
                    </a:moveTo>
                    <a:cubicBezTo>
                      <a:pt x="6" y="23"/>
                      <a:pt x="3" y="28"/>
                      <a:pt x="0" y="33"/>
                    </a:cubicBezTo>
                    <a:cubicBezTo>
                      <a:pt x="39" y="30"/>
                      <a:pt x="39" y="30"/>
                      <a:pt x="39" y="30"/>
                    </a:cubicBezTo>
                    <a:cubicBezTo>
                      <a:pt x="15" y="0"/>
                      <a:pt x="15" y="0"/>
                      <a:pt x="15" y="0"/>
                    </a:cubicBezTo>
                    <a:cubicBezTo>
                      <a:pt x="13" y="5"/>
                      <a:pt x="10" y="12"/>
                      <a:pt x="8"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1" name="Freeform 59">
                <a:extLst>
                  <a:ext uri="{FF2B5EF4-FFF2-40B4-BE49-F238E27FC236}">
                    <a16:creationId xmlns:a16="http://schemas.microsoft.com/office/drawing/2014/main" id="{4757A5BC-5086-4B5A-9148-7D7598881C7A}"/>
                  </a:ext>
                </a:extLst>
              </p:cNvPr>
              <p:cNvSpPr>
                <a:spLocks/>
              </p:cNvSpPr>
              <p:nvPr/>
            </p:nvSpPr>
            <p:spPr bwMode="auto">
              <a:xfrm>
                <a:off x="9971088" y="9913938"/>
                <a:ext cx="120650" cy="106363"/>
              </a:xfrm>
              <a:custGeom>
                <a:avLst/>
                <a:gdLst>
                  <a:gd name="T0" fmla="*/ 8 w 38"/>
                  <a:gd name="T1" fmla="*/ 16 h 33"/>
                  <a:gd name="T2" fmla="*/ 0 w 38"/>
                  <a:gd name="T3" fmla="*/ 31 h 33"/>
                  <a:gd name="T4" fmla="*/ 38 w 38"/>
                  <a:gd name="T5" fmla="*/ 33 h 33"/>
                  <a:gd name="T6" fmla="*/ 17 w 38"/>
                  <a:gd name="T7" fmla="*/ 0 h 33"/>
                  <a:gd name="T8" fmla="*/ 8 w 38"/>
                  <a:gd name="T9" fmla="*/ 16 h 33"/>
                </a:gdLst>
                <a:ahLst/>
                <a:cxnLst>
                  <a:cxn ang="0">
                    <a:pos x="T0" y="T1"/>
                  </a:cxn>
                  <a:cxn ang="0">
                    <a:pos x="T2" y="T3"/>
                  </a:cxn>
                  <a:cxn ang="0">
                    <a:pos x="T4" y="T5"/>
                  </a:cxn>
                  <a:cxn ang="0">
                    <a:pos x="T6" y="T7"/>
                  </a:cxn>
                  <a:cxn ang="0">
                    <a:pos x="T8" y="T9"/>
                  </a:cxn>
                </a:cxnLst>
                <a:rect l="0" t="0" r="r" b="b"/>
                <a:pathLst>
                  <a:path w="38" h="33">
                    <a:moveTo>
                      <a:pt x="8" y="16"/>
                    </a:moveTo>
                    <a:cubicBezTo>
                      <a:pt x="5" y="21"/>
                      <a:pt x="2" y="26"/>
                      <a:pt x="0" y="31"/>
                    </a:cubicBezTo>
                    <a:cubicBezTo>
                      <a:pt x="38" y="33"/>
                      <a:pt x="38" y="33"/>
                      <a:pt x="38" y="33"/>
                    </a:cubicBezTo>
                    <a:cubicBezTo>
                      <a:pt x="17" y="0"/>
                      <a:pt x="17" y="0"/>
                      <a:pt x="17" y="0"/>
                    </a:cubicBezTo>
                    <a:cubicBezTo>
                      <a:pt x="15" y="5"/>
                      <a:pt x="12" y="11"/>
                      <a:pt x="8"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2" name="Freeform 60">
                <a:extLst>
                  <a:ext uri="{FF2B5EF4-FFF2-40B4-BE49-F238E27FC236}">
                    <a16:creationId xmlns:a16="http://schemas.microsoft.com/office/drawing/2014/main" id="{BE5C6314-E363-4674-8122-6B2B7A91D03F}"/>
                  </a:ext>
                </a:extLst>
              </p:cNvPr>
              <p:cNvSpPr>
                <a:spLocks/>
              </p:cNvSpPr>
              <p:nvPr/>
            </p:nvSpPr>
            <p:spPr bwMode="auto">
              <a:xfrm>
                <a:off x="9723438" y="10213976"/>
                <a:ext cx="112713" cy="123825"/>
              </a:xfrm>
              <a:custGeom>
                <a:avLst/>
                <a:gdLst>
                  <a:gd name="T0" fmla="*/ 13 w 35"/>
                  <a:gd name="T1" fmla="*/ 13 h 38"/>
                  <a:gd name="T2" fmla="*/ 0 w 35"/>
                  <a:gd name="T3" fmla="*/ 24 h 38"/>
                  <a:gd name="T4" fmla="*/ 35 w 35"/>
                  <a:gd name="T5" fmla="*/ 38 h 38"/>
                  <a:gd name="T6" fmla="*/ 27 w 35"/>
                  <a:gd name="T7" fmla="*/ 0 h 38"/>
                  <a:gd name="T8" fmla="*/ 13 w 35"/>
                  <a:gd name="T9" fmla="*/ 13 h 38"/>
                </a:gdLst>
                <a:ahLst/>
                <a:cxnLst>
                  <a:cxn ang="0">
                    <a:pos x="T0" y="T1"/>
                  </a:cxn>
                  <a:cxn ang="0">
                    <a:pos x="T2" y="T3"/>
                  </a:cxn>
                  <a:cxn ang="0">
                    <a:pos x="T4" y="T5"/>
                  </a:cxn>
                  <a:cxn ang="0">
                    <a:pos x="T6" y="T7"/>
                  </a:cxn>
                  <a:cxn ang="0">
                    <a:pos x="T8" y="T9"/>
                  </a:cxn>
                </a:cxnLst>
                <a:rect l="0" t="0" r="r" b="b"/>
                <a:pathLst>
                  <a:path w="35" h="38">
                    <a:moveTo>
                      <a:pt x="13" y="13"/>
                    </a:moveTo>
                    <a:cubicBezTo>
                      <a:pt x="8" y="16"/>
                      <a:pt x="4" y="21"/>
                      <a:pt x="0" y="24"/>
                    </a:cubicBezTo>
                    <a:cubicBezTo>
                      <a:pt x="35" y="38"/>
                      <a:pt x="35" y="38"/>
                      <a:pt x="35" y="38"/>
                    </a:cubicBezTo>
                    <a:cubicBezTo>
                      <a:pt x="27" y="0"/>
                      <a:pt x="27" y="0"/>
                      <a:pt x="27" y="0"/>
                    </a:cubicBezTo>
                    <a:cubicBezTo>
                      <a:pt x="22" y="4"/>
                      <a:pt x="18" y="9"/>
                      <a:pt x="13" y="1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3" name="Freeform 61">
                <a:extLst>
                  <a:ext uri="{FF2B5EF4-FFF2-40B4-BE49-F238E27FC236}">
                    <a16:creationId xmlns:a16="http://schemas.microsoft.com/office/drawing/2014/main" id="{AF91F0A5-269F-4C63-ACCF-98B109694C3A}"/>
                  </a:ext>
                </a:extLst>
              </p:cNvPr>
              <p:cNvSpPr>
                <a:spLocks/>
              </p:cNvSpPr>
              <p:nvPr/>
            </p:nvSpPr>
            <p:spPr bwMode="auto">
              <a:xfrm>
                <a:off x="9813925" y="10121901"/>
                <a:ext cx="122238" cy="117475"/>
              </a:xfrm>
              <a:custGeom>
                <a:avLst/>
                <a:gdLst>
                  <a:gd name="T0" fmla="*/ 12 w 38"/>
                  <a:gd name="T1" fmla="*/ 14 h 36"/>
                  <a:gd name="T2" fmla="*/ 0 w 38"/>
                  <a:gd name="T3" fmla="*/ 27 h 36"/>
                  <a:gd name="T4" fmla="*/ 38 w 38"/>
                  <a:gd name="T5" fmla="*/ 36 h 36"/>
                  <a:gd name="T6" fmla="*/ 25 w 38"/>
                  <a:gd name="T7" fmla="*/ 0 h 36"/>
                  <a:gd name="T8" fmla="*/ 12 w 38"/>
                  <a:gd name="T9" fmla="*/ 14 h 36"/>
                </a:gdLst>
                <a:ahLst/>
                <a:cxnLst>
                  <a:cxn ang="0">
                    <a:pos x="T0" y="T1"/>
                  </a:cxn>
                  <a:cxn ang="0">
                    <a:pos x="T2" y="T3"/>
                  </a:cxn>
                  <a:cxn ang="0">
                    <a:pos x="T4" y="T5"/>
                  </a:cxn>
                  <a:cxn ang="0">
                    <a:pos x="T6" y="T7"/>
                  </a:cxn>
                  <a:cxn ang="0">
                    <a:pos x="T8" y="T9"/>
                  </a:cxn>
                </a:cxnLst>
                <a:rect l="0" t="0" r="r" b="b"/>
                <a:pathLst>
                  <a:path w="38" h="36">
                    <a:moveTo>
                      <a:pt x="12" y="14"/>
                    </a:moveTo>
                    <a:cubicBezTo>
                      <a:pt x="9" y="18"/>
                      <a:pt x="4" y="23"/>
                      <a:pt x="0" y="27"/>
                    </a:cubicBezTo>
                    <a:cubicBezTo>
                      <a:pt x="38" y="36"/>
                      <a:pt x="38" y="36"/>
                      <a:pt x="38" y="36"/>
                    </a:cubicBezTo>
                    <a:cubicBezTo>
                      <a:pt x="25" y="0"/>
                      <a:pt x="25" y="0"/>
                      <a:pt x="25" y="0"/>
                    </a:cubicBezTo>
                    <a:cubicBezTo>
                      <a:pt x="20" y="4"/>
                      <a:pt x="16" y="10"/>
                      <a:pt x="12" y="1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4" name="Freeform 62">
                <a:extLst>
                  <a:ext uri="{FF2B5EF4-FFF2-40B4-BE49-F238E27FC236}">
                    <a16:creationId xmlns:a16="http://schemas.microsoft.com/office/drawing/2014/main" id="{00BE4A8E-80B7-4D54-9A9D-2AA645827DF6}"/>
                  </a:ext>
                </a:extLst>
              </p:cNvPr>
              <p:cNvSpPr>
                <a:spLocks/>
              </p:cNvSpPr>
              <p:nvPr/>
            </p:nvSpPr>
            <p:spPr bwMode="auto">
              <a:xfrm>
                <a:off x="9896475" y="10017126"/>
                <a:ext cx="122238" cy="117475"/>
              </a:xfrm>
              <a:custGeom>
                <a:avLst/>
                <a:gdLst>
                  <a:gd name="T0" fmla="*/ 11 w 38"/>
                  <a:gd name="T1" fmla="*/ 17 h 36"/>
                  <a:gd name="T2" fmla="*/ 0 w 38"/>
                  <a:gd name="T3" fmla="*/ 30 h 36"/>
                  <a:gd name="T4" fmla="*/ 38 w 38"/>
                  <a:gd name="T5" fmla="*/ 36 h 36"/>
                  <a:gd name="T6" fmla="*/ 22 w 38"/>
                  <a:gd name="T7" fmla="*/ 0 h 36"/>
                  <a:gd name="T8" fmla="*/ 11 w 38"/>
                  <a:gd name="T9" fmla="*/ 17 h 36"/>
                </a:gdLst>
                <a:ahLst/>
                <a:cxnLst>
                  <a:cxn ang="0">
                    <a:pos x="T0" y="T1"/>
                  </a:cxn>
                  <a:cxn ang="0">
                    <a:pos x="T2" y="T3"/>
                  </a:cxn>
                  <a:cxn ang="0">
                    <a:pos x="T4" y="T5"/>
                  </a:cxn>
                  <a:cxn ang="0">
                    <a:pos x="T6" y="T7"/>
                  </a:cxn>
                  <a:cxn ang="0">
                    <a:pos x="T8" y="T9"/>
                  </a:cxn>
                </a:cxnLst>
                <a:rect l="0" t="0" r="r" b="b"/>
                <a:pathLst>
                  <a:path w="38" h="36">
                    <a:moveTo>
                      <a:pt x="11" y="17"/>
                    </a:moveTo>
                    <a:cubicBezTo>
                      <a:pt x="6" y="21"/>
                      <a:pt x="3" y="25"/>
                      <a:pt x="0" y="30"/>
                    </a:cubicBezTo>
                    <a:cubicBezTo>
                      <a:pt x="38" y="36"/>
                      <a:pt x="38" y="36"/>
                      <a:pt x="38" y="36"/>
                    </a:cubicBezTo>
                    <a:cubicBezTo>
                      <a:pt x="22" y="0"/>
                      <a:pt x="22" y="0"/>
                      <a:pt x="22" y="0"/>
                    </a:cubicBezTo>
                    <a:cubicBezTo>
                      <a:pt x="18" y="6"/>
                      <a:pt x="14" y="11"/>
                      <a:pt x="11"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5" name="Freeform 63">
                <a:extLst>
                  <a:ext uri="{FF2B5EF4-FFF2-40B4-BE49-F238E27FC236}">
                    <a16:creationId xmlns:a16="http://schemas.microsoft.com/office/drawing/2014/main" id="{B4D94310-6307-4C37-A68D-EF358E75EB23}"/>
                  </a:ext>
                </a:extLst>
              </p:cNvPr>
              <p:cNvSpPr>
                <a:spLocks/>
              </p:cNvSpPr>
              <p:nvPr/>
            </p:nvSpPr>
            <p:spPr bwMode="auto">
              <a:xfrm>
                <a:off x="9625013" y="10294938"/>
                <a:ext cx="107950" cy="127000"/>
              </a:xfrm>
              <a:custGeom>
                <a:avLst/>
                <a:gdLst>
                  <a:gd name="T0" fmla="*/ 14 w 34"/>
                  <a:gd name="T1" fmla="*/ 12 h 39"/>
                  <a:gd name="T2" fmla="*/ 0 w 34"/>
                  <a:gd name="T3" fmla="*/ 22 h 39"/>
                  <a:gd name="T4" fmla="*/ 34 w 34"/>
                  <a:gd name="T5" fmla="*/ 39 h 39"/>
                  <a:gd name="T6" fmla="*/ 29 w 34"/>
                  <a:gd name="T7" fmla="*/ 0 h 39"/>
                  <a:gd name="T8" fmla="*/ 14 w 34"/>
                  <a:gd name="T9" fmla="*/ 12 h 39"/>
                </a:gdLst>
                <a:ahLst/>
                <a:cxnLst>
                  <a:cxn ang="0">
                    <a:pos x="T0" y="T1"/>
                  </a:cxn>
                  <a:cxn ang="0">
                    <a:pos x="T2" y="T3"/>
                  </a:cxn>
                  <a:cxn ang="0">
                    <a:pos x="T4" y="T5"/>
                  </a:cxn>
                  <a:cxn ang="0">
                    <a:pos x="T6" y="T7"/>
                  </a:cxn>
                  <a:cxn ang="0">
                    <a:pos x="T8" y="T9"/>
                  </a:cxn>
                </a:cxnLst>
                <a:rect l="0" t="0" r="r" b="b"/>
                <a:pathLst>
                  <a:path w="34" h="39">
                    <a:moveTo>
                      <a:pt x="14" y="12"/>
                    </a:moveTo>
                    <a:cubicBezTo>
                      <a:pt x="9" y="15"/>
                      <a:pt x="4" y="19"/>
                      <a:pt x="0" y="22"/>
                    </a:cubicBezTo>
                    <a:cubicBezTo>
                      <a:pt x="34" y="39"/>
                      <a:pt x="34" y="39"/>
                      <a:pt x="34" y="39"/>
                    </a:cubicBezTo>
                    <a:cubicBezTo>
                      <a:pt x="29" y="0"/>
                      <a:pt x="29" y="0"/>
                      <a:pt x="29" y="0"/>
                    </a:cubicBezTo>
                    <a:cubicBezTo>
                      <a:pt x="24" y="4"/>
                      <a:pt x="20" y="8"/>
                      <a:pt x="14" y="12"/>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6" name="Freeform 64">
                <a:extLst>
                  <a:ext uri="{FF2B5EF4-FFF2-40B4-BE49-F238E27FC236}">
                    <a16:creationId xmlns:a16="http://schemas.microsoft.com/office/drawing/2014/main" id="{9B069F1D-CFB6-4F03-B96E-63E5042D56D9}"/>
                  </a:ext>
                </a:extLst>
              </p:cNvPr>
              <p:cNvSpPr>
                <a:spLocks/>
              </p:cNvSpPr>
              <p:nvPr/>
            </p:nvSpPr>
            <p:spPr bwMode="auto">
              <a:xfrm>
                <a:off x="7805738" y="9802813"/>
                <a:ext cx="123825" cy="111125"/>
              </a:xfrm>
              <a:custGeom>
                <a:avLst/>
                <a:gdLst>
                  <a:gd name="T0" fmla="*/ 30 w 39"/>
                  <a:gd name="T1" fmla="*/ 16 h 34"/>
                  <a:gd name="T2" fmla="*/ 23 w 39"/>
                  <a:gd name="T3" fmla="*/ 0 h 34"/>
                  <a:gd name="T4" fmla="*/ 0 w 39"/>
                  <a:gd name="T5" fmla="*/ 30 h 34"/>
                  <a:gd name="T6" fmla="*/ 39 w 39"/>
                  <a:gd name="T7" fmla="*/ 34 h 34"/>
                  <a:gd name="T8" fmla="*/ 30 w 39"/>
                  <a:gd name="T9" fmla="*/ 16 h 34"/>
                </a:gdLst>
                <a:ahLst/>
                <a:cxnLst>
                  <a:cxn ang="0">
                    <a:pos x="T0" y="T1"/>
                  </a:cxn>
                  <a:cxn ang="0">
                    <a:pos x="T2" y="T3"/>
                  </a:cxn>
                  <a:cxn ang="0">
                    <a:pos x="T4" y="T5"/>
                  </a:cxn>
                  <a:cxn ang="0">
                    <a:pos x="T6" y="T7"/>
                  </a:cxn>
                  <a:cxn ang="0">
                    <a:pos x="T8" y="T9"/>
                  </a:cxn>
                </a:cxnLst>
                <a:rect l="0" t="0" r="r" b="b"/>
                <a:pathLst>
                  <a:path w="39" h="34">
                    <a:moveTo>
                      <a:pt x="30" y="16"/>
                    </a:moveTo>
                    <a:cubicBezTo>
                      <a:pt x="28" y="11"/>
                      <a:pt x="26" y="5"/>
                      <a:pt x="23" y="0"/>
                    </a:cubicBezTo>
                    <a:cubicBezTo>
                      <a:pt x="0" y="30"/>
                      <a:pt x="0" y="30"/>
                      <a:pt x="0" y="30"/>
                    </a:cubicBezTo>
                    <a:cubicBezTo>
                      <a:pt x="39" y="34"/>
                      <a:pt x="39" y="34"/>
                      <a:pt x="39" y="34"/>
                    </a:cubicBezTo>
                    <a:cubicBezTo>
                      <a:pt x="35" y="28"/>
                      <a:pt x="33" y="22"/>
                      <a:pt x="30"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7" name="Freeform 65">
                <a:extLst>
                  <a:ext uri="{FF2B5EF4-FFF2-40B4-BE49-F238E27FC236}">
                    <a16:creationId xmlns:a16="http://schemas.microsoft.com/office/drawing/2014/main" id="{1B5B7D76-96F1-4AA7-B7A1-DBEF107D0A74}"/>
                  </a:ext>
                </a:extLst>
              </p:cNvPr>
              <p:cNvSpPr>
                <a:spLocks/>
              </p:cNvSpPr>
              <p:nvPr/>
            </p:nvSpPr>
            <p:spPr bwMode="auto">
              <a:xfrm>
                <a:off x="7693025" y="9317038"/>
                <a:ext cx="106363" cy="117475"/>
              </a:xfrm>
              <a:custGeom>
                <a:avLst/>
                <a:gdLst>
                  <a:gd name="T0" fmla="*/ 67 w 67"/>
                  <a:gd name="T1" fmla="*/ 35 h 74"/>
                  <a:gd name="T2" fmla="*/ 67 w 67"/>
                  <a:gd name="T3" fmla="*/ 0 h 74"/>
                  <a:gd name="T4" fmla="*/ 0 w 67"/>
                  <a:gd name="T5" fmla="*/ 35 h 74"/>
                  <a:gd name="T6" fmla="*/ 67 w 67"/>
                  <a:gd name="T7" fmla="*/ 74 h 74"/>
                  <a:gd name="T8" fmla="*/ 67 w 67"/>
                  <a:gd name="T9" fmla="*/ 35 h 74"/>
                </a:gdLst>
                <a:ahLst/>
                <a:cxnLst>
                  <a:cxn ang="0">
                    <a:pos x="T0" y="T1"/>
                  </a:cxn>
                  <a:cxn ang="0">
                    <a:pos x="T2" y="T3"/>
                  </a:cxn>
                  <a:cxn ang="0">
                    <a:pos x="T4" y="T5"/>
                  </a:cxn>
                  <a:cxn ang="0">
                    <a:pos x="T6" y="T7"/>
                  </a:cxn>
                  <a:cxn ang="0">
                    <a:pos x="T8" y="T9"/>
                  </a:cxn>
                </a:cxnLst>
                <a:rect l="0" t="0" r="r" b="b"/>
                <a:pathLst>
                  <a:path w="67" h="74">
                    <a:moveTo>
                      <a:pt x="67" y="35"/>
                    </a:moveTo>
                    <a:lnTo>
                      <a:pt x="67" y="0"/>
                    </a:lnTo>
                    <a:lnTo>
                      <a:pt x="0" y="35"/>
                    </a:lnTo>
                    <a:lnTo>
                      <a:pt x="67" y="74"/>
                    </a:lnTo>
                    <a:lnTo>
                      <a:pt x="67" y="3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8" name="Freeform 66">
                <a:extLst>
                  <a:ext uri="{FF2B5EF4-FFF2-40B4-BE49-F238E27FC236}">
                    <a16:creationId xmlns:a16="http://schemas.microsoft.com/office/drawing/2014/main" id="{A8AB1E54-991E-4DD8-9CCA-26DDDB1FF133}"/>
                  </a:ext>
                </a:extLst>
              </p:cNvPr>
              <p:cNvSpPr>
                <a:spLocks/>
              </p:cNvSpPr>
              <p:nvPr/>
            </p:nvSpPr>
            <p:spPr bwMode="auto">
              <a:xfrm>
                <a:off x="7753350" y="9685338"/>
                <a:ext cx="122238" cy="114300"/>
              </a:xfrm>
              <a:custGeom>
                <a:avLst/>
                <a:gdLst>
                  <a:gd name="T0" fmla="*/ 32 w 38"/>
                  <a:gd name="T1" fmla="*/ 16 h 35"/>
                  <a:gd name="T2" fmla="*/ 27 w 38"/>
                  <a:gd name="T3" fmla="*/ 0 h 35"/>
                  <a:gd name="T4" fmla="*/ 0 w 38"/>
                  <a:gd name="T5" fmla="*/ 27 h 35"/>
                  <a:gd name="T6" fmla="*/ 38 w 38"/>
                  <a:gd name="T7" fmla="*/ 35 h 35"/>
                  <a:gd name="T8" fmla="*/ 32 w 38"/>
                  <a:gd name="T9" fmla="*/ 16 h 35"/>
                </a:gdLst>
                <a:ahLst/>
                <a:cxnLst>
                  <a:cxn ang="0">
                    <a:pos x="T0" y="T1"/>
                  </a:cxn>
                  <a:cxn ang="0">
                    <a:pos x="T2" y="T3"/>
                  </a:cxn>
                  <a:cxn ang="0">
                    <a:pos x="T4" y="T5"/>
                  </a:cxn>
                  <a:cxn ang="0">
                    <a:pos x="T6" y="T7"/>
                  </a:cxn>
                  <a:cxn ang="0">
                    <a:pos x="T8" y="T9"/>
                  </a:cxn>
                </a:cxnLst>
                <a:rect l="0" t="0" r="r" b="b"/>
                <a:pathLst>
                  <a:path w="38" h="35">
                    <a:moveTo>
                      <a:pt x="32" y="16"/>
                    </a:moveTo>
                    <a:cubicBezTo>
                      <a:pt x="31" y="11"/>
                      <a:pt x="29" y="6"/>
                      <a:pt x="27" y="0"/>
                    </a:cubicBezTo>
                    <a:cubicBezTo>
                      <a:pt x="0" y="27"/>
                      <a:pt x="0" y="27"/>
                      <a:pt x="0" y="27"/>
                    </a:cubicBezTo>
                    <a:cubicBezTo>
                      <a:pt x="38" y="35"/>
                      <a:pt x="38" y="35"/>
                      <a:pt x="38" y="35"/>
                    </a:cubicBezTo>
                    <a:cubicBezTo>
                      <a:pt x="36" y="28"/>
                      <a:pt x="34" y="23"/>
                      <a:pt x="32"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9" name="Freeform 67">
                <a:extLst>
                  <a:ext uri="{FF2B5EF4-FFF2-40B4-BE49-F238E27FC236}">
                    <a16:creationId xmlns:a16="http://schemas.microsoft.com/office/drawing/2014/main" id="{64E79E58-3116-45F4-9656-345A980D9CEE}"/>
                  </a:ext>
                </a:extLst>
              </p:cNvPr>
              <p:cNvSpPr>
                <a:spLocks/>
              </p:cNvSpPr>
              <p:nvPr/>
            </p:nvSpPr>
            <p:spPr bwMode="auto">
              <a:xfrm>
                <a:off x="7699375" y="9440863"/>
                <a:ext cx="115888" cy="117475"/>
              </a:xfrm>
              <a:custGeom>
                <a:avLst/>
                <a:gdLst>
                  <a:gd name="T0" fmla="*/ 34 w 36"/>
                  <a:gd name="T1" fmla="*/ 18 h 36"/>
                  <a:gd name="T2" fmla="*/ 31 w 36"/>
                  <a:gd name="T3" fmla="*/ 0 h 36"/>
                  <a:gd name="T4" fmla="*/ 0 w 36"/>
                  <a:gd name="T5" fmla="*/ 21 h 36"/>
                  <a:gd name="T6" fmla="*/ 36 w 36"/>
                  <a:gd name="T7" fmla="*/ 36 h 36"/>
                  <a:gd name="T8" fmla="*/ 34 w 36"/>
                  <a:gd name="T9" fmla="*/ 18 h 36"/>
                </a:gdLst>
                <a:ahLst/>
                <a:cxnLst>
                  <a:cxn ang="0">
                    <a:pos x="T0" y="T1"/>
                  </a:cxn>
                  <a:cxn ang="0">
                    <a:pos x="T2" y="T3"/>
                  </a:cxn>
                  <a:cxn ang="0">
                    <a:pos x="T4" y="T5"/>
                  </a:cxn>
                  <a:cxn ang="0">
                    <a:pos x="T6" y="T7"/>
                  </a:cxn>
                  <a:cxn ang="0">
                    <a:pos x="T8" y="T9"/>
                  </a:cxn>
                </a:cxnLst>
                <a:rect l="0" t="0" r="r" b="b"/>
                <a:pathLst>
                  <a:path w="36" h="36">
                    <a:moveTo>
                      <a:pt x="34" y="18"/>
                    </a:moveTo>
                    <a:cubicBezTo>
                      <a:pt x="33" y="12"/>
                      <a:pt x="33" y="6"/>
                      <a:pt x="31" y="0"/>
                    </a:cubicBezTo>
                    <a:cubicBezTo>
                      <a:pt x="0" y="21"/>
                      <a:pt x="0" y="21"/>
                      <a:pt x="0" y="21"/>
                    </a:cubicBezTo>
                    <a:cubicBezTo>
                      <a:pt x="36" y="36"/>
                      <a:pt x="36" y="36"/>
                      <a:pt x="36" y="36"/>
                    </a:cubicBezTo>
                    <a:cubicBezTo>
                      <a:pt x="35" y="31"/>
                      <a:pt x="34" y="24"/>
                      <a:pt x="34"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0" name="Freeform 68">
                <a:extLst>
                  <a:ext uri="{FF2B5EF4-FFF2-40B4-BE49-F238E27FC236}">
                    <a16:creationId xmlns:a16="http://schemas.microsoft.com/office/drawing/2014/main" id="{F3D18DDA-F3E4-4169-9255-3385C748F48F}"/>
                  </a:ext>
                </a:extLst>
              </p:cNvPr>
              <p:cNvSpPr>
                <a:spLocks/>
              </p:cNvSpPr>
              <p:nvPr/>
            </p:nvSpPr>
            <p:spPr bwMode="auto">
              <a:xfrm>
                <a:off x="7862888" y="9917113"/>
                <a:ext cx="125413" cy="103188"/>
              </a:xfrm>
              <a:custGeom>
                <a:avLst/>
                <a:gdLst>
                  <a:gd name="T0" fmla="*/ 29 w 39"/>
                  <a:gd name="T1" fmla="*/ 15 h 32"/>
                  <a:gd name="T2" fmla="*/ 22 w 39"/>
                  <a:gd name="T3" fmla="*/ 0 h 32"/>
                  <a:gd name="T4" fmla="*/ 0 w 39"/>
                  <a:gd name="T5" fmla="*/ 32 h 32"/>
                  <a:gd name="T6" fmla="*/ 39 w 39"/>
                  <a:gd name="T7" fmla="*/ 31 h 32"/>
                  <a:gd name="T8" fmla="*/ 29 w 39"/>
                  <a:gd name="T9" fmla="*/ 15 h 32"/>
                </a:gdLst>
                <a:ahLst/>
                <a:cxnLst>
                  <a:cxn ang="0">
                    <a:pos x="T0" y="T1"/>
                  </a:cxn>
                  <a:cxn ang="0">
                    <a:pos x="T2" y="T3"/>
                  </a:cxn>
                  <a:cxn ang="0">
                    <a:pos x="T4" y="T5"/>
                  </a:cxn>
                  <a:cxn ang="0">
                    <a:pos x="T6" y="T7"/>
                  </a:cxn>
                  <a:cxn ang="0">
                    <a:pos x="T8" y="T9"/>
                  </a:cxn>
                </a:cxnLst>
                <a:rect l="0" t="0" r="r" b="b"/>
                <a:pathLst>
                  <a:path w="39" h="32">
                    <a:moveTo>
                      <a:pt x="29" y="15"/>
                    </a:moveTo>
                    <a:cubicBezTo>
                      <a:pt x="26" y="11"/>
                      <a:pt x="24" y="5"/>
                      <a:pt x="22" y="0"/>
                    </a:cubicBezTo>
                    <a:cubicBezTo>
                      <a:pt x="0" y="32"/>
                      <a:pt x="0" y="32"/>
                      <a:pt x="0" y="32"/>
                    </a:cubicBezTo>
                    <a:cubicBezTo>
                      <a:pt x="39" y="31"/>
                      <a:pt x="39" y="31"/>
                      <a:pt x="39" y="31"/>
                    </a:cubicBezTo>
                    <a:cubicBezTo>
                      <a:pt x="36" y="26"/>
                      <a:pt x="33" y="20"/>
                      <a:pt x="29" y="1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1" name="Freeform 69">
                <a:extLst>
                  <a:ext uri="{FF2B5EF4-FFF2-40B4-BE49-F238E27FC236}">
                    <a16:creationId xmlns:a16="http://schemas.microsoft.com/office/drawing/2014/main" id="{BD806C26-EE85-4970-9C2A-528BDF29FF2B}"/>
                  </a:ext>
                </a:extLst>
              </p:cNvPr>
              <p:cNvSpPr>
                <a:spLocks/>
              </p:cNvSpPr>
              <p:nvPr/>
            </p:nvSpPr>
            <p:spPr bwMode="auto">
              <a:xfrm>
                <a:off x="8115300" y="8410576"/>
                <a:ext cx="115888" cy="123825"/>
              </a:xfrm>
              <a:custGeom>
                <a:avLst/>
                <a:gdLst>
                  <a:gd name="T0" fmla="*/ 23 w 36"/>
                  <a:gd name="T1" fmla="*/ 25 h 38"/>
                  <a:gd name="T2" fmla="*/ 36 w 36"/>
                  <a:gd name="T3" fmla="*/ 14 h 38"/>
                  <a:gd name="T4" fmla="*/ 0 w 36"/>
                  <a:gd name="T5" fmla="*/ 0 h 38"/>
                  <a:gd name="T6" fmla="*/ 9 w 36"/>
                  <a:gd name="T7" fmla="*/ 38 h 38"/>
                  <a:gd name="T8" fmla="*/ 23 w 36"/>
                  <a:gd name="T9" fmla="*/ 25 h 38"/>
                </a:gdLst>
                <a:ahLst/>
                <a:cxnLst>
                  <a:cxn ang="0">
                    <a:pos x="T0" y="T1"/>
                  </a:cxn>
                  <a:cxn ang="0">
                    <a:pos x="T2" y="T3"/>
                  </a:cxn>
                  <a:cxn ang="0">
                    <a:pos x="T4" y="T5"/>
                  </a:cxn>
                  <a:cxn ang="0">
                    <a:pos x="T6" y="T7"/>
                  </a:cxn>
                  <a:cxn ang="0">
                    <a:pos x="T8" y="T9"/>
                  </a:cxn>
                </a:cxnLst>
                <a:rect l="0" t="0" r="r" b="b"/>
                <a:pathLst>
                  <a:path w="36" h="38">
                    <a:moveTo>
                      <a:pt x="23" y="25"/>
                    </a:moveTo>
                    <a:cubicBezTo>
                      <a:pt x="28" y="20"/>
                      <a:pt x="32" y="17"/>
                      <a:pt x="36" y="14"/>
                    </a:cubicBezTo>
                    <a:cubicBezTo>
                      <a:pt x="0" y="0"/>
                      <a:pt x="0" y="0"/>
                      <a:pt x="0" y="0"/>
                    </a:cubicBezTo>
                    <a:cubicBezTo>
                      <a:pt x="9" y="38"/>
                      <a:pt x="9" y="38"/>
                      <a:pt x="9" y="38"/>
                    </a:cubicBezTo>
                    <a:cubicBezTo>
                      <a:pt x="13" y="33"/>
                      <a:pt x="18" y="29"/>
                      <a:pt x="23" y="2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2" name="Freeform 70">
                <a:extLst>
                  <a:ext uri="{FF2B5EF4-FFF2-40B4-BE49-F238E27FC236}">
                    <a16:creationId xmlns:a16="http://schemas.microsoft.com/office/drawing/2014/main" id="{D1F166CC-A9D5-40D6-9E20-C879C3D0F74A}"/>
                  </a:ext>
                </a:extLst>
              </p:cNvPr>
              <p:cNvSpPr>
                <a:spLocks/>
              </p:cNvSpPr>
              <p:nvPr/>
            </p:nvSpPr>
            <p:spPr bwMode="auto">
              <a:xfrm>
                <a:off x="8115300" y="10217151"/>
                <a:ext cx="119063" cy="120650"/>
              </a:xfrm>
              <a:custGeom>
                <a:avLst/>
                <a:gdLst>
                  <a:gd name="T0" fmla="*/ 23 w 37"/>
                  <a:gd name="T1" fmla="*/ 12 h 37"/>
                  <a:gd name="T2" fmla="*/ 10 w 37"/>
                  <a:gd name="T3" fmla="*/ 0 h 37"/>
                  <a:gd name="T4" fmla="*/ 0 w 37"/>
                  <a:gd name="T5" fmla="*/ 37 h 37"/>
                  <a:gd name="T6" fmla="*/ 37 w 37"/>
                  <a:gd name="T7" fmla="*/ 24 h 37"/>
                  <a:gd name="T8" fmla="*/ 23 w 37"/>
                  <a:gd name="T9" fmla="*/ 12 h 37"/>
                </a:gdLst>
                <a:ahLst/>
                <a:cxnLst>
                  <a:cxn ang="0">
                    <a:pos x="T0" y="T1"/>
                  </a:cxn>
                  <a:cxn ang="0">
                    <a:pos x="T2" y="T3"/>
                  </a:cxn>
                  <a:cxn ang="0">
                    <a:pos x="T4" y="T5"/>
                  </a:cxn>
                  <a:cxn ang="0">
                    <a:pos x="T6" y="T7"/>
                  </a:cxn>
                  <a:cxn ang="0">
                    <a:pos x="T8" y="T9"/>
                  </a:cxn>
                </a:cxnLst>
                <a:rect l="0" t="0" r="r" b="b"/>
                <a:pathLst>
                  <a:path w="37" h="37">
                    <a:moveTo>
                      <a:pt x="23" y="12"/>
                    </a:moveTo>
                    <a:cubicBezTo>
                      <a:pt x="19" y="8"/>
                      <a:pt x="14" y="5"/>
                      <a:pt x="10" y="0"/>
                    </a:cubicBezTo>
                    <a:cubicBezTo>
                      <a:pt x="0" y="37"/>
                      <a:pt x="0" y="37"/>
                      <a:pt x="0" y="37"/>
                    </a:cubicBezTo>
                    <a:cubicBezTo>
                      <a:pt x="37" y="24"/>
                      <a:pt x="37" y="24"/>
                      <a:pt x="37" y="24"/>
                    </a:cubicBezTo>
                    <a:cubicBezTo>
                      <a:pt x="33" y="21"/>
                      <a:pt x="28" y="17"/>
                      <a:pt x="23" y="12"/>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3" name="Freeform 71">
                <a:extLst>
                  <a:ext uri="{FF2B5EF4-FFF2-40B4-BE49-F238E27FC236}">
                    <a16:creationId xmlns:a16="http://schemas.microsoft.com/office/drawing/2014/main" id="{EE67210D-1A53-4DEE-BEB0-D1252288B74C}"/>
                  </a:ext>
                </a:extLst>
              </p:cNvPr>
              <p:cNvSpPr>
                <a:spLocks/>
              </p:cNvSpPr>
              <p:nvPr/>
            </p:nvSpPr>
            <p:spPr bwMode="auto">
              <a:xfrm>
                <a:off x="8221663" y="10298113"/>
                <a:ext cx="115888" cy="123825"/>
              </a:xfrm>
              <a:custGeom>
                <a:avLst/>
                <a:gdLst>
                  <a:gd name="T0" fmla="*/ 20 w 36"/>
                  <a:gd name="T1" fmla="*/ 11 h 38"/>
                  <a:gd name="T2" fmla="*/ 7 w 36"/>
                  <a:gd name="T3" fmla="*/ 0 h 38"/>
                  <a:gd name="T4" fmla="*/ 0 w 36"/>
                  <a:gd name="T5" fmla="*/ 38 h 38"/>
                  <a:gd name="T6" fmla="*/ 36 w 36"/>
                  <a:gd name="T7" fmla="*/ 22 h 38"/>
                  <a:gd name="T8" fmla="*/ 20 w 36"/>
                  <a:gd name="T9" fmla="*/ 11 h 38"/>
                </a:gdLst>
                <a:ahLst/>
                <a:cxnLst>
                  <a:cxn ang="0">
                    <a:pos x="T0" y="T1"/>
                  </a:cxn>
                  <a:cxn ang="0">
                    <a:pos x="T2" y="T3"/>
                  </a:cxn>
                  <a:cxn ang="0">
                    <a:pos x="T4" y="T5"/>
                  </a:cxn>
                  <a:cxn ang="0">
                    <a:pos x="T6" y="T7"/>
                  </a:cxn>
                  <a:cxn ang="0">
                    <a:pos x="T8" y="T9"/>
                  </a:cxn>
                </a:cxnLst>
                <a:rect l="0" t="0" r="r" b="b"/>
                <a:pathLst>
                  <a:path w="36" h="38">
                    <a:moveTo>
                      <a:pt x="20" y="11"/>
                    </a:moveTo>
                    <a:cubicBezTo>
                      <a:pt x="15" y="8"/>
                      <a:pt x="11" y="3"/>
                      <a:pt x="7" y="0"/>
                    </a:cubicBezTo>
                    <a:cubicBezTo>
                      <a:pt x="0" y="38"/>
                      <a:pt x="0" y="38"/>
                      <a:pt x="0" y="38"/>
                    </a:cubicBezTo>
                    <a:cubicBezTo>
                      <a:pt x="36" y="22"/>
                      <a:pt x="36" y="22"/>
                      <a:pt x="36" y="22"/>
                    </a:cubicBezTo>
                    <a:cubicBezTo>
                      <a:pt x="30" y="19"/>
                      <a:pt x="25" y="14"/>
                      <a:pt x="20" y="11"/>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4" name="Freeform 72">
                <a:extLst>
                  <a:ext uri="{FF2B5EF4-FFF2-40B4-BE49-F238E27FC236}">
                    <a16:creationId xmlns:a16="http://schemas.microsoft.com/office/drawing/2014/main" id="{7657B17E-E9BF-4F42-975D-21AFF66A593C}"/>
                  </a:ext>
                </a:extLst>
              </p:cNvPr>
              <p:cNvSpPr>
                <a:spLocks/>
              </p:cNvSpPr>
              <p:nvPr/>
            </p:nvSpPr>
            <p:spPr bwMode="auto">
              <a:xfrm>
                <a:off x="8023225" y="10125076"/>
                <a:ext cx="122238" cy="117475"/>
              </a:xfrm>
              <a:custGeom>
                <a:avLst/>
                <a:gdLst>
                  <a:gd name="T0" fmla="*/ 25 w 38"/>
                  <a:gd name="T1" fmla="*/ 13 h 36"/>
                  <a:gd name="T2" fmla="*/ 13 w 38"/>
                  <a:gd name="T3" fmla="*/ 0 h 36"/>
                  <a:gd name="T4" fmla="*/ 0 w 38"/>
                  <a:gd name="T5" fmla="*/ 36 h 36"/>
                  <a:gd name="T6" fmla="*/ 38 w 38"/>
                  <a:gd name="T7" fmla="*/ 27 h 36"/>
                  <a:gd name="T8" fmla="*/ 25 w 38"/>
                  <a:gd name="T9" fmla="*/ 13 h 36"/>
                </a:gdLst>
                <a:ahLst/>
                <a:cxnLst>
                  <a:cxn ang="0">
                    <a:pos x="T0" y="T1"/>
                  </a:cxn>
                  <a:cxn ang="0">
                    <a:pos x="T2" y="T3"/>
                  </a:cxn>
                  <a:cxn ang="0">
                    <a:pos x="T4" y="T5"/>
                  </a:cxn>
                  <a:cxn ang="0">
                    <a:pos x="T6" y="T7"/>
                  </a:cxn>
                  <a:cxn ang="0">
                    <a:pos x="T8" y="T9"/>
                  </a:cxn>
                </a:cxnLst>
                <a:rect l="0" t="0" r="r" b="b"/>
                <a:pathLst>
                  <a:path w="38" h="36">
                    <a:moveTo>
                      <a:pt x="25" y="13"/>
                    </a:moveTo>
                    <a:cubicBezTo>
                      <a:pt x="21" y="9"/>
                      <a:pt x="17" y="4"/>
                      <a:pt x="13" y="0"/>
                    </a:cubicBezTo>
                    <a:cubicBezTo>
                      <a:pt x="0" y="36"/>
                      <a:pt x="0" y="36"/>
                      <a:pt x="0" y="36"/>
                    </a:cubicBezTo>
                    <a:cubicBezTo>
                      <a:pt x="38" y="27"/>
                      <a:pt x="38" y="27"/>
                      <a:pt x="38" y="27"/>
                    </a:cubicBezTo>
                    <a:cubicBezTo>
                      <a:pt x="34" y="23"/>
                      <a:pt x="29" y="17"/>
                      <a:pt x="25" y="1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5" name="Freeform 73">
                <a:extLst>
                  <a:ext uri="{FF2B5EF4-FFF2-40B4-BE49-F238E27FC236}">
                    <a16:creationId xmlns:a16="http://schemas.microsoft.com/office/drawing/2014/main" id="{00B103C1-35AB-4A77-92F1-CF8282ED4140}"/>
                  </a:ext>
                </a:extLst>
              </p:cNvPr>
              <p:cNvSpPr>
                <a:spLocks/>
              </p:cNvSpPr>
              <p:nvPr/>
            </p:nvSpPr>
            <p:spPr bwMode="auto">
              <a:xfrm>
                <a:off x="7718425" y="9564688"/>
                <a:ext cx="119063" cy="117475"/>
              </a:xfrm>
              <a:custGeom>
                <a:avLst/>
                <a:gdLst>
                  <a:gd name="T0" fmla="*/ 33 w 37"/>
                  <a:gd name="T1" fmla="*/ 16 h 36"/>
                  <a:gd name="T2" fmla="*/ 30 w 37"/>
                  <a:gd name="T3" fmla="*/ 0 h 36"/>
                  <a:gd name="T4" fmla="*/ 0 w 37"/>
                  <a:gd name="T5" fmla="*/ 24 h 36"/>
                  <a:gd name="T6" fmla="*/ 37 w 37"/>
                  <a:gd name="T7" fmla="*/ 36 h 36"/>
                  <a:gd name="T8" fmla="*/ 33 w 37"/>
                  <a:gd name="T9" fmla="*/ 16 h 36"/>
                </a:gdLst>
                <a:ahLst/>
                <a:cxnLst>
                  <a:cxn ang="0">
                    <a:pos x="T0" y="T1"/>
                  </a:cxn>
                  <a:cxn ang="0">
                    <a:pos x="T2" y="T3"/>
                  </a:cxn>
                  <a:cxn ang="0">
                    <a:pos x="T4" y="T5"/>
                  </a:cxn>
                  <a:cxn ang="0">
                    <a:pos x="T6" y="T7"/>
                  </a:cxn>
                  <a:cxn ang="0">
                    <a:pos x="T8" y="T9"/>
                  </a:cxn>
                </a:cxnLst>
                <a:rect l="0" t="0" r="r" b="b"/>
                <a:pathLst>
                  <a:path w="37" h="36">
                    <a:moveTo>
                      <a:pt x="33" y="16"/>
                    </a:moveTo>
                    <a:cubicBezTo>
                      <a:pt x="32" y="11"/>
                      <a:pt x="31" y="6"/>
                      <a:pt x="30" y="0"/>
                    </a:cubicBezTo>
                    <a:cubicBezTo>
                      <a:pt x="0" y="24"/>
                      <a:pt x="0" y="24"/>
                      <a:pt x="0" y="24"/>
                    </a:cubicBezTo>
                    <a:cubicBezTo>
                      <a:pt x="37" y="36"/>
                      <a:pt x="37" y="36"/>
                      <a:pt x="37" y="36"/>
                    </a:cubicBezTo>
                    <a:cubicBezTo>
                      <a:pt x="36" y="30"/>
                      <a:pt x="34" y="23"/>
                      <a:pt x="33"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6" name="Freeform 74">
                <a:extLst>
                  <a:ext uri="{FF2B5EF4-FFF2-40B4-BE49-F238E27FC236}">
                    <a16:creationId xmlns:a16="http://schemas.microsoft.com/office/drawing/2014/main" id="{E9B5B611-5349-4419-A803-99B680199152}"/>
                  </a:ext>
                </a:extLst>
              </p:cNvPr>
              <p:cNvSpPr>
                <a:spLocks/>
              </p:cNvSpPr>
              <p:nvPr/>
            </p:nvSpPr>
            <p:spPr bwMode="auto">
              <a:xfrm>
                <a:off x="8020050" y="8505826"/>
                <a:ext cx="122238" cy="120650"/>
              </a:xfrm>
              <a:custGeom>
                <a:avLst/>
                <a:gdLst>
                  <a:gd name="T0" fmla="*/ 26 w 38"/>
                  <a:gd name="T1" fmla="*/ 23 h 37"/>
                  <a:gd name="T2" fmla="*/ 38 w 38"/>
                  <a:gd name="T3" fmla="*/ 10 h 37"/>
                  <a:gd name="T4" fmla="*/ 0 w 38"/>
                  <a:gd name="T5" fmla="*/ 0 h 37"/>
                  <a:gd name="T6" fmla="*/ 13 w 38"/>
                  <a:gd name="T7" fmla="*/ 37 h 37"/>
                  <a:gd name="T8" fmla="*/ 26 w 38"/>
                  <a:gd name="T9" fmla="*/ 23 h 37"/>
                </a:gdLst>
                <a:ahLst/>
                <a:cxnLst>
                  <a:cxn ang="0">
                    <a:pos x="T0" y="T1"/>
                  </a:cxn>
                  <a:cxn ang="0">
                    <a:pos x="T2" y="T3"/>
                  </a:cxn>
                  <a:cxn ang="0">
                    <a:pos x="T4" y="T5"/>
                  </a:cxn>
                  <a:cxn ang="0">
                    <a:pos x="T6" y="T7"/>
                  </a:cxn>
                  <a:cxn ang="0">
                    <a:pos x="T8" y="T9"/>
                  </a:cxn>
                </a:cxnLst>
                <a:rect l="0" t="0" r="r" b="b"/>
                <a:pathLst>
                  <a:path w="38" h="37">
                    <a:moveTo>
                      <a:pt x="26" y="23"/>
                    </a:moveTo>
                    <a:cubicBezTo>
                      <a:pt x="29" y="19"/>
                      <a:pt x="34" y="14"/>
                      <a:pt x="38" y="10"/>
                    </a:cubicBezTo>
                    <a:cubicBezTo>
                      <a:pt x="0" y="0"/>
                      <a:pt x="0" y="0"/>
                      <a:pt x="0" y="0"/>
                    </a:cubicBezTo>
                    <a:cubicBezTo>
                      <a:pt x="13" y="37"/>
                      <a:pt x="13" y="37"/>
                      <a:pt x="13" y="37"/>
                    </a:cubicBezTo>
                    <a:cubicBezTo>
                      <a:pt x="17" y="33"/>
                      <a:pt x="22" y="27"/>
                      <a:pt x="26" y="2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7" name="Freeform 75">
                <a:extLst>
                  <a:ext uri="{FF2B5EF4-FFF2-40B4-BE49-F238E27FC236}">
                    <a16:creationId xmlns:a16="http://schemas.microsoft.com/office/drawing/2014/main" id="{AA3FAB74-A841-44EF-AC0A-8E909E286378}"/>
                  </a:ext>
                </a:extLst>
              </p:cNvPr>
              <p:cNvSpPr>
                <a:spLocks/>
              </p:cNvSpPr>
              <p:nvPr/>
            </p:nvSpPr>
            <p:spPr bwMode="auto">
              <a:xfrm>
                <a:off x="7862888" y="8726488"/>
                <a:ext cx="122238" cy="107950"/>
              </a:xfrm>
              <a:custGeom>
                <a:avLst/>
                <a:gdLst>
                  <a:gd name="T0" fmla="*/ 29 w 38"/>
                  <a:gd name="T1" fmla="*/ 16 h 33"/>
                  <a:gd name="T2" fmla="*/ 38 w 38"/>
                  <a:gd name="T3" fmla="*/ 2 h 33"/>
                  <a:gd name="T4" fmla="*/ 0 w 38"/>
                  <a:gd name="T5" fmla="*/ 0 h 33"/>
                  <a:gd name="T6" fmla="*/ 21 w 38"/>
                  <a:gd name="T7" fmla="*/ 33 h 33"/>
                  <a:gd name="T8" fmla="*/ 29 w 38"/>
                  <a:gd name="T9" fmla="*/ 16 h 33"/>
                </a:gdLst>
                <a:ahLst/>
                <a:cxnLst>
                  <a:cxn ang="0">
                    <a:pos x="T0" y="T1"/>
                  </a:cxn>
                  <a:cxn ang="0">
                    <a:pos x="T2" y="T3"/>
                  </a:cxn>
                  <a:cxn ang="0">
                    <a:pos x="T4" y="T5"/>
                  </a:cxn>
                  <a:cxn ang="0">
                    <a:pos x="T6" y="T7"/>
                  </a:cxn>
                  <a:cxn ang="0">
                    <a:pos x="T8" y="T9"/>
                  </a:cxn>
                </a:cxnLst>
                <a:rect l="0" t="0" r="r" b="b"/>
                <a:pathLst>
                  <a:path w="38" h="33">
                    <a:moveTo>
                      <a:pt x="29" y="16"/>
                    </a:moveTo>
                    <a:cubicBezTo>
                      <a:pt x="33" y="11"/>
                      <a:pt x="36" y="6"/>
                      <a:pt x="38" y="2"/>
                    </a:cubicBezTo>
                    <a:cubicBezTo>
                      <a:pt x="0" y="0"/>
                      <a:pt x="0" y="0"/>
                      <a:pt x="0" y="0"/>
                    </a:cubicBezTo>
                    <a:cubicBezTo>
                      <a:pt x="21" y="33"/>
                      <a:pt x="21" y="33"/>
                      <a:pt x="21" y="33"/>
                    </a:cubicBezTo>
                    <a:cubicBezTo>
                      <a:pt x="23" y="28"/>
                      <a:pt x="26" y="21"/>
                      <a:pt x="29"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8" name="Freeform 76">
                <a:extLst>
                  <a:ext uri="{FF2B5EF4-FFF2-40B4-BE49-F238E27FC236}">
                    <a16:creationId xmlns:a16="http://schemas.microsoft.com/office/drawing/2014/main" id="{F2C55F97-278D-449A-974B-6E7C0733C17F}"/>
                  </a:ext>
                </a:extLst>
              </p:cNvPr>
              <p:cNvSpPr>
                <a:spLocks/>
              </p:cNvSpPr>
              <p:nvPr/>
            </p:nvSpPr>
            <p:spPr bwMode="auto">
              <a:xfrm>
                <a:off x="7805738" y="8837613"/>
                <a:ext cx="120650" cy="111125"/>
              </a:xfrm>
              <a:custGeom>
                <a:avLst/>
                <a:gdLst>
                  <a:gd name="T0" fmla="*/ 30 w 38"/>
                  <a:gd name="T1" fmla="*/ 17 h 34"/>
                  <a:gd name="T2" fmla="*/ 38 w 38"/>
                  <a:gd name="T3" fmla="*/ 0 h 34"/>
                  <a:gd name="T4" fmla="*/ 0 w 38"/>
                  <a:gd name="T5" fmla="*/ 2 h 34"/>
                  <a:gd name="T6" fmla="*/ 22 w 38"/>
                  <a:gd name="T7" fmla="*/ 34 h 34"/>
                  <a:gd name="T8" fmla="*/ 30 w 38"/>
                  <a:gd name="T9" fmla="*/ 17 h 34"/>
                </a:gdLst>
                <a:ahLst/>
                <a:cxnLst>
                  <a:cxn ang="0">
                    <a:pos x="T0" y="T1"/>
                  </a:cxn>
                  <a:cxn ang="0">
                    <a:pos x="T2" y="T3"/>
                  </a:cxn>
                  <a:cxn ang="0">
                    <a:pos x="T4" y="T5"/>
                  </a:cxn>
                  <a:cxn ang="0">
                    <a:pos x="T6" y="T7"/>
                  </a:cxn>
                  <a:cxn ang="0">
                    <a:pos x="T8" y="T9"/>
                  </a:cxn>
                </a:cxnLst>
                <a:rect l="0" t="0" r="r" b="b"/>
                <a:pathLst>
                  <a:path w="38" h="34">
                    <a:moveTo>
                      <a:pt x="30" y="17"/>
                    </a:moveTo>
                    <a:cubicBezTo>
                      <a:pt x="32" y="11"/>
                      <a:pt x="35" y="6"/>
                      <a:pt x="38" y="0"/>
                    </a:cubicBezTo>
                    <a:cubicBezTo>
                      <a:pt x="0" y="2"/>
                      <a:pt x="0" y="2"/>
                      <a:pt x="0" y="2"/>
                    </a:cubicBezTo>
                    <a:cubicBezTo>
                      <a:pt x="22" y="34"/>
                      <a:pt x="22" y="34"/>
                      <a:pt x="22" y="34"/>
                    </a:cubicBezTo>
                    <a:cubicBezTo>
                      <a:pt x="25" y="28"/>
                      <a:pt x="28" y="22"/>
                      <a:pt x="30"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9" name="Freeform 77">
                <a:extLst>
                  <a:ext uri="{FF2B5EF4-FFF2-40B4-BE49-F238E27FC236}">
                    <a16:creationId xmlns:a16="http://schemas.microsoft.com/office/drawing/2014/main" id="{9305BCC6-882B-4F86-9299-BD916BE62BE0}"/>
                  </a:ext>
                </a:extLst>
              </p:cNvPr>
              <p:cNvSpPr>
                <a:spLocks/>
              </p:cNvSpPr>
              <p:nvPr/>
            </p:nvSpPr>
            <p:spPr bwMode="auto">
              <a:xfrm>
                <a:off x="7935913" y="10028238"/>
                <a:ext cx="125413" cy="106363"/>
              </a:xfrm>
              <a:custGeom>
                <a:avLst/>
                <a:gdLst>
                  <a:gd name="T0" fmla="*/ 27 w 39"/>
                  <a:gd name="T1" fmla="*/ 14 h 33"/>
                  <a:gd name="T2" fmla="*/ 17 w 39"/>
                  <a:gd name="T3" fmla="*/ 0 h 33"/>
                  <a:gd name="T4" fmla="*/ 0 w 39"/>
                  <a:gd name="T5" fmla="*/ 33 h 33"/>
                  <a:gd name="T6" fmla="*/ 39 w 39"/>
                  <a:gd name="T7" fmla="*/ 29 h 33"/>
                  <a:gd name="T8" fmla="*/ 27 w 39"/>
                  <a:gd name="T9" fmla="*/ 14 h 33"/>
                </a:gdLst>
                <a:ahLst/>
                <a:cxnLst>
                  <a:cxn ang="0">
                    <a:pos x="T0" y="T1"/>
                  </a:cxn>
                  <a:cxn ang="0">
                    <a:pos x="T2" y="T3"/>
                  </a:cxn>
                  <a:cxn ang="0">
                    <a:pos x="T4" y="T5"/>
                  </a:cxn>
                  <a:cxn ang="0">
                    <a:pos x="T6" y="T7"/>
                  </a:cxn>
                  <a:cxn ang="0">
                    <a:pos x="T8" y="T9"/>
                  </a:cxn>
                </a:cxnLst>
                <a:rect l="0" t="0" r="r" b="b"/>
                <a:pathLst>
                  <a:path w="39" h="33">
                    <a:moveTo>
                      <a:pt x="27" y="14"/>
                    </a:moveTo>
                    <a:cubicBezTo>
                      <a:pt x="24" y="8"/>
                      <a:pt x="21" y="4"/>
                      <a:pt x="17" y="0"/>
                    </a:cubicBezTo>
                    <a:cubicBezTo>
                      <a:pt x="0" y="33"/>
                      <a:pt x="0" y="33"/>
                      <a:pt x="0" y="33"/>
                    </a:cubicBezTo>
                    <a:cubicBezTo>
                      <a:pt x="39" y="29"/>
                      <a:pt x="39" y="29"/>
                      <a:pt x="39" y="29"/>
                    </a:cubicBezTo>
                    <a:cubicBezTo>
                      <a:pt x="36" y="23"/>
                      <a:pt x="31" y="18"/>
                      <a:pt x="27" y="1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0" name="Freeform 78">
                <a:extLst>
                  <a:ext uri="{FF2B5EF4-FFF2-40B4-BE49-F238E27FC236}">
                    <a16:creationId xmlns:a16="http://schemas.microsoft.com/office/drawing/2014/main" id="{1ECF191B-496C-4E57-9AA5-A85B999503AA}"/>
                  </a:ext>
                </a:extLst>
              </p:cNvPr>
              <p:cNvSpPr>
                <a:spLocks/>
              </p:cNvSpPr>
              <p:nvPr/>
            </p:nvSpPr>
            <p:spPr bwMode="auto">
              <a:xfrm>
                <a:off x="7753350" y="8951913"/>
                <a:ext cx="122238" cy="114300"/>
              </a:xfrm>
              <a:custGeom>
                <a:avLst/>
                <a:gdLst>
                  <a:gd name="T0" fmla="*/ 32 w 38"/>
                  <a:gd name="T1" fmla="*/ 16 h 35"/>
                  <a:gd name="T2" fmla="*/ 38 w 38"/>
                  <a:gd name="T3" fmla="*/ 0 h 35"/>
                  <a:gd name="T4" fmla="*/ 0 w 38"/>
                  <a:gd name="T5" fmla="*/ 7 h 35"/>
                  <a:gd name="T6" fmla="*/ 26 w 38"/>
                  <a:gd name="T7" fmla="*/ 35 h 35"/>
                  <a:gd name="T8" fmla="*/ 32 w 38"/>
                  <a:gd name="T9" fmla="*/ 16 h 35"/>
                </a:gdLst>
                <a:ahLst/>
                <a:cxnLst>
                  <a:cxn ang="0">
                    <a:pos x="T0" y="T1"/>
                  </a:cxn>
                  <a:cxn ang="0">
                    <a:pos x="T2" y="T3"/>
                  </a:cxn>
                  <a:cxn ang="0">
                    <a:pos x="T4" y="T5"/>
                  </a:cxn>
                  <a:cxn ang="0">
                    <a:pos x="T6" y="T7"/>
                  </a:cxn>
                  <a:cxn ang="0">
                    <a:pos x="T8" y="T9"/>
                  </a:cxn>
                </a:cxnLst>
                <a:rect l="0" t="0" r="r" b="b"/>
                <a:pathLst>
                  <a:path w="38" h="35">
                    <a:moveTo>
                      <a:pt x="32" y="16"/>
                    </a:moveTo>
                    <a:cubicBezTo>
                      <a:pt x="34" y="11"/>
                      <a:pt x="36" y="6"/>
                      <a:pt x="38" y="0"/>
                    </a:cubicBezTo>
                    <a:cubicBezTo>
                      <a:pt x="0" y="7"/>
                      <a:pt x="0" y="7"/>
                      <a:pt x="0" y="7"/>
                    </a:cubicBezTo>
                    <a:cubicBezTo>
                      <a:pt x="26" y="35"/>
                      <a:pt x="26" y="35"/>
                      <a:pt x="26" y="35"/>
                    </a:cubicBezTo>
                    <a:cubicBezTo>
                      <a:pt x="29" y="29"/>
                      <a:pt x="31" y="23"/>
                      <a:pt x="32"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1" name="Freeform 79">
                <a:extLst>
                  <a:ext uri="{FF2B5EF4-FFF2-40B4-BE49-F238E27FC236}">
                    <a16:creationId xmlns:a16="http://schemas.microsoft.com/office/drawing/2014/main" id="{5B026312-F4F5-4863-BBEA-BA014B90DDA0}"/>
                  </a:ext>
                </a:extLst>
              </p:cNvPr>
              <p:cNvSpPr>
                <a:spLocks/>
              </p:cNvSpPr>
              <p:nvPr/>
            </p:nvSpPr>
            <p:spPr bwMode="auto">
              <a:xfrm>
                <a:off x="7699375" y="9193213"/>
                <a:ext cx="115888" cy="117475"/>
              </a:xfrm>
              <a:custGeom>
                <a:avLst/>
                <a:gdLst>
                  <a:gd name="T0" fmla="*/ 34 w 36"/>
                  <a:gd name="T1" fmla="*/ 17 h 36"/>
                  <a:gd name="T2" fmla="*/ 36 w 36"/>
                  <a:gd name="T3" fmla="*/ 0 h 36"/>
                  <a:gd name="T4" fmla="*/ 0 w 36"/>
                  <a:gd name="T5" fmla="*/ 14 h 36"/>
                  <a:gd name="T6" fmla="*/ 31 w 36"/>
                  <a:gd name="T7" fmla="*/ 36 h 36"/>
                  <a:gd name="T8" fmla="*/ 34 w 36"/>
                  <a:gd name="T9" fmla="*/ 17 h 36"/>
                </a:gdLst>
                <a:ahLst/>
                <a:cxnLst>
                  <a:cxn ang="0">
                    <a:pos x="T0" y="T1"/>
                  </a:cxn>
                  <a:cxn ang="0">
                    <a:pos x="T2" y="T3"/>
                  </a:cxn>
                  <a:cxn ang="0">
                    <a:pos x="T4" y="T5"/>
                  </a:cxn>
                  <a:cxn ang="0">
                    <a:pos x="T6" y="T7"/>
                  </a:cxn>
                  <a:cxn ang="0">
                    <a:pos x="T8" y="T9"/>
                  </a:cxn>
                </a:cxnLst>
                <a:rect l="0" t="0" r="r" b="b"/>
                <a:pathLst>
                  <a:path w="36" h="36">
                    <a:moveTo>
                      <a:pt x="34" y="17"/>
                    </a:moveTo>
                    <a:cubicBezTo>
                      <a:pt x="34" y="11"/>
                      <a:pt x="35" y="5"/>
                      <a:pt x="36" y="0"/>
                    </a:cubicBezTo>
                    <a:cubicBezTo>
                      <a:pt x="0" y="14"/>
                      <a:pt x="0" y="14"/>
                      <a:pt x="0" y="14"/>
                    </a:cubicBezTo>
                    <a:cubicBezTo>
                      <a:pt x="31" y="36"/>
                      <a:pt x="31" y="36"/>
                      <a:pt x="31" y="36"/>
                    </a:cubicBezTo>
                    <a:cubicBezTo>
                      <a:pt x="33" y="30"/>
                      <a:pt x="33" y="24"/>
                      <a:pt x="34"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2" name="Freeform 80">
                <a:extLst>
                  <a:ext uri="{FF2B5EF4-FFF2-40B4-BE49-F238E27FC236}">
                    <a16:creationId xmlns:a16="http://schemas.microsoft.com/office/drawing/2014/main" id="{321515C4-CF76-4A81-A2DD-C51D360ED68A}"/>
                  </a:ext>
                </a:extLst>
              </p:cNvPr>
              <p:cNvSpPr>
                <a:spLocks/>
              </p:cNvSpPr>
              <p:nvPr/>
            </p:nvSpPr>
            <p:spPr bwMode="auto">
              <a:xfrm>
                <a:off x="7718425" y="9072563"/>
                <a:ext cx="119063" cy="117475"/>
              </a:xfrm>
              <a:custGeom>
                <a:avLst/>
                <a:gdLst>
                  <a:gd name="T0" fmla="*/ 33 w 37"/>
                  <a:gd name="T1" fmla="*/ 16 h 36"/>
                  <a:gd name="T2" fmla="*/ 37 w 37"/>
                  <a:gd name="T3" fmla="*/ 0 h 36"/>
                  <a:gd name="T4" fmla="*/ 0 w 37"/>
                  <a:gd name="T5" fmla="*/ 10 h 36"/>
                  <a:gd name="T6" fmla="*/ 30 w 37"/>
                  <a:gd name="T7" fmla="*/ 36 h 36"/>
                  <a:gd name="T8" fmla="*/ 33 w 37"/>
                  <a:gd name="T9" fmla="*/ 16 h 36"/>
                </a:gdLst>
                <a:ahLst/>
                <a:cxnLst>
                  <a:cxn ang="0">
                    <a:pos x="T0" y="T1"/>
                  </a:cxn>
                  <a:cxn ang="0">
                    <a:pos x="T2" y="T3"/>
                  </a:cxn>
                  <a:cxn ang="0">
                    <a:pos x="T4" y="T5"/>
                  </a:cxn>
                  <a:cxn ang="0">
                    <a:pos x="T6" y="T7"/>
                  </a:cxn>
                  <a:cxn ang="0">
                    <a:pos x="T8" y="T9"/>
                  </a:cxn>
                </a:cxnLst>
                <a:rect l="0" t="0" r="r" b="b"/>
                <a:pathLst>
                  <a:path w="37" h="36">
                    <a:moveTo>
                      <a:pt x="33" y="16"/>
                    </a:moveTo>
                    <a:cubicBezTo>
                      <a:pt x="34" y="11"/>
                      <a:pt x="36" y="6"/>
                      <a:pt x="37" y="0"/>
                    </a:cubicBezTo>
                    <a:cubicBezTo>
                      <a:pt x="0" y="10"/>
                      <a:pt x="0" y="10"/>
                      <a:pt x="0" y="10"/>
                    </a:cubicBezTo>
                    <a:cubicBezTo>
                      <a:pt x="30" y="36"/>
                      <a:pt x="30" y="36"/>
                      <a:pt x="30" y="36"/>
                    </a:cubicBezTo>
                    <a:cubicBezTo>
                      <a:pt x="31" y="29"/>
                      <a:pt x="32" y="23"/>
                      <a:pt x="33"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grpSp>
        <p:grpSp>
          <p:nvGrpSpPr>
            <p:cNvPr id="136" name="Group 135">
              <a:extLst>
                <a:ext uri="{FF2B5EF4-FFF2-40B4-BE49-F238E27FC236}">
                  <a16:creationId xmlns:a16="http://schemas.microsoft.com/office/drawing/2014/main" id="{8CD388DC-8FC8-4815-B7B0-34E9F7C88D4C}"/>
                </a:ext>
              </a:extLst>
            </p:cNvPr>
            <p:cNvGrpSpPr/>
            <p:nvPr/>
          </p:nvGrpSpPr>
          <p:grpSpPr>
            <a:xfrm>
              <a:off x="10197128" y="14781024"/>
              <a:ext cx="4100716" cy="1026626"/>
              <a:chOff x="7289800" y="11063288"/>
              <a:chExt cx="3373438" cy="844550"/>
            </a:xfrm>
          </p:grpSpPr>
          <p:sp>
            <p:nvSpPr>
              <p:cNvPr id="137" name="Rectangle 81">
                <a:extLst>
                  <a:ext uri="{FF2B5EF4-FFF2-40B4-BE49-F238E27FC236}">
                    <a16:creationId xmlns:a16="http://schemas.microsoft.com/office/drawing/2014/main" id="{47B8FBCA-4FB6-43F7-AB2D-0100CD925B9D}"/>
                  </a:ext>
                </a:extLst>
              </p:cNvPr>
              <p:cNvSpPr>
                <a:spLocks noChangeArrowheads="1"/>
              </p:cNvSpPr>
              <p:nvPr userDrawn="1"/>
            </p:nvSpPr>
            <p:spPr bwMode="auto">
              <a:xfrm>
                <a:off x="7289800" y="11063288"/>
                <a:ext cx="3373438" cy="8445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ZA" sz="900" dirty="0"/>
              </a:p>
            </p:txBody>
          </p:sp>
          <p:sp>
            <p:nvSpPr>
              <p:cNvPr id="138" name="Freeform 82">
                <a:extLst>
                  <a:ext uri="{FF2B5EF4-FFF2-40B4-BE49-F238E27FC236}">
                    <a16:creationId xmlns:a16="http://schemas.microsoft.com/office/drawing/2014/main" id="{F7C98B1B-BEE7-47EF-9EA7-0C5171B84DF6}"/>
                  </a:ext>
                </a:extLst>
              </p:cNvPr>
              <p:cNvSpPr>
                <a:spLocks/>
              </p:cNvSpPr>
              <p:nvPr/>
            </p:nvSpPr>
            <p:spPr bwMode="auto">
              <a:xfrm>
                <a:off x="7334250" y="11699876"/>
                <a:ext cx="3286125" cy="165100"/>
              </a:xfrm>
              <a:custGeom>
                <a:avLst/>
                <a:gdLst>
                  <a:gd name="T0" fmla="*/ 2070 w 2070"/>
                  <a:gd name="T1" fmla="*/ 0 h 104"/>
                  <a:gd name="T2" fmla="*/ 1035 w 2070"/>
                  <a:gd name="T3" fmla="*/ 0 h 104"/>
                  <a:gd name="T4" fmla="*/ 1035 w 2070"/>
                  <a:gd name="T5" fmla="*/ 33 h 104"/>
                  <a:gd name="T6" fmla="*/ 0 w 2070"/>
                  <a:gd name="T7" fmla="*/ 33 h 104"/>
                  <a:gd name="T8" fmla="*/ 0 w 2070"/>
                  <a:gd name="T9" fmla="*/ 104 h 104"/>
                  <a:gd name="T10" fmla="*/ 1065 w 2070"/>
                  <a:gd name="T11" fmla="*/ 104 h 104"/>
                  <a:gd name="T12" fmla="*/ 1065 w 2070"/>
                  <a:gd name="T13" fmla="*/ 104 h 104"/>
                  <a:gd name="T14" fmla="*/ 2070 w 2070"/>
                  <a:gd name="T15" fmla="*/ 104 h 104"/>
                  <a:gd name="T16" fmla="*/ 2070 w 2070"/>
                  <a:gd name="T17"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70" h="104">
                    <a:moveTo>
                      <a:pt x="2070" y="0"/>
                    </a:moveTo>
                    <a:lnTo>
                      <a:pt x="1035" y="0"/>
                    </a:lnTo>
                    <a:lnTo>
                      <a:pt x="1035" y="33"/>
                    </a:lnTo>
                    <a:lnTo>
                      <a:pt x="0" y="33"/>
                    </a:lnTo>
                    <a:lnTo>
                      <a:pt x="0" y="104"/>
                    </a:lnTo>
                    <a:lnTo>
                      <a:pt x="1065" y="104"/>
                    </a:lnTo>
                    <a:lnTo>
                      <a:pt x="1065" y="104"/>
                    </a:lnTo>
                    <a:lnTo>
                      <a:pt x="2070" y="104"/>
                    </a:lnTo>
                    <a:lnTo>
                      <a:pt x="2070" y="0"/>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39" name="Freeform 83">
                <a:extLst>
                  <a:ext uri="{FF2B5EF4-FFF2-40B4-BE49-F238E27FC236}">
                    <a16:creationId xmlns:a16="http://schemas.microsoft.com/office/drawing/2014/main" id="{E90A1EC0-5044-477F-AE95-8A6F905AB84F}"/>
                  </a:ext>
                </a:extLst>
              </p:cNvPr>
              <p:cNvSpPr>
                <a:spLocks noEditPoints="1"/>
              </p:cNvSpPr>
              <p:nvPr/>
            </p:nvSpPr>
            <p:spPr bwMode="auto">
              <a:xfrm>
                <a:off x="7440613" y="11106151"/>
                <a:ext cx="3074988" cy="430213"/>
              </a:xfrm>
              <a:custGeom>
                <a:avLst/>
                <a:gdLst>
                  <a:gd name="T0" fmla="*/ 1735 w 1937"/>
                  <a:gd name="T1" fmla="*/ 170 h 271"/>
                  <a:gd name="T2" fmla="*/ 1937 w 1937"/>
                  <a:gd name="T3" fmla="*/ 170 h 271"/>
                  <a:gd name="T4" fmla="*/ 1937 w 1937"/>
                  <a:gd name="T5" fmla="*/ 238 h 271"/>
                  <a:gd name="T6" fmla="*/ 1808 w 1937"/>
                  <a:gd name="T7" fmla="*/ 271 h 271"/>
                  <a:gd name="T8" fmla="*/ 1463 w 1937"/>
                  <a:gd name="T9" fmla="*/ 271 h 271"/>
                  <a:gd name="T10" fmla="*/ 1333 w 1937"/>
                  <a:gd name="T11" fmla="*/ 236 h 271"/>
                  <a:gd name="T12" fmla="*/ 1333 w 1937"/>
                  <a:gd name="T13" fmla="*/ 35 h 271"/>
                  <a:gd name="T14" fmla="*/ 1463 w 1937"/>
                  <a:gd name="T15" fmla="*/ 0 h 271"/>
                  <a:gd name="T16" fmla="*/ 1808 w 1937"/>
                  <a:gd name="T17" fmla="*/ 0 h 271"/>
                  <a:gd name="T18" fmla="*/ 1937 w 1937"/>
                  <a:gd name="T19" fmla="*/ 31 h 271"/>
                  <a:gd name="T20" fmla="*/ 1937 w 1937"/>
                  <a:gd name="T21" fmla="*/ 101 h 271"/>
                  <a:gd name="T22" fmla="*/ 1735 w 1937"/>
                  <a:gd name="T23" fmla="*/ 101 h 271"/>
                  <a:gd name="T24" fmla="*/ 1735 w 1937"/>
                  <a:gd name="T25" fmla="*/ 68 h 271"/>
                  <a:gd name="T26" fmla="*/ 1533 w 1937"/>
                  <a:gd name="T27" fmla="*/ 68 h 271"/>
                  <a:gd name="T28" fmla="*/ 1533 w 1937"/>
                  <a:gd name="T29" fmla="*/ 203 h 271"/>
                  <a:gd name="T30" fmla="*/ 1735 w 1937"/>
                  <a:gd name="T31" fmla="*/ 203 h 271"/>
                  <a:gd name="T32" fmla="*/ 1735 w 1937"/>
                  <a:gd name="T33" fmla="*/ 170 h 271"/>
                  <a:gd name="T34" fmla="*/ 197 w 1937"/>
                  <a:gd name="T35" fmla="*/ 133 h 271"/>
                  <a:gd name="T36" fmla="*/ 401 w 1937"/>
                  <a:gd name="T37" fmla="*/ 133 h 271"/>
                  <a:gd name="T38" fmla="*/ 401 w 1937"/>
                  <a:gd name="T39" fmla="*/ 68 h 271"/>
                  <a:gd name="T40" fmla="*/ 197 w 1937"/>
                  <a:gd name="T41" fmla="*/ 68 h 271"/>
                  <a:gd name="T42" fmla="*/ 197 w 1937"/>
                  <a:gd name="T43" fmla="*/ 133 h 271"/>
                  <a:gd name="T44" fmla="*/ 0 w 1937"/>
                  <a:gd name="T45" fmla="*/ 0 h 271"/>
                  <a:gd name="T46" fmla="*/ 472 w 1937"/>
                  <a:gd name="T47" fmla="*/ 0 h 271"/>
                  <a:gd name="T48" fmla="*/ 601 w 1937"/>
                  <a:gd name="T49" fmla="*/ 35 h 271"/>
                  <a:gd name="T50" fmla="*/ 601 w 1937"/>
                  <a:gd name="T51" fmla="*/ 170 h 271"/>
                  <a:gd name="T52" fmla="*/ 472 w 1937"/>
                  <a:gd name="T53" fmla="*/ 207 h 271"/>
                  <a:gd name="T54" fmla="*/ 197 w 1937"/>
                  <a:gd name="T55" fmla="*/ 207 h 271"/>
                  <a:gd name="T56" fmla="*/ 197 w 1937"/>
                  <a:gd name="T57" fmla="*/ 271 h 271"/>
                  <a:gd name="T58" fmla="*/ 0 w 1937"/>
                  <a:gd name="T59" fmla="*/ 271 h 271"/>
                  <a:gd name="T60" fmla="*/ 0 w 1937"/>
                  <a:gd name="T61" fmla="*/ 0 h 271"/>
                  <a:gd name="T62" fmla="*/ 867 w 1937"/>
                  <a:gd name="T63" fmla="*/ 133 h 271"/>
                  <a:gd name="T64" fmla="*/ 1069 w 1937"/>
                  <a:gd name="T65" fmla="*/ 133 h 271"/>
                  <a:gd name="T66" fmla="*/ 1069 w 1937"/>
                  <a:gd name="T67" fmla="*/ 68 h 271"/>
                  <a:gd name="T68" fmla="*/ 867 w 1937"/>
                  <a:gd name="T69" fmla="*/ 68 h 271"/>
                  <a:gd name="T70" fmla="*/ 867 w 1937"/>
                  <a:gd name="T71" fmla="*/ 133 h 271"/>
                  <a:gd name="T72" fmla="*/ 668 w 1937"/>
                  <a:gd name="T73" fmla="*/ 0 h 271"/>
                  <a:gd name="T74" fmla="*/ 1142 w 1937"/>
                  <a:gd name="T75" fmla="*/ 0 h 271"/>
                  <a:gd name="T76" fmla="*/ 1269 w 1937"/>
                  <a:gd name="T77" fmla="*/ 35 h 271"/>
                  <a:gd name="T78" fmla="*/ 1269 w 1937"/>
                  <a:gd name="T79" fmla="*/ 170 h 271"/>
                  <a:gd name="T80" fmla="*/ 1140 w 1937"/>
                  <a:gd name="T81" fmla="*/ 207 h 271"/>
                  <a:gd name="T82" fmla="*/ 867 w 1937"/>
                  <a:gd name="T83" fmla="*/ 207 h 271"/>
                  <a:gd name="T84" fmla="*/ 867 w 1937"/>
                  <a:gd name="T85" fmla="*/ 271 h 271"/>
                  <a:gd name="T86" fmla="*/ 668 w 1937"/>
                  <a:gd name="T87" fmla="*/ 271 h 271"/>
                  <a:gd name="T88" fmla="*/ 668 w 1937"/>
                  <a:gd name="T89"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37" h="271">
                    <a:moveTo>
                      <a:pt x="1735" y="170"/>
                    </a:moveTo>
                    <a:lnTo>
                      <a:pt x="1937" y="170"/>
                    </a:lnTo>
                    <a:lnTo>
                      <a:pt x="1937" y="238"/>
                    </a:lnTo>
                    <a:lnTo>
                      <a:pt x="1808" y="271"/>
                    </a:lnTo>
                    <a:lnTo>
                      <a:pt x="1463" y="271"/>
                    </a:lnTo>
                    <a:lnTo>
                      <a:pt x="1333" y="236"/>
                    </a:lnTo>
                    <a:lnTo>
                      <a:pt x="1333" y="35"/>
                    </a:lnTo>
                    <a:lnTo>
                      <a:pt x="1463" y="0"/>
                    </a:lnTo>
                    <a:lnTo>
                      <a:pt x="1808" y="0"/>
                    </a:lnTo>
                    <a:lnTo>
                      <a:pt x="1937" y="31"/>
                    </a:lnTo>
                    <a:lnTo>
                      <a:pt x="1937" y="101"/>
                    </a:lnTo>
                    <a:lnTo>
                      <a:pt x="1735" y="101"/>
                    </a:lnTo>
                    <a:lnTo>
                      <a:pt x="1735" y="68"/>
                    </a:lnTo>
                    <a:lnTo>
                      <a:pt x="1533" y="68"/>
                    </a:lnTo>
                    <a:lnTo>
                      <a:pt x="1533" y="203"/>
                    </a:lnTo>
                    <a:lnTo>
                      <a:pt x="1735" y="203"/>
                    </a:lnTo>
                    <a:lnTo>
                      <a:pt x="1735" y="170"/>
                    </a:lnTo>
                    <a:close/>
                    <a:moveTo>
                      <a:pt x="197" y="133"/>
                    </a:moveTo>
                    <a:lnTo>
                      <a:pt x="401" y="133"/>
                    </a:lnTo>
                    <a:lnTo>
                      <a:pt x="401" y="68"/>
                    </a:lnTo>
                    <a:lnTo>
                      <a:pt x="197" y="68"/>
                    </a:lnTo>
                    <a:lnTo>
                      <a:pt x="197" y="133"/>
                    </a:lnTo>
                    <a:close/>
                    <a:moveTo>
                      <a:pt x="0" y="0"/>
                    </a:moveTo>
                    <a:lnTo>
                      <a:pt x="472" y="0"/>
                    </a:lnTo>
                    <a:lnTo>
                      <a:pt x="601" y="35"/>
                    </a:lnTo>
                    <a:lnTo>
                      <a:pt x="601" y="170"/>
                    </a:lnTo>
                    <a:lnTo>
                      <a:pt x="472" y="207"/>
                    </a:lnTo>
                    <a:lnTo>
                      <a:pt x="197" y="207"/>
                    </a:lnTo>
                    <a:lnTo>
                      <a:pt x="197" y="271"/>
                    </a:lnTo>
                    <a:lnTo>
                      <a:pt x="0" y="271"/>
                    </a:lnTo>
                    <a:lnTo>
                      <a:pt x="0" y="0"/>
                    </a:lnTo>
                    <a:close/>
                    <a:moveTo>
                      <a:pt x="867" y="133"/>
                    </a:moveTo>
                    <a:lnTo>
                      <a:pt x="1069" y="133"/>
                    </a:lnTo>
                    <a:lnTo>
                      <a:pt x="1069" y="68"/>
                    </a:lnTo>
                    <a:lnTo>
                      <a:pt x="867" y="68"/>
                    </a:lnTo>
                    <a:lnTo>
                      <a:pt x="867" y="133"/>
                    </a:lnTo>
                    <a:close/>
                    <a:moveTo>
                      <a:pt x="668" y="0"/>
                    </a:moveTo>
                    <a:lnTo>
                      <a:pt x="1142" y="0"/>
                    </a:lnTo>
                    <a:lnTo>
                      <a:pt x="1269" y="35"/>
                    </a:lnTo>
                    <a:lnTo>
                      <a:pt x="1269" y="170"/>
                    </a:lnTo>
                    <a:lnTo>
                      <a:pt x="1140" y="207"/>
                    </a:lnTo>
                    <a:lnTo>
                      <a:pt x="867" y="207"/>
                    </a:lnTo>
                    <a:lnTo>
                      <a:pt x="867" y="271"/>
                    </a:lnTo>
                    <a:lnTo>
                      <a:pt x="668" y="271"/>
                    </a:lnTo>
                    <a:lnTo>
                      <a:pt x="668"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dirty="0"/>
              </a:p>
            </p:txBody>
          </p:sp>
        </p:grpSp>
      </p:grpSp>
      <p:sp>
        <p:nvSpPr>
          <p:cNvPr id="223" name="Text Placeholder 135">
            <a:extLst>
              <a:ext uri="{FF2B5EF4-FFF2-40B4-BE49-F238E27FC236}">
                <a16:creationId xmlns:a16="http://schemas.microsoft.com/office/drawing/2014/main" id="{BBB0A07B-6FE1-4566-8BAC-DC4D35FE4092}"/>
              </a:ext>
            </a:extLst>
          </p:cNvPr>
          <p:cNvSpPr>
            <a:spLocks noGrp="1"/>
          </p:cNvSpPr>
          <p:nvPr>
            <p:ph type="body" sz="quarter" idx="12" hasCustomPrompt="1"/>
          </p:nvPr>
        </p:nvSpPr>
        <p:spPr>
          <a:xfrm>
            <a:off x="914639" y="5267548"/>
            <a:ext cx="10362723" cy="323057"/>
          </a:xfrm>
          <a:prstGeom prst="rect">
            <a:avLst/>
          </a:prstGeom>
        </p:spPr>
        <p:txBody>
          <a:bodyPr anchor="ctr"/>
          <a:lstStyle>
            <a:lvl1pPr algn="ctr">
              <a:defRPr sz="1200" spc="300">
                <a:solidFill>
                  <a:schemeClr val="tx1"/>
                </a:solidFill>
              </a:defRPr>
            </a:lvl1pPr>
            <a:lvl2pPr>
              <a:defRPr sz="1000"/>
            </a:lvl2pPr>
            <a:lvl3pPr>
              <a:defRPr sz="1000"/>
            </a:lvl3pPr>
            <a:lvl4pPr>
              <a:defRPr sz="1000"/>
            </a:lvl4pPr>
            <a:lvl5pPr>
              <a:defRPr sz="1000"/>
            </a:lvl5pPr>
          </a:lstStyle>
          <a:p>
            <a:pPr lvl="0"/>
            <a:r>
              <a:rPr lang="en-US" dirty="0"/>
              <a:t>SPACE FOR OPTIONAL SUB HEADING</a:t>
            </a:r>
            <a:endParaRPr lang="en-ZA" dirty="0"/>
          </a:p>
        </p:txBody>
      </p:sp>
      <p:sp>
        <p:nvSpPr>
          <p:cNvPr id="229" name="Text Placeholder 132">
            <a:extLst>
              <a:ext uri="{FF2B5EF4-FFF2-40B4-BE49-F238E27FC236}">
                <a16:creationId xmlns:a16="http://schemas.microsoft.com/office/drawing/2014/main" id="{C8BF3C9E-6A7F-4EC0-82E6-2266E3D4C959}"/>
              </a:ext>
            </a:extLst>
          </p:cNvPr>
          <p:cNvSpPr>
            <a:spLocks noGrp="1"/>
          </p:cNvSpPr>
          <p:nvPr>
            <p:ph type="body" sz="quarter" idx="11" hasCustomPrompt="1"/>
          </p:nvPr>
        </p:nvSpPr>
        <p:spPr>
          <a:xfrm>
            <a:off x="2" y="4313711"/>
            <a:ext cx="12191998" cy="592431"/>
          </a:xfrm>
          <a:prstGeom prst="rect">
            <a:avLst/>
          </a:prstGeom>
          <a:noFill/>
        </p:spPr>
        <p:txBody>
          <a:bodyPr anchor="ctr"/>
          <a:lstStyle>
            <a:lvl1pPr algn="ctr">
              <a:defRPr sz="3600" b="1" spc="300">
                <a:solidFill>
                  <a:schemeClr val="tx1"/>
                </a:solidFill>
              </a:defRPr>
            </a:lvl1pPr>
            <a:lvl5pPr>
              <a:defRPr/>
            </a:lvl5pPr>
          </a:lstStyle>
          <a:p>
            <a:pPr lvl="0"/>
            <a:r>
              <a:rPr lang="en-US" dirty="0"/>
              <a:t>PRESENTATION HEADING</a:t>
            </a:r>
            <a:endParaRPr lang="en-ZA" dirty="0"/>
          </a:p>
        </p:txBody>
      </p:sp>
      <p:sp>
        <p:nvSpPr>
          <p:cNvPr id="2" name="Oval 1"/>
          <p:cNvSpPr/>
          <p:nvPr userDrawn="1"/>
        </p:nvSpPr>
        <p:spPr>
          <a:xfrm>
            <a:off x="620647" y="530772"/>
            <a:ext cx="1290294" cy="1347170"/>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a:p>
        </p:txBody>
      </p:sp>
      <p:grpSp>
        <p:nvGrpSpPr>
          <p:cNvPr id="3" name="Group 2"/>
          <p:cNvGrpSpPr/>
          <p:nvPr userDrawn="1"/>
        </p:nvGrpSpPr>
        <p:grpSpPr>
          <a:xfrm>
            <a:off x="25876" y="878895"/>
            <a:ext cx="12134478" cy="2549371"/>
            <a:chOff x="97775" y="1725031"/>
            <a:chExt cx="24262635" cy="5098741"/>
          </a:xfrm>
        </p:grpSpPr>
        <p:sp>
          <p:nvSpPr>
            <p:cNvPr id="96" name="Rectangle 95">
              <a:extLst>
                <a:ext uri="{FF2B5EF4-FFF2-40B4-BE49-F238E27FC236}">
                  <a16:creationId xmlns:a16="http://schemas.microsoft.com/office/drawing/2014/main" id="{B0A27A65-5220-4AFF-8922-21423B953530}"/>
                </a:ext>
              </a:extLst>
            </p:cNvPr>
            <p:cNvSpPr/>
            <p:nvPr userDrawn="1"/>
          </p:nvSpPr>
          <p:spPr>
            <a:xfrm>
              <a:off x="6071002" y="1744748"/>
              <a:ext cx="2716721" cy="5055005"/>
            </a:xfrm>
            <a:prstGeom prst="rect">
              <a:avLst/>
            </a:prstGeom>
            <a:blipFill>
              <a:blip r:embed="rId2" cstate="email">
                <a:grayscl/>
                <a:extLst>
                  <a:ext uri="{28A0092B-C50C-407E-A947-70E740481C1C}">
                    <a14:useLocalDpi xmlns:a14="http://schemas.microsoft.com/office/drawing/2010/main"/>
                  </a:ext>
                </a:extLst>
              </a:blip>
              <a:stretch>
                <a:fillRect/>
              </a:stretch>
            </a:blipFill>
            <a:ln w="12700" cap="rnd" cmpd="sng">
              <a:noFill/>
              <a:prstDash val="solid"/>
              <a:round/>
              <a:headEnd/>
              <a:tailEnd/>
            </a:ln>
            <a:effectLst/>
          </p:spPr>
          <p:txBody>
            <a:bodyPr lIns="91418" tIns="45709" rIns="91418" bIns="45709" rtlCol="0" anchor="ctr"/>
            <a:lstStyle/>
            <a:p>
              <a:pPr algn="ctr" defTabSz="342464"/>
              <a:endParaRPr lang="en-US" sz="900">
                <a:solidFill>
                  <a:srgbClr val="000000"/>
                </a:solidFill>
              </a:endParaRPr>
            </a:p>
          </p:txBody>
        </p:sp>
        <p:sp>
          <p:nvSpPr>
            <p:cNvPr id="93" name="Rectangle 92">
              <a:extLst>
                <a:ext uri="{FF2B5EF4-FFF2-40B4-BE49-F238E27FC236}">
                  <a16:creationId xmlns:a16="http://schemas.microsoft.com/office/drawing/2014/main" id="{0D1DC011-BDD4-4A02-9B0C-62012E3FF3C8}"/>
                </a:ext>
              </a:extLst>
            </p:cNvPr>
            <p:cNvSpPr/>
            <p:nvPr userDrawn="1"/>
          </p:nvSpPr>
          <p:spPr>
            <a:xfrm>
              <a:off x="97775" y="1725032"/>
              <a:ext cx="2841546" cy="5055005"/>
            </a:xfrm>
            <a:prstGeom prst="rect">
              <a:avLst/>
            </a:prstGeom>
            <a:blipFill>
              <a:blip r:embed="rId3" cstate="email">
                <a:grayscl/>
                <a:extLst>
                  <a:ext uri="{28A0092B-C50C-407E-A947-70E740481C1C}">
                    <a14:useLocalDpi xmlns:a14="http://schemas.microsoft.com/office/drawing/2010/main"/>
                  </a:ext>
                </a:extLst>
              </a:blip>
              <a:stretch>
                <a:fillRect/>
              </a:stretch>
            </a:blipFill>
            <a:ln w="12700" cap="rnd" cmpd="sng">
              <a:noFill/>
              <a:prstDash val="solid"/>
              <a:round/>
              <a:headEnd/>
              <a:tailEnd/>
            </a:ln>
            <a:effectLst/>
          </p:spPr>
          <p:txBody>
            <a:bodyPr lIns="91418" tIns="45709" rIns="91418" bIns="45709" rtlCol="0" anchor="ctr"/>
            <a:lstStyle/>
            <a:p>
              <a:pPr algn="ctr" defTabSz="342464"/>
              <a:endParaRPr lang="en-US" sz="900">
                <a:solidFill>
                  <a:srgbClr val="000000"/>
                </a:solidFill>
              </a:endParaRPr>
            </a:p>
          </p:txBody>
        </p:sp>
        <p:sp>
          <p:nvSpPr>
            <p:cNvPr id="95" name="Rectangle 94">
              <a:extLst>
                <a:ext uri="{FF2B5EF4-FFF2-40B4-BE49-F238E27FC236}">
                  <a16:creationId xmlns:a16="http://schemas.microsoft.com/office/drawing/2014/main" id="{4AEB5AFD-7B81-408E-A604-008E2E1024CD}"/>
                </a:ext>
              </a:extLst>
            </p:cNvPr>
            <p:cNvSpPr/>
            <p:nvPr userDrawn="1"/>
          </p:nvSpPr>
          <p:spPr>
            <a:xfrm>
              <a:off x="3056528" y="1725031"/>
              <a:ext cx="2856908" cy="5074722"/>
            </a:xfrm>
            <a:prstGeom prst="rect">
              <a:avLst/>
            </a:prstGeom>
            <a:blipFill>
              <a:blip r:embed="rId4" cstate="email">
                <a:grayscl/>
                <a:extLst>
                  <a:ext uri="{28A0092B-C50C-407E-A947-70E740481C1C}">
                    <a14:useLocalDpi xmlns:a14="http://schemas.microsoft.com/office/drawing/2010/main"/>
                  </a:ext>
                </a:extLst>
              </a:blip>
              <a:stretch>
                <a:fillRect/>
              </a:stretch>
            </a:blipFill>
            <a:ln w="12700" cap="rnd" cmpd="sng">
              <a:noFill/>
              <a:prstDash val="solid"/>
              <a:round/>
              <a:headEnd/>
              <a:tailEnd/>
            </a:ln>
            <a:effectLst/>
          </p:spPr>
          <p:txBody>
            <a:bodyPr lIns="91418" tIns="45709" rIns="91418" bIns="45709" rtlCol="0" anchor="ctr"/>
            <a:lstStyle/>
            <a:p>
              <a:pPr algn="ctr" defTabSz="342464"/>
              <a:endParaRPr lang="en-US" sz="900">
                <a:solidFill>
                  <a:srgbClr val="000000"/>
                </a:solidFill>
              </a:endParaRPr>
            </a:p>
          </p:txBody>
        </p:sp>
        <p:sp>
          <p:nvSpPr>
            <p:cNvPr id="98" name="Rectangle 97">
              <a:extLst>
                <a:ext uri="{FF2B5EF4-FFF2-40B4-BE49-F238E27FC236}">
                  <a16:creationId xmlns:a16="http://schemas.microsoft.com/office/drawing/2014/main" id="{98841A8D-6FF6-4CD2-A4F9-B1CD3984CCBB}"/>
                </a:ext>
              </a:extLst>
            </p:cNvPr>
            <p:cNvSpPr/>
            <p:nvPr userDrawn="1"/>
          </p:nvSpPr>
          <p:spPr>
            <a:xfrm>
              <a:off x="15372129" y="1744747"/>
              <a:ext cx="2815070" cy="5079025"/>
            </a:xfrm>
            <a:prstGeom prst="rect">
              <a:avLst/>
            </a:prstGeom>
            <a:blipFill>
              <a:blip r:embed="rId5" cstate="email">
                <a:grayscl/>
                <a:extLst>
                  <a:ext uri="{28A0092B-C50C-407E-A947-70E740481C1C}">
                    <a14:useLocalDpi xmlns:a14="http://schemas.microsoft.com/office/drawing/2010/main"/>
                  </a:ext>
                </a:extLst>
              </a:blip>
              <a:stretch>
                <a:fillRect/>
              </a:stretch>
            </a:blipFill>
            <a:ln w="12700" cap="rnd" cmpd="sng">
              <a:noFill/>
              <a:prstDash val="solid"/>
              <a:round/>
              <a:headEnd/>
              <a:tailEnd/>
            </a:ln>
            <a:effectLst/>
          </p:spPr>
          <p:txBody>
            <a:bodyPr lIns="91418" tIns="45709" rIns="91418" bIns="45709" rtlCol="0" anchor="ctr"/>
            <a:lstStyle/>
            <a:p>
              <a:pPr algn="ctr" defTabSz="342464"/>
              <a:endParaRPr lang="en-US" sz="900">
                <a:solidFill>
                  <a:srgbClr val="000000"/>
                </a:solidFill>
              </a:endParaRPr>
            </a:p>
          </p:txBody>
        </p:sp>
        <p:sp>
          <p:nvSpPr>
            <p:cNvPr id="99" name="Rectangle 98">
              <a:extLst>
                <a:ext uri="{FF2B5EF4-FFF2-40B4-BE49-F238E27FC236}">
                  <a16:creationId xmlns:a16="http://schemas.microsoft.com/office/drawing/2014/main" id="{BF2B5258-A7D4-48A0-8EBC-8E67ACB119C1}"/>
                </a:ext>
              </a:extLst>
            </p:cNvPr>
            <p:cNvSpPr/>
            <p:nvPr userDrawn="1"/>
          </p:nvSpPr>
          <p:spPr>
            <a:xfrm>
              <a:off x="18487819" y="1744747"/>
              <a:ext cx="2865732" cy="5055005"/>
            </a:xfrm>
            <a:prstGeom prst="rect">
              <a:avLst/>
            </a:prstGeom>
            <a:blipFill>
              <a:blip r:embed="rId6" cstate="email">
                <a:grayscl/>
                <a:extLst>
                  <a:ext uri="{28A0092B-C50C-407E-A947-70E740481C1C}">
                    <a14:useLocalDpi xmlns:a14="http://schemas.microsoft.com/office/drawing/2010/main"/>
                  </a:ext>
                </a:extLst>
              </a:blip>
              <a:stretch>
                <a:fillRect/>
              </a:stretch>
            </a:blipFill>
            <a:ln w="12700" cap="rnd" cmpd="sng">
              <a:noFill/>
              <a:prstDash val="solid"/>
              <a:round/>
              <a:headEnd/>
              <a:tailEnd/>
            </a:ln>
            <a:effectLst/>
          </p:spPr>
          <p:txBody>
            <a:bodyPr lIns="91418" tIns="45709" rIns="91418" bIns="45709" rtlCol="0" anchor="ctr"/>
            <a:lstStyle/>
            <a:p>
              <a:pPr algn="ctr" defTabSz="342464"/>
              <a:endParaRPr lang="en-US" sz="900">
                <a:solidFill>
                  <a:srgbClr val="000000"/>
                </a:solidFill>
              </a:endParaRPr>
            </a:p>
          </p:txBody>
        </p:sp>
        <p:sp>
          <p:nvSpPr>
            <p:cNvPr id="100" name="Rectangle 99">
              <a:extLst>
                <a:ext uri="{FF2B5EF4-FFF2-40B4-BE49-F238E27FC236}">
                  <a16:creationId xmlns:a16="http://schemas.microsoft.com/office/drawing/2014/main" id="{2DEBCDED-0D09-4D52-99B9-050FAA705AE5}"/>
                </a:ext>
              </a:extLst>
            </p:cNvPr>
            <p:cNvSpPr/>
            <p:nvPr userDrawn="1"/>
          </p:nvSpPr>
          <p:spPr>
            <a:xfrm>
              <a:off x="21545341" y="1725031"/>
              <a:ext cx="2815069" cy="5040926"/>
            </a:xfrm>
            <a:prstGeom prst="rect">
              <a:avLst/>
            </a:prstGeom>
            <a:blipFill>
              <a:blip r:embed="rId7" cstate="email">
                <a:grayscl/>
                <a:extLst>
                  <a:ext uri="{28A0092B-C50C-407E-A947-70E740481C1C}">
                    <a14:useLocalDpi xmlns:a14="http://schemas.microsoft.com/office/drawing/2010/main"/>
                  </a:ext>
                </a:extLst>
              </a:blip>
              <a:stretch>
                <a:fillRect/>
              </a:stretch>
            </a:blipFill>
            <a:ln w="12700" cap="rnd" cmpd="sng">
              <a:noFill/>
              <a:prstDash val="solid"/>
              <a:round/>
              <a:headEnd/>
              <a:tailEnd/>
            </a:ln>
            <a:effectLst/>
          </p:spPr>
          <p:txBody>
            <a:bodyPr lIns="91418" tIns="45709" rIns="91418" bIns="45709" rtlCol="0" anchor="ctr"/>
            <a:lstStyle/>
            <a:p>
              <a:pPr algn="ctr" defTabSz="342464"/>
              <a:endParaRPr lang="en-US" sz="900">
                <a:solidFill>
                  <a:srgbClr val="000000"/>
                </a:solidFill>
              </a:endParaRPr>
            </a:p>
          </p:txBody>
        </p:sp>
      </p:grpSp>
      <p:sp>
        <p:nvSpPr>
          <p:cNvPr id="4" name="Oval 3"/>
          <p:cNvSpPr/>
          <p:nvPr userDrawn="1"/>
        </p:nvSpPr>
        <p:spPr>
          <a:xfrm>
            <a:off x="5616288" y="5979705"/>
            <a:ext cx="946439" cy="790404"/>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a:p>
        </p:txBody>
      </p:sp>
    </p:spTree>
    <p:extLst>
      <p:ext uri="{BB962C8B-B14F-4D97-AF65-F5344CB8AC3E}">
        <p14:creationId xmlns:p14="http://schemas.microsoft.com/office/powerpoint/2010/main" val="91206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wipe(up)">
                                      <p:cBhvr>
                                        <p:cTn id="7" dur="500"/>
                                        <p:tgtEl>
                                          <p:spTgt spid="13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3"/>
                                        </p:tgtEl>
                                        <p:attrNameLst>
                                          <p:attrName>style.visibility</p:attrName>
                                        </p:attrNameLst>
                                      </p:cBhvr>
                                      <p:to>
                                        <p:strVal val="visible"/>
                                      </p:to>
                                    </p:set>
                                    <p:animEffect transition="in" filter="fade">
                                      <p:cBhvr>
                                        <p:cTn id="11"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animBg="1"/>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3342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ver Slide - Option 1 with Image">
    <p:spTree>
      <p:nvGrpSpPr>
        <p:cNvPr id="1" name=""/>
        <p:cNvGrpSpPr/>
        <p:nvPr/>
      </p:nvGrpSpPr>
      <p:grpSpPr>
        <a:xfrm>
          <a:off x="0" y="0"/>
          <a:ext cx="0" cy="0"/>
          <a:chOff x="0" y="0"/>
          <a:chExt cx="0" cy="0"/>
        </a:xfrm>
      </p:grpSpPr>
      <p:pic>
        <p:nvPicPr>
          <p:cNvPr id="142" name="Picture 141" descr="A mother and baby elephant walking through a dry grass field&#10;&#10;Description generated with very high confidence">
            <a:extLst>
              <a:ext uri="{FF2B5EF4-FFF2-40B4-BE49-F238E27FC236}">
                <a16:creationId xmlns:a16="http://schemas.microsoft.com/office/drawing/2014/main" id="{E60DAA9C-C00D-42E5-B9F6-54D4C1ED098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95" y="0"/>
            <a:ext cx="12190412" cy="4957763"/>
          </a:xfrm>
          <a:prstGeom prst="rect">
            <a:avLst/>
          </a:prstGeom>
        </p:spPr>
      </p:pic>
      <p:sp>
        <p:nvSpPr>
          <p:cNvPr id="137" name="Text Placeholder 132">
            <a:extLst>
              <a:ext uri="{FF2B5EF4-FFF2-40B4-BE49-F238E27FC236}">
                <a16:creationId xmlns:a16="http://schemas.microsoft.com/office/drawing/2014/main" id="{F1E15B35-320A-4B38-807D-80355DA154CC}"/>
              </a:ext>
            </a:extLst>
          </p:cNvPr>
          <p:cNvSpPr>
            <a:spLocks noGrp="1"/>
          </p:cNvSpPr>
          <p:nvPr>
            <p:ph type="body" sz="quarter" idx="11" hasCustomPrompt="1"/>
          </p:nvPr>
        </p:nvSpPr>
        <p:spPr>
          <a:xfrm>
            <a:off x="0" y="5152973"/>
            <a:ext cx="12192000" cy="441481"/>
          </a:xfrm>
          <a:prstGeom prst="rect">
            <a:avLst/>
          </a:prstGeom>
          <a:solidFill>
            <a:schemeClr val="accent2"/>
          </a:solidFill>
        </p:spPr>
        <p:txBody>
          <a:bodyPr anchor="ctr"/>
          <a:lstStyle>
            <a:lvl1pPr algn="ctr">
              <a:defRPr sz="3600" b="1" spc="300">
                <a:solidFill>
                  <a:schemeClr val="bg1"/>
                </a:solidFill>
              </a:defRPr>
            </a:lvl1pPr>
            <a:lvl5pPr>
              <a:defRPr/>
            </a:lvl5pPr>
          </a:lstStyle>
          <a:p>
            <a:pPr lvl="0"/>
            <a:r>
              <a:rPr lang="en-US" dirty="0"/>
              <a:t>PRESENTATION HEADING</a:t>
            </a:r>
            <a:endParaRPr lang="en-ZA" dirty="0"/>
          </a:p>
        </p:txBody>
      </p:sp>
      <p:sp>
        <p:nvSpPr>
          <p:cNvPr id="139" name="Text Placeholder 135">
            <a:extLst>
              <a:ext uri="{FF2B5EF4-FFF2-40B4-BE49-F238E27FC236}">
                <a16:creationId xmlns:a16="http://schemas.microsoft.com/office/drawing/2014/main" id="{1CA59AB1-0C5A-48B6-B33F-0C296E4856DB}"/>
              </a:ext>
            </a:extLst>
          </p:cNvPr>
          <p:cNvSpPr>
            <a:spLocks noGrp="1"/>
          </p:cNvSpPr>
          <p:nvPr>
            <p:ph type="body" sz="quarter" idx="12" hasCustomPrompt="1"/>
          </p:nvPr>
        </p:nvSpPr>
        <p:spPr>
          <a:xfrm>
            <a:off x="914639" y="5664200"/>
            <a:ext cx="10362723" cy="323057"/>
          </a:xfrm>
          <a:prstGeom prst="rect">
            <a:avLst/>
          </a:prstGeom>
        </p:spPr>
        <p:txBody>
          <a:bodyPr anchor="ctr"/>
          <a:lstStyle>
            <a:lvl1pPr algn="ctr">
              <a:defRPr sz="1200" spc="300">
                <a:solidFill>
                  <a:schemeClr val="tx1"/>
                </a:solidFill>
              </a:defRPr>
            </a:lvl1pPr>
            <a:lvl2pPr>
              <a:defRPr sz="1000"/>
            </a:lvl2pPr>
            <a:lvl3pPr>
              <a:defRPr sz="1000"/>
            </a:lvl3pPr>
            <a:lvl4pPr>
              <a:defRPr sz="1000"/>
            </a:lvl4pPr>
            <a:lvl5pPr>
              <a:defRPr sz="1000"/>
            </a:lvl5pPr>
          </a:lstStyle>
          <a:p>
            <a:pPr lvl="0"/>
            <a:r>
              <a:rPr lang="en-US" dirty="0"/>
              <a:t>SPACE FOR OPTIONAL SUB HEADING</a:t>
            </a:r>
            <a:endParaRPr lang="en-ZA" dirty="0"/>
          </a:p>
        </p:txBody>
      </p:sp>
      <p:sp>
        <p:nvSpPr>
          <p:cNvPr id="140" name="Text Placeholder 137">
            <a:extLst>
              <a:ext uri="{FF2B5EF4-FFF2-40B4-BE49-F238E27FC236}">
                <a16:creationId xmlns:a16="http://schemas.microsoft.com/office/drawing/2014/main" id="{2123D42E-307F-4C5B-B93F-C46DC92BD9E1}"/>
              </a:ext>
            </a:extLst>
          </p:cNvPr>
          <p:cNvSpPr>
            <a:spLocks noGrp="1"/>
          </p:cNvSpPr>
          <p:nvPr>
            <p:ph type="body" sz="quarter" idx="13" hasCustomPrompt="1"/>
          </p:nvPr>
        </p:nvSpPr>
        <p:spPr>
          <a:xfrm>
            <a:off x="914638" y="6362565"/>
            <a:ext cx="2693680" cy="248209"/>
          </a:xfrm>
          <a:prstGeom prst="rect">
            <a:avLst/>
          </a:prstGeom>
        </p:spPr>
        <p:txBody>
          <a:bodyPr/>
          <a:lstStyle>
            <a:lvl1pPr algn="l">
              <a:defRPr sz="1000" spc="300">
                <a:solidFill>
                  <a:schemeClr val="tx1"/>
                </a:solidFill>
              </a:defRPr>
            </a:lvl1pPr>
          </a:lstStyle>
          <a:p>
            <a:pPr lvl="0"/>
            <a:r>
              <a:rPr lang="en-US" dirty="0"/>
              <a:t>OPTIONAL DIVISION NAME</a:t>
            </a:r>
            <a:endParaRPr lang="en-ZA" dirty="0"/>
          </a:p>
        </p:txBody>
      </p:sp>
      <p:grpSp>
        <p:nvGrpSpPr>
          <p:cNvPr id="143" name="Group 142">
            <a:extLst>
              <a:ext uri="{FF2B5EF4-FFF2-40B4-BE49-F238E27FC236}">
                <a16:creationId xmlns:a16="http://schemas.microsoft.com/office/drawing/2014/main" id="{96DFF11F-CEA1-4A50-A245-F0445CFBA347}"/>
              </a:ext>
            </a:extLst>
          </p:cNvPr>
          <p:cNvGrpSpPr/>
          <p:nvPr userDrawn="1"/>
        </p:nvGrpSpPr>
        <p:grpSpPr>
          <a:xfrm>
            <a:off x="914639" y="6115339"/>
            <a:ext cx="10362723" cy="82839"/>
            <a:chOff x="1828800" y="12230678"/>
            <a:chExt cx="20720049" cy="165677"/>
          </a:xfrm>
        </p:grpSpPr>
        <p:cxnSp>
          <p:nvCxnSpPr>
            <p:cNvPr id="144" name="Straight Connector 143">
              <a:extLst>
                <a:ext uri="{FF2B5EF4-FFF2-40B4-BE49-F238E27FC236}">
                  <a16:creationId xmlns:a16="http://schemas.microsoft.com/office/drawing/2014/main" id="{F052559F-83A5-479D-94E5-4E255C4C7EE1}"/>
                </a:ext>
              </a:extLst>
            </p:cNvPr>
            <p:cNvCxnSpPr>
              <a:cxnSpLocks/>
            </p:cNvCxnSpPr>
            <p:nvPr userDrawn="1"/>
          </p:nvCxnSpPr>
          <p:spPr>
            <a:xfrm>
              <a:off x="1828800" y="12383078"/>
              <a:ext cx="20720049"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F658B1B0-90A0-4246-81CF-EA5404463870}"/>
                </a:ext>
              </a:extLst>
            </p:cNvPr>
            <p:cNvSpPr/>
            <p:nvPr userDrawn="1"/>
          </p:nvSpPr>
          <p:spPr>
            <a:xfrm>
              <a:off x="20331113" y="12230678"/>
              <a:ext cx="2217736" cy="16567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a:p>
          </p:txBody>
        </p:sp>
      </p:grpSp>
      <p:sp>
        <p:nvSpPr>
          <p:cNvPr id="3" name="TextBox 2">
            <a:extLst>
              <a:ext uri="{FF2B5EF4-FFF2-40B4-BE49-F238E27FC236}">
                <a16:creationId xmlns:a16="http://schemas.microsoft.com/office/drawing/2014/main" id="{E9453388-3417-4989-BDD4-16D3A490BC07}"/>
              </a:ext>
            </a:extLst>
          </p:cNvPr>
          <p:cNvSpPr txBox="1"/>
          <p:nvPr userDrawn="1"/>
        </p:nvSpPr>
        <p:spPr>
          <a:xfrm>
            <a:off x="7809718" y="6384287"/>
            <a:ext cx="3467643" cy="246221"/>
          </a:xfrm>
          <a:prstGeom prst="rect">
            <a:avLst/>
          </a:prstGeom>
          <a:noFill/>
        </p:spPr>
        <p:txBody>
          <a:bodyPr wrap="square" rtlCol="0">
            <a:spAutoFit/>
          </a:bodyPr>
          <a:lstStyle/>
          <a:p>
            <a:pPr algn="r"/>
            <a:fld id="{906B6575-DF67-4F35-9D1F-1227A8A6EB0E}" type="datetime2">
              <a:rPr lang="en-ZA" sz="1000" spc="150" smtClean="0">
                <a:solidFill>
                  <a:schemeClr val="tx1"/>
                </a:solidFill>
              </a:rPr>
              <a:pPr algn="r"/>
              <a:t>Thursday, 13 August 2026</a:t>
            </a:fld>
            <a:endParaRPr lang="en-ZA" sz="1000" spc="150" dirty="0">
              <a:solidFill>
                <a:schemeClr val="tx1"/>
              </a:solidFill>
            </a:endParaRPr>
          </a:p>
        </p:txBody>
      </p:sp>
      <p:sp>
        <p:nvSpPr>
          <p:cNvPr id="136" name="Rectangle 135">
            <a:extLst>
              <a:ext uri="{FF2B5EF4-FFF2-40B4-BE49-F238E27FC236}">
                <a16:creationId xmlns:a16="http://schemas.microsoft.com/office/drawing/2014/main" id="{886B20F4-E778-45FF-BFED-BB48E67A0D7A}"/>
              </a:ext>
            </a:extLst>
          </p:cNvPr>
          <p:cNvSpPr/>
          <p:nvPr userDrawn="1"/>
        </p:nvSpPr>
        <p:spPr>
          <a:xfrm>
            <a:off x="914638" y="-1"/>
            <a:ext cx="1418357" cy="1890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a:p>
        </p:txBody>
      </p:sp>
      <p:grpSp>
        <p:nvGrpSpPr>
          <p:cNvPr id="138" name="Group 137">
            <a:extLst>
              <a:ext uri="{FF2B5EF4-FFF2-40B4-BE49-F238E27FC236}">
                <a16:creationId xmlns:a16="http://schemas.microsoft.com/office/drawing/2014/main" id="{8F6DC9A5-83DC-4415-828E-5D6D91F328BC}"/>
              </a:ext>
            </a:extLst>
          </p:cNvPr>
          <p:cNvGrpSpPr/>
          <p:nvPr userDrawn="1"/>
        </p:nvGrpSpPr>
        <p:grpSpPr>
          <a:xfrm>
            <a:off x="1053586" y="244475"/>
            <a:ext cx="1128420" cy="1283675"/>
            <a:chOff x="10197128" y="11141518"/>
            <a:chExt cx="4100716" cy="4666132"/>
          </a:xfrm>
        </p:grpSpPr>
        <p:grpSp>
          <p:nvGrpSpPr>
            <p:cNvPr id="141" name="Group 140">
              <a:extLst>
                <a:ext uri="{FF2B5EF4-FFF2-40B4-BE49-F238E27FC236}">
                  <a16:creationId xmlns:a16="http://schemas.microsoft.com/office/drawing/2014/main" id="{0402C281-F28E-46E4-8EA7-02050C68EF9E}"/>
                </a:ext>
              </a:extLst>
            </p:cNvPr>
            <p:cNvGrpSpPr/>
            <p:nvPr/>
          </p:nvGrpSpPr>
          <p:grpSpPr>
            <a:xfrm>
              <a:off x="10687284" y="11141518"/>
              <a:ext cx="3122333" cy="3172507"/>
              <a:chOff x="7693025" y="8069263"/>
              <a:chExt cx="2568575" cy="2609850"/>
            </a:xfrm>
          </p:grpSpPr>
          <p:sp>
            <p:nvSpPr>
              <p:cNvPr id="150" name="Oval 5">
                <a:extLst>
                  <a:ext uri="{FF2B5EF4-FFF2-40B4-BE49-F238E27FC236}">
                    <a16:creationId xmlns:a16="http://schemas.microsoft.com/office/drawing/2014/main" id="{750DBB27-F55A-446C-A882-402261420280}"/>
                  </a:ext>
                </a:extLst>
              </p:cNvPr>
              <p:cNvSpPr>
                <a:spLocks noChangeArrowheads="1"/>
              </p:cNvSpPr>
              <p:nvPr/>
            </p:nvSpPr>
            <p:spPr bwMode="auto">
              <a:xfrm>
                <a:off x="7696200" y="8069263"/>
                <a:ext cx="2562225" cy="260985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1" name="Freeform 6">
                <a:extLst>
                  <a:ext uri="{FF2B5EF4-FFF2-40B4-BE49-F238E27FC236}">
                    <a16:creationId xmlns:a16="http://schemas.microsoft.com/office/drawing/2014/main" id="{63631353-95E4-41D3-8ADD-8D8542577FAD}"/>
                  </a:ext>
                </a:extLst>
              </p:cNvPr>
              <p:cNvSpPr>
                <a:spLocks/>
              </p:cNvSpPr>
              <p:nvPr/>
            </p:nvSpPr>
            <p:spPr bwMode="auto">
              <a:xfrm>
                <a:off x="9717088" y="8410576"/>
                <a:ext cx="119063" cy="120650"/>
              </a:xfrm>
              <a:custGeom>
                <a:avLst/>
                <a:gdLst>
                  <a:gd name="T0" fmla="*/ 15 w 37"/>
                  <a:gd name="T1" fmla="*/ 25 h 37"/>
                  <a:gd name="T2" fmla="*/ 28 w 37"/>
                  <a:gd name="T3" fmla="*/ 37 h 37"/>
                  <a:gd name="T4" fmla="*/ 37 w 37"/>
                  <a:gd name="T5" fmla="*/ 0 h 37"/>
                  <a:gd name="T6" fmla="*/ 0 w 37"/>
                  <a:gd name="T7" fmla="*/ 12 h 37"/>
                  <a:gd name="T8" fmla="*/ 15 w 37"/>
                  <a:gd name="T9" fmla="*/ 25 h 37"/>
                </a:gdLst>
                <a:ahLst/>
                <a:cxnLst>
                  <a:cxn ang="0">
                    <a:pos x="T0" y="T1"/>
                  </a:cxn>
                  <a:cxn ang="0">
                    <a:pos x="T2" y="T3"/>
                  </a:cxn>
                  <a:cxn ang="0">
                    <a:pos x="T4" y="T5"/>
                  </a:cxn>
                  <a:cxn ang="0">
                    <a:pos x="T6" y="T7"/>
                  </a:cxn>
                  <a:cxn ang="0">
                    <a:pos x="T8" y="T9"/>
                  </a:cxn>
                </a:cxnLst>
                <a:rect l="0" t="0" r="r" b="b"/>
                <a:pathLst>
                  <a:path w="37" h="37">
                    <a:moveTo>
                      <a:pt x="15" y="25"/>
                    </a:moveTo>
                    <a:cubicBezTo>
                      <a:pt x="19" y="28"/>
                      <a:pt x="23" y="32"/>
                      <a:pt x="28" y="37"/>
                    </a:cubicBezTo>
                    <a:cubicBezTo>
                      <a:pt x="37" y="0"/>
                      <a:pt x="37" y="0"/>
                      <a:pt x="37" y="0"/>
                    </a:cubicBezTo>
                    <a:cubicBezTo>
                      <a:pt x="0" y="12"/>
                      <a:pt x="0" y="12"/>
                      <a:pt x="0" y="12"/>
                    </a:cubicBezTo>
                    <a:cubicBezTo>
                      <a:pt x="5" y="16"/>
                      <a:pt x="10" y="20"/>
                      <a:pt x="15" y="2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2" name="Freeform 7">
                <a:extLst>
                  <a:ext uri="{FF2B5EF4-FFF2-40B4-BE49-F238E27FC236}">
                    <a16:creationId xmlns:a16="http://schemas.microsoft.com/office/drawing/2014/main" id="{15E27D2A-68B6-452F-8743-AAD881385BC6}"/>
                  </a:ext>
                </a:extLst>
              </p:cNvPr>
              <p:cNvSpPr>
                <a:spLocks/>
              </p:cNvSpPr>
              <p:nvPr/>
            </p:nvSpPr>
            <p:spPr bwMode="auto">
              <a:xfrm>
                <a:off x="9512300" y="8251826"/>
                <a:ext cx="109538" cy="123825"/>
              </a:xfrm>
              <a:custGeom>
                <a:avLst/>
                <a:gdLst>
                  <a:gd name="T0" fmla="*/ 32 w 34"/>
                  <a:gd name="T1" fmla="*/ 38 h 38"/>
                  <a:gd name="T2" fmla="*/ 34 w 34"/>
                  <a:gd name="T3" fmla="*/ 0 h 38"/>
                  <a:gd name="T4" fmla="*/ 0 w 34"/>
                  <a:gd name="T5" fmla="*/ 19 h 38"/>
                  <a:gd name="T6" fmla="*/ 17 w 34"/>
                  <a:gd name="T7" fmla="*/ 29 h 38"/>
                  <a:gd name="T8" fmla="*/ 32 w 34"/>
                  <a:gd name="T9" fmla="*/ 38 h 38"/>
                </a:gdLst>
                <a:ahLst/>
                <a:cxnLst>
                  <a:cxn ang="0">
                    <a:pos x="T0" y="T1"/>
                  </a:cxn>
                  <a:cxn ang="0">
                    <a:pos x="T2" y="T3"/>
                  </a:cxn>
                  <a:cxn ang="0">
                    <a:pos x="T4" y="T5"/>
                  </a:cxn>
                  <a:cxn ang="0">
                    <a:pos x="T6" y="T7"/>
                  </a:cxn>
                  <a:cxn ang="0">
                    <a:pos x="T8" y="T9"/>
                  </a:cxn>
                </a:cxnLst>
                <a:rect l="0" t="0" r="r" b="b"/>
                <a:pathLst>
                  <a:path w="34" h="38">
                    <a:moveTo>
                      <a:pt x="32" y="38"/>
                    </a:moveTo>
                    <a:cubicBezTo>
                      <a:pt x="34" y="0"/>
                      <a:pt x="34" y="0"/>
                      <a:pt x="34" y="0"/>
                    </a:cubicBezTo>
                    <a:cubicBezTo>
                      <a:pt x="0" y="19"/>
                      <a:pt x="0" y="19"/>
                      <a:pt x="0" y="19"/>
                    </a:cubicBezTo>
                    <a:cubicBezTo>
                      <a:pt x="6" y="23"/>
                      <a:pt x="11" y="26"/>
                      <a:pt x="17" y="29"/>
                    </a:cubicBezTo>
                    <a:cubicBezTo>
                      <a:pt x="22" y="31"/>
                      <a:pt x="26" y="35"/>
                      <a:pt x="32" y="3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3" name="Freeform 8">
                <a:extLst>
                  <a:ext uri="{FF2B5EF4-FFF2-40B4-BE49-F238E27FC236}">
                    <a16:creationId xmlns:a16="http://schemas.microsoft.com/office/drawing/2014/main" id="{96D306DF-118F-44A8-8227-66C61A201B79}"/>
                  </a:ext>
                </a:extLst>
              </p:cNvPr>
              <p:cNvSpPr>
                <a:spLocks/>
              </p:cNvSpPr>
              <p:nvPr/>
            </p:nvSpPr>
            <p:spPr bwMode="auto">
              <a:xfrm>
                <a:off x="9618663" y="8326438"/>
                <a:ext cx="114300" cy="120650"/>
              </a:xfrm>
              <a:custGeom>
                <a:avLst/>
                <a:gdLst>
                  <a:gd name="T0" fmla="*/ 16 w 36"/>
                  <a:gd name="T1" fmla="*/ 27 h 37"/>
                  <a:gd name="T2" fmla="*/ 30 w 36"/>
                  <a:gd name="T3" fmla="*/ 37 h 37"/>
                  <a:gd name="T4" fmla="*/ 36 w 36"/>
                  <a:gd name="T5" fmla="*/ 0 h 37"/>
                  <a:gd name="T6" fmla="*/ 0 w 36"/>
                  <a:gd name="T7" fmla="*/ 16 h 37"/>
                  <a:gd name="T8" fmla="*/ 16 w 36"/>
                  <a:gd name="T9" fmla="*/ 27 h 37"/>
                </a:gdLst>
                <a:ahLst/>
                <a:cxnLst>
                  <a:cxn ang="0">
                    <a:pos x="T0" y="T1"/>
                  </a:cxn>
                  <a:cxn ang="0">
                    <a:pos x="T2" y="T3"/>
                  </a:cxn>
                  <a:cxn ang="0">
                    <a:pos x="T4" y="T5"/>
                  </a:cxn>
                  <a:cxn ang="0">
                    <a:pos x="T6" y="T7"/>
                  </a:cxn>
                  <a:cxn ang="0">
                    <a:pos x="T8" y="T9"/>
                  </a:cxn>
                </a:cxnLst>
                <a:rect l="0" t="0" r="r" b="b"/>
                <a:pathLst>
                  <a:path w="36" h="37">
                    <a:moveTo>
                      <a:pt x="16" y="27"/>
                    </a:moveTo>
                    <a:cubicBezTo>
                      <a:pt x="21" y="30"/>
                      <a:pt x="25" y="33"/>
                      <a:pt x="30" y="37"/>
                    </a:cubicBezTo>
                    <a:cubicBezTo>
                      <a:pt x="36" y="0"/>
                      <a:pt x="36" y="0"/>
                      <a:pt x="36" y="0"/>
                    </a:cubicBezTo>
                    <a:cubicBezTo>
                      <a:pt x="0" y="16"/>
                      <a:pt x="0" y="16"/>
                      <a:pt x="0" y="16"/>
                    </a:cubicBezTo>
                    <a:cubicBezTo>
                      <a:pt x="5" y="19"/>
                      <a:pt x="11" y="23"/>
                      <a:pt x="16" y="2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4" name="Freeform 9">
                <a:extLst>
                  <a:ext uri="{FF2B5EF4-FFF2-40B4-BE49-F238E27FC236}">
                    <a16:creationId xmlns:a16="http://schemas.microsoft.com/office/drawing/2014/main" id="{FD7FC92D-CADD-4935-BB05-B6BED362A6E4}"/>
                  </a:ext>
                </a:extLst>
              </p:cNvPr>
              <p:cNvSpPr>
                <a:spLocks noEditPoints="1"/>
              </p:cNvSpPr>
              <p:nvPr/>
            </p:nvSpPr>
            <p:spPr bwMode="auto">
              <a:xfrm>
                <a:off x="7888288" y="8274051"/>
                <a:ext cx="2187575" cy="2209800"/>
              </a:xfrm>
              <a:custGeom>
                <a:avLst/>
                <a:gdLst>
                  <a:gd name="T0" fmla="*/ 682 w 683"/>
                  <a:gd name="T1" fmla="*/ 372 h 678"/>
                  <a:gd name="T2" fmla="*/ 511 w 683"/>
                  <a:gd name="T3" fmla="*/ 104 h 678"/>
                  <a:gd name="T4" fmla="*/ 500 w 683"/>
                  <a:gd name="T5" fmla="*/ 97 h 678"/>
                  <a:gd name="T6" fmla="*/ 467 w 683"/>
                  <a:gd name="T7" fmla="*/ 56 h 678"/>
                  <a:gd name="T8" fmla="*/ 457 w 683"/>
                  <a:gd name="T9" fmla="*/ 75 h 678"/>
                  <a:gd name="T10" fmla="*/ 415 w 683"/>
                  <a:gd name="T11" fmla="*/ 80 h 678"/>
                  <a:gd name="T12" fmla="*/ 396 w 683"/>
                  <a:gd name="T13" fmla="*/ 49 h 678"/>
                  <a:gd name="T14" fmla="*/ 374 w 683"/>
                  <a:gd name="T15" fmla="*/ 56 h 678"/>
                  <a:gd name="T16" fmla="*/ 317 w 683"/>
                  <a:gd name="T17" fmla="*/ 30 h 678"/>
                  <a:gd name="T18" fmla="*/ 283 w 683"/>
                  <a:gd name="T19" fmla="*/ 43 h 678"/>
                  <a:gd name="T20" fmla="*/ 230 w 683"/>
                  <a:gd name="T21" fmla="*/ 50 h 678"/>
                  <a:gd name="T22" fmla="*/ 218 w 683"/>
                  <a:gd name="T23" fmla="*/ 64 h 678"/>
                  <a:gd name="T24" fmla="*/ 247 w 683"/>
                  <a:gd name="T25" fmla="*/ 86 h 678"/>
                  <a:gd name="T26" fmla="*/ 228 w 683"/>
                  <a:gd name="T27" fmla="*/ 86 h 678"/>
                  <a:gd name="T28" fmla="*/ 196 w 683"/>
                  <a:gd name="T29" fmla="*/ 71 h 678"/>
                  <a:gd name="T30" fmla="*/ 342 w 683"/>
                  <a:gd name="T31" fmla="*/ 583 h 678"/>
                  <a:gd name="T32" fmla="*/ 116 w 683"/>
                  <a:gd name="T33" fmla="*/ 127 h 678"/>
                  <a:gd name="T34" fmla="*/ 111 w 683"/>
                  <a:gd name="T35" fmla="*/ 145 h 678"/>
                  <a:gd name="T36" fmla="*/ 152 w 683"/>
                  <a:gd name="T37" fmla="*/ 137 h 678"/>
                  <a:gd name="T38" fmla="*/ 100 w 683"/>
                  <a:gd name="T39" fmla="*/ 146 h 678"/>
                  <a:gd name="T40" fmla="*/ 86 w 683"/>
                  <a:gd name="T41" fmla="*/ 217 h 678"/>
                  <a:gd name="T42" fmla="*/ 40 w 683"/>
                  <a:gd name="T43" fmla="*/ 268 h 678"/>
                  <a:gd name="T44" fmla="*/ 77 w 683"/>
                  <a:gd name="T45" fmla="*/ 290 h 678"/>
                  <a:gd name="T46" fmla="*/ 57 w 683"/>
                  <a:gd name="T47" fmla="*/ 474 h 678"/>
                  <a:gd name="T48" fmla="*/ 93 w 683"/>
                  <a:gd name="T49" fmla="*/ 458 h 678"/>
                  <a:gd name="T50" fmla="*/ 80 w 683"/>
                  <a:gd name="T51" fmla="*/ 445 h 678"/>
                  <a:gd name="T52" fmla="*/ 71 w 683"/>
                  <a:gd name="T53" fmla="*/ 454 h 678"/>
                  <a:gd name="T54" fmla="*/ 91 w 683"/>
                  <a:gd name="T55" fmla="*/ 528 h 678"/>
                  <a:gd name="T56" fmla="*/ 107 w 683"/>
                  <a:gd name="T57" fmla="*/ 536 h 678"/>
                  <a:gd name="T58" fmla="*/ 107 w 683"/>
                  <a:gd name="T59" fmla="*/ 547 h 678"/>
                  <a:gd name="T60" fmla="*/ 170 w 683"/>
                  <a:gd name="T61" fmla="*/ 592 h 678"/>
                  <a:gd name="T62" fmla="*/ 197 w 683"/>
                  <a:gd name="T63" fmla="*/ 570 h 678"/>
                  <a:gd name="T64" fmla="*/ 262 w 683"/>
                  <a:gd name="T65" fmla="*/ 641 h 678"/>
                  <a:gd name="T66" fmla="*/ 211 w 683"/>
                  <a:gd name="T67" fmla="*/ 622 h 678"/>
                  <a:gd name="T68" fmla="*/ 274 w 683"/>
                  <a:gd name="T69" fmla="*/ 609 h 678"/>
                  <a:gd name="T70" fmla="*/ 311 w 683"/>
                  <a:gd name="T71" fmla="*/ 648 h 678"/>
                  <a:gd name="T72" fmla="*/ 328 w 683"/>
                  <a:gd name="T73" fmla="*/ 650 h 678"/>
                  <a:gd name="T74" fmla="*/ 369 w 683"/>
                  <a:gd name="T75" fmla="*/ 609 h 678"/>
                  <a:gd name="T76" fmla="*/ 430 w 683"/>
                  <a:gd name="T77" fmla="*/ 639 h 678"/>
                  <a:gd name="T78" fmla="*/ 451 w 683"/>
                  <a:gd name="T79" fmla="*/ 596 h 678"/>
                  <a:gd name="T80" fmla="*/ 488 w 683"/>
                  <a:gd name="T81" fmla="*/ 579 h 678"/>
                  <a:gd name="T82" fmla="*/ 524 w 683"/>
                  <a:gd name="T83" fmla="*/ 593 h 678"/>
                  <a:gd name="T84" fmla="*/ 537 w 683"/>
                  <a:gd name="T85" fmla="*/ 542 h 678"/>
                  <a:gd name="T86" fmla="*/ 530 w 683"/>
                  <a:gd name="T87" fmla="*/ 566 h 678"/>
                  <a:gd name="T88" fmla="*/ 580 w 683"/>
                  <a:gd name="T89" fmla="*/ 542 h 678"/>
                  <a:gd name="T90" fmla="*/ 577 w 683"/>
                  <a:gd name="T91" fmla="*/ 494 h 678"/>
                  <a:gd name="T92" fmla="*/ 577 w 683"/>
                  <a:gd name="T93" fmla="*/ 518 h 678"/>
                  <a:gd name="T94" fmla="*/ 636 w 683"/>
                  <a:gd name="T95" fmla="*/ 453 h 678"/>
                  <a:gd name="T96" fmla="*/ 637 w 683"/>
                  <a:gd name="T97" fmla="*/ 436 h 678"/>
                  <a:gd name="T98" fmla="*/ 645 w 683"/>
                  <a:gd name="T99" fmla="*/ 283 h 678"/>
                  <a:gd name="T100" fmla="*/ 620 w 683"/>
                  <a:gd name="T101" fmla="*/ 279 h 678"/>
                  <a:gd name="T102" fmla="*/ 611 w 683"/>
                  <a:gd name="T103" fmla="*/ 184 h 678"/>
                  <a:gd name="T104" fmla="*/ 580 w 683"/>
                  <a:gd name="T105" fmla="*/ 211 h 678"/>
                  <a:gd name="T106" fmla="*/ 586 w 683"/>
                  <a:gd name="T107" fmla="*/ 171 h 678"/>
                  <a:gd name="T108" fmla="*/ 557 w 683"/>
                  <a:gd name="T109" fmla="*/ 166 h 678"/>
                  <a:gd name="T110" fmla="*/ 571 w 683"/>
                  <a:gd name="T111" fmla="*/ 183 h 678"/>
                  <a:gd name="T112" fmla="*/ 570 w 683"/>
                  <a:gd name="T113" fmla="*/ 131 h 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83" h="678">
                    <a:moveTo>
                      <a:pt x="342" y="0"/>
                    </a:moveTo>
                    <a:cubicBezTo>
                      <a:pt x="153" y="0"/>
                      <a:pt x="0" y="153"/>
                      <a:pt x="0" y="340"/>
                    </a:cubicBezTo>
                    <a:cubicBezTo>
                      <a:pt x="0" y="351"/>
                      <a:pt x="1" y="361"/>
                      <a:pt x="2" y="372"/>
                    </a:cubicBezTo>
                    <a:cubicBezTo>
                      <a:pt x="18" y="544"/>
                      <a:pt x="164" y="678"/>
                      <a:pt x="342" y="678"/>
                    </a:cubicBezTo>
                    <a:cubicBezTo>
                      <a:pt x="519" y="678"/>
                      <a:pt x="666" y="544"/>
                      <a:pt x="682" y="372"/>
                    </a:cubicBezTo>
                    <a:cubicBezTo>
                      <a:pt x="683" y="361"/>
                      <a:pt x="683" y="351"/>
                      <a:pt x="683" y="340"/>
                    </a:cubicBezTo>
                    <a:cubicBezTo>
                      <a:pt x="683" y="153"/>
                      <a:pt x="530" y="0"/>
                      <a:pt x="342" y="0"/>
                    </a:cubicBezTo>
                    <a:moveTo>
                      <a:pt x="494" y="68"/>
                    </a:moveTo>
                    <a:cubicBezTo>
                      <a:pt x="511" y="80"/>
                      <a:pt x="511" y="80"/>
                      <a:pt x="511" y="80"/>
                    </a:cubicBezTo>
                    <a:cubicBezTo>
                      <a:pt x="511" y="104"/>
                      <a:pt x="511" y="104"/>
                      <a:pt x="511" y="104"/>
                    </a:cubicBezTo>
                    <a:cubicBezTo>
                      <a:pt x="523" y="89"/>
                      <a:pt x="523" y="89"/>
                      <a:pt x="523" y="89"/>
                    </a:cubicBezTo>
                    <a:cubicBezTo>
                      <a:pt x="540" y="100"/>
                      <a:pt x="540" y="100"/>
                      <a:pt x="540" y="100"/>
                    </a:cubicBezTo>
                    <a:cubicBezTo>
                      <a:pt x="516" y="132"/>
                      <a:pt x="516" y="132"/>
                      <a:pt x="516" y="132"/>
                    </a:cubicBezTo>
                    <a:cubicBezTo>
                      <a:pt x="501" y="121"/>
                      <a:pt x="501" y="121"/>
                      <a:pt x="501" y="121"/>
                    </a:cubicBezTo>
                    <a:cubicBezTo>
                      <a:pt x="500" y="97"/>
                      <a:pt x="500" y="97"/>
                      <a:pt x="500" y="97"/>
                    </a:cubicBezTo>
                    <a:cubicBezTo>
                      <a:pt x="489" y="112"/>
                      <a:pt x="489" y="112"/>
                      <a:pt x="489" y="112"/>
                    </a:cubicBezTo>
                    <a:cubicBezTo>
                      <a:pt x="471" y="100"/>
                      <a:pt x="471" y="100"/>
                      <a:pt x="471" y="100"/>
                    </a:cubicBezTo>
                    <a:lnTo>
                      <a:pt x="494" y="68"/>
                    </a:lnTo>
                    <a:close/>
                    <a:moveTo>
                      <a:pt x="428" y="42"/>
                    </a:moveTo>
                    <a:cubicBezTo>
                      <a:pt x="467" y="56"/>
                      <a:pt x="467" y="56"/>
                      <a:pt x="467" y="56"/>
                    </a:cubicBezTo>
                    <a:cubicBezTo>
                      <a:pt x="465" y="62"/>
                      <a:pt x="465" y="62"/>
                      <a:pt x="465" y="62"/>
                    </a:cubicBezTo>
                    <a:cubicBezTo>
                      <a:pt x="446" y="56"/>
                      <a:pt x="446" y="56"/>
                      <a:pt x="446" y="56"/>
                    </a:cubicBezTo>
                    <a:cubicBezTo>
                      <a:pt x="444" y="64"/>
                      <a:pt x="444" y="64"/>
                      <a:pt x="444" y="64"/>
                    </a:cubicBezTo>
                    <a:cubicBezTo>
                      <a:pt x="459" y="69"/>
                      <a:pt x="459" y="69"/>
                      <a:pt x="459" y="69"/>
                    </a:cubicBezTo>
                    <a:cubicBezTo>
                      <a:pt x="457" y="75"/>
                      <a:pt x="457" y="75"/>
                      <a:pt x="457" y="75"/>
                    </a:cubicBezTo>
                    <a:cubicBezTo>
                      <a:pt x="442" y="70"/>
                      <a:pt x="442" y="70"/>
                      <a:pt x="442" y="70"/>
                    </a:cubicBezTo>
                    <a:cubicBezTo>
                      <a:pt x="439" y="80"/>
                      <a:pt x="439" y="80"/>
                      <a:pt x="439" y="80"/>
                    </a:cubicBezTo>
                    <a:cubicBezTo>
                      <a:pt x="457" y="86"/>
                      <a:pt x="457" y="86"/>
                      <a:pt x="457" y="86"/>
                    </a:cubicBezTo>
                    <a:cubicBezTo>
                      <a:pt x="455" y="93"/>
                      <a:pt x="455" y="93"/>
                      <a:pt x="455" y="93"/>
                    </a:cubicBezTo>
                    <a:cubicBezTo>
                      <a:pt x="415" y="80"/>
                      <a:pt x="415" y="80"/>
                      <a:pt x="415" y="80"/>
                    </a:cubicBezTo>
                    <a:lnTo>
                      <a:pt x="428" y="42"/>
                    </a:lnTo>
                    <a:close/>
                    <a:moveTo>
                      <a:pt x="343" y="30"/>
                    </a:moveTo>
                    <a:cubicBezTo>
                      <a:pt x="382" y="32"/>
                      <a:pt x="382" y="32"/>
                      <a:pt x="382" y="32"/>
                    </a:cubicBezTo>
                    <a:cubicBezTo>
                      <a:pt x="396" y="40"/>
                      <a:pt x="396" y="40"/>
                      <a:pt x="396" y="40"/>
                    </a:cubicBezTo>
                    <a:cubicBezTo>
                      <a:pt x="396" y="49"/>
                      <a:pt x="396" y="49"/>
                      <a:pt x="396" y="49"/>
                    </a:cubicBezTo>
                    <a:cubicBezTo>
                      <a:pt x="384" y="53"/>
                      <a:pt x="384" y="53"/>
                      <a:pt x="384" y="53"/>
                    </a:cubicBezTo>
                    <a:cubicBezTo>
                      <a:pt x="395" y="57"/>
                      <a:pt x="395" y="57"/>
                      <a:pt x="395" y="57"/>
                    </a:cubicBezTo>
                    <a:cubicBezTo>
                      <a:pt x="394" y="73"/>
                      <a:pt x="394" y="73"/>
                      <a:pt x="394" y="73"/>
                    </a:cubicBezTo>
                    <a:cubicBezTo>
                      <a:pt x="373" y="71"/>
                      <a:pt x="373" y="71"/>
                      <a:pt x="373" y="71"/>
                    </a:cubicBezTo>
                    <a:cubicBezTo>
                      <a:pt x="374" y="56"/>
                      <a:pt x="374" y="56"/>
                      <a:pt x="374" y="56"/>
                    </a:cubicBezTo>
                    <a:cubicBezTo>
                      <a:pt x="364" y="55"/>
                      <a:pt x="364" y="55"/>
                      <a:pt x="364" y="55"/>
                    </a:cubicBezTo>
                    <a:cubicBezTo>
                      <a:pt x="363" y="71"/>
                      <a:pt x="363" y="71"/>
                      <a:pt x="363" y="71"/>
                    </a:cubicBezTo>
                    <a:cubicBezTo>
                      <a:pt x="340" y="69"/>
                      <a:pt x="340" y="69"/>
                      <a:pt x="340" y="69"/>
                    </a:cubicBezTo>
                    <a:lnTo>
                      <a:pt x="343" y="30"/>
                    </a:lnTo>
                    <a:close/>
                    <a:moveTo>
                      <a:pt x="317" y="30"/>
                    </a:moveTo>
                    <a:cubicBezTo>
                      <a:pt x="318" y="37"/>
                      <a:pt x="318" y="37"/>
                      <a:pt x="318" y="37"/>
                    </a:cubicBezTo>
                    <a:cubicBezTo>
                      <a:pt x="305" y="40"/>
                      <a:pt x="305" y="40"/>
                      <a:pt x="305" y="40"/>
                    </a:cubicBezTo>
                    <a:cubicBezTo>
                      <a:pt x="311" y="71"/>
                      <a:pt x="311" y="71"/>
                      <a:pt x="311" y="71"/>
                    </a:cubicBezTo>
                    <a:cubicBezTo>
                      <a:pt x="288" y="74"/>
                      <a:pt x="288" y="74"/>
                      <a:pt x="288" y="74"/>
                    </a:cubicBezTo>
                    <a:cubicBezTo>
                      <a:pt x="283" y="43"/>
                      <a:pt x="283" y="43"/>
                      <a:pt x="283" y="43"/>
                    </a:cubicBezTo>
                    <a:cubicBezTo>
                      <a:pt x="270" y="45"/>
                      <a:pt x="270" y="45"/>
                      <a:pt x="270" y="45"/>
                    </a:cubicBezTo>
                    <a:cubicBezTo>
                      <a:pt x="269" y="37"/>
                      <a:pt x="269" y="37"/>
                      <a:pt x="269" y="37"/>
                    </a:cubicBezTo>
                    <a:lnTo>
                      <a:pt x="317" y="30"/>
                    </a:lnTo>
                    <a:close/>
                    <a:moveTo>
                      <a:pt x="208" y="60"/>
                    </a:moveTo>
                    <a:cubicBezTo>
                      <a:pt x="230" y="50"/>
                      <a:pt x="230" y="50"/>
                      <a:pt x="230" y="50"/>
                    </a:cubicBezTo>
                    <a:cubicBezTo>
                      <a:pt x="246" y="49"/>
                      <a:pt x="246" y="49"/>
                      <a:pt x="246" y="49"/>
                    </a:cubicBezTo>
                    <a:cubicBezTo>
                      <a:pt x="249" y="56"/>
                      <a:pt x="249" y="56"/>
                      <a:pt x="249" y="56"/>
                    </a:cubicBezTo>
                    <a:cubicBezTo>
                      <a:pt x="229" y="65"/>
                      <a:pt x="229" y="65"/>
                      <a:pt x="229" y="65"/>
                    </a:cubicBezTo>
                    <a:cubicBezTo>
                      <a:pt x="227" y="60"/>
                      <a:pt x="227" y="60"/>
                      <a:pt x="227" y="60"/>
                    </a:cubicBezTo>
                    <a:cubicBezTo>
                      <a:pt x="218" y="64"/>
                      <a:pt x="218" y="64"/>
                      <a:pt x="218" y="64"/>
                    </a:cubicBezTo>
                    <a:cubicBezTo>
                      <a:pt x="221" y="71"/>
                      <a:pt x="221" y="71"/>
                      <a:pt x="221" y="71"/>
                    </a:cubicBezTo>
                    <a:cubicBezTo>
                      <a:pt x="237" y="65"/>
                      <a:pt x="237" y="65"/>
                      <a:pt x="237" y="65"/>
                    </a:cubicBezTo>
                    <a:cubicBezTo>
                      <a:pt x="253" y="64"/>
                      <a:pt x="253" y="64"/>
                      <a:pt x="253" y="64"/>
                    </a:cubicBezTo>
                    <a:cubicBezTo>
                      <a:pt x="258" y="74"/>
                      <a:pt x="258" y="74"/>
                      <a:pt x="258" y="74"/>
                    </a:cubicBezTo>
                    <a:cubicBezTo>
                      <a:pt x="247" y="86"/>
                      <a:pt x="247" y="86"/>
                      <a:pt x="247" y="86"/>
                    </a:cubicBezTo>
                    <a:cubicBezTo>
                      <a:pt x="224" y="96"/>
                      <a:pt x="224" y="96"/>
                      <a:pt x="224" y="96"/>
                    </a:cubicBezTo>
                    <a:cubicBezTo>
                      <a:pt x="208" y="97"/>
                      <a:pt x="208" y="97"/>
                      <a:pt x="208" y="97"/>
                    </a:cubicBezTo>
                    <a:cubicBezTo>
                      <a:pt x="205" y="91"/>
                      <a:pt x="205" y="91"/>
                      <a:pt x="205" y="91"/>
                    </a:cubicBezTo>
                    <a:cubicBezTo>
                      <a:pt x="226" y="81"/>
                      <a:pt x="226" y="81"/>
                      <a:pt x="226" y="81"/>
                    </a:cubicBezTo>
                    <a:cubicBezTo>
                      <a:pt x="228" y="86"/>
                      <a:pt x="228" y="86"/>
                      <a:pt x="228" y="86"/>
                    </a:cubicBezTo>
                    <a:cubicBezTo>
                      <a:pt x="237" y="82"/>
                      <a:pt x="237" y="82"/>
                      <a:pt x="237" y="82"/>
                    </a:cubicBezTo>
                    <a:cubicBezTo>
                      <a:pt x="233" y="74"/>
                      <a:pt x="233" y="74"/>
                      <a:pt x="233" y="74"/>
                    </a:cubicBezTo>
                    <a:cubicBezTo>
                      <a:pt x="218" y="81"/>
                      <a:pt x="218" y="81"/>
                      <a:pt x="218" y="81"/>
                    </a:cubicBezTo>
                    <a:cubicBezTo>
                      <a:pt x="202" y="82"/>
                      <a:pt x="202" y="82"/>
                      <a:pt x="202" y="82"/>
                    </a:cubicBezTo>
                    <a:cubicBezTo>
                      <a:pt x="196" y="71"/>
                      <a:pt x="196" y="71"/>
                      <a:pt x="196" y="71"/>
                    </a:cubicBezTo>
                    <a:lnTo>
                      <a:pt x="208" y="60"/>
                    </a:lnTo>
                    <a:close/>
                    <a:moveTo>
                      <a:pt x="342" y="96"/>
                    </a:moveTo>
                    <a:cubicBezTo>
                      <a:pt x="477" y="96"/>
                      <a:pt x="588" y="205"/>
                      <a:pt x="588" y="340"/>
                    </a:cubicBezTo>
                    <a:cubicBezTo>
                      <a:pt x="588" y="351"/>
                      <a:pt x="587" y="361"/>
                      <a:pt x="586" y="372"/>
                    </a:cubicBezTo>
                    <a:cubicBezTo>
                      <a:pt x="569" y="491"/>
                      <a:pt x="466" y="583"/>
                      <a:pt x="342" y="583"/>
                    </a:cubicBezTo>
                    <a:cubicBezTo>
                      <a:pt x="217" y="583"/>
                      <a:pt x="115" y="491"/>
                      <a:pt x="99" y="372"/>
                    </a:cubicBezTo>
                    <a:cubicBezTo>
                      <a:pt x="97" y="361"/>
                      <a:pt x="96" y="351"/>
                      <a:pt x="96" y="340"/>
                    </a:cubicBezTo>
                    <a:cubicBezTo>
                      <a:pt x="96" y="205"/>
                      <a:pt x="206" y="96"/>
                      <a:pt x="342" y="96"/>
                    </a:cubicBezTo>
                    <a:moveTo>
                      <a:pt x="100" y="146"/>
                    </a:moveTo>
                    <a:cubicBezTo>
                      <a:pt x="116" y="127"/>
                      <a:pt x="116" y="127"/>
                      <a:pt x="116" y="127"/>
                    </a:cubicBezTo>
                    <a:cubicBezTo>
                      <a:pt x="130" y="119"/>
                      <a:pt x="130" y="119"/>
                      <a:pt x="130" y="119"/>
                    </a:cubicBezTo>
                    <a:cubicBezTo>
                      <a:pt x="137" y="125"/>
                      <a:pt x="137" y="125"/>
                      <a:pt x="137" y="125"/>
                    </a:cubicBezTo>
                    <a:cubicBezTo>
                      <a:pt x="122" y="142"/>
                      <a:pt x="122" y="142"/>
                      <a:pt x="122" y="142"/>
                    </a:cubicBezTo>
                    <a:cubicBezTo>
                      <a:pt x="117" y="137"/>
                      <a:pt x="117" y="137"/>
                      <a:pt x="117" y="137"/>
                    </a:cubicBezTo>
                    <a:cubicBezTo>
                      <a:pt x="111" y="145"/>
                      <a:pt x="111" y="145"/>
                      <a:pt x="111" y="145"/>
                    </a:cubicBezTo>
                    <a:cubicBezTo>
                      <a:pt x="129" y="160"/>
                      <a:pt x="129" y="160"/>
                      <a:pt x="129" y="160"/>
                    </a:cubicBezTo>
                    <a:cubicBezTo>
                      <a:pt x="136" y="153"/>
                      <a:pt x="136" y="153"/>
                      <a:pt x="136" y="153"/>
                    </a:cubicBezTo>
                    <a:cubicBezTo>
                      <a:pt x="129" y="147"/>
                      <a:pt x="129" y="147"/>
                      <a:pt x="129" y="147"/>
                    </a:cubicBezTo>
                    <a:cubicBezTo>
                      <a:pt x="143" y="130"/>
                      <a:pt x="143" y="130"/>
                      <a:pt x="143" y="130"/>
                    </a:cubicBezTo>
                    <a:cubicBezTo>
                      <a:pt x="152" y="137"/>
                      <a:pt x="152" y="137"/>
                      <a:pt x="152" y="137"/>
                    </a:cubicBezTo>
                    <a:cubicBezTo>
                      <a:pt x="146" y="153"/>
                      <a:pt x="146" y="153"/>
                      <a:pt x="146" y="153"/>
                    </a:cubicBezTo>
                    <a:cubicBezTo>
                      <a:pt x="131" y="170"/>
                      <a:pt x="131" y="170"/>
                      <a:pt x="131" y="170"/>
                    </a:cubicBezTo>
                    <a:cubicBezTo>
                      <a:pt x="116" y="179"/>
                      <a:pt x="116" y="179"/>
                      <a:pt x="116" y="179"/>
                    </a:cubicBezTo>
                    <a:cubicBezTo>
                      <a:pt x="94" y="160"/>
                      <a:pt x="94" y="160"/>
                      <a:pt x="94" y="160"/>
                    </a:cubicBezTo>
                    <a:lnTo>
                      <a:pt x="100" y="146"/>
                    </a:lnTo>
                    <a:close/>
                    <a:moveTo>
                      <a:pt x="68" y="193"/>
                    </a:moveTo>
                    <a:cubicBezTo>
                      <a:pt x="80" y="181"/>
                      <a:pt x="80" y="181"/>
                      <a:pt x="80" y="181"/>
                    </a:cubicBezTo>
                    <a:cubicBezTo>
                      <a:pt x="93" y="187"/>
                      <a:pt x="93" y="187"/>
                      <a:pt x="93" y="187"/>
                    </a:cubicBezTo>
                    <a:cubicBezTo>
                      <a:pt x="92" y="204"/>
                      <a:pt x="92" y="204"/>
                      <a:pt x="92" y="204"/>
                    </a:cubicBezTo>
                    <a:cubicBezTo>
                      <a:pt x="86" y="217"/>
                      <a:pt x="86" y="217"/>
                      <a:pt x="86" y="217"/>
                    </a:cubicBezTo>
                    <a:cubicBezTo>
                      <a:pt x="99" y="222"/>
                      <a:pt x="99" y="222"/>
                      <a:pt x="99" y="222"/>
                    </a:cubicBezTo>
                    <a:cubicBezTo>
                      <a:pt x="89" y="243"/>
                      <a:pt x="89" y="243"/>
                      <a:pt x="89" y="243"/>
                    </a:cubicBezTo>
                    <a:cubicBezTo>
                      <a:pt x="53" y="227"/>
                      <a:pt x="53" y="227"/>
                      <a:pt x="53" y="227"/>
                    </a:cubicBezTo>
                    <a:lnTo>
                      <a:pt x="68" y="193"/>
                    </a:lnTo>
                    <a:close/>
                    <a:moveTo>
                      <a:pt x="40" y="268"/>
                    </a:moveTo>
                    <a:cubicBezTo>
                      <a:pt x="49" y="254"/>
                      <a:pt x="49" y="254"/>
                      <a:pt x="49" y="254"/>
                    </a:cubicBezTo>
                    <a:cubicBezTo>
                      <a:pt x="63" y="257"/>
                      <a:pt x="63" y="257"/>
                      <a:pt x="63" y="257"/>
                    </a:cubicBezTo>
                    <a:cubicBezTo>
                      <a:pt x="66" y="272"/>
                      <a:pt x="66" y="272"/>
                      <a:pt x="66" y="272"/>
                    </a:cubicBezTo>
                    <a:cubicBezTo>
                      <a:pt x="64" y="286"/>
                      <a:pt x="64" y="286"/>
                      <a:pt x="64" y="286"/>
                    </a:cubicBezTo>
                    <a:cubicBezTo>
                      <a:pt x="77" y="290"/>
                      <a:pt x="77" y="290"/>
                      <a:pt x="77" y="290"/>
                    </a:cubicBezTo>
                    <a:cubicBezTo>
                      <a:pt x="72" y="311"/>
                      <a:pt x="72" y="311"/>
                      <a:pt x="72" y="311"/>
                    </a:cubicBezTo>
                    <a:cubicBezTo>
                      <a:pt x="33" y="305"/>
                      <a:pt x="33" y="305"/>
                      <a:pt x="33" y="305"/>
                    </a:cubicBezTo>
                    <a:lnTo>
                      <a:pt x="40" y="268"/>
                    </a:lnTo>
                    <a:close/>
                    <a:moveTo>
                      <a:pt x="68" y="485"/>
                    </a:moveTo>
                    <a:cubicBezTo>
                      <a:pt x="57" y="474"/>
                      <a:pt x="57" y="474"/>
                      <a:pt x="57" y="474"/>
                    </a:cubicBezTo>
                    <a:cubicBezTo>
                      <a:pt x="47" y="452"/>
                      <a:pt x="47" y="452"/>
                      <a:pt x="47" y="452"/>
                    </a:cubicBezTo>
                    <a:cubicBezTo>
                      <a:pt x="46" y="434"/>
                      <a:pt x="46" y="434"/>
                      <a:pt x="46" y="434"/>
                    </a:cubicBezTo>
                    <a:cubicBezTo>
                      <a:pt x="72" y="423"/>
                      <a:pt x="72" y="423"/>
                      <a:pt x="72" y="423"/>
                    </a:cubicBezTo>
                    <a:cubicBezTo>
                      <a:pt x="83" y="435"/>
                      <a:pt x="83" y="435"/>
                      <a:pt x="83" y="435"/>
                    </a:cubicBezTo>
                    <a:cubicBezTo>
                      <a:pt x="93" y="458"/>
                      <a:pt x="93" y="458"/>
                      <a:pt x="93" y="458"/>
                    </a:cubicBezTo>
                    <a:cubicBezTo>
                      <a:pt x="94" y="474"/>
                      <a:pt x="94" y="474"/>
                      <a:pt x="94" y="474"/>
                    </a:cubicBezTo>
                    <a:cubicBezTo>
                      <a:pt x="86" y="479"/>
                      <a:pt x="86" y="479"/>
                      <a:pt x="86" y="479"/>
                    </a:cubicBezTo>
                    <a:cubicBezTo>
                      <a:pt x="77" y="457"/>
                      <a:pt x="77" y="457"/>
                      <a:pt x="77" y="457"/>
                    </a:cubicBezTo>
                    <a:cubicBezTo>
                      <a:pt x="83" y="455"/>
                      <a:pt x="83" y="455"/>
                      <a:pt x="83" y="455"/>
                    </a:cubicBezTo>
                    <a:cubicBezTo>
                      <a:pt x="80" y="445"/>
                      <a:pt x="80" y="445"/>
                      <a:pt x="80" y="445"/>
                    </a:cubicBezTo>
                    <a:cubicBezTo>
                      <a:pt x="57" y="455"/>
                      <a:pt x="57" y="455"/>
                      <a:pt x="57" y="455"/>
                    </a:cubicBezTo>
                    <a:cubicBezTo>
                      <a:pt x="61" y="465"/>
                      <a:pt x="61" y="465"/>
                      <a:pt x="61" y="465"/>
                    </a:cubicBezTo>
                    <a:cubicBezTo>
                      <a:pt x="66" y="463"/>
                      <a:pt x="66" y="463"/>
                      <a:pt x="66" y="463"/>
                    </a:cubicBezTo>
                    <a:cubicBezTo>
                      <a:pt x="64" y="457"/>
                      <a:pt x="64" y="457"/>
                      <a:pt x="64" y="457"/>
                    </a:cubicBezTo>
                    <a:cubicBezTo>
                      <a:pt x="71" y="454"/>
                      <a:pt x="71" y="454"/>
                      <a:pt x="71" y="454"/>
                    </a:cubicBezTo>
                    <a:cubicBezTo>
                      <a:pt x="82" y="480"/>
                      <a:pt x="82" y="480"/>
                      <a:pt x="82" y="480"/>
                    </a:cubicBezTo>
                    <a:lnTo>
                      <a:pt x="68" y="485"/>
                    </a:lnTo>
                    <a:close/>
                    <a:moveTo>
                      <a:pt x="107" y="547"/>
                    </a:moveTo>
                    <a:cubicBezTo>
                      <a:pt x="103" y="542"/>
                      <a:pt x="103" y="542"/>
                      <a:pt x="103" y="542"/>
                    </a:cubicBezTo>
                    <a:cubicBezTo>
                      <a:pt x="91" y="528"/>
                      <a:pt x="91" y="528"/>
                      <a:pt x="91" y="528"/>
                    </a:cubicBezTo>
                    <a:cubicBezTo>
                      <a:pt x="86" y="513"/>
                      <a:pt x="86" y="513"/>
                      <a:pt x="86" y="513"/>
                    </a:cubicBezTo>
                    <a:cubicBezTo>
                      <a:pt x="112" y="491"/>
                      <a:pt x="112" y="491"/>
                      <a:pt x="112" y="491"/>
                    </a:cubicBezTo>
                    <a:cubicBezTo>
                      <a:pt x="126" y="508"/>
                      <a:pt x="126" y="508"/>
                      <a:pt x="126" y="508"/>
                    </a:cubicBezTo>
                    <a:cubicBezTo>
                      <a:pt x="102" y="529"/>
                      <a:pt x="102" y="529"/>
                      <a:pt x="102" y="529"/>
                    </a:cubicBezTo>
                    <a:cubicBezTo>
                      <a:pt x="107" y="536"/>
                      <a:pt x="107" y="536"/>
                      <a:pt x="107" y="536"/>
                    </a:cubicBezTo>
                    <a:cubicBezTo>
                      <a:pt x="132" y="516"/>
                      <a:pt x="132" y="516"/>
                      <a:pt x="132" y="516"/>
                    </a:cubicBezTo>
                    <a:cubicBezTo>
                      <a:pt x="147" y="533"/>
                      <a:pt x="147" y="533"/>
                      <a:pt x="147" y="533"/>
                    </a:cubicBezTo>
                    <a:cubicBezTo>
                      <a:pt x="136" y="542"/>
                      <a:pt x="136" y="542"/>
                      <a:pt x="136" y="542"/>
                    </a:cubicBezTo>
                    <a:cubicBezTo>
                      <a:pt x="121" y="555"/>
                      <a:pt x="121" y="555"/>
                      <a:pt x="121" y="555"/>
                    </a:cubicBezTo>
                    <a:lnTo>
                      <a:pt x="107" y="547"/>
                    </a:lnTo>
                    <a:close/>
                    <a:moveTo>
                      <a:pt x="190" y="596"/>
                    </a:moveTo>
                    <a:cubicBezTo>
                      <a:pt x="187" y="611"/>
                      <a:pt x="187" y="611"/>
                      <a:pt x="187" y="611"/>
                    </a:cubicBezTo>
                    <a:cubicBezTo>
                      <a:pt x="168" y="598"/>
                      <a:pt x="168" y="598"/>
                      <a:pt x="168" y="598"/>
                    </a:cubicBezTo>
                    <a:cubicBezTo>
                      <a:pt x="169" y="596"/>
                      <a:pt x="169" y="596"/>
                      <a:pt x="169" y="596"/>
                    </a:cubicBezTo>
                    <a:cubicBezTo>
                      <a:pt x="170" y="592"/>
                      <a:pt x="170" y="592"/>
                      <a:pt x="170" y="592"/>
                    </a:cubicBezTo>
                    <a:cubicBezTo>
                      <a:pt x="159" y="584"/>
                      <a:pt x="159" y="584"/>
                      <a:pt x="159" y="584"/>
                    </a:cubicBezTo>
                    <a:cubicBezTo>
                      <a:pt x="154" y="589"/>
                      <a:pt x="154" y="589"/>
                      <a:pt x="154" y="589"/>
                    </a:cubicBezTo>
                    <a:cubicBezTo>
                      <a:pt x="136" y="577"/>
                      <a:pt x="136" y="577"/>
                      <a:pt x="136" y="577"/>
                    </a:cubicBezTo>
                    <a:cubicBezTo>
                      <a:pt x="170" y="552"/>
                      <a:pt x="170" y="552"/>
                      <a:pt x="170" y="552"/>
                    </a:cubicBezTo>
                    <a:cubicBezTo>
                      <a:pt x="197" y="570"/>
                      <a:pt x="197" y="570"/>
                      <a:pt x="197" y="570"/>
                    </a:cubicBezTo>
                    <a:lnTo>
                      <a:pt x="190" y="596"/>
                    </a:lnTo>
                    <a:close/>
                    <a:moveTo>
                      <a:pt x="270" y="619"/>
                    </a:moveTo>
                    <a:cubicBezTo>
                      <a:pt x="258" y="619"/>
                      <a:pt x="258" y="619"/>
                      <a:pt x="258" y="619"/>
                    </a:cubicBezTo>
                    <a:cubicBezTo>
                      <a:pt x="267" y="627"/>
                      <a:pt x="267" y="627"/>
                      <a:pt x="267" y="627"/>
                    </a:cubicBezTo>
                    <a:cubicBezTo>
                      <a:pt x="262" y="641"/>
                      <a:pt x="262" y="641"/>
                      <a:pt x="262" y="641"/>
                    </a:cubicBezTo>
                    <a:cubicBezTo>
                      <a:pt x="241" y="633"/>
                      <a:pt x="241" y="633"/>
                      <a:pt x="241" y="633"/>
                    </a:cubicBezTo>
                    <a:cubicBezTo>
                      <a:pt x="246" y="619"/>
                      <a:pt x="246" y="619"/>
                      <a:pt x="246" y="619"/>
                    </a:cubicBezTo>
                    <a:cubicBezTo>
                      <a:pt x="238" y="616"/>
                      <a:pt x="238" y="616"/>
                      <a:pt x="238" y="616"/>
                    </a:cubicBezTo>
                    <a:cubicBezTo>
                      <a:pt x="232" y="630"/>
                      <a:pt x="232" y="630"/>
                      <a:pt x="232" y="630"/>
                    </a:cubicBezTo>
                    <a:cubicBezTo>
                      <a:pt x="211" y="622"/>
                      <a:pt x="211" y="622"/>
                      <a:pt x="211" y="622"/>
                    </a:cubicBezTo>
                    <a:cubicBezTo>
                      <a:pt x="220" y="596"/>
                      <a:pt x="220" y="596"/>
                      <a:pt x="220" y="596"/>
                    </a:cubicBezTo>
                    <a:cubicBezTo>
                      <a:pt x="225" y="585"/>
                      <a:pt x="225" y="585"/>
                      <a:pt x="225" y="585"/>
                    </a:cubicBezTo>
                    <a:cubicBezTo>
                      <a:pt x="255" y="596"/>
                      <a:pt x="255" y="596"/>
                      <a:pt x="255" y="596"/>
                    </a:cubicBezTo>
                    <a:cubicBezTo>
                      <a:pt x="262" y="598"/>
                      <a:pt x="262" y="598"/>
                      <a:pt x="262" y="598"/>
                    </a:cubicBezTo>
                    <a:cubicBezTo>
                      <a:pt x="274" y="609"/>
                      <a:pt x="274" y="609"/>
                      <a:pt x="274" y="609"/>
                    </a:cubicBezTo>
                    <a:lnTo>
                      <a:pt x="270" y="619"/>
                    </a:lnTo>
                    <a:close/>
                    <a:moveTo>
                      <a:pt x="328" y="650"/>
                    </a:moveTo>
                    <a:cubicBezTo>
                      <a:pt x="327" y="642"/>
                      <a:pt x="327" y="642"/>
                      <a:pt x="327" y="642"/>
                    </a:cubicBezTo>
                    <a:cubicBezTo>
                      <a:pt x="314" y="641"/>
                      <a:pt x="314" y="641"/>
                      <a:pt x="314" y="641"/>
                    </a:cubicBezTo>
                    <a:cubicBezTo>
                      <a:pt x="311" y="648"/>
                      <a:pt x="311" y="648"/>
                      <a:pt x="311" y="648"/>
                    </a:cubicBezTo>
                    <a:cubicBezTo>
                      <a:pt x="289" y="646"/>
                      <a:pt x="289" y="646"/>
                      <a:pt x="289" y="646"/>
                    </a:cubicBezTo>
                    <a:cubicBezTo>
                      <a:pt x="305" y="608"/>
                      <a:pt x="305" y="608"/>
                      <a:pt x="305" y="608"/>
                    </a:cubicBezTo>
                    <a:cubicBezTo>
                      <a:pt x="339" y="610"/>
                      <a:pt x="339" y="610"/>
                      <a:pt x="339" y="610"/>
                    </a:cubicBezTo>
                    <a:cubicBezTo>
                      <a:pt x="351" y="651"/>
                      <a:pt x="351" y="651"/>
                      <a:pt x="351" y="651"/>
                    </a:cubicBezTo>
                    <a:lnTo>
                      <a:pt x="328" y="650"/>
                    </a:lnTo>
                    <a:close/>
                    <a:moveTo>
                      <a:pt x="412" y="642"/>
                    </a:moveTo>
                    <a:cubicBezTo>
                      <a:pt x="393" y="626"/>
                      <a:pt x="393" y="626"/>
                      <a:pt x="393" y="626"/>
                    </a:cubicBezTo>
                    <a:cubicBezTo>
                      <a:pt x="396" y="645"/>
                      <a:pt x="396" y="645"/>
                      <a:pt x="396" y="645"/>
                    </a:cubicBezTo>
                    <a:cubicBezTo>
                      <a:pt x="376" y="648"/>
                      <a:pt x="376" y="648"/>
                      <a:pt x="376" y="648"/>
                    </a:cubicBezTo>
                    <a:cubicBezTo>
                      <a:pt x="369" y="609"/>
                      <a:pt x="369" y="609"/>
                      <a:pt x="369" y="609"/>
                    </a:cubicBezTo>
                    <a:cubicBezTo>
                      <a:pt x="388" y="606"/>
                      <a:pt x="388" y="606"/>
                      <a:pt x="388" y="606"/>
                    </a:cubicBezTo>
                    <a:cubicBezTo>
                      <a:pt x="405" y="622"/>
                      <a:pt x="405" y="622"/>
                      <a:pt x="405" y="622"/>
                    </a:cubicBezTo>
                    <a:cubicBezTo>
                      <a:pt x="402" y="604"/>
                      <a:pt x="402" y="604"/>
                      <a:pt x="402" y="604"/>
                    </a:cubicBezTo>
                    <a:cubicBezTo>
                      <a:pt x="424" y="599"/>
                      <a:pt x="424" y="599"/>
                      <a:pt x="424" y="599"/>
                    </a:cubicBezTo>
                    <a:cubicBezTo>
                      <a:pt x="430" y="639"/>
                      <a:pt x="430" y="639"/>
                      <a:pt x="430" y="639"/>
                    </a:cubicBezTo>
                    <a:lnTo>
                      <a:pt x="412" y="642"/>
                    </a:lnTo>
                    <a:close/>
                    <a:moveTo>
                      <a:pt x="470" y="622"/>
                    </a:moveTo>
                    <a:cubicBezTo>
                      <a:pt x="457" y="596"/>
                      <a:pt x="457" y="596"/>
                      <a:pt x="457" y="596"/>
                    </a:cubicBezTo>
                    <a:cubicBezTo>
                      <a:pt x="456" y="594"/>
                      <a:pt x="456" y="594"/>
                      <a:pt x="456" y="594"/>
                    </a:cubicBezTo>
                    <a:cubicBezTo>
                      <a:pt x="451" y="596"/>
                      <a:pt x="451" y="596"/>
                      <a:pt x="451" y="596"/>
                    </a:cubicBezTo>
                    <a:cubicBezTo>
                      <a:pt x="444" y="601"/>
                      <a:pt x="444" y="601"/>
                      <a:pt x="444" y="601"/>
                    </a:cubicBezTo>
                    <a:cubicBezTo>
                      <a:pt x="442" y="596"/>
                      <a:pt x="442" y="596"/>
                      <a:pt x="442" y="596"/>
                    </a:cubicBezTo>
                    <a:cubicBezTo>
                      <a:pt x="441" y="593"/>
                      <a:pt x="441" y="593"/>
                      <a:pt x="441" y="593"/>
                    </a:cubicBezTo>
                    <a:cubicBezTo>
                      <a:pt x="485" y="571"/>
                      <a:pt x="485" y="571"/>
                      <a:pt x="485" y="571"/>
                    </a:cubicBezTo>
                    <a:cubicBezTo>
                      <a:pt x="488" y="579"/>
                      <a:pt x="488" y="579"/>
                      <a:pt x="488" y="579"/>
                    </a:cubicBezTo>
                    <a:cubicBezTo>
                      <a:pt x="476" y="584"/>
                      <a:pt x="476" y="584"/>
                      <a:pt x="476" y="584"/>
                    </a:cubicBezTo>
                    <a:cubicBezTo>
                      <a:pt x="482" y="596"/>
                      <a:pt x="482" y="596"/>
                      <a:pt x="482" y="596"/>
                    </a:cubicBezTo>
                    <a:cubicBezTo>
                      <a:pt x="491" y="613"/>
                      <a:pt x="491" y="613"/>
                      <a:pt x="491" y="613"/>
                    </a:cubicBezTo>
                    <a:lnTo>
                      <a:pt x="470" y="622"/>
                    </a:lnTo>
                    <a:close/>
                    <a:moveTo>
                      <a:pt x="524" y="593"/>
                    </a:moveTo>
                    <a:cubicBezTo>
                      <a:pt x="499" y="563"/>
                      <a:pt x="499" y="563"/>
                      <a:pt x="499" y="563"/>
                    </a:cubicBezTo>
                    <a:cubicBezTo>
                      <a:pt x="525" y="542"/>
                      <a:pt x="525" y="542"/>
                      <a:pt x="525" y="542"/>
                    </a:cubicBezTo>
                    <a:cubicBezTo>
                      <a:pt x="531" y="536"/>
                      <a:pt x="531" y="536"/>
                      <a:pt x="531" y="536"/>
                    </a:cubicBezTo>
                    <a:cubicBezTo>
                      <a:pt x="536" y="542"/>
                      <a:pt x="536" y="542"/>
                      <a:pt x="536" y="542"/>
                    </a:cubicBezTo>
                    <a:cubicBezTo>
                      <a:pt x="537" y="542"/>
                      <a:pt x="537" y="542"/>
                      <a:pt x="537" y="542"/>
                    </a:cubicBezTo>
                    <a:cubicBezTo>
                      <a:pt x="521" y="554"/>
                      <a:pt x="521" y="554"/>
                      <a:pt x="521" y="554"/>
                    </a:cubicBezTo>
                    <a:cubicBezTo>
                      <a:pt x="526" y="560"/>
                      <a:pt x="526" y="560"/>
                      <a:pt x="526" y="560"/>
                    </a:cubicBezTo>
                    <a:cubicBezTo>
                      <a:pt x="539" y="551"/>
                      <a:pt x="539" y="551"/>
                      <a:pt x="539" y="551"/>
                    </a:cubicBezTo>
                    <a:cubicBezTo>
                      <a:pt x="543" y="556"/>
                      <a:pt x="543" y="556"/>
                      <a:pt x="543" y="556"/>
                    </a:cubicBezTo>
                    <a:cubicBezTo>
                      <a:pt x="530" y="566"/>
                      <a:pt x="530" y="566"/>
                      <a:pt x="530" y="566"/>
                    </a:cubicBezTo>
                    <a:cubicBezTo>
                      <a:pt x="537" y="573"/>
                      <a:pt x="537" y="573"/>
                      <a:pt x="537" y="573"/>
                    </a:cubicBezTo>
                    <a:cubicBezTo>
                      <a:pt x="552" y="561"/>
                      <a:pt x="552" y="561"/>
                      <a:pt x="552" y="561"/>
                    </a:cubicBezTo>
                    <a:cubicBezTo>
                      <a:pt x="556" y="567"/>
                      <a:pt x="556" y="567"/>
                      <a:pt x="556" y="567"/>
                    </a:cubicBezTo>
                    <a:lnTo>
                      <a:pt x="524" y="593"/>
                    </a:lnTo>
                    <a:close/>
                    <a:moveTo>
                      <a:pt x="580" y="542"/>
                    </a:moveTo>
                    <a:cubicBezTo>
                      <a:pt x="577" y="546"/>
                      <a:pt x="577" y="546"/>
                      <a:pt x="577" y="546"/>
                    </a:cubicBezTo>
                    <a:cubicBezTo>
                      <a:pt x="571" y="542"/>
                      <a:pt x="571" y="542"/>
                      <a:pt x="571" y="542"/>
                    </a:cubicBezTo>
                    <a:cubicBezTo>
                      <a:pt x="545" y="522"/>
                      <a:pt x="545" y="522"/>
                      <a:pt x="545" y="522"/>
                    </a:cubicBezTo>
                    <a:cubicBezTo>
                      <a:pt x="571" y="490"/>
                      <a:pt x="571" y="490"/>
                      <a:pt x="571" y="490"/>
                    </a:cubicBezTo>
                    <a:cubicBezTo>
                      <a:pt x="577" y="494"/>
                      <a:pt x="577" y="494"/>
                      <a:pt x="577" y="494"/>
                    </a:cubicBezTo>
                    <a:cubicBezTo>
                      <a:pt x="565" y="509"/>
                      <a:pt x="565" y="509"/>
                      <a:pt x="565" y="509"/>
                    </a:cubicBezTo>
                    <a:cubicBezTo>
                      <a:pt x="571" y="514"/>
                      <a:pt x="571" y="514"/>
                      <a:pt x="571" y="514"/>
                    </a:cubicBezTo>
                    <a:cubicBezTo>
                      <a:pt x="581" y="502"/>
                      <a:pt x="581" y="502"/>
                      <a:pt x="581" y="502"/>
                    </a:cubicBezTo>
                    <a:cubicBezTo>
                      <a:pt x="587" y="506"/>
                      <a:pt x="587" y="506"/>
                      <a:pt x="587" y="506"/>
                    </a:cubicBezTo>
                    <a:cubicBezTo>
                      <a:pt x="577" y="518"/>
                      <a:pt x="577" y="518"/>
                      <a:pt x="577" y="518"/>
                    </a:cubicBezTo>
                    <a:cubicBezTo>
                      <a:pt x="585" y="524"/>
                      <a:pt x="585" y="524"/>
                      <a:pt x="585" y="524"/>
                    </a:cubicBezTo>
                    <a:cubicBezTo>
                      <a:pt x="598" y="509"/>
                      <a:pt x="598" y="509"/>
                      <a:pt x="598" y="509"/>
                    </a:cubicBezTo>
                    <a:cubicBezTo>
                      <a:pt x="603" y="514"/>
                      <a:pt x="603" y="514"/>
                      <a:pt x="603" y="514"/>
                    </a:cubicBezTo>
                    <a:lnTo>
                      <a:pt x="580" y="542"/>
                    </a:lnTo>
                    <a:close/>
                    <a:moveTo>
                      <a:pt x="636" y="453"/>
                    </a:moveTo>
                    <a:cubicBezTo>
                      <a:pt x="619" y="489"/>
                      <a:pt x="619" y="489"/>
                      <a:pt x="619" y="489"/>
                    </a:cubicBezTo>
                    <a:cubicBezTo>
                      <a:pt x="582" y="473"/>
                      <a:pt x="582" y="473"/>
                      <a:pt x="582" y="473"/>
                    </a:cubicBezTo>
                    <a:cubicBezTo>
                      <a:pt x="599" y="437"/>
                      <a:pt x="599" y="437"/>
                      <a:pt x="599" y="437"/>
                    </a:cubicBezTo>
                    <a:cubicBezTo>
                      <a:pt x="611" y="426"/>
                      <a:pt x="611" y="426"/>
                      <a:pt x="611" y="426"/>
                    </a:cubicBezTo>
                    <a:cubicBezTo>
                      <a:pt x="637" y="436"/>
                      <a:pt x="637" y="436"/>
                      <a:pt x="637" y="436"/>
                    </a:cubicBezTo>
                    <a:lnTo>
                      <a:pt x="636" y="453"/>
                    </a:lnTo>
                    <a:close/>
                    <a:moveTo>
                      <a:pt x="644" y="274"/>
                    </a:moveTo>
                    <a:cubicBezTo>
                      <a:pt x="628" y="277"/>
                      <a:pt x="628" y="277"/>
                      <a:pt x="628" y="277"/>
                    </a:cubicBezTo>
                    <a:cubicBezTo>
                      <a:pt x="630" y="286"/>
                      <a:pt x="630" y="286"/>
                      <a:pt x="630" y="286"/>
                    </a:cubicBezTo>
                    <a:cubicBezTo>
                      <a:pt x="645" y="283"/>
                      <a:pt x="645" y="283"/>
                      <a:pt x="645" y="283"/>
                    </a:cubicBezTo>
                    <a:cubicBezTo>
                      <a:pt x="650" y="306"/>
                      <a:pt x="650" y="306"/>
                      <a:pt x="650" y="306"/>
                    </a:cubicBezTo>
                    <a:cubicBezTo>
                      <a:pt x="611" y="312"/>
                      <a:pt x="611" y="312"/>
                      <a:pt x="611" y="312"/>
                    </a:cubicBezTo>
                    <a:cubicBezTo>
                      <a:pt x="606" y="291"/>
                      <a:pt x="606" y="291"/>
                      <a:pt x="606" y="291"/>
                    </a:cubicBezTo>
                    <a:cubicBezTo>
                      <a:pt x="623" y="287"/>
                      <a:pt x="623" y="287"/>
                      <a:pt x="623" y="287"/>
                    </a:cubicBezTo>
                    <a:cubicBezTo>
                      <a:pt x="620" y="279"/>
                      <a:pt x="620" y="279"/>
                      <a:pt x="620" y="279"/>
                    </a:cubicBezTo>
                    <a:cubicBezTo>
                      <a:pt x="605" y="281"/>
                      <a:pt x="605" y="281"/>
                      <a:pt x="605" y="281"/>
                    </a:cubicBezTo>
                    <a:cubicBezTo>
                      <a:pt x="601" y="259"/>
                      <a:pt x="601" y="259"/>
                      <a:pt x="601" y="259"/>
                    </a:cubicBezTo>
                    <a:cubicBezTo>
                      <a:pt x="640" y="252"/>
                      <a:pt x="640" y="252"/>
                      <a:pt x="640" y="252"/>
                    </a:cubicBezTo>
                    <a:lnTo>
                      <a:pt x="644" y="274"/>
                    </a:lnTo>
                    <a:close/>
                    <a:moveTo>
                      <a:pt x="611" y="184"/>
                    </a:moveTo>
                    <a:cubicBezTo>
                      <a:pt x="631" y="228"/>
                      <a:pt x="631" y="228"/>
                      <a:pt x="631" y="228"/>
                    </a:cubicBezTo>
                    <a:cubicBezTo>
                      <a:pt x="624" y="231"/>
                      <a:pt x="624" y="231"/>
                      <a:pt x="624" y="231"/>
                    </a:cubicBezTo>
                    <a:cubicBezTo>
                      <a:pt x="618" y="219"/>
                      <a:pt x="618" y="219"/>
                      <a:pt x="618" y="219"/>
                    </a:cubicBezTo>
                    <a:cubicBezTo>
                      <a:pt x="589" y="232"/>
                      <a:pt x="589" y="232"/>
                      <a:pt x="589" y="232"/>
                    </a:cubicBezTo>
                    <a:cubicBezTo>
                      <a:pt x="580" y="211"/>
                      <a:pt x="580" y="211"/>
                      <a:pt x="580" y="211"/>
                    </a:cubicBezTo>
                    <a:cubicBezTo>
                      <a:pt x="610" y="198"/>
                      <a:pt x="610" y="198"/>
                      <a:pt x="610" y="198"/>
                    </a:cubicBezTo>
                    <a:cubicBezTo>
                      <a:pt x="604" y="186"/>
                      <a:pt x="604" y="186"/>
                      <a:pt x="604" y="186"/>
                    </a:cubicBezTo>
                    <a:lnTo>
                      <a:pt x="611" y="184"/>
                    </a:lnTo>
                    <a:close/>
                    <a:moveTo>
                      <a:pt x="593" y="165"/>
                    </a:moveTo>
                    <a:cubicBezTo>
                      <a:pt x="586" y="171"/>
                      <a:pt x="586" y="171"/>
                      <a:pt x="586" y="171"/>
                    </a:cubicBezTo>
                    <a:cubicBezTo>
                      <a:pt x="571" y="154"/>
                      <a:pt x="571" y="154"/>
                      <a:pt x="571" y="154"/>
                    </a:cubicBezTo>
                    <a:cubicBezTo>
                      <a:pt x="577" y="149"/>
                      <a:pt x="577" y="149"/>
                      <a:pt x="577" y="149"/>
                    </a:cubicBezTo>
                    <a:cubicBezTo>
                      <a:pt x="569" y="142"/>
                      <a:pt x="569" y="142"/>
                      <a:pt x="569" y="142"/>
                    </a:cubicBezTo>
                    <a:cubicBezTo>
                      <a:pt x="551" y="157"/>
                      <a:pt x="551" y="157"/>
                      <a:pt x="551" y="157"/>
                    </a:cubicBezTo>
                    <a:cubicBezTo>
                      <a:pt x="557" y="166"/>
                      <a:pt x="557" y="166"/>
                      <a:pt x="557" y="166"/>
                    </a:cubicBezTo>
                    <a:cubicBezTo>
                      <a:pt x="562" y="161"/>
                      <a:pt x="562" y="161"/>
                      <a:pt x="562" y="161"/>
                    </a:cubicBezTo>
                    <a:cubicBezTo>
                      <a:pt x="558" y="157"/>
                      <a:pt x="558" y="157"/>
                      <a:pt x="558" y="157"/>
                    </a:cubicBezTo>
                    <a:cubicBezTo>
                      <a:pt x="564" y="153"/>
                      <a:pt x="564" y="153"/>
                      <a:pt x="564" y="153"/>
                    </a:cubicBezTo>
                    <a:cubicBezTo>
                      <a:pt x="582" y="173"/>
                      <a:pt x="582" y="173"/>
                      <a:pt x="582" y="173"/>
                    </a:cubicBezTo>
                    <a:cubicBezTo>
                      <a:pt x="571" y="183"/>
                      <a:pt x="571" y="183"/>
                      <a:pt x="571" y="183"/>
                    </a:cubicBezTo>
                    <a:cubicBezTo>
                      <a:pt x="557" y="175"/>
                      <a:pt x="557" y="175"/>
                      <a:pt x="557" y="175"/>
                    </a:cubicBezTo>
                    <a:cubicBezTo>
                      <a:pt x="541" y="157"/>
                      <a:pt x="541" y="157"/>
                      <a:pt x="541" y="157"/>
                    </a:cubicBezTo>
                    <a:cubicBezTo>
                      <a:pt x="535" y="142"/>
                      <a:pt x="535" y="142"/>
                      <a:pt x="535" y="142"/>
                    </a:cubicBezTo>
                    <a:cubicBezTo>
                      <a:pt x="556" y="123"/>
                      <a:pt x="556" y="123"/>
                      <a:pt x="556" y="123"/>
                    </a:cubicBezTo>
                    <a:cubicBezTo>
                      <a:pt x="570" y="131"/>
                      <a:pt x="570" y="131"/>
                      <a:pt x="570" y="131"/>
                    </a:cubicBezTo>
                    <a:cubicBezTo>
                      <a:pt x="587" y="149"/>
                      <a:pt x="587" y="149"/>
                      <a:pt x="587" y="149"/>
                    </a:cubicBezTo>
                    <a:lnTo>
                      <a:pt x="593" y="16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5" name="Freeform 10">
                <a:extLst>
                  <a:ext uri="{FF2B5EF4-FFF2-40B4-BE49-F238E27FC236}">
                    <a16:creationId xmlns:a16="http://schemas.microsoft.com/office/drawing/2014/main" id="{FDDD7D16-4856-4A78-A940-632696E1A870}"/>
                  </a:ext>
                </a:extLst>
              </p:cNvPr>
              <p:cNvSpPr>
                <a:spLocks/>
              </p:cNvSpPr>
              <p:nvPr/>
            </p:nvSpPr>
            <p:spPr bwMode="auto">
              <a:xfrm>
                <a:off x="9398000" y="8186738"/>
                <a:ext cx="107950" cy="127000"/>
              </a:xfrm>
              <a:custGeom>
                <a:avLst/>
                <a:gdLst>
                  <a:gd name="T0" fmla="*/ 34 w 34"/>
                  <a:gd name="T1" fmla="*/ 39 h 39"/>
                  <a:gd name="T2" fmla="*/ 32 w 34"/>
                  <a:gd name="T3" fmla="*/ 0 h 39"/>
                  <a:gd name="T4" fmla="*/ 0 w 34"/>
                  <a:gd name="T5" fmla="*/ 24 h 39"/>
                  <a:gd name="T6" fmla="*/ 19 w 34"/>
                  <a:gd name="T7" fmla="*/ 32 h 39"/>
                  <a:gd name="T8" fmla="*/ 34 w 34"/>
                  <a:gd name="T9" fmla="*/ 39 h 39"/>
                </a:gdLst>
                <a:ahLst/>
                <a:cxnLst>
                  <a:cxn ang="0">
                    <a:pos x="T0" y="T1"/>
                  </a:cxn>
                  <a:cxn ang="0">
                    <a:pos x="T2" y="T3"/>
                  </a:cxn>
                  <a:cxn ang="0">
                    <a:pos x="T4" y="T5"/>
                  </a:cxn>
                  <a:cxn ang="0">
                    <a:pos x="T6" y="T7"/>
                  </a:cxn>
                  <a:cxn ang="0">
                    <a:pos x="T8" y="T9"/>
                  </a:cxn>
                </a:cxnLst>
                <a:rect l="0" t="0" r="r" b="b"/>
                <a:pathLst>
                  <a:path w="34" h="39">
                    <a:moveTo>
                      <a:pt x="34" y="39"/>
                    </a:moveTo>
                    <a:cubicBezTo>
                      <a:pt x="32" y="0"/>
                      <a:pt x="32" y="0"/>
                      <a:pt x="32" y="0"/>
                    </a:cubicBezTo>
                    <a:cubicBezTo>
                      <a:pt x="0" y="24"/>
                      <a:pt x="0" y="24"/>
                      <a:pt x="0" y="24"/>
                    </a:cubicBezTo>
                    <a:cubicBezTo>
                      <a:pt x="7" y="26"/>
                      <a:pt x="12" y="29"/>
                      <a:pt x="19" y="32"/>
                    </a:cubicBezTo>
                    <a:cubicBezTo>
                      <a:pt x="24" y="34"/>
                      <a:pt x="29" y="36"/>
                      <a:pt x="34" y="3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6" name="Freeform 11">
                <a:extLst>
                  <a:ext uri="{FF2B5EF4-FFF2-40B4-BE49-F238E27FC236}">
                    <a16:creationId xmlns:a16="http://schemas.microsoft.com/office/drawing/2014/main" id="{41BE4EAB-30FD-4C7E-88BD-DEF6A749865A}"/>
                  </a:ext>
                </a:extLst>
              </p:cNvPr>
              <p:cNvSpPr>
                <a:spLocks/>
              </p:cNvSpPr>
              <p:nvPr/>
            </p:nvSpPr>
            <p:spPr bwMode="auto">
              <a:xfrm>
                <a:off x="9967913" y="8726488"/>
                <a:ext cx="123825" cy="101600"/>
              </a:xfrm>
              <a:custGeom>
                <a:avLst/>
                <a:gdLst>
                  <a:gd name="T0" fmla="*/ 9 w 39"/>
                  <a:gd name="T1" fmla="*/ 16 h 31"/>
                  <a:gd name="T2" fmla="*/ 18 w 39"/>
                  <a:gd name="T3" fmla="*/ 31 h 31"/>
                  <a:gd name="T4" fmla="*/ 39 w 39"/>
                  <a:gd name="T5" fmla="*/ 0 h 31"/>
                  <a:gd name="T6" fmla="*/ 0 w 39"/>
                  <a:gd name="T7" fmla="*/ 0 h 31"/>
                  <a:gd name="T8" fmla="*/ 9 w 39"/>
                  <a:gd name="T9" fmla="*/ 16 h 31"/>
                </a:gdLst>
                <a:ahLst/>
                <a:cxnLst>
                  <a:cxn ang="0">
                    <a:pos x="T0" y="T1"/>
                  </a:cxn>
                  <a:cxn ang="0">
                    <a:pos x="T2" y="T3"/>
                  </a:cxn>
                  <a:cxn ang="0">
                    <a:pos x="T4" y="T5"/>
                  </a:cxn>
                  <a:cxn ang="0">
                    <a:pos x="T6" y="T7"/>
                  </a:cxn>
                  <a:cxn ang="0">
                    <a:pos x="T8" y="T9"/>
                  </a:cxn>
                </a:cxnLst>
                <a:rect l="0" t="0" r="r" b="b"/>
                <a:pathLst>
                  <a:path w="39" h="31">
                    <a:moveTo>
                      <a:pt x="9" y="16"/>
                    </a:moveTo>
                    <a:cubicBezTo>
                      <a:pt x="13" y="21"/>
                      <a:pt x="15" y="27"/>
                      <a:pt x="18" y="31"/>
                    </a:cubicBezTo>
                    <a:cubicBezTo>
                      <a:pt x="39" y="0"/>
                      <a:pt x="39" y="0"/>
                      <a:pt x="39" y="0"/>
                    </a:cubicBezTo>
                    <a:cubicBezTo>
                      <a:pt x="0" y="0"/>
                      <a:pt x="0" y="0"/>
                      <a:pt x="0" y="0"/>
                    </a:cubicBezTo>
                    <a:cubicBezTo>
                      <a:pt x="3" y="5"/>
                      <a:pt x="6" y="10"/>
                      <a:pt x="9"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7" name="Freeform 12">
                <a:extLst>
                  <a:ext uri="{FF2B5EF4-FFF2-40B4-BE49-F238E27FC236}">
                    <a16:creationId xmlns:a16="http://schemas.microsoft.com/office/drawing/2014/main" id="{D7D55111-1999-4BE7-95DE-5AB650FFFCCF}"/>
                  </a:ext>
                </a:extLst>
              </p:cNvPr>
              <p:cNvSpPr>
                <a:spLocks/>
              </p:cNvSpPr>
              <p:nvPr/>
            </p:nvSpPr>
            <p:spPr bwMode="auto">
              <a:xfrm>
                <a:off x="9810750" y="8505826"/>
                <a:ext cx="122238" cy="117475"/>
              </a:xfrm>
              <a:custGeom>
                <a:avLst/>
                <a:gdLst>
                  <a:gd name="T0" fmla="*/ 13 w 38"/>
                  <a:gd name="T1" fmla="*/ 23 h 36"/>
                  <a:gd name="T2" fmla="*/ 25 w 38"/>
                  <a:gd name="T3" fmla="*/ 36 h 36"/>
                  <a:gd name="T4" fmla="*/ 38 w 38"/>
                  <a:gd name="T5" fmla="*/ 0 h 36"/>
                  <a:gd name="T6" fmla="*/ 0 w 38"/>
                  <a:gd name="T7" fmla="*/ 9 h 36"/>
                  <a:gd name="T8" fmla="*/ 13 w 38"/>
                  <a:gd name="T9" fmla="*/ 23 h 36"/>
                </a:gdLst>
                <a:ahLst/>
                <a:cxnLst>
                  <a:cxn ang="0">
                    <a:pos x="T0" y="T1"/>
                  </a:cxn>
                  <a:cxn ang="0">
                    <a:pos x="T2" y="T3"/>
                  </a:cxn>
                  <a:cxn ang="0">
                    <a:pos x="T4" y="T5"/>
                  </a:cxn>
                  <a:cxn ang="0">
                    <a:pos x="T6" y="T7"/>
                  </a:cxn>
                  <a:cxn ang="0">
                    <a:pos x="T8" y="T9"/>
                  </a:cxn>
                </a:cxnLst>
                <a:rect l="0" t="0" r="r" b="b"/>
                <a:pathLst>
                  <a:path w="38" h="36">
                    <a:moveTo>
                      <a:pt x="13" y="23"/>
                    </a:moveTo>
                    <a:cubicBezTo>
                      <a:pt x="17" y="27"/>
                      <a:pt x="20" y="32"/>
                      <a:pt x="25" y="36"/>
                    </a:cubicBezTo>
                    <a:cubicBezTo>
                      <a:pt x="38" y="0"/>
                      <a:pt x="38" y="0"/>
                      <a:pt x="38" y="0"/>
                    </a:cubicBezTo>
                    <a:cubicBezTo>
                      <a:pt x="0" y="9"/>
                      <a:pt x="0" y="9"/>
                      <a:pt x="0" y="9"/>
                    </a:cubicBezTo>
                    <a:cubicBezTo>
                      <a:pt x="4" y="13"/>
                      <a:pt x="8" y="18"/>
                      <a:pt x="13" y="2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8" name="Freeform 13">
                <a:extLst>
                  <a:ext uri="{FF2B5EF4-FFF2-40B4-BE49-F238E27FC236}">
                    <a16:creationId xmlns:a16="http://schemas.microsoft.com/office/drawing/2014/main" id="{81907A52-14EE-42B6-AC98-4CD1EA3DEE46}"/>
                  </a:ext>
                </a:extLst>
              </p:cNvPr>
              <p:cNvSpPr>
                <a:spLocks/>
              </p:cNvSpPr>
              <p:nvPr/>
            </p:nvSpPr>
            <p:spPr bwMode="auto">
              <a:xfrm>
                <a:off x="9893300" y="8613776"/>
                <a:ext cx="125413" cy="106363"/>
              </a:xfrm>
              <a:custGeom>
                <a:avLst/>
                <a:gdLst>
                  <a:gd name="T0" fmla="*/ 12 w 39"/>
                  <a:gd name="T1" fmla="*/ 19 h 33"/>
                  <a:gd name="T2" fmla="*/ 22 w 39"/>
                  <a:gd name="T3" fmla="*/ 33 h 33"/>
                  <a:gd name="T4" fmla="*/ 39 w 39"/>
                  <a:gd name="T5" fmla="*/ 0 h 33"/>
                  <a:gd name="T6" fmla="*/ 0 w 39"/>
                  <a:gd name="T7" fmla="*/ 4 h 33"/>
                  <a:gd name="T8" fmla="*/ 12 w 39"/>
                  <a:gd name="T9" fmla="*/ 19 h 33"/>
                </a:gdLst>
                <a:ahLst/>
                <a:cxnLst>
                  <a:cxn ang="0">
                    <a:pos x="T0" y="T1"/>
                  </a:cxn>
                  <a:cxn ang="0">
                    <a:pos x="T2" y="T3"/>
                  </a:cxn>
                  <a:cxn ang="0">
                    <a:pos x="T4" y="T5"/>
                  </a:cxn>
                  <a:cxn ang="0">
                    <a:pos x="T6" y="T7"/>
                  </a:cxn>
                  <a:cxn ang="0">
                    <a:pos x="T8" y="T9"/>
                  </a:cxn>
                </a:cxnLst>
                <a:rect l="0" t="0" r="r" b="b"/>
                <a:pathLst>
                  <a:path w="39" h="33">
                    <a:moveTo>
                      <a:pt x="12" y="19"/>
                    </a:moveTo>
                    <a:cubicBezTo>
                      <a:pt x="15" y="24"/>
                      <a:pt x="18" y="29"/>
                      <a:pt x="22" y="33"/>
                    </a:cubicBezTo>
                    <a:cubicBezTo>
                      <a:pt x="39" y="0"/>
                      <a:pt x="39" y="0"/>
                      <a:pt x="39" y="0"/>
                    </a:cubicBezTo>
                    <a:cubicBezTo>
                      <a:pt x="0" y="4"/>
                      <a:pt x="0" y="4"/>
                      <a:pt x="0" y="4"/>
                    </a:cubicBezTo>
                    <a:cubicBezTo>
                      <a:pt x="4" y="8"/>
                      <a:pt x="7" y="14"/>
                      <a:pt x="12" y="1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9" name="Freeform 14">
                <a:extLst>
                  <a:ext uri="{FF2B5EF4-FFF2-40B4-BE49-F238E27FC236}">
                    <a16:creationId xmlns:a16="http://schemas.microsoft.com/office/drawing/2014/main" id="{E3782A66-7B36-41D1-B188-625DA5FA1E0D}"/>
                  </a:ext>
                </a:extLst>
              </p:cNvPr>
              <p:cNvSpPr>
                <a:spLocks/>
              </p:cNvSpPr>
              <p:nvPr/>
            </p:nvSpPr>
            <p:spPr bwMode="auto">
              <a:xfrm>
                <a:off x="9163050" y="8104188"/>
                <a:ext cx="112713" cy="120650"/>
              </a:xfrm>
              <a:custGeom>
                <a:avLst/>
                <a:gdLst>
                  <a:gd name="T0" fmla="*/ 35 w 35"/>
                  <a:gd name="T1" fmla="*/ 37 h 37"/>
                  <a:gd name="T2" fmla="*/ 26 w 35"/>
                  <a:gd name="T3" fmla="*/ 0 h 37"/>
                  <a:gd name="T4" fmla="*/ 0 w 35"/>
                  <a:gd name="T5" fmla="*/ 30 h 37"/>
                  <a:gd name="T6" fmla="*/ 18 w 35"/>
                  <a:gd name="T7" fmla="*/ 33 h 37"/>
                  <a:gd name="T8" fmla="*/ 35 w 35"/>
                  <a:gd name="T9" fmla="*/ 37 h 37"/>
                </a:gdLst>
                <a:ahLst/>
                <a:cxnLst>
                  <a:cxn ang="0">
                    <a:pos x="T0" y="T1"/>
                  </a:cxn>
                  <a:cxn ang="0">
                    <a:pos x="T2" y="T3"/>
                  </a:cxn>
                  <a:cxn ang="0">
                    <a:pos x="T4" y="T5"/>
                  </a:cxn>
                  <a:cxn ang="0">
                    <a:pos x="T6" y="T7"/>
                  </a:cxn>
                  <a:cxn ang="0">
                    <a:pos x="T8" y="T9"/>
                  </a:cxn>
                </a:cxnLst>
                <a:rect l="0" t="0" r="r" b="b"/>
                <a:pathLst>
                  <a:path w="35" h="37">
                    <a:moveTo>
                      <a:pt x="35" y="37"/>
                    </a:moveTo>
                    <a:cubicBezTo>
                      <a:pt x="26" y="0"/>
                      <a:pt x="26" y="0"/>
                      <a:pt x="26" y="0"/>
                    </a:cubicBezTo>
                    <a:cubicBezTo>
                      <a:pt x="0" y="30"/>
                      <a:pt x="0" y="30"/>
                      <a:pt x="0" y="30"/>
                    </a:cubicBezTo>
                    <a:cubicBezTo>
                      <a:pt x="6" y="31"/>
                      <a:pt x="13" y="32"/>
                      <a:pt x="18" y="33"/>
                    </a:cubicBezTo>
                    <a:cubicBezTo>
                      <a:pt x="25" y="34"/>
                      <a:pt x="30" y="35"/>
                      <a:pt x="35" y="3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0" name="Freeform 15">
                <a:extLst>
                  <a:ext uri="{FF2B5EF4-FFF2-40B4-BE49-F238E27FC236}">
                    <a16:creationId xmlns:a16="http://schemas.microsoft.com/office/drawing/2014/main" id="{E126A3B4-6688-4ACC-B989-8DD41204E455}"/>
                  </a:ext>
                </a:extLst>
              </p:cNvPr>
              <p:cNvSpPr>
                <a:spLocks/>
              </p:cNvSpPr>
              <p:nvPr/>
            </p:nvSpPr>
            <p:spPr bwMode="auto">
              <a:xfrm>
                <a:off x="9285288" y="8140701"/>
                <a:ext cx="109538" cy="120650"/>
              </a:xfrm>
              <a:custGeom>
                <a:avLst/>
                <a:gdLst>
                  <a:gd name="T0" fmla="*/ 34 w 34"/>
                  <a:gd name="T1" fmla="*/ 37 h 37"/>
                  <a:gd name="T2" fmla="*/ 28 w 34"/>
                  <a:gd name="T3" fmla="*/ 0 h 37"/>
                  <a:gd name="T4" fmla="*/ 0 w 34"/>
                  <a:gd name="T5" fmla="*/ 26 h 37"/>
                  <a:gd name="T6" fmla="*/ 18 w 34"/>
                  <a:gd name="T7" fmla="*/ 32 h 37"/>
                  <a:gd name="T8" fmla="*/ 34 w 34"/>
                  <a:gd name="T9" fmla="*/ 37 h 37"/>
                </a:gdLst>
                <a:ahLst/>
                <a:cxnLst>
                  <a:cxn ang="0">
                    <a:pos x="T0" y="T1"/>
                  </a:cxn>
                  <a:cxn ang="0">
                    <a:pos x="T2" y="T3"/>
                  </a:cxn>
                  <a:cxn ang="0">
                    <a:pos x="T4" y="T5"/>
                  </a:cxn>
                  <a:cxn ang="0">
                    <a:pos x="T6" y="T7"/>
                  </a:cxn>
                  <a:cxn ang="0">
                    <a:pos x="T8" y="T9"/>
                  </a:cxn>
                </a:cxnLst>
                <a:rect l="0" t="0" r="r" b="b"/>
                <a:pathLst>
                  <a:path w="34" h="37">
                    <a:moveTo>
                      <a:pt x="34" y="37"/>
                    </a:moveTo>
                    <a:cubicBezTo>
                      <a:pt x="28" y="0"/>
                      <a:pt x="28" y="0"/>
                      <a:pt x="28" y="0"/>
                    </a:cubicBezTo>
                    <a:cubicBezTo>
                      <a:pt x="0" y="26"/>
                      <a:pt x="0" y="26"/>
                      <a:pt x="0" y="26"/>
                    </a:cubicBezTo>
                    <a:cubicBezTo>
                      <a:pt x="5" y="28"/>
                      <a:pt x="12" y="29"/>
                      <a:pt x="18" y="32"/>
                    </a:cubicBezTo>
                    <a:cubicBezTo>
                      <a:pt x="23" y="34"/>
                      <a:pt x="29" y="36"/>
                      <a:pt x="34" y="3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1" name="Freeform 16">
                <a:extLst>
                  <a:ext uri="{FF2B5EF4-FFF2-40B4-BE49-F238E27FC236}">
                    <a16:creationId xmlns:a16="http://schemas.microsoft.com/office/drawing/2014/main" id="{5501FCDC-2155-4423-9E2F-AA8BBA8E0030}"/>
                  </a:ext>
                </a:extLst>
              </p:cNvPr>
              <p:cNvSpPr>
                <a:spLocks/>
              </p:cNvSpPr>
              <p:nvPr/>
            </p:nvSpPr>
            <p:spPr bwMode="auto">
              <a:xfrm>
                <a:off x="8555038" y="8140701"/>
                <a:ext cx="112713" cy="123825"/>
              </a:xfrm>
              <a:custGeom>
                <a:avLst/>
                <a:gdLst>
                  <a:gd name="T0" fmla="*/ 35 w 35"/>
                  <a:gd name="T1" fmla="*/ 27 h 38"/>
                  <a:gd name="T2" fmla="*/ 8 w 35"/>
                  <a:gd name="T3" fmla="*/ 0 h 38"/>
                  <a:gd name="T4" fmla="*/ 0 w 35"/>
                  <a:gd name="T5" fmla="*/ 38 h 38"/>
                  <a:gd name="T6" fmla="*/ 19 w 35"/>
                  <a:gd name="T7" fmla="*/ 32 h 38"/>
                  <a:gd name="T8" fmla="*/ 35 w 35"/>
                  <a:gd name="T9" fmla="*/ 27 h 38"/>
                </a:gdLst>
                <a:ahLst/>
                <a:cxnLst>
                  <a:cxn ang="0">
                    <a:pos x="T0" y="T1"/>
                  </a:cxn>
                  <a:cxn ang="0">
                    <a:pos x="T2" y="T3"/>
                  </a:cxn>
                  <a:cxn ang="0">
                    <a:pos x="T4" y="T5"/>
                  </a:cxn>
                  <a:cxn ang="0">
                    <a:pos x="T6" y="T7"/>
                  </a:cxn>
                  <a:cxn ang="0">
                    <a:pos x="T8" y="T9"/>
                  </a:cxn>
                </a:cxnLst>
                <a:rect l="0" t="0" r="r" b="b"/>
                <a:pathLst>
                  <a:path w="35" h="38">
                    <a:moveTo>
                      <a:pt x="35" y="27"/>
                    </a:moveTo>
                    <a:cubicBezTo>
                      <a:pt x="8" y="0"/>
                      <a:pt x="8" y="0"/>
                      <a:pt x="8" y="0"/>
                    </a:cubicBezTo>
                    <a:cubicBezTo>
                      <a:pt x="0" y="38"/>
                      <a:pt x="0" y="38"/>
                      <a:pt x="0" y="38"/>
                    </a:cubicBezTo>
                    <a:cubicBezTo>
                      <a:pt x="6" y="36"/>
                      <a:pt x="12" y="34"/>
                      <a:pt x="19" y="32"/>
                    </a:cubicBezTo>
                    <a:cubicBezTo>
                      <a:pt x="24" y="31"/>
                      <a:pt x="30" y="28"/>
                      <a:pt x="35" y="2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2" name="Freeform 17">
                <a:extLst>
                  <a:ext uri="{FF2B5EF4-FFF2-40B4-BE49-F238E27FC236}">
                    <a16:creationId xmlns:a16="http://schemas.microsoft.com/office/drawing/2014/main" id="{645FCE52-565D-4087-A6E8-E672F8765688}"/>
                  </a:ext>
                </a:extLst>
              </p:cNvPr>
              <p:cNvSpPr>
                <a:spLocks/>
              </p:cNvSpPr>
              <p:nvPr/>
            </p:nvSpPr>
            <p:spPr bwMode="auto">
              <a:xfrm>
                <a:off x="8439150" y="8189913"/>
                <a:ext cx="109538" cy="123825"/>
              </a:xfrm>
              <a:custGeom>
                <a:avLst/>
                <a:gdLst>
                  <a:gd name="T0" fmla="*/ 34 w 34"/>
                  <a:gd name="T1" fmla="*/ 24 h 38"/>
                  <a:gd name="T2" fmla="*/ 5 w 34"/>
                  <a:gd name="T3" fmla="*/ 0 h 38"/>
                  <a:gd name="T4" fmla="*/ 0 w 34"/>
                  <a:gd name="T5" fmla="*/ 38 h 38"/>
                  <a:gd name="T6" fmla="*/ 19 w 34"/>
                  <a:gd name="T7" fmla="*/ 31 h 38"/>
                  <a:gd name="T8" fmla="*/ 34 w 34"/>
                  <a:gd name="T9" fmla="*/ 24 h 38"/>
                </a:gdLst>
                <a:ahLst/>
                <a:cxnLst>
                  <a:cxn ang="0">
                    <a:pos x="T0" y="T1"/>
                  </a:cxn>
                  <a:cxn ang="0">
                    <a:pos x="T2" y="T3"/>
                  </a:cxn>
                  <a:cxn ang="0">
                    <a:pos x="T4" y="T5"/>
                  </a:cxn>
                  <a:cxn ang="0">
                    <a:pos x="T6" y="T7"/>
                  </a:cxn>
                  <a:cxn ang="0">
                    <a:pos x="T8" y="T9"/>
                  </a:cxn>
                </a:cxnLst>
                <a:rect l="0" t="0" r="r" b="b"/>
                <a:pathLst>
                  <a:path w="34" h="38">
                    <a:moveTo>
                      <a:pt x="34" y="24"/>
                    </a:moveTo>
                    <a:cubicBezTo>
                      <a:pt x="5" y="0"/>
                      <a:pt x="5" y="0"/>
                      <a:pt x="5" y="0"/>
                    </a:cubicBezTo>
                    <a:cubicBezTo>
                      <a:pt x="0" y="38"/>
                      <a:pt x="0" y="38"/>
                      <a:pt x="0" y="38"/>
                    </a:cubicBezTo>
                    <a:cubicBezTo>
                      <a:pt x="7" y="36"/>
                      <a:pt x="12" y="33"/>
                      <a:pt x="19" y="31"/>
                    </a:cubicBezTo>
                    <a:cubicBezTo>
                      <a:pt x="23" y="29"/>
                      <a:pt x="29" y="26"/>
                      <a:pt x="34" y="2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3" name="Freeform 18">
                <a:extLst>
                  <a:ext uri="{FF2B5EF4-FFF2-40B4-BE49-F238E27FC236}">
                    <a16:creationId xmlns:a16="http://schemas.microsoft.com/office/drawing/2014/main" id="{42BD0E1D-743C-43D2-AD89-08C38794A652}"/>
                  </a:ext>
                </a:extLst>
              </p:cNvPr>
              <p:cNvSpPr>
                <a:spLocks/>
              </p:cNvSpPr>
              <p:nvPr/>
            </p:nvSpPr>
            <p:spPr bwMode="auto">
              <a:xfrm>
                <a:off x="8334375" y="8251826"/>
                <a:ext cx="101600" cy="127000"/>
              </a:xfrm>
              <a:custGeom>
                <a:avLst/>
                <a:gdLst>
                  <a:gd name="T0" fmla="*/ 17 w 32"/>
                  <a:gd name="T1" fmla="*/ 29 h 39"/>
                  <a:gd name="T2" fmla="*/ 32 w 32"/>
                  <a:gd name="T3" fmla="*/ 20 h 39"/>
                  <a:gd name="T4" fmla="*/ 0 w 32"/>
                  <a:gd name="T5" fmla="*/ 0 h 39"/>
                  <a:gd name="T6" fmla="*/ 1 w 32"/>
                  <a:gd name="T7" fmla="*/ 39 h 39"/>
                  <a:gd name="T8" fmla="*/ 17 w 32"/>
                  <a:gd name="T9" fmla="*/ 29 h 39"/>
                </a:gdLst>
                <a:ahLst/>
                <a:cxnLst>
                  <a:cxn ang="0">
                    <a:pos x="T0" y="T1"/>
                  </a:cxn>
                  <a:cxn ang="0">
                    <a:pos x="T2" y="T3"/>
                  </a:cxn>
                  <a:cxn ang="0">
                    <a:pos x="T4" y="T5"/>
                  </a:cxn>
                  <a:cxn ang="0">
                    <a:pos x="T6" y="T7"/>
                  </a:cxn>
                  <a:cxn ang="0">
                    <a:pos x="T8" y="T9"/>
                  </a:cxn>
                </a:cxnLst>
                <a:rect l="0" t="0" r="r" b="b"/>
                <a:pathLst>
                  <a:path w="32" h="39">
                    <a:moveTo>
                      <a:pt x="17" y="29"/>
                    </a:moveTo>
                    <a:cubicBezTo>
                      <a:pt x="23" y="26"/>
                      <a:pt x="27" y="23"/>
                      <a:pt x="32" y="20"/>
                    </a:cubicBezTo>
                    <a:cubicBezTo>
                      <a:pt x="0" y="0"/>
                      <a:pt x="0" y="0"/>
                      <a:pt x="0" y="0"/>
                    </a:cubicBezTo>
                    <a:cubicBezTo>
                      <a:pt x="1" y="39"/>
                      <a:pt x="1" y="39"/>
                      <a:pt x="1" y="39"/>
                    </a:cubicBezTo>
                    <a:cubicBezTo>
                      <a:pt x="6" y="36"/>
                      <a:pt x="12" y="32"/>
                      <a:pt x="17" y="2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4" name="Freeform 19">
                <a:extLst>
                  <a:ext uri="{FF2B5EF4-FFF2-40B4-BE49-F238E27FC236}">
                    <a16:creationId xmlns:a16="http://schemas.microsoft.com/office/drawing/2014/main" id="{871D38D6-6B65-4C1A-A0EA-E2DDD3CA931A}"/>
                  </a:ext>
                </a:extLst>
              </p:cNvPr>
              <p:cNvSpPr>
                <a:spLocks/>
              </p:cNvSpPr>
              <p:nvPr/>
            </p:nvSpPr>
            <p:spPr bwMode="auto">
              <a:xfrm>
                <a:off x="8670925" y="8104188"/>
                <a:ext cx="114300" cy="120650"/>
              </a:xfrm>
              <a:custGeom>
                <a:avLst/>
                <a:gdLst>
                  <a:gd name="T0" fmla="*/ 36 w 36"/>
                  <a:gd name="T1" fmla="*/ 30 h 37"/>
                  <a:gd name="T2" fmla="*/ 12 w 36"/>
                  <a:gd name="T3" fmla="*/ 0 h 37"/>
                  <a:gd name="T4" fmla="*/ 0 w 36"/>
                  <a:gd name="T5" fmla="*/ 37 h 37"/>
                  <a:gd name="T6" fmla="*/ 20 w 36"/>
                  <a:gd name="T7" fmla="*/ 33 h 37"/>
                  <a:gd name="T8" fmla="*/ 36 w 36"/>
                  <a:gd name="T9" fmla="*/ 30 h 37"/>
                </a:gdLst>
                <a:ahLst/>
                <a:cxnLst>
                  <a:cxn ang="0">
                    <a:pos x="T0" y="T1"/>
                  </a:cxn>
                  <a:cxn ang="0">
                    <a:pos x="T2" y="T3"/>
                  </a:cxn>
                  <a:cxn ang="0">
                    <a:pos x="T4" y="T5"/>
                  </a:cxn>
                  <a:cxn ang="0">
                    <a:pos x="T6" y="T7"/>
                  </a:cxn>
                  <a:cxn ang="0">
                    <a:pos x="T8" y="T9"/>
                  </a:cxn>
                </a:cxnLst>
                <a:rect l="0" t="0" r="r" b="b"/>
                <a:pathLst>
                  <a:path w="36" h="37">
                    <a:moveTo>
                      <a:pt x="36" y="30"/>
                    </a:moveTo>
                    <a:cubicBezTo>
                      <a:pt x="12" y="0"/>
                      <a:pt x="12" y="0"/>
                      <a:pt x="12" y="0"/>
                    </a:cubicBezTo>
                    <a:cubicBezTo>
                      <a:pt x="0" y="37"/>
                      <a:pt x="0" y="37"/>
                      <a:pt x="0" y="37"/>
                    </a:cubicBezTo>
                    <a:cubicBezTo>
                      <a:pt x="7" y="36"/>
                      <a:pt x="13" y="34"/>
                      <a:pt x="20" y="33"/>
                    </a:cubicBezTo>
                    <a:cubicBezTo>
                      <a:pt x="25" y="32"/>
                      <a:pt x="31" y="31"/>
                      <a:pt x="36" y="3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5" name="Freeform 20">
                <a:extLst>
                  <a:ext uri="{FF2B5EF4-FFF2-40B4-BE49-F238E27FC236}">
                    <a16:creationId xmlns:a16="http://schemas.microsoft.com/office/drawing/2014/main" id="{81ABEFB8-1FE9-4FFA-9BD0-773C5FAE890C}"/>
                  </a:ext>
                </a:extLst>
              </p:cNvPr>
              <p:cNvSpPr>
                <a:spLocks/>
              </p:cNvSpPr>
              <p:nvPr/>
            </p:nvSpPr>
            <p:spPr bwMode="auto">
              <a:xfrm>
                <a:off x="9039225" y="8085138"/>
                <a:ext cx="114300" cy="117475"/>
              </a:xfrm>
              <a:custGeom>
                <a:avLst/>
                <a:gdLst>
                  <a:gd name="T0" fmla="*/ 36 w 36"/>
                  <a:gd name="T1" fmla="*/ 36 h 36"/>
                  <a:gd name="T2" fmla="*/ 22 w 36"/>
                  <a:gd name="T3" fmla="*/ 0 h 36"/>
                  <a:gd name="T4" fmla="*/ 0 w 36"/>
                  <a:gd name="T5" fmla="*/ 31 h 36"/>
                  <a:gd name="T6" fmla="*/ 20 w 36"/>
                  <a:gd name="T7" fmla="*/ 33 h 36"/>
                  <a:gd name="T8" fmla="*/ 36 w 36"/>
                  <a:gd name="T9" fmla="*/ 36 h 36"/>
                </a:gdLst>
                <a:ahLst/>
                <a:cxnLst>
                  <a:cxn ang="0">
                    <a:pos x="T0" y="T1"/>
                  </a:cxn>
                  <a:cxn ang="0">
                    <a:pos x="T2" y="T3"/>
                  </a:cxn>
                  <a:cxn ang="0">
                    <a:pos x="T4" y="T5"/>
                  </a:cxn>
                  <a:cxn ang="0">
                    <a:pos x="T6" y="T7"/>
                  </a:cxn>
                  <a:cxn ang="0">
                    <a:pos x="T8" y="T9"/>
                  </a:cxn>
                </a:cxnLst>
                <a:rect l="0" t="0" r="r" b="b"/>
                <a:pathLst>
                  <a:path w="36" h="36">
                    <a:moveTo>
                      <a:pt x="36" y="36"/>
                    </a:moveTo>
                    <a:cubicBezTo>
                      <a:pt x="22" y="0"/>
                      <a:pt x="22" y="0"/>
                      <a:pt x="22" y="0"/>
                    </a:cubicBezTo>
                    <a:cubicBezTo>
                      <a:pt x="0" y="31"/>
                      <a:pt x="0" y="31"/>
                      <a:pt x="0" y="31"/>
                    </a:cubicBezTo>
                    <a:cubicBezTo>
                      <a:pt x="7" y="32"/>
                      <a:pt x="14" y="32"/>
                      <a:pt x="20" y="33"/>
                    </a:cubicBezTo>
                    <a:cubicBezTo>
                      <a:pt x="25" y="33"/>
                      <a:pt x="31" y="35"/>
                      <a:pt x="36" y="3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6" name="Freeform 21">
                <a:extLst>
                  <a:ext uri="{FF2B5EF4-FFF2-40B4-BE49-F238E27FC236}">
                    <a16:creationId xmlns:a16="http://schemas.microsoft.com/office/drawing/2014/main" id="{6D536C53-A096-4167-8AD6-A2ED4AC7328F}"/>
                  </a:ext>
                </a:extLst>
              </p:cNvPr>
              <p:cNvSpPr>
                <a:spLocks/>
              </p:cNvSpPr>
              <p:nvPr/>
            </p:nvSpPr>
            <p:spPr bwMode="auto">
              <a:xfrm>
                <a:off x="8791575" y="8085138"/>
                <a:ext cx="119063" cy="117475"/>
              </a:xfrm>
              <a:custGeom>
                <a:avLst/>
                <a:gdLst>
                  <a:gd name="T0" fmla="*/ 37 w 37"/>
                  <a:gd name="T1" fmla="*/ 31 h 36"/>
                  <a:gd name="T2" fmla="*/ 16 w 37"/>
                  <a:gd name="T3" fmla="*/ 0 h 36"/>
                  <a:gd name="T4" fmla="*/ 0 w 37"/>
                  <a:gd name="T5" fmla="*/ 36 h 36"/>
                  <a:gd name="T6" fmla="*/ 20 w 37"/>
                  <a:gd name="T7" fmla="*/ 33 h 36"/>
                  <a:gd name="T8" fmla="*/ 37 w 37"/>
                  <a:gd name="T9" fmla="*/ 31 h 36"/>
                </a:gdLst>
                <a:ahLst/>
                <a:cxnLst>
                  <a:cxn ang="0">
                    <a:pos x="T0" y="T1"/>
                  </a:cxn>
                  <a:cxn ang="0">
                    <a:pos x="T2" y="T3"/>
                  </a:cxn>
                  <a:cxn ang="0">
                    <a:pos x="T4" y="T5"/>
                  </a:cxn>
                  <a:cxn ang="0">
                    <a:pos x="T6" y="T7"/>
                  </a:cxn>
                  <a:cxn ang="0">
                    <a:pos x="T8" y="T9"/>
                  </a:cxn>
                </a:cxnLst>
                <a:rect l="0" t="0" r="r" b="b"/>
                <a:pathLst>
                  <a:path w="37" h="36">
                    <a:moveTo>
                      <a:pt x="37" y="31"/>
                    </a:moveTo>
                    <a:cubicBezTo>
                      <a:pt x="16" y="0"/>
                      <a:pt x="16" y="0"/>
                      <a:pt x="16" y="0"/>
                    </a:cubicBezTo>
                    <a:cubicBezTo>
                      <a:pt x="0" y="36"/>
                      <a:pt x="0" y="36"/>
                      <a:pt x="0" y="36"/>
                    </a:cubicBezTo>
                    <a:cubicBezTo>
                      <a:pt x="7" y="35"/>
                      <a:pt x="13" y="33"/>
                      <a:pt x="20" y="33"/>
                    </a:cubicBezTo>
                    <a:cubicBezTo>
                      <a:pt x="25" y="32"/>
                      <a:pt x="31" y="32"/>
                      <a:pt x="37" y="31"/>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7" name="Freeform 22">
                <a:extLst>
                  <a:ext uri="{FF2B5EF4-FFF2-40B4-BE49-F238E27FC236}">
                    <a16:creationId xmlns:a16="http://schemas.microsoft.com/office/drawing/2014/main" id="{2090DBE9-7E08-4313-B72A-AFBDBBBDE754}"/>
                  </a:ext>
                </a:extLst>
              </p:cNvPr>
              <p:cNvSpPr>
                <a:spLocks/>
              </p:cNvSpPr>
              <p:nvPr/>
            </p:nvSpPr>
            <p:spPr bwMode="auto">
              <a:xfrm>
                <a:off x="9807575" y="9728201"/>
                <a:ext cx="85725" cy="65088"/>
              </a:xfrm>
              <a:custGeom>
                <a:avLst/>
                <a:gdLst>
                  <a:gd name="T0" fmla="*/ 0 w 54"/>
                  <a:gd name="T1" fmla="*/ 18 h 41"/>
                  <a:gd name="T2" fmla="*/ 44 w 54"/>
                  <a:gd name="T3" fmla="*/ 41 h 41"/>
                  <a:gd name="T4" fmla="*/ 54 w 54"/>
                  <a:gd name="T5" fmla="*/ 22 h 41"/>
                  <a:gd name="T6" fmla="*/ 8 w 54"/>
                  <a:gd name="T7" fmla="*/ 0 h 41"/>
                  <a:gd name="T8" fmla="*/ 0 w 54"/>
                  <a:gd name="T9" fmla="*/ 18 h 41"/>
                </a:gdLst>
                <a:ahLst/>
                <a:cxnLst>
                  <a:cxn ang="0">
                    <a:pos x="T0" y="T1"/>
                  </a:cxn>
                  <a:cxn ang="0">
                    <a:pos x="T2" y="T3"/>
                  </a:cxn>
                  <a:cxn ang="0">
                    <a:pos x="T4" y="T5"/>
                  </a:cxn>
                  <a:cxn ang="0">
                    <a:pos x="T6" y="T7"/>
                  </a:cxn>
                  <a:cxn ang="0">
                    <a:pos x="T8" y="T9"/>
                  </a:cxn>
                </a:cxnLst>
                <a:rect l="0" t="0" r="r" b="b"/>
                <a:pathLst>
                  <a:path w="54" h="41">
                    <a:moveTo>
                      <a:pt x="0" y="18"/>
                    </a:moveTo>
                    <a:lnTo>
                      <a:pt x="44" y="41"/>
                    </a:lnTo>
                    <a:lnTo>
                      <a:pt x="54" y="22"/>
                    </a:lnTo>
                    <a:lnTo>
                      <a:pt x="8" y="0"/>
                    </a:lnTo>
                    <a:lnTo>
                      <a:pt x="0" y="1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8" name="Freeform 23">
                <a:extLst>
                  <a:ext uri="{FF2B5EF4-FFF2-40B4-BE49-F238E27FC236}">
                    <a16:creationId xmlns:a16="http://schemas.microsoft.com/office/drawing/2014/main" id="{1B75912B-8CE1-4432-B3D5-85FED9440035}"/>
                  </a:ext>
                </a:extLst>
              </p:cNvPr>
              <p:cNvSpPr>
                <a:spLocks/>
              </p:cNvSpPr>
              <p:nvPr/>
            </p:nvSpPr>
            <p:spPr bwMode="auto">
              <a:xfrm>
                <a:off x="8913813" y="8078788"/>
                <a:ext cx="119063" cy="107950"/>
              </a:xfrm>
              <a:custGeom>
                <a:avLst/>
                <a:gdLst>
                  <a:gd name="T0" fmla="*/ 75 w 75"/>
                  <a:gd name="T1" fmla="*/ 68 h 68"/>
                  <a:gd name="T2" fmla="*/ 40 w 75"/>
                  <a:gd name="T3" fmla="*/ 0 h 68"/>
                  <a:gd name="T4" fmla="*/ 40 w 75"/>
                  <a:gd name="T5" fmla="*/ 0 h 68"/>
                  <a:gd name="T6" fmla="*/ 0 w 75"/>
                  <a:gd name="T7" fmla="*/ 68 h 68"/>
                  <a:gd name="T8" fmla="*/ 40 w 75"/>
                  <a:gd name="T9" fmla="*/ 68 h 68"/>
                  <a:gd name="T10" fmla="*/ 75 w 75"/>
                  <a:gd name="T11" fmla="*/ 68 h 68"/>
                </a:gdLst>
                <a:ahLst/>
                <a:cxnLst>
                  <a:cxn ang="0">
                    <a:pos x="T0" y="T1"/>
                  </a:cxn>
                  <a:cxn ang="0">
                    <a:pos x="T2" y="T3"/>
                  </a:cxn>
                  <a:cxn ang="0">
                    <a:pos x="T4" y="T5"/>
                  </a:cxn>
                  <a:cxn ang="0">
                    <a:pos x="T6" y="T7"/>
                  </a:cxn>
                  <a:cxn ang="0">
                    <a:pos x="T8" y="T9"/>
                  </a:cxn>
                  <a:cxn ang="0">
                    <a:pos x="T10" y="T11"/>
                  </a:cxn>
                </a:cxnLst>
                <a:rect l="0" t="0" r="r" b="b"/>
                <a:pathLst>
                  <a:path w="75" h="68">
                    <a:moveTo>
                      <a:pt x="75" y="68"/>
                    </a:moveTo>
                    <a:lnTo>
                      <a:pt x="40" y="0"/>
                    </a:lnTo>
                    <a:lnTo>
                      <a:pt x="40" y="0"/>
                    </a:lnTo>
                    <a:lnTo>
                      <a:pt x="0" y="68"/>
                    </a:lnTo>
                    <a:lnTo>
                      <a:pt x="40" y="68"/>
                    </a:lnTo>
                    <a:lnTo>
                      <a:pt x="75" y="6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9" name="Freeform 24">
                <a:extLst>
                  <a:ext uri="{FF2B5EF4-FFF2-40B4-BE49-F238E27FC236}">
                    <a16:creationId xmlns:a16="http://schemas.microsoft.com/office/drawing/2014/main" id="{EAA7CAC5-203E-40D9-A5BD-8B31B08A29DB}"/>
                  </a:ext>
                </a:extLst>
              </p:cNvPr>
              <p:cNvSpPr>
                <a:spLocks/>
              </p:cNvSpPr>
              <p:nvPr/>
            </p:nvSpPr>
            <p:spPr bwMode="auto">
              <a:xfrm>
                <a:off x="8901113" y="10288588"/>
                <a:ext cx="31750" cy="52388"/>
              </a:xfrm>
              <a:custGeom>
                <a:avLst/>
                <a:gdLst>
                  <a:gd name="T0" fmla="*/ 8 w 20"/>
                  <a:gd name="T1" fmla="*/ 0 h 33"/>
                  <a:gd name="T2" fmla="*/ 0 w 20"/>
                  <a:gd name="T3" fmla="*/ 33 h 33"/>
                  <a:gd name="T4" fmla="*/ 20 w 20"/>
                  <a:gd name="T5" fmla="*/ 33 h 33"/>
                  <a:gd name="T6" fmla="*/ 14 w 20"/>
                  <a:gd name="T7" fmla="*/ 0 h 33"/>
                  <a:gd name="T8" fmla="*/ 8 w 20"/>
                  <a:gd name="T9" fmla="*/ 0 h 33"/>
                </a:gdLst>
                <a:ahLst/>
                <a:cxnLst>
                  <a:cxn ang="0">
                    <a:pos x="T0" y="T1"/>
                  </a:cxn>
                  <a:cxn ang="0">
                    <a:pos x="T2" y="T3"/>
                  </a:cxn>
                  <a:cxn ang="0">
                    <a:pos x="T4" y="T5"/>
                  </a:cxn>
                  <a:cxn ang="0">
                    <a:pos x="T6" y="T7"/>
                  </a:cxn>
                  <a:cxn ang="0">
                    <a:pos x="T8" y="T9"/>
                  </a:cxn>
                </a:cxnLst>
                <a:rect l="0" t="0" r="r" b="b"/>
                <a:pathLst>
                  <a:path w="20" h="33">
                    <a:moveTo>
                      <a:pt x="8" y="0"/>
                    </a:moveTo>
                    <a:lnTo>
                      <a:pt x="0" y="33"/>
                    </a:lnTo>
                    <a:lnTo>
                      <a:pt x="20" y="33"/>
                    </a:lnTo>
                    <a:lnTo>
                      <a:pt x="14" y="0"/>
                    </a:lnTo>
                    <a:lnTo>
                      <a:pt x="8" y="0"/>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0" name="Freeform 25">
                <a:extLst>
                  <a:ext uri="{FF2B5EF4-FFF2-40B4-BE49-F238E27FC236}">
                    <a16:creationId xmlns:a16="http://schemas.microsoft.com/office/drawing/2014/main" id="{112478B7-ACA4-4DF6-8B0C-85EE5FA77A4A}"/>
                  </a:ext>
                </a:extLst>
              </p:cNvPr>
              <p:cNvSpPr>
                <a:spLocks/>
              </p:cNvSpPr>
              <p:nvPr/>
            </p:nvSpPr>
            <p:spPr bwMode="auto">
              <a:xfrm>
                <a:off x="9058275" y="8401051"/>
                <a:ext cx="31750" cy="30163"/>
              </a:xfrm>
              <a:custGeom>
                <a:avLst/>
                <a:gdLst>
                  <a:gd name="T0" fmla="*/ 0 w 20"/>
                  <a:gd name="T1" fmla="*/ 17 h 19"/>
                  <a:gd name="T2" fmla="*/ 18 w 20"/>
                  <a:gd name="T3" fmla="*/ 19 h 19"/>
                  <a:gd name="T4" fmla="*/ 20 w 20"/>
                  <a:gd name="T5" fmla="*/ 2 h 19"/>
                  <a:gd name="T6" fmla="*/ 0 w 20"/>
                  <a:gd name="T7" fmla="*/ 0 h 19"/>
                  <a:gd name="T8" fmla="*/ 0 w 20"/>
                  <a:gd name="T9" fmla="*/ 17 h 19"/>
                </a:gdLst>
                <a:ahLst/>
                <a:cxnLst>
                  <a:cxn ang="0">
                    <a:pos x="T0" y="T1"/>
                  </a:cxn>
                  <a:cxn ang="0">
                    <a:pos x="T2" y="T3"/>
                  </a:cxn>
                  <a:cxn ang="0">
                    <a:pos x="T4" y="T5"/>
                  </a:cxn>
                  <a:cxn ang="0">
                    <a:pos x="T6" y="T7"/>
                  </a:cxn>
                  <a:cxn ang="0">
                    <a:pos x="T8" y="T9"/>
                  </a:cxn>
                </a:cxnLst>
                <a:rect l="0" t="0" r="r" b="b"/>
                <a:pathLst>
                  <a:path w="20" h="19">
                    <a:moveTo>
                      <a:pt x="0" y="17"/>
                    </a:moveTo>
                    <a:lnTo>
                      <a:pt x="18" y="19"/>
                    </a:lnTo>
                    <a:lnTo>
                      <a:pt x="20" y="2"/>
                    </a:lnTo>
                    <a:lnTo>
                      <a:pt x="0" y="0"/>
                    </a:lnTo>
                    <a:lnTo>
                      <a:pt x="0" y="17"/>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1" name="Freeform 26">
                <a:extLst>
                  <a:ext uri="{FF2B5EF4-FFF2-40B4-BE49-F238E27FC236}">
                    <a16:creationId xmlns:a16="http://schemas.microsoft.com/office/drawing/2014/main" id="{A2C6FC9E-9347-4700-90EE-D4F9D26589F9}"/>
                  </a:ext>
                </a:extLst>
              </p:cNvPr>
              <p:cNvSpPr>
                <a:spLocks/>
              </p:cNvSpPr>
              <p:nvPr/>
            </p:nvSpPr>
            <p:spPr bwMode="auto">
              <a:xfrm>
                <a:off x="8677275" y="9574213"/>
                <a:ext cx="158750" cy="463550"/>
              </a:xfrm>
              <a:custGeom>
                <a:avLst/>
                <a:gdLst>
                  <a:gd name="T0" fmla="*/ 25 w 50"/>
                  <a:gd name="T1" fmla="*/ 5 h 142"/>
                  <a:gd name="T2" fmla="*/ 12 w 50"/>
                  <a:gd name="T3" fmla="*/ 0 h 142"/>
                  <a:gd name="T4" fmla="*/ 0 w 50"/>
                  <a:gd name="T5" fmla="*/ 4 h 142"/>
                  <a:gd name="T6" fmla="*/ 0 w 50"/>
                  <a:gd name="T7" fmla="*/ 5 h 142"/>
                  <a:gd name="T8" fmla="*/ 0 w 50"/>
                  <a:gd name="T9" fmla="*/ 12 h 142"/>
                  <a:gd name="T10" fmla="*/ 50 w 50"/>
                  <a:gd name="T11" fmla="*/ 142 h 142"/>
                  <a:gd name="T12" fmla="*/ 25 w 50"/>
                  <a:gd name="T13" fmla="*/ 7 h 142"/>
                  <a:gd name="T14" fmla="*/ 25 w 50"/>
                  <a:gd name="T15" fmla="*/ 5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42">
                    <a:moveTo>
                      <a:pt x="25" y="5"/>
                    </a:moveTo>
                    <a:cubicBezTo>
                      <a:pt x="21" y="3"/>
                      <a:pt x="17" y="0"/>
                      <a:pt x="12" y="0"/>
                    </a:cubicBezTo>
                    <a:cubicBezTo>
                      <a:pt x="8" y="0"/>
                      <a:pt x="4" y="2"/>
                      <a:pt x="0" y="4"/>
                    </a:cubicBezTo>
                    <a:cubicBezTo>
                      <a:pt x="0" y="5"/>
                      <a:pt x="0" y="5"/>
                      <a:pt x="0" y="5"/>
                    </a:cubicBezTo>
                    <a:cubicBezTo>
                      <a:pt x="0" y="12"/>
                      <a:pt x="0" y="12"/>
                      <a:pt x="0" y="12"/>
                    </a:cubicBezTo>
                    <a:cubicBezTo>
                      <a:pt x="0" y="62"/>
                      <a:pt x="19" y="107"/>
                      <a:pt x="50" y="142"/>
                    </a:cubicBezTo>
                    <a:cubicBezTo>
                      <a:pt x="34" y="100"/>
                      <a:pt x="25" y="55"/>
                      <a:pt x="25" y="7"/>
                    </a:cubicBezTo>
                    <a:lnTo>
                      <a:pt x="25" y="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2" name="Freeform 27">
                <a:extLst>
                  <a:ext uri="{FF2B5EF4-FFF2-40B4-BE49-F238E27FC236}">
                    <a16:creationId xmlns:a16="http://schemas.microsoft.com/office/drawing/2014/main" id="{C94DB83B-0077-4131-A492-74BC8EE94FD1}"/>
                  </a:ext>
                </a:extLst>
              </p:cNvPr>
              <p:cNvSpPr>
                <a:spLocks/>
              </p:cNvSpPr>
              <p:nvPr/>
            </p:nvSpPr>
            <p:spPr bwMode="auto">
              <a:xfrm>
                <a:off x="9128125" y="9574213"/>
                <a:ext cx="160338" cy="463550"/>
              </a:xfrm>
              <a:custGeom>
                <a:avLst/>
                <a:gdLst>
                  <a:gd name="T0" fmla="*/ 26 w 50"/>
                  <a:gd name="T1" fmla="*/ 5 h 142"/>
                  <a:gd name="T2" fmla="*/ 26 w 50"/>
                  <a:gd name="T3" fmla="*/ 7 h 142"/>
                  <a:gd name="T4" fmla="*/ 0 w 50"/>
                  <a:gd name="T5" fmla="*/ 142 h 142"/>
                  <a:gd name="T6" fmla="*/ 1 w 50"/>
                  <a:gd name="T7" fmla="*/ 142 h 142"/>
                  <a:gd name="T8" fmla="*/ 50 w 50"/>
                  <a:gd name="T9" fmla="*/ 12 h 142"/>
                  <a:gd name="T10" fmla="*/ 50 w 50"/>
                  <a:gd name="T11" fmla="*/ 5 h 142"/>
                  <a:gd name="T12" fmla="*/ 50 w 50"/>
                  <a:gd name="T13" fmla="*/ 4 h 142"/>
                  <a:gd name="T14" fmla="*/ 39 w 50"/>
                  <a:gd name="T15" fmla="*/ 0 h 142"/>
                  <a:gd name="T16" fmla="*/ 26 w 50"/>
                  <a:gd name="T17" fmla="*/ 5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142">
                    <a:moveTo>
                      <a:pt x="26" y="5"/>
                    </a:moveTo>
                    <a:cubicBezTo>
                      <a:pt x="26" y="7"/>
                      <a:pt x="26" y="7"/>
                      <a:pt x="26" y="7"/>
                    </a:cubicBezTo>
                    <a:cubicBezTo>
                      <a:pt x="26" y="55"/>
                      <a:pt x="17" y="100"/>
                      <a:pt x="0" y="142"/>
                    </a:cubicBezTo>
                    <a:cubicBezTo>
                      <a:pt x="1" y="142"/>
                      <a:pt x="1" y="142"/>
                      <a:pt x="1" y="142"/>
                    </a:cubicBezTo>
                    <a:cubicBezTo>
                      <a:pt x="31" y="107"/>
                      <a:pt x="50" y="62"/>
                      <a:pt x="50" y="12"/>
                    </a:cubicBezTo>
                    <a:cubicBezTo>
                      <a:pt x="50" y="5"/>
                      <a:pt x="50" y="5"/>
                      <a:pt x="50" y="5"/>
                    </a:cubicBezTo>
                    <a:cubicBezTo>
                      <a:pt x="50" y="4"/>
                      <a:pt x="50" y="4"/>
                      <a:pt x="50" y="4"/>
                    </a:cubicBezTo>
                    <a:cubicBezTo>
                      <a:pt x="46" y="2"/>
                      <a:pt x="42" y="0"/>
                      <a:pt x="39" y="0"/>
                    </a:cubicBezTo>
                    <a:cubicBezTo>
                      <a:pt x="33" y="0"/>
                      <a:pt x="29" y="3"/>
                      <a:pt x="26" y="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3" name="Freeform 28">
                <a:extLst>
                  <a:ext uri="{FF2B5EF4-FFF2-40B4-BE49-F238E27FC236}">
                    <a16:creationId xmlns:a16="http://schemas.microsoft.com/office/drawing/2014/main" id="{0EE2B7EF-3596-4E9A-8DE3-075D21B05AAC}"/>
                  </a:ext>
                </a:extLst>
              </p:cNvPr>
              <p:cNvSpPr>
                <a:spLocks noEditPoints="1"/>
              </p:cNvSpPr>
              <p:nvPr/>
            </p:nvSpPr>
            <p:spPr bwMode="auto">
              <a:xfrm>
                <a:off x="9144000" y="8782051"/>
                <a:ext cx="525463" cy="785813"/>
              </a:xfrm>
              <a:custGeom>
                <a:avLst/>
                <a:gdLst>
                  <a:gd name="T0" fmla="*/ 54 w 164"/>
                  <a:gd name="T1" fmla="*/ 90 h 241"/>
                  <a:gd name="T2" fmla="*/ 35 w 164"/>
                  <a:gd name="T3" fmla="*/ 137 h 241"/>
                  <a:gd name="T4" fmla="*/ 53 w 164"/>
                  <a:gd name="T5" fmla="*/ 176 h 241"/>
                  <a:gd name="T6" fmla="*/ 40 w 164"/>
                  <a:gd name="T7" fmla="*/ 200 h 241"/>
                  <a:gd name="T8" fmla="*/ 28 w 164"/>
                  <a:gd name="T9" fmla="*/ 188 h 241"/>
                  <a:gd name="T10" fmla="*/ 9 w 164"/>
                  <a:gd name="T11" fmla="*/ 226 h 241"/>
                  <a:gd name="T12" fmla="*/ 13 w 164"/>
                  <a:gd name="T13" fmla="*/ 241 h 241"/>
                  <a:gd name="T14" fmla="*/ 14 w 164"/>
                  <a:gd name="T15" fmla="*/ 241 h 241"/>
                  <a:gd name="T16" fmla="*/ 33 w 164"/>
                  <a:gd name="T17" fmla="*/ 233 h 241"/>
                  <a:gd name="T18" fmla="*/ 51 w 164"/>
                  <a:gd name="T19" fmla="*/ 240 h 241"/>
                  <a:gd name="T20" fmla="*/ 51 w 164"/>
                  <a:gd name="T21" fmla="*/ 239 h 241"/>
                  <a:gd name="T22" fmla="*/ 50 w 164"/>
                  <a:gd name="T23" fmla="*/ 218 h 241"/>
                  <a:gd name="T24" fmla="*/ 70 w 164"/>
                  <a:gd name="T25" fmla="*/ 218 h 241"/>
                  <a:gd name="T26" fmla="*/ 164 w 164"/>
                  <a:gd name="T27" fmla="*/ 171 h 241"/>
                  <a:gd name="T28" fmla="*/ 164 w 164"/>
                  <a:gd name="T29" fmla="*/ 76 h 241"/>
                  <a:gd name="T30" fmla="*/ 71 w 164"/>
                  <a:gd name="T31" fmla="*/ 27 h 241"/>
                  <a:gd name="T32" fmla="*/ 29 w 164"/>
                  <a:gd name="T33" fmla="*/ 27 h 241"/>
                  <a:gd name="T34" fmla="*/ 0 w 164"/>
                  <a:gd name="T35" fmla="*/ 0 h 241"/>
                  <a:gd name="T36" fmla="*/ 23 w 164"/>
                  <a:gd name="T37" fmla="*/ 60 h 241"/>
                  <a:gd name="T38" fmla="*/ 54 w 164"/>
                  <a:gd name="T39" fmla="*/ 90 h 241"/>
                  <a:gd name="T40" fmla="*/ 100 w 164"/>
                  <a:gd name="T41" fmla="*/ 95 h 241"/>
                  <a:gd name="T42" fmla="*/ 140 w 164"/>
                  <a:gd name="T43" fmla="*/ 153 h 241"/>
                  <a:gd name="T44" fmla="*/ 125 w 164"/>
                  <a:gd name="T45" fmla="*/ 161 h 241"/>
                  <a:gd name="T46" fmla="*/ 110 w 164"/>
                  <a:gd name="T47" fmla="*/ 167 h 241"/>
                  <a:gd name="T48" fmla="*/ 85 w 164"/>
                  <a:gd name="T49" fmla="*/ 102 h 241"/>
                  <a:gd name="T50" fmla="*/ 125 w 164"/>
                  <a:gd name="T51" fmla="*/ 161 h 241"/>
                  <a:gd name="T52" fmla="*/ 100 w 164"/>
                  <a:gd name="T53" fmla="*/ 95 h 241"/>
                  <a:gd name="T54" fmla="*/ 110 w 164"/>
                  <a:gd name="T55" fmla="*/ 168 h 241"/>
                  <a:gd name="T56" fmla="*/ 95 w 164"/>
                  <a:gd name="T57" fmla="*/ 175 h 241"/>
                  <a:gd name="T58" fmla="*/ 70 w 164"/>
                  <a:gd name="T59" fmla="*/ 110 h 241"/>
                  <a:gd name="T60" fmla="*/ 110 w 164"/>
                  <a:gd name="T61" fmla="*/ 168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64" h="241">
                    <a:moveTo>
                      <a:pt x="54" y="90"/>
                    </a:moveTo>
                    <a:cubicBezTo>
                      <a:pt x="35" y="137"/>
                      <a:pt x="35" y="137"/>
                      <a:pt x="35" y="137"/>
                    </a:cubicBezTo>
                    <a:cubicBezTo>
                      <a:pt x="53" y="176"/>
                      <a:pt x="53" y="176"/>
                      <a:pt x="53" y="176"/>
                    </a:cubicBezTo>
                    <a:cubicBezTo>
                      <a:pt x="40" y="200"/>
                      <a:pt x="40" y="200"/>
                      <a:pt x="40" y="200"/>
                    </a:cubicBezTo>
                    <a:cubicBezTo>
                      <a:pt x="28" y="188"/>
                      <a:pt x="28" y="188"/>
                      <a:pt x="28" y="188"/>
                    </a:cubicBezTo>
                    <a:cubicBezTo>
                      <a:pt x="9" y="226"/>
                      <a:pt x="9" y="226"/>
                      <a:pt x="9" y="226"/>
                    </a:cubicBezTo>
                    <a:cubicBezTo>
                      <a:pt x="10" y="230"/>
                      <a:pt x="12" y="236"/>
                      <a:pt x="13" y="241"/>
                    </a:cubicBezTo>
                    <a:cubicBezTo>
                      <a:pt x="14" y="241"/>
                      <a:pt x="14" y="241"/>
                      <a:pt x="14" y="241"/>
                    </a:cubicBezTo>
                    <a:cubicBezTo>
                      <a:pt x="19" y="236"/>
                      <a:pt x="25" y="233"/>
                      <a:pt x="33" y="233"/>
                    </a:cubicBezTo>
                    <a:cubicBezTo>
                      <a:pt x="40" y="233"/>
                      <a:pt x="46" y="235"/>
                      <a:pt x="51" y="240"/>
                    </a:cubicBezTo>
                    <a:cubicBezTo>
                      <a:pt x="51" y="239"/>
                      <a:pt x="51" y="239"/>
                      <a:pt x="51" y="239"/>
                    </a:cubicBezTo>
                    <a:cubicBezTo>
                      <a:pt x="51" y="233"/>
                      <a:pt x="50" y="225"/>
                      <a:pt x="50" y="218"/>
                    </a:cubicBezTo>
                    <a:cubicBezTo>
                      <a:pt x="70" y="218"/>
                      <a:pt x="70" y="218"/>
                      <a:pt x="70" y="218"/>
                    </a:cubicBezTo>
                    <a:cubicBezTo>
                      <a:pt x="164" y="171"/>
                      <a:pt x="164" y="171"/>
                      <a:pt x="164" y="171"/>
                    </a:cubicBezTo>
                    <a:cubicBezTo>
                      <a:pt x="164" y="76"/>
                      <a:pt x="164" y="76"/>
                      <a:pt x="164" y="76"/>
                    </a:cubicBezTo>
                    <a:cubicBezTo>
                      <a:pt x="71" y="27"/>
                      <a:pt x="71" y="27"/>
                      <a:pt x="71" y="27"/>
                    </a:cubicBezTo>
                    <a:cubicBezTo>
                      <a:pt x="29" y="27"/>
                      <a:pt x="29" y="27"/>
                      <a:pt x="29" y="27"/>
                    </a:cubicBezTo>
                    <a:cubicBezTo>
                      <a:pt x="0" y="0"/>
                      <a:pt x="0" y="0"/>
                      <a:pt x="0" y="0"/>
                    </a:cubicBezTo>
                    <a:cubicBezTo>
                      <a:pt x="23" y="60"/>
                      <a:pt x="23" y="60"/>
                      <a:pt x="23" y="60"/>
                    </a:cubicBezTo>
                    <a:lnTo>
                      <a:pt x="54" y="90"/>
                    </a:lnTo>
                    <a:close/>
                    <a:moveTo>
                      <a:pt x="100" y="95"/>
                    </a:moveTo>
                    <a:cubicBezTo>
                      <a:pt x="140" y="153"/>
                      <a:pt x="140" y="153"/>
                      <a:pt x="140" y="153"/>
                    </a:cubicBezTo>
                    <a:cubicBezTo>
                      <a:pt x="125" y="161"/>
                      <a:pt x="125" y="161"/>
                      <a:pt x="125" y="161"/>
                    </a:cubicBezTo>
                    <a:cubicBezTo>
                      <a:pt x="110" y="167"/>
                      <a:pt x="110" y="167"/>
                      <a:pt x="110" y="167"/>
                    </a:cubicBezTo>
                    <a:cubicBezTo>
                      <a:pt x="85" y="102"/>
                      <a:pt x="85" y="102"/>
                      <a:pt x="85" y="102"/>
                    </a:cubicBezTo>
                    <a:cubicBezTo>
                      <a:pt x="125" y="161"/>
                      <a:pt x="125" y="161"/>
                      <a:pt x="125" y="161"/>
                    </a:cubicBezTo>
                    <a:lnTo>
                      <a:pt x="100" y="95"/>
                    </a:lnTo>
                    <a:close/>
                    <a:moveTo>
                      <a:pt x="110" y="168"/>
                    </a:moveTo>
                    <a:cubicBezTo>
                      <a:pt x="95" y="175"/>
                      <a:pt x="95" y="175"/>
                      <a:pt x="95" y="175"/>
                    </a:cubicBezTo>
                    <a:cubicBezTo>
                      <a:pt x="70" y="110"/>
                      <a:pt x="70" y="110"/>
                      <a:pt x="70" y="110"/>
                    </a:cubicBezTo>
                    <a:lnTo>
                      <a:pt x="110" y="16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4" name="Freeform 29">
                <a:extLst>
                  <a:ext uri="{FF2B5EF4-FFF2-40B4-BE49-F238E27FC236}">
                    <a16:creationId xmlns:a16="http://schemas.microsoft.com/office/drawing/2014/main" id="{06BCD67F-6D09-48C8-8F0F-82DAF37C45BE}"/>
                  </a:ext>
                </a:extLst>
              </p:cNvPr>
              <p:cNvSpPr>
                <a:spLocks/>
              </p:cNvSpPr>
              <p:nvPr/>
            </p:nvSpPr>
            <p:spPr bwMode="auto">
              <a:xfrm>
                <a:off x="10025063" y="8834438"/>
                <a:ext cx="125413" cy="107950"/>
              </a:xfrm>
              <a:custGeom>
                <a:avLst/>
                <a:gdLst>
                  <a:gd name="T0" fmla="*/ 9 w 39"/>
                  <a:gd name="T1" fmla="*/ 18 h 33"/>
                  <a:gd name="T2" fmla="*/ 15 w 39"/>
                  <a:gd name="T3" fmla="*/ 33 h 33"/>
                  <a:gd name="T4" fmla="*/ 39 w 39"/>
                  <a:gd name="T5" fmla="*/ 3 h 33"/>
                  <a:gd name="T6" fmla="*/ 0 w 39"/>
                  <a:gd name="T7" fmla="*/ 0 h 33"/>
                  <a:gd name="T8" fmla="*/ 9 w 39"/>
                  <a:gd name="T9" fmla="*/ 18 h 33"/>
                </a:gdLst>
                <a:ahLst/>
                <a:cxnLst>
                  <a:cxn ang="0">
                    <a:pos x="T0" y="T1"/>
                  </a:cxn>
                  <a:cxn ang="0">
                    <a:pos x="T2" y="T3"/>
                  </a:cxn>
                  <a:cxn ang="0">
                    <a:pos x="T4" y="T5"/>
                  </a:cxn>
                  <a:cxn ang="0">
                    <a:pos x="T6" y="T7"/>
                  </a:cxn>
                  <a:cxn ang="0">
                    <a:pos x="T8" y="T9"/>
                  </a:cxn>
                </a:cxnLst>
                <a:rect l="0" t="0" r="r" b="b"/>
                <a:pathLst>
                  <a:path w="39" h="33">
                    <a:moveTo>
                      <a:pt x="9" y="18"/>
                    </a:moveTo>
                    <a:cubicBezTo>
                      <a:pt x="11" y="22"/>
                      <a:pt x="13" y="27"/>
                      <a:pt x="15" y="33"/>
                    </a:cubicBezTo>
                    <a:cubicBezTo>
                      <a:pt x="39" y="3"/>
                      <a:pt x="39" y="3"/>
                      <a:pt x="39" y="3"/>
                    </a:cubicBezTo>
                    <a:cubicBezTo>
                      <a:pt x="0" y="0"/>
                      <a:pt x="0" y="0"/>
                      <a:pt x="0" y="0"/>
                    </a:cubicBezTo>
                    <a:cubicBezTo>
                      <a:pt x="3" y="6"/>
                      <a:pt x="7" y="11"/>
                      <a:pt x="9"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5" name="Freeform 30">
                <a:extLst>
                  <a:ext uri="{FF2B5EF4-FFF2-40B4-BE49-F238E27FC236}">
                    <a16:creationId xmlns:a16="http://schemas.microsoft.com/office/drawing/2014/main" id="{4942209F-4A7A-440F-81C9-1A6E7717C675}"/>
                  </a:ext>
                </a:extLst>
              </p:cNvPr>
              <p:cNvSpPr>
                <a:spLocks/>
              </p:cNvSpPr>
              <p:nvPr/>
            </p:nvSpPr>
            <p:spPr bwMode="auto">
              <a:xfrm>
                <a:off x="10140950" y="9186863"/>
                <a:ext cx="114300" cy="120650"/>
              </a:xfrm>
              <a:custGeom>
                <a:avLst/>
                <a:gdLst>
                  <a:gd name="T0" fmla="*/ 2 w 36"/>
                  <a:gd name="T1" fmla="*/ 19 h 37"/>
                  <a:gd name="T2" fmla="*/ 4 w 36"/>
                  <a:gd name="T3" fmla="*/ 37 h 37"/>
                  <a:gd name="T4" fmla="*/ 36 w 36"/>
                  <a:gd name="T5" fmla="*/ 15 h 37"/>
                  <a:gd name="T6" fmla="*/ 0 w 36"/>
                  <a:gd name="T7" fmla="*/ 0 h 37"/>
                  <a:gd name="T8" fmla="*/ 2 w 36"/>
                  <a:gd name="T9" fmla="*/ 19 h 37"/>
                </a:gdLst>
                <a:ahLst/>
                <a:cxnLst>
                  <a:cxn ang="0">
                    <a:pos x="T0" y="T1"/>
                  </a:cxn>
                  <a:cxn ang="0">
                    <a:pos x="T2" y="T3"/>
                  </a:cxn>
                  <a:cxn ang="0">
                    <a:pos x="T4" y="T5"/>
                  </a:cxn>
                  <a:cxn ang="0">
                    <a:pos x="T6" y="T7"/>
                  </a:cxn>
                  <a:cxn ang="0">
                    <a:pos x="T8" y="T9"/>
                  </a:cxn>
                </a:cxnLst>
                <a:rect l="0" t="0" r="r" b="b"/>
                <a:pathLst>
                  <a:path w="36" h="37">
                    <a:moveTo>
                      <a:pt x="2" y="19"/>
                    </a:moveTo>
                    <a:cubicBezTo>
                      <a:pt x="3" y="25"/>
                      <a:pt x="3" y="30"/>
                      <a:pt x="4" y="37"/>
                    </a:cubicBezTo>
                    <a:cubicBezTo>
                      <a:pt x="36" y="15"/>
                      <a:pt x="36" y="15"/>
                      <a:pt x="36" y="15"/>
                    </a:cubicBezTo>
                    <a:cubicBezTo>
                      <a:pt x="0" y="0"/>
                      <a:pt x="0" y="0"/>
                      <a:pt x="0" y="0"/>
                    </a:cubicBezTo>
                    <a:cubicBezTo>
                      <a:pt x="1" y="6"/>
                      <a:pt x="2" y="13"/>
                      <a:pt x="2" y="1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6" name="Freeform 31">
                <a:extLst>
                  <a:ext uri="{FF2B5EF4-FFF2-40B4-BE49-F238E27FC236}">
                    <a16:creationId xmlns:a16="http://schemas.microsoft.com/office/drawing/2014/main" id="{77C1657C-6427-4B10-A6F4-B5762C3A65B5}"/>
                  </a:ext>
                </a:extLst>
              </p:cNvPr>
              <p:cNvSpPr>
                <a:spLocks/>
              </p:cNvSpPr>
              <p:nvPr/>
            </p:nvSpPr>
            <p:spPr bwMode="auto">
              <a:xfrm>
                <a:off x="8221663" y="8326438"/>
                <a:ext cx="109538" cy="127000"/>
              </a:xfrm>
              <a:custGeom>
                <a:avLst/>
                <a:gdLst>
                  <a:gd name="T0" fmla="*/ 20 w 34"/>
                  <a:gd name="T1" fmla="*/ 27 h 39"/>
                  <a:gd name="T2" fmla="*/ 34 w 34"/>
                  <a:gd name="T3" fmla="*/ 17 h 39"/>
                  <a:gd name="T4" fmla="*/ 0 w 34"/>
                  <a:gd name="T5" fmla="*/ 0 h 39"/>
                  <a:gd name="T6" fmla="*/ 4 w 34"/>
                  <a:gd name="T7" fmla="*/ 39 h 39"/>
                  <a:gd name="T8" fmla="*/ 20 w 34"/>
                  <a:gd name="T9" fmla="*/ 27 h 39"/>
                </a:gdLst>
                <a:ahLst/>
                <a:cxnLst>
                  <a:cxn ang="0">
                    <a:pos x="T0" y="T1"/>
                  </a:cxn>
                  <a:cxn ang="0">
                    <a:pos x="T2" y="T3"/>
                  </a:cxn>
                  <a:cxn ang="0">
                    <a:pos x="T4" y="T5"/>
                  </a:cxn>
                  <a:cxn ang="0">
                    <a:pos x="T6" y="T7"/>
                  </a:cxn>
                  <a:cxn ang="0">
                    <a:pos x="T8" y="T9"/>
                  </a:cxn>
                </a:cxnLst>
                <a:rect l="0" t="0" r="r" b="b"/>
                <a:pathLst>
                  <a:path w="34" h="39">
                    <a:moveTo>
                      <a:pt x="20" y="27"/>
                    </a:moveTo>
                    <a:cubicBezTo>
                      <a:pt x="25" y="24"/>
                      <a:pt x="29" y="20"/>
                      <a:pt x="34" y="17"/>
                    </a:cubicBezTo>
                    <a:cubicBezTo>
                      <a:pt x="0" y="0"/>
                      <a:pt x="0" y="0"/>
                      <a:pt x="0" y="0"/>
                    </a:cubicBezTo>
                    <a:cubicBezTo>
                      <a:pt x="4" y="39"/>
                      <a:pt x="4" y="39"/>
                      <a:pt x="4" y="39"/>
                    </a:cubicBezTo>
                    <a:cubicBezTo>
                      <a:pt x="10" y="34"/>
                      <a:pt x="14" y="30"/>
                      <a:pt x="20" y="2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7" name="Freeform 32">
                <a:extLst>
                  <a:ext uri="{FF2B5EF4-FFF2-40B4-BE49-F238E27FC236}">
                    <a16:creationId xmlns:a16="http://schemas.microsoft.com/office/drawing/2014/main" id="{3BB9A15C-AF79-45B7-B037-251C99969756}"/>
                  </a:ext>
                </a:extLst>
              </p:cNvPr>
              <p:cNvSpPr>
                <a:spLocks/>
              </p:cNvSpPr>
              <p:nvPr/>
            </p:nvSpPr>
            <p:spPr bwMode="auto">
              <a:xfrm>
                <a:off x="10115550" y="9066213"/>
                <a:ext cx="117475" cy="117475"/>
              </a:xfrm>
              <a:custGeom>
                <a:avLst/>
                <a:gdLst>
                  <a:gd name="T0" fmla="*/ 5 w 37"/>
                  <a:gd name="T1" fmla="*/ 18 h 36"/>
                  <a:gd name="T2" fmla="*/ 8 w 37"/>
                  <a:gd name="T3" fmla="*/ 36 h 36"/>
                  <a:gd name="T4" fmla="*/ 37 w 37"/>
                  <a:gd name="T5" fmla="*/ 12 h 36"/>
                  <a:gd name="T6" fmla="*/ 0 w 37"/>
                  <a:gd name="T7" fmla="*/ 0 h 36"/>
                  <a:gd name="T8" fmla="*/ 5 w 37"/>
                  <a:gd name="T9" fmla="*/ 18 h 36"/>
                </a:gdLst>
                <a:ahLst/>
                <a:cxnLst>
                  <a:cxn ang="0">
                    <a:pos x="T0" y="T1"/>
                  </a:cxn>
                  <a:cxn ang="0">
                    <a:pos x="T2" y="T3"/>
                  </a:cxn>
                  <a:cxn ang="0">
                    <a:pos x="T4" y="T5"/>
                  </a:cxn>
                  <a:cxn ang="0">
                    <a:pos x="T6" y="T7"/>
                  </a:cxn>
                  <a:cxn ang="0">
                    <a:pos x="T8" y="T9"/>
                  </a:cxn>
                </a:cxnLst>
                <a:rect l="0" t="0" r="r" b="b"/>
                <a:pathLst>
                  <a:path w="37" h="36">
                    <a:moveTo>
                      <a:pt x="5" y="18"/>
                    </a:moveTo>
                    <a:cubicBezTo>
                      <a:pt x="6" y="24"/>
                      <a:pt x="7" y="30"/>
                      <a:pt x="8" y="36"/>
                    </a:cubicBezTo>
                    <a:cubicBezTo>
                      <a:pt x="37" y="12"/>
                      <a:pt x="37" y="12"/>
                      <a:pt x="37" y="12"/>
                    </a:cubicBezTo>
                    <a:cubicBezTo>
                      <a:pt x="0" y="0"/>
                      <a:pt x="0" y="0"/>
                      <a:pt x="0" y="0"/>
                    </a:cubicBezTo>
                    <a:cubicBezTo>
                      <a:pt x="2" y="6"/>
                      <a:pt x="4" y="12"/>
                      <a:pt x="5"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8" name="Freeform 33">
                <a:extLst>
                  <a:ext uri="{FF2B5EF4-FFF2-40B4-BE49-F238E27FC236}">
                    <a16:creationId xmlns:a16="http://schemas.microsoft.com/office/drawing/2014/main" id="{893E7C30-88C2-4D38-BDA1-F6A8DB279A0F}"/>
                  </a:ext>
                </a:extLst>
              </p:cNvPr>
              <p:cNvSpPr>
                <a:spLocks/>
              </p:cNvSpPr>
              <p:nvPr/>
            </p:nvSpPr>
            <p:spPr bwMode="auto">
              <a:xfrm>
                <a:off x="10075863" y="8948738"/>
                <a:ext cx="125413" cy="114300"/>
              </a:xfrm>
              <a:custGeom>
                <a:avLst/>
                <a:gdLst>
                  <a:gd name="T0" fmla="*/ 7 w 39"/>
                  <a:gd name="T1" fmla="*/ 17 h 35"/>
                  <a:gd name="T2" fmla="*/ 11 w 39"/>
                  <a:gd name="T3" fmla="*/ 35 h 35"/>
                  <a:gd name="T4" fmla="*/ 39 w 39"/>
                  <a:gd name="T5" fmla="*/ 8 h 35"/>
                  <a:gd name="T6" fmla="*/ 0 w 39"/>
                  <a:gd name="T7" fmla="*/ 0 h 35"/>
                  <a:gd name="T8" fmla="*/ 7 w 39"/>
                  <a:gd name="T9" fmla="*/ 17 h 35"/>
                </a:gdLst>
                <a:ahLst/>
                <a:cxnLst>
                  <a:cxn ang="0">
                    <a:pos x="T0" y="T1"/>
                  </a:cxn>
                  <a:cxn ang="0">
                    <a:pos x="T2" y="T3"/>
                  </a:cxn>
                  <a:cxn ang="0">
                    <a:pos x="T4" y="T5"/>
                  </a:cxn>
                  <a:cxn ang="0">
                    <a:pos x="T6" y="T7"/>
                  </a:cxn>
                  <a:cxn ang="0">
                    <a:pos x="T8" y="T9"/>
                  </a:cxn>
                </a:cxnLst>
                <a:rect l="0" t="0" r="r" b="b"/>
                <a:pathLst>
                  <a:path w="39" h="35">
                    <a:moveTo>
                      <a:pt x="7" y="17"/>
                    </a:moveTo>
                    <a:cubicBezTo>
                      <a:pt x="8" y="23"/>
                      <a:pt x="10" y="28"/>
                      <a:pt x="11" y="35"/>
                    </a:cubicBezTo>
                    <a:cubicBezTo>
                      <a:pt x="39" y="8"/>
                      <a:pt x="39" y="8"/>
                      <a:pt x="39" y="8"/>
                    </a:cubicBezTo>
                    <a:cubicBezTo>
                      <a:pt x="0" y="0"/>
                      <a:pt x="0" y="0"/>
                      <a:pt x="0" y="0"/>
                    </a:cubicBezTo>
                    <a:cubicBezTo>
                      <a:pt x="3" y="5"/>
                      <a:pt x="5" y="12"/>
                      <a:pt x="7"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9" name="Freeform 34">
                <a:extLst>
                  <a:ext uri="{FF2B5EF4-FFF2-40B4-BE49-F238E27FC236}">
                    <a16:creationId xmlns:a16="http://schemas.microsoft.com/office/drawing/2014/main" id="{0862625F-2526-4633-B036-82D492573F8C}"/>
                  </a:ext>
                </a:extLst>
              </p:cNvPr>
              <p:cNvSpPr>
                <a:spLocks/>
              </p:cNvSpPr>
              <p:nvPr/>
            </p:nvSpPr>
            <p:spPr bwMode="auto">
              <a:xfrm>
                <a:off x="10153650" y="9310688"/>
                <a:ext cx="107950" cy="120650"/>
              </a:xfrm>
              <a:custGeom>
                <a:avLst/>
                <a:gdLst>
                  <a:gd name="T0" fmla="*/ 0 w 68"/>
                  <a:gd name="T1" fmla="*/ 39 h 76"/>
                  <a:gd name="T2" fmla="*/ 0 w 68"/>
                  <a:gd name="T3" fmla="*/ 76 h 76"/>
                  <a:gd name="T4" fmla="*/ 68 w 68"/>
                  <a:gd name="T5" fmla="*/ 39 h 76"/>
                  <a:gd name="T6" fmla="*/ 0 w 68"/>
                  <a:gd name="T7" fmla="*/ 0 h 76"/>
                  <a:gd name="T8" fmla="*/ 0 w 68"/>
                  <a:gd name="T9" fmla="*/ 39 h 76"/>
                </a:gdLst>
                <a:ahLst/>
                <a:cxnLst>
                  <a:cxn ang="0">
                    <a:pos x="T0" y="T1"/>
                  </a:cxn>
                  <a:cxn ang="0">
                    <a:pos x="T2" y="T3"/>
                  </a:cxn>
                  <a:cxn ang="0">
                    <a:pos x="T4" y="T5"/>
                  </a:cxn>
                  <a:cxn ang="0">
                    <a:pos x="T6" y="T7"/>
                  </a:cxn>
                  <a:cxn ang="0">
                    <a:pos x="T8" y="T9"/>
                  </a:cxn>
                </a:cxnLst>
                <a:rect l="0" t="0" r="r" b="b"/>
                <a:pathLst>
                  <a:path w="68" h="76">
                    <a:moveTo>
                      <a:pt x="0" y="39"/>
                    </a:moveTo>
                    <a:lnTo>
                      <a:pt x="0" y="76"/>
                    </a:lnTo>
                    <a:lnTo>
                      <a:pt x="68" y="39"/>
                    </a:lnTo>
                    <a:lnTo>
                      <a:pt x="0" y="0"/>
                    </a:lnTo>
                    <a:lnTo>
                      <a:pt x="0" y="39"/>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0" name="Freeform 35">
                <a:extLst>
                  <a:ext uri="{FF2B5EF4-FFF2-40B4-BE49-F238E27FC236}">
                    <a16:creationId xmlns:a16="http://schemas.microsoft.com/office/drawing/2014/main" id="{1C5E19AF-9774-4339-ACC5-26839C5AAC30}"/>
                  </a:ext>
                </a:extLst>
              </p:cNvPr>
              <p:cNvSpPr>
                <a:spLocks/>
              </p:cNvSpPr>
              <p:nvPr/>
            </p:nvSpPr>
            <p:spPr bwMode="auto">
              <a:xfrm>
                <a:off x="8108950" y="8932863"/>
                <a:ext cx="42863" cy="38100"/>
              </a:xfrm>
              <a:custGeom>
                <a:avLst/>
                <a:gdLst>
                  <a:gd name="T0" fmla="*/ 0 w 27"/>
                  <a:gd name="T1" fmla="*/ 14 h 24"/>
                  <a:gd name="T2" fmla="*/ 21 w 27"/>
                  <a:gd name="T3" fmla="*/ 24 h 24"/>
                  <a:gd name="T4" fmla="*/ 27 w 27"/>
                  <a:gd name="T5" fmla="*/ 8 h 24"/>
                  <a:gd name="T6" fmla="*/ 6 w 27"/>
                  <a:gd name="T7" fmla="*/ 0 h 24"/>
                  <a:gd name="T8" fmla="*/ 0 w 27"/>
                  <a:gd name="T9" fmla="*/ 14 h 24"/>
                </a:gdLst>
                <a:ahLst/>
                <a:cxnLst>
                  <a:cxn ang="0">
                    <a:pos x="T0" y="T1"/>
                  </a:cxn>
                  <a:cxn ang="0">
                    <a:pos x="T2" y="T3"/>
                  </a:cxn>
                  <a:cxn ang="0">
                    <a:pos x="T4" y="T5"/>
                  </a:cxn>
                  <a:cxn ang="0">
                    <a:pos x="T6" y="T7"/>
                  </a:cxn>
                  <a:cxn ang="0">
                    <a:pos x="T8" y="T9"/>
                  </a:cxn>
                </a:cxnLst>
                <a:rect l="0" t="0" r="r" b="b"/>
                <a:pathLst>
                  <a:path w="27" h="24">
                    <a:moveTo>
                      <a:pt x="0" y="14"/>
                    </a:moveTo>
                    <a:lnTo>
                      <a:pt x="21" y="24"/>
                    </a:lnTo>
                    <a:lnTo>
                      <a:pt x="27" y="8"/>
                    </a:lnTo>
                    <a:lnTo>
                      <a:pt x="6" y="0"/>
                    </a:lnTo>
                    <a:lnTo>
                      <a:pt x="0" y="14"/>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1" name="Freeform 36">
                <a:extLst>
                  <a:ext uri="{FF2B5EF4-FFF2-40B4-BE49-F238E27FC236}">
                    <a16:creationId xmlns:a16="http://schemas.microsoft.com/office/drawing/2014/main" id="{4D54FDCF-93FC-4B91-A453-1AFC4E5A164D}"/>
                  </a:ext>
                </a:extLst>
              </p:cNvPr>
              <p:cNvSpPr>
                <a:spLocks/>
              </p:cNvSpPr>
              <p:nvPr/>
            </p:nvSpPr>
            <p:spPr bwMode="auto">
              <a:xfrm>
                <a:off x="8420100" y="10121901"/>
                <a:ext cx="44450" cy="55563"/>
              </a:xfrm>
              <a:custGeom>
                <a:avLst/>
                <a:gdLst>
                  <a:gd name="T0" fmla="*/ 16 w 28"/>
                  <a:gd name="T1" fmla="*/ 35 h 35"/>
                  <a:gd name="T2" fmla="*/ 28 w 28"/>
                  <a:gd name="T3" fmla="*/ 2 h 35"/>
                  <a:gd name="T4" fmla="*/ 24 w 28"/>
                  <a:gd name="T5" fmla="*/ 0 h 35"/>
                  <a:gd name="T6" fmla="*/ 0 w 28"/>
                  <a:gd name="T7" fmla="*/ 25 h 35"/>
                  <a:gd name="T8" fmla="*/ 16 w 28"/>
                  <a:gd name="T9" fmla="*/ 35 h 35"/>
                </a:gdLst>
                <a:ahLst/>
                <a:cxnLst>
                  <a:cxn ang="0">
                    <a:pos x="T0" y="T1"/>
                  </a:cxn>
                  <a:cxn ang="0">
                    <a:pos x="T2" y="T3"/>
                  </a:cxn>
                  <a:cxn ang="0">
                    <a:pos x="T4" y="T5"/>
                  </a:cxn>
                  <a:cxn ang="0">
                    <a:pos x="T6" y="T7"/>
                  </a:cxn>
                  <a:cxn ang="0">
                    <a:pos x="T8" y="T9"/>
                  </a:cxn>
                </a:cxnLst>
                <a:rect l="0" t="0" r="r" b="b"/>
                <a:pathLst>
                  <a:path w="28" h="35">
                    <a:moveTo>
                      <a:pt x="16" y="35"/>
                    </a:moveTo>
                    <a:lnTo>
                      <a:pt x="28" y="2"/>
                    </a:lnTo>
                    <a:lnTo>
                      <a:pt x="24" y="0"/>
                    </a:lnTo>
                    <a:lnTo>
                      <a:pt x="0" y="25"/>
                    </a:lnTo>
                    <a:lnTo>
                      <a:pt x="16" y="3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2" name="Freeform 37">
                <a:extLst>
                  <a:ext uri="{FF2B5EF4-FFF2-40B4-BE49-F238E27FC236}">
                    <a16:creationId xmlns:a16="http://schemas.microsoft.com/office/drawing/2014/main" id="{A7D8172E-46CF-4DBF-8CF9-E0CCC27060EC}"/>
                  </a:ext>
                </a:extLst>
              </p:cNvPr>
              <p:cNvSpPr>
                <a:spLocks/>
              </p:cNvSpPr>
              <p:nvPr/>
            </p:nvSpPr>
            <p:spPr bwMode="auto">
              <a:xfrm>
                <a:off x="8032750" y="9174163"/>
                <a:ext cx="38100" cy="28575"/>
              </a:xfrm>
              <a:custGeom>
                <a:avLst/>
                <a:gdLst>
                  <a:gd name="T0" fmla="*/ 0 w 24"/>
                  <a:gd name="T1" fmla="*/ 16 h 18"/>
                  <a:gd name="T2" fmla="*/ 22 w 24"/>
                  <a:gd name="T3" fmla="*/ 18 h 18"/>
                  <a:gd name="T4" fmla="*/ 24 w 24"/>
                  <a:gd name="T5" fmla="*/ 4 h 18"/>
                  <a:gd name="T6" fmla="*/ 2 w 24"/>
                  <a:gd name="T7" fmla="*/ 0 h 18"/>
                  <a:gd name="T8" fmla="*/ 0 w 24"/>
                  <a:gd name="T9" fmla="*/ 16 h 18"/>
                </a:gdLst>
                <a:ahLst/>
                <a:cxnLst>
                  <a:cxn ang="0">
                    <a:pos x="T0" y="T1"/>
                  </a:cxn>
                  <a:cxn ang="0">
                    <a:pos x="T2" y="T3"/>
                  </a:cxn>
                  <a:cxn ang="0">
                    <a:pos x="T4" y="T5"/>
                  </a:cxn>
                  <a:cxn ang="0">
                    <a:pos x="T6" y="T7"/>
                  </a:cxn>
                  <a:cxn ang="0">
                    <a:pos x="T8" y="T9"/>
                  </a:cxn>
                </a:cxnLst>
                <a:rect l="0" t="0" r="r" b="b"/>
                <a:pathLst>
                  <a:path w="24" h="18">
                    <a:moveTo>
                      <a:pt x="0" y="16"/>
                    </a:moveTo>
                    <a:lnTo>
                      <a:pt x="22" y="18"/>
                    </a:lnTo>
                    <a:lnTo>
                      <a:pt x="24" y="4"/>
                    </a:lnTo>
                    <a:lnTo>
                      <a:pt x="2" y="0"/>
                    </a:lnTo>
                    <a:lnTo>
                      <a:pt x="0" y="16"/>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3" name="Freeform 38">
                <a:extLst>
                  <a:ext uri="{FF2B5EF4-FFF2-40B4-BE49-F238E27FC236}">
                    <a16:creationId xmlns:a16="http://schemas.microsoft.com/office/drawing/2014/main" id="{75C7886B-141A-4A80-8C31-3693EAB9AB1E}"/>
                  </a:ext>
                </a:extLst>
              </p:cNvPr>
              <p:cNvSpPr>
                <a:spLocks/>
              </p:cNvSpPr>
              <p:nvPr/>
            </p:nvSpPr>
            <p:spPr bwMode="auto">
              <a:xfrm>
                <a:off x="8656638" y="10233026"/>
                <a:ext cx="39688" cy="31750"/>
              </a:xfrm>
              <a:custGeom>
                <a:avLst/>
                <a:gdLst>
                  <a:gd name="T0" fmla="*/ 0 w 25"/>
                  <a:gd name="T1" fmla="*/ 14 h 20"/>
                  <a:gd name="T2" fmla="*/ 21 w 25"/>
                  <a:gd name="T3" fmla="*/ 20 h 20"/>
                  <a:gd name="T4" fmla="*/ 25 w 25"/>
                  <a:gd name="T5" fmla="*/ 6 h 20"/>
                  <a:gd name="T6" fmla="*/ 7 w 25"/>
                  <a:gd name="T7" fmla="*/ 0 h 20"/>
                  <a:gd name="T8" fmla="*/ 0 w 25"/>
                  <a:gd name="T9" fmla="*/ 14 h 20"/>
                </a:gdLst>
                <a:ahLst/>
                <a:cxnLst>
                  <a:cxn ang="0">
                    <a:pos x="T0" y="T1"/>
                  </a:cxn>
                  <a:cxn ang="0">
                    <a:pos x="T2" y="T3"/>
                  </a:cxn>
                  <a:cxn ang="0">
                    <a:pos x="T4" y="T5"/>
                  </a:cxn>
                  <a:cxn ang="0">
                    <a:pos x="T6" y="T7"/>
                  </a:cxn>
                  <a:cxn ang="0">
                    <a:pos x="T8" y="T9"/>
                  </a:cxn>
                </a:cxnLst>
                <a:rect l="0" t="0" r="r" b="b"/>
                <a:pathLst>
                  <a:path w="25" h="20">
                    <a:moveTo>
                      <a:pt x="0" y="14"/>
                    </a:moveTo>
                    <a:lnTo>
                      <a:pt x="21" y="20"/>
                    </a:lnTo>
                    <a:lnTo>
                      <a:pt x="25" y="6"/>
                    </a:lnTo>
                    <a:lnTo>
                      <a:pt x="7" y="0"/>
                    </a:lnTo>
                    <a:lnTo>
                      <a:pt x="0" y="14"/>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4" name="Freeform 39">
                <a:extLst>
                  <a:ext uri="{FF2B5EF4-FFF2-40B4-BE49-F238E27FC236}">
                    <a16:creationId xmlns:a16="http://schemas.microsoft.com/office/drawing/2014/main" id="{9C99C60E-DB36-4A46-98B0-5105F7B9F20E}"/>
                  </a:ext>
                </a:extLst>
              </p:cNvPr>
              <p:cNvSpPr>
                <a:spLocks noEditPoints="1"/>
              </p:cNvSpPr>
              <p:nvPr/>
            </p:nvSpPr>
            <p:spPr bwMode="auto">
              <a:xfrm>
                <a:off x="8743950" y="8782051"/>
                <a:ext cx="477838" cy="1358900"/>
              </a:xfrm>
              <a:custGeom>
                <a:avLst/>
                <a:gdLst>
                  <a:gd name="T0" fmla="*/ 33 w 149"/>
                  <a:gd name="T1" fmla="*/ 110 h 417"/>
                  <a:gd name="T2" fmla="*/ 0 w 149"/>
                  <a:gd name="T3" fmla="*/ 179 h 417"/>
                  <a:gd name="T4" fmla="*/ 27 w 149"/>
                  <a:gd name="T5" fmla="*/ 233 h 417"/>
                  <a:gd name="T6" fmla="*/ 44 w 149"/>
                  <a:gd name="T7" fmla="*/ 274 h 417"/>
                  <a:gd name="T8" fmla="*/ 54 w 149"/>
                  <a:gd name="T9" fmla="*/ 321 h 417"/>
                  <a:gd name="T10" fmla="*/ 59 w 149"/>
                  <a:gd name="T11" fmla="*/ 413 h 417"/>
                  <a:gd name="T12" fmla="*/ 74 w 149"/>
                  <a:gd name="T13" fmla="*/ 417 h 417"/>
                  <a:gd name="T14" fmla="*/ 75 w 149"/>
                  <a:gd name="T15" fmla="*/ 417 h 417"/>
                  <a:gd name="T16" fmla="*/ 90 w 149"/>
                  <a:gd name="T17" fmla="*/ 413 h 417"/>
                  <a:gd name="T18" fmla="*/ 95 w 149"/>
                  <a:gd name="T19" fmla="*/ 321 h 417"/>
                  <a:gd name="T20" fmla="*/ 106 w 149"/>
                  <a:gd name="T21" fmla="*/ 274 h 417"/>
                  <a:gd name="T22" fmla="*/ 122 w 149"/>
                  <a:gd name="T23" fmla="*/ 233 h 417"/>
                  <a:gd name="T24" fmla="*/ 149 w 149"/>
                  <a:gd name="T25" fmla="*/ 179 h 417"/>
                  <a:gd name="T26" fmla="*/ 116 w 149"/>
                  <a:gd name="T27" fmla="*/ 110 h 417"/>
                  <a:gd name="T28" fmla="*/ 137 w 149"/>
                  <a:gd name="T29" fmla="*/ 62 h 417"/>
                  <a:gd name="T30" fmla="*/ 114 w 149"/>
                  <a:gd name="T31" fmla="*/ 0 h 417"/>
                  <a:gd name="T32" fmla="*/ 35 w 149"/>
                  <a:gd name="T33" fmla="*/ 0 h 417"/>
                  <a:gd name="T34" fmla="*/ 12 w 149"/>
                  <a:gd name="T35" fmla="*/ 62 h 417"/>
                  <a:gd name="T36" fmla="*/ 33 w 149"/>
                  <a:gd name="T37" fmla="*/ 110 h 417"/>
                  <a:gd name="T38" fmla="*/ 86 w 149"/>
                  <a:gd name="T39" fmla="*/ 322 h 417"/>
                  <a:gd name="T40" fmla="*/ 74 w 149"/>
                  <a:gd name="T41" fmla="*/ 316 h 417"/>
                  <a:gd name="T42" fmla="*/ 62 w 149"/>
                  <a:gd name="T43" fmla="*/ 322 h 417"/>
                  <a:gd name="T44" fmla="*/ 74 w 149"/>
                  <a:gd name="T45" fmla="*/ 311 h 417"/>
                  <a:gd name="T46" fmla="*/ 87 w 149"/>
                  <a:gd name="T47" fmla="*/ 322 h 417"/>
                  <a:gd name="T48" fmla="*/ 86 w 149"/>
                  <a:gd name="T49" fmla="*/ 322 h 417"/>
                  <a:gd name="T50" fmla="*/ 74 w 149"/>
                  <a:gd name="T51" fmla="*/ 281 h 417"/>
                  <a:gd name="T52" fmla="*/ 59 w 149"/>
                  <a:gd name="T53" fmla="*/ 289 h 417"/>
                  <a:gd name="T54" fmla="*/ 58 w 149"/>
                  <a:gd name="T55" fmla="*/ 289 h 417"/>
                  <a:gd name="T56" fmla="*/ 74 w 149"/>
                  <a:gd name="T57" fmla="*/ 275 h 417"/>
                  <a:gd name="T58" fmla="*/ 90 w 149"/>
                  <a:gd name="T59" fmla="*/ 289 h 417"/>
                  <a:gd name="T60" fmla="*/ 74 w 149"/>
                  <a:gd name="T61" fmla="*/ 281 h 417"/>
                  <a:gd name="T62" fmla="*/ 100 w 149"/>
                  <a:gd name="T63" fmla="*/ 253 h 417"/>
                  <a:gd name="T64" fmla="*/ 75 w 149"/>
                  <a:gd name="T65" fmla="*/ 248 h 417"/>
                  <a:gd name="T66" fmla="*/ 49 w 149"/>
                  <a:gd name="T67" fmla="*/ 253 h 417"/>
                  <a:gd name="T68" fmla="*/ 75 w 149"/>
                  <a:gd name="T69" fmla="*/ 241 h 417"/>
                  <a:gd name="T70" fmla="*/ 101 w 149"/>
                  <a:gd name="T71" fmla="*/ 253 h 417"/>
                  <a:gd name="T72" fmla="*/ 100 w 149"/>
                  <a:gd name="T73" fmla="*/ 253 h 417"/>
                  <a:gd name="T74" fmla="*/ 113 w 149"/>
                  <a:gd name="T75" fmla="*/ 220 h 417"/>
                  <a:gd name="T76" fmla="*/ 74 w 149"/>
                  <a:gd name="T77" fmla="*/ 200 h 417"/>
                  <a:gd name="T78" fmla="*/ 35 w 149"/>
                  <a:gd name="T79" fmla="*/ 218 h 417"/>
                  <a:gd name="T80" fmla="*/ 74 w 149"/>
                  <a:gd name="T81" fmla="*/ 193 h 417"/>
                  <a:gd name="T82" fmla="*/ 114 w 149"/>
                  <a:gd name="T83" fmla="*/ 220 h 417"/>
                  <a:gd name="T84" fmla="*/ 113 w 149"/>
                  <a:gd name="T85" fmla="*/ 220 h 417"/>
                  <a:gd name="T86" fmla="*/ 124 w 149"/>
                  <a:gd name="T87" fmla="*/ 171 h 417"/>
                  <a:gd name="T88" fmla="*/ 124 w 149"/>
                  <a:gd name="T89" fmla="*/ 172 h 417"/>
                  <a:gd name="T90" fmla="*/ 74 w 149"/>
                  <a:gd name="T91" fmla="*/ 150 h 417"/>
                  <a:gd name="T92" fmla="*/ 25 w 149"/>
                  <a:gd name="T93" fmla="*/ 172 h 417"/>
                  <a:gd name="T94" fmla="*/ 24 w 149"/>
                  <a:gd name="T95" fmla="*/ 171 h 417"/>
                  <a:gd name="T96" fmla="*/ 74 w 149"/>
                  <a:gd name="T97" fmla="*/ 141 h 417"/>
                  <a:gd name="T98" fmla="*/ 124 w 149"/>
                  <a:gd name="T99" fmla="*/ 171 h 417"/>
                  <a:gd name="T100" fmla="*/ 74 w 149"/>
                  <a:gd name="T101" fmla="*/ 40 h 417"/>
                  <a:gd name="T102" fmla="*/ 116 w 149"/>
                  <a:gd name="T103" fmla="*/ 61 h 417"/>
                  <a:gd name="T104" fmla="*/ 74 w 149"/>
                  <a:gd name="T105" fmla="*/ 52 h 417"/>
                  <a:gd name="T106" fmla="*/ 32 w 149"/>
                  <a:gd name="T107" fmla="*/ 61 h 417"/>
                  <a:gd name="T108" fmla="*/ 74 w 149"/>
                  <a:gd name="T109" fmla="*/ 4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9" h="417">
                    <a:moveTo>
                      <a:pt x="33" y="110"/>
                    </a:moveTo>
                    <a:cubicBezTo>
                      <a:pt x="0" y="179"/>
                      <a:pt x="0" y="179"/>
                      <a:pt x="0" y="179"/>
                    </a:cubicBezTo>
                    <a:cubicBezTo>
                      <a:pt x="0" y="179"/>
                      <a:pt x="23" y="224"/>
                      <a:pt x="27" y="233"/>
                    </a:cubicBezTo>
                    <a:cubicBezTo>
                      <a:pt x="31" y="240"/>
                      <a:pt x="39" y="264"/>
                      <a:pt x="44" y="274"/>
                    </a:cubicBezTo>
                    <a:cubicBezTo>
                      <a:pt x="47" y="284"/>
                      <a:pt x="53" y="312"/>
                      <a:pt x="54" y="321"/>
                    </a:cubicBezTo>
                    <a:cubicBezTo>
                      <a:pt x="56" y="329"/>
                      <a:pt x="59" y="413"/>
                      <a:pt x="59" y="413"/>
                    </a:cubicBezTo>
                    <a:cubicBezTo>
                      <a:pt x="63" y="416"/>
                      <a:pt x="69" y="417"/>
                      <a:pt x="74" y="417"/>
                    </a:cubicBezTo>
                    <a:cubicBezTo>
                      <a:pt x="75" y="417"/>
                      <a:pt x="75" y="417"/>
                      <a:pt x="75" y="417"/>
                    </a:cubicBezTo>
                    <a:cubicBezTo>
                      <a:pt x="81" y="417"/>
                      <a:pt x="86" y="416"/>
                      <a:pt x="90" y="413"/>
                    </a:cubicBezTo>
                    <a:cubicBezTo>
                      <a:pt x="90" y="413"/>
                      <a:pt x="94" y="329"/>
                      <a:pt x="95" y="321"/>
                    </a:cubicBezTo>
                    <a:cubicBezTo>
                      <a:pt x="96" y="312"/>
                      <a:pt x="102" y="284"/>
                      <a:pt x="106" y="274"/>
                    </a:cubicBezTo>
                    <a:cubicBezTo>
                      <a:pt x="110" y="264"/>
                      <a:pt x="119" y="240"/>
                      <a:pt x="122" y="233"/>
                    </a:cubicBezTo>
                    <a:cubicBezTo>
                      <a:pt x="126" y="224"/>
                      <a:pt x="149" y="179"/>
                      <a:pt x="149" y="179"/>
                    </a:cubicBezTo>
                    <a:cubicBezTo>
                      <a:pt x="116" y="110"/>
                      <a:pt x="116" y="110"/>
                      <a:pt x="116" y="110"/>
                    </a:cubicBezTo>
                    <a:cubicBezTo>
                      <a:pt x="137" y="62"/>
                      <a:pt x="137" y="62"/>
                      <a:pt x="137" y="62"/>
                    </a:cubicBezTo>
                    <a:cubicBezTo>
                      <a:pt x="114" y="0"/>
                      <a:pt x="114" y="0"/>
                      <a:pt x="114" y="0"/>
                    </a:cubicBezTo>
                    <a:cubicBezTo>
                      <a:pt x="35" y="0"/>
                      <a:pt x="35" y="0"/>
                      <a:pt x="35" y="0"/>
                    </a:cubicBezTo>
                    <a:cubicBezTo>
                      <a:pt x="12" y="62"/>
                      <a:pt x="12" y="62"/>
                      <a:pt x="12" y="62"/>
                    </a:cubicBezTo>
                    <a:lnTo>
                      <a:pt x="33" y="110"/>
                    </a:lnTo>
                    <a:close/>
                    <a:moveTo>
                      <a:pt x="86" y="322"/>
                    </a:moveTo>
                    <a:cubicBezTo>
                      <a:pt x="84" y="318"/>
                      <a:pt x="79" y="316"/>
                      <a:pt x="74" y="316"/>
                    </a:cubicBezTo>
                    <a:cubicBezTo>
                      <a:pt x="70" y="316"/>
                      <a:pt x="65" y="318"/>
                      <a:pt x="62" y="322"/>
                    </a:cubicBezTo>
                    <a:cubicBezTo>
                      <a:pt x="63" y="315"/>
                      <a:pt x="67" y="311"/>
                      <a:pt x="74" y="311"/>
                    </a:cubicBezTo>
                    <a:cubicBezTo>
                      <a:pt x="81" y="311"/>
                      <a:pt x="86" y="315"/>
                      <a:pt x="87" y="322"/>
                    </a:cubicBezTo>
                    <a:lnTo>
                      <a:pt x="86" y="322"/>
                    </a:lnTo>
                    <a:close/>
                    <a:moveTo>
                      <a:pt x="74" y="281"/>
                    </a:moveTo>
                    <a:cubicBezTo>
                      <a:pt x="67" y="281"/>
                      <a:pt x="62" y="285"/>
                      <a:pt x="59" y="289"/>
                    </a:cubicBezTo>
                    <a:cubicBezTo>
                      <a:pt x="58" y="289"/>
                      <a:pt x="58" y="289"/>
                      <a:pt x="58" y="289"/>
                    </a:cubicBezTo>
                    <a:cubicBezTo>
                      <a:pt x="60" y="281"/>
                      <a:pt x="66" y="275"/>
                      <a:pt x="74" y="275"/>
                    </a:cubicBezTo>
                    <a:cubicBezTo>
                      <a:pt x="83" y="275"/>
                      <a:pt x="89" y="281"/>
                      <a:pt x="90" y="289"/>
                    </a:cubicBezTo>
                    <a:cubicBezTo>
                      <a:pt x="86" y="285"/>
                      <a:pt x="81" y="281"/>
                      <a:pt x="74" y="281"/>
                    </a:cubicBezTo>
                    <a:moveTo>
                      <a:pt x="100" y="253"/>
                    </a:moveTo>
                    <a:cubicBezTo>
                      <a:pt x="92" y="250"/>
                      <a:pt x="84" y="248"/>
                      <a:pt x="75" y="248"/>
                    </a:cubicBezTo>
                    <a:cubicBezTo>
                      <a:pt x="65" y="248"/>
                      <a:pt x="57" y="250"/>
                      <a:pt x="49" y="253"/>
                    </a:cubicBezTo>
                    <a:cubicBezTo>
                      <a:pt x="54" y="246"/>
                      <a:pt x="64" y="241"/>
                      <a:pt x="75" y="241"/>
                    </a:cubicBezTo>
                    <a:cubicBezTo>
                      <a:pt x="85" y="241"/>
                      <a:pt x="95" y="246"/>
                      <a:pt x="101" y="253"/>
                    </a:cubicBezTo>
                    <a:lnTo>
                      <a:pt x="100" y="253"/>
                    </a:lnTo>
                    <a:close/>
                    <a:moveTo>
                      <a:pt x="113" y="220"/>
                    </a:moveTo>
                    <a:cubicBezTo>
                      <a:pt x="104" y="208"/>
                      <a:pt x="90" y="200"/>
                      <a:pt x="74" y="200"/>
                    </a:cubicBezTo>
                    <a:cubicBezTo>
                      <a:pt x="59" y="200"/>
                      <a:pt x="45" y="208"/>
                      <a:pt x="35" y="218"/>
                    </a:cubicBezTo>
                    <a:cubicBezTo>
                      <a:pt x="41" y="203"/>
                      <a:pt x="57" y="193"/>
                      <a:pt x="74" y="193"/>
                    </a:cubicBezTo>
                    <a:cubicBezTo>
                      <a:pt x="92" y="193"/>
                      <a:pt x="108" y="204"/>
                      <a:pt x="114" y="220"/>
                    </a:cubicBezTo>
                    <a:lnTo>
                      <a:pt x="113" y="220"/>
                    </a:lnTo>
                    <a:close/>
                    <a:moveTo>
                      <a:pt x="124" y="171"/>
                    </a:moveTo>
                    <a:cubicBezTo>
                      <a:pt x="124" y="172"/>
                      <a:pt x="124" y="172"/>
                      <a:pt x="124" y="172"/>
                    </a:cubicBezTo>
                    <a:cubicBezTo>
                      <a:pt x="111" y="158"/>
                      <a:pt x="94" y="150"/>
                      <a:pt x="74" y="150"/>
                    </a:cubicBezTo>
                    <a:cubicBezTo>
                      <a:pt x="54" y="150"/>
                      <a:pt x="37" y="159"/>
                      <a:pt x="25" y="172"/>
                    </a:cubicBezTo>
                    <a:cubicBezTo>
                      <a:pt x="24" y="171"/>
                      <a:pt x="24" y="171"/>
                      <a:pt x="24" y="171"/>
                    </a:cubicBezTo>
                    <a:cubicBezTo>
                      <a:pt x="34" y="153"/>
                      <a:pt x="52" y="141"/>
                      <a:pt x="74" y="141"/>
                    </a:cubicBezTo>
                    <a:cubicBezTo>
                      <a:pt x="96" y="141"/>
                      <a:pt x="115" y="153"/>
                      <a:pt x="124" y="171"/>
                    </a:cubicBezTo>
                    <a:moveTo>
                      <a:pt x="74" y="40"/>
                    </a:moveTo>
                    <a:cubicBezTo>
                      <a:pt x="91" y="40"/>
                      <a:pt x="107" y="48"/>
                      <a:pt x="116" y="61"/>
                    </a:cubicBezTo>
                    <a:cubicBezTo>
                      <a:pt x="103" y="55"/>
                      <a:pt x="89" y="52"/>
                      <a:pt x="74" y="52"/>
                    </a:cubicBezTo>
                    <a:cubicBezTo>
                      <a:pt x="59" y="52"/>
                      <a:pt x="45" y="55"/>
                      <a:pt x="32" y="61"/>
                    </a:cubicBezTo>
                    <a:cubicBezTo>
                      <a:pt x="41" y="48"/>
                      <a:pt x="57" y="40"/>
                      <a:pt x="74" y="4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5" name="Freeform 40">
                <a:extLst>
                  <a:ext uri="{FF2B5EF4-FFF2-40B4-BE49-F238E27FC236}">
                    <a16:creationId xmlns:a16="http://schemas.microsoft.com/office/drawing/2014/main" id="{E99D9104-10C8-4F76-BE7D-E10233E907CF}"/>
                  </a:ext>
                </a:extLst>
              </p:cNvPr>
              <p:cNvSpPr>
                <a:spLocks noEditPoints="1"/>
              </p:cNvSpPr>
              <p:nvPr/>
            </p:nvSpPr>
            <p:spPr bwMode="auto">
              <a:xfrm>
                <a:off x="8297863" y="8782051"/>
                <a:ext cx="522288" cy="785813"/>
              </a:xfrm>
              <a:custGeom>
                <a:avLst/>
                <a:gdLst>
                  <a:gd name="T0" fmla="*/ 114 w 163"/>
                  <a:gd name="T1" fmla="*/ 218 h 241"/>
                  <a:gd name="T2" fmla="*/ 113 w 163"/>
                  <a:gd name="T3" fmla="*/ 239 h 241"/>
                  <a:gd name="T4" fmla="*/ 130 w 163"/>
                  <a:gd name="T5" fmla="*/ 233 h 241"/>
                  <a:gd name="T6" fmla="*/ 150 w 163"/>
                  <a:gd name="T7" fmla="*/ 241 h 241"/>
                  <a:gd name="T8" fmla="*/ 155 w 163"/>
                  <a:gd name="T9" fmla="*/ 226 h 241"/>
                  <a:gd name="T10" fmla="*/ 136 w 163"/>
                  <a:gd name="T11" fmla="*/ 188 h 241"/>
                  <a:gd name="T12" fmla="*/ 124 w 163"/>
                  <a:gd name="T13" fmla="*/ 200 h 241"/>
                  <a:gd name="T14" fmla="*/ 110 w 163"/>
                  <a:gd name="T15" fmla="*/ 176 h 241"/>
                  <a:gd name="T16" fmla="*/ 129 w 163"/>
                  <a:gd name="T17" fmla="*/ 137 h 241"/>
                  <a:gd name="T18" fmla="*/ 110 w 163"/>
                  <a:gd name="T19" fmla="*/ 90 h 241"/>
                  <a:gd name="T20" fmla="*/ 141 w 163"/>
                  <a:gd name="T21" fmla="*/ 60 h 241"/>
                  <a:gd name="T22" fmla="*/ 163 w 163"/>
                  <a:gd name="T23" fmla="*/ 0 h 241"/>
                  <a:gd name="T24" fmla="*/ 135 w 163"/>
                  <a:gd name="T25" fmla="*/ 27 h 241"/>
                  <a:gd name="T26" fmla="*/ 92 w 163"/>
                  <a:gd name="T27" fmla="*/ 27 h 241"/>
                  <a:gd name="T28" fmla="*/ 0 w 163"/>
                  <a:gd name="T29" fmla="*/ 76 h 241"/>
                  <a:gd name="T30" fmla="*/ 0 w 163"/>
                  <a:gd name="T31" fmla="*/ 171 h 241"/>
                  <a:gd name="T32" fmla="*/ 93 w 163"/>
                  <a:gd name="T33" fmla="*/ 218 h 241"/>
                  <a:gd name="T34" fmla="*/ 114 w 163"/>
                  <a:gd name="T35" fmla="*/ 218 h 241"/>
                  <a:gd name="T36" fmla="*/ 24 w 163"/>
                  <a:gd name="T37" fmla="*/ 153 h 241"/>
                  <a:gd name="T38" fmla="*/ 63 w 163"/>
                  <a:gd name="T39" fmla="*/ 95 h 241"/>
                  <a:gd name="T40" fmla="*/ 38 w 163"/>
                  <a:gd name="T41" fmla="*/ 160 h 241"/>
                  <a:gd name="T42" fmla="*/ 24 w 163"/>
                  <a:gd name="T43" fmla="*/ 153 h 241"/>
                  <a:gd name="T44" fmla="*/ 39 w 163"/>
                  <a:gd name="T45" fmla="*/ 161 h 241"/>
                  <a:gd name="T46" fmla="*/ 78 w 163"/>
                  <a:gd name="T47" fmla="*/ 102 h 241"/>
                  <a:gd name="T48" fmla="*/ 53 w 163"/>
                  <a:gd name="T49" fmla="*/ 167 h 241"/>
                  <a:gd name="T50" fmla="*/ 39 w 163"/>
                  <a:gd name="T51" fmla="*/ 161 h 241"/>
                  <a:gd name="T52" fmla="*/ 54 w 163"/>
                  <a:gd name="T53" fmla="*/ 168 h 241"/>
                  <a:gd name="T54" fmla="*/ 95 w 163"/>
                  <a:gd name="T55" fmla="*/ 110 h 241"/>
                  <a:gd name="T56" fmla="*/ 69 w 163"/>
                  <a:gd name="T57" fmla="*/ 175 h 241"/>
                  <a:gd name="T58" fmla="*/ 54 w 163"/>
                  <a:gd name="T59" fmla="*/ 168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3" h="241">
                    <a:moveTo>
                      <a:pt x="114" y="218"/>
                    </a:moveTo>
                    <a:cubicBezTo>
                      <a:pt x="113" y="225"/>
                      <a:pt x="113" y="233"/>
                      <a:pt x="113" y="239"/>
                    </a:cubicBezTo>
                    <a:cubicBezTo>
                      <a:pt x="117" y="235"/>
                      <a:pt x="124" y="233"/>
                      <a:pt x="130" y="233"/>
                    </a:cubicBezTo>
                    <a:cubicBezTo>
                      <a:pt x="138" y="233"/>
                      <a:pt x="145" y="236"/>
                      <a:pt x="150" y="241"/>
                    </a:cubicBezTo>
                    <a:cubicBezTo>
                      <a:pt x="152" y="236"/>
                      <a:pt x="153" y="230"/>
                      <a:pt x="155" y="226"/>
                    </a:cubicBezTo>
                    <a:cubicBezTo>
                      <a:pt x="136" y="188"/>
                      <a:pt x="136" y="188"/>
                      <a:pt x="136" y="188"/>
                    </a:cubicBezTo>
                    <a:cubicBezTo>
                      <a:pt x="124" y="200"/>
                      <a:pt x="124" y="200"/>
                      <a:pt x="124" y="200"/>
                    </a:cubicBezTo>
                    <a:cubicBezTo>
                      <a:pt x="110" y="176"/>
                      <a:pt x="110" y="176"/>
                      <a:pt x="110" y="176"/>
                    </a:cubicBezTo>
                    <a:cubicBezTo>
                      <a:pt x="129" y="137"/>
                      <a:pt x="129" y="137"/>
                      <a:pt x="129" y="137"/>
                    </a:cubicBezTo>
                    <a:cubicBezTo>
                      <a:pt x="110" y="90"/>
                      <a:pt x="110" y="90"/>
                      <a:pt x="110" y="90"/>
                    </a:cubicBezTo>
                    <a:cubicBezTo>
                      <a:pt x="141" y="60"/>
                      <a:pt x="141" y="60"/>
                      <a:pt x="141" y="60"/>
                    </a:cubicBezTo>
                    <a:cubicBezTo>
                      <a:pt x="163" y="0"/>
                      <a:pt x="163" y="0"/>
                      <a:pt x="163" y="0"/>
                    </a:cubicBezTo>
                    <a:cubicBezTo>
                      <a:pt x="135" y="27"/>
                      <a:pt x="135" y="27"/>
                      <a:pt x="135" y="27"/>
                    </a:cubicBezTo>
                    <a:cubicBezTo>
                      <a:pt x="92" y="27"/>
                      <a:pt x="92" y="27"/>
                      <a:pt x="92" y="27"/>
                    </a:cubicBezTo>
                    <a:cubicBezTo>
                      <a:pt x="0" y="76"/>
                      <a:pt x="0" y="76"/>
                      <a:pt x="0" y="76"/>
                    </a:cubicBezTo>
                    <a:cubicBezTo>
                      <a:pt x="0" y="171"/>
                      <a:pt x="0" y="171"/>
                      <a:pt x="0" y="171"/>
                    </a:cubicBezTo>
                    <a:cubicBezTo>
                      <a:pt x="93" y="218"/>
                      <a:pt x="93" y="218"/>
                      <a:pt x="93" y="218"/>
                    </a:cubicBezTo>
                    <a:lnTo>
                      <a:pt x="114" y="218"/>
                    </a:lnTo>
                    <a:close/>
                    <a:moveTo>
                      <a:pt x="24" y="153"/>
                    </a:moveTo>
                    <a:cubicBezTo>
                      <a:pt x="63" y="95"/>
                      <a:pt x="63" y="95"/>
                      <a:pt x="63" y="95"/>
                    </a:cubicBezTo>
                    <a:cubicBezTo>
                      <a:pt x="38" y="160"/>
                      <a:pt x="38" y="160"/>
                      <a:pt x="38" y="160"/>
                    </a:cubicBezTo>
                    <a:lnTo>
                      <a:pt x="24" y="153"/>
                    </a:lnTo>
                    <a:close/>
                    <a:moveTo>
                      <a:pt x="39" y="161"/>
                    </a:moveTo>
                    <a:cubicBezTo>
                      <a:pt x="78" y="102"/>
                      <a:pt x="78" y="102"/>
                      <a:pt x="78" y="102"/>
                    </a:cubicBezTo>
                    <a:cubicBezTo>
                      <a:pt x="53" y="167"/>
                      <a:pt x="53" y="167"/>
                      <a:pt x="53" y="167"/>
                    </a:cubicBezTo>
                    <a:lnTo>
                      <a:pt x="39" y="161"/>
                    </a:lnTo>
                    <a:close/>
                    <a:moveTo>
                      <a:pt x="54" y="168"/>
                    </a:moveTo>
                    <a:cubicBezTo>
                      <a:pt x="95" y="110"/>
                      <a:pt x="95" y="110"/>
                      <a:pt x="95" y="110"/>
                    </a:cubicBezTo>
                    <a:cubicBezTo>
                      <a:pt x="69" y="175"/>
                      <a:pt x="69" y="175"/>
                      <a:pt x="69" y="175"/>
                    </a:cubicBezTo>
                    <a:lnTo>
                      <a:pt x="54" y="16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6" name="Freeform 41">
                <a:extLst>
                  <a:ext uri="{FF2B5EF4-FFF2-40B4-BE49-F238E27FC236}">
                    <a16:creationId xmlns:a16="http://schemas.microsoft.com/office/drawing/2014/main" id="{52A833BE-137A-4B5F-BE55-6E2EB4716BA5}"/>
                  </a:ext>
                </a:extLst>
              </p:cNvPr>
              <p:cNvSpPr>
                <a:spLocks/>
              </p:cNvSpPr>
              <p:nvPr/>
            </p:nvSpPr>
            <p:spPr bwMode="auto">
              <a:xfrm>
                <a:off x="9169400" y="9053513"/>
                <a:ext cx="96838" cy="142875"/>
              </a:xfrm>
              <a:custGeom>
                <a:avLst/>
                <a:gdLst>
                  <a:gd name="T0" fmla="*/ 2 w 30"/>
                  <a:gd name="T1" fmla="*/ 38 h 44"/>
                  <a:gd name="T2" fmla="*/ 3 w 30"/>
                  <a:gd name="T3" fmla="*/ 44 h 44"/>
                  <a:gd name="T4" fmla="*/ 28 w 30"/>
                  <a:gd name="T5" fmla="*/ 6 h 44"/>
                  <a:gd name="T6" fmla="*/ 28 w 30"/>
                  <a:gd name="T7" fmla="*/ 0 h 44"/>
                  <a:gd name="T8" fmla="*/ 2 w 30"/>
                  <a:gd name="T9" fmla="*/ 38 h 44"/>
                </a:gdLst>
                <a:ahLst/>
                <a:cxnLst>
                  <a:cxn ang="0">
                    <a:pos x="T0" y="T1"/>
                  </a:cxn>
                  <a:cxn ang="0">
                    <a:pos x="T2" y="T3"/>
                  </a:cxn>
                  <a:cxn ang="0">
                    <a:pos x="T4" y="T5"/>
                  </a:cxn>
                  <a:cxn ang="0">
                    <a:pos x="T6" y="T7"/>
                  </a:cxn>
                  <a:cxn ang="0">
                    <a:pos x="T8" y="T9"/>
                  </a:cxn>
                </a:cxnLst>
                <a:rect l="0" t="0" r="r" b="b"/>
                <a:pathLst>
                  <a:path w="30" h="44">
                    <a:moveTo>
                      <a:pt x="2" y="38"/>
                    </a:moveTo>
                    <a:cubicBezTo>
                      <a:pt x="2" y="40"/>
                      <a:pt x="2" y="42"/>
                      <a:pt x="3" y="44"/>
                    </a:cubicBezTo>
                    <a:cubicBezTo>
                      <a:pt x="19" y="38"/>
                      <a:pt x="30" y="22"/>
                      <a:pt x="28" y="6"/>
                    </a:cubicBezTo>
                    <a:cubicBezTo>
                      <a:pt x="28" y="0"/>
                      <a:pt x="28" y="0"/>
                      <a:pt x="28" y="0"/>
                    </a:cubicBezTo>
                    <a:cubicBezTo>
                      <a:pt x="12" y="6"/>
                      <a:pt x="0" y="20"/>
                      <a:pt x="2" y="3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7" name="Freeform 42">
                <a:extLst>
                  <a:ext uri="{FF2B5EF4-FFF2-40B4-BE49-F238E27FC236}">
                    <a16:creationId xmlns:a16="http://schemas.microsoft.com/office/drawing/2014/main" id="{5FD8BD2C-68B7-4473-9EA9-8DF550F0F1C5}"/>
                  </a:ext>
                </a:extLst>
              </p:cNvPr>
              <p:cNvSpPr>
                <a:spLocks/>
              </p:cNvSpPr>
              <p:nvPr/>
            </p:nvSpPr>
            <p:spPr bwMode="auto">
              <a:xfrm>
                <a:off x="8702675" y="9053513"/>
                <a:ext cx="92075" cy="142875"/>
              </a:xfrm>
              <a:custGeom>
                <a:avLst/>
                <a:gdLst>
                  <a:gd name="T0" fmla="*/ 28 w 29"/>
                  <a:gd name="T1" fmla="*/ 38 h 44"/>
                  <a:gd name="T2" fmla="*/ 2 w 29"/>
                  <a:gd name="T3" fmla="*/ 0 h 44"/>
                  <a:gd name="T4" fmla="*/ 1 w 29"/>
                  <a:gd name="T5" fmla="*/ 6 h 44"/>
                  <a:gd name="T6" fmla="*/ 27 w 29"/>
                  <a:gd name="T7" fmla="*/ 44 h 44"/>
                  <a:gd name="T8" fmla="*/ 27 w 29"/>
                  <a:gd name="T9" fmla="*/ 43 h 44"/>
                  <a:gd name="T10" fmla="*/ 28 w 29"/>
                  <a:gd name="T11" fmla="*/ 38 h 44"/>
                </a:gdLst>
                <a:ahLst/>
                <a:cxnLst>
                  <a:cxn ang="0">
                    <a:pos x="T0" y="T1"/>
                  </a:cxn>
                  <a:cxn ang="0">
                    <a:pos x="T2" y="T3"/>
                  </a:cxn>
                  <a:cxn ang="0">
                    <a:pos x="T4" y="T5"/>
                  </a:cxn>
                  <a:cxn ang="0">
                    <a:pos x="T6" y="T7"/>
                  </a:cxn>
                  <a:cxn ang="0">
                    <a:pos x="T8" y="T9"/>
                  </a:cxn>
                  <a:cxn ang="0">
                    <a:pos x="T10" y="T11"/>
                  </a:cxn>
                </a:cxnLst>
                <a:rect l="0" t="0" r="r" b="b"/>
                <a:pathLst>
                  <a:path w="29" h="44">
                    <a:moveTo>
                      <a:pt x="28" y="38"/>
                    </a:moveTo>
                    <a:cubicBezTo>
                      <a:pt x="29" y="20"/>
                      <a:pt x="19" y="6"/>
                      <a:pt x="2" y="0"/>
                    </a:cubicBezTo>
                    <a:cubicBezTo>
                      <a:pt x="2" y="2"/>
                      <a:pt x="1" y="4"/>
                      <a:pt x="1" y="6"/>
                    </a:cubicBezTo>
                    <a:cubicBezTo>
                      <a:pt x="0" y="22"/>
                      <a:pt x="11" y="38"/>
                      <a:pt x="27" y="44"/>
                    </a:cubicBezTo>
                    <a:cubicBezTo>
                      <a:pt x="27" y="43"/>
                      <a:pt x="27" y="43"/>
                      <a:pt x="27" y="43"/>
                    </a:cubicBezTo>
                    <a:cubicBezTo>
                      <a:pt x="28" y="42"/>
                      <a:pt x="28" y="40"/>
                      <a:pt x="28" y="3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8" name="Freeform 43">
                <a:extLst>
                  <a:ext uri="{FF2B5EF4-FFF2-40B4-BE49-F238E27FC236}">
                    <a16:creationId xmlns:a16="http://schemas.microsoft.com/office/drawing/2014/main" id="{71C7D844-453E-4916-B95B-9EB629179050}"/>
                  </a:ext>
                </a:extLst>
              </p:cNvPr>
              <p:cNvSpPr>
                <a:spLocks/>
              </p:cNvSpPr>
              <p:nvPr/>
            </p:nvSpPr>
            <p:spPr bwMode="auto">
              <a:xfrm>
                <a:off x="7935913" y="8613776"/>
                <a:ext cx="122238" cy="112713"/>
              </a:xfrm>
              <a:custGeom>
                <a:avLst/>
                <a:gdLst>
                  <a:gd name="T0" fmla="*/ 27 w 38"/>
                  <a:gd name="T1" fmla="*/ 19 h 35"/>
                  <a:gd name="T2" fmla="*/ 38 w 38"/>
                  <a:gd name="T3" fmla="*/ 5 h 35"/>
                  <a:gd name="T4" fmla="*/ 0 w 38"/>
                  <a:gd name="T5" fmla="*/ 0 h 35"/>
                  <a:gd name="T6" fmla="*/ 16 w 38"/>
                  <a:gd name="T7" fmla="*/ 35 h 35"/>
                  <a:gd name="T8" fmla="*/ 27 w 38"/>
                  <a:gd name="T9" fmla="*/ 19 h 35"/>
                </a:gdLst>
                <a:ahLst/>
                <a:cxnLst>
                  <a:cxn ang="0">
                    <a:pos x="T0" y="T1"/>
                  </a:cxn>
                  <a:cxn ang="0">
                    <a:pos x="T2" y="T3"/>
                  </a:cxn>
                  <a:cxn ang="0">
                    <a:pos x="T4" y="T5"/>
                  </a:cxn>
                  <a:cxn ang="0">
                    <a:pos x="T6" y="T7"/>
                  </a:cxn>
                  <a:cxn ang="0">
                    <a:pos x="T8" y="T9"/>
                  </a:cxn>
                </a:cxnLst>
                <a:rect l="0" t="0" r="r" b="b"/>
                <a:pathLst>
                  <a:path w="38" h="35">
                    <a:moveTo>
                      <a:pt x="27" y="19"/>
                    </a:moveTo>
                    <a:cubicBezTo>
                      <a:pt x="31" y="15"/>
                      <a:pt x="35" y="10"/>
                      <a:pt x="38" y="5"/>
                    </a:cubicBezTo>
                    <a:cubicBezTo>
                      <a:pt x="0" y="0"/>
                      <a:pt x="0" y="0"/>
                      <a:pt x="0" y="0"/>
                    </a:cubicBezTo>
                    <a:cubicBezTo>
                      <a:pt x="16" y="35"/>
                      <a:pt x="16" y="35"/>
                      <a:pt x="16" y="35"/>
                    </a:cubicBezTo>
                    <a:cubicBezTo>
                      <a:pt x="21" y="30"/>
                      <a:pt x="24" y="25"/>
                      <a:pt x="27" y="1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9" name="Freeform 44">
                <a:extLst>
                  <a:ext uri="{FF2B5EF4-FFF2-40B4-BE49-F238E27FC236}">
                    <a16:creationId xmlns:a16="http://schemas.microsoft.com/office/drawing/2014/main" id="{37808DA5-4AA7-43FB-9542-FFB30FDC323C}"/>
                  </a:ext>
                </a:extLst>
              </p:cNvPr>
              <p:cNvSpPr>
                <a:spLocks/>
              </p:cNvSpPr>
              <p:nvPr/>
            </p:nvSpPr>
            <p:spPr bwMode="auto">
              <a:xfrm>
                <a:off x="9045575" y="10545763"/>
                <a:ext cx="117475" cy="117475"/>
              </a:xfrm>
              <a:custGeom>
                <a:avLst/>
                <a:gdLst>
                  <a:gd name="T0" fmla="*/ 0 w 37"/>
                  <a:gd name="T1" fmla="*/ 4 h 36"/>
                  <a:gd name="T2" fmla="*/ 21 w 37"/>
                  <a:gd name="T3" fmla="*/ 36 h 36"/>
                  <a:gd name="T4" fmla="*/ 37 w 37"/>
                  <a:gd name="T5" fmla="*/ 0 h 36"/>
                  <a:gd name="T6" fmla="*/ 17 w 37"/>
                  <a:gd name="T7" fmla="*/ 3 h 36"/>
                  <a:gd name="T8" fmla="*/ 0 w 37"/>
                  <a:gd name="T9" fmla="*/ 4 h 36"/>
                </a:gdLst>
                <a:ahLst/>
                <a:cxnLst>
                  <a:cxn ang="0">
                    <a:pos x="T0" y="T1"/>
                  </a:cxn>
                  <a:cxn ang="0">
                    <a:pos x="T2" y="T3"/>
                  </a:cxn>
                  <a:cxn ang="0">
                    <a:pos x="T4" y="T5"/>
                  </a:cxn>
                  <a:cxn ang="0">
                    <a:pos x="T6" y="T7"/>
                  </a:cxn>
                  <a:cxn ang="0">
                    <a:pos x="T8" y="T9"/>
                  </a:cxn>
                </a:cxnLst>
                <a:rect l="0" t="0" r="r" b="b"/>
                <a:pathLst>
                  <a:path w="37" h="36">
                    <a:moveTo>
                      <a:pt x="0" y="4"/>
                    </a:moveTo>
                    <a:cubicBezTo>
                      <a:pt x="21" y="36"/>
                      <a:pt x="21" y="36"/>
                      <a:pt x="21" y="36"/>
                    </a:cubicBezTo>
                    <a:cubicBezTo>
                      <a:pt x="37" y="0"/>
                      <a:pt x="37" y="0"/>
                      <a:pt x="37" y="0"/>
                    </a:cubicBezTo>
                    <a:cubicBezTo>
                      <a:pt x="30" y="1"/>
                      <a:pt x="23" y="1"/>
                      <a:pt x="17" y="3"/>
                    </a:cubicBezTo>
                    <a:cubicBezTo>
                      <a:pt x="12" y="4"/>
                      <a:pt x="6" y="4"/>
                      <a:pt x="0" y="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0" name="Freeform 45">
                <a:extLst>
                  <a:ext uri="{FF2B5EF4-FFF2-40B4-BE49-F238E27FC236}">
                    <a16:creationId xmlns:a16="http://schemas.microsoft.com/office/drawing/2014/main" id="{D4F3D4B3-C1F3-47C6-BDCC-B17B2B387D3F}"/>
                  </a:ext>
                </a:extLst>
              </p:cNvPr>
              <p:cNvSpPr>
                <a:spLocks/>
              </p:cNvSpPr>
              <p:nvPr/>
            </p:nvSpPr>
            <p:spPr bwMode="auto">
              <a:xfrm>
                <a:off x="8923338" y="10558463"/>
                <a:ext cx="115888" cy="111125"/>
              </a:xfrm>
              <a:custGeom>
                <a:avLst/>
                <a:gdLst>
                  <a:gd name="T0" fmla="*/ 0 w 36"/>
                  <a:gd name="T1" fmla="*/ 0 h 34"/>
                  <a:gd name="T2" fmla="*/ 17 w 36"/>
                  <a:gd name="T3" fmla="*/ 34 h 34"/>
                  <a:gd name="T4" fmla="*/ 36 w 36"/>
                  <a:gd name="T5" fmla="*/ 0 h 34"/>
                  <a:gd name="T6" fmla="*/ 17 w 36"/>
                  <a:gd name="T7" fmla="*/ 1 h 34"/>
                  <a:gd name="T8" fmla="*/ 0 w 36"/>
                  <a:gd name="T9" fmla="*/ 0 h 34"/>
                </a:gdLst>
                <a:ahLst/>
                <a:cxnLst>
                  <a:cxn ang="0">
                    <a:pos x="T0" y="T1"/>
                  </a:cxn>
                  <a:cxn ang="0">
                    <a:pos x="T2" y="T3"/>
                  </a:cxn>
                  <a:cxn ang="0">
                    <a:pos x="T4" y="T5"/>
                  </a:cxn>
                  <a:cxn ang="0">
                    <a:pos x="T6" y="T7"/>
                  </a:cxn>
                  <a:cxn ang="0">
                    <a:pos x="T8" y="T9"/>
                  </a:cxn>
                </a:cxnLst>
                <a:rect l="0" t="0" r="r" b="b"/>
                <a:pathLst>
                  <a:path w="36" h="34">
                    <a:moveTo>
                      <a:pt x="0" y="0"/>
                    </a:moveTo>
                    <a:cubicBezTo>
                      <a:pt x="17" y="34"/>
                      <a:pt x="17" y="34"/>
                      <a:pt x="17" y="34"/>
                    </a:cubicBezTo>
                    <a:cubicBezTo>
                      <a:pt x="36" y="0"/>
                      <a:pt x="36" y="0"/>
                      <a:pt x="36" y="0"/>
                    </a:cubicBezTo>
                    <a:cubicBezTo>
                      <a:pt x="30" y="1"/>
                      <a:pt x="23" y="1"/>
                      <a:pt x="17" y="1"/>
                    </a:cubicBezTo>
                    <a:cubicBezTo>
                      <a:pt x="11" y="1"/>
                      <a:pt x="5" y="1"/>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1" name="Freeform 46">
                <a:extLst>
                  <a:ext uri="{FF2B5EF4-FFF2-40B4-BE49-F238E27FC236}">
                    <a16:creationId xmlns:a16="http://schemas.microsoft.com/office/drawing/2014/main" id="{9FCDBCEA-8F2A-43FC-9F2F-BEC840AFE46C}"/>
                  </a:ext>
                </a:extLst>
              </p:cNvPr>
              <p:cNvSpPr>
                <a:spLocks/>
              </p:cNvSpPr>
              <p:nvPr/>
            </p:nvSpPr>
            <p:spPr bwMode="auto">
              <a:xfrm>
                <a:off x="9169400" y="10520363"/>
                <a:ext cx="115888" cy="123825"/>
              </a:xfrm>
              <a:custGeom>
                <a:avLst/>
                <a:gdLst>
                  <a:gd name="T0" fmla="*/ 0 w 36"/>
                  <a:gd name="T1" fmla="*/ 7 h 38"/>
                  <a:gd name="T2" fmla="*/ 24 w 36"/>
                  <a:gd name="T3" fmla="*/ 38 h 38"/>
                  <a:gd name="T4" fmla="*/ 36 w 36"/>
                  <a:gd name="T5" fmla="*/ 0 h 38"/>
                  <a:gd name="T6" fmla="*/ 16 w 36"/>
                  <a:gd name="T7" fmla="*/ 5 h 38"/>
                  <a:gd name="T8" fmla="*/ 0 w 36"/>
                  <a:gd name="T9" fmla="*/ 7 h 38"/>
                </a:gdLst>
                <a:ahLst/>
                <a:cxnLst>
                  <a:cxn ang="0">
                    <a:pos x="T0" y="T1"/>
                  </a:cxn>
                  <a:cxn ang="0">
                    <a:pos x="T2" y="T3"/>
                  </a:cxn>
                  <a:cxn ang="0">
                    <a:pos x="T4" y="T5"/>
                  </a:cxn>
                  <a:cxn ang="0">
                    <a:pos x="T6" y="T7"/>
                  </a:cxn>
                  <a:cxn ang="0">
                    <a:pos x="T8" y="T9"/>
                  </a:cxn>
                </a:cxnLst>
                <a:rect l="0" t="0" r="r" b="b"/>
                <a:pathLst>
                  <a:path w="36" h="38">
                    <a:moveTo>
                      <a:pt x="0" y="7"/>
                    </a:moveTo>
                    <a:cubicBezTo>
                      <a:pt x="24" y="38"/>
                      <a:pt x="24" y="38"/>
                      <a:pt x="24" y="38"/>
                    </a:cubicBezTo>
                    <a:cubicBezTo>
                      <a:pt x="36" y="0"/>
                      <a:pt x="36" y="0"/>
                      <a:pt x="36" y="0"/>
                    </a:cubicBezTo>
                    <a:cubicBezTo>
                      <a:pt x="29" y="2"/>
                      <a:pt x="23" y="3"/>
                      <a:pt x="16" y="5"/>
                    </a:cubicBezTo>
                    <a:cubicBezTo>
                      <a:pt x="11" y="6"/>
                      <a:pt x="5" y="7"/>
                      <a:pt x="0" y="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2" name="Freeform 47">
                <a:extLst>
                  <a:ext uri="{FF2B5EF4-FFF2-40B4-BE49-F238E27FC236}">
                    <a16:creationId xmlns:a16="http://schemas.microsoft.com/office/drawing/2014/main" id="{5EE788D9-738E-4FD9-9FA9-D3AE3C475B4D}"/>
                  </a:ext>
                </a:extLst>
              </p:cNvPr>
              <p:cNvSpPr>
                <a:spLocks/>
              </p:cNvSpPr>
              <p:nvPr/>
            </p:nvSpPr>
            <p:spPr bwMode="auto">
              <a:xfrm>
                <a:off x="9288463" y="10483851"/>
                <a:ext cx="109538" cy="123825"/>
              </a:xfrm>
              <a:custGeom>
                <a:avLst/>
                <a:gdLst>
                  <a:gd name="T0" fmla="*/ 0 w 34"/>
                  <a:gd name="T1" fmla="*/ 11 h 38"/>
                  <a:gd name="T2" fmla="*/ 27 w 34"/>
                  <a:gd name="T3" fmla="*/ 38 h 38"/>
                  <a:gd name="T4" fmla="*/ 34 w 34"/>
                  <a:gd name="T5" fmla="*/ 0 h 38"/>
                  <a:gd name="T6" fmla="*/ 17 w 34"/>
                  <a:gd name="T7" fmla="*/ 5 h 38"/>
                  <a:gd name="T8" fmla="*/ 0 w 34"/>
                  <a:gd name="T9" fmla="*/ 11 h 38"/>
                </a:gdLst>
                <a:ahLst/>
                <a:cxnLst>
                  <a:cxn ang="0">
                    <a:pos x="T0" y="T1"/>
                  </a:cxn>
                  <a:cxn ang="0">
                    <a:pos x="T2" y="T3"/>
                  </a:cxn>
                  <a:cxn ang="0">
                    <a:pos x="T4" y="T5"/>
                  </a:cxn>
                  <a:cxn ang="0">
                    <a:pos x="T6" y="T7"/>
                  </a:cxn>
                  <a:cxn ang="0">
                    <a:pos x="T8" y="T9"/>
                  </a:cxn>
                </a:cxnLst>
                <a:rect l="0" t="0" r="r" b="b"/>
                <a:pathLst>
                  <a:path w="34" h="38">
                    <a:moveTo>
                      <a:pt x="0" y="11"/>
                    </a:moveTo>
                    <a:cubicBezTo>
                      <a:pt x="27" y="38"/>
                      <a:pt x="27" y="38"/>
                      <a:pt x="27" y="38"/>
                    </a:cubicBezTo>
                    <a:cubicBezTo>
                      <a:pt x="34" y="0"/>
                      <a:pt x="34" y="0"/>
                      <a:pt x="34" y="0"/>
                    </a:cubicBezTo>
                    <a:cubicBezTo>
                      <a:pt x="29" y="2"/>
                      <a:pt x="22" y="4"/>
                      <a:pt x="17" y="5"/>
                    </a:cubicBezTo>
                    <a:cubicBezTo>
                      <a:pt x="11" y="7"/>
                      <a:pt x="5" y="10"/>
                      <a:pt x="0" y="11"/>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3" name="Freeform 48">
                <a:extLst>
                  <a:ext uri="{FF2B5EF4-FFF2-40B4-BE49-F238E27FC236}">
                    <a16:creationId xmlns:a16="http://schemas.microsoft.com/office/drawing/2014/main" id="{E9599093-37C6-4F79-B98D-C2D922964BD2}"/>
                  </a:ext>
                </a:extLst>
              </p:cNvPr>
              <p:cNvSpPr>
                <a:spLocks/>
              </p:cNvSpPr>
              <p:nvPr/>
            </p:nvSpPr>
            <p:spPr bwMode="auto">
              <a:xfrm>
                <a:off x="9407525" y="10428288"/>
                <a:ext cx="104775" cy="130175"/>
              </a:xfrm>
              <a:custGeom>
                <a:avLst/>
                <a:gdLst>
                  <a:gd name="T0" fmla="*/ 0 w 33"/>
                  <a:gd name="T1" fmla="*/ 16 h 40"/>
                  <a:gd name="T2" fmla="*/ 30 w 33"/>
                  <a:gd name="T3" fmla="*/ 40 h 40"/>
                  <a:gd name="T4" fmla="*/ 33 w 33"/>
                  <a:gd name="T5" fmla="*/ 0 h 40"/>
                  <a:gd name="T6" fmla="*/ 16 w 33"/>
                  <a:gd name="T7" fmla="*/ 9 h 40"/>
                  <a:gd name="T8" fmla="*/ 0 w 33"/>
                  <a:gd name="T9" fmla="*/ 16 h 40"/>
                </a:gdLst>
                <a:ahLst/>
                <a:cxnLst>
                  <a:cxn ang="0">
                    <a:pos x="T0" y="T1"/>
                  </a:cxn>
                  <a:cxn ang="0">
                    <a:pos x="T2" y="T3"/>
                  </a:cxn>
                  <a:cxn ang="0">
                    <a:pos x="T4" y="T5"/>
                  </a:cxn>
                  <a:cxn ang="0">
                    <a:pos x="T6" y="T7"/>
                  </a:cxn>
                  <a:cxn ang="0">
                    <a:pos x="T8" y="T9"/>
                  </a:cxn>
                </a:cxnLst>
                <a:rect l="0" t="0" r="r" b="b"/>
                <a:pathLst>
                  <a:path w="33" h="40">
                    <a:moveTo>
                      <a:pt x="0" y="16"/>
                    </a:moveTo>
                    <a:cubicBezTo>
                      <a:pt x="30" y="40"/>
                      <a:pt x="30" y="40"/>
                      <a:pt x="30" y="40"/>
                    </a:cubicBezTo>
                    <a:cubicBezTo>
                      <a:pt x="33" y="0"/>
                      <a:pt x="33" y="0"/>
                      <a:pt x="33" y="0"/>
                    </a:cubicBezTo>
                    <a:cubicBezTo>
                      <a:pt x="27" y="4"/>
                      <a:pt x="21" y="6"/>
                      <a:pt x="16" y="9"/>
                    </a:cubicBezTo>
                    <a:cubicBezTo>
                      <a:pt x="10" y="11"/>
                      <a:pt x="5" y="14"/>
                      <a:pt x="0"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4" name="Freeform 49">
                <a:extLst>
                  <a:ext uri="{FF2B5EF4-FFF2-40B4-BE49-F238E27FC236}">
                    <a16:creationId xmlns:a16="http://schemas.microsoft.com/office/drawing/2014/main" id="{2BB0E598-C4E5-43F2-A0A2-E68CC0AF941C}"/>
                  </a:ext>
                </a:extLst>
              </p:cNvPr>
              <p:cNvSpPr>
                <a:spLocks/>
              </p:cNvSpPr>
              <p:nvPr/>
            </p:nvSpPr>
            <p:spPr bwMode="auto">
              <a:xfrm>
                <a:off x="8448675" y="10434638"/>
                <a:ext cx="106363" cy="123825"/>
              </a:xfrm>
              <a:custGeom>
                <a:avLst/>
                <a:gdLst>
                  <a:gd name="T0" fmla="*/ 0 w 33"/>
                  <a:gd name="T1" fmla="*/ 0 h 38"/>
                  <a:gd name="T2" fmla="*/ 2 w 33"/>
                  <a:gd name="T3" fmla="*/ 38 h 38"/>
                  <a:gd name="T4" fmla="*/ 33 w 33"/>
                  <a:gd name="T5" fmla="*/ 15 h 38"/>
                  <a:gd name="T6" fmla="*/ 15 w 33"/>
                  <a:gd name="T7" fmla="*/ 7 h 38"/>
                  <a:gd name="T8" fmla="*/ 0 w 33"/>
                  <a:gd name="T9" fmla="*/ 0 h 38"/>
                </a:gdLst>
                <a:ahLst/>
                <a:cxnLst>
                  <a:cxn ang="0">
                    <a:pos x="T0" y="T1"/>
                  </a:cxn>
                  <a:cxn ang="0">
                    <a:pos x="T2" y="T3"/>
                  </a:cxn>
                  <a:cxn ang="0">
                    <a:pos x="T4" y="T5"/>
                  </a:cxn>
                  <a:cxn ang="0">
                    <a:pos x="T6" y="T7"/>
                  </a:cxn>
                  <a:cxn ang="0">
                    <a:pos x="T8" y="T9"/>
                  </a:cxn>
                </a:cxnLst>
                <a:rect l="0" t="0" r="r" b="b"/>
                <a:pathLst>
                  <a:path w="33" h="38">
                    <a:moveTo>
                      <a:pt x="0" y="0"/>
                    </a:moveTo>
                    <a:cubicBezTo>
                      <a:pt x="2" y="38"/>
                      <a:pt x="2" y="38"/>
                      <a:pt x="2" y="38"/>
                    </a:cubicBezTo>
                    <a:cubicBezTo>
                      <a:pt x="33" y="15"/>
                      <a:pt x="33" y="15"/>
                      <a:pt x="33" y="15"/>
                    </a:cubicBezTo>
                    <a:cubicBezTo>
                      <a:pt x="27" y="12"/>
                      <a:pt x="21" y="9"/>
                      <a:pt x="15" y="7"/>
                    </a:cubicBezTo>
                    <a:cubicBezTo>
                      <a:pt x="11" y="5"/>
                      <a:pt x="5" y="2"/>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5" name="Freeform 50">
                <a:extLst>
                  <a:ext uri="{FF2B5EF4-FFF2-40B4-BE49-F238E27FC236}">
                    <a16:creationId xmlns:a16="http://schemas.microsoft.com/office/drawing/2014/main" id="{C9A2CCB5-5E4D-4589-8C8F-7281DC61DD73}"/>
                  </a:ext>
                </a:extLst>
              </p:cNvPr>
              <p:cNvSpPr>
                <a:spLocks/>
              </p:cNvSpPr>
              <p:nvPr/>
            </p:nvSpPr>
            <p:spPr bwMode="auto">
              <a:xfrm>
                <a:off x="9515475" y="10369551"/>
                <a:ext cx="106363" cy="127000"/>
              </a:xfrm>
              <a:custGeom>
                <a:avLst/>
                <a:gdLst>
                  <a:gd name="T0" fmla="*/ 16 w 33"/>
                  <a:gd name="T1" fmla="*/ 10 h 39"/>
                  <a:gd name="T2" fmla="*/ 0 w 33"/>
                  <a:gd name="T3" fmla="*/ 18 h 39"/>
                  <a:gd name="T4" fmla="*/ 33 w 33"/>
                  <a:gd name="T5" fmla="*/ 39 h 39"/>
                  <a:gd name="T6" fmla="*/ 32 w 33"/>
                  <a:gd name="T7" fmla="*/ 0 h 39"/>
                  <a:gd name="T8" fmla="*/ 16 w 33"/>
                  <a:gd name="T9" fmla="*/ 10 h 39"/>
                </a:gdLst>
                <a:ahLst/>
                <a:cxnLst>
                  <a:cxn ang="0">
                    <a:pos x="T0" y="T1"/>
                  </a:cxn>
                  <a:cxn ang="0">
                    <a:pos x="T2" y="T3"/>
                  </a:cxn>
                  <a:cxn ang="0">
                    <a:pos x="T4" y="T5"/>
                  </a:cxn>
                  <a:cxn ang="0">
                    <a:pos x="T6" y="T7"/>
                  </a:cxn>
                  <a:cxn ang="0">
                    <a:pos x="T8" y="T9"/>
                  </a:cxn>
                </a:cxnLst>
                <a:rect l="0" t="0" r="r" b="b"/>
                <a:pathLst>
                  <a:path w="33" h="39">
                    <a:moveTo>
                      <a:pt x="16" y="10"/>
                    </a:moveTo>
                    <a:cubicBezTo>
                      <a:pt x="10" y="13"/>
                      <a:pt x="6" y="15"/>
                      <a:pt x="0" y="18"/>
                    </a:cubicBezTo>
                    <a:cubicBezTo>
                      <a:pt x="33" y="39"/>
                      <a:pt x="33" y="39"/>
                      <a:pt x="33" y="39"/>
                    </a:cubicBezTo>
                    <a:cubicBezTo>
                      <a:pt x="32" y="0"/>
                      <a:pt x="32" y="0"/>
                      <a:pt x="32" y="0"/>
                    </a:cubicBezTo>
                    <a:cubicBezTo>
                      <a:pt x="27" y="3"/>
                      <a:pt x="21" y="6"/>
                      <a:pt x="16" y="1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6" name="Freeform 51">
                <a:extLst>
                  <a:ext uri="{FF2B5EF4-FFF2-40B4-BE49-F238E27FC236}">
                    <a16:creationId xmlns:a16="http://schemas.microsoft.com/office/drawing/2014/main" id="{E0918B74-760E-42FB-9280-BA55DCFC69E1}"/>
                  </a:ext>
                </a:extLst>
              </p:cNvPr>
              <p:cNvSpPr>
                <a:spLocks/>
              </p:cNvSpPr>
              <p:nvPr/>
            </p:nvSpPr>
            <p:spPr bwMode="auto">
              <a:xfrm>
                <a:off x="8558213" y="10483851"/>
                <a:ext cx="115888" cy="123825"/>
              </a:xfrm>
              <a:custGeom>
                <a:avLst/>
                <a:gdLst>
                  <a:gd name="T0" fmla="*/ 0 w 36"/>
                  <a:gd name="T1" fmla="*/ 0 h 38"/>
                  <a:gd name="T2" fmla="*/ 7 w 36"/>
                  <a:gd name="T3" fmla="*/ 38 h 38"/>
                  <a:gd name="T4" fmla="*/ 36 w 36"/>
                  <a:gd name="T5" fmla="*/ 11 h 38"/>
                  <a:gd name="T6" fmla="*/ 18 w 36"/>
                  <a:gd name="T7" fmla="*/ 5 h 38"/>
                  <a:gd name="T8" fmla="*/ 0 w 36"/>
                  <a:gd name="T9" fmla="*/ 0 h 38"/>
                </a:gdLst>
                <a:ahLst/>
                <a:cxnLst>
                  <a:cxn ang="0">
                    <a:pos x="T0" y="T1"/>
                  </a:cxn>
                  <a:cxn ang="0">
                    <a:pos x="T2" y="T3"/>
                  </a:cxn>
                  <a:cxn ang="0">
                    <a:pos x="T4" y="T5"/>
                  </a:cxn>
                  <a:cxn ang="0">
                    <a:pos x="T6" y="T7"/>
                  </a:cxn>
                  <a:cxn ang="0">
                    <a:pos x="T8" y="T9"/>
                  </a:cxn>
                </a:cxnLst>
                <a:rect l="0" t="0" r="r" b="b"/>
                <a:pathLst>
                  <a:path w="36" h="38">
                    <a:moveTo>
                      <a:pt x="0" y="0"/>
                    </a:moveTo>
                    <a:cubicBezTo>
                      <a:pt x="7" y="38"/>
                      <a:pt x="7" y="38"/>
                      <a:pt x="7" y="38"/>
                    </a:cubicBezTo>
                    <a:cubicBezTo>
                      <a:pt x="36" y="11"/>
                      <a:pt x="36" y="11"/>
                      <a:pt x="36" y="11"/>
                    </a:cubicBezTo>
                    <a:cubicBezTo>
                      <a:pt x="30" y="10"/>
                      <a:pt x="23" y="7"/>
                      <a:pt x="18" y="5"/>
                    </a:cubicBezTo>
                    <a:cubicBezTo>
                      <a:pt x="11" y="4"/>
                      <a:pt x="6" y="2"/>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7" name="Freeform 52">
                <a:extLst>
                  <a:ext uri="{FF2B5EF4-FFF2-40B4-BE49-F238E27FC236}">
                    <a16:creationId xmlns:a16="http://schemas.microsoft.com/office/drawing/2014/main" id="{D1CBC384-F9C9-40B3-BCC8-942AE5896086}"/>
                  </a:ext>
                </a:extLst>
              </p:cNvPr>
              <p:cNvSpPr>
                <a:spLocks/>
              </p:cNvSpPr>
              <p:nvPr/>
            </p:nvSpPr>
            <p:spPr bwMode="auto">
              <a:xfrm>
                <a:off x="8797925" y="10545763"/>
                <a:ext cx="115888" cy="117475"/>
              </a:xfrm>
              <a:custGeom>
                <a:avLst/>
                <a:gdLst>
                  <a:gd name="T0" fmla="*/ 0 w 36"/>
                  <a:gd name="T1" fmla="*/ 0 h 36"/>
                  <a:gd name="T2" fmla="*/ 15 w 36"/>
                  <a:gd name="T3" fmla="*/ 36 h 36"/>
                  <a:gd name="T4" fmla="*/ 36 w 36"/>
                  <a:gd name="T5" fmla="*/ 4 h 36"/>
                  <a:gd name="T6" fmla="*/ 18 w 36"/>
                  <a:gd name="T7" fmla="*/ 3 h 36"/>
                  <a:gd name="T8" fmla="*/ 0 w 36"/>
                  <a:gd name="T9" fmla="*/ 0 h 36"/>
                </a:gdLst>
                <a:ahLst/>
                <a:cxnLst>
                  <a:cxn ang="0">
                    <a:pos x="T0" y="T1"/>
                  </a:cxn>
                  <a:cxn ang="0">
                    <a:pos x="T2" y="T3"/>
                  </a:cxn>
                  <a:cxn ang="0">
                    <a:pos x="T4" y="T5"/>
                  </a:cxn>
                  <a:cxn ang="0">
                    <a:pos x="T6" y="T7"/>
                  </a:cxn>
                  <a:cxn ang="0">
                    <a:pos x="T8" y="T9"/>
                  </a:cxn>
                </a:cxnLst>
                <a:rect l="0" t="0" r="r" b="b"/>
                <a:pathLst>
                  <a:path w="36" h="36">
                    <a:moveTo>
                      <a:pt x="0" y="0"/>
                    </a:moveTo>
                    <a:cubicBezTo>
                      <a:pt x="15" y="36"/>
                      <a:pt x="15" y="36"/>
                      <a:pt x="15" y="36"/>
                    </a:cubicBezTo>
                    <a:cubicBezTo>
                      <a:pt x="36" y="4"/>
                      <a:pt x="36" y="4"/>
                      <a:pt x="36" y="4"/>
                    </a:cubicBezTo>
                    <a:cubicBezTo>
                      <a:pt x="31" y="4"/>
                      <a:pt x="24" y="4"/>
                      <a:pt x="18" y="3"/>
                    </a:cubicBezTo>
                    <a:cubicBezTo>
                      <a:pt x="11" y="1"/>
                      <a:pt x="6" y="1"/>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8" name="Freeform 53">
                <a:extLst>
                  <a:ext uri="{FF2B5EF4-FFF2-40B4-BE49-F238E27FC236}">
                    <a16:creationId xmlns:a16="http://schemas.microsoft.com/office/drawing/2014/main" id="{A6C7B43F-FAD2-4084-BAB5-8E706E87B7FF}"/>
                  </a:ext>
                </a:extLst>
              </p:cNvPr>
              <p:cNvSpPr>
                <a:spLocks/>
              </p:cNvSpPr>
              <p:nvPr/>
            </p:nvSpPr>
            <p:spPr bwMode="auto">
              <a:xfrm>
                <a:off x="8677275" y="10523538"/>
                <a:ext cx="114300" cy="120650"/>
              </a:xfrm>
              <a:custGeom>
                <a:avLst/>
                <a:gdLst>
                  <a:gd name="T0" fmla="*/ 0 w 36"/>
                  <a:gd name="T1" fmla="*/ 0 h 37"/>
                  <a:gd name="T2" fmla="*/ 11 w 36"/>
                  <a:gd name="T3" fmla="*/ 37 h 37"/>
                  <a:gd name="T4" fmla="*/ 36 w 36"/>
                  <a:gd name="T5" fmla="*/ 7 h 37"/>
                  <a:gd name="T6" fmla="*/ 18 w 36"/>
                  <a:gd name="T7" fmla="*/ 3 h 37"/>
                  <a:gd name="T8" fmla="*/ 0 w 36"/>
                  <a:gd name="T9" fmla="*/ 0 h 37"/>
                </a:gdLst>
                <a:ahLst/>
                <a:cxnLst>
                  <a:cxn ang="0">
                    <a:pos x="T0" y="T1"/>
                  </a:cxn>
                  <a:cxn ang="0">
                    <a:pos x="T2" y="T3"/>
                  </a:cxn>
                  <a:cxn ang="0">
                    <a:pos x="T4" y="T5"/>
                  </a:cxn>
                  <a:cxn ang="0">
                    <a:pos x="T6" y="T7"/>
                  </a:cxn>
                  <a:cxn ang="0">
                    <a:pos x="T8" y="T9"/>
                  </a:cxn>
                </a:cxnLst>
                <a:rect l="0" t="0" r="r" b="b"/>
                <a:pathLst>
                  <a:path w="36" h="37">
                    <a:moveTo>
                      <a:pt x="0" y="0"/>
                    </a:moveTo>
                    <a:cubicBezTo>
                      <a:pt x="11" y="37"/>
                      <a:pt x="11" y="37"/>
                      <a:pt x="11" y="37"/>
                    </a:cubicBezTo>
                    <a:cubicBezTo>
                      <a:pt x="36" y="7"/>
                      <a:pt x="36" y="7"/>
                      <a:pt x="36" y="7"/>
                    </a:cubicBezTo>
                    <a:cubicBezTo>
                      <a:pt x="30" y="6"/>
                      <a:pt x="24" y="5"/>
                      <a:pt x="18" y="3"/>
                    </a:cubicBezTo>
                    <a:cubicBezTo>
                      <a:pt x="11" y="2"/>
                      <a:pt x="6" y="1"/>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9" name="Freeform 54">
                <a:extLst>
                  <a:ext uri="{FF2B5EF4-FFF2-40B4-BE49-F238E27FC236}">
                    <a16:creationId xmlns:a16="http://schemas.microsoft.com/office/drawing/2014/main" id="{05B96846-3CE6-4046-80FF-A2A05783EF8D}"/>
                  </a:ext>
                </a:extLst>
              </p:cNvPr>
              <p:cNvSpPr>
                <a:spLocks/>
              </p:cNvSpPr>
              <p:nvPr/>
            </p:nvSpPr>
            <p:spPr bwMode="auto">
              <a:xfrm>
                <a:off x="10115550" y="9558338"/>
                <a:ext cx="117475" cy="117475"/>
              </a:xfrm>
              <a:custGeom>
                <a:avLst/>
                <a:gdLst>
                  <a:gd name="T0" fmla="*/ 5 w 37"/>
                  <a:gd name="T1" fmla="*/ 20 h 36"/>
                  <a:gd name="T2" fmla="*/ 0 w 37"/>
                  <a:gd name="T3" fmla="*/ 36 h 36"/>
                  <a:gd name="T4" fmla="*/ 37 w 37"/>
                  <a:gd name="T5" fmla="*/ 26 h 36"/>
                  <a:gd name="T6" fmla="*/ 8 w 37"/>
                  <a:gd name="T7" fmla="*/ 0 h 36"/>
                  <a:gd name="T8" fmla="*/ 5 w 37"/>
                  <a:gd name="T9" fmla="*/ 20 h 36"/>
                </a:gdLst>
                <a:ahLst/>
                <a:cxnLst>
                  <a:cxn ang="0">
                    <a:pos x="T0" y="T1"/>
                  </a:cxn>
                  <a:cxn ang="0">
                    <a:pos x="T2" y="T3"/>
                  </a:cxn>
                  <a:cxn ang="0">
                    <a:pos x="T4" y="T5"/>
                  </a:cxn>
                  <a:cxn ang="0">
                    <a:pos x="T6" y="T7"/>
                  </a:cxn>
                  <a:cxn ang="0">
                    <a:pos x="T8" y="T9"/>
                  </a:cxn>
                </a:cxnLst>
                <a:rect l="0" t="0" r="r" b="b"/>
                <a:pathLst>
                  <a:path w="37" h="36">
                    <a:moveTo>
                      <a:pt x="5" y="20"/>
                    </a:moveTo>
                    <a:cubicBezTo>
                      <a:pt x="4" y="25"/>
                      <a:pt x="3" y="30"/>
                      <a:pt x="0" y="36"/>
                    </a:cubicBezTo>
                    <a:cubicBezTo>
                      <a:pt x="37" y="26"/>
                      <a:pt x="37" y="26"/>
                      <a:pt x="37" y="26"/>
                    </a:cubicBezTo>
                    <a:cubicBezTo>
                      <a:pt x="8" y="0"/>
                      <a:pt x="8" y="0"/>
                      <a:pt x="8" y="0"/>
                    </a:cubicBezTo>
                    <a:cubicBezTo>
                      <a:pt x="7" y="7"/>
                      <a:pt x="6" y="13"/>
                      <a:pt x="5" y="2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0" name="Freeform 55">
                <a:extLst>
                  <a:ext uri="{FF2B5EF4-FFF2-40B4-BE49-F238E27FC236}">
                    <a16:creationId xmlns:a16="http://schemas.microsoft.com/office/drawing/2014/main" id="{FA0642E3-1DA4-4E4A-B0D6-6ABEA2A62159}"/>
                  </a:ext>
                </a:extLst>
              </p:cNvPr>
              <p:cNvSpPr>
                <a:spLocks/>
              </p:cNvSpPr>
              <p:nvPr/>
            </p:nvSpPr>
            <p:spPr bwMode="auto">
              <a:xfrm>
                <a:off x="10075863" y="9678988"/>
                <a:ext cx="125413" cy="114300"/>
              </a:xfrm>
              <a:custGeom>
                <a:avLst/>
                <a:gdLst>
                  <a:gd name="T0" fmla="*/ 7 w 39"/>
                  <a:gd name="T1" fmla="*/ 18 h 35"/>
                  <a:gd name="T2" fmla="*/ 0 w 39"/>
                  <a:gd name="T3" fmla="*/ 35 h 35"/>
                  <a:gd name="T4" fmla="*/ 39 w 39"/>
                  <a:gd name="T5" fmla="*/ 29 h 35"/>
                  <a:gd name="T6" fmla="*/ 12 w 39"/>
                  <a:gd name="T7" fmla="*/ 0 h 35"/>
                  <a:gd name="T8" fmla="*/ 7 w 39"/>
                  <a:gd name="T9" fmla="*/ 18 h 35"/>
                </a:gdLst>
                <a:ahLst/>
                <a:cxnLst>
                  <a:cxn ang="0">
                    <a:pos x="T0" y="T1"/>
                  </a:cxn>
                  <a:cxn ang="0">
                    <a:pos x="T2" y="T3"/>
                  </a:cxn>
                  <a:cxn ang="0">
                    <a:pos x="T4" y="T5"/>
                  </a:cxn>
                  <a:cxn ang="0">
                    <a:pos x="T6" y="T7"/>
                  </a:cxn>
                  <a:cxn ang="0">
                    <a:pos x="T8" y="T9"/>
                  </a:cxn>
                </a:cxnLst>
                <a:rect l="0" t="0" r="r" b="b"/>
                <a:pathLst>
                  <a:path w="39" h="35">
                    <a:moveTo>
                      <a:pt x="7" y="18"/>
                    </a:moveTo>
                    <a:cubicBezTo>
                      <a:pt x="5" y="24"/>
                      <a:pt x="3" y="29"/>
                      <a:pt x="0" y="35"/>
                    </a:cubicBezTo>
                    <a:cubicBezTo>
                      <a:pt x="39" y="29"/>
                      <a:pt x="39" y="29"/>
                      <a:pt x="39" y="29"/>
                    </a:cubicBezTo>
                    <a:cubicBezTo>
                      <a:pt x="12" y="0"/>
                      <a:pt x="12" y="0"/>
                      <a:pt x="12" y="0"/>
                    </a:cubicBezTo>
                    <a:cubicBezTo>
                      <a:pt x="10" y="6"/>
                      <a:pt x="9" y="13"/>
                      <a:pt x="7"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1" name="Freeform 56">
                <a:extLst>
                  <a:ext uri="{FF2B5EF4-FFF2-40B4-BE49-F238E27FC236}">
                    <a16:creationId xmlns:a16="http://schemas.microsoft.com/office/drawing/2014/main" id="{256FF690-A40D-4939-859D-0302EE7ACA32}"/>
                  </a:ext>
                </a:extLst>
              </p:cNvPr>
              <p:cNvSpPr>
                <a:spLocks/>
              </p:cNvSpPr>
              <p:nvPr/>
            </p:nvSpPr>
            <p:spPr bwMode="auto">
              <a:xfrm>
                <a:off x="8337550" y="10372726"/>
                <a:ext cx="107950" cy="123825"/>
              </a:xfrm>
              <a:custGeom>
                <a:avLst/>
                <a:gdLst>
                  <a:gd name="T0" fmla="*/ 1 w 34"/>
                  <a:gd name="T1" fmla="*/ 0 h 38"/>
                  <a:gd name="T2" fmla="*/ 0 w 34"/>
                  <a:gd name="T3" fmla="*/ 38 h 38"/>
                  <a:gd name="T4" fmla="*/ 34 w 34"/>
                  <a:gd name="T5" fmla="*/ 17 h 38"/>
                  <a:gd name="T6" fmla="*/ 16 w 34"/>
                  <a:gd name="T7" fmla="*/ 9 h 38"/>
                  <a:gd name="T8" fmla="*/ 1 w 34"/>
                  <a:gd name="T9" fmla="*/ 0 h 38"/>
                </a:gdLst>
                <a:ahLst/>
                <a:cxnLst>
                  <a:cxn ang="0">
                    <a:pos x="T0" y="T1"/>
                  </a:cxn>
                  <a:cxn ang="0">
                    <a:pos x="T2" y="T3"/>
                  </a:cxn>
                  <a:cxn ang="0">
                    <a:pos x="T4" y="T5"/>
                  </a:cxn>
                  <a:cxn ang="0">
                    <a:pos x="T6" y="T7"/>
                  </a:cxn>
                  <a:cxn ang="0">
                    <a:pos x="T8" y="T9"/>
                  </a:cxn>
                </a:cxnLst>
                <a:rect l="0" t="0" r="r" b="b"/>
                <a:pathLst>
                  <a:path w="34" h="38">
                    <a:moveTo>
                      <a:pt x="1" y="0"/>
                    </a:moveTo>
                    <a:cubicBezTo>
                      <a:pt x="0" y="38"/>
                      <a:pt x="0" y="38"/>
                      <a:pt x="0" y="38"/>
                    </a:cubicBezTo>
                    <a:cubicBezTo>
                      <a:pt x="34" y="17"/>
                      <a:pt x="34" y="17"/>
                      <a:pt x="34" y="17"/>
                    </a:cubicBezTo>
                    <a:cubicBezTo>
                      <a:pt x="27" y="15"/>
                      <a:pt x="22" y="12"/>
                      <a:pt x="16" y="9"/>
                    </a:cubicBezTo>
                    <a:cubicBezTo>
                      <a:pt x="11" y="6"/>
                      <a:pt x="6" y="3"/>
                      <a:pt x="1"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2" name="Freeform 57">
                <a:extLst>
                  <a:ext uri="{FF2B5EF4-FFF2-40B4-BE49-F238E27FC236}">
                    <a16:creationId xmlns:a16="http://schemas.microsoft.com/office/drawing/2014/main" id="{D0307532-79E3-4CBF-8A6C-4247157EA041}"/>
                  </a:ext>
                </a:extLst>
              </p:cNvPr>
              <p:cNvSpPr>
                <a:spLocks/>
              </p:cNvSpPr>
              <p:nvPr/>
            </p:nvSpPr>
            <p:spPr bwMode="auto">
              <a:xfrm>
                <a:off x="10140950" y="9434513"/>
                <a:ext cx="114300" cy="120650"/>
              </a:xfrm>
              <a:custGeom>
                <a:avLst/>
                <a:gdLst>
                  <a:gd name="T0" fmla="*/ 2 w 36"/>
                  <a:gd name="T1" fmla="*/ 20 h 37"/>
                  <a:gd name="T2" fmla="*/ 0 w 36"/>
                  <a:gd name="T3" fmla="*/ 37 h 37"/>
                  <a:gd name="T4" fmla="*/ 36 w 36"/>
                  <a:gd name="T5" fmla="*/ 23 h 37"/>
                  <a:gd name="T6" fmla="*/ 4 w 36"/>
                  <a:gd name="T7" fmla="*/ 0 h 37"/>
                  <a:gd name="T8" fmla="*/ 2 w 36"/>
                  <a:gd name="T9" fmla="*/ 20 h 37"/>
                </a:gdLst>
                <a:ahLst/>
                <a:cxnLst>
                  <a:cxn ang="0">
                    <a:pos x="T0" y="T1"/>
                  </a:cxn>
                  <a:cxn ang="0">
                    <a:pos x="T2" y="T3"/>
                  </a:cxn>
                  <a:cxn ang="0">
                    <a:pos x="T4" y="T5"/>
                  </a:cxn>
                  <a:cxn ang="0">
                    <a:pos x="T6" y="T7"/>
                  </a:cxn>
                  <a:cxn ang="0">
                    <a:pos x="T8" y="T9"/>
                  </a:cxn>
                </a:cxnLst>
                <a:rect l="0" t="0" r="r" b="b"/>
                <a:pathLst>
                  <a:path w="36" h="37">
                    <a:moveTo>
                      <a:pt x="2" y="20"/>
                    </a:moveTo>
                    <a:cubicBezTo>
                      <a:pt x="2" y="25"/>
                      <a:pt x="1" y="30"/>
                      <a:pt x="0" y="37"/>
                    </a:cubicBezTo>
                    <a:cubicBezTo>
                      <a:pt x="36" y="23"/>
                      <a:pt x="36" y="23"/>
                      <a:pt x="36" y="23"/>
                    </a:cubicBezTo>
                    <a:cubicBezTo>
                      <a:pt x="4" y="0"/>
                      <a:pt x="4" y="0"/>
                      <a:pt x="4" y="0"/>
                    </a:cubicBezTo>
                    <a:cubicBezTo>
                      <a:pt x="3" y="6"/>
                      <a:pt x="3" y="13"/>
                      <a:pt x="2" y="2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3" name="Freeform 58">
                <a:extLst>
                  <a:ext uri="{FF2B5EF4-FFF2-40B4-BE49-F238E27FC236}">
                    <a16:creationId xmlns:a16="http://schemas.microsoft.com/office/drawing/2014/main" id="{F9DF59E4-0BCA-4216-99DC-8DCD94282509}"/>
                  </a:ext>
                </a:extLst>
              </p:cNvPr>
              <p:cNvSpPr>
                <a:spLocks/>
              </p:cNvSpPr>
              <p:nvPr/>
            </p:nvSpPr>
            <p:spPr bwMode="auto">
              <a:xfrm>
                <a:off x="10028238" y="9799638"/>
                <a:ext cx="125413" cy="107950"/>
              </a:xfrm>
              <a:custGeom>
                <a:avLst/>
                <a:gdLst>
                  <a:gd name="T0" fmla="*/ 8 w 39"/>
                  <a:gd name="T1" fmla="*/ 17 h 33"/>
                  <a:gd name="T2" fmla="*/ 0 w 39"/>
                  <a:gd name="T3" fmla="*/ 33 h 33"/>
                  <a:gd name="T4" fmla="*/ 39 w 39"/>
                  <a:gd name="T5" fmla="*/ 30 h 33"/>
                  <a:gd name="T6" fmla="*/ 15 w 39"/>
                  <a:gd name="T7" fmla="*/ 0 h 33"/>
                  <a:gd name="T8" fmla="*/ 8 w 39"/>
                  <a:gd name="T9" fmla="*/ 17 h 33"/>
                </a:gdLst>
                <a:ahLst/>
                <a:cxnLst>
                  <a:cxn ang="0">
                    <a:pos x="T0" y="T1"/>
                  </a:cxn>
                  <a:cxn ang="0">
                    <a:pos x="T2" y="T3"/>
                  </a:cxn>
                  <a:cxn ang="0">
                    <a:pos x="T4" y="T5"/>
                  </a:cxn>
                  <a:cxn ang="0">
                    <a:pos x="T6" y="T7"/>
                  </a:cxn>
                  <a:cxn ang="0">
                    <a:pos x="T8" y="T9"/>
                  </a:cxn>
                </a:cxnLst>
                <a:rect l="0" t="0" r="r" b="b"/>
                <a:pathLst>
                  <a:path w="39" h="33">
                    <a:moveTo>
                      <a:pt x="8" y="17"/>
                    </a:moveTo>
                    <a:cubicBezTo>
                      <a:pt x="6" y="23"/>
                      <a:pt x="3" y="28"/>
                      <a:pt x="0" y="33"/>
                    </a:cubicBezTo>
                    <a:cubicBezTo>
                      <a:pt x="39" y="30"/>
                      <a:pt x="39" y="30"/>
                      <a:pt x="39" y="30"/>
                    </a:cubicBezTo>
                    <a:cubicBezTo>
                      <a:pt x="15" y="0"/>
                      <a:pt x="15" y="0"/>
                      <a:pt x="15" y="0"/>
                    </a:cubicBezTo>
                    <a:cubicBezTo>
                      <a:pt x="13" y="5"/>
                      <a:pt x="10" y="12"/>
                      <a:pt x="8"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4" name="Freeform 59">
                <a:extLst>
                  <a:ext uri="{FF2B5EF4-FFF2-40B4-BE49-F238E27FC236}">
                    <a16:creationId xmlns:a16="http://schemas.microsoft.com/office/drawing/2014/main" id="{65CC03D3-AE48-4E41-8130-98AFF123A4F3}"/>
                  </a:ext>
                </a:extLst>
              </p:cNvPr>
              <p:cNvSpPr>
                <a:spLocks/>
              </p:cNvSpPr>
              <p:nvPr/>
            </p:nvSpPr>
            <p:spPr bwMode="auto">
              <a:xfrm>
                <a:off x="9971088" y="9913938"/>
                <a:ext cx="120650" cy="106363"/>
              </a:xfrm>
              <a:custGeom>
                <a:avLst/>
                <a:gdLst>
                  <a:gd name="T0" fmla="*/ 8 w 38"/>
                  <a:gd name="T1" fmla="*/ 16 h 33"/>
                  <a:gd name="T2" fmla="*/ 0 w 38"/>
                  <a:gd name="T3" fmla="*/ 31 h 33"/>
                  <a:gd name="T4" fmla="*/ 38 w 38"/>
                  <a:gd name="T5" fmla="*/ 33 h 33"/>
                  <a:gd name="T6" fmla="*/ 17 w 38"/>
                  <a:gd name="T7" fmla="*/ 0 h 33"/>
                  <a:gd name="T8" fmla="*/ 8 w 38"/>
                  <a:gd name="T9" fmla="*/ 16 h 33"/>
                </a:gdLst>
                <a:ahLst/>
                <a:cxnLst>
                  <a:cxn ang="0">
                    <a:pos x="T0" y="T1"/>
                  </a:cxn>
                  <a:cxn ang="0">
                    <a:pos x="T2" y="T3"/>
                  </a:cxn>
                  <a:cxn ang="0">
                    <a:pos x="T4" y="T5"/>
                  </a:cxn>
                  <a:cxn ang="0">
                    <a:pos x="T6" y="T7"/>
                  </a:cxn>
                  <a:cxn ang="0">
                    <a:pos x="T8" y="T9"/>
                  </a:cxn>
                </a:cxnLst>
                <a:rect l="0" t="0" r="r" b="b"/>
                <a:pathLst>
                  <a:path w="38" h="33">
                    <a:moveTo>
                      <a:pt x="8" y="16"/>
                    </a:moveTo>
                    <a:cubicBezTo>
                      <a:pt x="5" y="21"/>
                      <a:pt x="2" y="26"/>
                      <a:pt x="0" y="31"/>
                    </a:cubicBezTo>
                    <a:cubicBezTo>
                      <a:pt x="38" y="33"/>
                      <a:pt x="38" y="33"/>
                      <a:pt x="38" y="33"/>
                    </a:cubicBezTo>
                    <a:cubicBezTo>
                      <a:pt x="17" y="0"/>
                      <a:pt x="17" y="0"/>
                      <a:pt x="17" y="0"/>
                    </a:cubicBezTo>
                    <a:cubicBezTo>
                      <a:pt x="15" y="5"/>
                      <a:pt x="12" y="11"/>
                      <a:pt x="8"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5" name="Freeform 60">
                <a:extLst>
                  <a:ext uri="{FF2B5EF4-FFF2-40B4-BE49-F238E27FC236}">
                    <a16:creationId xmlns:a16="http://schemas.microsoft.com/office/drawing/2014/main" id="{28CE7703-F379-4E85-BA82-A79A3767F142}"/>
                  </a:ext>
                </a:extLst>
              </p:cNvPr>
              <p:cNvSpPr>
                <a:spLocks/>
              </p:cNvSpPr>
              <p:nvPr/>
            </p:nvSpPr>
            <p:spPr bwMode="auto">
              <a:xfrm>
                <a:off x="9723438" y="10213976"/>
                <a:ext cx="112713" cy="123825"/>
              </a:xfrm>
              <a:custGeom>
                <a:avLst/>
                <a:gdLst>
                  <a:gd name="T0" fmla="*/ 13 w 35"/>
                  <a:gd name="T1" fmla="*/ 13 h 38"/>
                  <a:gd name="T2" fmla="*/ 0 w 35"/>
                  <a:gd name="T3" fmla="*/ 24 h 38"/>
                  <a:gd name="T4" fmla="*/ 35 w 35"/>
                  <a:gd name="T5" fmla="*/ 38 h 38"/>
                  <a:gd name="T6" fmla="*/ 27 w 35"/>
                  <a:gd name="T7" fmla="*/ 0 h 38"/>
                  <a:gd name="T8" fmla="*/ 13 w 35"/>
                  <a:gd name="T9" fmla="*/ 13 h 38"/>
                </a:gdLst>
                <a:ahLst/>
                <a:cxnLst>
                  <a:cxn ang="0">
                    <a:pos x="T0" y="T1"/>
                  </a:cxn>
                  <a:cxn ang="0">
                    <a:pos x="T2" y="T3"/>
                  </a:cxn>
                  <a:cxn ang="0">
                    <a:pos x="T4" y="T5"/>
                  </a:cxn>
                  <a:cxn ang="0">
                    <a:pos x="T6" y="T7"/>
                  </a:cxn>
                  <a:cxn ang="0">
                    <a:pos x="T8" y="T9"/>
                  </a:cxn>
                </a:cxnLst>
                <a:rect l="0" t="0" r="r" b="b"/>
                <a:pathLst>
                  <a:path w="35" h="38">
                    <a:moveTo>
                      <a:pt x="13" y="13"/>
                    </a:moveTo>
                    <a:cubicBezTo>
                      <a:pt x="8" y="16"/>
                      <a:pt x="4" y="21"/>
                      <a:pt x="0" y="24"/>
                    </a:cubicBezTo>
                    <a:cubicBezTo>
                      <a:pt x="35" y="38"/>
                      <a:pt x="35" y="38"/>
                      <a:pt x="35" y="38"/>
                    </a:cubicBezTo>
                    <a:cubicBezTo>
                      <a:pt x="27" y="0"/>
                      <a:pt x="27" y="0"/>
                      <a:pt x="27" y="0"/>
                    </a:cubicBezTo>
                    <a:cubicBezTo>
                      <a:pt x="22" y="4"/>
                      <a:pt x="18" y="9"/>
                      <a:pt x="13" y="1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6" name="Freeform 61">
                <a:extLst>
                  <a:ext uri="{FF2B5EF4-FFF2-40B4-BE49-F238E27FC236}">
                    <a16:creationId xmlns:a16="http://schemas.microsoft.com/office/drawing/2014/main" id="{EB2A0F9A-29F8-4804-9B00-E223876E2C71}"/>
                  </a:ext>
                </a:extLst>
              </p:cNvPr>
              <p:cNvSpPr>
                <a:spLocks/>
              </p:cNvSpPr>
              <p:nvPr/>
            </p:nvSpPr>
            <p:spPr bwMode="auto">
              <a:xfrm>
                <a:off x="9813925" y="10121901"/>
                <a:ext cx="122238" cy="117475"/>
              </a:xfrm>
              <a:custGeom>
                <a:avLst/>
                <a:gdLst>
                  <a:gd name="T0" fmla="*/ 12 w 38"/>
                  <a:gd name="T1" fmla="*/ 14 h 36"/>
                  <a:gd name="T2" fmla="*/ 0 w 38"/>
                  <a:gd name="T3" fmla="*/ 27 h 36"/>
                  <a:gd name="T4" fmla="*/ 38 w 38"/>
                  <a:gd name="T5" fmla="*/ 36 h 36"/>
                  <a:gd name="T6" fmla="*/ 25 w 38"/>
                  <a:gd name="T7" fmla="*/ 0 h 36"/>
                  <a:gd name="T8" fmla="*/ 12 w 38"/>
                  <a:gd name="T9" fmla="*/ 14 h 36"/>
                </a:gdLst>
                <a:ahLst/>
                <a:cxnLst>
                  <a:cxn ang="0">
                    <a:pos x="T0" y="T1"/>
                  </a:cxn>
                  <a:cxn ang="0">
                    <a:pos x="T2" y="T3"/>
                  </a:cxn>
                  <a:cxn ang="0">
                    <a:pos x="T4" y="T5"/>
                  </a:cxn>
                  <a:cxn ang="0">
                    <a:pos x="T6" y="T7"/>
                  </a:cxn>
                  <a:cxn ang="0">
                    <a:pos x="T8" y="T9"/>
                  </a:cxn>
                </a:cxnLst>
                <a:rect l="0" t="0" r="r" b="b"/>
                <a:pathLst>
                  <a:path w="38" h="36">
                    <a:moveTo>
                      <a:pt x="12" y="14"/>
                    </a:moveTo>
                    <a:cubicBezTo>
                      <a:pt x="9" y="18"/>
                      <a:pt x="4" y="23"/>
                      <a:pt x="0" y="27"/>
                    </a:cubicBezTo>
                    <a:cubicBezTo>
                      <a:pt x="38" y="36"/>
                      <a:pt x="38" y="36"/>
                      <a:pt x="38" y="36"/>
                    </a:cubicBezTo>
                    <a:cubicBezTo>
                      <a:pt x="25" y="0"/>
                      <a:pt x="25" y="0"/>
                      <a:pt x="25" y="0"/>
                    </a:cubicBezTo>
                    <a:cubicBezTo>
                      <a:pt x="20" y="4"/>
                      <a:pt x="16" y="10"/>
                      <a:pt x="12" y="1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7" name="Freeform 62">
                <a:extLst>
                  <a:ext uri="{FF2B5EF4-FFF2-40B4-BE49-F238E27FC236}">
                    <a16:creationId xmlns:a16="http://schemas.microsoft.com/office/drawing/2014/main" id="{7B076048-CF9A-4FCB-AB03-12F0A38EB7D5}"/>
                  </a:ext>
                </a:extLst>
              </p:cNvPr>
              <p:cNvSpPr>
                <a:spLocks/>
              </p:cNvSpPr>
              <p:nvPr/>
            </p:nvSpPr>
            <p:spPr bwMode="auto">
              <a:xfrm>
                <a:off x="9896475" y="10017126"/>
                <a:ext cx="122238" cy="117475"/>
              </a:xfrm>
              <a:custGeom>
                <a:avLst/>
                <a:gdLst>
                  <a:gd name="T0" fmla="*/ 11 w 38"/>
                  <a:gd name="T1" fmla="*/ 17 h 36"/>
                  <a:gd name="T2" fmla="*/ 0 w 38"/>
                  <a:gd name="T3" fmla="*/ 30 h 36"/>
                  <a:gd name="T4" fmla="*/ 38 w 38"/>
                  <a:gd name="T5" fmla="*/ 36 h 36"/>
                  <a:gd name="T6" fmla="*/ 22 w 38"/>
                  <a:gd name="T7" fmla="*/ 0 h 36"/>
                  <a:gd name="T8" fmla="*/ 11 w 38"/>
                  <a:gd name="T9" fmla="*/ 17 h 36"/>
                </a:gdLst>
                <a:ahLst/>
                <a:cxnLst>
                  <a:cxn ang="0">
                    <a:pos x="T0" y="T1"/>
                  </a:cxn>
                  <a:cxn ang="0">
                    <a:pos x="T2" y="T3"/>
                  </a:cxn>
                  <a:cxn ang="0">
                    <a:pos x="T4" y="T5"/>
                  </a:cxn>
                  <a:cxn ang="0">
                    <a:pos x="T6" y="T7"/>
                  </a:cxn>
                  <a:cxn ang="0">
                    <a:pos x="T8" y="T9"/>
                  </a:cxn>
                </a:cxnLst>
                <a:rect l="0" t="0" r="r" b="b"/>
                <a:pathLst>
                  <a:path w="38" h="36">
                    <a:moveTo>
                      <a:pt x="11" y="17"/>
                    </a:moveTo>
                    <a:cubicBezTo>
                      <a:pt x="6" y="21"/>
                      <a:pt x="3" y="25"/>
                      <a:pt x="0" y="30"/>
                    </a:cubicBezTo>
                    <a:cubicBezTo>
                      <a:pt x="38" y="36"/>
                      <a:pt x="38" y="36"/>
                      <a:pt x="38" y="36"/>
                    </a:cubicBezTo>
                    <a:cubicBezTo>
                      <a:pt x="22" y="0"/>
                      <a:pt x="22" y="0"/>
                      <a:pt x="22" y="0"/>
                    </a:cubicBezTo>
                    <a:cubicBezTo>
                      <a:pt x="18" y="6"/>
                      <a:pt x="14" y="11"/>
                      <a:pt x="11"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8" name="Freeform 63">
                <a:extLst>
                  <a:ext uri="{FF2B5EF4-FFF2-40B4-BE49-F238E27FC236}">
                    <a16:creationId xmlns:a16="http://schemas.microsoft.com/office/drawing/2014/main" id="{1D14BA81-B043-47C0-8EA7-29C881EAF61B}"/>
                  </a:ext>
                </a:extLst>
              </p:cNvPr>
              <p:cNvSpPr>
                <a:spLocks/>
              </p:cNvSpPr>
              <p:nvPr/>
            </p:nvSpPr>
            <p:spPr bwMode="auto">
              <a:xfrm>
                <a:off x="9625013" y="10294938"/>
                <a:ext cx="107950" cy="127000"/>
              </a:xfrm>
              <a:custGeom>
                <a:avLst/>
                <a:gdLst>
                  <a:gd name="T0" fmla="*/ 14 w 34"/>
                  <a:gd name="T1" fmla="*/ 12 h 39"/>
                  <a:gd name="T2" fmla="*/ 0 w 34"/>
                  <a:gd name="T3" fmla="*/ 22 h 39"/>
                  <a:gd name="T4" fmla="*/ 34 w 34"/>
                  <a:gd name="T5" fmla="*/ 39 h 39"/>
                  <a:gd name="T6" fmla="*/ 29 w 34"/>
                  <a:gd name="T7" fmla="*/ 0 h 39"/>
                  <a:gd name="T8" fmla="*/ 14 w 34"/>
                  <a:gd name="T9" fmla="*/ 12 h 39"/>
                </a:gdLst>
                <a:ahLst/>
                <a:cxnLst>
                  <a:cxn ang="0">
                    <a:pos x="T0" y="T1"/>
                  </a:cxn>
                  <a:cxn ang="0">
                    <a:pos x="T2" y="T3"/>
                  </a:cxn>
                  <a:cxn ang="0">
                    <a:pos x="T4" y="T5"/>
                  </a:cxn>
                  <a:cxn ang="0">
                    <a:pos x="T6" y="T7"/>
                  </a:cxn>
                  <a:cxn ang="0">
                    <a:pos x="T8" y="T9"/>
                  </a:cxn>
                </a:cxnLst>
                <a:rect l="0" t="0" r="r" b="b"/>
                <a:pathLst>
                  <a:path w="34" h="39">
                    <a:moveTo>
                      <a:pt x="14" y="12"/>
                    </a:moveTo>
                    <a:cubicBezTo>
                      <a:pt x="9" y="15"/>
                      <a:pt x="4" y="19"/>
                      <a:pt x="0" y="22"/>
                    </a:cubicBezTo>
                    <a:cubicBezTo>
                      <a:pt x="34" y="39"/>
                      <a:pt x="34" y="39"/>
                      <a:pt x="34" y="39"/>
                    </a:cubicBezTo>
                    <a:cubicBezTo>
                      <a:pt x="29" y="0"/>
                      <a:pt x="29" y="0"/>
                      <a:pt x="29" y="0"/>
                    </a:cubicBezTo>
                    <a:cubicBezTo>
                      <a:pt x="24" y="4"/>
                      <a:pt x="20" y="8"/>
                      <a:pt x="14" y="12"/>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9" name="Freeform 64">
                <a:extLst>
                  <a:ext uri="{FF2B5EF4-FFF2-40B4-BE49-F238E27FC236}">
                    <a16:creationId xmlns:a16="http://schemas.microsoft.com/office/drawing/2014/main" id="{4518C529-2507-4493-BD78-3D9E9AAB7335}"/>
                  </a:ext>
                </a:extLst>
              </p:cNvPr>
              <p:cNvSpPr>
                <a:spLocks/>
              </p:cNvSpPr>
              <p:nvPr/>
            </p:nvSpPr>
            <p:spPr bwMode="auto">
              <a:xfrm>
                <a:off x="7805738" y="9802813"/>
                <a:ext cx="123825" cy="111125"/>
              </a:xfrm>
              <a:custGeom>
                <a:avLst/>
                <a:gdLst>
                  <a:gd name="T0" fmla="*/ 30 w 39"/>
                  <a:gd name="T1" fmla="*/ 16 h 34"/>
                  <a:gd name="T2" fmla="*/ 23 w 39"/>
                  <a:gd name="T3" fmla="*/ 0 h 34"/>
                  <a:gd name="T4" fmla="*/ 0 w 39"/>
                  <a:gd name="T5" fmla="*/ 30 h 34"/>
                  <a:gd name="T6" fmla="*/ 39 w 39"/>
                  <a:gd name="T7" fmla="*/ 34 h 34"/>
                  <a:gd name="T8" fmla="*/ 30 w 39"/>
                  <a:gd name="T9" fmla="*/ 16 h 34"/>
                </a:gdLst>
                <a:ahLst/>
                <a:cxnLst>
                  <a:cxn ang="0">
                    <a:pos x="T0" y="T1"/>
                  </a:cxn>
                  <a:cxn ang="0">
                    <a:pos x="T2" y="T3"/>
                  </a:cxn>
                  <a:cxn ang="0">
                    <a:pos x="T4" y="T5"/>
                  </a:cxn>
                  <a:cxn ang="0">
                    <a:pos x="T6" y="T7"/>
                  </a:cxn>
                  <a:cxn ang="0">
                    <a:pos x="T8" y="T9"/>
                  </a:cxn>
                </a:cxnLst>
                <a:rect l="0" t="0" r="r" b="b"/>
                <a:pathLst>
                  <a:path w="39" h="34">
                    <a:moveTo>
                      <a:pt x="30" y="16"/>
                    </a:moveTo>
                    <a:cubicBezTo>
                      <a:pt x="28" y="11"/>
                      <a:pt x="26" y="5"/>
                      <a:pt x="23" y="0"/>
                    </a:cubicBezTo>
                    <a:cubicBezTo>
                      <a:pt x="0" y="30"/>
                      <a:pt x="0" y="30"/>
                      <a:pt x="0" y="30"/>
                    </a:cubicBezTo>
                    <a:cubicBezTo>
                      <a:pt x="39" y="34"/>
                      <a:pt x="39" y="34"/>
                      <a:pt x="39" y="34"/>
                    </a:cubicBezTo>
                    <a:cubicBezTo>
                      <a:pt x="35" y="28"/>
                      <a:pt x="33" y="22"/>
                      <a:pt x="30"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0" name="Freeform 65">
                <a:extLst>
                  <a:ext uri="{FF2B5EF4-FFF2-40B4-BE49-F238E27FC236}">
                    <a16:creationId xmlns:a16="http://schemas.microsoft.com/office/drawing/2014/main" id="{D531E2AB-0DDC-4C85-8599-063881FEEA5C}"/>
                  </a:ext>
                </a:extLst>
              </p:cNvPr>
              <p:cNvSpPr>
                <a:spLocks/>
              </p:cNvSpPr>
              <p:nvPr/>
            </p:nvSpPr>
            <p:spPr bwMode="auto">
              <a:xfrm>
                <a:off x="7693025" y="9317038"/>
                <a:ext cx="106363" cy="117475"/>
              </a:xfrm>
              <a:custGeom>
                <a:avLst/>
                <a:gdLst>
                  <a:gd name="T0" fmla="*/ 67 w 67"/>
                  <a:gd name="T1" fmla="*/ 35 h 74"/>
                  <a:gd name="T2" fmla="*/ 67 w 67"/>
                  <a:gd name="T3" fmla="*/ 0 h 74"/>
                  <a:gd name="T4" fmla="*/ 0 w 67"/>
                  <a:gd name="T5" fmla="*/ 35 h 74"/>
                  <a:gd name="T6" fmla="*/ 67 w 67"/>
                  <a:gd name="T7" fmla="*/ 74 h 74"/>
                  <a:gd name="T8" fmla="*/ 67 w 67"/>
                  <a:gd name="T9" fmla="*/ 35 h 74"/>
                </a:gdLst>
                <a:ahLst/>
                <a:cxnLst>
                  <a:cxn ang="0">
                    <a:pos x="T0" y="T1"/>
                  </a:cxn>
                  <a:cxn ang="0">
                    <a:pos x="T2" y="T3"/>
                  </a:cxn>
                  <a:cxn ang="0">
                    <a:pos x="T4" y="T5"/>
                  </a:cxn>
                  <a:cxn ang="0">
                    <a:pos x="T6" y="T7"/>
                  </a:cxn>
                  <a:cxn ang="0">
                    <a:pos x="T8" y="T9"/>
                  </a:cxn>
                </a:cxnLst>
                <a:rect l="0" t="0" r="r" b="b"/>
                <a:pathLst>
                  <a:path w="67" h="74">
                    <a:moveTo>
                      <a:pt x="67" y="35"/>
                    </a:moveTo>
                    <a:lnTo>
                      <a:pt x="67" y="0"/>
                    </a:lnTo>
                    <a:lnTo>
                      <a:pt x="0" y="35"/>
                    </a:lnTo>
                    <a:lnTo>
                      <a:pt x="67" y="74"/>
                    </a:lnTo>
                    <a:lnTo>
                      <a:pt x="67" y="3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1" name="Freeform 66">
                <a:extLst>
                  <a:ext uri="{FF2B5EF4-FFF2-40B4-BE49-F238E27FC236}">
                    <a16:creationId xmlns:a16="http://schemas.microsoft.com/office/drawing/2014/main" id="{11E5CC2C-4015-4F24-B066-19CD02943D2B}"/>
                  </a:ext>
                </a:extLst>
              </p:cNvPr>
              <p:cNvSpPr>
                <a:spLocks/>
              </p:cNvSpPr>
              <p:nvPr/>
            </p:nvSpPr>
            <p:spPr bwMode="auto">
              <a:xfrm>
                <a:off x="7753350" y="9685338"/>
                <a:ext cx="122238" cy="114300"/>
              </a:xfrm>
              <a:custGeom>
                <a:avLst/>
                <a:gdLst>
                  <a:gd name="T0" fmla="*/ 32 w 38"/>
                  <a:gd name="T1" fmla="*/ 16 h 35"/>
                  <a:gd name="T2" fmla="*/ 27 w 38"/>
                  <a:gd name="T3" fmla="*/ 0 h 35"/>
                  <a:gd name="T4" fmla="*/ 0 w 38"/>
                  <a:gd name="T5" fmla="*/ 27 h 35"/>
                  <a:gd name="T6" fmla="*/ 38 w 38"/>
                  <a:gd name="T7" fmla="*/ 35 h 35"/>
                  <a:gd name="T8" fmla="*/ 32 w 38"/>
                  <a:gd name="T9" fmla="*/ 16 h 35"/>
                </a:gdLst>
                <a:ahLst/>
                <a:cxnLst>
                  <a:cxn ang="0">
                    <a:pos x="T0" y="T1"/>
                  </a:cxn>
                  <a:cxn ang="0">
                    <a:pos x="T2" y="T3"/>
                  </a:cxn>
                  <a:cxn ang="0">
                    <a:pos x="T4" y="T5"/>
                  </a:cxn>
                  <a:cxn ang="0">
                    <a:pos x="T6" y="T7"/>
                  </a:cxn>
                  <a:cxn ang="0">
                    <a:pos x="T8" y="T9"/>
                  </a:cxn>
                </a:cxnLst>
                <a:rect l="0" t="0" r="r" b="b"/>
                <a:pathLst>
                  <a:path w="38" h="35">
                    <a:moveTo>
                      <a:pt x="32" y="16"/>
                    </a:moveTo>
                    <a:cubicBezTo>
                      <a:pt x="31" y="11"/>
                      <a:pt x="29" y="6"/>
                      <a:pt x="27" y="0"/>
                    </a:cubicBezTo>
                    <a:cubicBezTo>
                      <a:pt x="0" y="27"/>
                      <a:pt x="0" y="27"/>
                      <a:pt x="0" y="27"/>
                    </a:cubicBezTo>
                    <a:cubicBezTo>
                      <a:pt x="38" y="35"/>
                      <a:pt x="38" y="35"/>
                      <a:pt x="38" y="35"/>
                    </a:cubicBezTo>
                    <a:cubicBezTo>
                      <a:pt x="36" y="28"/>
                      <a:pt x="34" y="23"/>
                      <a:pt x="32"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2" name="Freeform 67">
                <a:extLst>
                  <a:ext uri="{FF2B5EF4-FFF2-40B4-BE49-F238E27FC236}">
                    <a16:creationId xmlns:a16="http://schemas.microsoft.com/office/drawing/2014/main" id="{F046879C-89C9-4C96-95FE-97B59773C430}"/>
                  </a:ext>
                </a:extLst>
              </p:cNvPr>
              <p:cNvSpPr>
                <a:spLocks/>
              </p:cNvSpPr>
              <p:nvPr/>
            </p:nvSpPr>
            <p:spPr bwMode="auto">
              <a:xfrm>
                <a:off x="7699375" y="9440863"/>
                <a:ext cx="115888" cy="117475"/>
              </a:xfrm>
              <a:custGeom>
                <a:avLst/>
                <a:gdLst>
                  <a:gd name="T0" fmla="*/ 34 w 36"/>
                  <a:gd name="T1" fmla="*/ 18 h 36"/>
                  <a:gd name="T2" fmla="*/ 31 w 36"/>
                  <a:gd name="T3" fmla="*/ 0 h 36"/>
                  <a:gd name="T4" fmla="*/ 0 w 36"/>
                  <a:gd name="T5" fmla="*/ 21 h 36"/>
                  <a:gd name="T6" fmla="*/ 36 w 36"/>
                  <a:gd name="T7" fmla="*/ 36 h 36"/>
                  <a:gd name="T8" fmla="*/ 34 w 36"/>
                  <a:gd name="T9" fmla="*/ 18 h 36"/>
                </a:gdLst>
                <a:ahLst/>
                <a:cxnLst>
                  <a:cxn ang="0">
                    <a:pos x="T0" y="T1"/>
                  </a:cxn>
                  <a:cxn ang="0">
                    <a:pos x="T2" y="T3"/>
                  </a:cxn>
                  <a:cxn ang="0">
                    <a:pos x="T4" y="T5"/>
                  </a:cxn>
                  <a:cxn ang="0">
                    <a:pos x="T6" y="T7"/>
                  </a:cxn>
                  <a:cxn ang="0">
                    <a:pos x="T8" y="T9"/>
                  </a:cxn>
                </a:cxnLst>
                <a:rect l="0" t="0" r="r" b="b"/>
                <a:pathLst>
                  <a:path w="36" h="36">
                    <a:moveTo>
                      <a:pt x="34" y="18"/>
                    </a:moveTo>
                    <a:cubicBezTo>
                      <a:pt x="33" y="12"/>
                      <a:pt x="33" y="6"/>
                      <a:pt x="31" y="0"/>
                    </a:cubicBezTo>
                    <a:cubicBezTo>
                      <a:pt x="0" y="21"/>
                      <a:pt x="0" y="21"/>
                      <a:pt x="0" y="21"/>
                    </a:cubicBezTo>
                    <a:cubicBezTo>
                      <a:pt x="36" y="36"/>
                      <a:pt x="36" y="36"/>
                      <a:pt x="36" y="36"/>
                    </a:cubicBezTo>
                    <a:cubicBezTo>
                      <a:pt x="35" y="31"/>
                      <a:pt x="34" y="24"/>
                      <a:pt x="34"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3" name="Freeform 68">
                <a:extLst>
                  <a:ext uri="{FF2B5EF4-FFF2-40B4-BE49-F238E27FC236}">
                    <a16:creationId xmlns:a16="http://schemas.microsoft.com/office/drawing/2014/main" id="{C6E60A85-F25B-4E29-9454-BF481960FC6D}"/>
                  </a:ext>
                </a:extLst>
              </p:cNvPr>
              <p:cNvSpPr>
                <a:spLocks/>
              </p:cNvSpPr>
              <p:nvPr/>
            </p:nvSpPr>
            <p:spPr bwMode="auto">
              <a:xfrm>
                <a:off x="7862888" y="9917113"/>
                <a:ext cx="125413" cy="103188"/>
              </a:xfrm>
              <a:custGeom>
                <a:avLst/>
                <a:gdLst>
                  <a:gd name="T0" fmla="*/ 29 w 39"/>
                  <a:gd name="T1" fmla="*/ 15 h 32"/>
                  <a:gd name="T2" fmla="*/ 22 w 39"/>
                  <a:gd name="T3" fmla="*/ 0 h 32"/>
                  <a:gd name="T4" fmla="*/ 0 w 39"/>
                  <a:gd name="T5" fmla="*/ 32 h 32"/>
                  <a:gd name="T6" fmla="*/ 39 w 39"/>
                  <a:gd name="T7" fmla="*/ 31 h 32"/>
                  <a:gd name="T8" fmla="*/ 29 w 39"/>
                  <a:gd name="T9" fmla="*/ 15 h 32"/>
                </a:gdLst>
                <a:ahLst/>
                <a:cxnLst>
                  <a:cxn ang="0">
                    <a:pos x="T0" y="T1"/>
                  </a:cxn>
                  <a:cxn ang="0">
                    <a:pos x="T2" y="T3"/>
                  </a:cxn>
                  <a:cxn ang="0">
                    <a:pos x="T4" y="T5"/>
                  </a:cxn>
                  <a:cxn ang="0">
                    <a:pos x="T6" y="T7"/>
                  </a:cxn>
                  <a:cxn ang="0">
                    <a:pos x="T8" y="T9"/>
                  </a:cxn>
                </a:cxnLst>
                <a:rect l="0" t="0" r="r" b="b"/>
                <a:pathLst>
                  <a:path w="39" h="32">
                    <a:moveTo>
                      <a:pt x="29" y="15"/>
                    </a:moveTo>
                    <a:cubicBezTo>
                      <a:pt x="26" y="11"/>
                      <a:pt x="24" y="5"/>
                      <a:pt x="22" y="0"/>
                    </a:cubicBezTo>
                    <a:cubicBezTo>
                      <a:pt x="0" y="32"/>
                      <a:pt x="0" y="32"/>
                      <a:pt x="0" y="32"/>
                    </a:cubicBezTo>
                    <a:cubicBezTo>
                      <a:pt x="39" y="31"/>
                      <a:pt x="39" y="31"/>
                      <a:pt x="39" y="31"/>
                    </a:cubicBezTo>
                    <a:cubicBezTo>
                      <a:pt x="36" y="26"/>
                      <a:pt x="33" y="20"/>
                      <a:pt x="29" y="1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4" name="Freeform 69">
                <a:extLst>
                  <a:ext uri="{FF2B5EF4-FFF2-40B4-BE49-F238E27FC236}">
                    <a16:creationId xmlns:a16="http://schemas.microsoft.com/office/drawing/2014/main" id="{A06A99FF-B84D-4BDC-BA4A-B93FCED9360E}"/>
                  </a:ext>
                </a:extLst>
              </p:cNvPr>
              <p:cNvSpPr>
                <a:spLocks/>
              </p:cNvSpPr>
              <p:nvPr/>
            </p:nvSpPr>
            <p:spPr bwMode="auto">
              <a:xfrm>
                <a:off x="8115300" y="8410576"/>
                <a:ext cx="115888" cy="123825"/>
              </a:xfrm>
              <a:custGeom>
                <a:avLst/>
                <a:gdLst>
                  <a:gd name="T0" fmla="*/ 23 w 36"/>
                  <a:gd name="T1" fmla="*/ 25 h 38"/>
                  <a:gd name="T2" fmla="*/ 36 w 36"/>
                  <a:gd name="T3" fmla="*/ 14 h 38"/>
                  <a:gd name="T4" fmla="*/ 0 w 36"/>
                  <a:gd name="T5" fmla="*/ 0 h 38"/>
                  <a:gd name="T6" fmla="*/ 9 w 36"/>
                  <a:gd name="T7" fmla="*/ 38 h 38"/>
                  <a:gd name="T8" fmla="*/ 23 w 36"/>
                  <a:gd name="T9" fmla="*/ 25 h 38"/>
                </a:gdLst>
                <a:ahLst/>
                <a:cxnLst>
                  <a:cxn ang="0">
                    <a:pos x="T0" y="T1"/>
                  </a:cxn>
                  <a:cxn ang="0">
                    <a:pos x="T2" y="T3"/>
                  </a:cxn>
                  <a:cxn ang="0">
                    <a:pos x="T4" y="T5"/>
                  </a:cxn>
                  <a:cxn ang="0">
                    <a:pos x="T6" y="T7"/>
                  </a:cxn>
                  <a:cxn ang="0">
                    <a:pos x="T8" y="T9"/>
                  </a:cxn>
                </a:cxnLst>
                <a:rect l="0" t="0" r="r" b="b"/>
                <a:pathLst>
                  <a:path w="36" h="38">
                    <a:moveTo>
                      <a:pt x="23" y="25"/>
                    </a:moveTo>
                    <a:cubicBezTo>
                      <a:pt x="28" y="20"/>
                      <a:pt x="32" y="17"/>
                      <a:pt x="36" y="14"/>
                    </a:cubicBezTo>
                    <a:cubicBezTo>
                      <a:pt x="0" y="0"/>
                      <a:pt x="0" y="0"/>
                      <a:pt x="0" y="0"/>
                    </a:cubicBezTo>
                    <a:cubicBezTo>
                      <a:pt x="9" y="38"/>
                      <a:pt x="9" y="38"/>
                      <a:pt x="9" y="38"/>
                    </a:cubicBezTo>
                    <a:cubicBezTo>
                      <a:pt x="13" y="33"/>
                      <a:pt x="18" y="29"/>
                      <a:pt x="23" y="2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5" name="Freeform 70">
                <a:extLst>
                  <a:ext uri="{FF2B5EF4-FFF2-40B4-BE49-F238E27FC236}">
                    <a16:creationId xmlns:a16="http://schemas.microsoft.com/office/drawing/2014/main" id="{F003299F-F8D8-476E-AA85-42C44EAA0B39}"/>
                  </a:ext>
                </a:extLst>
              </p:cNvPr>
              <p:cNvSpPr>
                <a:spLocks/>
              </p:cNvSpPr>
              <p:nvPr/>
            </p:nvSpPr>
            <p:spPr bwMode="auto">
              <a:xfrm>
                <a:off x="8115300" y="10217151"/>
                <a:ext cx="119063" cy="120650"/>
              </a:xfrm>
              <a:custGeom>
                <a:avLst/>
                <a:gdLst>
                  <a:gd name="T0" fmla="*/ 23 w 37"/>
                  <a:gd name="T1" fmla="*/ 12 h 37"/>
                  <a:gd name="T2" fmla="*/ 10 w 37"/>
                  <a:gd name="T3" fmla="*/ 0 h 37"/>
                  <a:gd name="T4" fmla="*/ 0 w 37"/>
                  <a:gd name="T5" fmla="*/ 37 h 37"/>
                  <a:gd name="T6" fmla="*/ 37 w 37"/>
                  <a:gd name="T7" fmla="*/ 24 h 37"/>
                  <a:gd name="T8" fmla="*/ 23 w 37"/>
                  <a:gd name="T9" fmla="*/ 12 h 37"/>
                </a:gdLst>
                <a:ahLst/>
                <a:cxnLst>
                  <a:cxn ang="0">
                    <a:pos x="T0" y="T1"/>
                  </a:cxn>
                  <a:cxn ang="0">
                    <a:pos x="T2" y="T3"/>
                  </a:cxn>
                  <a:cxn ang="0">
                    <a:pos x="T4" y="T5"/>
                  </a:cxn>
                  <a:cxn ang="0">
                    <a:pos x="T6" y="T7"/>
                  </a:cxn>
                  <a:cxn ang="0">
                    <a:pos x="T8" y="T9"/>
                  </a:cxn>
                </a:cxnLst>
                <a:rect l="0" t="0" r="r" b="b"/>
                <a:pathLst>
                  <a:path w="37" h="37">
                    <a:moveTo>
                      <a:pt x="23" y="12"/>
                    </a:moveTo>
                    <a:cubicBezTo>
                      <a:pt x="19" y="8"/>
                      <a:pt x="14" y="5"/>
                      <a:pt x="10" y="0"/>
                    </a:cubicBezTo>
                    <a:cubicBezTo>
                      <a:pt x="0" y="37"/>
                      <a:pt x="0" y="37"/>
                      <a:pt x="0" y="37"/>
                    </a:cubicBezTo>
                    <a:cubicBezTo>
                      <a:pt x="37" y="24"/>
                      <a:pt x="37" y="24"/>
                      <a:pt x="37" y="24"/>
                    </a:cubicBezTo>
                    <a:cubicBezTo>
                      <a:pt x="33" y="21"/>
                      <a:pt x="28" y="17"/>
                      <a:pt x="23" y="12"/>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6" name="Freeform 71">
                <a:extLst>
                  <a:ext uri="{FF2B5EF4-FFF2-40B4-BE49-F238E27FC236}">
                    <a16:creationId xmlns:a16="http://schemas.microsoft.com/office/drawing/2014/main" id="{D2A78A03-42C4-4978-AD41-A7EAB2E402A7}"/>
                  </a:ext>
                </a:extLst>
              </p:cNvPr>
              <p:cNvSpPr>
                <a:spLocks/>
              </p:cNvSpPr>
              <p:nvPr/>
            </p:nvSpPr>
            <p:spPr bwMode="auto">
              <a:xfrm>
                <a:off x="8221663" y="10298113"/>
                <a:ext cx="115888" cy="123825"/>
              </a:xfrm>
              <a:custGeom>
                <a:avLst/>
                <a:gdLst>
                  <a:gd name="T0" fmla="*/ 20 w 36"/>
                  <a:gd name="T1" fmla="*/ 11 h 38"/>
                  <a:gd name="T2" fmla="*/ 7 w 36"/>
                  <a:gd name="T3" fmla="*/ 0 h 38"/>
                  <a:gd name="T4" fmla="*/ 0 w 36"/>
                  <a:gd name="T5" fmla="*/ 38 h 38"/>
                  <a:gd name="T6" fmla="*/ 36 w 36"/>
                  <a:gd name="T7" fmla="*/ 22 h 38"/>
                  <a:gd name="T8" fmla="*/ 20 w 36"/>
                  <a:gd name="T9" fmla="*/ 11 h 38"/>
                </a:gdLst>
                <a:ahLst/>
                <a:cxnLst>
                  <a:cxn ang="0">
                    <a:pos x="T0" y="T1"/>
                  </a:cxn>
                  <a:cxn ang="0">
                    <a:pos x="T2" y="T3"/>
                  </a:cxn>
                  <a:cxn ang="0">
                    <a:pos x="T4" y="T5"/>
                  </a:cxn>
                  <a:cxn ang="0">
                    <a:pos x="T6" y="T7"/>
                  </a:cxn>
                  <a:cxn ang="0">
                    <a:pos x="T8" y="T9"/>
                  </a:cxn>
                </a:cxnLst>
                <a:rect l="0" t="0" r="r" b="b"/>
                <a:pathLst>
                  <a:path w="36" h="38">
                    <a:moveTo>
                      <a:pt x="20" y="11"/>
                    </a:moveTo>
                    <a:cubicBezTo>
                      <a:pt x="15" y="8"/>
                      <a:pt x="11" y="3"/>
                      <a:pt x="7" y="0"/>
                    </a:cubicBezTo>
                    <a:cubicBezTo>
                      <a:pt x="0" y="38"/>
                      <a:pt x="0" y="38"/>
                      <a:pt x="0" y="38"/>
                    </a:cubicBezTo>
                    <a:cubicBezTo>
                      <a:pt x="36" y="22"/>
                      <a:pt x="36" y="22"/>
                      <a:pt x="36" y="22"/>
                    </a:cubicBezTo>
                    <a:cubicBezTo>
                      <a:pt x="30" y="19"/>
                      <a:pt x="25" y="14"/>
                      <a:pt x="20" y="11"/>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7" name="Freeform 72">
                <a:extLst>
                  <a:ext uri="{FF2B5EF4-FFF2-40B4-BE49-F238E27FC236}">
                    <a16:creationId xmlns:a16="http://schemas.microsoft.com/office/drawing/2014/main" id="{4FE7338E-ACE7-4401-8527-863149867789}"/>
                  </a:ext>
                </a:extLst>
              </p:cNvPr>
              <p:cNvSpPr>
                <a:spLocks/>
              </p:cNvSpPr>
              <p:nvPr/>
            </p:nvSpPr>
            <p:spPr bwMode="auto">
              <a:xfrm>
                <a:off x="8023225" y="10125076"/>
                <a:ext cx="122238" cy="117475"/>
              </a:xfrm>
              <a:custGeom>
                <a:avLst/>
                <a:gdLst>
                  <a:gd name="T0" fmla="*/ 25 w 38"/>
                  <a:gd name="T1" fmla="*/ 13 h 36"/>
                  <a:gd name="T2" fmla="*/ 13 w 38"/>
                  <a:gd name="T3" fmla="*/ 0 h 36"/>
                  <a:gd name="T4" fmla="*/ 0 w 38"/>
                  <a:gd name="T5" fmla="*/ 36 h 36"/>
                  <a:gd name="T6" fmla="*/ 38 w 38"/>
                  <a:gd name="T7" fmla="*/ 27 h 36"/>
                  <a:gd name="T8" fmla="*/ 25 w 38"/>
                  <a:gd name="T9" fmla="*/ 13 h 36"/>
                </a:gdLst>
                <a:ahLst/>
                <a:cxnLst>
                  <a:cxn ang="0">
                    <a:pos x="T0" y="T1"/>
                  </a:cxn>
                  <a:cxn ang="0">
                    <a:pos x="T2" y="T3"/>
                  </a:cxn>
                  <a:cxn ang="0">
                    <a:pos x="T4" y="T5"/>
                  </a:cxn>
                  <a:cxn ang="0">
                    <a:pos x="T6" y="T7"/>
                  </a:cxn>
                  <a:cxn ang="0">
                    <a:pos x="T8" y="T9"/>
                  </a:cxn>
                </a:cxnLst>
                <a:rect l="0" t="0" r="r" b="b"/>
                <a:pathLst>
                  <a:path w="38" h="36">
                    <a:moveTo>
                      <a:pt x="25" y="13"/>
                    </a:moveTo>
                    <a:cubicBezTo>
                      <a:pt x="21" y="9"/>
                      <a:pt x="17" y="4"/>
                      <a:pt x="13" y="0"/>
                    </a:cubicBezTo>
                    <a:cubicBezTo>
                      <a:pt x="0" y="36"/>
                      <a:pt x="0" y="36"/>
                      <a:pt x="0" y="36"/>
                    </a:cubicBezTo>
                    <a:cubicBezTo>
                      <a:pt x="38" y="27"/>
                      <a:pt x="38" y="27"/>
                      <a:pt x="38" y="27"/>
                    </a:cubicBezTo>
                    <a:cubicBezTo>
                      <a:pt x="34" y="23"/>
                      <a:pt x="29" y="17"/>
                      <a:pt x="25" y="1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8" name="Freeform 73">
                <a:extLst>
                  <a:ext uri="{FF2B5EF4-FFF2-40B4-BE49-F238E27FC236}">
                    <a16:creationId xmlns:a16="http://schemas.microsoft.com/office/drawing/2014/main" id="{2E5BEA1F-A365-407D-BBF2-27167F59240C}"/>
                  </a:ext>
                </a:extLst>
              </p:cNvPr>
              <p:cNvSpPr>
                <a:spLocks/>
              </p:cNvSpPr>
              <p:nvPr/>
            </p:nvSpPr>
            <p:spPr bwMode="auto">
              <a:xfrm>
                <a:off x="7718425" y="9564688"/>
                <a:ext cx="119063" cy="117475"/>
              </a:xfrm>
              <a:custGeom>
                <a:avLst/>
                <a:gdLst>
                  <a:gd name="T0" fmla="*/ 33 w 37"/>
                  <a:gd name="T1" fmla="*/ 16 h 36"/>
                  <a:gd name="T2" fmla="*/ 30 w 37"/>
                  <a:gd name="T3" fmla="*/ 0 h 36"/>
                  <a:gd name="T4" fmla="*/ 0 w 37"/>
                  <a:gd name="T5" fmla="*/ 24 h 36"/>
                  <a:gd name="T6" fmla="*/ 37 w 37"/>
                  <a:gd name="T7" fmla="*/ 36 h 36"/>
                  <a:gd name="T8" fmla="*/ 33 w 37"/>
                  <a:gd name="T9" fmla="*/ 16 h 36"/>
                </a:gdLst>
                <a:ahLst/>
                <a:cxnLst>
                  <a:cxn ang="0">
                    <a:pos x="T0" y="T1"/>
                  </a:cxn>
                  <a:cxn ang="0">
                    <a:pos x="T2" y="T3"/>
                  </a:cxn>
                  <a:cxn ang="0">
                    <a:pos x="T4" y="T5"/>
                  </a:cxn>
                  <a:cxn ang="0">
                    <a:pos x="T6" y="T7"/>
                  </a:cxn>
                  <a:cxn ang="0">
                    <a:pos x="T8" y="T9"/>
                  </a:cxn>
                </a:cxnLst>
                <a:rect l="0" t="0" r="r" b="b"/>
                <a:pathLst>
                  <a:path w="37" h="36">
                    <a:moveTo>
                      <a:pt x="33" y="16"/>
                    </a:moveTo>
                    <a:cubicBezTo>
                      <a:pt x="32" y="11"/>
                      <a:pt x="31" y="6"/>
                      <a:pt x="30" y="0"/>
                    </a:cubicBezTo>
                    <a:cubicBezTo>
                      <a:pt x="0" y="24"/>
                      <a:pt x="0" y="24"/>
                      <a:pt x="0" y="24"/>
                    </a:cubicBezTo>
                    <a:cubicBezTo>
                      <a:pt x="37" y="36"/>
                      <a:pt x="37" y="36"/>
                      <a:pt x="37" y="36"/>
                    </a:cubicBezTo>
                    <a:cubicBezTo>
                      <a:pt x="36" y="30"/>
                      <a:pt x="34" y="23"/>
                      <a:pt x="33"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9" name="Freeform 74">
                <a:extLst>
                  <a:ext uri="{FF2B5EF4-FFF2-40B4-BE49-F238E27FC236}">
                    <a16:creationId xmlns:a16="http://schemas.microsoft.com/office/drawing/2014/main" id="{12103768-6C81-4D94-AC62-F62166884BA6}"/>
                  </a:ext>
                </a:extLst>
              </p:cNvPr>
              <p:cNvSpPr>
                <a:spLocks/>
              </p:cNvSpPr>
              <p:nvPr/>
            </p:nvSpPr>
            <p:spPr bwMode="auto">
              <a:xfrm>
                <a:off x="8020050" y="8505826"/>
                <a:ext cx="122238" cy="120650"/>
              </a:xfrm>
              <a:custGeom>
                <a:avLst/>
                <a:gdLst>
                  <a:gd name="T0" fmla="*/ 26 w 38"/>
                  <a:gd name="T1" fmla="*/ 23 h 37"/>
                  <a:gd name="T2" fmla="*/ 38 w 38"/>
                  <a:gd name="T3" fmla="*/ 10 h 37"/>
                  <a:gd name="T4" fmla="*/ 0 w 38"/>
                  <a:gd name="T5" fmla="*/ 0 h 37"/>
                  <a:gd name="T6" fmla="*/ 13 w 38"/>
                  <a:gd name="T7" fmla="*/ 37 h 37"/>
                  <a:gd name="T8" fmla="*/ 26 w 38"/>
                  <a:gd name="T9" fmla="*/ 23 h 37"/>
                </a:gdLst>
                <a:ahLst/>
                <a:cxnLst>
                  <a:cxn ang="0">
                    <a:pos x="T0" y="T1"/>
                  </a:cxn>
                  <a:cxn ang="0">
                    <a:pos x="T2" y="T3"/>
                  </a:cxn>
                  <a:cxn ang="0">
                    <a:pos x="T4" y="T5"/>
                  </a:cxn>
                  <a:cxn ang="0">
                    <a:pos x="T6" y="T7"/>
                  </a:cxn>
                  <a:cxn ang="0">
                    <a:pos x="T8" y="T9"/>
                  </a:cxn>
                </a:cxnLst>
                <a:rect l="0" t="0" r="r" b="b"/>
                <a:pathLst>
                  <a:path w="38" h="37">
                    <a:moveTo>
                      <a:pt x="26" y="23"/>
                    </a:moveTo>
                    <a:cubicBezTo>
                      <a:pt x="29" y="19"/>
                      <a:pt x="34" y="14"/>
                      <a:pt x="38" y="10"/>
                    </a:cubicBezTo>
                    <a:cubicBezTo>
                      <a:pt x="0" y="0"/>
                      <a:pt x="0" y="0"/>
                      <a:pt x="0" y="0"/>
                    </a:cubicBezTo>
                    <a:cubicBezTo>
                      <a:pt x="13" y="37"/>
                      <a:pt x="13" y="37"/>
                      <a:pt x="13" y="37"/>
                    </a:cubicBezTo>
                    <a:cubicBezTo>
                      <a:pt x="17" y="33"/>
                      <a:pt x="22" y="27"/>
                      <a:pt x="26" y="2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0" name="Freeform 75">
                <a:extLst>
                  <a:ext uri="{FF2B5EF4-FFF2-40B4-BE49-F238E27FC236}">
                    <a16:creationId xmlns:a16="http://schemas.microsoft.com/office/drawing/2014/main" id="{69C35B10-6DA5-4A79-93F8-CC62A6974C55}"/>
                  </a:ext>
                </a:extLst>
              </p:cNvPr>
              <p:cNvSpPr>
                <a:spLocks/>
              </p:cNvSpPr>
              <p:nvPr/>
            </p:nvSpPr>
            <p:spPr bwMode="auto">
              <a:xfrm>
                <a:off x="7862888" y="8726488"/>
                <a:ext cx="122238" cy="107950"/>
              </a:xfrm>
              <a:custGeom>
                <a:avLst/>
                <a:gdLst>
                  <a:gd name="T0" fmla="*/ 29 w 38"/>
                  <a:gd name="T1" fmla="*/ 16 h 33"/>
                  <a:gd name="T2" fmla="*/ 38 w 38"/>
                  <a:gd name="T3" fmla="*/ 2 h 33"/>
                  <a:gd name="T4" fmla="*/ 0 w 38"/>
                  <a:gd name="T5" fmla="*/ 0 h 33"/>
                  <a:gd name="T6" fmla="*/ 21 w 38"/>
                  <a:gd name="T7" fmla="*/ 33 h 33"/>
                  <a:gd name="T8" fmla="*/ 29 w 38"/>
                  <a:gd name="T9" fmla="*/ 16 h 33"/>
                </a:gdLst>
                <a:ahLst/>
                <a:cxnLst>
                  <a:cxn ang="0">
                    <a:pos x="T0" y="T1"/>
                  </a:cxn>
                  <a:cxn ang="0">
                    <a:pos x="T2" y="T3"/>
                  </a:cxn>
                  <a:cxn ang="0">
                    <a:pos x="T4" y="T5"/>
                  </a:cxn>
                  <a:cxn ang="0">
                    <a:pos x="T6" y="T7"/>
                  </a:cxn>
                  <a:cxn ang="0">
                    <a:pos x="T8" y="T9"/>
                  </a:cxn>
                </a:cxnLst>
                <a:rect l="0" t="0" r="r" b="b"/>
                <a:pathLst>
                  <a:path w="38" h="33">
                    <a:moveTo>
                      <a:pt x="29" y="16"/>
                    </a:moveTo>
                    <a:cubicBezTo>
                      <a:pt x="33" y="11"/>
                      <a:pt x="36" y="6"/>
                      <a:pt x="38" y="2"/>
                    </a:cubicBezTo>
                    <a:cubicBezTo>
                      <a:pt x="0" y="0"/>
                      <a:pt x="0" y="0"/>
                      <a:pt x="0" y="0"/>
                    </a:cubicBezTo>
                    <a:cubicBezTo>
                      <a:pt x="21" y="33"/>
                      <a:pt x="21" y="33"/>
                      <a:pt x="21" y="33"/>
                    </a:cubicBezTo>
                    <a:cubicBezTo>
                      <a:pt x="23" y="28"/>
                      <a:pt x="26" y="21"/>
                      <a:pt x="29"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1" name="Freeform 76">
                <a:extLst>
                  <a:ext uri="{FF2B5EF4-FFF2-40B4-BE49-F238E27FC236}">
                    <a16:creationId xmlns:a16="http://schemas.microsoft.com/office/drawing/2014/main" id="{E21C72C8-3BBD-4413-B27A-7758DF3C621C}"/>
                  </a:ext>
                </a:extLst>
              </p:cNvPr>
              <p:cNvSpPr>
                <a:spLocks/>
              </p:cNvSpPr>
              <p:nvPr/>
            </p:nvSpPr>
            <p:spPr bwMode="auto">
              <a:xfrm>
                <a:off x="7805738" y="8837613"/>
                <a:ext cx="120650" cy="111125"/>
              </a:xfrm>
              <a:custGeom>
                <a:avLst/>
                <a:gdLst>
                  <a:gd name="T0" fmla="*/ 30 w 38"/>
                  <a:gd name="T1" fmla="*/ 17 h 34"/>
                  <a:gd name="T2" fmla="*/ 38 w 38"/>
                  <a:gd name="T3" fmla="*/ 0 h 34"/>
                  <a:gd name="T4" fmla="*/ 0 w 38"/>
                  <a:gd name="T5" fmla="*/ 2 h 34"/>
                  <a:gd name="T6" fmla="*/ 22 w 38"/>
                  <a:gd name="T7" fmla="*/ 34 h 34"/>
                  <a:gd name="T8" fmla="*/ 30 w 38"/>
                  <a:gd name="T9" fmla="*/ 17 h 34"/>
                </a:gdLst>
                <a:ahLst/>
                <a:cxnLst>
                  <a:cxn ang="0">
                    <a:pos x="T0" y="T1"/>
                  </a:cxn>
                  <a:cxn ang="0">
                    <a:pos x="T2" y="T3"/>
                  </a:cxn>
                  <a:cxn ang="0">
                    <a:pos x="T4" y="T5"/>
                  </a:cxn>
                  <a:cxn ang="0">
                    <a:pos x="T6" y="T7"/>
                  </a:cxn>
                  <a:cxn ang="0">
                    <a:pos x="T8" y="T9"/>
                  </a:cxn>
                </a:cxnLst>
                <a:rect l="0" t="0" r="r" b="b"/>
                <a:pathLst>
                  <a:path w="38" h="34">
                    <a:moveTo>
                      <a:pt x="30" y="17"/>
                    </a:moveTo>
                    <a:cubicBezTo>
                      <a:pt x="32" y="11"/>
                      <a:pt x="35" y="6"/>
                      <a:pt x="38" y="0"/>
                    </a:cubicBezTo>
                    <a:cubicBezTo>
                      <a:pt x="0" y="2"/>
                      <a:pt x="0" y="2"/>
                      <a:pt x="0" y="2"/>
                    </a:cubicBezTo>
                    <a:cubicBezTo>
                      <a:pt x="22" y="34"/>
                      <a:pt x="22" y="34"/>
                      <a:pt x="22" y="34"/>
                    </a:cubicBezTo>
                    <a:cubicBezTo>
                      <a:pt x="25" y="28"/>
                      <a:pt x="28" y="22"/>
                      <a:pt x="30"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2" name="Freeform 77">
                <a:extLst>
                  <a:ext uri="{FF2B5EF4-FFF2-40B4-BE49-F238E27FC236}">
                    <a16:creationId xmlns:a16="http://schemas.microsoft.com/office/drawing/2014/main" id="{D08CE79D-E296-4C88-89A4-A6285FDAC58A}"/>
                  </a:ext>
                </a:extLst>
              </p:cNvPr>
              <p:cNvSpPr>
                <a:spLocks/>
              </p:cNvSpPr>
              <p:nvPr/>
            </p:nvSpPr>
            <p:spPr bwMode="auto">
              <a:xfrm>
                <a:off x="7935913" y="10028238"/>
                <a:ext cx="125413" cy="106363"/>
              </a:xfrm>
              <a:custGeom>
                <a:avLst/>
                <a:gdLst>
                  <a:gd name="T0" fmla="*/ 27 w 39"/>
                  <a:gd name="T1" fmla="*/ 14 h 33"/>
                  <a:gd name="T2" fmla="*/ 17 w 39"/>
                  <a:gd name="T3" fmla="*/ 0 h 33"/>
                  <a:gd name="T4" fmla="*/ 0 w 39"/>
                  <a:gd name="T5" fmla="*/ 33 h 33"/>
                  <a:gd name="T6" fmla="*/ 39 w 39"/>
                  <a:gd name="T7" fmla="*/ 29 h 33"/>
                  <a:gd name="T8" fmla="*/ 27 w 39"/>
                  <a:gd name="T9" fmla="*/ 14 h 33"/>
                </a:gdLst>
                <a:ahLst/>
                <a:cxnLst>
                  <a:cxn ang="0">
                    <a:pos x="T0" y="T1"/>
                  </a:cxn>
                  <a:cxn ang="0">
                    <a:pos x="T2" y="T3"/>
                  </a:cxn>
                  <a:cxn ang="0">
                    <a:pos x="T4" y="T5"/>
                  </a:cxn>
                  <a:cxn ang="0">
                    <a:pos x="T6" y="T7"/>
                  </a:cxn>
                  <a:cxn ang="0">
                    <a:pos x="T8" y="T9"/>
                  </a:cxn>
                </a:cxnLst>
                <a:rect l="0" t="0" r="r" b="b"/>
                <a:pathLst>
                  <a:path w="39" h="33">
                    <a:moveTo>
                      <a:pt x="27" y="14"/>
                    </a:moveTo>
                    <a:cubicBezTo>
                      <a:pt x="24" y="8"/>
                      <a:pt x="21" y="4"/>
                      <a:pt x="17" y="0"/>
                    </a:cubicBezTo>
                    <a:cubicBezTo>
                      <a:pt x="0" y="33"/>
                      <a:pt x="0" y="33"/>
                      <a:pt x="0" y="33"/>
                    </a:cubicBezTo>
                    <a:cubicBezTo>
                      <a:pt x="39" y="29"/>
                      <a:pt x="39" y="29"/>
                      <a:pt x="39" y="29"/>
                    </a:cubicBezTo>
                    <a:cubicBezTo>
                      <a:pt x="36" y="23"/>
                      <a:pt x="31" y="18"/>
                      <a:pt x="27" y="1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3" name="Freeform 78">
                <a:extLst>
                  <a:ext uri="{FF2B5EF4-FFF2-40B4-BE49-F238E27FC236}">
                    <a16:creationId xmlns:a16="http://schemas.microsoft.com/office/drawing/2014/main" id="{91BCF79C-D88F-4A42-BE2D-D02ABF991004}"/>
                  </a:ext>
                </a:extLst>
              </p:cNvPr>
              <p:cNvSpPr>
                <a:spLocks/>
              </p:cNvSpPr>
              <p:nvPr/>
            </p:nvSpPr>
            <p:spPr bwMode="auto">
              <a:xfrm>
                <a:off x="7753350" y="8951913"/>
                <a:ext cx="122238" cy="114300"/>
              </a:xfrm>
              <a:custGeom>
                <a:avLst/>
                <a:gdLst>
                  <a:gd name="T0" fmla="*/ 32 w 38"/>
                  <a:gd name="T1" fmla="*/ 16 h 35"/>
                  <a:gd name="T2" fmla="*/ 38 w 38"/>
                  <a:gd name="T3" fmla="*/ 0 h 35"/>
                  <a:gd name="T4" fmla="*/ 0 w 38"/>
                  <a:gd name="T5" fmla="*/ 7 h 35"/>
                  <a:gd name="T6" fmla="*/ 26 w 38"/>
                  <a:gd name="T7" fmla="*/ 35 h 35"/>
                  <a:gd name="T8" fmla="*/ 32 w 38"/>
                  <a:gd name="T9" fmla="*/ 16 h 35"/>
                </a:gdLst>
                <a:ahLst/>
                <a:cxnLst>
                  <a:cxn ang="0">
                    <a:pos x="T0" y="T1"/>
                  </a:cxn>
                  <a:cxn ang="0">
                    <a:pos x="T2" y="T3"/>
                  </a:cxn>
                  <a:cxn ang="0">
                    <a:pos x="T4" y="T5"/>
                  </a:cxn>
                  <a:cxn ang="0">
                    <a:pos x="T6" y="T7"/>
                  </a:cxn>
                  <a:cxn ang="0">
                    <a:pos x="T8" y="T9"/>
                  </a:cxn>
                </a:cxnLst>
                <a:rect l="0" t="0" r="r" b="b"/>
                <a:pathLst>
                  <a:path w="38" h="35">
                    <a:moveTo>
                      <a:pt x="32" y="16"/>
                    </a:moveTo>
                    <a:cubicBezTo>
                      <a:pt x="34" y="11"/>
                      <a:pt x="36" y="6"/>
                      <a:pt x="38" y="0"/>
                    </a:cubicBezTo>
                    <a:cubicBezTo>
                      <a:pt x="0" y="7"/>
                      <a:pt x="0" y="7"/>
                      <a:pt x="0" y="7"/>
                    </a:cubicBezTo>
                    <a:cubicBezTo>
                      <a:pt x="26" y="35"/>
                      <a:pt x="26" y="35"/>
                      <a:pt x="26" y="35"/>
                    </a:cubicBezTo>
                    <a:cubicBezTo>
                      <a:pt x="29" y="29"/>
                      <a:pt x="31" y="23"/>
                      <a:pt x="32"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4" name="Freeform 79">
                <a:extLst>
                  <a:ext uri="{FF2B5EF4-FFF2-40B4-BE49-F238E27FC236}">
                    <a16:creationId xmlns:a16="http://schemas.microsoft.com/office/drawing/2014/main" id="{32C4207C-66DE-4A7C-A220-9283127D928A}"/>
                  </a:ext>
                </a:extLst>
              </p:cNvPr>
              <p:cNvSpPr>
                <a:spLocks/>
              </p:cNvSpPr>
              <p:nvPr/>
            </p:nvSpPr>
            <p:spPr bwMode="auto">
              <a:xfrm>
                <a:off x="7699375" y="9193213"/>
                <a:ext cx="115888" cy="117475"/>
              </a:xfrm>
              <a:custGeom>
                <a:avLst/>
                <a:gdLst>
                  <a:gd name="T0" fmla="*/ 34 w 36"/>
                  <a:gd name="T1" fmla="*/ 17 h 36"/>
                  <a:gd name="T2" fmla="*/ 36 w 36"/>
                  <a:gd name="T3" fmla="*/ 0 h 36"/>
                  <a:gd name="T4" fmla="*/ 0 w 36"/>
                  <a:gd name="T5" fmla="*/ 14 h 36"/>
                  <a:gd name="T6" fmla="*/ 31 w 36"/>
                  <a:gd name="T7" fmla="*/ 36 h 36"/>
                  <a:gd name="T8" fmla="*/ 34 w 36"/>
                  <a:gd name="T9" fmla="*/ 17 h 36"/>
                </a:gdLst>
                <a:ahLst/>
                <a:cxnLst>
                  <a:cxn ang="0">
                    <a:pos x="T0" y="T1"/>
                  </a:cxn>
                  <a:cxn ang="0">
                    <a:pos x="T2" y="T3"/>
                  </a:cxn>
                  <a:cxn ang="0">
                    <a:pos x="T4" y="T5"/>
                  </a:cxn>
                  <a:cxn ang="0">
                    <a:pos x="T6" y="T7"/>
                  </a:cxn>
                  <a:cxn ang="0">
                    <a:pos x="T8" y="T9"/>
                  </a:cxn>
                </a:cxnLst>
                <a:rect l="0" t="0" r="r" b="b"/>
                <a:pathLst>
                  <a:path w="36" h="36">
                    <a:moveTo>
                      <a:pt x="34" y="17"/>
                    </a:moveTo>
                    <a:cubicBezTo>
                      <a:pt x="34" y="11"/>
                      <a:pt x="35" y="5"/>
                      <a:pt x="36" y="0"/>
                    </a:cubicBezTo>
                    <a:cubicBezTo>
                      <a:pt x="0" y="14"/>
                      <a:pt x="0" y="14"/>
                      <a:pt x="0" y="14"/>
                    </a:cubicBezTo>
                    <a:cubicBezTo>
                      <a:pt x="31" y="36"/>
                      <a:pt x="31" y="36"/>
                      <a:pt x="31" y="36"/>
                    </a:cubicBezTo>
                    <a:cubicBezTo>
                      <a:pt x="33" y="30"/>
                      <a:pt x="33" y="24"/>
                      <a:pt x="34"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5" name="Freeform 80">
                <a:extLst>
                  <a:ext uri="{FF2B5EF4-FFF2-40B4-BE49-F238E27FC236}">
                    <a16:creationId xmlns:a16="http://schemas.microsoft.com/office/drawing/2014/main" id="{0EF4A18B-2603-4147-A166-863E67AFD46D}"/>
                  </a:ext>
                </a:extLst>
              </p:cNvPr>
              <p:cNvSpPr>
                <a:spLocks/>
              </p:cNvSpPr>
              <p:nvPr/>
            </p:nvSpPr>
            <p:spPr bwMode="auto">
              <a:xfrm>
                <a:off x="7718425" y="9072563"/>
                <a:ext cx="119063" cy="117475"/>
              </a:xfrm>
              <a:custGeom>
                <a:avLst/>
                <a:gdLst>
                  <a:gd name="T0" fmla="*/ 33 w 37"/>
                  <a:gd name="T1" fmla="*/ 16 h 36"/>
                  <a:gd name="T2" fmla="*/ 37 w 37"/>
                  <a:gd name="T3" fmla="*/ 0 h 36"/>
                  <a:gd name="T4" fmla="*/ 0 w 37"/>
                  <a:gd name="T5" fmla="*/ 10 h 36"/>
                  <a:gd name="T6" fmla="*/ 30 w 37"/>
                  <a:gd name="T7" fmla="*/ 36 h 36"/>
                  <a:gd name="T8" fmla="*/ 33 w 37"/>
                  <a:gd name="T9" fmla="*/ 16 h 36"/>
                </a:gdLst>
                <a:ahLst/>
                <a:cxnLst>
                  <a:cxn ang="0">
                    <a:pos x="T0" y="T1"/>
                  </a:cxn>
                  <a:cxn ang="0">
                    <a:pos x="T2" y="T3"/>
                  </a:cxn>
                  <a:cxn ang="0">
                    <a:pos x="T4" y="T5"/>
                  </a:cxn>
                  <a:cxn ang="0">
                    <a:pos x="T6" y="T7"/>
                  </a:cxn>
                  <a:cxn ang="0">
                    <a:pos x="T8" y="T9"/>
                  </a:cxn>
                </a:cxnLst>
                <a:rect l="0" t="0" r="r" b="b"/>
                <a:pathLst>
                  <a:path w="37" h="36">
                    <a:moveTo>
                      <a:pt x="33" y="16"/>
                    </a:moveTo>
                    <a:cubicBezTo>
                      <a:pt x="34" y="11"/>
                      <a:pt x="36" y="6"/>
                      <a:pt x="37" y="0"/>
                    </a:cubicBezTo>
                    <a:cubicBezTo>
                      <a:pt x="0" y="10"/>
                      <a:pt x="0" y="10"/>
                      <a:pt x="0" y="10"/>
                    </a:cubicBezTo>
                    <a:cubicBezTo>
                      <a:pt x="30" y="36"/>
                      <a:pt x="30" y="36"/>
                      <a:pt x="30" y="36"/>
                    </a:cubicBezTo>
                    <a:cubicBezTo>
                      <a:pt x="31" y="29"/>
                      <a:pt x="32" y="23"/>
                      <a:pt x="33"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grpSp>
        <p:grpSp>
          <p:nvGrpSpPr>
            <p:cNvPr id="145" name="Group 144">
              <a:extLst>
                <a:ext uri="{FF2B5EF4-FFF2-40B4-BE49-F238E27FC236}">
                  <a16:creationId xmlns:a16="http://schemas.microsoft.com/office/drawing/2014/main" id="{35CC7C83-AECE-4397-BF23-FD38FB9AD904}"/>
                </a:ext>
              </a:extLst>
            </p:cNvPr>
            <p:cNvGrpSpPr/>
            <p:nvPr/>
          </p:nvGrpSpPr>
          <p:grpSpPr>
            <a:xfrm>
              <a:off x="10197128" y="14781024"/>
              <a:ext cx="4100716" cy="1026626"/>
              <a:chOff x="7289800" y="11063288"/>
              <a:chExt cx="3373438" cy="844550"/>
            </a:xfrm>
          </p:grpSpPr>
          <p:sp>
            <p:nvSpPr>
              <p:cNvPr id="147" name="Rectangle 81">
                <a:extLst>
                  <a:ext uri="{FF2B5EF4-FFF2-40B4-BE49-F238E27FC236}">
                    <a16:creationId xmlns:a16="http://schemas.microsoft.com/office/drawing/2014/main" id="{9EBBAD1C-7909-46EC-8D48-727E0901BD8D}"/>
                  </a:ext>
                </a:extLst>
              </p:cNvPr>
              <p:cNvSpPr>
                <a:spLocks noChangeArrowheads="1"/>
              </p:cNvSpPr>
              <p:nvPr userDrawn="1"/>
            </p:nvSpPr>
            <p:spPr bwMode="auto">
              <a:xfrm>
                <a:off x="7289800" y="11063288"/>
                <a:ext cx="3373438" cy="8445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ZA" sz="900" dirty="0"/>
              </a:p>
            </p:txBody>
          </p:sp>
          <p:sp>
            <p:nvSpPr>
              <p:cNvPr id="148" name="Freeform 82">
                <a:extLst>
                  <a:ext uri="{FF2B5EF4-FFF2-40B4-BE49-F238E27FC236}">
                    <a16:creationId xmlns:a16="http://schemas.microsoft.com/office/drawing/2014/main" id="{6C1F6E04-DA8E-4B00-AADA-185521D07E97}"/>
                  </a:ext>
                </a:extLst>
              </p:cNvPr>
              <p:cNvSpPr>
                <a:spLocks/>
              </p:cNvSpPr>
              <p:nvPr/>
            </p:nvSpPr>
            <p:spPr bwMode="auto">
              <a:xfrm>
                <a:off x="7334250" y="11699876"/>
                <a:ext cx="3286125" cy="165100"/>
              </a:xfrm>
              <a:custGeom>
                <a:avLst/>
                <a:gdLst>
                  <a:gd name="T0" fmla="*/ 2070 w 2070"/>
                  <a:gd name="T1" fmla="*/ 0 h 104"/>
                  <a:gd name="T2" fmla="*/ 1035 w 2070"/>
                  <a:gd name="T3" fmla="*/ 0 h 104"/>
                  <a:gd name="T4" fmla="*/ 1035 w 2070"/>
                  <a:gd name="T5" fmla="*/ 33 h 104"/>
                  <a:gd name="T6" fmla="*/ 0 w 2070"/>
                  <a:gd name="T7" fmla="*/ 33 h 104"/>
                  <a:gd name="T8" fmla="*/ 0 w 2070"/>
                  <a:gd name="T9" fmla="*/ 104 h 104"/>
                  <a:gd name="T10" fmla="*/ 1065 w 2070"/>
                  <a:gd name="T11" fmla="*/ 104 h 104"/>
                  <a:gd name="T12" fmla="*/ 1065 w 2070"/>
                  <a:gd name="T13" fmla="*/ 104 h 104"/>
                  <a:gd name="T14" fmla="*/ 2070 w 2070"/>
                  <a:gd name="T15" fmla="*/ 104 h 104"/>
                  <a:gd name="T16" fmla="*/ 2070 w 2070"/>
                  <a:gd name="T17"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70" h="104">
                    <a:moveTo>
                      <a:pt x="2070" y="0"/>
                    </a:moveTo>
                    <a:lnTo>
                      <a:pt x="1035" y="0"/>
                    </a:lnTo>
                    <a:lnTo>
                      <a:pt x="1035" y="33"/>
                    </a:lnTo>
                    <a:lnTo>
                      <a:pt x="0" y="33"/>
                    </a:lnTo>
                    <a:lnTo>
                      <a:pt x="0" y="104"/>
                    </a:lnTo>
                    <a:lnTo>
                      <a:pt x="1065" y="104"/>
                    </a:lnTo>
                    <a:lnTo>
                      <a:pt x="1065" y="104"/>
                    </a:lnTo>
                    <a:lnTo>
                      <a:pt x="2070" y="104"/>
                    </a:lnTo>
                    <a:lnTo>
                      <a:pt x="2070" y="0"/>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49" name="Freeform 83">
                <a:extLst>
                  <a:ext uri="{FF2B5EF4-FFF2-40B4-BE49-F238E27FC236}">
                    <a16:creationId xmlns:a16="http://schemas.microsoft.com/office/drawing/2014/main" id="{9C51FFD3-EEAF-495F-92C1-6FA95D2BDD57}"/>
                  </a:ext>
                </a:extLst>
              </p:cNvPr>
              <p:cNvSpPr>
                <a:spLocks noEditPoints="1"/>
              </p:cNvSpPr>
              <p:nvPr/>
            </p:nvSpPr>
            <p:spPr bwMode="auto">
              <a:xfrm>
                <a:off x="7440613" y="11106151"/>
                <a:ext cx="3074988" cy="430213"/>
              </a:xfrm>
              <a:custGeom>
                <a:avLst/>
                <a:gdLst>
                  <a:gd name="T0" fmla="*/ 1735 w 1937"/>
                  <a:gd name="T1" fmla="*/ 170 h 271"/>
                  <a:gd name="T2" fmla="*/ 1937 w 1937"/>
                  <a:gd name="T3" fmla="*/ 170 h 271"/>
                  <a:gd name="T4" fmla="*/ 1937 w 1937"/>
                  <a:gd name="T5" fmla="*/ 238 h 271"/>
                  <a:gd name="T6" fmla="*/ 1808 w 1937"/>
                  <a:gd name="T7" fmla="*/ 271 h 271"/>
                  <a:gd name="T8" fmla="*/ 1463 w 1937"/>
                  <a:gd name="T9" fmla="*/ 271 h 271"/>
                  <a:gd name="T10" fmla="*/ 1333 w 1937"/>
                  <a:gd name="T11" fmla="*/ 236 h 271"/>
                  <a:gd name="T12" fmla="*/ 1333 w 1937"/>
                  <a:gd name="T13" fmla="*/ 35 h 271"/>
                  <a:gd name="T14" fmla="*/ 1463 w 1937"/>
                  <a:gd name="T15" fmla="*/ 0 h 271"/>
                  <a:gd name="T16" fmla="*/ 1808 w 1937"/>
                  <a:gd name="T17" fmla="*/ 0 h 271"/>
                  <a:gd name="T18" fmla="*/ 1937 w 1937"/>
                  <a:gd name="T19" fmla="*/ 31 h 271"/>
                  <a:gd name="T20" fmla="*/ 1937 w 1937"/>
                  <a:gd name="T21" fmla="*/ 101 h 271"/>
                  <a:gd name="T22" fmla="*/ 1735 w 1937"/>
                  <a:gd name="T23" fmla="*/ 101 h 271"/>
                  <a:gd name="T24" fmla="*/ 1735 w 1937"/>
                  <a:gd name="T25" fmla="*/ 68 h 271"/>
                  <a:gd name="T26" fmla="*/ 1533 w 1937"/>
                  <a:gd name="T27" fmla="*/ 68 h 271"/>
                  <a:gd name="T28" fmla="*/ 1533 w 1937"/>
                  <a:gd name="T29" fmla="*/ 203 h 271"/>
                  <a:gd name="T30" fmla="*/ 1735 w 1937"/>
                  <a:gd name="T31" fmla="*/ 203 h 271"/>
                  <a:gd name="T32" fmla="*/ 1735 w 1937"/>
                  <a:gd name="T33" fmla="*/ 170 h 271"/>
                  <a:gd name="T34" fmla="*/ 197 w 1937"/>
                  <a:gd name="T35" fmla="*/ 133 h 271"/>
                  <a:gd name="T36" fmla="*/ 401 w 1937"/>
                  <a:gd name="T37" fmla="*/ 133 h 271"/>
                  <a:gd name="T38" fmla="*/ 401 w 1937"/>
                  <a:gd name="T39" fmla="*/ 68 h 271"/>
                  <a:gd name="T40" fmla="*/ 197 w 1937"/>
                  <a:gd name="T41" fmla="*/ 68 h 271"/>
                  <a:gd name="T42" fmla="*/ 197 w 1937"/>
                  <a:gd name="T43" fmla="*/ 133 h 271"/>
                  <a:gd name="T44" fmla="*/ 0 w 1937"/>
                  <a:gd name="T45" fmla="*/ 0 h 271"/>
                  <a:gd name="T46" fmla="*/ 472 w 1937"/>
                  <a:gd name="T47" fmla="*/ 0 h 271"/>
                  <a:gd name="T48" fmla="*/ 601 w 1937"/>
                  <a:gd name="T49" fmla="*/ 35 h 271"/>
                  <a:gd name="T50" fmla="*/ 601 w 1937"/>
                  <a:gd name="T51" fmla="*/ 170 h 271"/>
                  <a:gd name="T52" fmla="*/ 472 w 1937"/>
                  <a:gd name="T53" fmla="*/ 207 h 271"/>
                  <a:gd name="T54" fmla="*/ 197 w 1937"/>
                  <a:gd name="T55" fmla="*/ 207 h 271"/>
                  <a:gd name="T56" fmla="*/ 197 w 1937"/>
                  <a:gd name="T57" fmla="*/ 271 h 271"/>
                  <a:gd name="T58" fmla="*/ 0 w 1937"/>
                  <a:gd name="T59" fmla="*/ 271 h 271"/>
                  <a:gd name="T60" fmla="*/ 0 w 1937"/>
                  <a:gd name="T61" fmla="*/ 0 h 271"/>
                  <a:gd name="T62" fmla="*/ 867 w 1937"/>
                  <a:gd name="T63" fmla="*/ 133 h 271"/>
                  <a:gd name="T64" fmla="*/ 1069 w 1937"/>
                  <a:gd name="T65" fmla="*/ 133 h 271"/>
                  <a:gd name="T66" fmla="*/ 1069 w 1937"/>
                  <a:gd name="T67" fmla="*/ 68 h 271"/>
                  <a:gd name="T68" fmla="*/ 867 w 1937"/>
                  <a:gd name="T69" fmla="*/ 68 h 271"/>
                  <a:gd name="T70" fmla="*/ 867 w 1937"/>
                  <a:gd name="T71" fmla="*/ 133 h 271"/>
                  <a:gd name="T72" fmla="*/ 668 w 1937"/>
                  <a:gd name="T73" fmla="*/ 0 h 271"/>
                  <a:gd name="T74" fmla="*/ 1142 w 1937"/>
                  <a:gd name="T75" fmla="*/ 0 h 271"/>
                  <a:gd name="T76" fmla="*/ 1269 w 1937"/>
                  <a:gd name="T77" fmla="*/ 35 h 271"/>
                  <a:gd name="T78" fmla="*/ 1269 w 1937"/>
                  <a:gd name="T79" fmla="*/ 170 h 271"/>
                  <a:gd name="T80" fmla="*/ 1140 w 1937"/>
                  <a:gd name="T81" fmla="*/ 207 h 271"/>
                  <a:gd name="T82" fmla="*/ 867 w 1937"/>
                  <a:gd name="T83" fmla="*/ 207 h 271"/>
                  <a:gd name="T84" fmla="*/ 867 w 1937"/>
                  <a:gd name="T85" fmla="*/ 271 h 271"/>
                  <a:gd name="T86" fmla="*/ 668 w 1937"/>
                  <a:gd name="T87" fmla="*/ 271 h 271"/>
                  <a:gd name="T88" fmla="*/ 668 w 1937"/>
                  <a:gd name="T89"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37" h="271">
                    <a:moveTo>
                      <a:pt x="1735" y="170"/>
                    </a:moveTo>
                    <a:lnTo>
                      <a:pt x="1937" y="170"/>
                    </a:lnTo>
                    <a:lnTo>
                      <a:pt x="1937" y="238"/>
                    </a:lnTo>
                    <a:lnTo>
                      <a:pt x="1808" y="271"/>
                    </a:lnTo>
                    <a:lnTo>
                      <a:pt x="1463" y="271"/>
                    </a:lnTo>
                    <a:lnTo>
                      <a:pt x="1333" y="236"/>
                    </a:lnTo>
                    <a:lnTo>
                      <a:pt x="1333" y="35"/>
                    </a:lnTo>
                    <a:lnTo>
                      <a:pt x="1463" y="0"/>
                    </a:lnTo>
                    <a:lnTo>
                      <a:pt x="1808" y="0"/>
                    </a:lnTo>
                    <a:lnTo>
                      <a:pt x="1937" y="31"/>
                    </a:lnTo>
                    <a:lnTo>
                      <a:pt x="1937" y="101"/>
                    </a:lnTo>
                    <a:lnTo>
                      <a:pt x="1735" y="101"/>
                    </a:lnTo>
                    <a:lnTo>
                      <a:pt x="1735" y="68"/>
                    </a:lnTo>
                    <a:lnTo>
                      <a:pt x="1533" y="68"/>
                    </a:lnTo>
                    <a:lnTo>
                      <a:pt x="1533" y="203"/>
                    </a:lnTo>
                    <a:lnTo>
                      <a:pt x="1735" y="203"/>
                    </a:lnTo>
                    <a:lnTo>
                      <a:pt x="1735" y="170"/>
                    </a:lnTo>
                    <a:close/>
                    <a:moveTo>
                      <a:pt x="197" y="133"/>
                    </a:moveTo>
                    <a:lnTo>
                      <a:pt x="401" y="133"/>
                    </a:lnTo>
                    <a:lnTo>
                      <a:pt x="401" y="68"/>
                    </a:lnTo>
                    <a:lnTo>
                      <a:pt x="197" y="68"/>
                    </a:lnTo>
                    <a:lnTo>
                      <a:pt x="197" y="133"/>
                    </a:lnTo>
                    <a:close/>
                    <a:moveTo>
                      <a:pt x="0" y="0"/>
                    </a:moveTo>
                    <a:lnTo>
                      <a:pt x="472" y="0"/>
                    </a:lnTo>
                    <a:lnTo>
                      <a:pt x="601" y="35"/>
                    </a:lnTo>
                    <a:lnTo>
                      <a:pt x="601" y="170"/>
                    </a:lnTo>
                    <a:lnTo>
                      <a:pt x="472" y="207"/>
                    </a:lnTo>
                    <a:lnTo>
                      <a:pt x="197" y="207"/>
                    </a:lnTo>
                    <a:lnTo>
                      <a:pt x="197" y="271"/>
                    </a:lnTo>
                    <a:lnTo>
                      <a:pt x="0" y="271"/>
                    </a:lnTo>
                    <a:lnTo>
                      <a:pt x="0" y="0"/>
                    </a:lnTo>
                    <a:close/>
                    <a:moveTo>
                      <a:pt x="867" y="133"/>
                    </a:moveTo>
                    <a:lnTo>
                      <a:pt x="1069" y="133"/>
                    </a:lnTo>
                    <a:lnTo>
                      <a:pt x="1069" y="68"/>
                    </a:lnTo>
                    <a:lnTo>
                      <a:pt x="867" y="68"/>
                    </a:lnTo>
                    <a:lnTo>
                      <a:pt x="867" y="133"/>
                    </a:lnTo>
                    <a:close/>
                    <a:moveTo>
                      <a:pt x="668" y="0"/>
                    </a:moveTo>
                    <a:lnTo>
                      <a:pt x="1142" y="0"/>
                    </a:lnTo>
                    <a:lnTo>
                      <a:pt x="1269" y="35"/>
                    </a:lnTo>
                    <a:lnTo>
                      <a:pt x="1269" y="170"/>
                    </a:lnTo>
                    <a:lnTo>
                      <a:pt x="1140" y="207"/>
                    </a:lnTo>
                    <a:lnTo>
                      <a:pt x="867" y="207"/>
                    </a:lnTo>
                    <a:lnTo>
                      <a:pt x="867" y="271"/>
                    </a:lnTo>
                    <a:lnTo>
                      <a:pt x="668" y="271"/>
                    </a:lnTo>
                    <a:lnTo>
                      <a:pt x="668"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dirty="0"/>
              </a:p>
            </p:txBody>
          </p:sp>
        </p:grpSp>
      </p:grpSp>
    </p:spTree>
    <p:extLst>
      <p:ext uri="{BB962C8B-B14F-4D97-AF65-F5344CB8AC3E}">
        <p14:creationId xmlns:p14="http://schemas.microsoft.com/office/powerpoint/2010/main" val="73323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wipe(left)">
                                      <p:cBhvr>
                                        <p:cTn id="7" dur="500"/>
                                        <p:tgtEl>
                                          <p:spTgt spid="14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36"/>
                                        </p:tgtEl>
                                        <p:attrNameLst>
                                          <p:attrName>style.visibility</p:attrName>
                                        </p:attrNameLst>
                                      </p:cBhvr>
                                      <p:to>
                                        <p:strVal val="visible"/>
                                      </p:to>
                                    </p:set>
                                    <p:animEffect transition="in" filter="wipe(up)">
                                      <p:cBhvr>
                                        <p:cTn id="10" dur="500"/>
                                        <p:tgtEl>
                                          <p:spTgt spid="136"/>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38"/>
                                        </p:tgtEl>
                                        <p:attrNameLst>
                                          <p:attrName>style.visibility</p:attrName>
                                        </p:attrNameLst>
                                      </p:cBhvr>
                                      <p:to>
                                        <p:strVal val="visible"/>
                                      </p:to>
                                    </p:set>
                                    <p:animEffect transition="in" filter="fade">
                                      <p:cBhvr>
                                        <p:cTn id="14"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animBg="1"/>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ver Slide - Option 2 with Imag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4785B4-1C4B-42C3-9BD2-7A03E4EF687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0" y="0"/>
            <a:ext cx="12191206" cy="4957763"/>
          </a:xfrm>
          <a:prstGeom prst="rect">
            <a:avLst/>
          </a:prstGeom>
        </p:spPr>
      </p:pic>
      <p:sp>
        <p:nvSpPr>
          <p:cNvPr id="143" name="Text Placeholder 132">
            <a:extLst>
              <a:ext uri="{FF2B5EF4-FFF2-40B4-BE49-F238E27FC236}">
                <a16:creationId xmlns:a16="http://schemas.microsoft.com/office/drawing/2014/main" id="{EB6898BB-CD58-422D-B824-D06DE8ACA188}"/>
              </a:ext>
            </a:extLst>
          </p:cNvPr>
          <p:cNvSpPr>
            <a:spLocks noGrp="1"/>
          </p:cNvSpPr>
          <p:nvPr>
            <p:ph type="body" sz="quarter" idx="11" hasCustomPrompt="1"/>
          </p:nvPr>
        </p:nvSpPr>
        <p:spPr>
          <a:xfrm>
            <a:off x="0" y="5152973"/>
            <a:ext cx="12192000" cy="441481"/>
          </a:xfrm>
          <a:prstGeom prst="rect">
            <a:avLst/>
          </a:prstGeom>
          <a:solidFill>
            <a:schemeClr val="accent2"/>
          </a:solidFill>
        </p:spPr>
        <p:txBody>
          <a:bodyPr anchor="ctr"/>
          <a:lstStyle>
            <a:lvl1pPr algn="ctr">
              <a:defRPr sz="3600" b="1" spc="300">
                <a:solidFill>
                  <a:schemeClr val="bg1"/>
                </a:solidFill>
              </a:defRPr>
            </a:lvl1pPr>
            <a:lvl5pPr>
              <a:defRPr/>
            </a:lvl5pPr>
          </a:lstStyle>
          <a:p>
            <a:pPr lvl="0"/>
            <a:r>
              <a:rPr lang="en-US" dirty="0"/>
              <a:t>PRESENTATION HEADING</a:t>
            </a:r>
            <a:endParaRPr lang="en-ZA" dirty="0"/>
          </a:p>
        </p:txBody>
      </p:sp>
      <p:sp>
        <p:nvSpPr>
          <p:cNvPr id="145" name="Text Placeholder 135">
            <a:extLst>
              <a:ext uri="{FF2B5EF4-FFF2-40B4-BE49-F238E27FC236}">
                <a16:creationId xmlns:a16="http://schemas.microsoft.com/office/drawing/2014/main" id="{7796CE3F-4CB1-4324-9D5A-6BDBC84FB83F}"/>
              </a:ext>
            </a:extLst>
          </p:cNvPr>
          <p:cNvSpPr>
            <a:spLocks noGrp="1"/>
          </p:cNvSpPr>
          <p:nvPr>
            <p:ph type="body" sz="quarter" idx="12" hasCustomPrompt="1"/>
          </p:nvPr>
        </p:nvSpPr>
        <p:spPr>
          <a:xfrm>
            <a:off x="914639" y="5664200"/>
            <a:ext cx="10362723" cy="323057"/>
          </a:xfrm>
          <a:prstGeom prst="rect">
            <a:avLst/>
          </a:prstGeom>
        </p:spPr>
        <p:txBody>
          <a:bodyPr anchor="ctr"/>
          <a:lstStyle>
            <a:lvl1pPr algn="ctr">
              <a:defRPr sz="1200" spc="300">
                <a:solidFill>
                  <a:schemeClr val="tx1"/>
                </a:solidFill>
              </a:defRPr>
            </a:lvl1pPr>
            <a:lvl2pPr>
              <a:defRPr sz="1000"/>
            </a:lvl2pPr>
            <a:lvl3pPr>
              <a:defRPr sz="1000"/>
            </a:lvl3pPr>
            <a:lvl4pPr>
              <a:defRPr sz="1000"/>
            </a:lvl4pPr>
            <a:lvl5pPr>
              <a:defRPr sz="1000"/>
            </a:lvl5pPr>
          </a:lstStyle>
          <a:p>
            <a:pPr lvl="0"/>
            <a:r>
              <a:rPr lang="en-US" dirty="0"/>
              <a:t>SPACE FOR OPTIONAL SUB HEADING</a:t>
            </a:r>
            <a:endParaRPr lang="en-ZA" dirty="0"/>
          </a:p>
        </p:txBody>
      </p:sp>
      <p:sp>
        <p:nvSpPr>
          <p:cNvPr id="147" name="Text Placeholder 137">
            <a:extLst>
              <a:ext uri="{FF2B5EF4-FFF2-40B4-BE49-F238E27FC236}">
                <a16:creationId xmlns:a16="http://schemas.microsoft.com/office/drawing/2014/main" id="{BA51BA54-2128-49BF-864C-31414F814539}"/>
              </a:ext>
            </a:extLst>
          </p:cNvPr>
          <p:cNvSpPr>
            <a:spLocks noGrp="1"/>
          </p:cNvSpPr>
          <p:nvPr>
            <p:ph type="body" sz="quarter" idx="13" hasCustomPrompt="1"/>
          </p:nvPr>
        </p:nvSpPr>
        <p:spPr>
          <a:xfrm>
            <a:off x="914638" y="6362565"/>
            <a:ext cx="2693680" cy="248209"/>
          </a:xfrm>
          <a:prstGeom prst="rect">
            <a:avLst/>
          </a:prstGeom>
        </p:spPr>
        <p:txBody>
          <a:bodyPr/>
          <a:lstStyle>
            <a:lvl1pPr algn="l">
              <a:defRPr sz="1000" spc="300">
                <a:solidFill>
                  <a:schemeClr val="tx1"/>
                </a:solidFill>
              </a:defRPr>
            </a:lvl1pPr>
          </a:lstStyle>
          <a:p>
            <a:pPr lvl="0"/>
            <a:r>
              <a:rPr lang="en-US" dirty="0"/>
              <a:t>OPTIONAL DIVISION NAME</a:t>
            </a:r>
            <a:endParaRPr lang="en-ZA" dirty="0"/>
          </a:p>
        </p:txBody>
      </p:sp>
      <p:sp>
        <p:nvSpPr>
          <p:cNvPr id="150" name="TextBox 149">
            <a:extLst>
              <a:ext uri="{FF2B5EF4-FFF2-40B4-BE49-F238E27FC236}">
                <a16:creationId xmlns:a16="http://schemas.microsoft.com/office/drawing/2014/main" id="{9FBE8406-88B1-4B50-B395-B5E034FA304C}"/>
              </a:ext>
            </a:extLst>
          </p:cNvPr>
          <p:cNvSpPr txBox="1"/>
          <p:nvPr userDrawn="1"/>
        </p:nvSpPr>
        <p:spPr>
          <a:xfrm>
            <a:off x="7809718" y="6384287"/>
            <a:ext cx="3467643" cy="246221"/>
          </a:xfrm>
          <a:prstGeom prst="rect">
            <a:avLst/>
          </a:prstGeom>
          <a:noFill/>
        </p:spPr>
        <p:txBody>
          <a:bodyPr wrap="square" rtlCol="0">
            <a:spAutoFit/>
          </a:bodyPr>
          <a:lstStyle/>
          <a:p>
            <a:pPr algn="r"/>
            <a:fld id="{906B6575-DF67-4F35-9D1F-1227A8A6EB0E}" type="datetime2">
              <a:rPr lang="en-ZA" sz="1000" spc="150" smtClean="0">
                <a:solidFill>
                  <a:schemeClr val="tx1"/>
                </a:solidFill>
              </a:rPr>
              <a:pPr algn="r"/>
              <a:t>Thursday, 13 August 2026</a:t>
            </a:fld>
            <a:endParaRPr lang="en-ZA" sz="1000" spc="150" dirty="0">
              <a:solidFill>
                <a:schemeClr val="tx1"/>
              </a:solidFill>
            </a:endParaRPr>
          </a:p>
        </p:txBody>
      </p:sp>
      <p:grpSp>
        <p:nvGrpSpPr>
          <p:cNvPr id="153" name="Group 152">
            <a:extLst>
              <a:ext uri="{FF2B5EF4-FFF2-40B4-BE49-F238E27FC236}">
                <a16:creationId xmlns:a16="http://schemas.microsoft.com/office/drawing/2014/main" id="{3CD2C9C8-F793-4A52-B2F9-A748896DDCCB}"/>
              </a:ext>
            </a:extLst>
          </p:cNvPr>
          <p:cNvGrpSpPr/>
          <p:nvPr userDrawn="1"/>
        </p:nvGrpSpPr>
        <p:grpSpPr>
          <a:xfrm>
            <a:off x="914639" y="6115339"/>
            <a:ext cx="10362723" cy="82839"/>
            <a:chOff x="1828800" y="12230678"/>
            <a:chExt cx="20720049" cy="165677"/>
          </a:xfrm>
        </p:grpSpPr>
        <p:cxnSp>
          <p:nvCxnSpPr>
            <p:cNvPr id="154" name="Straight Connector 153">
              <a:extLst>
                <a:ext uri="{FF2B5EF4-FFF2-40B4-BE49-F238E27FC236}">
                  <a16:creationId xmlns:a16="http://schemas.microsoft.com/office/drawing/2014/main" id="{AE5A1526-CDBF-42E2-9A4F-96C975A87D4B}"/>
                </a:ext>
              </a:extLst>
            </p:cNvPr>
            <p:cNvCxnSpPr>
              <a:cxnSpLocks/>
            </p:cNvCxnSpPr>
            <p:nvPr userDrawn="1"/>
          </p:nvCxnSpPr>
          <p:spPr>
            <a:xfrm>
              <a:off x="1828800" y="12383078"/>
              <a:ext cx="20720049"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C1AFFFAF-080B-41A9-9BCA-C2916846D93E}"/>
                </a:ext>
              </a:extLst>
            </p:cNvPr>
            <p:cNvSpPr/>
            <p:nvPr userDrawn="1"/>
          </p:nvSpPr>
          <p:spPr>
            <a:xfrm>
              <a:off x="20331113" y="12230678"/>
              <a:ext cx="2217736" cy="16567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a:p>
          </p:txBody>
        </p:sp>
      </p:grpSp>
      <p:sp>
        <p:nvSpPr>
          <p:cNvPr id="137" name="Rectangle 136">
            <a:extLst>
              <a:ext uri="{FF2B5EF4-FFF2-40B4-BE49-F238E27FC236}">
                <a16:creationId xmlns:a16="http://schemas.microsoft.com/office/drawing/2014/main" id="{29BBBCC6-3B1B-4F8A-B35D-13A9ECF4D3EB}"/>
              </a:ext>
            </a:extLst>
          </p:cNvPr>
          <p:cNvSpPr/>
          <p:nvPr userDrawn="1"/>
        </p:nvSpPr>
        <p:spPr>
          <a:xfrm>
            <a:off x="914638" y="-1"/>
            <a:ext cx="1418357" cy="1890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a:p>
        </p:txBody>
      </p:sp>
      <p:grpSp>
        <p:nvGrpSpPr>
          <p:cNvPr id="138" name="Group 137">
            <a:extLst>
              <a:ext uri="{FF2B5EF4-FFF2-40B4-BE49-F238E27FC236}">
                <a16:creationId xmlns:a16="http://schemas.microsoft.com/office/drawing/2014/main" id="{7B74E5C5-72BB-4F4F-838C-2D9AD7B36C49}"/>
              </a:ext>
            </a:extLst>
          </p:cNvPr>
          <p:cNvGrpSpPr/>
          <p:nvPr userDrawn="1"/>
        </p:nvGrpSpPr>
        <p:grpSpPr>
          <a:xfrm>
            <a:off x="1053586" y="244475"/>
            <a:ext cx="1128420" cy="1283675"/>
            <a:chOff x="10197128" y="11141518"/>
            <a:chExt cx="4100716" cy="4666132"/>
          </a:xfrm>
        </p:grpSpPr>
        <p:grpSp>
          <p:nvGrpSpPr>
            <p:cNvPr id="139" name="Group 138">
              <a:extLst>
                <a:ext uri="{FF2B5EF4-FFF2-40B4-BE49-F238E27FC236}">
                  <a16:creationId xmlns:a16="http://schemas.microsoft.com/office/drawing/2014/main" id="{E7B9F3B5-408D-4825-81E3-FF2E15C4B723}"/>
                </a:ext>
              </a:extLst>
            </p:cNvPr>
            <p:cNvGrpSpPr/>
            <p:nvPr/>
          </p:nvGrpSpPr>
          <p:grpSpPr>
            <a:xfrm>
              <a:off x="10687284" y="11141518"/>
              <a:ext cx="3122333" cy="3172507"/>
              <a:chOff x="7693025" y="8069263"/>
              <a:chExt cx="2568575" cy="2609850"/>
            </a:xfrm>
          </p:grpSpPr>
          <p:sp>
            <p:nvSpPr>
              <p:cNvPr id="146" name="Oval 5">
                <a:extLst>
                  <a:ext uri="{FF2B5EF4-FFF2-40B4-BE49-F238E27FC236}">
                    <a16:creationId xmlns:a16="http://schemas.microsoft.com/office/drawing/2014/main" id="{BE714E48-7AB8-4744-9F99-64E48D8AD55C}"/>
                  </a:ext>
                </a:extLst>
              </p:cNvPr>
              <p:cNvSpPr>
                <a:spLocks noChangeArrowheads="1"/>
              </p:cNvSpPr>
              <p:nvPr/>
            </p:nvSpPr>
            <p:spPr bwMode="auto">
              <a:xfrm>
                <a:off x="7696200" y="8069263"/>
                <a:ext cx="2562225" cy="260985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48" name="Freeform 6">
                <a:extLst>
                  <a:ext uri="{FF2B5EF4-FFF2-40B4-BE49-F238E27FC236}">
                    <a16:creationId xmlns:a16="http://schemas.microsoft.com/office/drawing/2014/main" id="{CF22CEA6-B19F-40C6-8976-51146ECD6778}"/>
                  </a:ext>
                </a:extLst>
              </p:cNvPr>
              <p:cNvSpPr>
                <a:spLocks/>
              </p:cNvSpPr>
              <p:nvPr/>
            </p:nvSpPr>
            <p:spPr bwMode="auto">
              <a:xfrm>
                <a:off x="9717088" y="8410576"/>
                <a:ext cx="119063" cy="120650"/>
              </a:xfrm>
              <a:custGeom>
                <a:avLst/>
                <a:gdLst>
                  <a:gd name="T0" fmla="*/ 15 w 37"/>
                  <a:gd name="T1" fmla="*/ 25 h 37"/>
                  <a:gd name="T2" fmla="*/ 28 w 37"/>
                  <a:gd name="T3" fmla="*/ 37 h 37"/>
                  <a:gd name="T4" fmla="*/ 37 w 37"/>
                  <a:gd name="T5" fmla="*/ 0 h 37"/>
                  <a:gd name="T6" fmla="*/ 0 w 37"/>
                  <a:gd name="T7" fmla="*/ 12 h 37"/>
                  <a:gd name="T8" fmla="*/ 15 w 37"/>
                  <a:gd name="T9" fmla="*/ 25 h 37"/>
                </a:gdLst>
                <a:ahLst/>
                <a:cxnLst>
                  <a:cxn ang="0">
                    <a:pos x="T0" y="T1"/>
                  </a:cxn>
                  <a:cxn ang="0">
                    <a:pos x="T2" y="T3"/>
                  </a:cxn>
                  <a:cxn ang="0">
                    <a:pos x="T4" y="T5"/>
                  </a:cxn>
                  <a:cxn ang="0">
                    <a:pos x="T6" y="T7"/>
                  </a:cxn>
                  <a:cxn ang="0">
                    <a:pos x="T8" y="T9"/>
                  </a:cxn>
                </a:cxnLst>
                <a:rect l="0" t="0" r="r" b="b"/>
                <a:pathLst>
                  <a:path w="37" h="37">
                    <a:moveTo>
                      <a:pt x="15" y="25"/>
                    </a:moveTo>
                    <a:cubicBezTo>
                      <a:pt x="19" y="28"/>
                      <a:pt x="23" y="32"/>
                      <a:pt x="28" y="37"/>
                    </a:cubicBezTo>
                    <a:cubicBezTo>
                      <a:pt x="37" y="0"/>
                      <a:pt x="37" y="0"/>
                      <a:pt x="37" y="0"/>
                    </a:cubicBezTo>
                    <a:cubicBezTo>
                      <a:pt x="0" y="12"/>
                      <a:pt x="0" y="12"/>
                      <a:pt x="0" y="12"/>
                    </a:cubicBezTo>
                    <a:cubicBezTo>
                      <a:pt x="5" y="16"/>
                      <a:pt x="10" y="20"/>
                      <a:pt x="15" y="2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49" name="Freeform 7">
                <a:extLst>
                  <a:ext uri="{FF2B5EF4-FFF2-40B4-BE49-F238E27FC236}">
                    <a16:creationId xmlns:a16="http://schemas.microsoft.com/office/drawing/2014/main" id="{55D81641-8637-4116-BE69-48D9AA355EA5}"/>
                  </a:ext>
                </a:extLst>
              </p:cNvPr>
              <p:cNvSpPr>
                <a:spLocks/>
              </p:cNvSpPr>
              <p:nvPr/>
            </p:nvSpPr>
            <p:spPr bwMode="auto">
              <a:xfrm>
                <a:off x="9512300" y="8251826"/>
                <a:ext cx="109538" cy="123825"/>
              </a:xfrm>
              <a:custGeom>
                <a:avLst/>
                <a:gdLst>
                  <a:gd name="T0" fmla="*/ 32 w 34"/>
                  <a:gd name="T1" fmla="*/ 38 h 38"/>
                  <a:gd name="T2" fmla="*/ 34 w 34"/>
                  <a:gd name="T3" fmla="*/ 0 h 38"/>
                  <a:gd name="T4" fmla="*/ 0 w 34"/>
                  <a:gd name="T5" fmla="*/ 19 h 38"/>
                  <a:gd name="T6" fmla="*/ 17 w 34"/>
                  <a:gd name="T7" fmla="*/ 29 h 38"/>
                  <a:gd name="T8" fmla="*/ 32 w 34"/>
                  <a:gd name="T9" fmla="*/ 38 h 38"/>
                </a:gdLst>
                <a:ahLst/>
                <a:cxnLst>
                  <a:cxn ang="0">
                    <a:pos x="T0" y="T1"/>
                  </a:cxn>
                  <a:cxn ang="0">
                    <a:pos x="T2" y="T3"/>
                  </a:cxn>
                  <a:cxn ang="0">
                    <a:pos x="T4" y="T5"/>
                  </a:cxn>
                  <a:cxn ang="0">
                    <a:pos x="T6" y="T7"/>
                  </a:cxn>
                  <a:cxn ang="0">
                    <a:pos x="T8" y="T9"/>
                  </a:cxn>
                </a:cxnLst>
                <a:rect l="0" t="0" r="r" b="b"/>
                <a:pathLst>
                  <a:path w="34" h="38">
                    <a:moveTo>
                      <a:pt x="32" y="38"/>
                    </a:moveTo>
                    <a:cubicBezTo>
                      <a:pt x="34" y="0"/>
                      <a:pt x="34" y="0"/>
                      <a:pt x="34" y="0"/>
                    </a:cubicBezTo>
                    <a:cubicBezTo>
                      <a:pt x="0" y="19"/>
                      <a:pt x="0" y="19"/>
                      <a:pt x="0" y="19"/>
                    </a:cubicBezTo>
                    <a:cubicBezTo>
                      <a:pt x="6" y="23"/>
                      <a:pt x="11" y="26"/>
                      <a:pt x="17" y="29"/>
                    </a:cubicBezTo>
                    <a:cubicBezTo>
                      <a:pt x="22" y="31"/>
                      <a:pt x="26" y="35"/>
                      <a:pt x="32" y="3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1" name="Freeform 8">
                <a:extLst>
                  <a:ext uri="{FF2B5EF4-FFF2-40B4-BE49-F238E27FC236}">
                    <a16:creationId xmlns:a16="http://schemas.microsoft.com/office/drawing/2014/main" id="{57F08937-3B37-4C57-A757-4C0DAF0EF5A9}"/>
                  </a:ext>
                </a:extLst>
              </p:cNvPr>
              <p:cNvSpPr>
                <a:spLocks/>
              </p:cNvSpPr>
              <p:nvPr/>
            </p:nvSpPr>
            <p:spPr bwMode="auto">
              <a:xfrm>
                <a:off x="9618663" y="8326438"/>
                <a:ext cx="114300" cy="120650"/>
              </a:xfrm>
              <a:custGeom>
                <a:avLst/>
                <a:gdLst>
                  <a:gd name="T0" fmla="*/ 16 w 36"/>
                  <a:gd name="T1" fmla="*/ 27 h 37"/>
                  <a:gd name="T2" fmla="*/ 30 w 36"/>
                  <a:gd name="T3" fmla="*/ 37 h 37"/>
                  <a:gd name="T4" fmla="*/ 36 w 36"/>
                  <a:gd name="T5" fmla="*/ 0 h 37"/>
                  <a:gd name="T6" fmla="*/ 0 w 36"/>
                  <a:gd name="T7" fmla="*/ 16 h 37"/>
                  <a:gd name="T8" fmla="*/ 16 w 36"/>
                  <a:gd name="T9" fmla="*/ 27 h 37"/>
                </a:gdLst>
                <a:ahLst/>
                <a:cxnLst>
                  <a:cxn ang="0">
                    <a:pos x="T0" y="T1"/>
                  </a:cxn>
                  <a:cxn ang="0">
                    <a:pos x="T2" y="T3"/>
                  </a:cxn>
                  <a:cxn ang="0">
                    <a:pos x="T4" y="T5"/>
                  </a:cxn>
                  <a:cxn ang="0">
                    <a:pos x="T6" y="T7"/>
                  </a:cxn>
                  <a:cxn ang="0">
                    <a:pos x="T8" y="T9"/>
                  </a:cxn>
                </a:cxnLst>
                <a:rect l="0" t="0" r="r" b="b"/>
                <a:pathLst>
                  <a:path w="36" h="37">
                    <a:moveTo>
                      <a:pt x="16" y="27"/>
                    </a:moveTo>
                    <a:cubicBezTo>
                      <a:pt x="21" y="30"/>
                      <a:pt x="25" y="33"/>
                      <a:pt x="30" y="37"/>
                    </a:cubicBezTo>
                    <a:cubicBezTo>
                      <a:pt x="36" y="0"/>
                      <a:pt x="36" y="0"/>
                      <a:pt x="36" y="0"/>
                    </a:cubicBezTo>
                    <a:cubicBezTo>
                      <a:pt x="0" y="16"/>
                      <a:pt x="0" y="16"/>
                      <a:pt x="0" y="16"/>
                    </a:cubicBezTo>
                    <a:cubicBezTo>
                      <a:pt x="5" y="19"/>
                      <a:pt x="11" y="23"/>
                      <a:pt x="16" y="2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2" name="Freeform 9">
                <a:extLst>
                  <a:ext uri="{FF2B5EF4-FFF2-40B4-BE49-F238E27FC236}">
                    <a16:creationId xmlns:a16="http://schemas.microsoft.com/office/drawing/2014/main" id="{B0C204D1-F9DA-438F-9236-8008EF4C6B59}"/>
                  </a:ext>
                </a:extLst>
              </p:cNvPr>
              <p:cNvSpPr>
                <a:spLocks noEditPoints="1"/>
              </p:cNvSpPr>
              <p:nvPr/>
            </p:nvSpPr>
            <p:spPr bwMode="auto">
              <a:xfrm>
                <a:off x="7888288" y="8274051"/>
                <a:ext cx="2187575" cy="2209800"/>
              </a:xfrm>
              <a:custGeom>
                <a:avLst/>
                <a:gdLst>
                  <a:gd name="T0" fmla="*/ 682 w 683"/>
                  <a:gd name="T1" fmla="*/ 372 h 678"/>
                  <a:gd name="T2" fmla="*/ 511 w 683"/>
                  <a:gd name="T3" fmla="*/ 104 h 678"/>
                  <a:gd name="T4" fmla="*/ 500 w 683"/>
                  <a:gd name="T5" fmla="*/ 97 h 678"/>
                  <a:gd name="T6" fmla="*/ 467 w 683"/>
                  <a:gd name="T7" fmla="*/ 56 h 678"/>
                  <a:gd name="T8" fmla="*/ 457 w 683"/>
                  <a:gd name="T9" fmla="*/ 75 h 678"/>
                  <a:gd name="T10" fmla="*/ 415 w 683"/>
                  <a:gd name="T11" fmla="*/ 80 h 678"/>
                  <a:gd name="T12" fmla="*/ 396 w 683"/>
                  <a:gd name="T13" fmla="*/ 49 h 678"/>
                  <a:gd name="T14" fmla="*/ 374 w 683"/>
                  <a:gd name="T15" fmla="*/ 56 h 678"/>
                  <a:gd name="T16" fmla="*/ 317 w 683"/>
                  <a:gd name="T17" fmla="*/ 30 h 678"/>
                  <a:gd name="T18" fmla="*/ 283 w 683"/>
                  <a:gd name="T19" fmla="*/ 43 h 678"/>
                  <a:gd name="T20" fmla="*/ 230 w 683"/>
                  <a:gd name="T21" fmla="*/ 50 h 678"/>
                  <a:gd name="T22" fmla="*/ 218 w 683"/>
                  <a:gd name="T23" fmla="*/ 64 h 678"/>
                  <a:gd name="T24" fmla="*/ 247 w 683"/>
                  <a:gd name="T25" fmla="*/ 86 h 678"/>
                  <a:gd name="T26" fmla="*/ 228 w 683"/>
                  <a:gd name="T27" fmla="*/ 86 h 678"/>
                  <a:gd name="T28" fmla="*/ 196 w 683"/>
                  <a:gd name="T29" fmla="*/ 71 h 678"/>
                  <a:gd name="T30" fmla="*/ 342 w 683"/>
                  <a:gd name="T31" fmla="*/ 583 h 678"/>
                  <a:gd name="T32" fmla="*/ 116 w 683"/>
                  <a:gd name="T33" fmla="*/ 127 h 678"/>
                  <a:gd name="T34" fmla="*/ 111 w 683"/>
                  <a:gd name="T35" fmla="*/ 145 h 678"/>
                  <a:gd name="T36" fmla="*/ 152 w 683"/>
                  <a:gd name="T37" fmla="*/ 137 h 678"/>
                  <a:gd name="T38" fmla="*/ 100 w 683"/>
                  <a:gd name="T39" fmla="*/ 146 h 678"/>
                  <a:gd name="T40" fmla="*/ 86 w 683"/>
                  <a:gd name="T41" fmla="*/ 217 h 678"/>
                  <a:gd name="T42" fmla="*/ 40 w 683"/>
                  <a:gd name="T43" fmla="*/ 268 h 678"/>
                  <a:gd name="T44" fmla="*/ 77 w 683"/>
                  <a:gd name="T45" fmla="*/ 290 h 678"/>
                  <a:gd name="T46" fmla="*/ 57 w 683"/>
                  <a:gd name="T47" fmla="*/ 474 h 678"/>
                  <a:gd name="T48" fmla="*/ 93 w 683"/>
                  <a:gd name="T49" fmla="*/ 458 h 678"/>
                  <a:gd name="T50" fmla="*/ 80 w 683"/>
                  <a:gd name="T51" fmla="*/ 445 h 678"/>
                  <a:gd name="T52" fmla="*/ 71 w 683"/>
                  <a:gd name="T53" fmla="*/ 454 h 678"/>
                  <a:gd name="T54" fmla="*/ 91 w 683"/>
                  <a:gd name="T55" fmla="*/ 528 h 678"/>
                  <a:gd name="T56" fmla="*/ 107 w 683"/>
                  <a:gd name="T57" fmla="*/ 536 h 678"/>
                  <a:gd name="T58" fmla="*/ 107 w 683"/>
                  <a:gd name="T59" fmla="*/ 547 h 678"/>
                  <a:gd name="T60" fmla="*/ 170 w 683"/>
                  <a:gd name="T61" fmla="*/ 592 h 678"/>
                  <a:gd name="T62" fmla="*/ 197 w 683"/>
                  <a:gd name="T63" fmla="*/ 570 h 678"/>
                  <a:gd name="T64" fmla="*/ 262 w 683"/>
                  <a:gd name="T65" fmla="*/ 641 h 678"/>
                  <a:gd name="T66" fmla="*/ 211 w 683"/>
                  <a:gd name="T67" fmla="*/ 622 h 678"/>
                  <a:gd name="T68" fmla="*/ 274 w 683"/>
                  <a:gd name="T69" fmla="*/ 609 h 678"/>
                  <a:gd name="T70" fmla="*/ 311 w 683"/>
                  <a:gd name="T71" fmla="*/ 648 h 678"/>
                  <a:gd name="T72" fmla="*/ 328 w 683"/>
                  <a:gd name="T73" fmla="*/ 650 h 678"/>
                  <a:gd name="T74" fmla="*/ 369 w 683"/>
                  <a:gd name="T75" fmla="*/ 609 h 678"/>
                  <a:gd name="T76" fmla="*/ 430 w 683"/>
                  <a:gd name="T77" fmla="*/ 639 h 678"/>
                  <a:gd name="T78" fmla="*/ 451 w 683"/>
                  <a:gd name="T79" fmla="*/ 596 h 678"/>
                  <a:gd name="T80" fmla="*/ 488 w 683"/>
                  <a:gd name="T81" fmla="*/ 579 h 678"/>
                  <a:gd name="T82" fmla="*/ 524 w 683"/>
                  <a:gd name="T83" fmla="*/ 593 h 678"/>
                  <a:gd name="T84" fmla="*/ 537 w 683"/>
                  <a:gd name="T85" fmla="*/ 542 h 678"/>
                  <a:gd name="T86" fmla="*/ 530 w 683"/>
                  <a:gd name="T87" fmla="*/ 566 h 678"/>
                  <a:gd name="T88" fmla="*/ 580 w 683"/>
                  <a:gd name="T89" fmla="*/ 542 h 678"/>
                  <a:gd name="T90" fmla="*/ 577 w 683"/>
                  <a:gd name="T91" fmla="*/ 494 h 678"/>
                  <a:gd name="T92" fmla="*/ 577 w 683"/>
                  <a:gd name="T93" fmla="*/ 518 h 678"/>
                  <a:gd name="T94" fmla="*/ 636 w 683"/>
                  <a:gd name="T95" fmla="*/ 453 h 678"/>
                  <a:gd name="T96" fmla="*/ 637 w 683"/>
                  <a:gd name="T97" fmla="*/ 436 h 678"/>
                  <a:gd name="T98" fmla="*/ 645 w 683"/>
                  <a:gd name="T99" fmla="*/ 283 h 678"/>
                  <a:gd name="T100" fmla="*/ 620 w 683"/>
                  <a:gd name="T101" fmla="*/ 279 h 678"/>
                  <a:gd name="T102" fmla="*/ 611 w 683"/>
                  <a:gd name="T103" fmla="*/ 184 h 678"/>
                  <a:gd name="T104" fmla="*/ 580 w 683"/>
                  <a:gd name="T105" fmla="*/ 211 h 678"/>
                  <a:gd name="T106" fmla="*/ 586 w 683"/>
                  <a:gd name="T107" fmla="*/ 171 h 678"/>
                  <a:gd name="T108" fmla="*/ 557 w 683"/>
                  <a:gd name="T109" fmla="*/ 166 h 678"/>
                  <a:gd name="T110" fmla="*/ 571 w 683"/>
                  <a:gd name="T111" fmla="*/ 183 h 678"/>
                  <a:gd name="T112" fmla="*/ 570 w 683"/>
                  <a:gd name="T113" fmla="*/ 131 h 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83" h="678">
                    <a:moveTo>
                      <a:pt x="342" y="0"/>
                    </a:moveTo>
                    <a:cubicBezTo>
                      <a:pt x="153" y="0"/>
                      <a:pt x="0" y="153"/>
                      <a:pt x="0" y="340"/>
                    </a:cubicBezTo>
                    <a:cubicBezTo>
                      <a:pt x="0" y="351"/>
                      <a:pt x="1" y="361"/>
                      <a:pt x="2" y="372"/>
                    </a:cubicBezTo>
                    <a:cubicBezTo>
                      <a:pt x="18" y="544"/>
                      <a:pt x="164" y="678"/>
                      <a:pt x="342" y="678"/>
                    </a:cubicBezTo>
                    <a:cubicBezTo>
                      <a:pt x="519" y="678"/>
                      <a:pt x="666" y="544"/>
                      <a:pt x="682" y="372"/>
                    </a:cubicBezTo>
                    <a:cubicBezTo>
                      <a:pt x="683" y="361"/>
                      <a:pt x="683" y="351"/>
                      <a:pt x="683" y="340"/>
                    </a:cubicBezTo>
                    <a:cubicBezTo>
                      <a:pt x="683" y="153"/>
                      <a:pt x="530" y="0"/>
                      <a:pt x="342" y="0"/>
                    </a:cubicBezTo>
                    <a:moveTo>
                      <a:pt x="494" y="68"/>
                    </a:moveTo>
                    <a:cubicBezTo>
                      <a:pt x="511" y="80"/>
                      <a:pt x="511" y="80"/>
                      <a:pt x="511" y="80"/>
                    </a:cubicBezTo>
                    <a:cubicBezTo>
                      <a:pt x="511" y="104"/>
                      <a:pt x="511" y="104"/>
                      <a:pt x="511" y="104"/>
                    </a:cubicBezTo>
                    <a:cubicBezTo>
                      <a:pt x="523" y="89"/>
                      <a:pt x="523" y="89"/>
                      <a:pt x="523" y="89"/>
                    </a:cubicBezTo>
                    <a:cubicBezTo>
                      <a:pt x="540" y="100"/>
                      <a:pt x="540" y="100"/>
                      <a:pt x="540" y="100"/>
                    </a:cubicBezTo>
                    <a:cubicBezTo>
                      <a:pt x="516" y="132"/>
                      <a:pt x="516" y="132"/>
                      <a:pt x="516" y="132"/>
                    </a:cubicBezTo>
                    <a:cubicBezTo>
                      <a:pt x="501" y="121"/>
                      <a:pt x="501" y="121"/>
                      <a:pt x="501" y="121"/>
                    </a:cubicBezTo>
                    <a:cubicBezTo>
                      <a:pt x="500" y="97"/>
                      <a:pt x="500" y="97"/>
                      <a:pt x="500" y="97"/>
                    </a:cubicBezTo>
                    <a:cubicBezTo>
                      <a:pt x="489" y="112"/>
                      <a:pt x="489" y="112"/>
                      <a:pt x="489" y="112"/>
                    </a:cubicBezTo>
                    <a:cubicBezTo>
                      <a:pt x="471" y="100"/>
                      <a:pt x="471" y="100"/>
                      <a:pt x="471" y="100"/>
                    </a:cubicBezTo>
                    <a:lnTo>
                      <a:pt x="494" y="68"/>
                    </a:lnTo>
                    <a:close/>
                    <a:moveTo>
                      <a:pt x="428" y="42"/>
                    </a:moveTo>
                    <a:cubicBezTo>
                      <a:pt x="467" y="56"/>
                      <a:pt x="467" y="56"/>
                      <a:pt x="467" y="56"/>
                    </a:cubicBezTo>
                    <a:cubicBezTo>
                      <a:pt x="465" y="62"/>
                      <a:pt x="465" y="62"/>
                      <a:pt x="465" y="62"/>
                    </a:cubicBezTo>
                    <a:cubicBezTo>
                      <a:pt x="446" y="56"/>
                      <a:pt x="446" y="56"/>
                      <a:pt x="446" y="56"/>
                    </a:cubicBezTo>
                    <a:cubicBezTo>
                      <a:pt x="444" y="64"/>
                      <a:pt x="444" y="64"/>
                      <a:pt x="444" y="64"/>
                    </a:cubicBezTo>
                    <a:cubicBezTo>
                      <a:pt x="459" y="69"/>
                      <a:pt x="459" y="69"/>
                      <a:pt x="459" y="69"/>
                    </a:cubicBezTo>
                    <a:cubicBezTo>
                      <a:pt x="457" y="75"/>
                      <a:pt x="457" y="75"/>
                      <a:pt x="457" y="75"/>
                    </a:cubicBezTo>
                    <a:cubicBezTo>
                      <a:pt x="442" y="70"/>
                      <a:pt x="442" y="70"/>
                      <a:pt x="442" y="70"/>
                    </a:cubicBezTo>
                    <a:cubicBezTo>
                      <a:pt x="439" y="80"/>
                      <a:pt x="439" y="80"/>
                      <a:pt x="439" y="80"/>
                    </a:cubicBezTo>
                    <a:cubicBezTo>
                      <a:pt x="457" y="86"/>
                      <a:pt x="457" y="86"/>
                      <a:pt x="457" y="86"/>
                    </a:cubicBezTo>
                    <a:cubicBezTo>
                      <a:pt x="455" y="93"/>
                      <a:pt x="455" y="93"/>
                      <a:pt x="455" y="93"/>
                    </a:cubicBezTo>
                    <a:cubicBezTo>
                      <a:pt x="415" y="80"/>
                      <a:pt x="415" y="80"/>
                      <a:pt x="415" y="80"/>
                    </a:cubicBezTo>
                    <a:lnTo>
                      <a:pt x="428" y="42"/>
                    </a:lnTo>
                    <a:close/>
                    <a:moveTo>
                      <a:pt x="343" y="30"/>
                    </a:moveTo>
                    <a:cubicBezTo>
                      <a:pt x="382" y="32"/>
                      <a:pt x="382" y="32"/>
                      <a:pt x="382" y="32"/>
                    </a:cubicBezTo>
                    <a:cubicBezTo>
                      <a:pt x="396" y="40"/>
                      <a:pt x="396" y="40"/>
                      <a:pt x="396" y="40"/>
                    </a:cubicBezTo>
                    <a:cubicBezTo>
                      <a:pt x="396" y="49"/>
                      <a:pt x="396" y="49"/>
                      <a:pt x="396" y="49"/>
                    </a:cubicBezTo>
                    <a:cubicBezTo>
                      <a:pt x="384" y="53"/>
                      <a:pt x="384" y="53"/>
                      <a:pt x="384" y="53"/>
                    </a:cubicBezTo>
                    <a:cubicBezTo>
                      <a:pt x="395" y="57"/>
                      <a:pt x="395" y="57"/>
                      <a:pt x="395" y="57"/>
                    </a:cubicBezTo>
                    <a:cubicBezTo>
                      <a:pt x="394" y="73"/>
                      <a:pt x="394" y="73"/>
                      <a:pt x="394" y="73"/>
                    </a:cubicBezTo>
                    <a:cubicBezTo>
                      <a:pt x="373" y="71"/>
                      <a:pt x="373" y="71"/>
                      <a:pt x="373" y="71"/>
                    </a:cubicBezTo>
                    <a:cubicBezTo>
                      <a:pt x="374" y="56"/>
                      <a:pt x="374" y="56"/>
                      <a:pt x="374" y="56"/>
                    </a:cubicBezTo>
                    <a:cubicBezTo>
                      <a:pt x="364" y="55"/>
                      <a:pt x="364" y="55"/>
                      <a:pt x="364" y="55"/>
                    </a:cubicBezTo>
                    <a:cubicBezTo>
                      <a:pt x="363" y="71"/>
                      <a:pt x="363" y="71"/>
                      <a:pt x="363" y="71"/>
                    </a:cubicBezTo>
                    <a:cubicBezTo>
                      <a:pt x="340" y="69"/>
                      <a:pt x="340" y="69"/>
                      <a:pt x="340" y="69"/>
                    </a:cubicBezTo>
                    <a:lnTo>
                      <a:pt x="343" y="30"/>
                    </a:lnTo>
                    <a:close/>
                    <a:moveTo>
                      <a:pt x="317" y="30"/>
                    </a:moveTo>
                    <a:cubicBezTo>
                      <a:pt x="318" y="37"/>
                      <a:pt x="318" y="37"/>
                      <a:pt x="318" y="37"/>
                    </a:cubicBezTo>
                    <a:cubicBezTo>
                      <a:pt x="305" y="40"/>
                      <a:pt x="305" y="40"/>
                      <a:pt x="305" y="40"/>
                    </a:cubicBezTo>
                    <a:cubicBezTo>
                      <a:pt x="311" y="71"/>
                      <a:pt x="311" y="71"/>
                      <a:pt x="311" y="71"/>
                    </a:cubicBezTo>
                    <a:cubicBezTo>
                      <a:pt x="288" y="74"/>
                      <a:pt x="288" y="74"/>
                      <a:pt x="288" y="74"/>
                    </a:cubicBezTo>
                    <a:cubicBezTo>
                      <a:pt x="283" y="43"/>
                      <a:pt x="283" y="43"/>
                      <a:pt x="283" y="43"/>
                    </a:cubicBezTo>
                    <a:cubicBezTo>
                      <a:pt x="270" y="45"/>
                      <a:pt x="270" y="45"/>
                      <a:pt x="270" y="45"/>
                    </a:cubicBezTo>
                    <a:cubicBezTo>
                      <a:pt x="269" y="37"/>
                      <a:pt x="269" y="37"/>
                      <a:pt x="269" y="37"/>
                    </a:cubicBezTo>
                    <a:lnTo>
                      <a:pt x="317" y="30"/>
                    </a:lnTo>
                    <a:close/>
                    <a:moveTo>
                      <a:pt x="208" y="60"/>
                    </a:moveTo>
                    <a:cubicBezTo>
                      <a:pt x="230" y="50"/>
                      <a:pt x="230" y="50"/>
                      <a:pt x="230" y="50"/>
                    </a:cubicBezTo>
                    <a:cubicBezTo>
                      <a:pt x="246" y="49"/>
                      <a:pt x="246" y="49"/>
                      <a:pt x="246" y="49"/>
                    </a:cubicBezTo>
                    <a:cubicBezTo>
                      <a:pt x="249" y="56"/>
                      <a:pt x="249" y="56"/>
                      <a:pt x="249" y="56"/>
                    </a:cubicBezTo>
                    <a:cubicBezTo>
                      <a:pt x="229" y="65"/>
                      <a:pt x="229" y="65"/>
                      <a:pt x="229" y="65"/>
                    </a:cubicBezTo>
                    <a:cubicBezTo>
                      <a:pt x="227" y="60"/>
                      <a:pt x="227" y="60"/>
                      <a:pt x="227" y="60"/>
                    </a:cubicBezTo>
                    <a:cubicBezTo>
                      <a:pt x="218" y="64"/>
                      <a:pt x="218" y="64"/>
                      <a:pt x="218" y="64"/>
                    </a:cubicBezTo>
                    <a:cubicBezTo>
                      <a:pt x="221" y="71"/>
                      <a:pt x="221" y="71"/>
                      <a:pt x="221" y="71"/>
                    </a:cubicBezTo>
                    <a:cubicBezTo>
                      <a:pt x="237" y="65"/>
                      <a:pt x="237" y="65"/>
                      <a:pt x="237" y="65"/>
                    </a:cubicBezTo>
                    <a:cubicBezTo>
                      <a:pt x="253" y="64"/>
                      <a:pt x="253" y="64"/>
                      <a:pt x="253" y="64"/>
                    </a:cubicBezTo>
                    <a:cubicBezTo>
                      <a:pt x="258" y="74"/>
                      <a:pt x="258" y="74"/>
                      <a:pt x="258" y="74"/>
                    </a:cubicBezTo>
                    <a:cubicBezTo>
                      <a:pt x="247" y="86"/>
                      <a:pt x="247" y="86"/>
                      <a:pt x="247" y="86"/>
                    </a:cubicBezTo>
                    <a:cubicBezTo>
                      <a:pt x="224" y="96"/>
                      <a:pt x="224" y="96"/>
                      <a:pt x="224" y="96"/>
                    </a:cubicBezTo>
                    <a:cubicBezTo>
                      <a:pt x="208" y="97"/>
                      <a:pt x="208" y="97"/>
                      <a:pt x="208" y="97"/>
                    </a:cubicBezTo>
                    <a:cubicBezTo>
                      <a:pt x="205" y="91"/>
                      <a:pt x="205" y="91"/>
                      <a:pt x="205" y="91"/>
                    </a:cubicBezTo>
                    <a:cubicBezTo>
                      <a:pt x="226" y="81"/>
                      <a:pt x="226" y="81"/>
                      <a:pt x="226" y="81"/>
                    </a:cubicBezTo>
                    <a:cubicBezTo>
                      <a:pt x="228" y="86"/>
                      <a:pt x="228" y="86"/>
                      <a:pt x="228" y="86"/>
                    </a:cubicBezTo>
                    <a:cubicBezTo>
                      <a:pt x="237" y="82"/>
                      <a:pt x="237" y="82"/>
                      <a:pt x="237" y="82"/>
                    </a:cubicBezTo>
                    <a:cubicBezTo>
                      <a:pt x="233" y="74"/>
                      <a:pt x="233" y="74"/>
                      <a:pt x="233" y="74"/>
                    </a:cubicBezTo>
                    <a:cubicBezTo>
                      <a:pt x="218" y="81"/>
                      <a:pt x="218" y="81"/>
                      <a:pt x="218" y="81"/>
                    </a:cubicBezTo>
                    <a:cubicBezTo>
                      <a:pt x="202" y="82"/>
                      <a:pt x="202" y="82"/>
                      <a:pt x="202" y="82"/>
                    </a:cubicBezTo>
                    <a:cubicBezTo>
                      <a:pt x="196" y="71"/>
                      <a:pt x="196" y="71"/>
                      <a:pt x="196" y="71"/>
                    </a:cubicBezTo>
                    <a:lnTo>
                      <a:pt x="208" y="60"/>
                    </a:lnTo>
                    <a:close/>
                    <a:moveTo>
                      <a:pt x="342" y="96"/>
                    </a:moveTo>
                    <a:cubicBezTo>
                      <a:pt x="477" y="96"/>
                      <a:pt x="588" y="205"/>
                      <a:pt x="588" y="340"/>
                    </a:cubicBezTo>
                    <a:cubicBezTo>
                      <a:pt x="588" y="351"/>
                      <a:pt x="587" y="361"/>
                      <a:pt x="586" y="372"/>
                    </a:cubicBezTo>
                    <a:cubicBezTo>
                      <a:pt x="569" y="491"/>
                      <a:pt x="466" y="583"/>
                      <a:pt x="342" y="583"/>
                    </a:cubicBezTo>
                    <a:cubicBezTo>
                      <a:pt x="217" y="583"/>
                      <a:pt x="115" y="491"/>
                      <a:pt x="99" y="372"/>
                    </a:cubicBezTo>
                    <a:cubicBezTo>
                      <a:pt x="97" y="361"/>
                      <a:pt x="96" y="351"/>
                      <a:pt x="96" y="340"/>
                    </a:cubicBezTo>
                    <a:cubicBezTo>
                      <a:pt x="96" y="205"/>
                      <a:pt x="206" y="96"/>
                      <a:pt x="342" y="96"/>
                    </a:cubicBezTo>
                    <a:moveTo>
                      <a:pt x="100" y="146"/>
                    </a:moveTo>
                    <a:cubicBezTo>
                      <a:pt x="116" y="127"/>
                      <a:pt x="116" y="127"/>
                      <a:pt x="116" y="127"/>
                    </a:cubicBezTo>
                    <a:cubicBezTo>
                      <a:pt x="130" y="119"/>
                      <a:pt x="130" y="119"/>
                      <a:pt x="130" y="119"/>
                    </a:cubicBezTo>
                    <a:cubicBezTo>
                      <a:pt x="137" y="125"/>
                      <a:pt x="137" y="125"/>
                      <a:pt x="137" y="125"/>
                    </a:cubicBezTo>
                    <a:cubicBezTo>
                      <a:pt x="122" y="142"/>
                      <a:pt x="122" y="142"/>
                      <a:pt x="122" y="142"/>
                    </a:cubicBezTo>
                    <a:cubicBezTo>
                      <a:pt x="117" y="137"/>
                      <a:pt x="117" y="137"/>
                      <a:pt x="117" y="137"/>
                    </a:cubicBezTo>
                    <a:cubicBezTo>
                      <a:pt x="111" y="145"/>
                      <a:pt x="111" y="145"/>
                      <a:pt x="111" y="145"/>
                    </a:cubicBezTo>
                    <a:cubicBezTo>
                      <a:pt x="129" y="160"/>
                      <a:pt x="129" y="160"/>
                      <a:pt x="129" y="160"/>
                    </a:cubicBezTo>
                    <a:cubicBezTo>
                      <a:pt x="136" y="153"/>
                      <a:pt x="136" y="153"/>
                      <a:pt x="136" y="153"/>
                    </a:cubicBezTo>
                    <a:cubicBezTo>
                      <a:pt x="129" y="147"/>
                      <a:pt x="129" y="147"/>
                      <a:pt x="129" y="147"/>
                    </a:cubicBezTo>
                    <a:cubicBezTo>
                      <a:pt x="143" y="130"/>
                      <a:pt x="143" y="130"/>
                      <a:pt x="143" y="130"/>
                    </a:cubicBezTo>
                    <a:cubicBezTo>
                      <a:pt x="152" y="137"/>
                      <a:pt x="152" y="137"/>
                      <a:pt x="152" y="137"/>
                    </a:cubicBezTo>
                    <a:cubicBezTo>
                      <a:pt x="146" y="153"/>
                      <a:pt x="146" y="153"/>
                      <a:pt x="146" y="153"/>
                    </a:cubicBezTo>
                    <a:cubicBezTo>
                      <a:pt x="131" y="170"/>
                      <a:pt x="131" y="170"/>
                      <a:pt x="131" y="170"/>
                    </a:cubicBezTo>
                    <a:cubicBezTo>
                      <a:pt x="116" y="179"/>
                      <a:pt x="116" y="179"/>
                      <a:pt x="116" y="179"/>
                    </a:cubicBezTo>
                    <a:cubicBezTo>
                      <a:pt x="94" y="160"/>
                      <a:pt x="94" y="160"/>
                      <a:pt x="94" y="160"/>
                    </a:cubicBezTo>
                    <a:lnTo>
                      <a:pt x="100" y="146"/>
                    </a:lnTo>
                    <a:close/>
                    <a:moveTo>
                      <a:pt x="68" y="193"/>
                    </a:moveTo>
                    <a:cubicBezTo>
                      <a:pt x="80" y="181"/>
                      <a:pt x="80" y="181"/>
                      <a:pt x="80" y="181"/>
                    </a:cubicBezTo>
                    <a:cubicBezTo>
                      <a:pt x="93" y="187"/>
                      <a:pt x="93" y="187"/>
                      <a:pt x="93" y="187"/>
                    </a:cubicBezTo>
                    <a:cubicBezTo>
                      <a:pt x="92" y="204"/>
                      <a:pt x="92" y="204"/>
                      <a:pt x="92" y="204"/>
                    </a:cubicBezTo>
                    <a:cubicBezTo>
                      <a:pt x="86" y="217"/>
                      <a:pt x="86" y="217"/>
                      <a:pt x="86" y="217"/>
                    </a:cubicBezTo>
                    <a:cubicBezTo>
                      <a:pt x="99" y="222"/>
                      <a:pt x="99" y="222"/>
                      <a:pt x="99" y="222"/>
                    </a:cubicBezTo>
                    <a:cubicBezTo>
                      <a:pt x="89" y="243"/>
                      <a:pt x="89" y="243"/>
                      <a:pt x="89" y="243"/>
                    </a:cubicBezTo>
                    <a:cubicBezTo>
                      <a:pt x="53" y="227"/>
                      <a:pt x="53" y="227"/>
                      <a:pt x="53" y="227"/>
                    </a:cubicBezTo>
                    <a:lnTo>
                      <a:pt x="68" y="193"/>
                    </a:lnTo>
                    <a:close/>
                    <a:moveTo>
                      <a:pt x="40" y="268"/>
                    </a:moveTo>
                    <a:cubicBezTo>
                      <a:pt x="49" y="254"/>
                      <a:pt x="49" y="254"/>
                      <a:pt x="49" y="254"/>
                    </a:cubicBezTo>
                    <a:cubicBezTo>
                      <a:pt x="63" y="257"/>
                      <a:pt x="63" y="257"/>
                      <a:pt x="63" y="257"/>
                    </a:cubicBezTo>
                    <a:cubicBezTo>
                      <a:pt x="66" y="272"/>
                      <a:pt x="66" y="272"/>
                      <a:pt x="66" y="272"/>
                    </a:cubicBezTo>
                    <a:cubicBezTo>
                      <a:pt x="64" y="286"/>
                      <a:pt x="64" y="286"/>
                      <a:pt x="64" y="286"/>
                    </a:cubicBezTo>
                    <a:cubicBezTo>
                      <a:pt x="77" y="290"/>
                      <a:pt x="77" y="290"/>
                      <a:pt x="77" y="290"/>
                    </a:cubicBezTo>
                    <a:cubicBezTo>
                      <a:pt x="72" y="311"/>
                      <a:pt x="72" y="311"/>
                      <a:pt x="72" y="311"/>
                    </a:cubicBezTo>
                    <a:cubicBezTo>
                      <a:pt x="33" y="305"/>
                      <a:pt x="33" y="305"/>
                      <a:pt x="33" y="305"/>
                    </a:cubicBezTo>
                    <a:lnTo>
                      <a:pt x="40" y="268"/>
                    </a:lnTo>
                    <a:close/>
                    <a:moveTo>
                      <a:pt x="68" y="485"/>
                    </a:moveTo>
                    <a:cubicBezTo>
                      <a:pt x="57" y="474"/>
                      <a:pt x="57" y="474"/>
                      <a:pt x="57" y="474"/>
                    </a:cubicBezTo>
                    <a:cubicBezTo>
                      <a:pt x="47" y="452"/>
                      <a:pt x="47" y="452"/>
                      <a:pt x="47" y="452"/>
                    </a:cubicBezTo>
                    <a:cubicBezTo>
                      <a:pt x="46" y="434"/>
                      <a:pt x="46" y="434"/>
                      <a:pt x="46" y="434"/>
                    </a:cubicBezTo>
                    <a:cubicBezTo>
                      <a:pt x="72" y="423"/>
                      <a:pt x="72" y="423"/>
                      <a:pt x="72" y="423"/>
                    </a:cubicBezTo>
                    <a:cubicBezTo>
                      <a:pt x="83" y="435"/>
                      <a:pt x="83" y="435"/>
                      <a:pt x="83" y="435"/>
                    </a:cubicBezTo>
                    <a:cubicBezTo>
                      <a:pt x="93" y="458"/>
                      <a:pt x="93" y="458"/>
                      <a:pt x="93" y="458"/>
                    </a:cubicBezTo>
                    <a:cubicBezTo>
                      <a:pt x="94" y="474"/>
                      <a:pt x="94" y="474"/>
                      <a:pt x="94" y="474"/>
                    </a:cubicBezTo>
                    <a:cubicBezTo>
                      <a:pt x="86" y="479"/>
                      <a:pt x="86" y="479"/>
                      <a:pt x="86" y="479"/>
                    </a:cubicBezTo>
                    <a:cubicBezTo>
                      <a:pt x="77" y="457"/>
                      <a:pt x="77" y="457"/>
                      <a:pt x="77" y="457"/>
                    </a:cubicBezTo>
                    <a:cubicBezTo>
                      <a:pt x="83" y="455"/>
                      <a:pt x="83" y="455"/>
                      <a:pt x="83" y="455"/>
                    </a:cubicBezTo>
                    <a:cubicBezTo>
                      <a:pt x="80" y="445"/>
                      <a:pt x="80" y="445"/>
                      <a:pt x="80" y="445"/>
                    </a:cubicBezTo>
                    <a:cubicBezTo>
                      <a:pt x="57" y="455"/>
                      <a:pt x="57" y="455"/>
                      <a:pt x="57" y="455"/>
                    </a:cubicBezTo>
                    <a:cubicBezTo>
                      <a:pt x="61" y="465"/>
                      <a:pt x="61" y="465"/>
                      <a:pt x="61" y="465"/>
                    </a:cubicBezTo>
                    <a:cubicBezTo>
                      <a:pt x="66" y="463"/>
                      <a:pt x="66" y="463"/>
                      <a:pt x="66" y="463"/>
                    </a:cubicBezTo>
                    <a:cubicBezTo>
                      <a:pt x="64" y="457"/>
                      <a:pt x="64" y="457"/>
                      <a:pt x="64" y="457"/>
                    </a:cubicBezTo>
                    <a:cubicBezTo>
                      <a:pt x="71" y="454"/>
                      <a:pt x="71" y="454"/>
                      <a:pt x="71" y="454"/>
                    </a:cubicBezTo>
                    <a:cubicBezTo>
                      <a:pt x="82" y="480"/>
                      <a:pt x="82" y="480"/>
                      <a:pt x="82" y="480"/>
                    </a:cubicBezTo>
                    <a:lnTo>
                      <a:pt x="68" y="485"/>
                    </a:lnTo>
                    <a:close/>
                    <a:moveTo>
                      <a:pt x="107" y="547"/>
                    </a:moveTo>
                    <a:cubicBezTo>
                      <a:pt x="103" y="542"/>
                      <a:pt x="103" y="542"/>
                      <a:pt x="103" y="542"/>
                    </a:cubicBezTo>
                    <a:cubicBezTo>
                      <a:pt x="91" y="528"/>
                      <a:pt x="91" y="528"/>
                      <a:pt x="91" y="528"/>
                    </a:cubicBezTo>
                    <a:cubicBezTo>
                      <a:pt x="86" y="513"/>
                      <a:pt x="86" y="513"/>
                      <a:pt x="86" y="513"/>
                    </a:cubicBezTo>
                    <a:cubicBezTo>
                      <a:pt x="112" y="491"/>
                      <a:pt x="112" y="491"/>
                      <a:pt x="112" y="491"/>
                    </a:cubicBezTo>
                    <a:cubicBezTo>
                      <a:pt x="126" y="508"/>
                      <a:pt x="126" y="508"/>
                      <a:pt x="126" y="508"/>
                    </a:cubicBezTo>
                    <a:cubicBezTo>
                      <a:pt x="102" y="529"/>
                      <a:pt x="102" y="529"/>
                      <a:pt x="102" y="529"/>
                    </a:cubicBezTo>
                    <a:cubicBezTo>
                      <a:pt x="107" y="536"/>
                      <a:pt x="107" y="536"/>
                      <a:pt x="107" y="536"/>
                    </a:cubicBezTo>
                    <a:cubicBezTo>
                      <a:pt x="132" y="516"/>
                      <a:pt x="132" y="516"/>
                      <a:pt x="132" y="516"/>
                    </a:cubicBezTo>
                    <a:cubicBezTo>
                      <a:pt x="147" y="533"/>
                      <a:pt x="147" y="533"/>
                      <a:pt x="147" y="533"/>
                    </a:cubicBezTo>
                    <a:cubicBezTo>
                      <a:pt x="136" y="542"/>
                      <a:pt x="136" y="542"/>
                      <a:pt x="136" y="542"/>
                    </a:cubicBezTo>
                    <a:cubicBezTo>
                      <a:pt x="121" y="555"/>
                      <a:pt x="121" y="555"/>
                      <a:pt x="121" y="555"/>
                    </a:cubicBezTo>
                    <a:lnTo>
                      <a:pt x="107" y="547"/>
                    </a:lnTo>
                    <a:close/>
                    <a:moveTo>
                      <a:pt x="190" y="596"/>
                    </a:moveTo>
                    <a:cubicBezTo>
                      <a:pt x="187" y="611"/>
                      <a:pt x="187" y="611"/>
                      <a:pt x="187" y="611"/>
                    </a:cubicBezTo>
                    <a:cubicBezTo>
                      <a:pt x="168" y="598"/>
                      <a:pt x="168" y="598"/>
                      <a:pt x="168" y="598"/>
                    </a:cubicBezTo>
                    <a:cubicBezTo>
                      <a:pt x="169" y="596"/>
                      <a:pt x="169" y="596"/>
                      <a:pt x="169" y="596"/>
                    </a:cubicBezTo>
                    <a:cubicBezTo>
                      <a:pt x="170" y="592"/>
                      <a:pt x="170" y="592"/>
                      <a:pt x="170" y="592"/>
                    </a:cubicBezTo>
                    <a:cubicBezTo>
                      <a:pt x="159" y="584"/>
                      <a:pt x="159" y="584"/>
                      <a:pt x="159" y="584"/>
                    </a:cubicBezTo>
                    <a:cubicBezTo>
                      <a:pt x="154" y="589"/>
                      <a:pt x="154" y="589"/>
                      <a:pt x="154" y="589"/>
                    </a:cubicBezTo>
                    <a:cubicBezTo>
                      <a:pt x="136" y="577"/>
                      <a:pt x="136" y="577"/>
                      <a:pt x="136" y="577"/>
                    </a:cubicBezTo>
                    <a:cubicBezTo>
                      <a:pt x="170" y="552"/>
                      <a:pt x="170" y="552"/>
                      <a:pt x="170" y="552"/>
                    </a:cubicBezTo>
                    <a:cubicBezTo>
                      <a:pt x="197" y="570"/>
                      <a:pt x="197" y="570"/>
                      <a:pt x="197" y="570"/>
                    </a:cubicBezTo>
                    <a:lnTo>
                      <a:pt x="190" y="596"/>
                    </a:lnTo>
                    <a:close/>
                    <a:moveTo>
                      <a:pt x="270" y="619"/>
                    </a:moveTo>
                    <a:cubicBezTo>
                      <a:pt x="258" y="619"/>
                      <a:pt x="258" y="619"/>
                      <a:pt x="258" y="619"/>
                    </a:cubicBezTo>
                    <a:cubicBezTo>
                      <a:pt x="267" y="627"/>
                      <a:pt x="267" y="627"/>
                      <a:pt x="267" y="627"/>
                    </a:cubicBezTo>
                    <a:cubicBezTo>
                      <a:pt x="262" y="641"/>
                      <a:pt x="262" y="641"/>
                      <a:pt x="262" y="641"/>
                    </a:cubicBezTo>
                    <a:cubicBezTo>
                      <a:pt x="241" y="633"/>
                      <a:pt x="241" y="633"/>
                      <a:pt x="241" y="633"/>
                    </a:cubicBezTo>
                    <a:cubicBezTo>
                      <a:pt x="246" y="619"/>
                      <a:pt x="246" y="619"/>
                      <a:pt x="246" y="619"/>
                    </a:cubicBezTo>
                    <a:cubicBezTo>
                      <a:pt x="238" y="616"/>
                      <a:pt x="238" y="616"/>
                      <a:pt x="238" y="616"/>
                    </a:cubicBezTo>
                    <a:cubicBezTo>
                      <a:pt x="232" y="630"/>
                      <a:pt x="232" y="630"/>
                      <a:pt x="232" y="630"/>
                    </a:cubicBezTo>
                    <a:cubicBezTo>
                      <a:pt x="211" y="622"/>
                      <a:pt x="211" y="622"/>
                      <a:pt x="211" y="622"/>
                    </a:cubicBezTo>
                    <a:cubicBezTo>
                      <a:pt x="220" y="596"/>
                      <a:pt x="220" y="596"/>
                      <a:pt x="220" y="596"/>
                    </a:cubicBezTo>
                    <a:cubicBezTo>
                      <a:pt x="225" y="585"/>
                      <a:pt x="225" y="585"/>
                      <a:pt x="225" y="585"/>
                    </a:cubicBezTo>
                    <a:cubicBezTo>
                      <a:pt x="255" y="596"/>
                      <a:pt x="255" y="596"/>
                      <a:pt x="255" y="596"/>
                    </a:cubicBezTo>
                    <a:cubicBezTo>
                      <a:pt x="262" y="598"/>
                      <a:pt x="262" y="598"/>
                      <a:pt x="262" y="598"/>
                    </a:cubicBezTo>
                    <a:cubicBezTo>
                      <a:pt x="274" y="609"/>
                      <a:pt x="274" y="609"/>
                      <a:pt x="274" y="609"/>
                    </a:cubicBezTo>
                    <a:lnTo>
                      <a:pt x="270" y="619"/>
                    </a:lnTo>
                    <a:close/>
                    <a:moveTo>
                      <a:pt x="328" y="650"/>
                    </a:moveTo>
                    <a:cubicBezTo>
                      <a:pt x="327" y="642"/>
                      <a:pt x="327" y="642"/>
                      <a:pt x="327" y="642"/>
                    </a:cubicBezTo>
                    <a:cubicBezTo>
                      <a:pt x="314" y="641"/>
                      <a:pt x="314" y="641"/>
                      <a:pt x="314" y="641"/>
                    </a:cubicBezTo>
                    <a:cubicBezTo>
                      <a:pt x="311" y="648"/>
                      <a:pt x="311" y="648"/>
                      <a:pt x="311" y="648"/>
                    </a:cubicBezTo>
                    <a:cubicBezTo>
                      <a:pt x="289" y="646"/>
                      <a:pt x="289" y="646"/>
                      <a:pt x="289" y="646"/>
                    </a:cubicBezTo>
                    <a:cubicBezTo>
                      <a:pt x="305" y="608"/>
                      <a:pt x="305" y="608"/>
                      <a:pt x="305" y="608"/>
                    </a:cubicBezTo>
                    <a:cubicBezTo>
                      <a:pt x="339" y="610"/>
                      <a:pt x="339" y="610"/>
                      <a:pt x="339" y="610"/>
                    </a:cubicBezTo>
                    <a:cubicBezTo>
                      <a:pt x="351" y="651"/>
                      <a:pt x="351" y="651"/>
                      <a:pt x="351" y="651"/>
                    </a:cubicBezTo>
                    <a:lnTo>
                      <a:pt x="328" y="650"/>
                    </a:lnTo>
                    <a:close/>
                    <a:moveTo>
                      <a:pt x="412" y="642"/>
                    </a:moveTo>
                    <a:cubicBezTo>
                      <a:pt x="393" y="626"/>
                      <a:pt x="393" y="626"/>
                      <a:pt x="393" y="626"/>
                    </a:cubicBezTo>
                    <a:cubicBezTo>
                      <a:pt x="396" y="645"/>
                      <a:pt x="396" y="645"/>
                      <a:pt x="396" y="645"/>
                    </a:cubicBezTo>
                    <a:cubicBezTo>
                      <a:pt x="376" y="648"/>
                      <a:pt x="376" y="648"/>
                      <a:pt x="376" y="648"/>
                    </a:cubicBezTo>
                    <a:cubicBezTo>
                      <a:pt x="369" y="609"/>
                      <a:pt x="369" y="609"/>
                      <a:pt x="369" y="609"/>
                    </a:cubicBezTo>
                    <a:cubicBezTo>
                      <a:pt x="388" y="606"/>
                      <a:pt x="388" y="606"/>
                      <a:pt x="388" y="606"/>
                    </a:cubicBezTo>
                    <a:cubicBezTo>
                      <a:pt x="405" y="622"/>
                      <a:pt x="405" y="622"/>
                      <a:pt x="405" y="622"/>
                    </a:cubicBezTo>
                    <a:cubicBezTo>
                      <a:pt x="402" y="604"/>
                      <a:pt x="402" y="604"/>
                      <a:pt x="402" y="604"/>
                    </a:cubicBezTo>
                    <a:cubicBezTo>
                      <a:pt x="424" y="599"/>
                      <a:pt x="424" y="599"/>
                      <a:pt x="424" y="599"/>
                    </a:cubicBezTo>
                    <a:cubicBezTo>
                      <a:pt x="430" y="639"/>
                      <a:pt x="430" y="639"/>
                      <a:pt x="430" y="639"/>
                    </a:cubicBezTo>
                    <a:lnTo>
                      <a:pt x="412" y="642"/>
                    </a:lnTo>
                    <a:close/>
                    <a:moveTo>
                      <a:pt x="470" y="622"/>
                    </a:moveTo>
                    <a:cubicBezTo>
                      <a:pt x="457" y="596"/>
                      <a:pt x="457" y="596"/>
                      <a:pt x="457" y="596"/>
                    </a:cubicBezTo>
                    <a:cubicBezTo>
                      <a:pt x="456" y="594"/>
                      <a:pt x="456" y="594"/>
                      <a:pt x="456" y="594"/>
                    </a:cubicBezTo>
                    <a:cubicBezTo>
                      <a:pt x="451" y="596"/>
                      <a:pt x="451" y="596"/>
                      <a:pt x="451" y="596"/>
                    </a:cubicBezTo>
                    <a:cubicBezTo>
                      <a:pt x="444" y="601"/>
                      <a:pt x="444" y="601"/>
                      <a:pt x="444" y="601"/>
                    </a:cubicBezTo>
                    <a:cubicBezTo>
                      <a:pt x="442" y="596"/>
                      <a:pt x="442" y="596"/>
                      <a:pt x="442" y="596"/>
                    </a:cubicBezTo>
                    <a:cubicBezTo>
                      <a:pt x="441" y="593"/>
                      <a:pt x="441" y="593"/>
                      <a:pt x="441" y="593"/>
                    </a:cubicBezTo>
                    <a:cubicBezTo>
                      <a:pt x="485" y="571"/>
                      <a:pt x="485" y="571"/>
                      <a:pt x="485" y="571"/>
                    </a:cubicBezTo>
                    <a:cubicBezTo>
                      <a:pt x="488" y="579"/>
                      <a:pt x="488" y="579"/>
                      <a:pt x="488" y="579"/>
                    </a:cubicBezTo>
                    <a:cubicBezTo>
                      <a:pt x="476" y="584"/>
                      <a:pt x="476" y="584"/>
                      <a:pt x="476" y="584"/>
                    </a:cubicBezTo>
                    <a:cubicBezTo>
                      <a:pt x="482" y="596"/>
                      <a:pt x="482" y="596"/>
                      <a:pt x="482" y="596"/>
                    </a:cubicBezTo>
                    <a:cubicBezTo>
                      <a:pt x="491" y="613"/>
                      <a:pt x="491" y="613"/>
                      <a:pt x="491" y="613"/>
                    </a:cubicBezTo>
                    <a:lnTo>
                      <a:pt x="470" y="622"/>
                    </a:lnTo>
                    <a:close/>
                    <a:moveTo>
                      <a:pt x="524" y="593"/>
                    </a:moveTo>
                    <a:cubicBezTo>
                      <a:pt x="499" y="563"/>
                      <a:pt x="499" y="563"/>
                      <a:pt x="499" y="563"/>
                    </a:cubicBezTo>
                    <a:cubicBezTo>
                      <a:pt x="525" y="542"/>
                      <a:pt x="525" y="542"/>
                      <a:pt x="525" y="542"/>
                    </a:cubicBezTo>
                    <a:cubicBezTo>
                      <a:pt x="531" y="536"/>
                      <a:pt x="531" y="536"/>
                      <a:pt x="531" y="536"/>
                    </a:cubicBezTo>
                    <a:cubicBezTo>
                      <a:pt x="536" y="542"/>
                      <a:pt x="536" y="542"/>
                      <a:pt x="536" y="542"/>
                    </a:cubicBezTo>
                    <a:cubicBezTo>
                      <a:pt x="537" y="542"/>
                      <a:pt x="537" y="542"/>
                      <a:pt x="537" y="542"/>
                    </a:cubicBezTo>
                    <a:cubicBezTo>
                      <a:pt x="521" y="554"/>
                      <a:pt x="521" y="554"/>
                      <a:pt x="521" y="554"/>
                    </a:cubicBezTo>
                    <a:cubicBezTo>
                      <a:pt x="526" y="560"/>
                      <a:pt x="526" y="560"/>
                      <a:pt x="526" y="560"/>
                    </a:cubicBezTo>
                    <a:cubicBezTo>
                      <a:pt x="539" y="551"/>
                      <a:pt x="539" y="551"/>
                      <a:pt x="539" y="551"/>
                    </a:cubicBezTo>
                    <a:cubicBezTo>
                      <a:pt x="543" y="556"/>
                      <a:pt x="543" y="556"/>
                      <a:pt x="543" y="556"/>
                    </a:cubicBezTo>
                    <a:cubicBezTo>
                      <a:pt x="530" y="566"/>
                      <a:pt x="530" y="566"/>
                      <a:pt x="530" y="566"/>
                    </a:cubicBezTo>
                    <a:cubicBezTo>
                      <a:pt x="537" y="573"/>
                      <a:pt x="537" y="573"/>
                      <a:pt x="537" y="573"/>
                    </a:cubicBezTo>
                    <a:cubicBezTo>
                      <a:pt x="552" y="561"/>
                      <a:pt x="552" y="561"/>
                      <a:pt x="552" y="561"/>
                    </a:cubicBezTo>
                    <a:cubicBezTo>
                      <a:pt x="556" y="567"/>
                      <a:pt x="556" y="567"/>
                      <a:pt x="556" y="567"/>
                    </a:cubicBezTo>
                    <a:lnTo>
                      <a:pt x="524" y="593"/>
                    </a:lnTo>
                    <a:close/>
                    <a:moveTo>
                      <a:pt x="580" y="542"/>
                    </a:moveTo>
                    <a:cubicBezTo>
                      <a:pt x="577" y="546"/>
                      <a:pt x="577" y="546"/>
                      <a:pt x="577" y="546"/>
                    </a:cubicBezTo>
                    <a:cubicBezTo>
                      <a:pt x="571" y="542"/>
                      <a:pt x="571" y="542"/>
                      <a:pt x="571" y="542"/>
                    </a:cubicBezTo>
                    <a:cubicBezTo>
                      <a:pt x="545" y="522"/>
                      <a:pt x="545" y="522"/>
                      <a:pt x="545" y="522"/>
                    </a:cubicBezTo>
                    <a:cubicBezTo>
                      <a:pt x="571" y="490"/>
                      <a:pt x="571" y="490"/>
                      <a:pt x="571" y="490"/>
                    </a:cubicBezTo>
                    <a:cubicBezTo>
                      <a:pt x="577" y="494"/>
                      <a:pt x="577" y="494"/>
                      <a:pt x="577" y="494"/>
                    </a:cubicBezTo>
                    <a:cubicBezTo>
                      <a:pt x="565" y="509"/>
                      <a:pt x="565" y="509"/>
                      <a:pt x="565" y="509"/>
                    </a:cubicBezTo>
                    <a:cubicBezTo>
                      <a:pt x="571" y="514"/>
                      <a:pt x="571" y="514"/>
                      <a:pt x="571" y="514"/>
                    </a:cubicBezTo>
                    <a:cubicBezTo>
                      <a:pt x="581" y="502"/>
                      <a:pt x="581" y="502"/>
                      <a:pt x="581" y="502"/>
                    </a:cubicBezTo>
                    <a:cubicBezTo>
                      <a:pt x="587" y="506"/>
                      <a:pt x="587" y="506"/>
                      <a:pt x="587" y="506"/>
                    </a:cubicBezTo>
                    <a:cubicBezTo>
                      <a:pt x="577" y="518"/>
                      <a:pt x="577" y="518"/>
                      <a:pt x="577" y="518"/>
                    </a:cubicBezTo>
                    <a:cubicBezTo>
                      <a:pt x="585" y="524"/>
                      <a:pt x="585" y="524"/>
                      <a:pt x="585" y="524"/>
                    </a:cubicBezTo>
                    <a:cubicBezTo>
                      <a:pt x="598" y="509"/>
                      <a:pt x="598" y="509"/>
                      <a:pt x="598" y="509"/>
                    </a:cubicBezTo>
                    <a:cubicBezTo>
                      <a:pt x="603" y="514"/>
                      <a:pt x="603" y="514"/>
                      <a:pt x="603" y="514"/>
                    </a:cubicBezTo>
                    <a:lnTo>
                      <a:pt x="580" y="542"/>
                    </a:lnTo>
                    <a:close/>
                    <a:moveTo>
                      <a:pt x="636" y="453"/>
                    </a:moveTo>
                    <a:cubicBezTo>
                      <a:pt x="619" y="489"/>
                      <a:pt x="619" y="489"/>
                      <a:pt x="619" y="489"/>
                    </a:cubicBezTo>
                    <a:cubicBezTo>
                      <a:pt x="582" y="473"/>
                      <a:pt x="582" y="473"/>
                      <a:pt x="582" y="473"/>
                    </a:cubicBezTo>
                    <a:cubicBezTo>
                      <a:pt x="599" y="437"/>
                      <a:pt x="599" y="437"/>
                      <a:pt x="599" y="437"/>
                    </a:cubicBezTo>
                    <a:cubicBezTo>
                      <a:pt x="611" y="426"/>
                      <a:pt x="611" y="426"/>
                      <a:pt x="611" y="426"/>
                    </a:cubicBezTo>
                    <a:cubicBezTo>
                      <a:pt x="637" y="436"/>
                      <a:pt x="637" y="436"/>
                      <a:pt x="637" y="436"/>
                    </a:cubicBezTo>
                    <a:lnTo>
                      <a:pt x="636" y="453"/>
                    </a:lnTo>
                    <a:close/>
                    <a:moveTo>
                      <a:pt x="644" y="274"/>
                    </a:moveTo>
                    <a:cubicBezTo>
                      <a:pt x="628" y="277"/>
                      <a:pt x="628" y="277"/>
                      <a:pt x="628" y="277"/>
                    </a:cubicBezTo>
                    <a:cubicBezTo>
                      <a:pt x="630" y="286"/>
                      <a:pt x="630" y="286"/>
                      <a:pt x="630" y="286"/>
                    </a:cubicBezTo>
                    <a:cubicBezTo>
                      <a:pt x="645" y="283"/>
                      <a:pt x="645" y="283"/>
                      <a:pt x="645" y="283"/>
                    </a:cubicBezTo>
                    <a:cubicBezTo>
                      <a:pt x="650" y="306"/>
                      <a:pt x="650" y="306"/>
                      <a:pt x="650" y="306"/>
                    </a:cubicBezTo>
                    <a:cubicBezTo>
                      <a:pt x="611" y="312"/>
                      <a:pt x="611" y="312"/>
                      <a:pt x="611" y="312"/>
                    </a:cubicBezTo>
                    <a:cubicBezTo>
                      <a:pt x="606" y="291"/>
                      <a:pt x="606" y="291"/>
                      <a:pt x="606" y="291"/>
                    </a:cubicBezTo>
                    <a:cubicBezTo>
                      <a:pt x="623" y="287"/>
                      <a:pt x="623" y="287"/>
                      <a:pt x="623" y="287"/>
                    </a:cubicBezTo>
                    <a:cubicBezTo>
                      <a:pt x="620" y="279"/>
                      <a:pt x="620" y="279"/>
                      <a:pt x="620" y="279"/>
                    </a:cubicBezTo>
                    <a:cubicBezTo>
                      <a:pt x="605" y="281"/>
                      <a:pt x="605" y="281"/>
                      <a:pt x="605" y="281"/>
                    </a:cubicBezTo>
                    <a:cubicBezTo>
                      <a:pt x="601" y="259"/>
                      <a:pt x="601" y="259"/>
                      <a:pt x="601" y="259"/>
                    </a:cubicBezTo>
                    <a:cubicBezTo>
                      <a:pt x="640" y="252"/>
                      <a:pt x="640" y="252"/>
                      <a:pt x="640" y="252"/>
                    </a:cubicBezTo>
                    <a:lnTo>
                      <a:pt x="644" y="274"/>
                    </a:lnTo>
                    <a:close/>
                    <a:moveTo>
                      <a:pt x="611" y="184"/>
                    </a:moveTo>
                    <a:cubicBezTo>
                      <a:pt x="631" y="228"/>
                      <a:pt x="631" y="228"/>
                      <a:pt x="631" y="228"/>
                    </a:cubicBezTo>
                    <a:cubicBezTo>
                      <a:pt x="624" y="231"/>
                      <a:pt x="624" y="231"/>
                      <a:pt x="624" y="231"/>
                    </a:cubicBezTo>
                    <a:cubicBezTo>
                      <a:pt x="618" y="219"/>
                      <a:pt x="618" y="219"/>
                      <a:pt x="618" y="219"/>
                    </a:cubicBezTo>
                    <a:cubicBezTo>
                      <a:pt x="589" y="232"/>
                      <a:pt x="589" y="232"/>
                      <a:pt x="589" y="232"/>
                    </a:cubicBezTo>
                    <a:cubicBezTo>
                      <a:pt x="580" y="211"/>
                      <a:pt x="580" y="211"/>
                      <a:pt x="580" y="211"/>
                    </a:cubicBezTo>
                    <a:cubicBezTo>
                      <a:pt x="610" y="198"/>
                      <a:pt x="610" y="198"/>
                      <a:pt x="610" y="198"/>
                    </a:cubicBezTo>
                    <a:cubicBezTo>
                      <a:pt x="604" y="186"/>
                      <a:pt x="604" y="186"/>
                      <a:pt x="604" y="186"/>
                    </a:cubicBezTo>
                    <a:lnTo>
                      <a:pt x="611" y="184"/>
                    </a:lnTo>
                    <a:close/>
                    <a:moveTo>
                      <a:pt x="593" y="165"/>
                    </a:moveTo>
                    <a:cubicBezTo>
                      <a:pt x="586" y="171"/>
                      <a:pt x="586" y="171"/>
                      <a:pt x="586" y="171"/>
                    </a:cubicBezTo>
                    <a:cubicBezTo>
                      <a:pt x="571" y="154"/>
                      <a:pt x="571" y="154"/>
                      <a:pt x="571" y="154"/>
                    </a:cubicBezTo>
                    <a:cubicBezTo>
                      <a:pt x="577" y="149"/>
                      <a:pt x="577" y="149"/>
                      <a:pt x="577" y="149"/>
                    </a:cubicBezTo>
                    <a:cubicBezTo>
                      <a:pt x="569" y="142"/>
                      <a:pt x="569" y="142"/>
                      <a:pt x="569" y="142"/>
                    </a:cubicBezTo>
                    <a:cubicBezTo>
                      <a:pt x="551" y="157"/>
                      <a:pt x="551" y="157"/>
                      <a:pt x="551" y="157"/>
                    </a:cubicBezTo>
                    <a:cubicBezTo>
                      <a:pt x="557" y="166"/>
                      <a:pt x="557" y="166"/>
                      <a:pt x="557" y="166"/>
                    </a:cubicBezTo>
                    <a:cubicBezTo>
                      <a:pt x="562" y="161"/>
                      <a:pt x="562" y="161"/>
                      <a:pt x="562" y="161"/>
                    </a:cubicBezTo>
                    <a:cubicBezTo>
                      <a:pt x="558" y="157"/>
                      <a:pt x="558" y="157"/>
                      <a:pt x="558" y="157"/>
                    </a:cubicBezTo>
                    <a:cubicBezTo>
                      <a:pt x="564" y="153"/>
                      <a:pt x="564" y="153"/>
                      <a:pt x="564" y="153"/>
                    </a:cubicBezTo>
                    <a:cubicBezTo>
                      <a:pt x="582" y="173"/>
                      <a:pt x="582" y="173"/>
                      <a:pt x="582" y="173"/>
                    </a:cubicBezTo>
                    <a:cubicBezTo>
                      <a:pt x="571" y="183"/>
                      <a:pt x="571" y="183"/>
                      <a:pt x="571" y="183"/>
                    </a:cubicBezTo>
                    <a:cubicBezTo>
                      <a:pt x="557" y="175"/>
                      <a:pt x="557" y="175"/>
                      <a:pt x="557" y="175"/>
                    </a:cubicBezTo>
                    <a:cubicBezTo>
                      <a:pt x="541" y="157"/>
                      <a:pt x="541" y="157"/>
                      <a:pt x="541" y="157"/>
                    </a:cubicBezTo>
                    <a:cubicBezTo>
                      <a:pt x="535" y="142"/>
                      <a:pt x="535" y="142"/>
                      <a:pt x="535" y="142"/>
                    </a:cubicBezTo>
                    <a:cubicBezTo>
                      <a:pt x="556" y="123"/>
                      <a:pt x="556" y="123"/>
                      <a:pt x="556" y="123"/>
                    </a:cubicBezTo>
                    <a:cubicBezTo>
                      <a:pt x="570" y="131"/>
                      <a:pt x="570" y="131"/>
                      <a:pt x="570" y="131"/>
                    </a:cubicBezTo>
                    <a:cubicBezTo>
                      <a:pt x="587" y="149"/>
                      <a:pt x="587" y="149"/>
                      <a:pt x="587" y="149"/>
                    </a:cubicBezTo>
                    <a:lnTo>
                      <a:pt x="593" y="16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6" name="Freeform 10">
                <a:extLst>
                  <a:ext uri="{FF2B5EF4-FFF2-40B4-BE49-F238E27FC236}">
                    <a16:creationId xmlns:a16="http://schemas.microsoft.com/office/drawing/2014/main" id="{F2081852-9579-47E6-9150-333E3EF7543A}"/>
                  </a:ext>
                </a:extLst>
              </p:cNvPr>
              <p:cNvSpPr>
                <a:spLocks/>
              </p:cNvSpPr>
              <p:nvPr/>
            </p:nvSpPr>
            <p:spPr bwMode="auto">
              <a:xfrm>
                <a:off x="9398000" y="8186738"/>
                <a:ext cx="107950" cy="127000"/>
              </a:xfrm>
              <a:custGeom>
                <a:avLst/>
                <a:gdLst>
                  <a:gd name="T0" fmla="*/ 34 w 34"/>
                  <a:gd name="T1" fmla="*/ 39 h 39"/>
                  <a:gd name="T2" fmla="*/ 32 w 34"/>
                  <a:gd name="T3" fmla="*/ 0 h 39"/>
                  <a:gd name="T4" fmla="*/ 0 w 34"/>
                  <a:gd name="T5" fmla="*/ 24 h 39"/>
                  <a:gd name="T6" fmla="*/ 19 w 34"/>
                  <a:gd name="T7" fmla="*/ 32 h 39"/>
                  <a:gd name="T8" fmla="*/ 34 w 34"/>
                  <a:gd name="T9" fmla="*/ 39 h 39"/>
                </a:gdLst>
                <a:ahLst/>
                <a:cxnLst>
                  <a:cxn ang="0">
                    <a:pos x="T0" y="T1"/>
                  </a:cxn>
                  <a:cxn ang="0">
                    <a:pos x="T2" y="T3"/>
                  </a:cxn>
                  <a:cxn ang="0">
                    <a:pos x="T4" y="T5"/>
                  </a:cxn>
                  <a:cxn ang="0">
                    <a:pos x="T6" y="T7"/>
                  </a:cxn>
                  <a:cxn ang="0">
                    <a:pos x="T8" y="T9"/>
                  </a:cxn>
                </a:cxnLst>
                <a:rect l="0" t="0" r="r" b="b"/>
                <a:pathLst>
                  <a:path w="34" h="39">
                    <a:moveTo>
                      <a:pt x="34" y="39"/>
                    </a:moveTo>
                    <a:cubicBezTo>
                      <a:pt x="32" y="0"/>
                      <a:pt x="32" y="0"/>
                      <a:pt x="32" y="0"/>
                    </a:cubicBezTo>
                    <a:cubicBezTo>
                      <a:pt x="0" y="24"/>
                      <a:pt x="0" y="24"/>
                      <a:pt x="0" y="24"/>
                    </a:cubicBezTo>
                    <a:cubicBezTo>
                      <a:pt x="7" y="26"/>
                      <a:pt x="12" y="29"/>
                      <a:pt x="19" y="32"/>
                    </a:cubicBezTo>
                    <a:cubicBezTo>
                      <a:pt x="24" y="34"/>
                      <a:pt x="29" y="36"/>
                      <a:pt x="34" y="3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7" name="Freeform 11">
                <a:extLst>
                  <a:ext uri="{FF2B5EF4-FFF2-40B4-BE49-F238E27FC236}">
                    <a16:creationId xmlns:a16="http://schemas.microsoft.com/office/drawing/2014/main" id="{ECAC3C4C-5F1F-49C4-B6F8-EFDF033994C3}"/>
                  </a:ext>
                </a:extLst>
              </p:cNvPr>
              <p:cNvSpPr>
                <a:spLocks/>
              </p:cNvSpPr>
              <p:nvPr/>
            </p:nvSpPr>
            <p:spPr bwMode="auto">
              <a:xfrm>
                <a:off x="9967913" y="8726488"/>
                <a:ext cx="123825" cy="101600"/>
              </a:xfrm>
              <a:custGeom>
                <a:avLst/>
                <a:gdLst>
                  <a:gd name="T0" fmla="*/ 9 w 39"/>
                  <a:gd name="T1" fmla="*/ 16 h 31"/>
                  <a:gd name="T2" fmla="*/ 18 w 39"/>
                  <a:gd name="T3" fmla="*/ 31 h 31"/>
                  <a:gd name="T4" fmla="*/ 39 w 39"/>
                  <a:gd name="T5" fmla="*/ 0 h 31"/>
                  <a:gd name="T6" fmla="*/ 0 w 39"/>
                  <a:gd name="T7" fmla="*/ 0 h 31"/>
                  <a:gd name="T8" fmla="*/ 9 w 39"/>
                  <a:gd name="T9" fmla="*/ 16 h 31"/>
                </a:gdLst>
                <a:ahLst/>
                <a:cxnLst>
                  <a:cxn ang="0">
                    <a:pos x="T0" y="T1"/>
                  </a:cxn>
                  <a:cxn ang="0">
                    <a:pos x="T2" y="T3"/>
                  </a:cxn>
                  <a:cxn ang="0">
                    <a:pos x="T4" y="T5"/>
                  </a:cxn>
                  <a:cxn ang="0">
                    <a:pos x="T6" y="T7"/>
                  </a:cxn>
                  <a:cxn ang="0">
                    <a:pos x="T8" y="T9"/>
                  </a:cxn>
                </a:cxnLst>
                <a:rect l="0" t="0" r="r" b="b"/>
                <a:pathLst>
                  <a:path w="39" h="31">
                    <a:moveTo>
                      <a:pt x="9" y="16"/>
                    </a:moveTo>
                    <a:cubicBezTo>
                      <a:pt x="13" y="21"/>
                      <a:pt x="15" y="27"/>
                      <a:pt x="18" y="31"/>
                    </a:cubicBezTo>
                    <a:cubicBezTo>
                      <a:pt x="39" y="0"/>
                      <a:pt x="39" y="0"/>
                      <a:pt x="39" y="0"/>
                    </a:cubicBezTo>
                    <a:cubicBezTo>
                      <a:pt x="0" y="0"/>
                      <a:pt x="0" y="0"/>
                      <a:pt x="0" y="0"/>
                    </a:cubicBezTo>
                    <a:cubicBezTo>
                      <a:pt x="3" y="5"/>
                      <a:pt x="6" y="10"/>
                      <a:pt x="9"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8" name="Freeform 12">
                <a:extLst>
                  <a:ext uri="{FF2B5EF4-FFF2-40B4-BE49-F238E27FC236}">
                    <a16:creationId xmlns:a16="http://schemas.microsoft.com/office/drawing/2014/main" id="{602A51AC-8D80-4C68-959A-FEA55F2E1BF2}"/>
                  </a:ext>
                </a:extLst>
              </p:cNvPr>
              <p:cNvSpPr>
                <a:spLocks/>
              </p:cNvSpPr>
              <p:nvPr/>
            </p:nvSpPr>
            <p:spPr bwMode="auto">
              <a:xfrm>
                <a:off x="9810750" y="8505826"/>
                <a:ext cx="122238" cy="117475"/>
              </a:xfrm>
              <a:custGeom>
                <a:avLst/>
                <a:gdLst>
                  <a:gd name="T0" fmla="*/ 13 w 38"/>
                  <a:gd name="T1" fmla="*/ 23 h 36"/>
                  <a:gd name="T2" fmla="*/ 25 w 38"/>
                  <a:gd name="T3" fmla="*/ 36 h 36"/>
                  <a:gd name="T4" fmla="*/ 38 w 38"/>
                  <a:gd name="T5" fmla="*/ 0 h 36"/>
                  <a:gd name="T6" fmla="*/ 0 w 38"/>
                  <a:gd name="T7" fmla="*/ 9 h 36"/>
                  <a:gd name="T8" fmla="*/ 13 w 38"/>
                  <a:gd name="T9" fmla="*/ 23 h 36"/>
                </a:gdLst>
                <a:ahLst/>
                <a:cxnLst>
                  <a:cxn ang="0">
                    <a:pos x="T0" y="T1"/>
                  </a:cxn>
                  <a:cxn ang="0">
                    <a:pos x="T2" y="T3"/>
                  </a:cxn>
                  <a:cxn ang="0">
                    <a:pos x="T4" y="T5"/>
                  </a:cxn>
                  <a:cxn ang="0">
                    <a:pos x="T6" y="T7"/>
                  </a:cxn>
                  <a:cxn ang="0">
                    <a:pos x="T8" y="T9"/>
                  </a:cxn>
                </a:cxnLst>
                <a:rect l="0" t="0" r="r" b="b"/>
                <a:pathLst>
                  <a:path w="38" h="36">
                    <a:moveTo>
                      <a:pt x="13" y="23"/>
                    </a:moveTo>
                    <a:cubicBezTo>
                      <a:pt x="17" y="27"/>
                      <a:pt x="20" y="32"/>
                      <a:pt x="25" y="36"/>
                    </a:cubicBezTo>
                    <a:cubicBezTo>
                      <a:pt x="38" y="0"/>
                      <a:pt x="38" y="0"/>
                      <a:pt x="38" y="0"/>
                    </a:cubicBezTo>
                    <a:cubicBezTo>
                      <a:pt x="0" y="9"/>
                      <a:pt x="0" y="9"/>
                      <a:pt x="0" y="9"/>
                    </a:cubicBezTo>
                    <a:cubicBezTo>
                      <a:pt x="4" y="13"/>
                      <a:pt x="8" y="18"/>
                      <a:pt x="13" y="2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59" name="Freeform 13">
                <a:extLst>
                  <a:ext uri="{FF2B5EF4-FFF2-40B4-BE49-F238E27FC236}">
                    <a16:creationId xmlns:a16="http://schemas.microsoft.com/office/drawing/2014/main" id="{3E2B633A-8C0F-4532-969B-5A8D3386E1D2}"/>
                  </a:ext>
                </a:extLst>
              </p:cNvPr>
              <p:cNvSpPr>
                <a:spLocks/>
              </p:cNvSpPr>
              <p:nvPr/>
            </p:nvSpPr>
            <p:spPr bwMode="auto">
              <a:xfrm>
                <a:off x="9893300" y="8613776"/>
                <a:ext cx="125413" cy="106363"/>
              </a:xfrm>
              <a:custGeom>
                <a:avLst/>
                <a:gdLst>
                  <a:gd name="T0" fmla="*/ 12 w 39"/>
                  <a:gd name="T1" fmla="*/ 19 h 33"/>
                  <a:gd name="T2" fmla="*/ 22 w 39"/>
                  <a:gd name="T3" fmla="*/ 33 h 33"/>
                  <a:gd name="T4" fmla="*/ 39 w 39"/>
                  <a:gd name="T5" fmla="*/ 0 h 33"/>
                  <a:gd name="T6" fmla="*/ 0 w 39"/>
                  <a:gd name="T7" fmla="*/ 4 h 33"/>
                  <a:gd name="T8" fmla="*/ 12 w 39"/>
                  <a:gd name="T9" fmla="*/ 19 h 33"/>
                </a:gdLst>
                <a:ahLst/>
                <a:cxnLst>
                  <a:cxn ang="0">
                    <a:pos x="T0" y="T1"/>
                  </a:cxn>
                  <a:cxn ang="0">
                    <a:pos x="T2" y="T3"/>
                  </a:cxn>
                  <a:cxn ang="0">
                    <a:pos x="T4" y="T5"/>
                  </a:cxn>
                  <a:cxn ang="0">
                    <a:pos x="T6" y="T7"/>
                  </a:cxn>
                  <a:cxn ang="0">
                    <a:pos x="T8" y="T9"/>
                  </a:cxn>
                </a:cxnLst>
                <a:rect l="0" t="0" r="r" b="b"/>
                <a:pathLst>
                  <a:path w="39" h="33">
                    <a:moveTo>
                      <a:pt x="12" y="19"/>
                    </a:moveTo>
                    <a:cubicBezTo>
                      <a:pt x="15" y="24"/>
                      <a:pt x="18" y="29"/>
                      <a:pt x="22" y="33"/>
                    </a:cubicBezTo>
                    <a:cubicBezTo>
                      <a:pt x="39" y="0"/>
                      <a:pt x="39" y="0"/>
                      <a:pt x="39" y="0"/>
                    </a:cubicBezTo>
                    <a:cubicBezTo>
                      <a:pt x="0" y="4"/>
                      <a:pt x="0" y="4"/>
                      <a:pt x="0" y="4"/>
                    </a:cubicBezTo>
                    <a:cubicBezTo>
                      <a:pt x="4" y="8"/>
                      <a:pt x="7" y="14"/>
                      <a:pt x="12" y="1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0" name="Freeform 14">
                <a:extLst>
                  <a:ext uri="{FF2B5EF4-FFF2-40B4-BE49-F238E27FC236}">
                    <a16:creationId xmlns:a16="http://schemas.microsoft.com/office/drawing/2014/main" id="{E8BAD186-27D1-46F8-A44B-34A2BEE89C4C}"/>
                  </a:ext>
                </a:extLst>
              </p:cNvPr>
              <p:cNvSpPr>
                <a:spLocks/>
              </p:cNvSpPr>
              <p:nvPr/>
            </p:nvSpPr>
            <p:spPr bwMode="auto">
              <a:xfrm>
                <a:off x="9163050" y="8104188"/>
                <a:ext cx="112713" cy="120650"/>
              </a:xfrm>
              <a:custGeom>
                <a:avLst/>
                <a:gdLst>
                  <a:gd name="T0" fmla="*/ 35 w 35"/>
                  <a:gd name="T1" fmla="*/ 37 h 37"/>
                  <a:gd name="T2" fmla="*/ 26 w 35"/>
                  <a:gd name="T3" fmla="*/ 0 h 37"/>
                  <a:gd name="T4" fmla="*/ 0 w 35"/>
                  <a:gd name="T5" fmla="*/ 30 h 37"/>
                  <a:gd name="T6" fmla="*/ 18 w 35"/>
                  <a:gd name="T7" fmla="*/ 33 h 37"/>
                  <a:gd name="T8" fmla="*/ 35 w 35"/>
                  <a:gd name="T9" fmla="*/ 37 h 37"/>
                </a:gdLst>
                <a:ahLst/>
                <a:cxnLst>
                  <a:cxn ang="0">
                    <a:pos x="T0" y="T1"/>
                  </a:cxn>
                  <a:cxn ang="0">
                    <a:pos x="T2" y="T3"/>
                  </a:cxn>
                  <a:cxn ang="0">
                    <a:pos x="T4" y="T5"/>
                  </a:cxn>
                  <a:cxn ang="0">
                    <a:pos x="T6" y="T7"/>
                  </a:cxn>
                  <a:cxn ang="0">
                    <a:pos x="T8" y="T9"/>
                  </a:cxn>
                </a:cxnLst>
                <a:rect l="0" t="0" r="r" b="b"/>
                <a:pathLst>
                  <a:path w="35" h="37">
                    <a:moveTo>
                      <a:pt x="35" y="37"/>
                    </a:moveTo>
                    <a:cubicBezTo>
                      <a:pt x="26" y="0"/>
                      <a:pt x="26" y="0"/>
                      <a:pt x="26" y="0"/>
                    </a:cubicBezTo>
                    <a:cubicBezTo>
                      <a:pt x="0" y="30"/>
                      <a:pt x="0" y="30"/>
                      <a:pt x="0" y="30"/>
                    </a:cubicBezTo>
                    <a:cubicBezTo>
                      <a:pt x="6" y="31"/>
                      <a:pt x="13" y="32"/>
                      <a:pt x="18" y="33"/>
                    </a:cubicBezTo>
                    <a:cubicBezTo>
                      <a:pt x="25" y="34"/>
                      <a:pt x="30" y="35"/>
                      <a:pt x="35" y="3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1" name="Freeform 15">
                <a:extLst>
                  <a:ext uri="{FF2B5EF4-FFF2-40B4-BE49-F238E27FC236}">
                    <a16:creationId xmlns:a16="http://schemas.microsoft.com/office/drawing/2014/main" id="{980949F6-07F7-477E-BBA4-5C6A7F89ADF3}"/>
                  </a:ext>
                </a:extLst>
              </p:cNvPr>
              <p:cNvSpPr>
                <a:spLocks/>
              </p:cNvSpPr>
              <p:nvPr/>
            </p:nvSpPr>
            <p:spPr bwMode="auto">
              <a:xfrm>
                <a:off x="9285288" y="8140701"/>
                <a:ext cx="109538" cy="120650"/>
              </a:xfrm>
              <a:custGeom>
                <a:avLst/>
                <a:gdLst>
                  <a:gd name="T0" fmla="*/ 34 w 34"/>
                  <a:gd name="T1" fmla="*/ 37 h 37"/>
                  <a:gd name="T2" fmla="*/ 28 w 34"/>
                  <a:gd name="T3" fmla="*/ 0 h 37"/>
                  <a:gd name="T4" fmla="*/ 0 w 34"/>
                  <a:gd name="T5" fmla="*/ 26 h 37"/>
                  <a:gd name="T6" fmla="*/ 18 w 34"/>
                  <a:gd name="T7" fmla="*/ 32 h 37"/>
                  <a:gd name="T8" fmla="*/ 34 w 34"/>
                  <a:gd name="T9" fmla="*/ 37 h 37"/>
                </a:gdLst>
                <a:ahLst/>
                <a:cxnLst>
                  <a:cxn ang="0">
                    <a:pos x="T0" y="T1"/>
                  </a:cxn>
                  <a:cxn ang="0">
                    <a:pos x="T2" y="T3"/>
                  </a:cxn>
                  <a:cxn ang="0">
                    <a:pos x="T4" y="T5"/>
                  </a:cxn>
                  <a:cxn ang="0">
                    <a:pos x="T6" y="T7"/>
                  </a:cxn>
                  <a:cxn ang="0">
                    <a:pos x="T8" y="T9"/>
                  </a:cxn>
                </a:cxnLst>
                <a:rect l="0" t="0" r="r" b="b"/>
                <a:pathLst>
                  <a:path w="34" h="37">
                    <a:moveTo>
                      <a:pt x="34" y="37"/>
                    </a:moveTo>
                    <a:cubicBezTo>
                      <a:pt x="28" y="0"/>
                      <a:pt x="28" y="0"/>
                      <a:pt x="28" y="0"/>
                    </a:cubicBezTo>
                    <a:cubicBezTo>
                      <a:pt x="0" y="26"/>
                      <a:pt x="0" y="26"/>
                      <a:pt x="0" y="26"/>
                    </a:cubicBezTo>
                    <a:cubicBezTo>
                      <a:pt x="5" y="28"/>
                      <a:pt x="12" y="29"/>
                      <a:pt x="18" y="32"/>
                    </a:cubicBezTo>
                    <a:cubicBezTo>
                      <a:pt x="23" y="34"/>
                      <a:pt x="29" y="36"/>
                      <a:pt x="34" y="3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2" name="Freeform 16">
                <a:extLst>
                  <a:ext uri="{FF2B5EF4-FFF2-40B4-BE49-F238E27FC236}">
                    <a16:creationId xmlns:a16="http://schemas.microsoft.com/office/drawing/2014/main" id="{289B6C93-AF29-40FB-9947-DD2C7C26A79B}"/>
                  </a:ext>
                </a:extLst>
              </p:cNvPr>
              <p:cNvSpPr>
                <a:spLocks/>
              </p:cNvSpPr>
              <p:nvPr/>
            </p:nvSpPr>
            <p:spPr bwMode="auto">
              <a:xfrm>
                <a:off x="8555038" y="8140701"/>
                <a:ext cx="112713" cy="123825"/>
              </a:xfrm>
              <a:custGeom>
                <a:avLst/>
                <a:gdLst>
                  <a:gd name="T0" fmla="*/ 35 w 35"/>
                  <a:gd name="T1" fmla="*/ 27 h 38"/>
                  <a:gd name="T2" fmla="*/ 8 w 35"/>
                  <a:gd name="T3" fmla="*/ 0 h 38"/>
                  <a:gd name="T4" fmla="*/ 0 w 35"/>
                  <a:gd name="T5" fmla="*/ 38 h 38"/>
                  <a:gd name="T6" fmla="*/ 19 w 35"/>
                  <a:gd name="T7" fmla="*/ 32 h 38"/>
                  <a:gd name="T8" fmla="*/ 35 w 35"/>
                  <a:gd name="T9" fmla="*/ 27 h 38"/>
                </a:gdLst>
                <a:ahLst/>
                <a:cxnLst>
                  <a:cxn ang="0">
                    <a:pos x="T0" y="T1"/>
                  </a:cxn>
                  <a:cxn ang="0">
                    <a:pos x="T2" y="T3"/>
                  </a:cxn>
                  <a:cxn ang="0">
                    <a:pos x="T4" y="T5"/>
                  </a:cxn>
                  <a:cxn ang="0">
                    <a:pos x="T6" y="T7"/>
                  </a:cxn>
                  <a:cxn ang="0">
                    <a:pos x="T8" y="T9"/>
                  </a:cxn>
                </a:cxnLst>
                <a:rect l="0" t="0" r="r" b="b"/>
                <a:pathLst>
                  <a:path w="35" h="38">
                    <a:moveTo>
                      <a:pt x="35" y="27"/>
                    </a:moveTo>
                    <a:cubicBezTo>
                      <a:pt x="8" y="0"/>
                      <a:pt x="8" y="0"/>
                      <a:pt x="8" y="0"/>
                    </a:cubicBezTo>
                    <a:cubicBezTo>
                      <a:pt x="0" y="38"/>
                      <a:pt x="0" y="38"/>
                      <a:pt x="0" y="38"/>
                    </a:cubicBezTo>
                    <a:cubicBezTo>
                      <a:pt x="6" y="36"/>
                      <a:pt x="12" y="34"/>
                      <a:pt x="19" y="32"/>
                    </a:cubicBezTo>
                    <a:cubicBezTo>
                      <a:pt x="24" y="31"/>
                      <a:pt x="30" y="28"/>
                      <a:pt x="35" y="2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3" name="Freeform 17">
                <a:extLst>
                  <a:ext uri="{FF2B5EF4-FFF2-40B4-BE49-F238E27FC236}">
                    <a16:creationId xmlns:a16="http://schemas.microsoft.com/office/drawing/2014/main" id="{27D07C51-A468-4F67-9072-021685F6BA98}"/>
                  </a:ext>
                </a:extLst>
              </p:cNvPr>
              <p:cNvSpPr>
                <a:spLocks/>
              </p:cNvSpPr>
              <p:nvPr/>
            </p:nvSpPr>
            <p:spPr bwMode="auto">
              <a:xfrm>
                <a:off x="8439150" y="8189913"/>
                <a:ext cx="109538" cy="123825"/>
              </a:xfrm>
              <a:custGeom>
                <a:avLst/>
                <a:gdLst>
                  <a:gd name="T0" fmla="*/ 34 w 34"/>
                  <a:gd name="T1" fmla="*/ 24 h 38"/>
                  <a:gd name="T2" fmla="*/ 5 w 34"/>
                  <a:gd name="T3" fmla="*/ 0 h 38"/>
                  <a:gd name="T4" fmla="*/ 0 w 34"/>
                  <a:gd name="T5" fmla="*/ 38 h 38"/>
                  <a:gd name="T6" fmla="*/ 19 w 34"/>
                  <a:gd name="T7" fmla="*/ 31 h 38"/>
                  <a:gd name="T8" fmla="*/ 34 w 34"/>
                  <a:gd name="T9" fmla="*/ 24 h 38"/>
                </a:gdLst>
                <a:ahLst/>
                <a:cxnLst>
                  <a:cxn ang="0">
                    <a:pos x="T0" y="T1"/>
                  </a:cxn>
                  <a:cxn ang="0">
                    <a:pos x="T2" y="T3"/>
                  </a:cxn>
                  <a:cxn ang="0">
                    <a:pos x="T4" y="T5"/>
                  </a:cxn>
                  <a:cxn ang="0">
                    <a:pos x="T6" y="T7"/>
                  </a:cxn>
                  <a:cxn ang="0">
                    <a:pos x="T8" y="T9"/>
                  </a:cxn>
                </a:cxnLst>
                <a:rect l="0" t="0" r="r" b="b"/>
                <a:pathLst>
                  <a:path w="34" h="38">
                    <a:moveTo>
                      <a:pt x="34" y="24"/>
                    </a:moveTo>
                    <a:cubicBezTo>
                      <a:pt x="5" y="0"/>
                      <a:pt x="5" y="0"/>
                      <a:pt x="5" y="0"/>
                    </a:cubicBezTo>
                    <a:cubicBezTo>
                      <a:pt x="0" y="38"/>
                      <a:pt x="0" y="38"/>
                      <a:pt x="0" y="38"/>
                    </a:cubicBezTo>
                    <a:cubicBezTo>
                      <a:pt x="7" y="36"/>
                      <a:pt x="12" y="33"/>
                      <a:pt x="19" y="31"/>
                    </a:cubicBezTo>
                    <a:cubicBezTo>
                      <a:pt x="23" y="29"/>
                      <a:pt x="29" y="26"/>
                      <a:pt x="34" y="2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4" name="Freeform 18">
                <a:extLst>
                  <a:ext uri="{FF2B5EF4-FFF2-40B4-BE49-F238E27FC236}">
                    <a16:creationId xmlns:a16="http://schemas.microsoft.com/office/drawing/2014/main" id="{E0CFA6B3-F6E4-4695-AA8A-FE484D7ABAE2}"/>
                  </a:ext>
                </a:extLst>
              </p:cNvPr>
              <p:cNvSpPr>
                <a:spLocks/>
              </p:cNvSpPr>
              <p:nvPr/>
            </p:nvSpPr>
            <p:spPr bwMode="auto">
              <a:xfrm>
                <a:off x="8334375" y="8251826"/>
                <a:ext cx="101600" cy="127000"/>
              </a:xfrm>
              <a:custGeom>
                <a:avLst/>
                <a:gdLst>
                  <a:gd name="T0" fmla="*/ 17 w 32"/>
                  <a:gd name="T1" fmla="*/ 29 h 39"/>
                  <a:gd name="T2" fmla="*/ 32 w 32"/>
                  <a:gd name="T3" fmla="*/ 20 h 39"/>
                  <a:gd name="T4" fmla="*/ 0 w 32"/>
                  <a:gd name="T5" fmla="*/ 0 h 39"/>
                  <a:gd name="T6" fmla="*/ 1 w 32"/>
                  <a:gd name="T7" fmla="*/ 39 h 39"/>
                  <a:gd name="T8" fmla="*/ 17 w 32"/>
                  <a:gd name="T9" fmla="*/ 29 h 39"/>
                </a:gdLst>
                <a:ahLst/>
                <a:cxnLst>
                  <a:cxn ang="0">
                    <a:pos x="T0" y="T1"/>
                  </a:cxn>
                  <a:cxn ang="0">
                    <a:pos x="T2" y="T3"/>
                  </a:cxn>
                  <a:cxn ang="0">
                    <a:pos x="T4" y="T5"/>
                  </a:cxn>
                  <a:cxn ang="0">
                    <a:pos x="T6" y="T7"/>
                  </a:cxn>
                  <a:cxn ang="0">
                    <a:pos x="T8" y="T9"/>
                  </a:cxn>
                </a:cxnLst>
                <a:rect l="0" t="0" r="r" b="b"/>
                <a:pathLst>
                  <a:path w="32" h="39">
                    <a:moveTo>
                      <a:pt x="17" y="29"/>
                    </a:moveTo>
                    <a:cubicBezTo>
                      <a:pt x="23" y="26"/>
                      <a:pt x="27" y="23"/>
                      <a:pt x="32" y="20"/>
                    </a:cubicBezTo>
                    <a:cubicBezTo>
                      <a:pt x="0" y="0"/>
                      <a:pt x="0" y="0"/>
                      <a:pt x="0" y="0"/>
                    </a:cubicBezTo>
                    <a:cubicBezTo>
                      <a:pt x="1" y="39"/>
                      <a:pt x="1" y="39"/>
                      <a:pt x="1" y="39"/>
                    </a:cubicBezTo>
                    <a:cubicBezTo>
                      <a:pt x="6" y="36"/>
                      <a:pt x="12" y="32"/>
                      <a:pt x="17" y="2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5" name="Freeform 19">
                <a:extLst>
                  <a:ext uri="{FF2B5EF4-FFF2-40B4-BE49-F238E27FC236}">
                    <a16:creationId xmlns:a16="http://schemas.microsoft.com/office/drawing/2014/main" id="{F19C69D3-228C-4075-A030-4427C24F068A}"/>
                  </a:ext>
                </a:extLst>
              </p:cNvPr>
              <p:cNvSpPr>
                <a:spLocks/>
              </p:cNvSpPr>
              <p:nvPr/>
            </p:nvSpPr>
            <p:spPr bwMode="auto">
              <a:xfrm>
                <a:off x="8670925" y="8104188"/>
                <a:ext cx="114300" cy="120650"/>
              </a:xfrm>
              <a:custGeom>
                <a:avLst/>
                <a:gdLst>
                  <a:gd name="T0" fmla="*/ 36 w 36"/>
                  <a:gd name="T1" fmla="*/ 30 h 37"/>
                  <a:gd name="T2" fmla="*/ 12 w 36"/>
                  <a:gd name="T3" fmla="*/ 0 h 37"/>
                  <a:gd name="T4" fmla="*/ 0 w 36"/>
                  <a:gd name="T5" fmla="*/ 37 h 37"/>
                  <a:gd name="T6" fmla="*/ 20 w 36"/>
                  <a:gd name="T7" fmla="*/ 33 h 37"/>
                  <a:gd name="T8" fmla="*/ 36 w 36"/>
                  <a:gd name="T9" fmla="*/ 30 h 37"/>
                </a:gdLst>
                <a:ahLst/>
                <a:cxnLst>
                  <a:cxn ang="0">
                    <a:pos x="T0" y="T1"/>
                  </a:cxn>
                  <a:cxn ang="0">
                    <a:pos x="T2" y="T3"/>
                  </a:cxn>
                  <a:cxn ang="0">
                    <a:pos x="T4" y="T5"/>
                  </a:cxn>
                  <a:cxn ang="0">
                    <a:pos x="T6" y="T7"/>
                  </a:cxn>
                  <a:cxn ang="0">
                    <a:pos x="T8" y="T9"/>
                  </a:cxn>
                </a:cxnLst>
                <a:rect l="0" t="0" r="r" b="b"/>
                <a:pathLst>
                  <a:path w="36" h="37">
                    <a:moveTo>
                      <a:pt x="36" y="30"/>
                    </a:moveTo>
                    <a:cubicBezTo>
                      <a:pt x="12" y="0"/>
                      <a:pt x="12" y="0"/>
                      <a:pt x="12" y="0"/>
                    </a:cubicBezTo>
                    <a:cubicBezTo>
                      <a:pt x="0" y="37"/>
                      <a:pt x="0" y="37"/>
                      <a:pt x="0" y="37"/>
                    </a:cubicBezTo>
                    <a:cubicBezTo>
                      <a:pt x="7" y="36"/>
                      <a:pt x="13" y="34"/>
                      <a:pt x="20" y="33"/>
                    </a:cubicBezTo>
                    <a:cubicBezTo>
                      <a:pt x="25" y="32"/>
                      <a:pt x="31" y="31"/>
                      <a:pt x="36" y="3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6" name="Freeform 20">
                <a:extLst>
                  <a:ext uri="{FF2B5EF4-FFF2-40B4-BE49-F238E27FC236}">
                    <a16:creationId xmlns:a16="http://schemas.microsoft.com/office/drawing/2014/main" id="{27EB99F4-DDCE-465B-B4C4-96DC1DF95E1B}"/>
                  </a:ext>
                </a:extLst>
              </p:cNvPr>
              <p:cNvSpPr>
                <a:spLocks/>
              </p:cNvSpPr>
              <p:nvPr/>
            </p:nvSpPr>
            <p:spPr bwMode="auto">
              <a:xfrm>
                <a:off x="9039225" y="8085138"/>
                <a:ext cx="114300" cy="117475"/>
              </a:xfrm>
              <a:custGeom>
                <a:avLst/>
                <a:gdLst>
                  <a:gd name="T0" fmla="*/ 36 w 36"/>
                  <a:gd name="T1" fmla="*/ 36 h 36"/>
                  <a:gd name="T2" fmla="*/ 22 w 36"/>
                  <a:gd name="T3" fmla="*/ 0 h 36"/>
                  <a:gd name="T4" fmla="*/ 0 w 36"/>
                  <a:gd name="T5" fmla="*/ 31 h 36"/>
                  <a:gd name="T6" fmla="*/ 20 w 36"/>
                  <a:gd name="T7" fmla="*/ 33 h 36"/>
                  <a:gd name="T8" fmla="*/ 36 w 36"/>
                  <a:gd name="T9" fmla="*/ 36 h 36"/>
                </a:gdLst>
                <a:ahLst/>
                <a:cxnLst>
                  <a:cxn ang="0">
                    <a:pos x="T0" y="T1"/>
                  </a:cxn>
                  <a:cxn ang="0">
                    <a:pos x="T2" y="T3"/>
                  </a:cxn>
                  <a:cxn ang="0">
                    <a:pos x="T4" y="T5"/>
                  </a:cxn>
                  <a:cxn ang="0">
                    <a:pos x="T6" y="T7"/>
                  </a:cxn>
                  <a:cxn ang="0">
                    <a:pos x="T8" y="T9"/>
                  </a:cxn>
                </a:cxnLst>
                <a:rect l="0" t="0" r="r" b="b"/>
                <a:pathLst>
                  <a:path w="36" h="36">
                    <a:moveTo>
                      <a:pt x="36" y="36"/>
                    </a:moveTo>
                    <a:cubicBezTo>
                      <a:pt x="22" y="0"/>
                      <a:pt x="22" y="0"/>
                      <a:pt x="22" y="0"/>
                    </a:cubicBezTo>
                    <a:cubicBezTo>
                      <a:pt x="0" y="31"/>
                      <a:pt x="0" y="31"/>
                      <a:pt x="0" y="31"/>
                    </a:cubicBezTo>
                    <a:cubicBezTo>
                      <a:pt x="7" y="32"/>
                      <a:pt x="14" y="32"/>
                      <a:pt x="20" y="33"/>
                    </a:cubicBezTo>
                    <a:cubicBezTo>
                      <a:pt x="25" y="33"/>
                      <a:pt x="31" y="35"/>
                      <a:pt x="36" y="3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7" name="Freeform 21">
                <a:extLst>
                  <a:ext uri="{FF2B5EF4-FFF2-40B4-BE49-F238E27FC236}">
                    <a16:creationId xmlns:a16="http://schemas.microsoft.com/office/drawing/2014/main" id="{98AE7CDE-4634-4AA0-9426-34A88A308A9B}"/>
                  </a:ext>
                </a:extLst>
              </p:cNvPr>
              <p:cNvSpPr>
                <a:spLocks/>
              </p:cNvSpPr>
              <p:nvPr/>
            </p:nvSpPr>
            <p:spPr bwMode="auto">
              <a:xfrm>
                <a:off x="8791575" y="8085138"/>
                <a:ext cx="119063" cy="117475"/>
              </a:xfrm>
              <a:custGeom>
                <a:avLst/>
                <a:gdLst>
                  <a:gd name="T0" fmla="*/ 37 w 37"/>
                  <a:gd name="T1" fmla="*/ 31 h 36"/>
                  <a:gd name="T2" fmla="*/ 16 w 37"/>
                  <a:gd name="T3" fmla="*/ 0 h 36"/>
                  <a:gd name="T4" fmla="*/ 0 w 37"/>
                  <a:gd name="T5" fmla="*/ 36 h 36"/>
                  <a:gd name="T6" fmla="*/ 20 w 37"/>
                  <a:gd name="T7" fmla="*/ 33 h 36"/>
                  <a:gd name="T8" fmla="*/ 37 w 37"/>
                  <a:gd name="T9" fmla="*/ 31 h 36"/>
                </a:gdLst>
                <a:ahLst/>
                <a:cxnLst>
                  <a:cxn ang="0">
                    <a:pos x="T0" y="T1"/>
                  </a:cxn>
                  <a:cxn ang="0">
                    <a:pos x="T2" y="T3"/>
                  </a:cxn>
                  <a:cxn ang="0">
                    <a:pos x="T4" y="T5"/>
                  </a:cxn>
                  <a:cxn ang="0">
                    <a:pos x="T6" y="T7"/>
                  </a:cxn>
                  <a:cxn ang="0">
                    <a:pos x="T8" y="T9"/>
                  </a:cxn>
                </a:cxnLst>
                <a:rect l="0" t="0" r="r" b="b"/>
                <a:pathLst>
                  <a:path w="37" h="36">
                    <a:moveTo>
                      <a:pt x="37" y="31"/>
                    </a:moveTo>
                    <a:cubicBezTo>
                      <a:pt x="16" y="0"/>
                      <a:pt x="16" y="0"/>
                      <a:pt x="16" y="0"/>
                    </a:cubicBezTo>
                    <a:cubicBezTo>
                      <a:pt x="0" y="36"/>
                      <a:pt x="0" y="36"/>
                      <a:pt x="0" y="36"/>
                    </a:cubicBezTo>
                    <a:cubicBezTo>
                      <a:pt x="7" y="35"/>
                      <a:pt x="13" y="33"/>
                      <a:pt x="20" y="33"/>
                    </a:cubicBezTo>
                    <a:cubicBezTo>
                      <a:pt x="25" y="32"/>
                      <a:pt x="31" y="32"/>
                      <a:pt x="37" y="31"/>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8" name="Freeform 22">
                <a:extLst>
                  <a:ext uri="{FF2B5EF4-FFF2-40B4-BE49-F238E27FC236}">
                    <a16:creationId xmlns:a16="http://schemas.microsoft.com/office/drawing/2014/main" id="{15AAA143-2785-44D4-88A8-BC350419A69F}"/>
                  </a:ext>
                </a:extLst>
              </p:cNvPr>
              <p:cNvSpPr>
                <a:spLocks/>
              </p:cNvSpPr>
              <p:nvPr/>
            </p:nvSpPr>
            <p:spPr bwMode="auto">
              <a:xfrm>
                <a:off x="9807575" y="9728201"/>
                <a:ext cx="85725" cy="65088"/>
              </a:xfrm>
              <a:custGeom>
                <a:avLst/>
                <a:gdLst>
                  <a:gd name="T0" fmla="*/ 0 w 54"/>
                  <a:gd name="T1" fmla="*/ 18 h 41"/>
                  <a:gd name="T2" fmla="*/ 44 w 54"/>
                  <a:gd name="T3" fmla="*/ 41 h 41"/>
                  <a:gd name="T4" fmla="*/ 54 w 54"/>
                  <a:gd name="T5" fmla="*/ 22 h 41"/>
                  <a:gd name="T6" fmla="*/ 8 w 54"/>
                  <a:gd name="T7" fmla="*/ 0 h 41"/>
                  <a:gd name="T8" fmla="*/ 0 w 54"/>
                  <a:gd name="T9" fmla="*/ 18 h 41"/>
                </a:gdLst>
                <a:ahLst/>
                <a:cxnLst>
                  <a:cxn ang="0">
                    <a:pos x="T0" y="T1"/>
                  </a:cxn>
                  <a:cxn ang="0">
                    <a:pos x="T2" y="T3"/>
                  </a:cxn>
                  <a:cxn ang="0">
                    <a:pos x="T4" y="T5"/>
                  </a:cxn>
                  <a:cxn ang="0">
                    <a:pos x="T6" y="T7"/>
                  </a:cxn>
                  <a:cxn ang="0">
                    <a:pos x="T8" y="T9"/>
                  </a:cxn>
                </a:cxnLst>
                <a:rect l="0" t="0" r="r" b="b"/>
                <a:pathLst>
                  <a:path w="54" h="41">
                    <a:moveTo>
                      <a:pt x="0" y="18"/>
                    </a:moveTo>
                    <a:lnTo>
                      <a:pt x="44" y="41"/>
                    </a:lnTo>
                    <a:lnTo>
                      <a:pt x="54" y="22"/>
                    </a:lnTo>
                    <a:lnTo>
                      <a:pt x="8" y="0"/>
                    </a:lnTo>
                    <a:lnTo>
                      <a:pt x="0" y="1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69" name="Freeform 23">
                <a:extLst>
                  <a:ext uri="{FF2B5EF4-FFF2-40B4-BE49-F238E27FC236}">
                    <a16:creationId xmlns:a16="http://schemas.microsoft.com/office/drawing/2014/main" id="{92FCF5DA-4B9B-4477-B215-F715BF51A202}"/>
                  </a:ext>
                </a:extLst>
              </p:cNvPr>
              <p:cNvSpPr>
                <a:spLocks/>
              </p:cNvSpPr>
              <p:nvPr/>
            </p:nvSpPr>
            <p:spPr bwMode="auto">
              <a:xfrm>
                <a:off x="8913813" y="8078788"/>
                <a:ext cx="119063" cy="107950"/>
              </a:xfrm>
              <a:custGeom>
                <a:avLst/>
                <a:gdLst>
                  <a:gd name="T0" fmla="*/ 75 w 75"/>
                  <a:gd name="T1" fmla="*/ 68 h 68"/>
                  <a:gd name="T2" fmla="*/ 40 w 75"/>
                  <a:gd name="T3" fmla="*/ 0 h 68"/>
                  <a:gd name="T4" fmla="*/ 40 w 75"/>
                  <a:gd name="T5" fmla="*/ 0 h 68"/>
                  <a:gd name="T6" fmla="*/ 0 w 75"/>
                  <a:gd name="T7" fmla="*/ 68 h 68"/>
                  <a:gd name="T8" fmla="*/ 40 w 75"/>
                  <a:gd name="T9" fmla="*/ 68 h 68"/>
                  <a:gd name="T10" fmla="*/ 75 w 75"/>
                  <a:gd name="T11" fmla="*/ 68 h 68"/>
                </a:gdLst>
                <a:ahLst/>
                <a:cxnLst>
                  <a:cxn ang="0">
                    <a:pos x="T0" y="T1"/>
                  </a:cxn>
                  <a:cxn ang="0">
                    <a:pos x="T2" y="T3"/>
                  </a:cxn>
                  <a:cxn ang="0">
                    <a:pos x="T4" y="T5"/>
                  </a:cxn>
                  <a:cxn ang="0">
                    <a:pos x="T6" y="T7"/>
                  </a:cxn>
                  <a:cxn ang="0">
                    <a:pos x="T8" y="T9"/>
                  </a:cxn>
                  <a:cxn ang="0">
                    <a:pos x="T10" y="T11"/>
                  </a:cxn>
                </a:cxnLst>
                <a:rect l="0" t="0" r="r" b="b"/>
                <a:pathLst>
                  <a:path w="75" h="68">
                    <a:moveTo>
                      <a:pt x="75" y="68"/>
                    </a:moveTo>
                    <a:lnTo>
                      <a:pt x="40" y="0"/>
                    </a:lnTo>
                    <a:lnTo>
                      <a:pt x="40" y="0"/>
                    </a:lnTo>
                    <a:lnTo>
                      <a:pt x="0" y="68"/>
                    </a:lnTo>
                    <a:lnTo>
                      <a:pt x="40" y="68"/>
                    </a:lnTo>
                    <a:lnTo>
                      <a:pt x="75" y="6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0" name="Freeform 24">
                <a:extLst>
                  <a:ext uri="{FF2B5EF4-FFF2-40B4-BE49-F238E27FC236}">
                    <a16:creationId xmlns:a16="http://schemas.microsoft.com/office/drawing/2014/main" id="{6E50881E-FFD5-46B5-BBF9-5852B5DB2D26}"/>
                  </a:ext>
                </a:extLst>
              </p:cNvPr>
              <p:cNvSpPr>
                <a:spLocks/>
              </p:cNvSpPr>
              <p:nvPr/>
            </p:nvSpPr>
            <p:spPr bwMode="auto">
              <a:xfrm>
                <a:off x="8901113" y="10288588"/>
                <a:ext cx="31750" cy="52388"/>
              </a:xfrm>
              <a:custGeom>
                <a:avLst/>
                <a:gdLst>
                  <a:gd name="T0" fmla="*/ 8 w 20"/>
                  <a:gd name="T1" fmla="*/ 0 h 33"/>
                  <a:gd name="T2" fmla="*/ 0 w 20"/>
                  <a:gd name="T3" fmla="*/ 33 h 33"/>
                  <a:gd name="T4" fmla="*/ 20 w 20"/>
                  <a:gd name="T5" fmla="*/ 33 h 33"/>
                  <a:gd name="T6" fmla="*/ 14 w 20"/>
                  <a:gd name="T7" fmla="*/ 0 h 33"/>
                  <a:gd name="T8" fmla="*/ 8 w 20"/>
                  <a:gd name="T9" fmla="*/ 0 h 33"/>
                </a:gdLst>
                <a:ahLst/>
                <a:cxnLst>
                  <a:cxn ang="0">
                    <a:pos x="T0" y="T1"/>
                  </a:cxn>
                  <a:cxn ang="0">
                    <a:pos x="T2" y="T3"/>
                  </a:cxn>
                  <a:cxn ang="0">
                    <a:pos x="T4" y="T5"/>
                  </a:cxn>
                  <a:cxn ang="0">
                    <a:pos x="T6" y="T7"/>
                  </a:cxn>
                  <a:cxn ang="0">
                    <a:pos x="T8" y="T9"/>
                  </a:cxn>
                </a:cxnLst>
                <a:rect l="0" t="0" r="r" b="b"/>
                <a:pathLst>
                  <a:path w="20" h="33">
                    <a:moveTo>
                      <a:pt x="8" y="0"/>
                    </a:moveTo>
                    <a:lnTo>
                      <a:pt x="0" y="33"/>
                    </a:lnTo>
                    <a:lnTo>
                      <a:pt x="20" y="33"/>
                    </a:lnTo>
                    <a:lnTo>
                      <a:pt x="14" y="0"/>
                    </a:lnTo>
                    <a:lnTo>
                      <a:pt x="8" y="0"/>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1" name="Freeform 25">
                <a:extLst>
                  <a:ext uri="{FF2B5EF4-FFF2-40B4-BE49-F238E27FC236}">
                    <a16:creationId xmlns:a16="http://schemas.microsoft.com/office/drawing/2014/main" id="{72470631-ED93-4694-AA01-172A76E3D929}"/>
                  </a:ext>
                </a:extLst>
              </p:cNvPr>
              <p:cNvSpPr>
                <a:spLocks/>
              </p:cNvSpPr>
              <p:nvPr/>
            </p:nvSpPr>
            <p:spPr bwMode="auto">
              <a:xfrm>
                <a:off x="9058275" y="8401051"/>
                <a:ext cx="31750" cy="30163"/>
              </a:xfrm>
              <a:custGeom>
                <a:avLst/>
                <a:gdLst>
                  <a:gd name="T0" fmla="*/ 0 w 20"/>
                  <a:gd name="T1" fmla="*/ 17 h 19"/>
                  <a:gd name="T2" fmla="*/ 18 w 20"/>
                  <a:gd name="T3" fmla="*/ 19 h 19"/>
                  <a:gd name="T4" fmla="*/ 20 w 20"/>
                  <a:gd name="T5" fmla="*/ 2 h 19"/>
                  <a:gd name="T6" fmla="*/ 0 w 20"/>
                  <a:gd name="T7" fmla="*/ 0 h 19"/>
                  <a:gd name="T8" fmla="*/ 0 w 20"/>
                  <a:gd name="T9" fmla="*/ 17 h 19"/>
                </a:gdLst>
                <a:ahLst/>
                <a:cxnLst>
                  <a:cxn ang="0">
                    <a:pos x="T0" y="T1"/>
                  </a:cxn>
                  <a:cxn ang="0">
                    <a:pos x="T2" y="T3"/>
                  </a:cxn>
                  <a:cxn ang="0">
                    <a:pos x="T4" y="T5"/>
                  </a:cxn>
                  <a:cxn ang="0">
                    <a:pos x="T6" y="T7"/>
                  </a:cxn>
                  <a:cxn ang="0">
                    <a:pos x="T8" y="T9"/>
                  </a:cxn>
                </a:cxnLst>
                <a:rect l="0" t="0" r="r" b="b"/>
                <a:pathLst>
                  <a:path w="20" h="19">
                    <a:moveTo>
                      <a:pt x="0" y="17"/>
                    </a:moveTo>
                    <a:lnTo>
                      <a:pt x="18" y="19"/>
                    </a:lnTo>
                    <a:lnTo>
                      <a:pt x="20" y="2"/>
                    </a:lnTo>
                    <a:lnTo>
                      <a:pt x="0" y="0"/>
                    </a:lnTo>
                    <a:lnTo>
                      <a:pt x="0" y="17"/>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2" name="Freeform 26">
                <a:extLst>
                  <a:ext uri="{FF2B5EF4-FFF2-40B4-BE49-F238E27FC236}">
                    <a16:creationId xmlns:a16="http://schemas.microsoft.com/office/drawing/2014/main" id="{D3DDE7B4-040D-430F-BAA7-CEDE7838DE60}"/>
                  </a:ext>
                </a:extLst>
              </p:cNvPr>
              <p:cNvSpPr>
                <a:spLocks/>
              </p:cNvSpPr>
              <p:nvPr/>
            </p:nvSpPr>
            <p:spPr bwMode="auto">
              <a:xfrm>
                <a:off x="8677275" y="9574213"/>
                <a:ext cx="158750" cy="463550"/>
              </a:xfrm>
              <a:custGeom>
                <a:avLst/>
                <a:gdLst>
                  <a:gd name="T0" fmla="*/ 25 w 50"/>
                  <a:gd name="T1" fmla="*/ 5 h 142"/>
                  <a:gd name="T2" fmla="*/ 12 w 50"/>
                  <a:gd name="T3" fmla="*/ 0 h 142"/>
                  <a:gd name="T4" fmla="*/ 0 w 50"/>
                  <a:gd name="T5" fmla="*/ 4 h 142"/>
                  <a:gd name="T6" fmla="*/ 0 w 50"/>
                  <a:gd name="T7" fmla="*/ 5 h 142"/>
                  <a:gd name="T8" fmla="*/ 0 w 50"/>
                  <a:gd name="T9" fmla="*/ 12 h 142"/>
                  <a:gd name="T10" fmla="*/ 50 w 50"/>
                  <a:gd name="T11" fmla="*/ 142 h 142"/>
                  <a:gd name="T12" fmla="*/ 25 w 50"/>
                  <a:gd name="T13" fmla="*/ 7 h 142"/>
                  <a:gd name="T14" fmla="*/ 25 w 50"/>
                  <a:gd name="T15" fmla="*/ 5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42">
                    <a:moveTo>
                      <a:pt x="25" y="5"/>
                    </a:moveTo>
                    <a:cubicBezTo>
                      <a:pt x="21" y="3"/>
                      <a:pt x="17" y="0"/>
                      <a:pt x="12" y="0"/>
                    </a:cubicBezTo>
                    <a:cubicBezTo>
                      <a:pt x="8" y="0"/>
                      <a:pt x="4" y="2"/>
                      <a:pt x="0" y="4"/>
                    </a:cubicBezTo>
                    <a:cubicBezTo>
                      <a:pt x="0" y="5"/>
                      <a:pt x="0" y="5"/>
                      <a:pt x="0" y="5"/>
                    </a:cubicBezTo>
                    <a:cubicBezTo>
                      <a:pt x="0" y="12"/>
                      <a:pt x="0" y="12"/>
                      <a:pt x="0" y="12"/>
                    </a:cubicBezTo>
                    <a:cubicBezTo>
                      <a:pt x="0" y="62"/>
                      <a:pt x="19" y="107"/>
                      <a:pt x="50" y="142"/>
                    </a:cubicBezTo>
                    <a:cubicBezTo>
                      <a:pt x="34" y="100"/>
                      <a:pt x="25" y="55"/>
                      <a:pt x="25" y="7"/>
                    </a:cubicBezTo>
                    <a:lnTo>
                      <a:pt x="25" y="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3" name="Freeform 27">
                <a:extLst>
                  <a:ext uri="{FF2B5EF4-FFF2-40B4-BE49-F238E27FC236}">
                    <a16:creationId xmlns:a16="http://schemas.microsoft.com/office/drawing/2014/main" id="{DCC28721-6150-4242-8552-8353BA0202D7}"/>
                  </a:ext>
                </a:extLst>
              </p:cNvPr>
              <p:cNvSpPr>
                <a:spLocks/>
              </p:cNvSpPr>
              <p:nvPr/>
            </p:nvSpPr>
            <p:spPr bwMode="auto">
              <a:xfrm>
                <a:off x="9128125" y="9574213"/>
                <a:ext cx="160338" cy="463550"/>
              </a:xfrm>
              <a:custGeom>
                <a:avLst/>
                <a:gdLst>
                  <a:gd name="T0" fmla="*/ 26 w 50"/>
                  <a:gd name="T1" fmla="*/ 5 h 142"/>
                  <a:gd name="T2" fmla="*/ 26 w 50"/>
                  <a:gd name="T3" fmla="*/ 7 h 142"/>
                  <a:gd name="T4" fmla="*/ 0 w 50"/>
                  <a:gd name="T5" fmla="*/ 142 h 142"/>
                  <a:gd name="T6" fmla="*/ 1 w 50"/>
                  <a:gd name="T7" fmla="*/ 142 h 142"/>
                  <a:gd name="T8" fmla="*/ 50 w 50"/>
                  <a:gd name="T9" fmla="*/ 12 h 142"/>
                  <a:gd name="T10" fmla="*/ 50 w 50"/>
                  <a:gd name="T11" fmla="*/ 5 h 142"/>
                  <a:gd name="T12" fmla="*/ 50 w 50"/>
                  <a:gd name="T13" fmla="*/ 4 h 142"/>
                  <a:gd name="T14" fmla="*/ 39 w 50"/>
                  <a:gd name="T15" fmla="*/ 0 h 142"/>
                  <a:gd name="T16" fmla="*/ 26 w 50"/>
                  <a:gd name="T17" fmla="*/ 5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142">
                    <a:moveTo>
                      <a:pt x="26" y="5"/>
                    </a:moveTo>
                    <a:cubicBezTo>
                      <a:pt x="26" y="7"/>
                      <a:pt x="26" y="7"/>
                      <a:pt x="26" y="7"/>
                    </a:cubicBezTo>
                    <a:cubicBezTo>
                      <a:pt x="26" y="55"/>
                      <a:pt x="17" y="100"/>
                      <a:pt x="0" y="142"/>
                    </a:cubicBezTo>
                    <a:cubicBezTo>
                      <a:pt x="1" y="142"/>
                      <a:pt x="1" y="142"/>
                      <a:pt x="1" y="142"/>
                    </a:cubicBezTo>
                    <a:cubicBezTo>
                      <a:pt x="31" y="107"/>
                      <a:pt x="50" y="62"/>
                      <a:pt x="50" y="12"/>
                    </a:cubicBezTo>
                    <a:cubicBezTo>
                      <a:pt x="50" y="5"/>
                      <a:pt x="50" y="5"/>
                      <a:pt x="50" y="5"/>
                    </a:cubicBezTo>
                    <a:cubicBezTo>
                      <a:pt x="50" y="4"/>
                      <a:pt x="50" y="4"/>
                      <a:pt x="50" y="4"/>
                    </a:cubicBezTo>
                    <a:cubicBezTo>
                      <a:pt x="46" y="2"/>
                      <a:pt x="42" y="0"/>
                      <a:pt x="39" y="0"/>
                    </a:cubicBezTo>
                    <a:cubicBezTo>
                      <a:pt x="33" y="0"/>
                      <a:pt x="29" y="3"/>
                      <a:pt x="26" y="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4" name="Freeform 28">
                <a:extLst>
                  <a:ext uri="{FF2B5EF4-FFF2-40B4-BE49-F238E27FC236}">
                    <a16:creationId xmlns:a16="http://schemas.microsoft.com/office/drawing/2014/main" id="{8D48ED6A-AB37-476C-B2E5-C8213FB2C681}"/>
                  </a:ext>
                </a:extLst>
              </p:cNvPr>
              <p:cNvSpPr>
                <a:spLocks noEditPoints="1"/>
              </p:cNvSpPr>
              <p:nvPr/>
            </p:nvSpPr>
            <p:spPr bwMode="auto">
              <a:xfrm>
                <a:off x="9144000" y="8782051"/>
                <a:ext cx="525463" cy="785813"/>
              </a:xfrm>
              <a:custGeom>
                <a:avLst/>
                <a:gdLst>
                  <a:gd name="T0" fmla="*/ 54 w 164"/>
                  <a:gd name="T1" fmla="*/ 90 h 241"/>
                  <a:gd name="T2" fmla="*/ 35 w 164"/>
                  <a:gd name="T3" fmla="*/ 137 h 241"/>
                  <a:gd name="T4" fmla="*/ 53 w 164"/>
                  <a:gd name="T5" fmla="*/ 176 h 241"/>
                  <a:gd name="T6" fmla="*/ 40 w 164"/>
                  <a:gd name="T7" fmla="*/ 200 h 241"/>
                  <a:gd name="T8" fmla="*/ 28 w 164"/>
                  <a:gd name="T9" fmla="*/ 188 h 241"/>
                  <a:gd name="T10" fmla="*/ 9 w 164"/>
                  <a:gd name="T11" fmla="*/ 226 h 241"/>
                  <a:gd name="T12" fmla="*/ 13 w 164"/>
                  <a:gd name="T13" fmla="*/ 241 h 241"/>
                  <a:gd name="T14" fmla="*/ 14 w 164"/>
                  <a:gd name="T15" fmla="*/ 241 h 241"/>
                  <a:gd name="T16" fmla="*/ 33 w 164"/>
                  <a:gd name="T17" fmla="*/ 233 h 241"/>
                  <a:gd name="T18" fmla="*/ 51 w 164"/>
                  <a:gd name="T19" fmla="*/ 240 h 241"/>
                  <a:gd name="T20" fmla="*/ 51 w 164"/>
                  <a:gd name="T21" fmla="*/ 239 h 241"/>
                  <a:gd name="T22" fmla="*/ 50 w 164"/>
                  <a:gd name="T23" fmla="*/ 218 h 241"/>
                  <a:gd name="T24" fmla="*/ 70 w 164"/>
                  <a:gd name="T25" fmla="*/ 218 h 241"/>
                  <a:gd name="T26" fmla="*/ 164 w 164"/>
                  <a:gd name="T27" fmla="*/ 171 h 241"/>
                  <a:gd name="T28" fmla="*/ 164 w 164"/>
                  <a:gd name="T29" fmla="*/ 76 h 241"/>
                  <a:gd name="T30" fmla="*/ 71 w 164"/>
                  <a:gd name="T31" fmla="*/ 27 h 241"/>
                  <a:gd name="T32" fmla="*/ 29 w 164"/>
                  <a:gd name="T33" fmla="*/ 27 h 241"/>
                  <a:gd name="T34" fmla="*/ 0 w 164"/>
                  <a:gd name="T35" fmla="*/ 0 h 241"/>
                  <a:gd name="T36" fmla="*/ 23 w 164"/>
                  <a:gd name="T37" fmla="*/ 60 h 241"/>
                  <a:gd name="T38" fmla="*/ 54 w 164"/>
                  <a:gd name="T39" fmla="*/ 90 h 241"/>
                  <a:gd name="T40" fmla="*/ 100 w 164"/>
                  <a:gd name="T41" fmla="*/ 95 h 241"/>
                  <a:gd name="T42" fmla="*/ 140 w 164"/>
                  <a:gd name="T43" fmla="*/ 153 h 241"/>
                  <a:gd name="T44" fmla="*/ 125 w 164"/>
                  <a:gd name="T45" fmla="*/ 161 h 241"/>
                  <a:gd name="T46" fmla="*/ 110 w 164"/>
                  <a:gd name="T47" fmla="*/ 167 h 241"/>
                  <a:gd name="T48" fmla="*/ 85 w 164"/>
                  <a:gd name="T49" fmla="*/ 102 h 241"/>
                  <a:gd name="T50" fmla="*/ 125 w 164"/>
                  <a:gd name="T51" fmla="*/ 161 h 241"/>
                  <a:gd name="T52" fmla="*/ 100 w 164"/>
                  <a:gd name="T53" fmla="*/ 95 h 241"/>
                  <a:gd name="T54" fmla="*/ 110 w 164"/>
                  <a:gd name="T55" fmla="*/ 168 h 241"/>
                  <a:gd name="T56" fmla="*/ 95 w 164"/>
                  <a:gd name="T57" fmla="*/ 175 h 241"/>
                  <a:gd name="T58" fmla="*/ 70 w 164"/>
                  <a:gd name="T59" fmla="*/ 110 h 241"/>
                  <a:gd name="T60" fmla="*/ 110 w 164"/>
                  <a:gd name="T61" fmla="*/ 168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64" h="241">
                    <a:moveTo>
                      <a:pt x="54" y="90"/>
                    </a:moveTo>
                    <a:cubicBezTo>
                      <a:pt x="35" y="137"/>
                      <a:pt x="35" y="137"/>
                      <a:pt x="35" y="137"/>
                    </a:cubicBezTo>
                    <a:cubicBezTo>
                      <a:pt x="53" y="176"/>
                      <a:pt x="53" y="176"/>
                      <a:pt x="53" y="176"/>
                    </a:cubicBezTo>
                    <a:cubicBezTo>
                      <a:pt x="40" y="200"/>
                      <a:pt x="40" y="200"/>
                      <a:pt x="40" y="200"/>
                    </a:cubicBezTo>
                    <a:cubicBezTo>
                      <a:pt x="28" y="188"/>
                      <a:pt x="28" y="188"/>
                      <a:pt x="28" y="188"/>
                    </a:cubicBezTo>
                    <a:cubicBezTo>
                      <a:pt x="9" y="226"/>
                      <a:pt x="9" y="226"/>
                      <a:pt x="9" y="226"/>
                    </a:cubicBezTo>
                    <a:cubicBezTo>
                      <a:pt x="10" y="230"/>
                      <a:pt x="12" y="236"/>
                      <a:pt x="13" y="241"/>
                    </a:cubicBezTo>
                    <a:cubicBezTo>
                      <a:pt x="14" y="241"/>
                      <a:pt x="14" y="241"/>
                      <a:pt x="14" y="241"/>
                    </a:cubicBezTo>
                    <a:cubicBezTo>
                      <a:pt x="19" y="236"/>
                      <a:pt x="25" y="233"/>
                      <a:pt x="33" y="233"/>
                    </a:cubicBezTo>
                    <a:cubicBezTo>
                      <a:pt x="40" y="233"/>
                      <a:pt x="46" y="235"/>
                      <a:pt x="51" y="240"/>
                    </a:cubicBezTo>
                    <a:cubicBezTo>
                      <a:pt x="51" y="239"/>
                      <a:pt x="51" y="239"/>
                      <a:pt x="51" y="239"/>
                    </a:cubicBezTo>
                    <a:cubicBezTo>
                      <a:pt x="51" y="233"/>
                      <a:pt x="50" y="225"/>
                      <a:pt x="50" y="218"/>
                    </a:cubicBezTo>
                    <a:cubicBezTo>
                      <a:pt x="70" y="218"/>
                      <a:pt x="70" y="218"/>
                      <a:pt x="70" y="218"/>
                    </a:cubicBezTo>
                    <a:cubicBezTo>
                      <a:pt x="164" y="171"/>
                      <a:pt x="164" y="171"/>
                      <a:pt x="164" y="171"/>
                    </a:cubicBezTo>
                    <a:cubicBezTo>
                      <a:pt x="164" y="76"/>
                      <a:pt x="164" y="76"/>
                      <a:pt x="164" y="76"/>
                    </a:cubicBezTo>
                    <a:cubicBezTo>
                      <a:pt x="71" y="27"/>
                      <a:pt x="71" y="27"/>
                      <a:pt x="71" y="27"/>
                    </a:cubicBezTo>
                    <a:cubicBezTo>
                      <a:pt x="29" y="27"/>
                      <a:pt x="29" y="27"/>
                      <a:pt x="29" y="27"/>
                    </a:cubicBezTo>
                    <a:cubicBezTo>
                      <a:pt x="0" y="0"/>
                      <a:pt x="0" y="0"/>
                      <a:pt x="0" y="0"/>
                    </a:cubicBezTo>
                    <a:cubicBezTo>
                      <a:pt x="23" y="60"/>
                      <a:pt x="23" y="60"/>
                      <a:pt x="23" y="60"/>
                    </a:cubicBezTo>
                    <a:lnTo>
                      <a:pt x="54" y="90"/>
                    </a:lnTo>
                    <a:close/>
                    <a:moveTo>
                      <a:pt x="100" y="95"/>
                    </a:moveTo>
                    <a:cubicBezTo>
                      <a:pt x="140" y="153"/>
                      <a:pt x="140" y="153"/>
                      <a:pt x="140" y="153"/>
                    </a:cubicBezTo>
                    <a:cubicBezTo>
                      <a:pt x="125" y="161"/>
                      <a:pt x="125" y="161"/>
                      <a:pt x="125" y="161"/>
                    </a:cubicBezTo>
                    <a:cubicBezTo>
                      <a:pt x="110" y="167"/>
                      <a:pt x="110" y="167"/>
                      <a:pt x="110" y="167"/>
                    </a:cubicBezTo>
                    <a:cubicBezTo>
                      <a:pt x="85" y="102"/>
                      <a:pt x="85" y="102"/>
                      <a:pt x="85" y="102"/>
                    </a:cubicBezTo>
                    <a:cubicBezTo>
                      <a:pt x="125" y="161"/>
                      <a:pt x="125" y="161"/>
                      <a:pt x="125" y="161"/>
                    </a:cubicBezTo>
                    <a:lnTo>
                      <a:pt x="100" y="95"/>
                    </a:lnTo>
                    <a:close/>
                    <a:moveTo>
                      <a:pt x="110" y="168"/>
                    </a:moveTo>
                    <a:cubicBezTo>
                      <a:pt x="95" y="175"/>
                      <a:pt x="95" y="175"/>
                      <a:pt x="95" y="175"/>
                    </a:cubicBezTo>
                    <a:cubicBezTo>
                      <a:pt x="70" y="110"/>
                      <a:pt x="70" y="110"/>
                      <a:pt x="70" y="110"/>
                    </a:cubicBezTo>
                    <a:lnTo>
                      <a:pt x="110" y="16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5" name="Freeform 29">
                <a:extLst>
                  <a:ext uri="{FF2B5EF4-FFF2-40B4-BE49-F238E27FC236}">
                    <a16:creationId xmlns:a16="http://schemas.microsoft.com/office/drawing/2014/main" id="{4CCBC3EC-56DE-40F4-844C-F3043CCD080A}"/>
                  </a:ext>
                </a:extLst>
              </p:cNvPr>
              <p:cNvSpPr>
                <a:spLocks/>
              </p:cNvSpPr>
              <p:nvPr/>
            </p:nvSpPr>
            <p:spPr bwMode="auto">
              <a:xfrm>
                <a:off x="10025063" y="8834438"/>
                <a:ext cx="125413" cy="107950"/>
              </a:xfrm>
              <a:custGeom>
                <a:avLst/>
                <a:gdLst>
                  <a:gd name="T0" fmla="*/ 9 w 39"/>
                  <a:gd name="T1" fmla="*/ 18 h 33"/>
                  <a:gd name="T2" fmla="*/ 15 w 39"/>
                  <a:gd name="T3" fmla="*/ 33 h 33"/>
                  <a:gd name="T4" fmla="*/ 39 w 39"/>
                  <a:gd name="T5" fmla="*/ 3 h 33"/>
                  <a:gd name="T6" fmla="*/ 0 w 39"/>
                  <a:gd name="T7" fmla="*/ 0 h 33"/>
                  <a:gd name="T8" fmla="*/ 9 w 39"/>
                  <a:gd name="T9" fmla="*/ 18 h 33"/>
                </a:gdLst>
                <a:ahLst/>
                <a:cxnLst>
                  <a:cxn ang="0">
                    <a:pos x="T0" y="T1"/>
                  </a:cxn>
                  <a:cxn ang="0">
                    <a:pos x="T2" y="T3"/>
                  </a:cxn>
                  <a:cxn ang="0">
                    <a:pos x="T4" y="T5"/>
                  </a:cxn>
                  <a:cxn ang="0">
                    <a:pos x="T6" y="T7"/>
                  </a:cxn>
                  <a:cxn ang="0">
                    <a:pos x="T8" y="T9"/>
                  </a:cxn>
                </a:cxnLst>
                <a:rect l="0" t="0" r="r" b="b"/>
                <a:pathLst>
                  <a:path w="39" h="33">
                    <a:moveTo>
                      <a:pt x="9" y="18"/>
                    </a:moveTo>
                    <a:cubicBezTo>
                      <a:pt x="11" y="22"/>
                      <a:pt x="13" y="27"/>
                      <a:pt x="15" y="33"/>
                    </a:cubicBezTo>
                    <a:cubicBezTo>
                      <a:pt x="39" y="3"/>
                      <a:pt x="39" y="3"/>
                      <a:pt x="39" y="3"/>
                    </a:cubicBezTo>
                    <a:cubicBezTo>
                      <a:pt x="0" y="0"/>
                      <a:pt x="0" y="0"/>
                      <a:pt x="0" y="0"/>
                    </a:cubicBezTo>
                    <a:cubicBezTo>
                      <a:pt x="3" y="6"/>
                      <a:pt x="7" y="11"/>
                      <a:pt x="9"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6" name="Freeform 30">
                <a:extLst>
                  <a:ext uri="{FF2B5EF4-FFF2-40B4-BE49-F238E27FC236}">
                    <a16:creationId xmlns:a16="http://schemas.microsoft.com/office/drawing/2014/main" id="{B9D9580F-5A51-4F27-AB19-292205CB1A6F}"/>
                  </a:ext>
                </a:extLst>
              </p:cNvPr>
              <p:cNvSpPr>
                <a:spLocks/>
              </p:cNvSpPr>
              <p:nvPr/>
            </p:nvSpPr>
            <p:spPr bwMode="auto">
              <a:xfrm>
                <a:off x="10140950" y="9186863"/>
                <a:ext cx="114300" cy="120650"/>
              </a:xfrm>
              <a:custGeom>
                <a:avLst/>
                <a:gdLst>
                  <a:gd name="T0" fmla="*/ 2 w 36"/>
                  <a:gd name="T1" fmla="*/ 19 h 37"/>
                  <a:gd name="T2" fmla="*/ 4 w 36"/>
                  <a:gd name="T3" fmla="*/ 37 h 37"/>
                  <a:gd name="T4" fmla="*/ 36 w 36"/>
                  <a:gd name="T5" fmla="*/ 15 h 37"/>
                  <a:gd name="T6" fmla="*/ 0 w 36"/>
                  <a:gd name="T7" fmla="*/ 0 h 37"/>
                  <a:gd name="T8" fmla="*/ 2 w 36"/>
                  <a:gd name="T9" fmla="*/ 19 h 37"/>
                </a:gdLst>
                <a:ahLst/>
                <a:cxnLst>
                  <a:cxn ang="0">
                    <a:pos x="T0" y="T1"/>
                  </a:cxn>
                  <a:cxn ang="0">
                    <a:pos x="T2" y="T3"/>
                  </a:cxn>
                  <a:cxn ang="0">
                    <a:pos x="T4" y="T5"/>
                  </a:cxn>
                  <a:cxn ang="0">
                    <a:pos x="T6" y="T7"/>
                  </a:cxn>
                  <a:cxn ang="0">
                    <a:pos x="T8" y="T9"/>
                  </a:cxn>
                </a:cxnLst>
                <a:rect l="0" t="0" r="r" b="b"/>
                <a:pathLst>
                  <a:path w="36" h="37">
                    <a:moveTo>
                      <a:pt x="2" y="19"/>
                    </a:moveTo>
                    <a:cubicBezTo>
                      <a:pt x="3" y="25"/>
                      <a:pt x="3" y="30"/>
                      <a:pt x="4" y="37"/>
                    </a:cubicBezTo>
                    <a:cubicBezTo>
                      <a:pt x="36" y="15"/>
                      <a:pt x="36" y="15"/>
                      <a:pt x="36" y="15"/>
                    </a:cubicBezTo>
                    <a:cubicBezTo>
                      <a:pt x="0" y="0"/>
                      <a:pt x="0" y="0"/>
                      <a:pt x="0" y="0"/>
                    </a:cubicBezTo>
                    <a:cubicBezTo>
                      <a:pt x="1" y="6"/>
                      <a:pt x="2" y="13"/>
                      <a:pt x="2" y="1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7" name="Freeform 31">
                <a:extLst>
                  <a:ext uri="{FF2B5EF4-FFF2-40B4-BE49-F238E27FC236}">
                    <a16:creationId xmlns:a16="http://schemas.microsoft.com/office/drawing/2014/main" id="{844E2A1B-B12A-4816-B76F-92AF48C34BE3}"/>
                  </a:ext>
                </a:extLst>
              </p:cNvPr>
              <p:cNvSpPr>
                <a:spLocks/>
              </p:cNvSpPr>
              <p:nvPr/>
            </p:nvSpPr>
            <p:spPr bwMode="auto">
              <a:xfrm>
                <a:off x="8221663" y="8326438"/>
                <a:ext cx="109538" cy="127000"/>
              </a:xfrm>
              <a:custGeom>
                <a:avLst/>
                <a:gdLst>
                  <a:gd name="T0" fmla="*/ 20 w 34"/>
                  <a:gd name="T1" fmla="*/ 27 h 39"/>
                  <a:gd name="T2" fmla="*/ 34 w 34"/>
                  <a:gd name="T3" fmla="*/ 17 h 39"/>
                  <a:gd name="T4" fmla="*/ 0 w 34"/>
                  <a:gd name="T5" fmla="*/ 0 h 39"/>
                  <a:gd name="T6" fmla="*/ 4 w 34"/>
                  <a:gd name="T7" fmla="*/ 39 h 39"/>
                  <a:gd name="T8" fmla="*/ 20 w 34"/>
                  <a:gd name="T9" fmla="*/ 27 h 39"/>
                </a:gdLst>
                <a:ahLst/>
                <a:cxnLst>
                  <a:cxn ang="0">
                    <a:pos x="T0" y="T1"/>
                  </a:cxn>
                  <a:cxn ang="0">
                    <a:pos x="T2" y="T3"/>
                  </a:cxn>
                  <a:cxn ang="0">
                    <a:pos x="T4" y="T5"/>
                  </a:cxn>
                  <a:cxn ang="0">
                    <a:pos x="T6" y="T7"/>
                  </a:cxn>
                  <a:cxn ang="0">
                    <a:pos x="T8" y="T9"/>
                  </a:cxn>
                </a:cxnLst>
                <a:rect l="0" t="0" r="r" b="b"/>
                <a:pathLst>
                  <a:path w="34" h="39">
                    <a:moveTo>
                      <a:pt x="20" y="27"/>
                    </a:moveTo>
                    <a:cubicBezTo>
                      <a:pt x="25" y="24"/>
                      <a:pt x="29" y="20"/>
                      <a:pt x="34" y="17"/>
                    </a:cubicBezTo>
                    <a:cubicBezTo>
                      <a:pt x="0" y="0"/>
                      <a:pt x="0" y="0"/>
                      <a:pt x="0" y="0"/>
                    </a:cubicBezTo>
                    <a:cubicBezTo>
                      <a:pt x="4" y="39"/>
                      <a:pt x="4" y="39"/>
                      <a:pt x="4" y="39"/>
                    </a:cubicBezTo>
                    <a:cubicBezTo>
                      <a:pt x="10" y="34"/>
                      <a:pt x="14" y="30"/>
                      <a:pt x="20" y="2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8" name="Freeform 32">
                <a:extLst>
                  <a:ext uri="{FF2B5EF4-FFF2-40B4-BE49-F238E27FC236}">
                    <a16:creationId xmlns:a16="http://schemas.microsoft.com/office/drawing/2014/main" id="{10CD24DE-2C5D-4C67-930A-3436EDC0F443}"/>
                  </a:ext>
                </a:extLst>
              </p:cNvPr>
              <p:cNvSpPr>
                <a:spLocks/>
              </p:cNvSpPr>
              <p:nvPr/>
            </p:nvSpPr>
            <p:spPr bwMode="auto">
              <a:xfrm>
                <a:off x="10115550" y="9066213"/>
                <a:ext cx="117475" cy="117475"/>
              </a:xfrm>
              <a:custGeom>
                <a:avLst/>
                <a:gdLst>
                  <a:gd name="T0" fmla="*/ 5 w 37"/>
                  <a:gd name="T1" fmla="*/ 18 h 36"/>
                  <a:gd name="T2" fmla="*/ 8 w 37"/>
                  <a:gd name="T3" fmla="*/ 36 h 36"/>
                  <a:gd name="T4" fmla="*/ 37 w 37"/>
                  <a:gd name="T5" fmla="*/ 12 h 36"/>
                  <a:gd name="T6" fmla="*/ 0 w 37"/>
                  <a:gd name="T7" fmla="*/ 0 h 36"/>
                  <a:gd name="T8" fmla="*/ 5 w 37"/>
                  <a:gd name="T9" fmla="*/ 18 h 36"/>
                </a:gdLst>
                <a:ahLst/>
                <a:cxnLst>
                  <a:cxn ang="0">
                    <a:pos x="T0" y="T1"/>
                  </a:cxn>
                  <a:cxn ang="0">
                    <a:pos x="T2" y="T3"/>
                  </a:cxn>
                  <a:cxn ang="0">
                    <a:pos x="T4" y="T5"/>
                  </a:cxn>
                  <a:cxn ang="0">
                    <a:pos x="T6" y="T7"/>
                  </a:cxn>
                  <a:cxn ang="0">
                    <a:pos x="T8" y="T9"/>
                  </a:cxn>
                </a:cxnLst>
                <a:rect l="0" t="0" r="r" b="b"/>
                <a:pathLst>
                  <a:path w="37" h="36">
                    <a:moveTo>
                      <a:pt x="5" y="18"/>
                    </a:moveTo>
                    <a:cubicBezTo>
                      <a:pt x="6" y="24"/>
                      <a:pt x="7" y="30"/>
                      <a:pt x="8" y="36"/>
                    </a:cubicBezTo>
                    <a:cubicBezTo>
                      <a:pt x="37" y="12"/>
                      <a:pt x="37" y="12"/>
                      <a:pt x="37" y="12"/>
                    </a:cubicBezTo>
                    <a:cubicBezTo>
                      <a:pt x="0" y="0"/>
                      <a:pt x="0" y="0"/>
                      <a:pt x="0" y="0"/>
                    </a:cubicBezTo>
                    <a:cubicBezTo>
                      <a:pt x="2" y="6"/>
                      <a:pt x="4" y="12"/>
                      <a:pt x="5"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79" name="Freeform 33">
                <a:extLst>
                  <a:ext uri="{FF2B5EF4-FFF2-40B4-BE49-F238E27FC236}">
                    <a16:creationId xmlns:a16="http://schemas.microsoft.com/office/drawing/2014/main" id="{575B24B4-D701-43AE-AE5F-5D6544AD24FD}"/>
                  </a:ext>
                </a:extLst>
              </p:cNvPr>
              <p:cNvSpPr>
                <a:spLocks/>
              </p:cNvSpPr>
              <p:nvPr/>
            </p:nvSpPr>
            <p:spPr bwMode="auto">
              <a:xfrm>
                <a:off x="10075863" y="8948738"/>
                <a:ext cx="125413" cy="114300"/>
              </a:xfrm>
              <a:custGeom>
                <a:avLst/>
                <a:gdLst>
                  <a:gd name="T0" fmla="*/ 7 w 39"/>
                  <a:gd name="T1" fmla="*/ 17 h 35"/>
                  <a:gd name="T2" fmla="*/ 11 w 39"/>
                  <a:gd name="T3" fmla="*/ 35 h 35"/>
                  <a:gd name="T4" fmla="*/ 39 w 39"/>
                  <a:gd name="T5" fmla="*/ 8 h 35"/>
                  <a:gd name="T6" fmla="*/ 0 w 39"/>
                  <a:gd name="T7" fmla="*/ 0 h 35"/>
                  <a:gd name="T8" fmla="*/ 7 w 39"/>
                  <a:gd name="T9" fmla="*/ 17 h 35"/>
                </a:gdLst>
                <a:ahLst/>
                <a:cxnLst>
                  <a:cxn ang="0">
                    <a:pos x="T0" y="T1"/>
                  </a:cxn>
                  <a:cxn ang="0">
                    <a:pos x="T2" y="T3"/>
                  </a:cxn>
                  <a:cxn ang="0">
                    <a:pos x="T4" y="T5"/>
                  </a:cxn>
                  <a:cxn ang="0">
                    <a:pos x="T6" y="T7"/>
                  </a:cxn>
                  <a:cxn ang="0">
                    <a:pos x="T8" y="T9"/>
                  </a:cxn>
                </a:cxnLst>
                <a:rect l="0" t="0" r="r" b="b"/>
                <a:pathLst>
                  <a:path w="39" h="35">
                    <a:moveTo>
                      <a:pt x="7" y="17"/>
                    </a:moveTo>
                    <a:cubicBezTo>
                      <a:pt x="8" y="23"/>
                      <a:pt x="10" y="28"/>
                      <a:pt x="11" y="35"/>
                    </a:cubicBezTo>
                    <a:cubicBezTo>
                      <a:pt x="39" y="8"/>
                      <a:pt x="39" y="8"/>
                      <a:pt x="39" y="8"/>
                    </a:cubicBezTo>
                    <a:cubicBezTo>
                      <a:pt x="0" y="0"/>
                      <a:pt x="0" y="0"/>
                      <a:pt x="0" y="0"/>
                    </a:cubicBezTo>
                    <a:cubicBezTo>
                      <a:pt x="3" y="5"/>
                      <a:pt x="5" y="12"/>
                      <a:pt x="7"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0" name="Freeform 34">
                <a:extLst>
                  <a:ext uri="{FF2B5EF4-FFF2-40B4-BE49-F238E27FC236}">
                    <a16:creationId xmlns:a16="http://schemas.microsoft.com/office/drawing/2014/main" id="{99238C6E-5E26-4BE6-A3B2-8323B598AE28}"/>
                  </a:ext>
                </a:extLst>
              </p:cNvPr>
              <p:cNvSpPr>
                <a:spLocks/>
              </p:cNvSpPr>
              <p:nvPr/>
            </p:nvSpPr>
            <p:spPr bwMode="auto">
              <a:xfrm>
                <a:off x="10153650" y="9310688"/>
                <a:ext cx="107950" cy="120650"/>
              </a:xfrm>
              <a:custGeom>
                <a:avLst/>
                <a:gdLst>
                  <a:gd name="T0" fmla="*/ 0 w 68"/>
                  <a:gd name="T1" fmla="*/ 39 h 76"/>
                  <a:gd name="T2" fmla="*/ 0 w 68"/>
                  <a:gd name="T3" fmla="*/ 76 h 76"/>
                  <a:gd name="T4" fmla="*/ 68 w 68"/>
                  <a:gd name="T5" fmla="*/ 39 h 76"/>
                  <a:gd name="T6" fmla="*/ 0 w 68"/>
                  <a:gd name="T7" fmla="*/ 0 h 76"/>
                  <a:gd name="T8" fmla="*/ 0 w 68"/>
                  <a:gd name="T9" fmla="*/ 39 h 76"/>
                </a:gdLst>
                <a:ahLst/>
                <a:cxnLst>
                  <a:cxn ang="0">
                    <a:pos x="T0" y="T1"/>
                  </a:cxn>
                  <a:cxn ang="0">
                    <a:pos x="T2" y="T3"/>
                  </a:cxn>
                  <a:cxn ang="0">
                    <a:pos x="T4" y="T5"/>
                  </a:cxn>
                  <a:cxn ang="0">
                    <a:pos x="T6" y="T7"/>
                  </a:cxn>
                  <a:cxn ang="0">
                    <a:pos x="T8" y="T9"/>
                  </a:cxn>
                </a:cxnLst>
                <a:rect l="0" t="0" r="r" b="b"/>
                <a:pathLst>
                  <a:path w="68" h="76">
                    <a:moveTo>
                      <a:pt x="0" y="39"/>
                    </a:moveTo>
                    <a:lnTo>
                      <a:pt x="0" y="76"/>
                    </a:lnTo>
                    <a:lnTo>
                      <a:pt x="68" y="39"/>
                    </a:lnTo>
                    <a:lnTo>
                      <a:pt x="0" y="0"/>
                    </a:lnTo>
                    <a:lnTo>
                      <a:pt x="0" y="39"/>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1" name="Freeform 35">
                <a:extLst>
                  <a:ext uri="{FF2B5EF4-FFF2-40B4-BE49-F238E27FC236}">
                    <a16:creationId xmlns:a16="http://schemas.microsoft.com/office/drawing/2014/main" id="{7AC21236-C8C2-4DF8-865A-E7A6F6CD2E8F}"/>
                  </a:ext>
                </a:extLst>
              </p:cNvPr>
              <p:cNvSpPr>
                <a:spLocks/>
              </p:cNvSpPr>
              <p:nvPr/>
            </p:nvSpPr>
            <p:spPr bwMode="auto">
              <a:xfrm>
                <a:off x="8108950" y="8932863"/>
                <a:ext cx="42863" cy="38100"/>
              </a:xfrm>
              <a:custGeom>
                <a:avLst/>
                <a:gdLst>
                  <a:gd name="T0" fmla="*/ 0 w 27"/>
                  <a:gd name="T1" fmla="*/ 14 h 24"/>
                  <a:gd name="T2" fmla="*/ 21 w 27"/>
                  <a:gd name="T3" fmla="*/ 24 h 24"/>
                  <a:gd name="T4" fmla="*/ 27 w 27"/>
                  <a:gd name="T5" fmla="*/ 8 h 24"/>
                  <a:gd name="T6" fmla="*/ 6 w 27"/>
                  <a:gd name="T7" fmla="*/ 0 h 24"/>
                  <a:gd name="T8" fmla="*/ 0 w 27"/>
                  <a:gd name="T9" fmla="*/ 14 h 24"/>
                </a:gdLst>
                <a:ahLst/>
                <a:cxnLst>
                  <a:cxn ang="0">
                    <a:pos x="T0" y="T1"/>
                  </a:cxn>
                  <a:cxn ang="0">
                    <a:pos x="T2" y="T3"/>
                  </a:cxn>
                  <a:cxn ang="0">
                    <a:pos x="T4" y="T5"/>
                  </a:cxn>
                  <a:cxn ang="0">
                    <a:pos x="T6" y="T7"/>
                  </a:cxn>
                  <a:cxn ang="0">
                    <a:pos x="T8" y="T9"/>
                  </a:cxn>
                </a:cxnLst>
                <a:rect l="0" t="0" r="r" b="b"/>
                <a:pathLst>
                  <a:path w="27" h="24">
                    <a:moveTo>
                      <a:pt x="0" y="14"/>
                    </a:moveTo>
                    <a:lnTo>
                      <a:pt x="21" y="24"/>
                    </a:lnTo>
                    <a:lnTo>
                      <a:pt x="27" y="8"/>
                    </a:lnTo>
                    <a:lnTo>
                      <a:pt x="6" y="0"/>
                    </a:lnTo>
                    <a:lnTo>
                      <a:pt x="0" y="14"/>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2" name="Freeform 36">
                <a:extLst>
                  <a:ext uri="{FF2B5EF4-FFF2-40B4-BE49-F238E27FC236}">
                    <a16:creationId xmlns:a16="http://schemas.microsoft.com/office/drawing/2014/main" id="{866310D2-EB8F-416C-A595-FDA78F17F434}"/>
                  </a:ext>
                </a:extLst>
              </p:cNvPr>
              <p:cNvSpPr>
                <a:spLocks/>
              </p:cNvSpPr>
              <p:nvPr/>
            </p:nvSpPr>
            <p:spPr bwMode="auto">
              <a:xfrm>
                <a:off x="8420100" y="10121901"/>
                <a:ext cx="44450" cy="55563"/>
              </a:xfrm>
              <a:custGeom>
                <a:avLst/>
                <a:gdLst>
                  <a:gd name="T0" fmla="*/ 16 w 28"/>
                  <a:gd name="T1" fmla="*/ 35 h 35"/>
                  <a:gd name="T2" fmla="*/ 28 w 28"/>
                  <a:gd name="T3" fmla="*/ 2 h 35"/>
                  <a:gd name="T4" fmla="*/ 24 w 28"/>
                  <a:gd name="T5" fmla="*/ 0 h 35"/>
                  <a:gd name="T6" fmla="*/ 0 w 28"/>
                  <a:gd name="T7" fmla="*/ 25 h 35"/>
                  <a:gd name="T8" fmla="*/ 16 w 28"/>
                  <a:gd name="T9" fmla="*/ 35 h 35"/>
                </a:gdLst>
                <a:ahLst/>
                <a:cxnLst>
                  <a:cxn ang="0">
                    <a:pos x="T0" y="T1"/>
                  </a:cxn>
                  <a:cxn ang="0">
                    <a:pos x="T2" y="T3"/>
                  </a:cxn>
                  <a:cxn ang="0">
                    <a:pos x="T4" y="T5"/>
                  </a:cxn>
                  <a:cxn ang="0">
                    <a:pos x="T6" y="T7"/>
                  </a:cxn>
                  <a:cxn ang="0">
                    <a:pos x="T8" y="T9"/>
                  </a:cxn>
                </a:cxnLst>
                <a:rect l="0" t="0" r="r" b="b"/>
                <a:pathLst>
                  <a:path w="28" h="35">
                    <a:moveTo>
                      <a:pt x="16" y="35"/>
                    </a:moveTo>
                    <a:lnTo>
                      <a:pt x="28" y="2"/>
                    </a:lnTo>
                    <a:lnTo>
                      <a:pt x="24" y="0"/>
                    </a:lnTo>
                    <a:lnTo>
                      <a:pt x="0" y="25"/>
                    </a:lnTo>
                    <a:lnTo>
                      <a:pt x="16" y="3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3" name="Freeform 37">
                <a:extLst>
                  <a:ext uri="{FF2B5EF4-FFF2-40B4-BE49-F238E27FC236}">
                    <a16:creationId xmlns:a16="http://schemas.microsoft.com/office/drawing/2014/main" id="{B0FA5D3C-09E2-49B4-A56A-146029211429}"/>
                  </a:ext>
                </a:extLst>
              </p:cNvPr>
              <p:cNvSpPr>
                <a:spLocks/>
              </p:cNvSpPr>
              <p:nvPr/>
            </p:nvSpPr>
            <p:spPr bwMode="auto">
              <a:xfrm>
                <a:off x="8032750" y="9174163"/>
                <a:ext cx="38100" cy="28575"/>
              </a:xfrm>
              <a:custGeom>
                <a:avLst/>
                <a:gdLst>
                  <a:gd name="T0" fmla="*/ 0 w 24"/>
                  <a:gd name="T1" fmla="*/ 16 h 18"/>
                  <a:gd name="T2" fmla="*/ 22 w 24"/>
                  <a:gd name="T3" fmla="*/ 18 h 18"/>
                  <a:gd name="T4" fmla="*/ 24 w 24"/>
                  <a:gd name="T5" fmla="*/ 4 h 18"/>
                  <a:gd name="T6" fmla="*/ 2 w 24"/>
                  <a:gd name="T7" fmla="*/ 0 h 18"/>
                  <a:gd name="T8" fmla="*/ 0 w 24"/>
                  <a:gd name="T9" fmla="*/ 16 h 18"/>
                </a:gdLst>
                <a:ahLst/>
                <a:cxnLst>
                  <a:cxn ang="0">
                    <a:pos x="T0" y="T1"/>
                  </a:cxn>
                  <a:cxn ang="0">
                    <a:pos x="T2" y="T3"/>
                  </a:cxn>
                  <a:cxn ang="0">
                    <a:pos x="T4" y="T5"/>
                  </a:cxn>
                  <a:cxn ang="0">
                    <a:pos x="T6" y="T7"/>
                  </a:cxn>
                  <a:cxn ang="0">
                    <a:pos x="T8" y="T9"/>
                  </a:cxn>
                </a:cxnLst>
                <a:rect l="0" t="0" r="r" b="b"/>
                <a:pathLst>
                  <a:path w="24" h="18">
                    <a:moveTo>
                      <a:pt x="0" y="16"/>
                    </a:moveTo>
                    <a:lnTo>
                      <a:pt x="22" y="18"/>
                    </a:lnTo>
                    <a:lnTo>
                      <a:pt x="24" y="4"/>
                    </a:lnTo>
                    <a:lnTo>
                      <a:pt x="2" y="0"/>
                    </a:lnTo>
                    <a:lnTo>
                      <a:pt x="0" y="16"/>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4" name="Freeform 38">
                <a:extLst>
                  <a:ext uri="{FF2B5EF4-FFF2-40B4-BE49-F238E27FC236}">
                    <a16:creationId xmlns:a16="http://schemas.microsoft.com/office/drawing/2014/main" id="{A0F1ED85-315D-4188-A0EA-5C6765FC2898}"/>
                  </a:ext>
                </a:extLst>
              </p:cNvPr>
              <p:cNvSpPr>
                <a:spLocks/>
              </p:cNvSpPr>
              <p:nvPr/>
            </p:nvSpPr>
            <p:spPr bwMode="auto">
              <a:xfrm>
                <a:off x="8656638" y="10233026"/>
                <a:ext cx="39688" cy="31750"/>
              </a:xfrm>
              <a:custGeom>
                <a:avLst/>
                <a:gdLst>
                  <a:gd name="T0" fmla="*/ 0 w 25"/>
                  <a:gd name="T1" fmla="*/ 14 h 20"/>
                  <a:gd name="T2" fmla="*/ 21 w 25"/>
                  <a:gd name="T3" fmla="*/ 20 h 20"/>
                  <a:gd name="T4" fmla="*/ 25 w 25"/>
                  <a:gd name="T5" fmla="*/ 6 h 20"/>
                  <a:gd name="T6" fmla="*/ 7 w 25"/>
                  <a:gd name="T7" fmla="*/ 0 h 20"/>
                  <a:gd name="T8" fmla="*/ 0 w 25"/>
                  <a:gd name="T9" fmla="*/ 14 h 20"/>
                </a:gdLst>
                <a:ahLst/>
                <a:cxnLst>
                  <a:cxn ang="0">
                    <a:pos x="T0" y="T1"/>
                  </a:cxn>
                  <a:cxn ang="0">
                    <a:pos x="T2" y="T3"/>
                  </a:cxn>
                  <a:cxn ang="0">
                    <a:pos x="T4" y="T5"/>
                  </a:cxn>
                  <a:cxn ang="0">
                    <a:pos x="T6" y="T7"/>
                  </a:cxn>
                  <a:cxn ang="0">
                    <a:pos x="T8" y="T9"/>
                  </a:cxn>
                </a:cxnLst>
                <a:rect l="0" t="0" r="r" b="b"/>
                <a:pathLst>
                  <a:path w="25" h="20">
                    <a:moveTo>
                      <a:pt x="0" y="14"/>
                    </a:moveTo>
                    <a:lnTo>
                      <a:pt x="21" y="20"/>
                    </a:lnTo>
                    <a:lnTo>
                      <a:pt x="25" y="6"/>
                    </a:lnTo>
                    <a:lnTo>
                      <a:pt x="7" y="0"/>
                    </a:lnTo>
                    <a:lnTo>
                      <a:pt x="0" y="14"/>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5" name="Freeform 39">
                <a:extLst>
                  <a:ext uri="{FF2B5EF4-FFF2-40B4-BE49-F238E27FC236}">
                    <a16:creationId xmlns:a16="http://schemas.microsoft.com/office/drawing/2014/main" id="{E791BD2E-5BDC-4357-8747-C61F2397B7F9}"/>
                  </a:ext>
                </a:extLst>
              </p:cNvPr>
              <p:cNvSpPr>
                <a:spLocks noEditPoints="1"/>
              </p:cNvSpPr>
              <p:nvPr/>
            </p:nvSpPr>
            <p:spPr bwMode="auto">
              <a:xfrm>
                <a:off x="8743950" y="8782051"/>
                <a:ext cx="477838" cy="1358900"/>
              </a:xfrm>
              <a:custGeom>
                <a:avLst/>
                <a:gdLst>
                  <a:gd name="T0" fmla="*/ 33 w 149"/>
                  <a:gd name="T1" fmla="*/ 110 h 417"/>
                  <a:gd name="T2" fmla="*/ 0 w 149"/>
                  <a:gd name="T3" fmla="*/ 179 h 417"/>
                  <a:gd name="T4" fmla="*/ 27 w 149"/>
                  <a:gd name="T5" fmla="*/ 233 h 417"/>
                  <a:gd name="T6" fmla="*/ 44 w 149"/>
                  <a:gd name="T7" fmla="*/ 274 h 417"/>
                  <a:gd name="T8" fmla="*/ 54 w 149"/>
                  <a:gd name="T9" fmla="*/ 321 h 417"/>
                  <a:gd name="T10" fmla="*/ 59 w 149"/>
                  <a:gd name="T11" fmla="*/ 413 h 417"/>
                  <a:gd name="T12" fmla="*/ 74 w 149"/>
                  <a:gd name="T13" fmla="*/ 417 h 417"/>
                  <a:gd name="T14" fmla="*/ 75 w 149"/>
                  <a:gd name="T15" fmla="*/ 417 h 417"/>
                  <a:gd name="T16" fmla="*/ 90 w 149"/>
                  <a:gd name="T17" fmla="*/ 413 h 417"/>
                  <a:gd name="T18" fmla="*/ 95 w 149"/>
                  <a:gd name="T19" fmla="*/ 321 h 417"/>
                  <a:gd name="T20" fmla="*/ 106 w 149"/>
                  <a:gd name="T21" fmla="*/ 274 h 417"/>
                  <a:gd name="T22" fmla="*/ 122 w 149"/>
                  <a:gd name="T23" fmla="*/ 233 h 417"/>
                  <a:gd name="T24" fmla="*/ 149 w 149"/>
                  <a:gd name="T25" fmla="*/ 179 h 417"/>
                  <a:gd name="T26" fmla="*/ 116 w 149"/>
                  <a:gd name="T27" fmla="*/ 110 h 417"/>
                  <a:gd name="T28" fmla="*/ 137 w 149"/>
                  <a:gd name="T29" fmla="*/ 62 h 417"/>
                  <a:gd name="T30" fmla="*/ 114 w 149"/>
                  <a:gd name="T31" fmla="*/ 0 h 417"/>
                  <a:gd name="T32" fmla="*/ 35 w 149"/>
                  <a:gd name="T33" fmla="*/ 0 h 417"/>
                  <a:gd name="T34" fmla="*/ 12 w 149"/>
                  <a:gd name="T35" fmla="*/ 62 h 417"/>
                  <a:gd name="T36" fmla="*/ 33 w 149"/>
                  <a:gd name="T37" fmla="*/ 110 h 417"/>
                  <a:gd name="T38" fmla="*/ 86 w 149"/>
                  <a:gd name="T39" fmla="*/ 322 h 417"/>
                  <a:gd name="T40" fmla="*/ 74 w 149"/>
                  <a:gd name="T41" fmla="*/ 316 h 417"/>
                  <a:gd name="T42" fmla="*/ 62 w 149"/>
                  <a:gd name="T43" fmla="*/ 322 h 417"/>
                  <a:gd name="T44" fmla="*/ 74 w 149"/>
                  <a:gd name="T45" fmla="*/ 311 h 417"/>
                  <a:gd name="T46" fmla="*/ 87 w 149"/>
                  <a:gd name="T47" fmla="*/ 322 h 417"/>
                  <a:gd name="T48" fmla="*/ 86 w 149"/>
                  <a:gd name="T49" fmla="*/ 322 h 417"/>
                  <a:gd name="T50" fmla="*/ 74 w 149"/>
                  <a:gd name="T51" fmla="*/ 281 h 417"/>
                  <a:gd name="T52" fmla="*/ 59 w 149"/>
                  <a:gd name="T53" fmla="*/ 289 h 417"/>
                  <a:gd name="T54" fmla="*/ 58 w 149"/>
                  <a:gd name="T55" fmla="*/ 289 h 417"/>
                  <a:gd name="T56" fmla="*/ 74 w 149"/>
                  <a:gd name="T57" fmla="*/ 275 h 417"/>
                  <a:gd name="T58" fmla="*/ 90 w 149"/>
                  <a:gd name="T59" fmla="*/ 289 h 417"/>
                  <a:gd name="T60" fmla="*/ 74 w 149"/>
                  <a:gd name="T61" fmla="*/ 281 h 417"/>
                  <a:gd name="T62" fmla="*/ 100 w 149"/>
                  <a:gd name="T63" fmla="*/ 253 h 417"/>
                  <a:gd name="T64" fmla="*/ 75 w 149"/>
                  <a:gd name="T65" fmla="*/ 248 h 417"/>
                  <a:gd name="T66" fmla="*/ 49 w 149"/>
                  <a:gd name="T67" fmla="*/ 253 h 417"/>
                  <a:gd name="T68" fmla="*/ 75 w 149"/>
                  <a:gd name="T69" fmla="*/ 241 h 417"/>
                  <a:gd name="T70" fmla="*/ 101 w 149"/>
                  <a:gd name="T71" fmla="*/ 253 h 417"/>
                  <a:gd name="T72" fmla="*/ 100 w 149"/>
                  <a:gd name="T73" fmla="*/ 253 h 417"/>
                  <a:gd name="T74" fmla="*/ 113 w 149"/>
                  <a:gd name="T75" fmla="*/ 220 h 417"/>
                  <a:gd name="T76" fmla="*/ 74 w 149"/>
                  <a:gd name="T77" fmla="*/ 200 h 417"/>
                  <a:gd name="T78" fmla="*/ 35 w 149"/>
                  <a:gd name="T79" fmla="*/ 218 h 417"/>
                  <a:gd name="T80" fmla="*/ 74 w 149"/>
                  <a:gd name="T81" fmla="*/ 193 h 417"/>
                  <a:gd name="T82" fmla="*/ 114 w 149"/>
                  <a:gd name="T83" fmla="*/ 220 h 417"/>
                  <a:gd name="T84" fmla="*/ 113 w 149"/>
                  <a:gd name="T85" fmla="*/ 220 h 417"/>
                  <a:gd name="T86" fmla="*/ 124 w 149"/>
                  <a:gd name="T87" fmla="*/ 171 h 417"/>
                  <a:gd name="T88" fmla="*/ 124 w 149"/>
                  <a:gd name="T89" fmla="*/ 172 h 417"/>
                  <a:gd name="T90" fmla="*/ 74 w 149"/>
                  <a:gd name="T91" fmla="*/ 150 h 417"/>
                  <a:gd name="T92" fmla="*/ 25 w 149"/>
                  <a:gd name="T93" fmla="*/ 172 h 417"/>
                  <a:gd name="T94" fmla="*/ 24 w 149"/>
                  <a:gd name="T95" fmla="*/ 171 h 417"/>
                  <a:gd name="T96" fmla="*/ 74 w 149"/>
                  <a:gd name="T97" fmla="*/ 141 h 417"/>
                  <a:gd name="T98" fmla="*/ 124 w 149"/>
                  <a:gd name="T99" fmla="*/ 171 h 417"/>
                  <a:gd name="T100" fmla="*/ 74 w 149"/>
                  <a:gd name="T101" fmla="*/ 40 h 417"/>
                  <a:gd name="T102" fmla="*/ 116 w 149"/>
                  <a:gd name="T103" fmla="*/ 61 h 417"/>
                  <a:gd name="T104" fmla="*/ 74 w 149"/>
                  <a:gd name="T105" fmla="*/ 52 h 417"/>
                  <a:gd name="T106" fmla="*/ 32 w 149"/>
                  <a:gd name="T107" fmla="*/ 61 h 417"/>
                  <a:gd name="T108" fmla="*/ 74 w 149"/>
                  <a:gd name="T109" fmla="*/ 4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9" h="417">
                    <a:moveTo>
                      <a:pt x="33" y="110"/>
                    </a:moveTo>
                    <a:cubicBezTo>
                      <a:pt x="0" y="179"/>
                      <a:pt x="0" y="179"/>
                      <a:pt x="0" y="179"/>
                    </a:cubicBezTo>
                    <a:cubicBezTo>
                      <a:pt x="0" y="179"/>
                      <a:pt x="23" y="224"/>
                      <a:pt x="27" y="233"/>
                    </a:cubicBezTo>
                    <a:cubicBezTo>
                      <a:pt x="31" y="240"/>
                      <a:pt x="39" y="264"/>
                      <a:pt x="44" y="274"/>
                    </a:cubicBezTo>
                    <a:cubicBezTo>
                      <a:pt x="47" y="284"/>
                      <a:pt x="53" y="312"/>
                      <a:pt x="54" y="321"/>
                    </a:cubicBezTo>
                    <a:cubicBezTo>
                      <a:pt x="56" y="329"/>
                      <a:pt x="59" y="413"/>
                      <a:pt x="59" y="413"/>
                    </a:cubicBezTo>
                    <a:cubicBezTo>
                      <a:pt x="63" y="416"/>
                      <a:pt x="69" y="417"/>
                      <a:pt x="74" y="417"/>
                    </a:cubicBezTo>
                    <a:cubicBezTo>
                      <a:pt x="75" y="417"/>
                      <a:pt x="75" y="417"/>
                      <a:pt x="75" y="417"/>
                    </a:cubicBezTo>
                    <a:cubicBezTo>
                      <a:pt x="81" y="417"/>
                      <a:pt x="86" y="416"/>
                      <a:pt x="90" y="413"/>
                    </a:cubicBezTo>
                    <a:cubicBezTo>
                      <a:pt x="90" y="413"/>
                      <a:pt x="94" y="329"/>
                      <a:pt x="95" y="321"/>
                    </a:cubicBezTo>
                    <a:cubicBezTo>
                      <a:pt x="96" y="312"/>
                      <a:pt x="102" y="284"/>
                      <a:pt x="106" y="274"/>
                    </a:cubicBezTo>
                    <a:cubicBezTo>
                      <a:pt x="110" y="264"/>
                      <a:pt x="119" y="240"/>
                      <a:pt x="122" y="233"/>
                    </a:cubicBezTo>
                    <a:cubicBezTo>
                      <a:pt x="126" y="224"/>
                      <a:pt x="149" y="179"/>
                      <a:pt x="149" y="179"/>
                    </a:cubicBezTo>
                    <a:cubicBezTo>
                      <a:pt x="116" y="110"/>
                      <a:pt x="116" y="110"/>
                      <a:pt x="116" y="110"/>
                    </a:cubicBezTo>
                    <a:cubicBezTo>
                      <a:pt x="137" y="62"/>
                      <a:pt x="137" y="62"/>
                      <a:pt x="137" y="62"/>
                    </a:cubicBezTo>
                    <a:cubicBezTo>
                      <a:pt x="114" y="0"/>
                      <a:pt x="114" y="0"/>
                      <a:pt x="114" y="0"/>
                    </a:cubicBezTo>
                    <a:cubicBezTo>
                      <a:pt x="35" y="0"/>
                      <a:pt x="35" y="0"/>
                      <a:pt x="35" y="0"/>
                    </a:cubicBezTo>
                    <a:cubicBezTo>
                      <a:pt x="12" y="62"/>
                      <a:pt x="12" y="62"/>
                      <a:pt x="12" y="62"/>
                    </a:cubicBezTo>
                    <a:lnTo>
                      <a:pt x="33" y="110"/>
                    </a:lnTo>
                    <a:close/>
                    <a:moveTo>
                      <a:pt x="86" y="322"/>
                    </a:moveTo>
                    <a:cubicBezTo>
                      <a:pt x="84" y="318"/>
                      <a:pt x="79" y="316"/>
                      <a:pt x="74" y="316"/>
                    </a:cubicBezTo>
                    <a:cubicBezTo>
                      <a:pt x="70" y="316"/>
                      <a:pt x="65" y="318"/>
                      <a:pt x="62" y="322"/>
                    </a:cubicBezTo>
                    <a:cubicBezTo>
                      <a:pt x="63" y="315"/>
                      <a:pt x="67" y="311"/>
                      <a:pt x="74" y="311"/>
                    </a:cubicBezTo>
                    <a:cubicBezTo>
                      <a:pt x="81" y="311"/>
                      <a:pt x="86" y="315"/>
                      <a:pt x="87" y="322"/>
                    </a:cubicBezTo>
                    <a:lnTo>
                      <a:pt x="86" y="322"/>
                    </a:lnTo>
                    <a:close/>
                    <a:moveTo>
                      <a:pt x="74" y="281"/>
                    </a:moveTo>
                    <a:cubicBezTo>
                      <a:pt x="67" y="281"/>
                      <a:pt x="62" y="285"/>
                      <a:pt x="59" y="289"/>
                    </a:cubicBezTo>
                    <a:cubicBezTo>
                      <a:pt x="58" y="289"/>
                      <a:pt x="58" y="289"/>
                      <a:pt x="58" y="289"/>
                    </a:cubicBezTo>
                    <a:cubicBezTo>
                      <a:pt x="60" y="281"/>
                      <a:pt x="66" y="275"/>
                      <a:pt x="74" y="275"/>
                    </a:cubicBezTo>
                    <a:cubicBezTo>
                      <a:pt x="83" y="275"/>
                      <a:pt x="89" y="281"/>
                      <a:pt x="90" y="289"/>
                    </a:cubicBezTo>
                    <a:cubicBezTo>
                      <a:pt x="86" y="285"/>
                      <a:pt x="81" y="281"/>
                      <a:pt x="74" y="281"/>
                    </a:cubicBezTo>
                    <a:moveTo>
                      <a:pt x="100" y="253"/>
                    </a:moveTo>
                    <a:cubicBezTo>
                      <a:pt x="92" y="250"/>
                      <a:pt x="84" y="248"/>
                      <a:pt x="75" y="248"/>
                    </a:cubicBezTo>
                    <a:cubicBezTo>
                      <a:pt x="65" y="248"/>
                      <a:pt x="57" y="250"/>
                      <a:pt x="49" y="253"/>
                    </a:cubicBezTo>
                    <a:cubicBezTo>
                      <a:pt x="54" y="246"/>
                      <a:pt x="64" y="241"/>
                      <a:pt x="75" y="241"/>
                    </a:cubicBezTo>
                    <a:cubicBezTo>
                      <a:pt x="85" y="241"/>
                      <a:pt x="95" y="246"/>
                      <a:pt x="101" y="253"/>
                    </a:cubicBezTo>
                    <a:lnTo>
                      <a:pt x="100" y="253"/>
                    </a:lnTo>
                    <a:close/>
                    <a:moveTo>
                      <a:pt x="113" y="220"/>
                    </a:moveTo>
                    <a:cubicBezTo>
                      <a:pt x="104" y="208"/>
                      <a:pt x="90" y="200"/>
                      <a:pt x="74" y="200"/>
                    </a:cubicBezTo>
                    <a:cubicBezTo>
                      <a:pt x="59" y="200"/>
                      <a:pt x="45" y="208"/>
                      <a:pt x="35" y="218"/>
                    </a:cubicBezTo>
                    <a:cubicBezTo>
                      <a:pt x="41" y="203"/>
                      <a:pt x="57" y="193"/>
                      <a:pt x="74" y="193"/>
                    </a:cubicBezTo>
                    <a:cubicBezTo>
                      <a:pt x="92" y="193"/>
                      <a:pt x="108" y="204"/>
                      <a:pt x="114" y="220"/>
                    </a:cubicBezTo>
                    <a:lnTo>
                      <a:pt x="113" y="220"/>
                    </a:lnTo>
                    <a:close/>
                    <a:moveTo>
                      <a:pt x="124" y="171"/>
                    </a:moveTo>
                    <a:cubicBezTo>
                      <a:pt x="124" y="172"/>
                      <a:pt x="124" y="172"/>
                      <a:pt x="124" y="172"/>
                    </a:cubicBezTo>
                    <a:cubicBezTo>
                      <a:pt x="111" y="158"/>
                      <a:pt x="94" y="150"/>
                      <a:pt x="74" y="150"/>
                    </a:cubicBezTo>
                    <a:cubicBezTo>
                      <a:pt x="54" y="150"/>
                      <a:pt x="37" y="159"/>
                      <a:pt x="25" y="172"/>
                    </a:cubicBezTo>
                    <a:cubicBezTo>
                      <a:pt x="24" y="171"/>
                      <a:pt x="24" y="171"/>
                      <a:pt x="24" y="171"/>
                    </a:cubicBezTo>
                    <a:cubicBezTo>
                      <a:pt x="34" y="153"/>
                      <a:pt x="52" y="141"/>
                      <a:pt x="74" y="141"/>
                    </a:cubicBezTo>
                    <a:cubicBezTo>
                      <a:pt x="96" y="141"/>
                      <a:pt x="115" y="153"/>
                      <a:pt x="124" y="171"/>
                    </a:cubicBezTo>
                    <a:moveTo>
                      <a:pt x="74" y="40"/>
                    </a:moveTo>
                    <a:cubicBezTo>
                      <a:pt x="91" y="40"/>
                      <a:pt x="107" y="48"/>
                      <a:pt x="116" y="61"/>
                    </a:cubicBezTo>
                    <a:cubicBezTo>
                      <a:pt x="103" y="55"/>
                      <a:pt x="89" y="52"/>
                      <a:pt x="74" y="52"/>
                    </a:cubicBezTo>
                    <a:cubicBezTo>
                      <a:pt x="59" y="52"/>
                      <a:pt x="45" y="55"/>
                      <a:pt x="32" y="61"/>
                    </a:cubicBezTo>
                    <a:cubicBezTo>
                      <a:pt x="41" y="48"/>
                      <a:pt x="57" y="40"/>
                      <a:pt x="74" y="4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6" name="Freeform 40">
                <a:extLst>
                  <a:ext uri="{FF2B5EF4-FFF2-40B4-BE49-F238E27FC236}">
                    <a16:creationId xmlns:a16="http://schemas.microsoft.com/office/drawing/2014/main" id="{2B28BC29-06C6-4545-AE47-15B3F27B5446}"/>
                  </a:ext>
                </a:extLst>
              </p:cNvPr>
              <p:cNvSpPr>
                <a:spLocks noEditPoints="1"/>
              </p:cNvSpPr>
              <p:nvPr/>
            </p:nvSpPr>
            <p:spPr bwMode="auto">
              <a:xfrm>
                <a:off x="8297863" y="8782051"/>
                <a:ext cx="522288" cy="785813"/>
              </a:xfrm>
              <a:custGeom>
                <a:avLst/>
                <a:gdLst>
                  <a:gd name="T0" fmla="*/ 114 w 163"/>
                  <a:gd name="T1" fmla="*/ 218 h 241"/>
                  <a:gd name="T2" fmla="*/ 113 w 163"/>
                  <a:gd name="T3" fmla="*/ 239 h 241"/>
                  <a:gd name="T4" fmla="*/ 130 w 163"/>
                  <a:gd name="T5" fmla="*/ 233 h 241"/>
                  <a:gd name="T6" fmla="*/ 150 w 163"/>
                  <a:gd name="T7" fmla="*/ 241 h 241"/>
                  <a:gd name="T8" fmla="*/ 155 w 163"/>
                  <a:gd name="T9" fmla="*/ 226 h 241"/>
                  <a:gd name="T10" fmla="*/ 136 w 163"/>
                  <a:gd name="T11" fmla="*/ 188 h 241"/>
                  <a:gd name="T12" fmla="*/ 124 w 163"/>
                  <a:gd name="T13" fmla="*/ 200 h 241"/>
                  <a:gd name="T14" fmla="*/ 110 w 163"/>
                  <a:gd name="T15" fmla="*/ 176 h 241"/>
                  <a:gd name="T16" fmla="*/ 129 w 163"/>
                  <a:gd name="T17" fmla="*/ 137 h 241"/>
                  <a:gd name="T18" fmla="*/ 110 w 163"/>
                  <a:gd name="T19" fmla="*/ 90 h 241"/>
                  <a:gd name="T20" fmla="*/ 141 w 163"/>
                  <a:gd name="T21" fmla="*/ 60 h 241"/>
                  <a:gd name="T22" fmla="*/ 163 w 163"/>
                  <a:gd name="T23" fmla="*/ 0 h 241"/>
                  <a:gd name="T24" fmla="*/ 135 w 163"/>
                  <a:gd name="T25" fmla="*/ 27 h 241"/>
                  <a:gd name="T26" fmla="*/ 92 w 163"/>
                  <a:gd name="T27" fmla="*/ 27 h 241"/>
                  <a:gd name="T28" fmla="*/ 0 w 163"/>
                  <a:gd name="T29" fmla="*/ 76 h 241"/>
                  <a:gd name="T30" fmla="*/ 0 w 163"/>
                  <a:gd name="T31" fmla="*/ 171 h 241"/>
                  <a:gd name="T32" fmla="*/ 93 w 163"/>
                  <a:gd name="T33" fmla="*/ 218 h 241"/>
                  <a:gd name="T34" fmla="*/ 114 w 163"/>
                  <a:gd name="T35" fmla="*/ 218 h 241"/>
                  <a:gd name="T36" fmla="*/ 24 w 163"/>
                  <a:gd name="T37" fmla="*/ 153 h 241"/>
                  <a:gd name="T38" fmla="*/ 63 w 163"/>
                  <a:gd name="T39" fmla="*/ 95 h 241"/>
                  <a:gd name="T40" fmla="*/ 38 w 163"/>
                  <a:gd name="T41" fmla="*/ 160 h 241"/>
                  <a:gd name="T42" fmla="*/ 24 w 163"/>
                  <a:gd name="T43" fmla="*/ 153 h 241"/>
                  <a:gd name="T44" fmla="*/ 39 w 163"/>
                  <a:gd name="T45" fmla="*/ 161 h 241"/>
                  <a:gd name="T46" fmla="*/ 78 w 163"/>
                  <a:gd name="T47" fmla="*/ 102 h 241"/>
                  <a:gd name="T48" fmla="*/ 53 w 163"/>
                  <a:gd name="T49" fmla="*/ 167 h 241"/>
                  <a:gd name="T50" fmla="*/ 39 w 163"/>
                  <a:gd name="T51" fmla="*/ 161 h 241"/>
                  <a:gd name="T52" fmla="*/ 54 w 163"/>
                  <a:gd name="T53" fmla="*/ 168 h 241"/>
                  <a:gd name="T54" fmla="*/ 95 w 163"/>
                  <a:gd name="T55" fmla="*/ 110 h 241"/>
                  <a:gd name="T56" fmla="*/ 69 w 163"/>
                  <a:gd name="T57" fmla="*/ 175 h 241"/>
                  <a:gd name="T58" fmla="*/ 54 w 163"/>
                  <a:gd name="T59" fmla="*/ 168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3" h="241">
                    <a:moveTo>
                      <a:pt x="114" y="218"/>
                    </a:moveTo>
                    <a:cubicBezTo>
                      <a:pt x="113" y="225"/>
                      <a:pt x="113" y="233"/>
                      <a:pt x="113" y="239"/>
                    </a:cubicBezTo>
                    <a:cubicBezTo>
                      <a:pt x="117" y="235"/>
                      <a:pt x="124" y="233"/>
                      <a:pt x="130" y="233"/>
                    </a:cubicBezTo>
                    <a:cubicBezTo>
                      <a:pt x="138" y="233"/>
                      <a:pt x="145" y="236"/>
                      <a:pt x="150" y="241"/>
                    </a:cubicBezTo>
                    <a:cubicBezTo>
                      <a:pt x="152" y="236"/>
                      <a:pt x="153" y="230"/>
                      <a:pt x="155" y="226"/>
                    </a:cubicBezTo>
                    <a:cubicBezTo>
                      <a:pt x="136" y="188"/>
                      <a:pt x="136" y="188"/>
                      <a:pt x="136" y="188"/>
                    </a:cubicBezTo>
                    <a:cubicBezTo>
                      <a:pt x="124" y="200"/>
                      <a:pt x="124" y="200"/>
                      <a:pt x="124" y="200"/>
                    </a:cubicBezTo>
                    <a:cubicBezTo>
                      <a:pt x="110" y="176"/>
                      <a:pt x="110" y="176"/>
                      <a:pt x="110" y="176"/>
                    </a:cubicBezTo>
                    <a:cubicBezTo>
                      <a:pt x="129" y="137"/>
                      <a:pt x="129" y="137"/>
                      <a:pt x="129" y="137"/>
                    </a:cubicBezTo>
                    <a:cubicBezTo>
                      <a:pt x="110" y="90"/>
                      <a:pt x="110" y="90"/>
                      <a:pt x="110" y="90"/>
                    </a:cubicBezTo>
                    <a:cubicBezTo>
                      <a:pt x="141" y="60"/>
                      <a:pt x="141" y="60"/>
                      <a:pt x="141" y="60"/>
                    </a:cubicBezTo>
                    <a:cubicBezTo>
                      <a:pt x="163" y="0"/>
                      <a:pt x="163" y="0"/>
                      <a:pt x="163" y="0"/>
                    </a:cubicBezTo>
                    <a:cubicBezTo>
                      <a:pt x="135" y="27"/>
                      <a:pt x="135" y="27"/>
                      <a:pt x="135" y="27"/>
                    </a:cubicBezTo>
                    <a:cubicBezTo>
                      <a:pt x="92" y="27"/>
                      <a:pt x="92" y="27"/>
                      <a:pt x="92" y="27"/>
                    </a:cubicBezTo>
                    <a:cubicBezTo>
                      <a:pt x="0" y="76"/>
                      <a:pt x="0" y="76"/>
                      <a:pt x="0" y="76"/>
                    </a:cubicBezTo>
                    <a:cubicBezTo>
                      <a:pt x="0" y="171"/>
                      <a:pt x="0" y="171"/>
                      <a:pt x="0" y="171"/>
                    </a:cubicBezTo>
                    <a:cubicBezTo>
                      <a:pt x="93" y="218"/>
                      <a:pt x="93" y="218"/>
                      <a:pt x="93" y="218"/>
                    </a:cubicBezTo>
                    <a:lnTo>
                      <a:pt x="114" y="218"/>
                    </a:lnTo>
                    <a:close/>
                    <a:moveTo>
                      <a:pt x="24" y="153"/>
                    </a:moveTo>
                    <a:cubicBezTo>
                      <a:pt x="63" y="95"/>
                      <a:pt x="63" y="95"/>
                      <a:pt x="63" y="95"/>
                    </a:cubicBezTo>
                    <a:cubicBezTo>
                      <a:pt x="38" y="160"/>
                      <a:pt x="38" y="160"/>
                      <a:pt x="38" y="160"/>
                    </a:cubicBezTo>
                    <a:lnTo>
                      <a:pt x="24" y="153"/>
                    </a:lnTo>
                    <a:close/>
                    <a:moveTo>
                      <a:pt x="39" y="161"/>
                    </a:moveTo>
                    <a:cubicBezTo>
                      <a:pt x="78" y="102"/>
                      <a:pt x="78" y="102"/>
                      <a:pt x="78" y="102"/>
                    </a:cubicBezTo>
                    <a:cubicBezTo>
                      <a:pt x="53" y="167"/>
                      <a:pt x="53" y="167"/>
                      <a:pt x="53" y="167"/>
                    </a:cubicBezTo>
                    <a:lnTo>
                      <a:pt x="39" y="161"/>
                    </a:lnTo>
                    <a:close/>
                    <a:moveTo>
                      <a:pt x="54" y="168"/>
                    </a:moveTo>
                    <a:cubicBezTo>
                      <a:pt x="95" y="110"/>
                      <a:pt x="95" y="110"/>
                      <a:pt x="95" y="110"/>
                    </a:cubicBezTo>
                    <a:cubicBezTo>
                      <a:pt x="69" y="175"/>
                      <a:pt x="69" y="175"/>
                      <a:pt x="69" y="175"/>
                    </a:cubicBezTo>
                    <a:lnTo>
                      <a:pt x="54" y="16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7" name="Freeform 41">
                <a:extLst>
                  <a:ext uri="{FF2B5EF4-FFF2-40B4-BE49-F238E27FC236}">
                    <a16:creationId xmlns:a16="http://schemas.microsoft.com/office/drawing/2014/main" id="{C8F2B781-5607-4874-BE1F-BF31EE46AE14}"/>
                  </a:ext>
                </a:extLst>
              </p:cNvPr>
              <p:cNvSpPr>
                <a:spLocks/>
              </p:cNvSpPr>
              <p:nvPr/>
            </p:nvSpPr>
            <p:spPr bwMode="auto">
              <a:xfrm>
                <a:off x="9169400" y="9053513"/>
                <a:ext cx="96838" cy="142875"/>
              </a:xfrm>
              <a:custGeom>
                <a:avLst/>
                <a:gdLst>
                  <a:gd name="T0" fmla="*/ 2 w 30"/>
                  <a:gd name="T1" fmla="*/ 38 h 44"/>
                  <a:gd name="T2" fmla="*/ 3 w 30"/>
                  <a:gd name="T3" fmla="*/ 44 h 44"/>
                  <a:gd name="T4" fmla="*/ 28 w 30"/>
                  <a:gd name="T5" fmla="*/ 6 h 44"/>
                  <a:gd name="T6" fmla="*/ 28 w 30"/>
                  <a:gd name="T7" fmla="*/ 0 h 44"/>
                  <a:gd name="T8" fmla="*/ 2 w 30"/>
                  <a:gd name="T9" fmla="*/ 38 h 44"/>
                </a:gdLst>
                <a:ahLst/>
                <a:cxnLst>
                  <a:cxn ang="0">
                    <a:pos x="T0" y="T1"/>
                  </a:cxn>
                  <a:cxn ang="0">
                    <a:pos x="T2" y="T3"/>
                  </a:cxn>
                  <a:cxn ang="0">
                    <a:pos x="T4" y="T5"/>
                  </a:cxn>
                  <a:cxn ang="0">
                    <a:pos x="T6" y="T7"/>
                  </a:cxn>
                  <a:cxn ang="0">
                    <a:pos x="T8" y="T9"/>
                  </a:cxn>
                </a:cxnLst>
                <a:rect l="0" t="0" r="r" b="b"/>
                <a:pathLst>
                  <a:path w="30" h="44">
                    <a:moveTo>
                      <a:pt x="2" y="38"/>
                    </a:moveTo>
                    <a:cubicBezTo>
                      <a:pt x="2" y="40"/>
                      <a:pt x="2" y="42"/>
                      <a:pt x="3" y="44"/>
                    </a:cubicBezTo>
                    <a:cubicBezTo>
                      <a:pt x="19" y="38"/>
                      <a:pt x="30" y="22"/>
                      <a:pt x="28" y="6"/>
                    </a:cubicBezTo>
                    <a:cubicBezTo>
                      <a:pt x="28" y="0"/>
                      <a:pt x="28" y="0"/>
                      <a:pt x="28" y="0"/>
                    </a:cubicBezTo>
                    <a:cubicBezTo>
                      <a:pt x="12" y="6"/>
                      <a:pt x="0" y="20"/>
                      <a:pt x="2" y="3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8" name="Freeform 42">
                <a:extLst>
                  <a:ext uri="{FF2B5EF4-FFF2-40B4-BE49-F238E27FC236}">
                    <a16:creationId xmlns:a16="http://schemas.microsoft.com/office/drawing/2014/main" id="{82A178BE-C5E3-4F2D-B5FA-6092AB61FA99}"/>
                  </a:ext>
                </a:extLst>
              </p:cNvPr>
              <p:cNvSpPr>
                <a:spLocks/>
              </p:cNvSpPr>
              <p:nvPr/>
            </p:nvSpPr>
            <p:spPr bwMode="auto">
              <a:xfrm>
                <a:off x="8702675" y="9053513"/>
                <a:ext cx="92075" cy="142875"/>
              </a:xfrm>
              <a:custGeom>
                <a:avLst/>
                <a:gdLst>
                  <a:gd name="T0" fmla="*/ 28 w 29"/>
                  <a:gd name="T1" fmla="*/ 38 h 44"/>
                  <a:gd name="T2" fmla="*/ 2 w 29"/>
                  <a:gd name="T3" fmla="*/ 0 h 44"/>
                  <a:gd name="T4" fmla="*/ 1 w 29"/>
                  <a:gd name="T5" fmla="*/ 6 h 44"/>
                  <a:gd name="T6" fmla="*/ 27 w 29"/>
                  <a:gd name="T7" fmla="*/ 44 h 44"/>
                  <a:gd name="T8" fmla="*/ 27 w 29"/>
                  <a:gd name="T9" fmla="*/ 43 h 44"/>
                  <a:gd name="T10" fmla="*/ 28 w 29"/>
                  <a:gd name="T11" fmla="*/ 38 h 44"/>
                </a:gdLst>
                <a:ahLst/>
                <a:cxnLst>
                  <a:cxn ang="0">
                    <a:pos x="T0" y="T1"/>
                  </a:cxn>
                  <a:cxn ang="0">
                    <a:pos x="T2" y="T3"/>
                  </a:cxn>
                  <a:cxn ang="0">
                    <a:pos x="T4" y="T5"/>
                  </a:cxn>
                  <a:cxn ang="0">
                    <a:pos x="T6" y="T7"/>
                  </a:cxn>
                  <a:cxn ang="0">
                    <a:pos x="T8" y="T9"/>
                  </a:cxn>
                  <a:cxn ang="0">
                    <a:pos x="T10" y="T11"/>
                  </a:cxn>
                </a:cxnLst>
                <a:rect l="0" t="0" r="r" b="b"/>
                <a:pathLst>
                  <a:path w="29" h="44">
                    <a:moveTo>
                      <a:pt x="28" y="38"/>
                    </a:moveTo>
                    <a:cubicBezTo>
                      <a:pt x="29" y="20"/>
                      <a:pt x="19" y="6"/>
                      <a:pt x="2" y="0"/>
                    </a:cubicBezTo>
                    <a:cubicBezTo>
                      <a:pt x="2" y="2"/>
                      <a:pt x="1" y="4"/>
                      <a:pt x="1" y="6"/>
                    </a:cubicBezTo>
                    <a:cubicBezTo>
                      <a:pt x="0" y="22"/>
                      <a:pt x="11" y="38"/>
                      <a:pt x="27" y="44"/>
                    </a:cubicBezTo>
                    <a:cubicBezTo>
                      <a:pt x="27" y="43"/>
                      <a:pt x="27" y="43"/>
                      <a:pt x="27" y="43"/>
                    </a:cubicBezTo>
                    <a:cubicBezTo>
                      <a:pt x="28" y="42"/>
                      <a:pt x="28" y="40"/>
                      <a:pt x="28" y="3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89" name="Freeform 43">
                <a:extLst>
                  <a:ext uri="{FF2B5EF4-FFF2-40B4-BE49-F238E27FC236}">
                    <a16:creationId xmlns:a16="http://schemas.microsoft.com/office/drawing/2014/main" id="{274329E3-AFC0-47BE-95B5-F6B537B373F9}"/>
                  </a:ext>
                </a:extLst>
              </p:cNvPr>
              <p:cNvSpPr>
                <a:spLocks/>
              </p:cNvSpPr>
              <p:nvPr/>
            </p:nvSpPr>
            <p:spPr bwMode="auto">
              <a:xfrm>
                <a:off x="7935913" y="8613776"/>
                <a:ext cx="122238" cy="112713"/>
              </a:xfrm>
              <a:custGeom>
                <a:avLst/>
                <a:gdLst>
                  <a:gd name="T0" fmla="*/ 27 w 38"/>
                  <a:gd name="T1" fmla="*/ 19 h 35"/>
                  <a:gd name="T2" fmla="*/ 38 w 38"/>
                  <a:gd name="T3" fmla="*/ 5 h 35"/>
                  <a:gd name="T4" fmla="*/ 0 w 38"/>
                  <a:gd name="T5" fmla="*/ 0 h 35"/>
                  <a:gd name="T6" fmla="*/ 16 w 38"/>
                  <a:gd name="T7" fmla="*/ 35 h 35"/>
                  <a:gd name="T8" fmla="*/ 27 w 38"/>
                  <a:gd name="T9" fmla="*/ 19 h 35"/>
                </a:gdLst>
                <a:ahLst/>
                <a:cxnLst>
                  <a:cxn ang="0">
                    <a:pos x="T0" y="T1"/>
                  </a:cxn>
                  <a:cxn ang="0">
                    <a:pos x="T2" y="T3"/>
                  </a:cxn>
                  <a:cxn ang="0">
                    <a:pos x="T4" y="T5"/>
                  </a:cxn>
                  <a:cxn ang="0">
                    <a:pos x="T6" y="T7"/>
                  </a:cxn>
                  <a:cxn ang="0">
                    <a:pos x="T8" y="T9"/>
                  </a:cxn>
                </a:cxnLst>
                <a:rect l="0" t="0" r="r" b="b"/>
                <a:pathLst>
                  <a:path w="38" h="35">
                    <a:moveTo>
                      <a:pt x="27" y="19"/>
                    </a:moveTo>
                    <a:cubicBezTo>
                      <a:pt x="31" y="15"/>
                      <a:pt x="35" y="10"/>
                      <a:pt x="38" y="5"/>
                    </a:cubicBezTo>
                    <a:cubicBezTo>
                      <a:pt x="0" y="0"/>
                      <a:pt x="0" y="0"/>
                      <a:pt x="0" y="0"/>
                    </a:cubicBezTo>
                    <a:cubicBezTo>
                      <a:pt x="16" y="35"/>
                      <a:pt x="16" y="35"/>
                      <a:pt x="16" y="35"/>
                    </a:cubicBezTo>
                    <a:cubicBezTo>
                      <a:pt x="21" y="30"/>
                      <a:pt x="24" y="25"/>
                      <a:pt x="27" y="1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0" name="Freeform 44">
                <a:extLst>
                  <a:ext uri="{FF2B5EF4-FFF2-40B4-BE49-F238E27FC236}">
                    <a16:creationId xmlns:a16="http://schemas.microsoft.com/office/drawing/2014/main" id="{903B5CFB-B9BC-4D97-A53E-FF71A7E83162}"/>
                  </a:ext>
                </a:extLst>
              </p:cNvPr>
              <p:cNvSpPr>
                <a:spLocks/>
              </p:cNvSpPr>
              <p:nvPr/>
            </p:nvSpPr>
            <p:spPr bwMode="auto">
              <a:xfrm>
                <a:off x="9045575" y="10545763"/>
                <a:ext cx="117475" cy="117475"/>
              </a:xfrm>
              <a:custGeom>
                <a:avLst/>
                <a:gdLst>
                  <a:gd name="T0" fmla="*/ 0 w 37"/>
                  <a:gd name="T1" fmla="*/ 4 h 36"/>
                  <a:gd name="T2" fmla="*/ 21 w 37"/>
                  <a:gd name="T3" fmla="*/ 36 h 36"/>
                  <a:gd name="T4" fmla="*/ 37 w 37"/>
                  <a:gd name="T5" fmla="*/ 0 h 36"/>
                  <a:gd name="T6" fmla="*/ 17 w 37"/>
                  <a:gd name="T7" fmla="*/ 3 h 36"/>
                  <a:gd name="T8" fmla="*/ 0 w 37"/>
                  <a:gd name="T9" fmla="*/ 4 h 36"/>
                </a:gdLst>
                <a:ahLst/>
                <a:cxnLst>
                  <a:cxn ang="0">
                    <a:pos x="T0" y="T1"/>
                  </a:cxn>
                  <a:cxn ang="0">
                    <a:pos x="T2" y="T3"/>
                  </a:cxn>
                  <a:cxn ang="0">
                    <a:pos x="T4" y="T5"/>
                  </a:cxn>
                  <a:cxn ang="0">
                    <a:pos x="T6" y="T7"/>
                  </a:cxn>
                  <a:cxn ang="0">
                    <a:pos x="T8" y="T9"/>
                  </a:cxn>
                </a:cxnLst>
                <a:rect l="0" t="0" r="r" b="b"/>
                <a:pathLst>
                  <a:path w="37" h="36">
                    <a:moveTo>
                      <a:pt x="0" y="4"/>
                    </a:moveTo>
                    <a:cubicBezTo>
                      <a:pt x="21" y="36"/>
                      <a:pt x="21" y="36"/>
                      <a:pt x="21" y="36"/>
                    </a:cubicBezTo>
                    <a:cubicBezTo>
                      <a:pt x="37" y="0"/>
                      <a:pt x="37" y="0"/>
                      <a:pt x="37" y="0"/>
                    </a:cubicBezTo>
                    <a:cubicBezTo>
                      <a:pt x="30" y="1"/>
                      <a:pt x="23" y="1"/>
                      <a:pt x="17" y="3"/>
                    </a:cubicBezTo>
                    <a:cubicBezTo>
                      <a:pt x="12" y="4"/>
                      <a:pt x="6" y="4"/>
                      <a:pt x="0" y="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1" name="Freeform 45">
                <a:extLst>
                  <a:ext uri="{FF2B5EF4-FFF2-40B4-BE49-F238E27FC236}">
                    <a16:creationId xmlns:a16="http://schemas.microsoft.com/office/drawing/2014/main" id="{7D7152A0-398A-41BA-ACC8-E3284BFC908D}"/>
                  </a:ext>
                </a:extLst>
              </p:cNvPr>
              <p:cNvSpPr>
                <a:spLocks/>
              </p:cNvSpPr>
              <p:nvPr/>
            </p:nvSpPr>
            <p:spPr bwMode="auto">
              <a:xfrm>
                <a:off x="8923338" y="10558463"/>
                <a:ext cx="115888" cy="111125"/>
              </a:xfrm>
              <a:custGeom>
                <a:avLst/>
                <a:gdLst>
                  <a:gd name="T0" fmla="*/ 0 w 36"/>
                  <a:gd name="T1" fmla="*/ 0 h 34"/>
                  <a:gd name="T2" fmla="*/ 17 w 36"/>
                  <a:gd name="T3" fmla="*/ 34 h 34"/>
                  <a:gd name="T4" fmla="*/ 36 w 36"/>
                  <a:gd name="T5" fmla="*/ 0 h 34"/>
                  <a:gd name="T6" fmla="*/ 17 w 36"/>
                  <a:gd name="T7" fmla="*/ 1 h 34"/>
                  <a:gd name="T8" fmla="*/ 0 w 36"/>
                  <a:gd name="T9" fmla="*/ 0 h 34"/>
                </a:gdLst>
                <a:ahLst/>
                <a:cxnLst>
                  <a:cxn ang="0">
                    <a:pos x="T0" y="T1"/>
                  </a:cxn>
                  <a:cxn ang="0">
                    <a:pos x="T2" y="T3"/>
                  </a:cxn>
                  <a:cxn ang="0">
                    <a:pos x="T4" y="T5"/>
                  </a:cxn>
                  <a:cxn ang="0">
                    <a:pos x="T6" y="T7"/>
                  </a:cxn>
                  <a:cxn ang="0">
                    <a:pos x="T8" y="T9"/>
                  </a:cxn>
                </a:cxnLst>
                <a:rect l="0" t="0" r="r" b="b"/>
                <a:pathLst>
                  <a:path w="36" h="34">
                    <a:moveTo>
                      <a:pt x="0" y="0"/>
                    </a:moveTo>
                    <a:cubicBezTo>
                      <a:pt x="17" y="34"/>
                      <a:pt x="17" y="34"/>
                      <a:pt x="17" y="34"/>
                    </a:cubicBezTo>
                    <a:cubicBezTo>
                      <a:pt x="36" y="0"/>
                      <a:pt x="36" y="0"/>
                      <a:pt x="36" y="0"/>
                    </a:cubicBezTo>
                    <a:cubicBezTo>
                      <a:pt x="30" y="1"/>
                      <a:pt x="23" y="1"/>
                      <a:pt x="17" y="1"/>
                    </a:cubicBezTo>
                    <a:cubicBezTo>
                      <a:pt x="11" y="1"/>
                      <a:pt x="5" y="1"/>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2" name="Freeform 46">
                <a:extLst>
                  <a:ext uri="{FF2B5EF4-FFF2-40B4-BE49-F238E27FC236}">
                    <a16:creationId xmlns:a16="http://schemas.microsoft.com/office/drawing/2014/main" id="{BA2CA461-BA2F-4FB9-A54B-504C7F5656A6}"/>
                  </a:ext>
                </a:extLst>
              </p:cNvPr>
              <p:cNvSpPr>
                <a:spLocks/>
              </p:cNvSpPr>
              <p:nvPr/>
            </p:nvSpPr>
            <p:spPr bwMode="auto">
              <a:xfrm>
                <a:off x="9169400" y="10520363"/>
                <a:ext cx="115888" cy="123825"/>
              </a:xfrm>
              <a:custGeom>
                <a:avLst/>
                <a:gdLst>
                  <a:gd name="T0" fmla="*/ 0 w 36"/>
                  <a:gd name="T1" fmla="*/ 7 h 38"/>
                  <a:gd name="T2" fmla="*/ 24 w 36"/>
                  <a:gd name="T3" fmla="*/ 38 h 38"/>
                  <a:gd name="T4" fmla="*/ 36 w 36"/>
                  <a:gd name="T5" fmla="*/ 0 h 38"/>
                  <a:gd name="T6" fmla="*/ 16 w 36"/>
                  <a:gd name="T7" fmla="*/ 5 h 38"/>
                  <a:gd name="T8" fmla="*/ 0 w 36"/>
                  <a:gd name="T9" fmla="*/ 7 h 38"/>
                </a:gdLst>
                <a:ahLst/>
                <a:cxnLst>
                  <a:cxn ang="0">
                    <a:pos x="T0" y="T1"/>
                  </a:cxn>
                  <a:cxn ang="0">
                    <a:pos x="T2" y="T3"/>
                  </a:cxn>
                  <a:cxn ang="0">
                    <a:pos x="T4" y="T5"/>
                  </a:cxn>
                  <a:cxn ang="0">
                    <a:pos x="T6" y="T7"/>
                  </a:cxn>
                  <a:cxn ang="0">
                    <a:pos x="T8" y="T9"/>
                  </a:cxn>
                </a:cxnLst>
                <a:rect l="0" t="0" r="r" b="b"/>
                <a:pathLst>
                  <a:path w="36" h="38">
                    <a:moveTo>
                      <a:pt x="0" y="7"/>
                    </a:moveTo>
                    <a:cubicBezTo>
                      <a:pt x="24" y="38"/>
                      <a:pt x="24" y="38"/>
                      <a:pt x="24" y="38"/>
                    </a:cubicBezTo>
                    <a:cubicBezTo>
                      <a:pt x="36" y="0"/>
                      <a:pt x="36" y="0"/>
                      <a:pt x="36" y="0"/>
                    </a:cubicBezTo>
                    <a:cubicBezTo>
                      <a:pt x="29" y="2"/>
                      <a:pt x="23" y="3"/>
                      <a:pt x="16" y="5"/>
                    </a:cubicBezTo>
                    <a:cubicBezTo>
                      <a:pt x="11" y="6"/>
                      <a:pt x="5" y="7"/>
                      <a:pt x="0" y="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3" name="Freeform 47">
                <a:extLst>
                  <a:ext uri="{FF2B5EF4-FFF2-40B4-BE49-F238E27FC236}">
                    <a16:creationId xmlns:a16="http://schemas.microsoft.com/office/drawing/2014/main" id="{E2899E6E-9F25-4B40-B497-AA5EAD0D16A9}"/>
                  </a:ext>
                </a:extLst>
              </p:cNvPr>
              <p:cNvSpPr>
                <a:spLocks/>
              </p:cNvSpPr>
              <p:nvPr/>
            </p:nvSpPr>
            <p:spPr bwMode="auto">
              <a:xfrm>
                <a:off x="9288463" y="10483851"/>
                <a:ext cx="109538" cy="123825"/>
              </a:xfrm>
              <a:custGeom>
                <a:avLst/>
                <a:gdLst>
                  <a:gd name="T0" fmla="*/ 0 w 34"/>
                  <a:gd name="T1" fmla="*/ 11 h 38"/>
                  <a:gd name="T2" fmla="*/ 27 w 34"/>
                  <a:gd name="T3" fmla="*/ 38 h 38"/>
                  <a:gd name="T4" fmla="*/ 34 w 34"/>
                  <a:gd name="T5" fmla="*/ 0 h 38"/>
                  <a:gd name="T6" fmla="*/ 17 w 34"/>
                  <a:gd name="T7" fmla="*/ 5 h 38"/>
                  <a:gd name="T8" fmla="*/ 0 w 34"/>
                  <a:gd name="T9" fmla="*/ 11 h 38"/>
                </a:gdLst>
                <a:ahLst/>
                <a:cxnLst>
                  <a:cxn ang="0">
                    <a:pos x="T0" y="T1"/>
                  </a:cxn>
                  <a:cxn ang="0">
                    <a:pos x="T2" y="T3"/>
                  </a:cxn>
                  <a:cxn ang="0">
                    <a:pos x="T4" y="T5"/>
                  </a:cxn>
                  <a:cxn ang="0">
                    <a:pos x="T6" y="T7"/>
                  </a:cxn>
                  <a:cxn ang="0">
                    <a:pos x="T8" y="T9"/>
                  </a:cxn>
                </a:cxnLst>
                <a:rect l="0" t="0" r="r" b="b"/>
                <a:pathLst>
                  <a:path w="34" h="38">
                    <a:moveTo>
                      <a:pt x="0" y="11"/>
                    </a:moveTo>
                    <a:cubicBezTo>
                      <a:pt x="27" y="38"/>
                      <a:pt x="27" y="38"/>
                      <a:pt x="27" y="38"/>
                    </a:cubicBezTo>
                    <a:cubicBezTo>
                      <a:pt x="34" y="0"/>
                      <a:pt x="34" y="0"/>
                      <a:pt x="34" y="0"/>
                    </a:cubicBezTo>
                    <a:cubicBezTo>
                      <a:pt x="29" y="2"/>
                      <a:pt x="22" y="4"/>
                      <a:pt x="17" y="5"/>
                    </a:cubicBezTo>
                    <a:cubicBezTo>
                      <a:pt x="11" y="7"/>
                      <a:pt x="5" y="10"/>
                      <a:pt x="0" y="11"/>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4" name="Freeform 48">
                <a:extLst>
                  <a:ext uri="{FF2B5EF4-FFF2-40B4-BE49-F238E27FC236}">
                    <a16:creationId xmlns:a16="http://schemas.microsoft.com/office/drawing/2014/main" id="{72337B4B-ADB5-4EEE-9DE5-5C4B755201D3}"/>
                  </a:ext>
                </a:extLst>
              </p:cNvPr>
              <p:cNvSpPr>
                <a:spLocks/>
              </p:cNvSpPr>
              <p:nvPr/>
            </p:nvSpPr>
            <p:spPr bwMode="auto">
              <a:xfrm>
                <a:off x="9407525" y="10428288"/>
                <a:ext cx="104775" cy="130175"/>
              </a:xfrm>
              <a:custGeom>
                <a:avLst/>
                <a:gdLst>
                  <a:gd name="T0" fmla="*/ 0 w 33"/>
                  <a:gd name="T1" fmla="*/ 16 h 40"/>
                  <a:gd name="T2" fmla="*/ 30 w 33"/>
                  <a:gd name="T3" fmla="*/ 40 h 40"/>
                  <a:gd name="T4" fmla="*/ 33 w 33"/>
                  <a:gd name="T5" fmla="*/ 0 h 40"/>
                  <a:gd name="T6" fmla="*/ 16 w 33"/>
                  <a:gd name="T7" fmla="*/ 9 h 40"/>
                  <a:gd name="T8" fmla="*/ 0 w 33"/>
                  <a:gd name="T9" fmla="*/ 16 h 40"/>
                </a:gdLst>
                <a:ahLst/>
                <a:cxnLst>
                  <a:cxn ang="0">
                    <a:pos x="T0" y="T1"/>
                  </a:cxn>
                  <a:cxn ang="0">
                    <a:pos x="T2" y="T3"/>
                  </a:cxn>
                  <a:cxn ang="0">
                    <a:pos x="T4" y="T5"/>
                  </a:cxn>
                  <a:cxn ang="0">
                    <a:pos x="T6" y="T7"/>
                  </a:cxn>
                  <a:cxn ang="0">
                    <a:pos x="T8" y="T9"/>
                  </a:cxn>
                </a:cxnLst>
                <a:rect l="0" t="0" r="r" b="b"/>
                <a:pathLst>
                  <a:path w="33" h="40">
                    <a:moveTo>
                      <a:pt x="0" y="16"/>
                    </a:moveTo>
                    <a:cubicBezTo>
                      <a:pt x="30" y="40"/>
                      <a:pt x="30" y="40"/>
                      <a:pt x="30" y="40"/>
                    </a:cubicBezTo>
                    <a:cubicBezTo>
                      <a:pt x="33" y="0"/>
                      <a:pt x="33" y="0"/>
                      <a:pt x="33" y="0"/>
                    </a:cubicBezTo>
                    <a:cubicBezTo>
                      <a:pt x="27" y="4"/>
                      <a:pt x="21" y="6"/>
                      <a:pt x="16" y="9"/>
                    </a:cubicBezTo>
                    <a:cubicBezTo>
                      <a:pt x="10" y="11"/>
                      <a:pt x="5" y="14"/>
                      <a:pt x="0"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5" name="Freeform 49">
                <a:extLst>
                  <a:ext uri="{FF2B5EF4-FFF2-40B4-BE49-F238E27FC236}">
                    <a16:creationId xmlns:a16="http://schemas.microsoft.com/office/drawing/2014/main" id="{64AFFADE-3AAE-4437-8219-29211C90E87C}"/>
                  </a:ext>
                </a:extLst>
              </p:cNvPr>
              <p:cNvSpPr>
                <a:spLocks/>
              </p:cNvSpPr>
              <p:nvPr/>
            </p:nvSpPr>
            <p:spPr bwMode="auto">
              <a:xfrm>
                <a:off x="8448675" y="10434638"/>
                <a:ext cx="106363" cy="123825"/>
              </a:xfrm>
              <a:custGeom>
                <a:avLst/>
                <a:gdLst>
                  <a:gd name="T0" fmla="*/ 0 w 33"/>
                  <a:gd name="T1" fmla="*/ 0 h 38"/>
                  <a:gd name="T2" fmla="*/ 2 w 33"/>
                  <a:gd name="T3" fmla="*/ 38 h 38"/>
                  <a:gd name="T4" fmla="*/ 33 w 33"/>
                  <a:gd name="T5" fmla="*/ 15 h 38"/>
                  <a:gd name="T6" fmla="*/ 15 w 33"/>
                  <a:gd name="T7" fmla="*/ 7 h 38"/>
                  <a:gd name="T8" fmla="*/ 0 w 33"/>
                  <a:gd name="T9" fmla="*/ 0 h 38"/>
                </a:gdLst>
                <a:ahLst/>
                <a:cxnLst>
                  <a:cxn ang="0">
                    <a:pos x="T0" y="T1"/>
                  </a:cxn>
                  <a:cxn ang="0">
                    <a:pos x="T2" y="T3"/>
                  </a:cxn>
                  <a:cxn ang="0">
                    <a:pos x="T4" y="T5"/>
                  </a:cxn>
                  <a:cxn ang="0">
                    <a:pos x="T6" y="T7"/>
                  </a:cxn>
                  <a:cxn ang="0">
                    <a:pos x="T8" y="T9"/>
                  </a:cxn>
                </a:cxnLst>
                <a:rect l="0" t="0" r="r" b="b"/>
                <a:pathLst>
                  <a:path w="33" h="38">
                    <a:moveTo>
                      <a:pt x="0" y="0"/>
                    </a:moveTo>
                    <a:cubicBezTo>
                      <a:pt x="2" y="38"/>
                      <a:pt x="2" y="38"/>
                      <a:pt x="2" y="38"/>
                    </a:cubicBezTo>
                    <a:cubicBezTo>
                      <a:pt x="33" y="15"/>
                      <a:pt x="33" y="15"/>
                      <a:pt x="33" y="15"/>
                    </a:cubicBezTo>
                    <a:cubicBezTo>
                      <a:pt x="27" y="12"/>
                      <a:pt x="21" y="9"/>
                      <a:pt x="15" y="7"/>
                    </a:cubicBezTo>
                    <a:cubicBezTo>
                      <a:pt x="11" y="5"/>
                      <a:pt x="5" y="2"/>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6" name="Freeform 50">
                <a:extLst>
                  <a:ext uri="{FF2B5EF4-FFF2-40B4-BE49-F238E27FC236}">
                    <a16:creationId xmlns:a16="http://schemas.microsoft.com/office/drawing/2014/main" id="{7982BF6F-CAFA-4A26-B3CC-938DBAA4429A}"/>
                  </a:ext>
                </a:extLst>
              </p:cNvPr>
              <p:cNvSpPr>
                <a:spLocks/>
              </p:cNvSpPr>
              <p:nvPr/>
            </p:nvSpPr>
            <p:spPr bwMode="auto">
              <a:xfrm>
                <a:off x="9515475" y="10369551"/>
                <a:ext cx="106363" cy="127000"/>
              </a:xfrm>
              <a:custGeom>
                <a:avLst/>
                <a:gdLst>
                  <a:gd name="T0" fmla="*/ 16 w 33"/>
                  <a:gd name="T1" fmla="*/ 10 h 39"/>
                  <a:gd name="T2" fmla="*/ 0 w 33"/>
                  <a:gd name="T3" fmla="*/ 18 h 39"/>
                  <a:gd name="T4" fmla="*/ 33 w 33"/>
                  <a:gd name="T5" fmla="*/ 39 h 39"/>
                  <a:gd name="T6" fmla="*/ 32 w 33"/>
                  <a:gd name="T7" fmla="*/ 0 h 39"/>
                  <a:gd name="T8" fmla="*/ 16 w 33"/>
                  <a:gd name="T9" fmla="*/ 10 h 39"/>
                </a:gdLst>
                <a:ahLst/>
                <a:cxnLst>
                  <a:cxn ang="0">
                    <a:pos x="T0" y="T1"/>
                  </a:cxn>
                  <a:cxn ang="0">
                    <a:pos x="T2" y="T3"/>
                  </a:cxn>
                  <a:cxn ang="0">
                    <a:pos x="T4" y="T5"/>
                  </a:cxn>
                  <a:cxn ang="0">
                    <a:pos x="T6" y="T7"/>
                  </a:cxn>
                  <a:cxn ang="0">
                    <a:pos x="T8" y="T9"/>
                  </a:cxn>
                </a:cxnLst>
                <a:rect l="0" t="0" r="r" b="b"/>
                <a:pathLst>
                  <a:path w="33" h="39">
                    <a:moveTo>
                      <a:pt x="16" y="10"/>
                    </a:moveTo>
                    <a:cubicBezTo>
                      <a:pt x="10" y="13"/>
                      <a:pt x="6" y="15"/>
                      <a:pt x="0" y="18"/>
                    </a:cubicBezTo>
                    <a:cubicBezTo>
                      <a:pt x="33" y="39"/>
                      <a:pt x="33" y="39"/>
                      <a:pt x="33" y="39"/>
                    </a:cubicBezTo>
                    <a:cubicBezTo>
                      <a:pt x="32" y="0"/>
                      <a:pt x="32" y="0"/>
                      <a:pt x="32" y="0"/>
                    </a:cubicBezTo>
                    <a:cubicBezTo>
                      <a:pt x="27" y="3"/>
                      <a:pt x="21" y="6"/>
                      <a:pt x="16" y="1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7" name="Freeform 51">
                <a:extLst>
                  <a:ext uri="{FF2B5EF4-FFF2-40B4-BE49-F238E27FC236}">
                    <a16:creationId xmlns:a16="http://schemas.microsoft.com/office/drawing/2014/main" id="{03C262FB-270A-4CF8-AF86-7F45BE2DE098}"/>
                  </a:ext>
                </a:extLst>
              </p:cNvPr>
              <p:cNvSpPr>
                <a:spLocks/>
              </p:cNvSpPr>
              <p:nvPr/>
            </p:nvSpPr>
            <p:spPr bwMode="auto">
              <a:xfrm>
                <a:off x="8558213" y="10483851"/>
                <a:ext cx="115888" cy="123825"/>
              </a:xfrm>
              <a:custGeom>
                <a:avLst/>
                <a:gdLst>
                  <a:gd name="T0" fmla="*/ 0 w 36"/>
                  <a:gd name="T1" fmla="*/ 0 h 38"/>
                  <a:gd name="T2" fmla="*/ 7 w 36"/>
                  <a:gd name="T3" fmla="*/ 38 h 38"/>
                  <a:gd name="T4" fmla="*/ 36 w 36"/>
                  <a:gd name="T5" fmla="*/ 11 h 38"/>
                  <a:gd name="T6" fmla="*/ 18 w 36"/>
                  <a:gd name="T7" fmla="*/ 5 h 38"/>
                  <a:gd name="T8" fmla="*/ 0 w 36"/>
                  <a:gd name="T9" fmla="*/ 0 h 38"/>
                </a:gdLst>
                <a:ahLst/>
                <a:cxnLst>
                  <a:cxn ang="0">
                    <a:pos x="T0" y="T1"/>
                  </a:cxn>
                  <a:cxn ang="0">
                    <a:pos x="T2" y="T3"/>
                  </a:cxn>
                  <a:cxn ang="0">
                    <a:pos x="T4" y="T5"/>
                  </a:cxn>
                  <a:cxn ang="0">
                    <a:pos x="T6" y="T7"/>
                  </a:cxn>
                  <a:cxn ang="0">
                    <a:pos x="T8" y="T9"/>
                  </a:cxn>
                </a:cxnLst>
                <a:rect l="0" t="0" r="r" b="b"/>
                <a:pathLst>
                  <a:path w="36" h="38">
                    <a:moveTo>
                      <a:pt x="0" y="0"/>
                    </a:moveTo>
                    <a:cubicBezTo>
                      <a:pt x="7" y="38"/>
                      <a:pt x="7" y="38"/>
                      <a:pt x="7" y="38"/>
                    </a:cubicBezTo>
                    <a:cubicBezTo>
                      <a:pt x="36" y="11"/>
                      <a:pt x="36" y="11"/>
                      <a:pt x="36" y="11"/>
                    </a:cubicBezTo>
                    <a:cubicBezTo>
                      <a:pt x="30" y="10"/>
                      <a:pt x="23" y="7"/>
                      <a:pt x="18" y="5"/>
                    </a:cubicBezTo>
                    <a:cubicBezTo>
                      <a:pt x="11" y="4"/>
                      <a:pt x="6" y="2"/>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8" name="Freeform 52">
                <a:extLst>
                  <a:ext uri="{FF2B5EF4-FFF2-40B4-BE49-F238E27FC236}">
                    <a16:creationId xmlns:a16="http://schemas.microsoft.com/office/drawing/2014/main" id="{3461170A-1204-49C4-AF1B-D9A9986D4FF3}"/>
                  </a:ext>
                </a:extLst>
              </p:cNvPr>
              <p:cNvSpPr>
                <a:spLocks/>
              </p:cNvSpPr>
              <p:nvPr/>
            </p:nvSpPr>
            <p:spPr bwMode="auto">
              <a:xfrm>
                <a:off x="8797925" y="10545763"/>
                <a:ext cx="115888" cy="117475"/>
              </a:xfrm>
              <a:custGeom>
                <a:avLst/>
                <a:gdLst>
                  <a:gd name="T0" fmla="*/ 0 w 36"/>
                  <a:gd name="T1" fmla="*/ 0 h 36"/>
                  <a:gd name="T2" fmla="*/ 15 w 36"/>
                  <a:gd name="T3" fmla="*/ 36 h 36"/>
                  <a:gd name="T4" fmla="*/ 36 w 36"/>
                  <a:gd name="T5" fmla="*/ 4 h 36"/>
                  <a:gd name="T6" fmla="*/ 18 w 36"/>
                  <a:gd name="T7" fmla="*/ 3 h 36"/>
                  <a:gd name="T8" fmla="*/ 0 w 36"/>
                  <a:gd name="T9" fmla="*/ 0 h 36"/>
                </a:gdLst>
                <a:ahLst/>
                <a:cxnLst>
                  <a:cxn ang="0">
                    <a:pos x="T0" y="T1"/>
                  </a:cxn>
                  <a:cxn ang="0">
                    <a:pos x="T2" y="T3"/>
                  </a:cxn>
                  <a:cxn ang="0">
                    <a:pos x="T4" y="T5"/>
                  </a:cxn>
                  <a:cxn ang="0">
                    <a:pos x="T6" y="T7"/>
                  </a:cxn>
                  <a:cxn ang="0">
                    <a:pos x="T8" y="T9"/>
                  </a:cxn>
                </a:cxnLst>
                <a:rect l="0" t="0" r="r" b="b"/>
                <a:pathLst>
                  <a:path w="36" h="36">
                    <a:moveTo>
                      <a:pt x="0" y="0"/>
                    </a:moveTo>
                    <a:cubicBezTo>
                      <a:pt x="15" y="36"/>
                      <a:pt x="15" y="36"/>
                      <a:pt x="15" y="36"/>
                    </a:cubicBezTo>
                    <a:cubicBezTo>
                      <a:pt x="36" y="4"/>
                      <a:pt x="36" y="4"/>
                      <a:pt x="36" y="4"/>
                    </a:cubicBezTo>
                    <a:cubicBezTo>
                      <a:pt x="31" y="4"/>
                      <a:pt x="24" y="4"/>
                      <a:pt x="18" y="3"/>
                    </a:cubicBezTo>
                    <a:cubicBezTo>
                      <a:pt x="11" y="1"/>
                      <a:pt x="6" y="1"/>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99" name="Freeform 53">
                <a:extLst>
                  <a:ext uri="{FF2B5EF4-FFF2-40B4-BE49-F238E27FC236}">
                    <a16:creationId xmlns:a16="http://schemas.microsoft.com/office/drawing/2014/main" id="{1EA7EA67-18B7-426E-A8EF-E80FEB63C24A}"/>
                  </a:ext>
                </a:extLst>
              </p:cNvPr>
              <p:cNvSpPr>
                <a:spLocks/>
              </p:cNvSpPr>
              <p:nvPr/>
            </p:nvSpPr>
            <p:spPr bwMode="auto">
              <a:xfrm>
                <a:off x="8677275" y="10523538"/>
                <a:ext cx="114300" cy="120650"/>
              </a:xfrm>
              <a:custGeom>
                <a:avLst/>
                <a:gdLst>
                  <a:gd name="T0" fmla="*/ 0 w 36"/>
                  <a:gd name="T1" fmla="*/ 0 h 37"/>
                  <a:gd name="T2" fmla="*/ 11 w 36"/>
                  <a:gd name="T3" fmla="*/ 37 h 37"/>
                  <a:gd name="T4" fmla="*/ 36 w 36"/>
                  <a:gd name="T5" fmla="*/ 7 h 37"/>
                  <a:gd name="T6" fmla="*/ 18 w 36"/>
                  <a:gd name="T7" fmla="*/ 3 h 37"/>
                  <a:gd name="T8" fmla="*/ 0 w 36"/>
                  <a:gd name="T9" fmla="*/ 0 h 37"/>
                </a:gdLst>
                <a:ahLst/>
                <a:cxnLst>
                  <a:cxn ang="0">
                    <a:pos x="T0" y="T1"/>
                  </a:cxn>
                  <a:cxn ang="0">
                    <a:pos x="T2" y="T3"/>
                  </a:cxn>
                  <a:cxn ang="0">
                    <a:pos x="T4" y="T5"/>
                  </a:cxn>
                  <a:cxn ang="0">
                    <a:pos x="T6" y="T7"/>
                  </a:cxn>
                  <a:cxn ang="0">
                    <a:pos x="T8" y="T9"/>
                  </a:cxn>
                </a:cxnLst>
                <a:rect l="0" t="0" r="r" b="b"/>
                <a:pathLst>
                  <a:path w="36" h="37">
                    <a:moveTo>
                      <a:pt x="0" y="0"/>
                    </a:moveTo>
                    <a:cubicBezTo>
                      <a:pt x="11" y="37"/>
                      <a:pt x="11" y="37"/>
                      <a:pt x="11" y="37"/>
                    </a:cubicBezTo>
                    <a:cubicBezTo>
                      <a:pt x="36" y="7"/>
                      <a:pt x="36" y="7"/>
                      <a:pt x="36" y="7"/>
                    </a:cubicBezTo>
                    <a:cubicBezTo>
                      <a:pt x="30" y="6"/>
                      <a:pt x="24" y="5"/>
                      <a:pt x="18" y="3"/>
                    </a:cubicBezTo>
                    <a:cubicBezTo>
                      <a:pt x="11" y="2"/>
                      <a:pt x="6" y="1"/>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0" name="Freeform 54">
                <a:extLst>
                  <a:ext uri="{FF2B5EF4-FFF2-40B4-BE49-F238E27FC236}">
                    <a16:creationId xmlns:a16="http://schemas.microsoft.com/office/drawing/2014/main" id="{C8F0BE6B-7551-4D76-8BBB-35243323E8E9}"/>
                  </a:ext>
                </a:extLst>
              </p:cNvPr>
              <p:cNvSpPr>
                <a:spLocks/>
              </p:cNvSpPr>
              <p:nvPr/>
            </p:nvSpPr>
            <p:spPr bwMode="auto">
              <a:xfrm>
                <a:off x="10115550" y="9558338"/>
                <a:ext cx="117475" cy="117475"/>
              </a:xfrm>
              <a:custGeom>
                <a:avLst/>
                <a:gdLst>
                  <a:gd name="T0" fmla="*/ 5 w 37"/>
                  <a:gd name="T1" fmla="*/ 20 h 36"/>
                  <a:gd name="T2" fmla="*/ 0 w 37"/>
                  <a:gd name="T3" fmla="*/ 36 h 36"/>
                  <a:gd name="T4" fmla="*/ 37 w 37"/>
                  <a:gd name="T5" fmla="*/ 26 h 36"/>
                  <a:gd name="T6" fmla="*/ 8 w 37"/>
                  <a:gd name="T7" fmla="*/ 0 h 36"/>
                  <a:gd name="T8" fmla="*/ 5 w 37"/>
                  <a:gd name="T9" fmla="*/ 20 h 36"/>
                </a:gdLst>
                <a:ahLst/>
                <a:cxnLst>
                  <a:cxn ang="0">
                    <a:pos x="T0" y="T1"/>
                  </a:cxn>
                  <a:cxn ang="0">
                    <a:pos x="T2" y="T3"/>
                  </a:cxn>
                  <a:cxn ang="0">
                    <a:pos x="T4" y="T5"/>
                  </a:cxn>
                  <a:cxn ang="0">
                    <a:pos x="T6" y="T7"/>
                  </a:cxn>
                  <a:cxn ang="0">
                    <a:pos x="T8" y="T9"/>
                  </a:cxn>
                </a:cxnLst>
                <a:rect l="0" t="0" r="r" b="b"/>
                <a:pathLst>
                  <a:path w="37" h="36">
                    <a:moveTo>
                      <a:pt x="5" y="20"/>
                    </a:moveTo>
                    <a:cubicBezTo>
                      <a:pt x="4" y="25"/>
                      <a:pt x="3" y="30"/>
                      <a:pt x="0" y="36"/>
                    </a:cubicBezTo>
                    <a:cubicBezTo>
                      <a:pt x="37" y="26"/>
                      <a:pt x="37" y="26"/>
                      <a:pt x="37" y="26"/>
                    </a:cubicBezTo>
                    <a:cubicBezTo>
                      <a:pt x="8" y="0"/>
                      <a:pt x="8" y="0"/>
                      <a:pt x="8" y="0"/>
                    </a:cubicBezTo>
                    <a:cubicBezTo>
                      <a:pt x="7" y="7"/>
                      <a:pt x="6" y="13"/>
                      <a:pt x="5" y="2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1" name="Freeform 55">
                <a:extLst>
                  <a:ext uri="{FF2B5EF4-FFF2-40B4-BE49-F238E27FC236}">
                    <a16:creationId xmlns:a16="http://schemas.microsoft.com/office/drawing/2014/main" id="{20285746-C295-4469-B4EA-14A2C0ECD1CA}"/>
                  </a:ext>
                </a:extLst>
              </p:cNvPr>
              <p:cNvSpPr>
                <a:spLocks/>
              </p:cNvSpPr>
              <p:nvPr/>
            </p:nvSpPr>
            <p:spPr bwMode="auto">
              <a:xfrm>
                <a:off x="10075863" y="9678988"/>
                <a:ext cx="125413" cy="114300"/>
              </a:xfrm>
              <a:custGeom>
                <a:avLst/>
                <a:gdLst>
                  <a:gd name="T0" fmla="*/ 7 w 39"/>
                  <a:gd name="T1" fmla="*/ 18 h 35"/>
                  <a:gd name="T2" fmla="*/ 0 w 39"/>
                  <a:gd name="T3" fmla="*/ 35 h 35"/>
                  <a:gd name="T4" fmla="*/ 39 w 39"/>
                  <a:gd name="T5" fmla="*/ 29 h 35"/>
                  <a:gd name="T6" fmla="*/ 12 w 39"/>
                  <a:gd name="T7" fmla="*/ 0 h 35"/>
                  <a:gd name="T8" fmla="*/ 7 w 39"/>
                  <a:gd name="T9" fmla="*/ 18 h 35"/>
                </a:gdLst>
                <a:ahLst/>
                <a:cxnLst>
                  <a:cxn ang="0">
                    <a:pos x="T0" y="T1"/>
                  </a:cxn>
                  <a:cxn ang="0">
                    <a:pos x="T2" y="T3"/>
                  </a:cxn>
                  <a:cxn ang="0">
                    <a:pos x="T4" y="T5"/>
                  </a:cxn>
                  <a:cxn ang="0">
                    <a:pos x="T6" y="T7"/>
                  </a:cxn>
                  <a:cxn ang="0">
                    <a:pos x="T8" y="T9"/>
                  </a:cxn>
                </a:cxnLst>
                <a:rect l="0" t="0" r="r" b="b"/>
                <a:pathLst>
                  <a:path w="39" h="35">
                    <a:moveTo>
                      <a:pt x="7" y="18"/>
                    </a:moveTo>
                    <a:cubicBezTo>
                      <a:pt x="5" y="24"/>
                      <a:pt x="3" y="29"/>
                      <a:pt x="0" y="35"/>
                    </a:cubicBezTo>
                    <a:cubicBezTo>
                      <a:pt x="39" y="29"/>
                      <a:pt x="39" y="29"/>
                      <a:pt x="39" y="29"/>
                    </a:cubicBezTo>
                    <a:cubicBezTo>
                      <a:pt x="12" y="0"/>
                      <a:pt x="12" y="0"/>
                      <a:pt x="12" y="0"/>
                    </a:cubicBezTo>
                    <a:cubicBezTo>
                      <a:pt x="10" y="6"/>
                      <a:pt x="9" y="13"/>
                      <a:pt x="7"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2" name="Freeform 56">
                <a:extLst>
                  <a:ext uri="{FF2B5EF4-FFF2-40B4-BE49-F238E27FC236}">
                    <a16:creationId xmlns:a16="http://schemas.microsoft.com/office/drawing/2014/main" id="{53C7A611-06B0-4C2B-8BB1-C333D26A0F38}"/>
                  </a:ext>
                </a:extLst>
              </p:cNvPr>
              <p:cNvSpPr>
                <a:spLocks/>
              </p:cNvSpPr>
              <p:nvPr/>
            </p:nvSpPr>
            <p:spPr bwMode="auto">
              <a:xfrm>
                <a:off x="8337550" y="10372726"/>
                <a:ext cx="107950" cy="123825"/>
              </a:xfrm>
              <a:custGeom>
                <a:avLst/>
                <a:gdLst>
                  <a:gd name="T0" fmla="*/ 1 w 34"/>
                  <a:gd name="T1" fmla="*/ 0 h 38"/>
                  <a:gd name="T2" fmla="*/ 0 w 34"/>
                  <a:gd name="T3" fmla="*/ 38 h 38"/>
                  <a:gd name="T4" fmla="*/ 34 w 34"/>
                  <a:gd name="T5" fmla="*/ 17 h 38"/>
                  <a:gd name="T6" fmla="*/ 16 w 34"/>
                  <a:gd name="T7" fmla="*/ 9 h 38"/>
                  <a:gd name="T8" fmla="*/ 1 w 34"/>
                  <a:gd name="T9" fmla="*/ 0 h 38"/>
                </a:gdLst>
                <a:ahLst/>
                <a:cxnLst>
                  <a:cxn ang="0">
                    <a:pos x="T0" y="T1"/>
                  </a:cxn>
                  <a:cxn ang="0">
                    <a:pos x="T2" y="T3"/>
                  </a:cxn>
                  <a:cxn ang="0">
                    <a:pos x="T4" y="T5"/>
                  </a:cxn>
                  <a:cxn ang="0">
                    <a:pos x="T6" y="T7"/>
                  </a:cxn>
                  <a:cxn ang="0">
                    <a:pos x="T8" y="T9"/>
                  </a:cxn>
                </a:cxnLst>
                <a:rect l="0" t="0" r="r" b="b"/>
                <a:pathLst>
                  <a:path w="34" h="38">
                    <a:moveTo>
                      <a:pt x="1" y="0"/>
                    </a:moveTo>
                    <a:cubicBezTo>
                      <a:pt x="0" y="38"/>
                      <a:pt x="0" y="38"/>
                      <a:pt x="0" y="38"/>
                    </a:cubicBezTo>
                    <a:cubicBezTo>
                      <a:pt x="34" y="17"/>
                      <a:pt x="34" y="17"/>
                      <a:pt x="34" y="17"/>
                    </a:cubicBezTo>
                    <a:cubicBezTo>
                      <a:pt x="27" y="15"/>
                      <a:pt x="22" y="12"/>
                      <a:pt x="16" y="9"/>
                    </a:cubicBezTo>
                    <a:cubicBezTo>
                      <a:pt x="11" y="6"/>
                      <a:pt x="6" y="3"/>
                      <a:pt x="1"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3" name="Freeform 57">
                <a:extLst>
                  <a:ext uri="{FF2B5EF4-FFF2-40B4-BE49-F238E27FC236}">
                    <a16:creationId xmlns:a16="http://schemas.microsoft.com/office/drawing/2014/main" id="{E3F66265-D3E3-4689-85B0-1FC61D3B35F5}"/>
                  </a:ext>
                </a:extLst>
              </p:cNvPr>
              <p:cNvSpPr>
                <a:spLocks/>
              </p:cNvSpPr>
              <p:nvPr/>
            </p:nvSpPr>
            <p:spPr bwMode="auto">
              <a:xfrm>
                <a:off x="10140950" y="9434513"/>
                <a:ext cx="114300" cy="120650"/>
              </a:xfrm>
              <a:custGeom>
                <a:avLst/>
                <a:gdLst>
                  <a:gd name="T0" fmla="*/ 2 w 36"/>
                  <a:gd name="T1" fmla="*/ 20 h 37"/>
                  <a:gd name="T2" fmla="*/ 0 w 36"/>
                  <a:gd name="T3" fmla="*/ 37 h 37"/>
                  <a:gd name="T4" fmla="*/ 36 w 36"/>
                  <a:gd name="T5" fmla="*/ 23 h 37"/>
                  <a:gd name="T6" fmla="*/ 4 w 36"/>
                  <a:gd name="T7" fmla="*/ 0 h 37"/>
                  <a:gd name="T8" fmla="*/ 2 w 36"/>
                  <a:gd name="T9" fmla="*/ 20 h 37"/>
                </a:gdLst>
                <a:ahLst/>
                <a:cxnLst>
                  <a:cxn ang="0">
                    <a:pos x="T0" y="T1"/>
                  </a:cxn>
                  <a:cxn ang="0">
                    <a:pos x="T2" y="T3"/>
                  </a:cxn>
                  <a:cxn ang="0">
                    <a:pos x="T4" y="T5"/>
                  </a:cxn>
                  <a:cxn ang="0">
                    <a:pos x="T6" y="T7"/>
                  </a:cxn>
                  <a:cxn ang="0">
                    <a:pos x="T8" y="T9"/>
                  </a:cxn>
                </a:cxnLst>
                <a:rect l="0" t="0" r="r" b="b"/>
                <a:pathLst>
                  <a:path w="36" h="37">
                    <a:moveTo>
                      <a:pt x="2" y="20"/>
                    </a:moveTo>
                    <a:cubicBezTo>
                      <a:pt x="2" y="25"/>
                      <a:pt x="1" y="30"/>
                      <a:pt x="0" y="37"/>
                    </a:cubicBezTo>
                    <a:cubicBezTo>
                      <a:pt x="36" y="23"/>
                      <a:pt x="36" y="23"/>
                      <a:pt x="36" y="23"/>
                    </a:cubicBezTo>
                    <a:cubicBezTo>
                      <a:pt x="4" y="0"/>
                      <a:pt x="4" y="0"/>
                      <a:pt x="4" y="0"/>
                    </a:cubicBezTo>
                    <a:cubicBezTo>
                      <a:pt x="3" y="6"/>
                      <a:pt x="3" y="13"/>
                      <a:pt x="2" y="2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4" name="Freeform 58">
                <a:extLst>
                  <a:ext uri="{FF2B5EF4-FFF2-40B4-BE49-F238E27FC236}">
                    <a16:creationId xmlns:a16="http://schemas.microsoft.com/office/drawing/2014/main" id="{CB24F96F-3A5D-41F7-89B3-64F958E5AE6E}"/>
                  </a:ext>
                </a:extLst>
              </p:cNvPr>
              <p:cNvSpPr>
                <a:spLocks/>
              </p:cNvSpPr>
              <p:nvPr/>
            </p:nvSpPr>
            <p:spPr bwMode="auto">
              <a:xfrm>
                <a:off x="10028238" y="9799638"/>
                <a:ext cx="125413" cy="107950"/>
              </a:xfrm>
              <a:custGeom>
                <a:avLst/>
                <a:gdLst>
                  <a:gd name="T0" fmla="*/ 8 w 39"/>
                  <a:gd name="T1" fmla="*/ 17 h 33"/>
                  <a:gd name="T2" fmla="*/ 0 w 39"/>
                  <a:gd name="T3" fmla="*/ 33 h 33"/>
                  <a:gd name="T4" fmla="*/ 39 w 39"/>
                  <a:gd name="T5" fmla="*/ 30 h 33"/>
                  <a:gd name="T6" fmla="*/ 15 w 39"/>
                  <a:gd name="T7" fmla="*/ 0 h 33"/>
                  <a:gd name="T8" fmla="*/ 8 w 39"/>
                  <a:gd name="T9" fmla="*/ 17 h 33"/>
                </a:gdLst>
                <a:ahLst/>
                <a:cxnLst>
                  <a:cxn ang="0">
                    <a:pos x="T0" y="T1"/>
                  </a:cxn>
                  <a:cxn ang="0">
                    <a:pos x="T2" y="T3"/>
                  </a:cxn>
                  <a:cxn ang="0">
                    <a:pos x="T4" y="T5"/>
                  </a:cxn>
                  <a:cxn ang="0">
                    <a:pos x="T6" y="T7"/>
                  </a:cxn>
                  <a:cxn ang="0">
                    <a:pos x="T8" y="T9"/>
                  </a:cxn>
                </a:cxnLst>
                <a:rect l="0" t="0" r="r" b="b"/>
                <a:pathLst>
                  <a:path w="39" h="33">
                    <a:moveTo>
                      <a:pt x="8" y="17"/>
                    </a:moveTo>
                    <a:cubicBezTo>
                      <a:pt x="6" y="23"/>
                      <a:pt x="3" y="28"/>
                      <a:pt x="0" y="33"/>
                    </a:cubicBezTo>
                    <a:cubicBezTo>
                      <a:pt x="39" y="30"/>
                      <a:pt x="39" y="30"/>
                      <a:pt x="39" y="30"/>
                    </a:cubicBezTo>
                    <a:cubicBezTo>
                      <a:pt x="15" y="0"/>
                      <a:pt x="15" y="0"/>
                      <a:pt x="15" y="0"/>
                    </a:cubicBezTo>
                    <a:cubicBezTo>
                      <a:pt x="13" y="5"/>
                      <a:pt x="10" y="12"/>
                      <a:pt x="8"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5" name="Freeform 59">
                <a:extLst>
                  <a:ext uri="{FF2B5EF4-FFF2-40B4-BE49-F238E27FC236}">
                    <a16:creationId xmlns:a16="http://schemas.microsoft.com/office/drawing/2014/main" id="{F0033B26-CBE9-4048-842E-EC77454A40F9}"/>
                  </a:ext>
                </a:extLst>
              </p:cNvPr>
              <p:cNvSpPr>
                <a:spLocks/>
              </p:cNvSpPr>
              <p:nvPr/>
            </p:nvSpPr>
            <p:spPr bwMode="auto">
              <a:xfrm>
                <a:off x="9971088" y="9913938"/>
                <a:ext cx="120650" cy="106363"/>
              </a:xfrm>
              <a:custGeom>
                <a:avLst/>
                <a:gdLst>
                  <a:gd name="T0" fmla="*/ 8 w 38"/>
                  <a:gd name="T1" fmla="*/ 16 h 33"/>
                  <a:gd name="T2" fmla="*/ 0 w 38"/>
                  <a:gd name="T3" fmla="*/ 31 h 33"/>
                  <a:gd name="T4" fmla="*/ 38 w 38"/>
                  <a:gd name="T5" fmla="*/ 33 h 33"/>
                  <a:gd name="T6" fmla="*/ 17 w 38"/>
                  <a:gd name="T7" fmla="*/ 0 h 33"/>
                  <a:gd name="T8" fmla="*/ 8 w 38"/>
                  <a:gd name="T9" fmla="*/ 16 h 33"/>
                </a:gdLst>
                <a:ahLst/>
                <a:cxnLst>
                  <a:cxn ang="0">
                    <a:pos x="T0" y="T1"/>
                  </a:cxn>
                  <a:cxn ang="0">
                    <a:pos x="T2" y="T3"/>
                  </a:cxn>
                  <a:cxn ang="0">
                    <a:pos x="T4" y="T5"/>
                  </a:cxn>
                  <a:cxn ang="0">
                    <a:pos x="T6" y="T7"/>
                  </a:cxn>
                  <a:cxn ang="0">
                    <a:pos x="T8" y="T9"/>
                  </a:cxn>
                </a:cxnLst>
                <a:rect l="0" t="0" r="r" b="b"/>
                <a:pathLst>
                  <a:path w="38" h="33">
                    <a:moveTo>
                      <a:pt x="8" y="16"/>
                    </a:moveTo>
                    <a:cubicBezTo>
                      <a:pt x="5" y="21"/>
                      <a:pt x="2" y="26"/>
                      <a:pt x="0" y="31"/>
                    </a:cubicBezTo>
                    <a:cubicBezTo>
                      <a:pt x="38" y="33"/>
                      <a:pt x="38" y="33"/>
                      <a:pt x="38" y="33"/>
                    </a:cubicBezTo>
                    <a:cubicBezTo>
                      <a:pt x="17" y="0"/>
                      <a:pt x="17" y="0"/>
                      <a:pt x="17" y="0"/>
                    </a:cubicBezTo>
                    <a:cubicBezTo>
                      <a:pt x="15" y="5"/>
                      <a:pt x="12" y="11"/>
                      <a:pt x="8"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6" name="Freeform 60">
                <a:extLst>
                  <a:ext uri="{FF2B5EF4-FFF2-40B4-BE49-F238E27FC236}">
                    <a16:creationId xmlns:a16="http://schemas.microsoft.com/office/drawing/2014/main" id="{38D784C3-D5C7-44E3-BA4B-2DE7C9663A11}"/>
                  </a:ext>
                </a:extLst>
              </p:cNvPr>
              <p:cNvSpPr>
                <a:spLocks/>
              </p:cNvSpPr>
              <p:nvPr/>
            </p:nvSpPr>
            <p:spPr bwMode="auto">
              <a:xfrm>
                <a:off x="9723438" y="10213976"/>
                <a:ext cx="112713" cy="123825"/>
              </a:xfrm>
              <a:custGeom>
                <a:avLst/>
                <a:gdLst>
                  <a:gd name="T0" fmla="*/ 13 w 35"/>
                  <a:gd name="T1" fmla="*/ 13 h 38"/>
                  <a:gd name="T2" fmla="*/ 0 w 35"/>
                  <a:gd name="T3" fmla="*/ 24 h 38"/>
                  <a:gd name="T4" fmla="*/ 35 w 35"/>
                  <a:gd name="T5" fmla="*/ 38 h 38"/>
                  <a:gd name="T6" fmla="*/ 27 w 35"/>
                  <a:gd name="T7" fmla="*/ 0 h 38"/>
                  <a:gd name="T8" fmla="*/ 13 w 35"/>
                  <a:gd name="T9" fmla="*/ 13 h 38"/>
                </a:gdLst>
                <a:ahLst/>
                <a:cxnLst>
                  <a:cxn ang="0">
                    <a:pos x="T0" y="T1"/>
                  </a:cxn>
                  <a:cxn ang="0">
                    <a:pos x="T2" y="T3"/>
                  </a:cxn>
                  <a:cxn ang="0">
                    <a:pos x="T4" y="T5"/>
                  </a:cxn>
                  <a:cxn ang="0">
                    <a:pos x="T6" y="T7"/>
                  </a:cxn>
                  <a:cxn ang="0">
                    <a:pos x="T8" y="T9"/>
                  </a:cxn>
                </a:cxnLst>
                <a:rect l="0" t="0" r="r" b="b"/>
                <a:pathLst>
                  <a:path w="35" h="38">
                    <a:moveTo>
                      <a:pt x="13" y="13"/>
                    </a:moveTo>
                    <a:cubicBezTo>
                      <a:pt x="8" y="16"/>
                      <a:pt x="4" y="21"/>
                      <a:pt x="0" y="24"/>
                    </a:cubicBezTo>
                    <a:cubicBezTo>
                      <a:pt x="35" y="38"/>
                      <a:pt x="35" y="38"/>
                      <a:pt x="35" y="38"/>
                    </a:cubicBezTo>
                    <a:cubicBezTo>
                      <a:pt x="27" y="0"/>
                      <a:pt x="27" y="0"/>
                      <a:pt x="27" y="0"/>
                    </a:cubicBezTo>
                    <a:cubicBezTo>
                      <a:pt x="22" y="4"/>
                      <a:pt x="18" y="9"/>
                      <a:pt x="13" y="1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7" name="Freeform 61">
                <a:extLst>
                  <a:ext uri="{FF2B5EF4-FFF2-40B4-BE49-F238E27FC236}">
                    <a16:creationId xmlns:a16="http://schemas.microsoft.com/office/drawing/2014/main" id="{BA016327-DF98-461B-A42C-A6CC04710EE2}"/>
                  </a:ext>
                </a:extLst>
              </p:cNvPr>
              <p:cNvSpPr>
                <a:spLocks/>
              </p:cNvSpPr>
              <p:nvPr/>
            </p:nvSpPr>
            <p:spPr bwMode="auto">
              <a:xfrm>
                <a:off x="9813925" y="10121901"/>
                <a:ext cx="122238" cy="117475"/>
              </a:xfrm>
              <a:custGeom>
                <a:avLst/>
                <a:gdLst>
                  <a:gd name="T0" fmla="*/ 12 w 38"/>
                  <a:gd name="T1" fmla="*/ 14 h 36"/>
                  <a:gd name="T2" fmla="*/ 0 w 38"/>
                  <a:gd name="T3" fmla="*/ 27 h 36"/>
                  <a:gd name="T4" fmla="*/ 38 w 38"/>
                  <a:gd name="T5" fmla="*/ 36 h 36"/>
                  <a:gd name="T6" fmla="*/ 25 w 38"/>
                  <a:gd name="T7" fmla="*/ 0 h 36"/>
                  <a:gd name="T8" fmla="*/ 12 w 38"/>
                  <a:gd name="T9" fmla="*/ 14 h 36"/>
                </a:gdLst>
                <a:ahLst/>
                <a:cxnLst>
                  <a:cxn ang="0">
                    <a:pos x="T0" y="T1"/>
                  </a:cxn>
                  <a:cxn ang="0">
                    <a:pos x="T2" y="T3"/>
                  </a:cxn>
                  <a:cxn ang="0">
                    <a:pos x="T4" y="T5"/>
                  </a:cxn>
                  <a:cxn ang="0">
                    <a:pos x="T6" y="T7"/>
                  </a:cxn>
                  <a:cxn ang="0">
                    <a:pos x="T8" y="T9"/>
                  </a:cxn>
                </a:cxnLst>
                <a:rect l="0" t="0" r="r" b="b"/>
                <a:pathLst>
                  <a:path w="38" h="36">
                    <a:moveTo>
                      <a:pt x="12" y="14"/>
                    </a:moveTo>
                    <a:cubicBezTo>
                      <a:pt x="9" y="18"/>
                      <a:pt x="4" y="23"/>
                      <a:pt x="0" y="27"/>
                    </a:cubicBezTo>
                    <a:cubicBezTo>
                      <a:pt x="38" y="36"/>
                      <a:pt x="38" y="36"/>
                      <a:pt x="38" y="36"/>
                    </a:cubicBezTo>
                    <a:cubicBezTo>
                      <a:pt x="25" y="0"/>
                      <a:pt x="25" y="0"/>
                      <a:pt x="25" y="0"/>
                    </a:cubicBezTo>
                    <a:cubicBezTo>
                      <a:pt x="20" y="4"/>
                      <a:pt x="16" y="10"/>
                      <a:pt x="12" y="1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8" name="Freeform 62">
                <a:extLst>
                  <a:ext uri="{FF2B5EF4-FFF2-40B4-BE49-F238E27FC236}">
                    <a16:creationId xmlns:a16="http://schemas.microsoft.com/office/drawing/2014/main" id="{5B512CC9-23CB-4E82-A466-851655B58A09}"/>
                  </a:ext>
                </a:extLst>
              </p:cNvPr>
              <p:cNvSpPr>
                <a:spLocks/>
              </p:cNvSpPr>
              <p:nvPr/>
            </p:nvSpPr>
            <p:spPr bwMode="auto">
              <a:xfrm>
                <a:off x="9896475" y="10017126"/>
                <a:ext cx="122238" cy="117475"/>
              </a:xfrm>
              <a:custGeom>
                <a:avLst/>
                <a:gdLst>
                  <a:gd name="T0" fmla="*/ 11 w 38"/>
                  <a:gd name="T1" fmla="*/ 17 h 36"/>
                  <a:gd name="T2" fmla="*/ 0 w 38"/>
                  <a:gd name="T3" fmla="*/ 30 h 36"/>
                  <a:gd name="T4" fmla="*/ 38 w 38"/>
                  <a:gd name="T5" fmla="*/ 36 h 36"/>
                  <a:gd name="T6" fmla="*/ 22 w 38"/>
                  <a:gd name="T7" fmla="*/ 0 h 36"/>
                  <a:gd name="T8" fmla="*/ 11 w 38"/>
                  <a:gd name="T9" fmla="*/ 17 h 36"/>
                </a:gdLst>
                <a:ahLst/>
                <a:cxnLst>
                  <a:cxn ang="0">
                    <a:pos x="T0" y="T1"/>
                  </a:cxn>
                  <a:cxn ang="0">
                    <a:pos x="T2" y="T3"/>
                  </a:cxn>
                  <a:cxn ang="0">
                    <a:pos x="T4" y="T5"/>
                  </a:cxn>
                  <a:cxn ang="0">
                    <a:pos x="T6" y="T7"/>
                  </a:cxn>
                  <a:cxn ang="0">
                    <a:pos x="T8" y="T9"/>
                  </a:cxn>
                </a:cxnLst>
                <a:rect l="0" t="0" r="r" b="b"/>
                <a:pathLst>
                  <a:path w="38" h="36">
                    <a:moveTo>
                      <a:pt x="11" y="17"/>
                    </a:moveTo>
                    <a:cubicBezTo>
                      <a:pt x="6" y="21"/>
                      <a:pt x="3" y="25"/>
                      <a:pt x="0" y="30"/>
                    </a:cubicBezTo>
                    <a:cubicBezTo>
                      <a:pt x="38" y="36"/>
                      <a:pt x="38" y="36"/>
                      <a:pt x="38" y="36"/>
                    </a:cubicBezTo>
                    <a:cubicBezTo>
                      <a:pt x="22" y="0"/>
                      <a:pt x="22" y="0"/>
                      <a:pt x="22" y="0"/>
                    </a:cubicBezTo>
                    <a:cubicBezTo>
                      <a:pt x="18" y="6"/>
                      <a:pt x="14" y="11"/>
                      <a:pt x="11"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09" name="Freeform 63">
                <a:extLst>
                  <a:ext uri="{FF2B5EF4-FFF2-40B4-BE49-F238E27FC236}">
                    <a16:creationId xmlns:a16="http://schemas.microsoft.com/office/drawing/2014/main" id="{AE317086-10CB-4367-9028-E88FB90A10C8}"/>
                  </a:ext>
                </a:extLst>
              </p:cNvPr>
              <p:cNvSpPr>
                <a:spLocks/>
              </p:cNvSpPr>
              <p:nvPr/>
            </p:nvSpPr>
            <p:spPr bwMode="auto">
              <a:xfrm>
                <a:off x="9625013" y="10294938"/>
                <a:ext cx="107950" cy="127000"/>
              </a:xfrm>
              <a:custGeom>
                <a:avLst/>
                <a:gdLst>
                  <a:gd name="T0" fmla="*/ 14 w 34"/>
                  <a:gd name="T1" fmla="*/ 12 h 39"/>
                  <a:gd name="T2" fmla="*/ 0 w 34"/>
                  <a:gd name="T3" fmla="*/ 22 h 39"/>
                  <a:gd name="T4" fmla="*/ 34 w 34"/>
                  <a:gd name="T5" fmla="*/ 39 h 39"/>
                  <a:gd name="T6" fmla="*/ 29 w 34"/>
                  <a:gd name="T7" fmla="*/ 0 h 39"/>
                  <a:gd name="T8" fmla="*/ 14 w 34"/>
                  <a:gd name="T9" fmla="*/ 12 h 39"/>
                </a:gdLst>
                <a:ahLst/>
                <a:cxnLst>
                  <a:cxn ang="0">
                    <a:pos x="T0" y="T1"/>
                  </a:cxn>
                  <a:cxn ang="0">
                    <a:pos x="T2" y="T3"/>
                  </a:cxn>
                  <a:cxn ang="0">
                    <a:pos x="T4" y="T5"/>
                  </a:cxn>
                  <a:cxn ang="0">
                    <a:pos x="T6" y="T7"/>
                  </a:cxn>
                  <a:cxn ang="0">
                    <a:pos x="T8" y="T9"/>
                  </a:cxn>
                </a:cxnLst>
                <a:rect l="0" t="0" r="r" b="b"/>
                <a:pathLst>
                  <a:path w="34" h="39">
                    <a:moveTo>
                      <a:pt x="14" y="12"/>
                    </a:moveTo>
                    <a:cubicBezTo>
                      <a:pt x="9" y="15"/>
                      <a:pt x="4" y="19"/>
                      <a:pt x="0" y="22"/>
                    </a:cubicBezTo>
                    <a:cubicBezTo>
                      <a:pt x="34" y="39"/>
                      <a:pt x="34" y="39"/>
                      <a:pt x="34" y="39"/>
                    </a:cubicBezTo>
                    <a:cubicBezTo>
                      <a:pt x="29" y="0"/>
                      <a:pt x="29" y="0"/>
                      <a:pt x="29" y="0"/>
                    </a:cubicBezTo>
                    <a:cubicBezTo>
                      <a:pt x="24" y="4"/>
                      <a:pt x="20" y="8"/>
                      <a:pt x="14" y="12"/>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0" name="Freeform 64">
                <a:extLst>
                  <a:ext uri="{FF2B5EF4-FFF2-40B4-BE49-F238E27FC236}">
                    <a16:creationId xmlns:a16="http://schemas.microsoft.com/office/drawing/2014/main" id="{D597918A-6715-4C20-B8FE-0AE85FDEC800}"/>
                  </a:ext>
                </a:extLst>
              </p:cNvPr>
              <p:cNvSpPr>
                <a:spLocks/>
              </p:cNvSpPr>
              <p:nvPr/>
            </p:nvSpPr>
            <p:spPr bwMode="auto">
              <a:xfrm>
                <a:off x="7805738" y="9802813"/>
                <a:ext cx="123825" cy="111125"/>
              </a:xfrm>
              <a:custGeom>
                <a:avLst/>
                <a:gdLst>
                  <a:gd name="T0" fmla="*/ 30 w 39"/>
                  <a:gd name="T1" fmla="*/ 16 h 34"/>
                  <a:gd name="T2" fmla="*/ 23 w 39"/>
                  <a:gd name="T3" fmla="*/ 0 h 34"/>
                  <a:gd name="T4" fmla="*/ 0 w 39"/>
                  <a:gd name="T5" fmla="*/ 30 h 34"/>
                  <a:gd name="T6" fmla="*/ 39 w 39"/>
                  <a:gd name="T7" fmla="*/ 34 h 34"/>
                  <a:gd name="T8" fmla="*/ 30 w 39"/>
                  <a:gd name="T9" fmla="*/ 16 h 34"/>
                </a:gdLst>
                <a:ahLst/>
                <a:cxnLst>
                  <a:cxn ang="0">
                    <a:pos x="T0" y="T1"/>
                  </a:cxn>
                  <a:cxn ang="0">
                    <a:pos x="T2" y="T3"/>
                  </a:cxn>
                  <a:cxn ang="0">
                    <a:pos x="T4" y="T5"/>
                  </a:cxn>
                  <a:cxn ang="0">
                    <a:pos x="T6" y="T7"/>
                  </a:cxn>
                  <a:cxn ang="0">
                    <a:pos x="T8" y="T9"/>
                  </a:cxn>
                </a:cxnLst>
                <a:rect l="0" t="0" r="r" b="b"/>
                <a:pathLst>
                  <a:path w="39" h="34">
                    <a:moveTo>
                      <a:pt x="30" y="16"/>
                    </a:moveTo>
                    <a:cubicBezTo>
                      <a:pt x="28" y="11"/>
                      <a:pt x="26" y="5"/>
                      <a:pt x="23" y="0"/>
                    </a:cubicBezTo>
                    <a:cubicBezTo>
                      <a:pt x="0" y="30"/>
                      <a:pt x="0" y="30"/>
                      <a:pt x="0" y="30"/>
                    </a:cubicBezTo>
                    <a:cubicBezTo>
                      <a:pt x="39" y="34"/>
                      <a:pt x="39" y="34"/>
                      <a:pt x="39" y="34"/>
                    </a:cubicBezTo>
                    <a:cubicBezTo>
                      <a:pt x="35" y="28"/>
                      <a:pt x="33" y="22"/>
                      <a:pt x="30"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1" name="Freeform 65">
                <a:extLst>
                  <a:ext uri="{FF2B5EF4-FFF2-40B4-BE49-F238E27FC236}">
                    <a16:creationId xmlns:a16="http://schemas.microsoft.com/office/drawing/2014/main" id="{EAEA7097-BFF3-4D06-9A3E-AFAD024E696C}"/>
                  </a:ext>
                </a:extLst>
              </p:cNvPr>
              <p:cNvSpPr>
                <a:spLocks/>
              </p:cNvSpPr>
              <p:nvPr/>
            </p:nvSpPr>
            <p:spPr bwMode="auto">
              <a:xfrm>
                <a:off x="7693025" y="9317038"/>
                <a:ext cx="106363" cy="117475"/>
              </a:xfrm>
              <a:custGeom>
                <a:avLst/>
                <a:gdLst>
                  <a:gd name="T0" fmla="*/ 67 w 67"/>
                  <a:gd name="T1" fmla="*/ 35 h 74"/>
                  <a:gd name="T2" fmla="*/ 67 w 67"/>
                  <a:gd name="T3" fmla="*/ 0 h 74"/>
                  <a:gd name="T4" fmla="*/ 0 w 67"/>
                  <a:gd name="T5" fmla="*/ 35 h 74"/>
                  <a:gd name="T6" fmla="*/ 67 w 67"/>
                  <a:gd name="T7" fmla="*/ 74 h 74"/>
                  <a:gd name="T8" fmla="*/ 67 w 67"/>
                  <a:gd name="T9" fmla="*/ 35 h 74"/>
                </a:gdLst>
                <a:ahLst/>
                <a:cxnLst>
                  <a:cxn ang="0">
                    <a:pos x="T0" y="T1"/>
                  </a:cxn>
                  <a:cxn ang="0">
                    <a:pos x="T2" y="T3"/>
                  </a:cxn>
                  <a:cxn ang="0">
                    <a:pos x="T4" y="T5"/>
                  </a:cxn>
                  <a:cxn ang="0">
                    <a:pos x="T6" y="T7"/>
                  </a:cxn>
                  <a:cxn ang="0">
                    <a:pos x="T8" y="T9"/>
                  </a:cxn>
                </a:cxnLst>
                <a:rect l="0" t="0" r="r" b="b"/>
                <a:pathLst>
                  <a:path w="67" h="74">
                    <a:moveTo>
                      <a:pt x="67" y="35"/>
                    </a:moveTo>
                    <a:lnTo>
                      <a:pt x="67" y="0"/>
                    </a:lnTo>
                    <a:lnTo>
                      <a:pt x="0" y="35"/>
                    </a:lnTo>
                    <a:lnTo>
                      <a:pt x="67" y="74"/>
                    </a:lnTo>
                    <a:lnTo>
                      <a:pt x="67" y="3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2" name="Freeform 66">
                <a:extLst>
                  <a:ext uri="{FF2B5EF4-FFF2-40B4-BE49-F238E27FC236}">
                    <a16:creationId xmlns:a16="http://schemas.microsoft.com/office/drawing/2014/main" id="{3EF0BE3D-BBD8-4E1A-8A33-3B4FC1AE035B}"/>
                  </a:ext>
                </a:extLst>
              </p:cNvPr>
              <p:cNvSpPr>
                <a:spLocks/>
              </p:cNvSpPr>
              <p:nvPr/>
            </p:nvSpPr>
            <p:spPr bwMode="auto">
              <a:xfrm>
                <a:off x="7753350" y="9685338"/>
                <a:ext cx="122238" cy="114300"/>
              </a:xfrm>
              <a:custGeom>
                <a:avLst/>
                <a:gdLst>
                  <a:gd name="T0" fmla="*/ 32 w 38"/>
                  <a:gd name="T1" fmla="*/ 16 h 35"/>
                  <a:gd name="T2" fmla="*/ 27 w 38"/>
                  <a:gd name="T3" fmla="*/ 0 h 35"/>
                  <a:gd name="T4" fmla="*/ 0 w 38"/>
                  <a:gd name="T5" fmla="*/ 27 h 35"/>
                  <a:gd name="T6" fmla="*/ 38 w 38"/>
                  <a:gd name="T7" fmla="*/ 35 h 35"/>
                  <a:gd name="T8" fmla="*/ 32 w 38"/>
                  <a:gd name="T9" fmla="*/ 16 h 35"/>
                </a:gdLst>
                <a:ahLst/>
                <a:cxnLst>
                  <a:cxn ang="0">
                    <a:pos x="T0" y="T1"/>
                  </a:cxn>
                  <a:cxn ang="0">
                    <a:pos x="T2" y="T3"/>
                  </a:cxn>
                  <a:cxn ang="0">
                    <a:pos x="T4" y="T5"/>
                  </a:cxn>
                  <a:cxn ang="0">
                    <a:pos x="T6" y="T7"/>
                  </a:cxn>
                  <a:cxn ang="0">
                    <a:pos x="T8" y="T9"/>
                  </a:cxn>
                </a:cxnLst>
                <a:rect l="0" t="0" r="r" b="b"/>
                <a:pathLst>
                  <a:path w="38" h="35">
                    <a:moveTo>
                      <a:pt x="32" y="16"/>
                    </a:moveTo>
                    <a:cubicBezTo>
                      <a:pt x="31" y="11"/>
                      <a:pt x="29" y="6"/>
                      <a:pt x="27" y="0"/>
                    </a:cubicBezTo>
                    <a:cubicBezTo>
                      <a:pt x="0" y="27"/>
                      <a:pt x="0" y="27"/>
                      <a:pt x="0" y="27"/>
                    </a:cubicBezTo>
                    <a:cubicBezTo>
                      <a:pt x="38" y="35"/>
                      <a:pt x="38" y="35"/>
                      <a:pt x="38" y="35"/>
                    </a:cubicBezTo>
                    <a:cubicBezTo>
                      <a:pt x="36" y="28"/>
                      <a:pt x="34" y="23"/>
                      <a:pt x="32"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3" name="Freeform 67">
                <a:extLst>
                  <a:ext uri="{FF2B5EF4-FFF2-40B4-BE49-F238E27FC236}">
                    <a16:creationId xmlns:a16="http://schemas.microsoft.com/office/drawing/2014/main" id="{18A2FA76-D72E-4576-B416-F8E0725DFDEA}"/>
                  </a:ext>
                </a:extLst>
              </p:cNvPr>
              <p:cNvSpPr>
                <a:spLocks/>
              </p:cNvSpPr>
              <p:nvPr/>
            </p:nvSpPr>
            <p:spPr bwMode="auto">
              <a:xfrm>
                <a:off x="7699375" y="9440863"/>
                <a:ext cx="115888" cy="117475"/>
              </a:xfrm>
              <a:custGeom>
                <a:avLst/>
                <a:gdLst>
                  <a:gd name="T0" fmla="*/ 34 w 36"/>
                  <a:gd name="T1" fmla="*/ 18 h 36"/>
                  <a:gd name="T2" fmla="*/ 31 w 36"/>
                  <a:gd name="T3" fmla="*/ 0 h 36"/>
                  <a:gd name="T4" fmla="*/ 0 w 36"/>
                  <a:gd name="T5" fmla="*/ 21 h 36"/>
                  <a:gd name="T6" fmla="*/ 36 w 36"/>
                  <a:gd name="T7" fmla="*/ 36 h 36"/>
                  <a:gd name="T8" fmla="*/ 34 w 36"/>
                  <a:gd name="T9" fmla="*/ 18 h 36"/>
                </a:gdLst>
                <a:ahLst/>
                <a:cxnLst>
                  <a:cxn ang="0">
                    <a:pos x="T0" y="T1"/>
                  </a:cxn>
                  <a:cxn ang="0">
                    <a:pos x="T2" y="T3"/>
                  </a:cxn>
                  <a:cxn ang="0">
                    <a:pos x="T4" y="T5"/>
                  </a:cxn>
                  <a:cxn ang="0">
                    <a:pos x="T6" y="T7"/>
                  </a:cxn>
                  <a:cxn ang="0">
                    <a:pos x="T8" y="T9"/>
                  </a:cxn>
                </a:cxnLst>
                <a:rect l="0" t="0" r="r" b="b"/>
                <a:pathLst>
                  <a:path w="36" h="36">
                    <a:moveTo>
                      <a:pt x="34" y="18"/>
                    </a:moveTo>
                    <a:cubicBezTo>
                      <a:pt x="33" y="12"/>
                      <a:pt x="33" y="6"/>
                      <a:pt x="31" y="0"/>
                    </a:cubicBezTo>
                    <a:cubicBezTo>
                      <a:pt x="0" y="21"/>
                      <a:pt x="0" y="21"/>
                      <a:pt x="0" y="21"/>
                    </a:cubicBezTo>
                    <a:cubicBezTo>
                      <a:pt x="36" y="36"/>
                      <a:pt x="36" y="36"/>
                      <a:pt x="36" y="36"/>
                    </a:cubicBezTo>
                    <a:cubicBezTo>
                      <a:pt x="35" y="31"/>
                      <a:pt x="34" y="24"/>
                      <a:pt x="34"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4" name="Freeform 68">
                <a:extLst>
                  <a:ext uri="{FF2B5EF4-FFF2-40B4-BE49-F238E27FC236}">
                    <a16:creationId xmlns:a16="http://schemas.microsoft.com/office/drawing/2014/main" id="{27913961-BDC8-485E-A4F7-C356B7739403}"/>
                  </a:ext>
                </a:extLst>
              </p:cNvPr>
              <p:cNvSpPr>
                <a:spLocks/>
              </p:cNvSpPr>
              <p:nvPr/>
            </p:nvSpPr>
            <p:spPr bwMode="auto">
              <a:xfrm>
                <a:off x="7862888" y="9917113"/>
                <a:ext cx="125413" cy="103188"/>
              </a:xfrm>
              <a:custGeom>
                <a:avLst/>
                <a:gdLst>
                  <a:gd name="T0" fmla="*/ 29 w 39"/>
                  <a:gd name="T1" fmla="*/ 15 h 32"/>
                  <a:gd name="T2" fmla="*/ 22 w 39"/>
                  <a:gd name="T3" fmla="*/ 0 h 32"/>
                  <a:gd name="T4" fmla="*/ 0 w 39"/>
                  <a:gd name="T5" fmla="*/ 32 h 32"/>
                  <a:gd name="T6" fmla="*/ 39 w 39"/>
                  <a:gd name="T7" fmla="*/ 31 h 32"/>
                  <a:gd name="T8" fmla="*/ 29 w 39"/>
                  <a:gd name="T9" fmla="*/ 15 h 32"/>
                </a:gdLst>
                <a:ahLst/>
                <a:cxnLst>
                  <a:cxn ang="0">
                    <a:pos x="T0" y="T1"/>
                  </a:cxn>
                  <a:cxn ang="0">
                    <a:pos x="T2" y="T3"/>
                  </a:cxn>
                  <a:cxn ang="0">
                    <a:pos x="T4" y="T5"/>
                  </a:cxn>
                  <a:cxn ang="0">
                    <a:pos x="T6" y="T7"/>
                  </a:cxn>
                  <a:cxn ang="0">
                    <a:pos x="T8" y="T9"/>
                  </a:cxn>
                </a:cxnLst>
                <a:rect l="0" t="0" r="r" b="b"/>
                <a:pathLst>
                  <a:path w="39" h="32">
                    <a:moveTo>
                      <a:pt x="29" y="15"/>
                    </a:moveTo>
                    <a:cubicBezTo>
                      <a:pt x="26" y="11"/>
                      <a:pt x="24" y="5"/>
                      <a:pt x="22" y="0"/>
                    </a:cubicBezTo>
                    <a:cubicBezTo>
                      <a:pt x="0" y="32"/>
                      <a:pt x="0" y="32"/>
                      <a:pt x="0" y="32"/>
                    </a:cubicBezTo>
                    <a:cubicBezTo>
                      <a:pt x="39" y="31"/>
                      <a:pt x="39" y="31"/>
                      <a:pt x="39" y="31"/>
                    </a:cubicBezTo>
                    <a:cubicBezTo>
                      <a:pt x="36" y="26"/>
                      <a:pt x="33" y="20"/>
                      <a:pt x="29" y="1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5" name="Freeform 69">
                <a:extLst>
                  <a:ext uri="{FF2B5EF4-FFF2-40B4-BE49-F238E27FC236}">
                    <a16:creationId xmlns:a16="http://schemas.microsoft.com/office/drawing/2014/main" id="{1D21A220-1DA6-4F1F-96BB-4AD00C50EB3B}"/>
                  </a:ext>
                </a:extLst>
              </p:cNvPr>
              <p:cNvSpPr>
                <a:spLocks/>
              </p:cNvSpPr>
              <p:nvPr/>
            </p:nvSpPr>
            <p:spPr bwMode="auto">
              <a:xfrm>
                <a:off x="8115300" y="8410576"/>
                <a:ext cx="115888" cy="123825"/>
              </a:xfrm>
              <a:custGeom>
                <a:avLst/>
                <a:gdLst>
                  <a:gd name="T0" fmla="*/ 23 w 36"/>
                  <a:gd name="T1" fmla="*/ 25 h 38"/>
                  <a:gd name="T2" fmla="*/ 36 w 36"/>
                  <a:gd name="T3" fmla="*/ 14 h 38"/>
                  <a:gd name="T4" fmla="*/ 0 w 36"/>
                  <a:gd name="T5" fmla="*/ 0 h 38"/>
                  <a:gd name="T6" fmla="*/ 9 w 36"/>
                  <a:gd name="T7" fmla="*/ 38 h 38"/>
                  <a:gd name="T8" fmla="*/ 23 w 36"/>
                  <a:gd name="T9" fmla="*/ 25 h 38"/>
                </a:gdLst>
                <a:ahLst/>
                <a:cxnLst>
                  <a:cxn ang="0">
                    <a:pos x="T0" y="T1"/>
                  </a:cxn>
                  <a:cxn ang="0">
                    <a:pos x="T2" y="T3"/>
                  </a:cxn>
                  <a:cxn ang="0">
                    <a:pos x="T4" y="T5"/>
                  </a:cxn>
                  <a:cxn ang="0">
                    <a:pos x="T6" y="T7"/>
                  </a:cxn>
                  <a:cxn ang="0">
                    <a:pos x="T8" y="T9"/>
                  </a:cxn>
                </a:cxnLst>
                <a:rect l="0" t="0" r="r" b="b"/>
                <a:pathLst>
                  <a:path w="36" h="38">
                    <a:moveTo>
                      <a:pt x="23" y="25"/>
                    </a:moveTo>
                    <a:cubicBezTo>
                      <a:pt x="28" y="20"/>
                      <a:pt x="32" y="17"/>
                      <a:pt x="36" y="14"/>
                    </a:cubicBezTo>
                    <a:cubicBezTo>
                      <a:pt x="0" y="0"/>
                      <a:pt x="0" y="0"/>
                      <a:pt x="0" y="0"/>
                    </a:cubicBezTo>
                    <a:cubicBezTo>
                      <a:pt x="9" y="38"/>
                      <a:pt x="9" y="38"/>
                      <a:pt x="9" y="38"/>
                    </a:cubicBezTo>
                    <a:cubicBezTo>
                      <a:pt x="13" y="33"/>
                      <a:pt x="18" y="29"/>
                      <a:pt x="23" y="2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6" name="Freeform 70">
                <a:extLst>
                  <a:ext uri="{FF2B5EF4-FFF2-40B4-BE49-F238E27FC236}">
                    <a16:creationId xmlns:a16="http://schemas.microsoft.com/office/drawing/2014/main" id="{A53046FC-52DA-4610-B3FF-D7252097A518}"/>
                  </a:ext>
                </a:extLst>
              </p:cNvPr>
              <p:cNvSpPr>
                <a:spLocks/>
              </p:cNvSpPr>
              <p:nvPr/>
            </p:nvSpPr>
            <p:spPr bwMode="auto">
              <a:xfrm>
                <a:off x="8115300" y="10217151"/>
                <a:ext cx="119063" cy="120650"/>
              </a:xfrm>
              <a:custGeom>
                <a:avLst/>
                <a:gdLst>
                  <a:gd name="T0" fmla="*/ 23 w 37"/>
                  <a:gd name="T1" fmla="*/ 12 h 37"/>
                  <a:gd name="T2" fmla="*/ 10 w 37"/>
                  <a:gd name="T3" fmla="*/ 0 h 37"/>
                  <a:gd name="T4" fmla="*/ 0 w 37"/>
                  <a:gd name="T5" fmla="*/ 37 h 37"/>
                  <a:gd name="T6" fmla="*/ 37 w 37"/>
                  <a:gd name="T7" fmla="*/ 24 h 37"/>
                  <a:gd name="T8" fmla="*/ 23 w 37"/>
                  <a:gd name="T9" fmla="*/ 12 h 37"/>
                </a:gdLst>
                <a:ahLst/>
                <a:cxnLst>
                  <a:cxn ang="0">
                    <a:pos x="T0" y="T1"/>
                  </a:cxn>
                  <a:cxn ang="0">
                    <a:pos x="T2" y="T3"/>
                  </a:cxn>
                  <a:cxn ang="0">
                    <a:pos x="T4" y="T5"/>
                  </a:cxn>
                  <a:cxn ang="0">
                    <a:pos x="T6" y="T7"/>
                  </a:cxn>
                  <a:cxn ang="0">
                    <a:pos x="T8" y="T9"/>
                  </a:cxn>
                </a:cxnLst>
                <a:rect l="0" t="0" r="r" b="b"/>
                <a:pathLst>
                  <a:path w="37" h="37">
                    <a:moveTo>
                      <a:pt x="23" y="12"/>
                    </a:moveTo>
                    <a:cubicBezTo>
                      <a:pt x="19" y="8"/>
                      <a:pt x="14" y="5"/>
                      <a:pt x="10" y="0"/>
                    </a:cubicBezTo>
                    <a:cubicBezTo>
                      <a:pt x="0" y="37"/>
                      <a:pt x="0" y="37"/>
                      <a:pt x="0" y="37"/>
                    </a:cubicBezTo>
                    <a:cubicBezTo>
                      <a:pt x="37" y="24"/>
                      <a:pt x="37" y="24"/>
                      <a:pt x="37" y="24"/>
                    </a:cubicBezTo>
                    <a:cubicBezTo>
                      <a:pt x="33" y="21"/>
                      <a:pt x="28" y="17"/>
                      <a:pt x="23" y="12"/>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7" name="Freeform 71">
                <a:extLst>
                  <a:ext uri="{FF2B5EF4-FFF2-40B4-BE49-F238E27FC236}">
                    <a16:creationId xmlns:a16="http://schemas.microsoft.com/office/drawing/2014/main" id="{77F3D278-9443-46A0-8CC6-9EC67493F4D6}"/>
                  </a:ext>
                </a:extLst>
              </p:cNvPr>
              <p:cNvSpPr>
                <a:spLocks/>
              </p:cNvSpPr>
              <p:nvPr/>
            </p:nvSpPr>
            <p:spPr bwMode="auto">
              <a:xfrm>
                <a:off x="8221663" y="10298113"/>
                <a:ext cx="115888" cy="123825"/>
              </a:xfrm>
              <a:custGeom>
                <a:avLst/>
                <a:gdLst>
                  <a:gd name="T0" fmla="*/ 20 w 36"/>
                  <a:gd name="T1" fmla="*/ 11 h 38"/>
                  <a:gd name="T2" fmla="*/ 7 w 36"/>
                  <a:gd name="T3" fmla="*/ 0 h 38"/>
                  <a:gd name="T4" fmla="*/ 0 w 36"/>
                  <a:gd name="T5" fmla="*/ 38 h 38"/>
                  <a:gd name="T6" fmla="*/ 36 w 36"/>
                  <a:gd name="T7" fmla="*/ 22 h 38"/>
                  <a:gd name="T8" fmla="*/ 20 w 36"/>
                  <a:gd name="T9" fmla="*/ 11 h 38"/>
                </a:gdLst>
                <a:ahLst/>
                <a:cxnLst>
                  <a:cxn ang="0">
                    <a:pos x="T0" y="T1"/>
                  </a:cxn>
                  <a:cxn ang="0">
                    <a:pos x="T2" y="T3"/>
                  </a:cxn>
                  <a:cxn ang="0">
                    <a:pos x="T4" y="T5"/>
                  </a:cxn>
                  <a:cxn ang="0">
                    <a:pos x="T6" y="T7"/>
                  </a:cxn>
                  <a:cxn ang="0">
                    <a:pos x="T8" y="T9"/>
                  </a:cxn>
                </a:cxnLst>
                <a:rect l="0" t="0" r="r" b="b"/>
                <a:pathLst>
                  <a:path w="36" h="38">
                    <a:moveTo>
                      <a:pt x="20" y="11"/>
                    </a:moveTo>
                    <a:cubicBezTo>
                      <a:pt x="15" y="8"/>
                      <a:pt x="11" y="3"/>
                      <a:pt x="7" y="0"/>
                    </a:cubicBezTo>
                    <a:cubicBezTo>
                      <a:pt x="0" y="38"/>
                      <a:pt x="0" y="38"/>
                      <a:pt x="0" y="38"/>
                    </a:cubicBezTo>
                    <a:cubicBezTo>
                      <a:pt x="36" y="22"/>
                      <a:pt x="36" y="22"/>
                      <a:pt x="36" y="22"/>
                    </a:cubicBezTo>
                    <a:cubicBezTo>
                      <a:pt x="30" y="19"/>
                      <a:pt x="25" y="14"/>
                      <a:pt x="20" y="11"/>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8" name="Freeform 72">
                <a:extLst>
                  <a:ext uri="{FF2B5EF4-FFF2-40B4-BE49-F238E27FC236}">
                    <a16:creationId xmlns:a16="http://schemas.microsoft.com/office/drawing/2014/main" id="{44D7352A-926B-48C7-8B15-1863A8A0B558}"/>
                  </a:ext>
                </a:extLst>
              </p:cNvPr>
              <p:cNvSpPr>
                <a:spLocks/>
              </p:cNvSpPr>
              <p:nvPr/>
            </p:nvSpPr>
            <p:spPr bwMode="auto">
              <a:xfrm>
                <a:off x="8023225" y="10125076"/>
                <a:ext cx="122238" cy="117475"/>
              </a:xfrm>
              <a:custGeom>
                <a:avLst/>
                <a:gdLst>
                  <a:gd name="T0" fmla="*/ 25 w 38"/>
                  <a:gd name="T1" fmla="*/ 13 h 36"/>
                  <a:gd name="T2" fmla="*/ 13 w 38"/>
                  <a:gd name="T3" fmla="*/ 0 h 36"/>
                  <a:gd name="T4" fmla="*/ 0 w 38"/>
                  <a:gd name="T5" fmla="*/ 36 h 36"/>
                  <a:gd name="T6" fmla="*/ 38 w 38"/>
                  <a:gd name="T7" fmla="*/ 27 h 36"/>
                  <a:gd name="T8" fmla="*/ 25 w 38"/>
                  <a:gd name="T9" fmla="*/ 13 h 36"/>
                </a:gdLst>
                <a:ahLst/>
                <a:cxnLst>
                  <a:cxn ang="0">
                    <a:pos x="T0" y="T1"/>
                  </a:cxn>
                  <a:cxn ang="0">
                    <a:pos x="T2" y="T3"/>
                  </a:cxn>
                  <a:cxn ang="0">
                    <a:pos x="T4" y="T5"/>
                  </a:cxn>
                  <a:cxn ang="0">
                    <a:pos x="T6" y="T7"/>
                  </a:cxn>
                  <a:cxn ang="0">
                    <a:pos x="T8" y="T9"/>
                  </a:cxn>
                </a:cxnLst>
                <a:rect l="0" t="0" r="r" b="b"/>
                <a:pathLst>
                  <a:path w="38" h="36">
                    <a:moveTo>
                      <a:pt x="25" y="13"/>
                    </a:moveTo>
                    <a:cubicBezTo>
                      <a:pt x="21" y="9"/>
                      <a:pt x="17" y="4"/>
                      <a:pt x="13" y="0"/>
                    </a:cubicBezTo>
                    <a:cubicBezTo>
                      <a:pt x="0" y="36"/>
                      <a:pt x="0" y="36"/>
                      <a:pt x="0" y="36"/>
                    </a:cubicBezTo>
                    <a:cubicBezTo>
                      <a:pt x="38" y="27"/>
                      <a:pt x="38" y="27"/>
                      <a:pt x="38" y="27"/>
                    </a:cubicBezTo>
                    <a:cubicBezTo>
                      <a:pt x="34" y="23"/>
                      <a:pt x="29" y="17"/>
                      <a:pt x="25" y="1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19" name="Freeform 73">
                <a:extLst>
                  <a:ext uri="{FF2B5EF4-FFF2-40B4-BE49-F238E27FC236}">
                    <a16:creationId xmlns:a16="http://schemas.microsoft.com/office/drawing/2014/main" id="{03913DAB-BD54-4AA3-AF43-0CB1474686FE}"/>
                  </a:ext>
                </a:extLst>
              </p:cNvPr>
              <p:cNvSpPr>
                <a:spLocks/>
              </p:cNvSpPr>
              <p:nvPr/>
            </p:nvSpPr>
            <p:spPr bwMode="auto">
              <a:xfrm>
                <a:off x="7718425" y="9564688"/>
                <a:ext cx="119063" cy="117475"/>
              </a:xfrm>
              <a:custGeom>
                <a:avLst/>
                <a:gdLst>
                  <a:gd name="T0" fmla="*/ 33 w 37"/>
                  <a:gd name="T1" fmla="*/ 16 h 36"/>
                  <a:gd name="T2" fmla="*/ 30 w 37"/>
                  <a:gd name="T3" fmla="*/ 0 h 36"/>
                  <a:gd name="T4" fmla="*/ 0 w 37"/>
                  <a:gd name="T5" fmla="*/ 24 h 36"/>
                  <a:gd name="T6" fmla="*/ 37 w 37"/>
                  <a:gd name="T7" fmla="*/ 36 h 36"/>
                  <a:gd name="T8" fmla="*/ 33 w 37"/>
                  <a:gd name="T9" fmla="*/ 16 h 36"/>
                </a:gdLst>
                <a:ahLst/>
                <a:cxnLst>
                  <a:cxn ang="0">
                    <a:pos x="T0" y="T1"/>
                  </a:cxn>
                  <a:cxn ang="0">
                    <a:pos x="T2" y="T3"/>
                  </a:cxn>
                  <a:cxn ang="0">
                    <a:pos x="T4" y="T5"/>
                  </a:cxn>
                  <a:cxn ang="0">
                    <a:pos x="T6" y="T7"/>
                  </a:cxn>
                  <a:cxn ang="0">
                    <a:pos x="T8" y="T9"/>
                  </a:cxn>
                </a:cxnLst>
                <a:rect l="0" t="0" r="r" b="b"/>
                <a:pathLst>
                  <a:path w="37" h="36">
                    <a:moveTo>
                      <a:pt x="33" y="16"/>
                    </a:moveTo>
                    <a:cubicBezTo>
                      <a:pt x="32" y="11"/>
                      <a:pt x="31" y="6"/>
                      <a:pt x="30" y="0"/>
                    </a:cubicBezTo>
                    <a:cubicBezTo>
                      <a:pt x="0" y="24"/>
                      <a:pt x="0" y="24"/>
                      <a:pt x="0" y="24"/>
                    </a:cubicBezTo>
                    <a:cubicBezTo>
                      <a:pt x="37" y="36"/>
                      <a:pt x="37" y="36"/>
                      <a:pt x="37" y="36"/>
                    </a:cubicBezTo>
                    <a:cubicBezTo>
                      <a:pt x="36" y="30"/>
                      <a:pt x="34" y="23"/>
                      <a:pt x="33"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0" name="Freeform 74">
                <a:extLst>
                  <a:ext uri="{FF2B5EF4-FFF2-40B4-BE49-F238E27FC236}">
                    <a16:creationId xmlns:a16="http://schemas.microsoft.com/office/drawing/2014/main" id="{90DB3270-44B1-4043-9307-109BA05A9C95}"/>
                  </a:ext>
                </a:extLst>
              </p:cNvPr>
              <p:cNvSpPr>
                <a:spLocks/>
              </p:cNvSpPr>
              <p:nvPr/>
            </p:nvSpPr>
            <p:spPr bwMode="auto">
              <a:xfrm>
                <a:off x="8020050" y="8505826"/>
                <a:ext cx="122238" cy="120650"/>
              </a:xfrm>
              <a:custGeom>
                <a:avLst/>
                <a:gdLst>
                  <a:gd name="T0" fmla="*/ 26 w 38"/>
                  <a:gd name="T1" fmla="*/ 23 h 37"/>
                  <a:gd name="T2" fmla="*/ 38 w 38"/>
                  <a:gd name="T3" fmla="*/ 10 h 37"/>
                  <a:gd name="T4" fmla="*/ 0 w 38"/>
                  <a:gd name="T5" fmla="*/ 0 h 37"/>
                  <a:gd name="T6" fmla="*/ 13 w 38"/>
                  <a:gd name="T7" fmla="*/ 37 h 37"/>
                  <a:gd name="T8" fmla="*/ 26 w 38"/>
                  <a:gd name="T9" fmla="*/ 23 h 37"/>
                </a:gdLst>
                <a:ahLst/>
                <a:cxnLst>
                  <a:cxn ang="0">
                    <a:pos x="T0" y="T1"/>
                  </a:cxn>
                  <a:cxn ang="0">
                    <a:pos x="T2" y="T3"/>
                  </a:cxn>
                  <a:cxn ang="0">
                    <a:pos x="T4" y="T5"/>
                  </a:cxn>
                  <a:cxn ang="0">
                    <a:pos x="T6" y="T7"/>
                  </a:cxn>
                  <a:cxn ang="0">
                    <a:pos x="T8" y="T9"/>
                  </a:cxn>
                </a:cxnLst>
                <a:rect l="0" t="0" r="r" b="b"/>
                <a:pathLst>
                  <a:path w="38" h="37">
                    <a:moveTo>
                      <a:pt x="26" y="23"/>
                    </a:moveTo>
                    <a:cubicBezTo>
                      <a:pt x="29" y="19"/>
                      <a:pt x="34" y="14"/>
                      <a:pt x="38" y="10"/>
                    </a:cubicBezTo>
                    <a:cubicBezTo>
                      <a:pt x="0" y="0"/>
                      <a:pt x="0" y="0"/>
                      <a:pt x="0" y="0"/>
                    </a:cubicBezTo>
                    <a:cubicBezTo>
                      <a:pt x="13" y="37"/>
                      <a:pt x="13" y="37"/>
                      <a:pt x="13" y="37"/>
                    </a:cubicBezTo>
                    <a:cubicBezTo>
                      <a:pt x="17" y="33"/>
                      <a:pt x="22" y="27"/>
                      <a:pt x="26" y="2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1" name="Freeform 75">
                <a:extLst>
                  <a:ext uri="{FF2B5EF4-FFF2-40B4-BE49-F238E27FC236}">
                    <a16:creationId xmlns:a16="http://schemas.microsoft.com/office/drawing/2014/main" id="{36372383-29C4-4B14-8913-14B434C1169B}"/>
                  </a:ext>
                </a:extLst>
              </p:cNvPr>
              <p:cNvSpPr>
                <a:spLocks/>
              </p:cNvSpPr>
              <p:nvPr/>
            </p:nvSpPr>
            <p:spPr bwMode="auto">
              <a:xfrm>
                <a:off x="7862888" y="8726488"/>
                <a:ext cx="122238" cy="107950"/>
              </a:xfrm>
              <a:custGeom>
                <a:avLst/>
                <a:gdLst>
                  <a:gd name="T0" fmla="*/ 29 w 38"/>
                  <a:gd name="T1" fmla="*/ 16 h 33"/>
                  <a:gd name="T2" fmla="*/ 38 w 38"/>
                  <a:gd name="T3" fmla="*/ 2 h 33"/>
                  <a:gd name="T4" fmla="*/ 0 w 38"/>
                  <a:gd name="T5" fmla="*/ 0 h 33"/>
                  <a:gd name="T6" fmla="*/ 21 w 38"/>
                  <a:gd name="T7" fmla="*/ 33 h 33"/>
                  <a:gd name="T8" fmla="*/ 29 w 38"/>
                  <a:gd name="T9" fmla="*/ 16 h 33"/>
                </a:gdLst>
                <a:ahLst/>
                <a:cxnLst>
                  <a:cxn ang="0">
                    <a:pos x="T0" y="T1"/>
                  </a:cxn>
                  <a:cxn ang="0">
                    <a:pos x="T2" y="T3"/>
                  </a:cxn>
                  <a:cxn ang="0">
                    <a:pos x="T4" y="T5"/>
                  </a:cxn>
                  <a:cxn ang="0">
                    <a:pos x="T6" y="T7"/>
                  </a:cxn>
                  <a:cxn ang="0">
                    <a:pos x="T8" y="T9"/>
                  </a:cxn>
                </a:cxnLst>
                <a:rect l="0" t="0" r="r" b="b"/>
                <a:pathLst>
                  <a:path w="38" h="33">
                    <a:moveTo>
                      <a:pt x="29" y="16"/>
                    </a:moveTo>
                    <a:cubicBezTo>
                      <a:pt x="33" y="11"/>
                      <a:pt x="36" y="6"/>
                      <a:pt x="38" y="2"/>
                    </a:cubicBezTo>
                    <a:cubicBezTo>
                      <a:pt x="0" y="0"/>
                      <a:pt x="0" y="0"/>
                      <a:pt x="0" y="0"/>
                    </a:cubicBezTo>
                    <a:cubicBezTo>
                      <a:pt x="21" y="33"/>
                      <a:pt x="21" y="33"/>
                      <a:pt x="21" y="33"/>
                    </a:cubicBezTo>
                    <a:cubicBezTo>
                      <a:pt x="23" y="28"/>
                      <a:pt x="26" y="21"/>
                      <a:pt x="29"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2" name="Freeform 76">
                <a:extLst>
                  <a:ext uri="{FF2B5EF4-FFF2-40B4-BE49-F238E27FC236}">
                    <a16:creationId xmlns:a16="http://schemas.microsoft.com/office/drawing/2014/main" id="{830D6245-A31C-4ECC-A86D-437FEB5F10EC}"/>
                  </a:ext>
                </a:extLst>
              </p:cNvPr>
              <p:cNvSpPr>
                <a:spLocks/>
              </p:cNvSpPr>
              <p:nvPr/>
            </p:nvSpPr>
            <p:spPr bwMode="auto">
              <a:xfrm>
                <a:off x="7805738" y="8837613"/>
                <a:ext cx="120650" cy="111125"/>
              </a:xfrm>
              <a:custGeom>
                <a:avLst/>
                <a:gdLst>
                  <a:gd name="T0" fmla="*/ 30 w 38"/>
                  <a:gd name="T1" fmla="*/ 17 h 34"/>
                  <a:gd name="T2" fmla="*/ 38 w 38"/>
                  <a:gd name="T3" fmla="*/ 0 h 34"/>
                  <a:gd name="T4" fmla="*/ 0 w 38"/>
                  <a:gd name="T5" fmla="*/ 2 h 34"/>
                  <a:gd name="T6" fmla="*/ 22 w 38"/>
                  <a:gd name="T7" fmla="*/ 34 h 34"/>
                  <a:gd name="T8" fmla="*/ 30 w 38"/>
                  <a:gd name="T9" fmla="*/ 17 h 34"/>
                </a:gdLst>
                <a:ahLst/>
                <a:cxnLst>
                  <a:cxn ang="0">
                    <a:pos x="T0" y="T1"/>
                  </a:cxn>
                  <a:cxn ang="0">
                    <a:pos x="T2" y="T3"/>
                  </a:cxn>
                  <a:cxn ang="0">
                    <a:pos x="T4" y="T5"/>
                  </a:cxn>
                  <a:cxn ang="0">
                    <a:pos x="T6" y="T7"/>
                  </a:cxn>
                  <a:cxn ang="0">
                    <a:pos x="T8" y="T9"/>
                  </a:cxn>
                </a:cxnLst>
                <a:rect l="0" t="0" r="r" b="b"/>
                <a:pathLst>
                  <a:path w="38" h="34">
                    <a:moveTo>
                      <a:pt x="30" y="17"/>
                    </a:moveTo>
                    <a:cubicBezTo>
                      <a:pt x="32" y="11"/>
                      <a:pt x="35" y="6"/>
                      <a:pt x="38" y="0"/>
                    </a:cubicBezTo>
                    <a:cubicBezTo>
                      <a:pt x="0" y="2"/>
                      <a:pt x="0" y="2"/>
                      <a:pt x="0" y="2"/>
                    </a:cubicBezTo>
                    <a:cubicBezTo>
                      <a:pt x="22" y="34"/>
                      <a:pt x="22" y="34"/>
                      <a:pt x="22" y="34"/>
                    </a:cubicBezTo>
                    <a:cubicBezTo>
                      <a:pt x="25" y="28"/>
                      <a:pt x="28" y="22"/>
                      <a:pt x="30"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3" name="Freeform 77">
                <a:extLst>
                  <a:ext uri="{FF2B5EF4-FFF2-40B4-BE49-F238E27FC236}">
                    <a16:creationId xmlns:a16="http://schemas.microsoft.com/office/drawing/2014/main" id="{372950DB-1E04-4F86-AB4D-0B0E4B868810}"/>
                  </a:ext>
                </a:extLst>
              </p:cNvPr>
              <p:cNvSpPr>
                <a:spLocks/>
              </p:cNvSpPr>
              <p:nvPr/>
            </p:nvSpPr>
            <p:spPr bwMode="auto">
              <a:xfrm>
                <a:off x="7935913" y="10028238"/>
                <a:ext cx="125413" cy="106363"/>
              </a:xfrm>
              <a:custGeom>
                <a:avLst/>
                <a:gdLst>
                  <a:gd name="T0" fmla="*/ 27 w 39"/>
                  <a:gd name="T1" fmla="*/ 14 h 33"/>
                  <a:gd name="T2" fmla="*/ 17 w 39"/>
                  <a:gd name="T3" fmla="*/ 0 h 33"/>
                  <a:gd name="T4" fmla="*/ 0 w 39"/>
                  <a:gd name="T5" fmla="*/ 33 h 33"/>
                  <a:gd name="T6" fmla="*/ 39 w 39"/>
                  <a:gd name="T7" fmla="*/ 29 h 33"/>
                  <a:gd name="T8" fmla="*/ 27 w 39"/>
                  <a:gd name="T9" fmla="*/ 14 h 33"/>
                </a:gdLst>
                <a:ahLst/>
                <a:cxnLst>
                  <a:cxn ang="0">
                    <a:pos x="T0" y="T1"/>
                  </a:cxn>
                  <a:cxn ang="0">
                    <a:pos x="T2" y="T3"/>
                  </a:cxn>
                  <a:cxn ang="0">
                    <a:pos x="T4" y="T5"/>
                  </a:cxn>
                  <a:cxn ang="0">
                    <a:pos x="T6" y="T7"/>
                  </a:cxn>
                  <a:cxn ang="0">
                    <a:pos x="T8" y="T9"/>
                  </a:cxn>
                </a:cxnLst>
                <a:rect l="0" t="0" r="r" b="b"/>
                <a:pathLst>
                  <a:path w="39" h="33">
                    <a:moveTo>
                      <a:pt x="27" y="14"/>
                    </a:moveTo>
                    <a:cubicBezTo>
                      <a:pt x="24" y="8"/>
                      <a:pt x="21" y="4"/>
                      <a:pt x="17" y="0"/>
                    </a:cubicBezTo>
                    <a:cubicBezTo>
                      <a:pt x="0" y="33"/>
                      <a:pt x="0" y="33"/>
                      <a:pt x="0" y="33"/>
                    </a:cubicBezTo>
                    <a:cubicBezTo>
                      <a:pt x="39" y="29"/>
                      <a:pt x="39" y="29"/>
                      <a:pt x="39" y="29"/>
                    </a:cubicBezTo>
                    <a:cubicBezTo>
                      <a:pt x="36" y="23"/>
                      <a:pt x="31" y="18"/>
                      <a:pt x="27" y="1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4" name="Freeform 78">
                <a:extLst>
                  <a:ext uri="{FF2B5EF4-FFF2-40B4-BE49-F238E27FC236}">
                    <a16:creationId xmlns:a16="http://schemas.microsoft.com/office/drawing/2014/main" id="{8C8217DF-ADF5-40BC-B93B-8B52FAFA5942}"/>
                  </a:ext>
                </a:extLst>
              </p:cNvPr>
              <p:cNvSpPr>
                <a:spLocks/>
              </p:cNvSpPr>
              <p:nvPr/>
            </p:nvSpPr>
            <p:spPr bwMode="auto">
              <a:xfrm>
                <a:off x="7753350" y="8951913"/>
                <a:ext cx="122238" cy="114300"/>
              </a:xfrm>
              <a:custGeom>
                <a:avLst/>
                <a:gdLst>
                  <a:gd name="T0" fmla="*/ 32 w 38"/>
                  <a:gd name="T1" fmla="*/ 16 h 35"/>
                  <a:gd name="T2" fmla="*/ 38 w 38"/>
                  <a:gd name="T3" fmla="*/ 0 h 35"/>
                  <a:gd name="T4" fmla="*/ 0 w 38"/>
                  <a:gd name="T5" fmla="*/ 7 h 35"/>
                  <a:gd name="T6" fmla="*/ 26 w 38"/>
                  <a:gd name="T7" fmla="*/ 35 h 35"/>
                  <a:gd name="T8" fmla="*/ 32 w 38"/>
                  <a:gd name="T9" fmla="*/ 16 h 35"/>
                </a:gdLst>
                <a:ahLst/>
                <a:cxnLst>
                  <a:cxn ang="0">
                    <a:pos x="T0" y="T1"/>
                  </a:cxn>
                  <a:cxn ang="0">
                    <a:pos x="T2" y="T3"/>
                  </a:cxn>
                  <a:cxn ang="0">
                    <a:pos x="T4" y="T5"/>
                  </a:cxn>
                  <a:cxn ang="0">
                    <a:pos x="T6" y="T7"/>
                  </a:cxn>
                  <a:cxn ang="0">
                    <a:pos x="T8" y="T9"/>
                  </a:cxn>
                </a:cxnLst>
                <a:rect l="0" t="0" r="r" b="b"/>
                <a:pathLst>
                  <a:path w="38" h="35">
                    <a:moveTo>
                      <a:pt x="32" y="16"/>
                    </a:moveTo>
                    <a:cubicBezTo>
                      <a:pt x="34" y="11"/>
                      <a:pt x="36" y="6"/>
                      <a:pt x="38" y="0"/>
                    </a:cubicBezTo>
                    <a:cubicBezTo>
                      <a:pt x="0" y="7"/>
                      <a:pt x="0" y="7"/>
                      <a:pt x="0" y="7"/>
                    </a:cubicBezTo>
                    <a:cubicBezTo>
                      <a:pt x="26" y="35"/>
                      <a:pt x="26" y="35"/>
                      <a:pt x="26" y="35"/>
                    </a:cubicBezTo>
                    <a:cubicBezTo>
                      <a:pt x="29" y="29"/>
                      <a:pt x="31" y="23"/>
                      <a:pt x="32"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5" name="Freeform 79">
                <a:extLst>
                  <a:ext uri="{FF2B5EF4-FFF2-40B4-BE49-F238E27FC236}">
                    <a16:creationId xmlns:a16="http://schemas.microsoft.com/office/drawing/2014/main" id="{71746D06-92AD-46C0-ADB9-BAA477E53CA2}"/>
                  </a:ext>
                </a:extLst>
              </p:cNvPr>
              <p:cNvSpPr>
                <a:spLocks/>
              </p:cNvSpPr>
              <p:nvPr/>
            </p:nvSpPr>
            <p:spPr bwMode="auto">
              <a:xfrm>
                <a:off x="7699375" y="9193213"/>
                <a:ext cx="115888" cy="117475"/>
              </a:xfrm>
              <a:custGeom>
                <a:avLst/>
                <a:gdLst>
                  <a:gd name="T0" fmla="*/ 34 w 36"/>
                  <a:gd name="T1" fmla="*/ 17 h 36"/>
                  <a:gd name="T2" fmla="*/ 36 w 36"/>
                  <a:gd name="T3" fmla="*/ 0 h 36"/>
                  <a:gd name="T4" fmla="*/ 0 w 36"/>
                  <a:gd name="T5" fmla="*/ 14 h 36"/>
                  <a:gd name="T6" fmla="*/ 31 w 36"/>
                  <a:gd name="T7" fmla="*/ 36 h 36"/>
                  <a:gd name="T8" fmla="*/ 34 w 36"/>
                  <a:gd name="T9" fmla="*/ 17 h 36"/>
                </a:gdLst>
                <a:ahLst/>
                <a:cxnLst>
                  <a:cxn ang="0">
                    <a:pos x="T0" y="T1"/>
                  </a:cxn>
                  <a:cxn ang="0">
                    <a:pos x="T2" y="T3"/>
                  </a:cxn>
                  <a:cxn ang="0">
                    <a:pos x="T4" y="T5"/>
                  </a:cxn>
                  <a:cxn ang="0">
                    <a:pos x="T6" y="T7"/>
                  </a:cxn>
                  <a:cxn ang="0">
                    <a:pos x="T8" y="T9"/>
                  </a:cxn>
                </a:cxnLst>
                <a:rect l="0" t="0" r="r" b="b"/>
                <a:pathLst>
                  <a:path w="36" h="36">
                    <a:moveTo>
                      <a:pt x="34" y="17"/>
                    </a:moveTo>
                    <a:cubicBezTo>
                      <a:pt x="34" y="11"/>
                      <a:pt x="35" y="5"/>
                      <a:pt x="36" y="0"/>
                    </a:cubicBezTo>
                    <a:cubicBezTo>
                      <a:pt x="0" y="14"/>
                      <a:pt x="0" y="14"/>
                      <a:pt x="0" y="14"/>
                    </a:cubicBezTo>
                    <a:cubicBezTo>
                      <a:pt x="31" y="36"/>
                      <a:pt x="31" y="36"/>
                      <a:pt x="31" y="36"/>
                    </a:cubicBezTo>
                    <a:cubicBezTo>
                      <a:pt x="33" y="30"/>
                      <a:pt x="33" y="24"/>
                      <a:pt x="34"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226" name="Freeform 80">
                <a:extLst>
                  <a:ext uri="{FF2B5EF4-FFF2-40B4-BE49-F238E27FC236}">
                    <a16:creationId xmlns:a16="http://schemas.microsoft.com/office/drawing/2014/main" id="{D2AF1FDB-3081-43F7-B27D-9C04927860A8}"/>
                  </a:ext>
                </a:extLst>
              </p:cNvPr>
              <p:cNvSpPr>
                <a:spLocks/>
              </p:cNvSpPr>
              <p:nvPr/>
            </p:nvSpPr>
            <p:spPr bwMode="auto">
              <a:xfrm>
                <a:off x="7718425" y="9072563"/>
                <a:ext cx="119063" cy="117475"/>
              </a:xfrm>
              <a:custGeom>
                <a:avLst/>
                <a:gdLst>
                  <a:gd name="T0" fmla="*/ 33 w 37"/>
                  <a:gd name="T1" fmla="*/ 16 h 36"/>
                  <a:gd name="T2" fmla="*/ 37 w 37"/>
                  <a:gd name="T3" fmla="*/ 0 h 36"/>
                  <a:gd name="T4" fmla="*/ 0 w 37"/>
                  <a:gd name="T5" fmla="*/ 10 h 36"/>
                  <a:gd name="T6" fmla="*/ 30 w 37"/>
                  <a:gd name="T7" fmla="*/ 36 h 36"/>
                  <a:gd name="T8" fmla="*/ 33 w 37"/>
                  <a:gd name="T9" fmla="*/ 16 h 36"/>
                </a:gdLst>
                <a:ahLst/>
                <a:cxnLst>
                  <a:cxn ang="0">
                    <a:pos x="T0" y="T1"/>
                  </a:cxn>
                  <a:cxn ang="0">
                    <a:pos x="T2" y="T3"/>
                  </a:cxn>
                  <a:cxn ang="0">
                    <a:pos x="T4" y="T5"/>
                  </a:cxn>
                  <a:cxn ang="0">
                    <a:pos x="T6" y="T7"/>
                  </a:cxn>
                  <a:cxn ang="0">
                    <a:pos x="T8" y="T9"/>
                  </a:cxn>
                </a:cxnLst>
                <a:rect l="0" t="0" r="r" b="b"/>
                <a:pathLst>
                  <a:path w="37" h="36">
                    <a:moveTo>
                      <a:pt x="33" y="16"/>
                    </a:moveTo>
                    <a:cubicBezTo>
                      <a:pt x="34" y="11"/>
                      <a:pt x="36" y="6"/>
                      <a:pt x="37" y="0"/>
                    </a:cubicBezTo>
                    <a:cubicBezTo>
                      <a:pt x="0" y="10"/>
                      <a:pt x="0" y="10"/>
                      <a:pt x="0" y="10"/>
                    </a:cubicBezTo>
                    <a:cubicBezTo>
                      <a:pt x="30" y="36"/>
                      <a:pt x="30" y="36"/>
                      <a:pt x="30" y="36"/>
                    </a:cubicBezTo>
                    <a:cubicBezTo>
                      <a:pt x="31" y="29"/>
                      <a:pt x="32" y="23"/>
                      <a:pt x="33"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grpSp>
        <p:grpSp>
          <p:nvGrpSpPr>
            <p:cNvPr id="140" name="Group 139">
              <a:extLst>
                <a:ext uri="{FF2B5EF4-FFF2-40B4-BE49-F238E27FC236}">
                  <a16:creationId xmlns:a16="http://schemas.microsoft.com/office/drawing/2014/main" id="{27E38AB2-4667-4660-8ADD-9FF5C63A160F}"/>
                </a:ext>
              </a:extLst>
            </p:cNvPr>
            <p:cNvGrpSpPr/>
            <p:nvPr/>
          </p:nvGrpSpPr>
          <p:grpSpPr>
            <a:xfrm>
              <a:off x="10197128" y="14781024"/>
              <a:ext cx="4100716" cy="1026626"/>
              <a:chOff x="7289800" y="11063288"/>
              <a:chExt cx="3373438" cy="844550"/>
            </a:xfrm>
          </p:grpSpPr>
          <p:sp>
            <p:nvSpPr>
              <p:cNvPr id="141" name="Rectangle 81">
                <a:extLst>
                  <a:ext uri="{FF2B5EF4-FFF2-40B4-BE49-F238E27FC236}">
                    <a16:creationId xmlns:a16="http://schemas.microsoft.com/office/drawing/2014/main" id="{2353A28E-ADDE-41DB-BD2C-A4EA370D3B83}"/>
                  </a:ext>
                </a:extLst>
              </p:cNvPr>
              <p:cNvSpPr>
                <a:spLocks noChangeArrowheads="1"/>
              </p:cNvSpPr>
              <p:nvPr userDrawn="1"/>
            </p:nvSpPr>
            <p:spPr bwMode="auto">
              <a:xfrm>
                <a:off x="7289800" y="11063288"/>
                <a:ext cx="3373438" cy="8445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ZA" sz="900" dirty="0"/>
              </a:p>
            </p:txBody>
          </p:sp>
          <p:sp>
            <p:nvSpPr>
              <p:cNvPr id="142" name="Freeform 82">
                <a:extLst>
                  <a:ext uri="{FF2B5EF4-FFF2-40B4-BE49-F238E27FC236}">
                    <a16:creationId xmlns:a16="http://schemas.microsoft.com/office/drawing/2014/main" id="{66F726C8-DC4A-426B-A61C-939128D7FDB7}"/>
                  </a:ext>
                </a:extLst>
              </p:cNvPr>
              <p:cNvSpPr>
                <a:spLocks/>
              </p:cNvSpPr>
              <p:nvPr/>
            </p:nvSpPr>
            <p:spPr bwMode="auto">
              <a:xfrm>
                <a:off x="7334250" y="11699876"/>
                <a:ext cx="3286125" cy="165100"/>
              </a:xfrm>
              <a:custGeom>
                <a:avLst/>
                <a:gdLst>
                  <a:gd name="T0" fmla="*/ 2070 w 2070"/>
                  <a:gd name="T1" fmla="*/ 0 h 104"/>
                  <a:gd name="T2" fmla="*/ 1035 w 2070"/>
                  <a:gd name="T3" fmla="*/ 0 h 104"/>
                  <a:gd name="T4" fmla="*/ 1035 w 2070"/>
                  <a:gd name="T5" fmla="*/ 33 h 104"/>
                  <a:gd name="T6" fmla="*/ 0 w 2070"/>
                  <a:gd name="T7" fmla="*/ 33 h 104"/>
                  <a:gd name="T8" fmla="*/ 0 w 2070"/>
                  <a:gd name="T9" fmla="*/ 104 h 104"/>
                  <a:gd name="T10" fmla="*/ 1065 w 2070"/>
                  <a:gd name="T11" fmla="*/ 104 h 104"/>
                  <a:gd name="T12" fmla="*/ 1065 w 2070"/>
                  <a:gd name="T13" fmla="*/ 104 h 104"/>
                  <a:gd name="T14" fmla="*/ 2070 w 2070"/>
                  <a:gd name="T15" fmla="*/ 104 h 104"/>
                  <a:gd name="T16" fmla="*/ 2070 w 2070"/>
                  <a:gd name="T17"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70" h="104">
                    <a:moveTo>
                      <a:pt x="2070" y="0"/>
                    </a:moveTo>
                    <a:lnTo>
                      <a:pt x="1035" y="0"/>
                    </a:lnTo>
                    <a:lnTo>
                      <a:pt x="1035" y="33"/>
                    </a:lnTo>
                    <a:lnTo>
                      <a:pt x="0" y="33"/>
                    </a:lnTo>
                    <a:lnTo>
                      <a:pt x="0" y="104"/>
                    </a:lnTo>
                    <a:lnTo>
                      <a:pt x="1065" y="104"/>
                    </a:lnTo>
                    <a:lnTo>
                      <a:pt x="1065" y="104"/>
                    </a:lnTo>
                    <a:lnTo>
                      <a:pt x="2070" y="104"/>
                    </a:lnTo>
                    <a:lnTo>
                      <a:pt x="2070" y="0"/>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a:p>
            </p:txBody>
          </p:sp>
          <p:sp>
            <p:nvSpPr>
              <p:cNvPr id="144" name="Freeform 83">
                <a:extLst>
                  <a:ext uri="{FF2B5EF4-FFF2-40B4-BE49-F238E27FC236}">
                    <a16:creationId xmlns:a16="http://schemas.microsoft.com/office/drawing/2014/main" id="{B970EEBC-A2BD-4BCA-A00F-5EE0E82B552A}"/>
                  </a:ext>
                </a:extLst>
              </p:cNvPr>
              <p:cNvSpPr>
                <a:spLocks noEditPoints="1"/>
              </p:cNvSpPr>
              <p:nvPr/>
            </p:nvSpPr>
            <p:spPr bwMode="auto">
              <a:xfrm>
                <a:off x="7440613" y="11106151"/>
                <a:ext cx="3074988" cy="430213"/>
              </a:xfrm>
              <a:custGeom>
                <a:avLst/>
                <a:gdLst>
                  <a:gd name="T0" fmla="*/ 1735 w 1937"/>
                  <a:gd name="T1" fmla="*/ 170 h 271"/>
                  <a:gd name="T2" fmla="*/ 1937 w 1937"/>
                  <a:gd name="T3" fmla="*/ 170 h 271"/>
                  <a:gd name="T4" fmla="*/ 1937 w 1937"/>
                  <a:gd name="T5" fmla="*/ 238 h 271"/>
                  <a:gd name="T6" fmla="*/ 1808 w 1937"/>
                  <a:gd name="T7" fmla="*/ 271 h 271"/>
                  <a:gd name="T8" fmla="*/ 1463 w 1937"/>
                  <a:gd name="T9" fmla="*/ 271 h 271"/>
                  <a:gd name="T10" fmla="*/ 1333 w 1937"/>
                  <a:gd name="T11" fmla="*/ 236 h 271"/>
                  <a:gd name="T12" fmla="*/ 1333 w 1937"/>
                  <a:gd name="T13" fmla="*/ 35 h 271"/>
                  <a:gd name="T14" fmla="*/ 1463 w 1937"/>
                  <a:gd name="T15" fmla="*/ 0 h 271"/>
                  <a:gd name="T16" fmla="*/ 1808 w 1937"/>
                  <a:gd name="T17" fmla="*/ 0 h 271"/>
                  <a:gd name="T18" fmla="*/ 1937 w 1937"/>
                  <a:gd name="T19" fmla="*/ 31 h 271"/>
                  <a:gd name="T20" fmla="*/ 1937 w 1937"/>
                  <a:gd name="T21" fmla="*/ 101 h 271"/>
                  <a:gd name="T22" fmla="*/ 1735 w 1937"/>
                  <a:gd name="T23" fmla="*/ 101 h 271"/>
                  <a:gd name="T24" fmla="*/ 1735 w 1937"/>
                  <a:gd name="T25" fmla="*/ 68 h 271"/>
                  <a:gd name="T26" fmla="*/ 1533 w 1937"/>
                  <a:gd name="T27" fmla="*/ 68 h 271"/>
                  <a:gd name="T28" fmla="*/ 1533 w 1937"/>
                  <a:gd name="T29" fmla="*/ 203 h 271"/>
                  <a:gd name="T30" fmla="*/ 1735 w 1937"/>
                  <a:gd name="T31" fmla="*/ 203 h 271"/>
                  <a:gd name="T32" fmla="*/ 1735 w 1937"/>
                  <a:gd name="T33" fmla="*/ 170 h 271"/>
                  <a:gd name="T34" fmla="*/ 197 w 1937"/>
                  <a:gd name="T35" fmla="*/ 133 h 271"/>
                  <a:gd name="T36" fmla="*/ 401 w 1937"/>
                  <a:gd name="T37" fmla="*/ 133 h 271"/>
                  <a:gd name="T38" fmla="*/ 401 w 1937"/>
                  <a:gd name="T39" fmla="*/ 68 h 271"/>
                  <a:gd name="T40" fmla="*/ 197 w 1937"/>
                  <a:gd name="T41" fmla="*/ 68 h 271"/>
                  <a:gd name="T42" fmla="*/ 197 w 1937"/>
                  <a:gd name="T43" fmla="*/ 133 h 271"/>
                  <a:gd name="T44" fmla="*/ 0 w 1937"/>
                  <a:gd name="T45" fmla="*/ 0 h 271"/>
                  <a:gd name="T46" fmla="*/ 472 w 1937"/>
                  <a:gd name="T47" fmla="*/ 0 h 271"/>
                  <a:gd name="T48" fmla="*/ 601 w 1937"/>
                  <a:gd name="T49" fmla="*/ 35 h 271"/>
                  <a:gd name="T50" fmla="*/ 601 w 1937"/>
                  <a:gd name="T51" fmla="*/ 170 h 271"/>
                  <a:gd name="T52" fmla="*/ 472 w 1937"/>
                  <a:gd name="T53" fmla="*/ 207 h 271"/>
                  <a:gd name="T54" fmla="*/ 197 w 1937"/>
                  <a:gd name="T55" fmla="*/ 207 h 271"/>
                  <a:gd name="T56" fmla="*/ 197 w 1937"/>
                  <a:gd name="T57" fmla="*/ 271 h 271"/>
                  <a:gd name="T58" fmla="*/ 0 w 1937"/>
                  <a:gd name="T59" fmla="*/ 271 h 271"/>
                  <a:gd name="T60" fmla="*/ 0 w 1937"/>
                  <a:gd name="T61" fmla="*/ 0 h 271"/>
                  <a:gd name="T62" fmla="*/ 867 w 1937"/>
                  <a:gd name="T63" fmla="*/ 133 h 271"/>
                  <a:gd name="T64" fmla="*/ 1069 w 1937"/>
                  <a:gd name="T65" fmla="*/ 133 h 271"/>
                  <a:gd name="T66" fmla="*/ 1069 w 1937"/>
                  <a:gd name="T67" fmla="*/ 68 h 271"/>
                  <a:gd name="T68" fmla="*/ 867 w 1937"/>
                  <a:gd name="T69" fmla="*/ 68 h 271"/>
                  <a:gd name="T70" fmla="*/ 867 w 1937"/>
                  <a:gd name="T71" fmla="*/ 133 h 271"/>
                  <a:gd name="T72" fmla="*/ 668 w 1937"/>
                  <a:gd name="T73" fmla="*/ 0 h 271"/>
                  <a:gd name="T74" fmla="*/ 1142 w 1937"/>
                  <a:gd name="T75" fmla="*/ 0 h 271"/>
                  <a:gd name="T76" fmla="*/ 1269 w 1937"/>
                  <a:gd name="T77" fmla="*/ 35 h 271"/>
                  <a:gd name="T78" fmla="*/ 1269 w 1937"/>
                  <a:gd name="T79" fmla="*/ 170 h 271"/>
                  <a:gd name="T80" fmla="*/ 1140 w 1937"/>
                  <a:gd name="T81" fmla="*/ 207 h 271"/>
                  <a:gd name="T82" fmla="*/ 867 w 1937"/>
                  <a:gd name="T83" fmla="*/ 207 h 271"/>
                  <a:gd name="T84" fmla="*/ 867 w 1937"/>
                  <a:gd name="T85" fmla="*/ 271 h 271"/>
                  <a:gd name="T86" fmla="*/ 668 w 1937"/>
                  <a:gd name="T87" fmla="*/ 271 h 271"/>
                  <a:gd name="T88" fmla="*/ 668 w 1937"/>
                  <a:gd name="T89"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37" h="271">
                    <a:moveTo>
                      <a:pt x="1735" y="170"/>
                    </a:moveTo>
                    <a:lnTo>
                      <a:pt x="1937" y="170"/>
                    </a:lnTo>
                    <a:lnTo>
                      <a:pt x="1937" y="238"/>
                    </a:lnTo>
                    <a:lnTo>
                      <a:pt x="1808" y="271"/>
                    </a:lnTo>
                    <a:lnTo>
                      <a:pt x="1463" y="271"/>
                    </a:lnTo>
                    <a:lnTo>
                      <a:pt x="1333" y="236"/>
                    </a:lnTo>
                    <a:lnTo>
                      <a:pt x="1333" y="35"/>
                    </a:lnTo>
                    <a:lnTo>
                      <a:pt x="1463" y="0"/>
                    </a:lnTo>
                    <a:lnTo>
                      <a:pt x="1808" y="0"/>
                    </a:lnTo>
                    <a:lnTo>
                      <a:pt x="1937" y="31"/>
                    </a:lnTo>
                    <a:lnTo>
                      <a:pt x="1937" y="101"/>
                    </a:lnTo>
                    <a:lnTo>
                      <a:pt x="1735" y="101"/>
                    </a:lnTo>
                    <a:lnTo>
                      <a:pt x="1735" y="68"/>
                    </a:lnTo>
                    <a:lnTo>
                      <a:pt x="1533" y="68"/>
                    </a:lnTo>
                    <a:lnTo>
                      <a:pt x="1533" y="203"/>
                    </a:lnTo>
                    <a:lnTo>
                      <a:pt x="1735" y="203"/>
                    </a:lnTo>
                    <a:lnTo>
                      <a:pt x="1735" y="170"/>
                    </a:lnTo>
                    <a:close/>
                    <a:moveTo>
                      <a:pt x="197" y="133"/>
                    </a:moveTo>
                    <a:lnTo>
                      <a:pt x="401" y="133"/>
                    </a:lnTo>
                    <a:lnTo>
                      <a:pt x="401" y="68"/>
                    </a:lnTo>
                    <a:lnTo>
                      <a:pt x="197" y="68"/>
                    </a:lnTo>
                    <a:lnTo>
                      <a:pt x="197" y="133"/>
                    </a:lnTo>
                    <a:close/>
                    <a:moveTo>
                      <a:pt x="0" y="0"/>
                    </a:moveTo>
                    <a:lnTo>
                      <a:pt x="472" y="0"/>
                    </a:lnTo>
                    <a:lnTo>
                      <a:pt x="601" y="35"/>
                    </a:lnTo>
                    <a:lnTo>
                      <a:pt x="601" y="170"/>
                    </a:lnTo>
                    <a:lnTo>
                      <a:pt x="472" y="207"/>
                    </a:lnTo>
                    <a:lnTo>
                      <a:pt x="197" y="207"/>
                    </a:lnTo>
                    <a:lnTo>
                      <a:pt x="197" y="271"/>
                    </a:lnTo>
                    <a:lnTo>
                      <a:pt x="0" y="271"/>
                    </a:lnTo>
                    <a:lnTo>
                      <a:pt x="0" y="0"/>
                    </a:lnTo>
                    <a:close/>
                    <a:moveTo>
                      <a:pt x="867" y="133"/>
                    </a:moveTo>
                    <a:lnTo>
                      <a:pt x="1069" y="133"/>
                    </a:lnTo>
                    <a:lnTo>
                      <a:pt x="1069" y="68"/>
                    </a:lnTo>
                    <a:lnTo>
                      <a:pt x="867" y="68"/>
                    </a:lnTo>
                    <a:lnTo>
                      <a:pt x="867" y="133"/>
                    </a:lnTo>
                    <a:close/>
                    <a:moveTo>
                      <a:pt x="668" y="0"/>
                    </a:moveTo>
                    <a:lnTo>
                      <a:pt x="1142" y="0"/>
                    </a:lnTo>
                    <a:lnTo>
                      <a:pt x="1269" y="35"/>
                    </a:lnTo>
                    <a:lnTo>
                      <a:pt x="1269" y="170"/>
                    </a:lnTo>
                    <a:lnTo>
                      <a:pt x="1140" y="207"/>
                    </a:lnTo>
                    <a:lnTo>
                      <a:pt x="867" y="207"/>
                    </a:lnTo>
                    <a:lnTo>
                      <a:pt x="867" y="271"/>
                    </a:lnTo>
                    <a:lnTo>
                      <a:pt x="668" y="271"/>
                    </a:lnTo>
                    <a:lnTo>
                      <a:pt x="668"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sz="900" dirty="0"/>
              </a:p>
            </p:txBody>
          </p:sp>
        </p:grpSp>
      </p:grpSp>
    </p:spTree>
    <p:extLst>
      <p:ext uri="{BB962C8B-B14F-4D97-AF65-F5344CB8AC3E}">
        <p14:creationId xmlns:p14="http://schemas.microsoft.com/office/powerpoint/2010/main" val="2989827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wipe(left)">
                                      <p:cBhvr>
                                        <p:cTn id="7" dur="500"/>
                                        <p:tgtEl>
                                          <p:spTgt spid="15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37"/>
                                        </p:tgtEl>
                                        <p:attrNameLst>
                                          <p:attrName>style.visibility</p:attrName>
                                        </p:attrNameLst>
                                      </p:cBhvr>
                                      <p:to>
                                        <p:strVal val="visible"/>
                                      </p:to>
                                    </p:set>
                                    <p:animEffect transition="in" filter="wipe(up)">
                                      <p:cBhvr>
                                        <p:cTn id="10" dur="500"/>
                                        <p:tgtEl>
                                          <p:spTgt spid="137"/>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38"/>
                                        </p:tgtEl>
                                        <p:attrNameLst>
                                          <p:attrName>style.visibility</p:attrName>
                                        </p:attrNameLst>
                                      </p:cBhvr>
                                      <p:to>
                                        <p:strVal val="visible"/>
                                      </p:to>
                                    </p:set>
                                    <p:animEffect transition="in" filter="fade">
                                      <p:cBhvr>
                                        <p:cTn id="14"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animBg="1"/>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Company Structure - Large">
    <p:spTree>
      <p:nvGrpSpPr>
        <p:cNvPr id="1" name=""/>
        <p:cNvGrpSpPr/>
        <p:nvPr/>
      </p:nvGrpSpPr>
      <p:grpSpPr>
        <a:xfrm>
          <a:off x="0" y="0"/>
          <a:ext cx="0" cy="0"/>
          <a:chOff x="0" y="0"/>
          <a:chExt cx="0" cy="0"/>
        </a:xfrm>
      </p:grpSpPr>
      <p:sp>
        <p:nvSpPr>
          <p:cNvPr id="3" name="Text Placeholder 141">
            <a:extLst>
              <a:ext uri="{FF2B5EF4-FFF2-40B4-BE49-F238E27FC236}">
                <a16:creationId xmlns:a16="http://schemas.microsoft.com/office/drawing/2014/main" id="{4EF9FDAF-29D9-4589-AA94-9E8761B7EEB3}"/>
              </a:ext>
            </a:extLst>
          </p:cNvPr>
          <p:cNvSpPr>
            <a:spLocks noGrp="1"/>
          </p:cNvSpPr>
          <p:nvPr>
            <p:ph type="body" sz="quarter" idx="40" hasCustomPrompt="1"/>
          </p:nvPr>
        </p:nvSpPr>
        <p:spPr>
          <a:xfrm>
            <a:off x="1939887" y="68048"/>
            <a:ext cx="9409753" cy="233573"/>
          </a:xfrm>
        </p:spPr>
        <p:txBody>
          <a:bodyPr anchor="ctr"/>
          <a:lstStyle>
            <a:lvl1pPr algn="l">
              <a:defRPr sz="900" spc="600" baseline="0">
                <a:solidFill>
                  <a:schemeClr val="tx1">
                    <a:lumMod val="50000"/>
                    <a:lumOff val="50000"/>
                  </a:schemeClr>
                </a:solidFill>
              </a:defRPr>
            </a:lvl1pPr>
            <a:lvl2pPr>
              <a:defRPr sz="800" spc="300">
                <a:solidFill>
                  <a:schemeClr val="accent1"/>
                </a:solidFill>
              </a:defRPr>
            </a:lvl2pPr>
            <a:lvl3pPr>
              <a:defRPr sz="800" spc="300">
                <a:solidFill>
                  <a:schemeClr val="accent1"/>
                </a:solidFill>
              </a:defRPr>
            </a:lvl3pPr>
            <a:lvl4pPr>
              <a:defRPr sz="800" spc="300">
                <a:solidFill>
                  <a:schemeClr val="accent1"/>
                </a:solidFill>
              </a:defRPr>
            </a:lvl4pPr>
            <a:lvl5pPr>
              <a:defRPr sz="800" spc="300">
                <a:solidFill>
                  <a:schemeClr val="accent1"/>
                </a:solidFill>
              </a:defRPr>
            </a:lvl5pPr>
          </a:lstStyle>
          <a:p>
            <a:pPr lvl="0"/>
            <a:r>
              <a:rPr lang="en-US" dirty="0"/>
              <a:t>MAIN PRESENTATION HEADING</a:t>
            </a:r>
            <a:endParaRPr lang="en-ZA" dirty="0"/>
          </a:p>
        </p:txBody>
      </p:sp>
      <p:sp>
        <p:nvSpPr>
          <p:cNvPr id="4" name="Text Placeholder 143">
            <a:extLst>
              <a:ext uri="{FF2B5EF4-FFF2-40B4-BE49-F238E27FC236}">
                <a16:creationId xmlns:a16="http://schemas.microsoft.com/office/drawing/2014/main" id="{34CB3F7D-AC79-4A76-9D96-63D7A5EB9427}"/>
              </a:ext>
            </a:extLst>
          </p:cNvPr>
          <p:cNvSpPr>
            <a:spLocks noGrp="1"/>
          </p:cNvSpPr>
          <p:nvPr>
            <p:ph type="body" sz="quarter" idx="41" hasCustomPrompt="1"/>
          </p:nvPr>
        </p:nvSpPr>
        <p:spPr>
          <a:xfrm>
            <a:off x="1939057" y="328534"/>
            <a:ext cx="9409755" cy="457039"/>
          </a:xfrm>
        </p:spPr>
        <p:txBody>
          <a:bodyPr anchor="ctr"/>
          <a:lstStyle>
            <a:lvl1pPr algn="l">
              <a:defRPr sz="3300" b="1" spc="0">
                <a:solidFill>
                  <a:schemeClr val="tx1"/>
                </a:solidFill>
              </a:defRPr>
            </a:lvl1pPr>
          </a:lstStyle>
          <a:p>
            <a:pPr lvl="0"/>
            <a:r>
              <a:rPr lang="en-US" dirty="0"/>
              <a:t>SLIDE HEADING</a:t>
            </a:r>
            <a:endParaRPr lang="en-ZA" dirty="0"/>
          </a:p>
        </p:txBody>
      </p:sp>
      <p:grpSp>
        <p:nvGrpSpPr>
          <p:cNvPr id="6" name="Group 5">
            <a:extLst>
              <a:ext uri="{FF2B5EF4-FFF2-40B4-BE49-F238E27FC236}">
                <a16:creationId xmlns:a16="http://schemas.microsoft.com/office/drawing/2014/main" id="{32E80DB5-AFB6-4FF5-ABFD-7284AECE604B}"/>
              </a:ext>
            </a:extLst>
          </p:cNvPr>
          <p:cNvGrpSpPr/>
          <p:nvPr userDrawn="1"/>
        </p:nvGrpSpPr>
        <p:grpSpPr>
          <a:xfrm>
            <a:off x="262535" y="202010"/>
            <a:ext cx="880092" cy="794092"/>
            <a:chOff x="10197128" y="8306673"/>
            <a:chExt cx="4100716" cy="4666132"/>
          </a:xfrm>
        </p:grpSpPr>
        <p:grpSp>
          <p:nvGrpSpPr>
            <p:cNvPr id="7" name="Group 6">
              <a:extLst>
                <a:ext uri="{FF2B5EF4-FFF2-40B4-BE49-F238E27FC236}">
                  <a16:creationId xmlns:a16="http://schemas.microsoft.com/office/drawing/2014/main" id="{B9E299D2-B510-4B9F-B841-14A51D660B70}"/>
                </a:ext>
              </a:extLst>
            </p:cNvPr>
            <p:cNvGrpSpPr/>
            <p:nvPr/>
          </p:nvGrpSpPr>
          <p:grpSpPr>
            <a:xfrm>
              <a:off x="10687284" y="8306673"/>
              <a:ext cx="3122333" cy="3172507"/>
              <a:chOff x="7693025" y="8069263"/>
              <a:chExt cx="2568575" cy="2609850"/>
            </a:xfrm>
          </p:grpSpPr>
          <p:sp>
            <p:nvSpPr>
              <p:cNvPr id="12" name="Oval 5">
                <a:extLst>
                  <a:ext uri="{FF2B5EF4-FFF2-40B4-BE49-F238E27FC236}">
                    <a16:creationId xmlns:a16="http://schemas.microsoft.com/office/drawing/2014/main" id="{A34B97CF-7023-4532-BFF7-E62ABC0235E8}"/>
                  </a:ext>
                </a:extLst>
              </p:cNvPr>
              <p:cNvSpPr>
                <a:spLocks noChangeArrowheads="1"/>
              </p:cNvSpPr>
              <p:nvPr/>
            </p:nvSpPr>
            <p:spPr bwMode="auto">
              <a:xfrm>
                <a:off x="7696200" y="8069263"/>
                <a:ext cx="2562225" cy="260985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13" name="Freeform 6">
                <a:extLst>
                  <a:ext uri="{FF2B5EF4-FFF2-40B4-BE49-F238E27FC236}">
                    <a16:creationId xmlns:a16="http://schemas.microsoft.com/office/drawing/2014/main" id="{EA2AB004-3771-4A19-B8DC-F45A12206333}"/>
                  </a:ext>
                </a:extLst>
              </p:cNvPr>
              <p:cNvSpPr>
                <a:spLocks/>
              </p:cNvSpPr>
              <p:nvPr/>
            </p:nvSpPr>
            <p:spPr bwMode="auto">
              <a:xfrm>
                <a:off x="9717088" y="8410576"/>
                <a:ext cx="119063" cy="120650"/>
              </a:xfrm>
              <a:custGeom>
                <a:avLst/>
                <a:gdLst>
                  <a:gd name="T0" fmla="*/ 15 w 37"/>
                  <a:gd name="T1" fmla="*/ 25 h 37"/>
                  <a:gd name="T2" fmla="*/ 28 w 37"/>
                  <a:gd name="T3" fmla="*/ 37 h 37"/>
                  <a:gd name="T4" fmla="*/ 37 w 37"/>
                  <a:gd name="T5" fmla="*/ 0 h 37"/>
                  <a:gd name="T6" fmla="*/ 0 w 37"/>
                  <a:gd name="T7" fmla="*/ 12 h 37"/>
                  <a:gd name="T8" fmla="*/ 15 w 37"/>
                  <a:gd name="T9" fmla="*/ 25 h 37"/>
                </a:gdLst>
                <a:ahLst/>
                <a:cxnLst>
                  <a:cxn ang="0">
                    <a:pos x="T0" y="T1"/>
                  </a:cxn>
                  <a:cxn ang="0">
                    <a:pos x="T2" y="T3"/>
                  </a:cxn>
                  <a:cxn ang="0">
                    <a:pos x="T4" y="T5"/>
                  </a:cxn>
                  <a:cxn ang="0">
                    <a:pos x="T6" y="T7"/>
                  </a:cxn>
                  <a:cxn ang="0">
                    <a:pos x="T8" y="T9"/>
                  </a:cxn>
                </a:cxnLst>
                <a:rect l="0" t="0" r="r" b="b"/>
                <a:pathLst>
                  <a:path w="37" h="37">
                    <a:moveTo>
                      <a:pt x="15" y="25"/>
                    </a:moveTo>
                    <a:cubicBezTo>
                      <a:pt x="19" y="28"/>
                      <a:pt x="23" y="32"/>
                      <a:pt x="28" y="37"/>
                    </a:cubicBezTo>
                    <a:cubicBezTo>
                      <a:pt x="37" y="0"/>
                      <a:pt x="37" y="0"/>
                      <a:pt x="37" y="0"/>
                    </a:cubicBezTo>
                    <a:cubicBezTo>
                      <a:pt x="0" y="12"/>
                      <a:pt x="0" y="12"/>
                      <a:pt x="0" y="12"/>
                    </a:cubicBezTo>
                    <a:cubicBezTo>
                      <a:pt x="5" y="16"/>
                      <a:pt x="10" y="20"/>
                      <a:pt x="15" y="2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14" name="Freeform 7">
                <a:extLst>
                  <a:ext uri="{FF2B5EF4-FFF2-40B4-BE49-F238E27FC236}">
                    <a16:creationId xmlns:a16="http://schemas.microsoft.com/office/drawing/2014/main" id="{6D129257-E262-41F7-B4FB-859754DCAA77}"/>
                  </a:ext>
                </a:extLst>
              </p:cNvPr>
              <p:cNvSpPr>
                <a:spLocks/>
              </p:cNvSpPr>
              <p:nvPr/>
            </p:nvSpPr>
            <p:spPr bwMode="auto">
              <a:xfrm>
                <a:off x="9512300" y="8251826"/>
                <a:ext cx="109538" cy="123825"/>
              </a:xfrm>
              <a:custGeom>
                <a:avLst/>
                <a:gdLst>
                  <a:gd name="T0" fmla="*/ 32 w 34"/>
                  <a:gd name="T1" fmla="*/ 38 h 38"/>
                  <a:gd name="T2" fmla="*/ 34 w 34"/>
                  <a:gd name="T3" fmla="*/ 0 h 38"/>
                  <a:gd name="T4" fmla="*/ 0 w 34"/>
                  <a:gd name="T5" fmla="*/ 19 h 38"/>
                  <a:gd name="T6" fmla="*/ 17 w 34"/>
                  <a:gd name="T7" fmla="*/ 29 h 38"/>
                  <a:gd name="T8" fmla="*/ 32 w 34"/>
                  <a:gd name="T9" fmla="*/ 38 h 38"/>
                </a:gdLst>
                <a:ahLst/>
                <a:cxnLst>
                  <a:cxn ang="0">
                    <a:pos x="T0" y="T1"/>
                  </a:cxn>
                  <a:cxn ang="0">
                    <a:pos x="T2" y="T3"/>
                  </a:cxn>
                  <a:cxn ang="0">
                    <a:pos x="T4" y="T5"/>
                  </a:cxn>
                  <a:cxn ang="0">
                    <a:pos x="T6" y="T7"/>
                  </a:cxn>
                  <a:cxn ang="0">
                    <a:pos x="T8" y="T9"/>
                  </a:cxn>
                </a:cxnLst>
                <a:rect l="0" t="0" r="r" b="b"/>
                <a:pathLst>
                  <a:path w="34" h="38">
                    <a:moveTo>
                      <a:pt x="32" y="38"/>
                    </a:moveTo>
                    <a:cubicBezTo>
                      <a:pt x="34" y="0"/>
                      <a:pt x="34" y="0"/>
                      <a:pt x="34" y="0"/>
                    </a:cubicBezTo>
                    <a:cubicBezTo>
                      <a:pt x="0" y="19"/>
                      <a:pt x="0" y="19"/>
                      <a:pt x="0" y="19"/>
                    </a:cubicBezTo>
                    <a:cubicBezTo>
                      <a:pt x="6" y="23"/>
                      <a:pt x="11" y="26"/>
                      <a:pt x="17" y="29"/>
                    </a:cubicBezTo>
                    <a:cubicBezTo>
                      <a:pt x="22" y="31"/>
                      <a:pt x="26" y="35"/>
                      <a:pt x="32" y="3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15" name="Freeform 8">
                <a:extLst>
                  <a:ext uri="{FF2B5EF4-FFF2-40B4-BE49-F238E27FC236}">
                    <a16:creationId xmlns:a16="http://schemas.microsoft.com/office/drawing/2014/main" id="{0B44DE21-63D4-4A0E-940B-69CF9F30DE99}"/>
                  </a:ext>
                </a:extLst>
              </p:cNvPr>
              <p:cNvSpPr>
                <a:spLocks/>
              </p:cNvSpPr>
              <p:nvPr/>
            </p:nvSpPr>
            <p:spPr bwMode="auto">
              <a:xfrm>
                <a:off x="9618663" y="8326438"/>
                <a:ext cx="114300" cy="120650"/>
              </a:xfrm>
              <a:custGeom>
                <a:avLst/>
                <a:gdLst>
                  <a:gd name="T0" fmla="*/ 16 w 36"/>
                  <a:gd name="T1" fmla="*/ 27 h 37"/>
                  <a:gd name="T2" fmla="*/ 30 w 36"/>
                  <a:gd name="T3" fmla="*/ 37 h 37"/>
                  <a:gd name="T4" fmla="*/ 36 w 36"/>
                  <a:gd name="T5" fmla="*/ 0 h 37"/>
                  <a:gd name="T6" fmla="*/ 0 w 36"/>
                  <a:gd name="T7" fmla="*/ 16 h 37"/>
                  <a:gd name="T8" fmla="*/ 16 w 36"/>
                  <a:gd name="T9" fmla="*/ 27 h 37"/>
                </a:gdLst>
                <a:ahLst/>
                <a:cxnLst>
                  <a:cxn ang="0">
                    <a:pos x="T0" y="T1"/>
                  </a:cxn>
                  <a:cxn ang="0">
                    <a:pos x="T2" y="T3"/>
                  </a:cxn>
                  <a:cxn ang="0">
                    <a:pos x="T4" y="T5"/>
                  </a:cxn>
                  <a:cxn ang="0">
                    <a:pos x="T6" y="T7"/>
                  </a:cxn>
                  <a:cxn ang="0">
                    <a:pos x="T8" y="T9"/>
                  </a:cxn>
                </a:cxnLst>
                <a:rect l="0" t="0" r="r" b="b"/>
                <a:pathLst>
                  <a:path w="36" h="37">
                    <a:moveTo>
                      <a:pt x="16" y="27"/>
                    </a:moveTo>
                    <a:cubicBezTo>
                      <a:pt x="21" y="30"/>
                      <a:pt x="25" y="33"/>
                      <a:pt x="30" y="37"/>
                    </a:cubicBezTo>
                    <a:cubicBezTo>
                      <a:pt x="36" y="0"/>
                      <a:pt x="36" y="0"/>
                      <a:pt x="36" y="0"/>
                    </a:cubicBezTo>
                    <a:cubicBezTo>
                      <a:pt x="0" y="16"/>
                      <a:pt x="0" y="16"/>
                      <a:pt x="0" y="16"/>
                    </a:cubicBezTo>
                    <a:cubicBezTo>
                      <a:pt x="5" y="19"/>
                      <a:pt x="11" y="23"/>
                      <a:pt x="16" y="2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16" name="Freeform 9">
                <a:extLst>
                  <a:ext uri="{FF2B5EF4-FFF2-40B4-BE49-F238E27FC236}">
                    <a16:creationId xmlns:a16="http://schemas.microsoft.com/office/drawing/2014/main" id="{46E919CE-F214-4955-B1F0-0B0A5C94C96D}"/>
                  </a:ext>
                </a:extLst>
              </p:cNvPr>
              <p:cNvSpPr>
                <a:spLocks noEditPoints="1"/>
              </p:cNvSpPr>
              <p:nvPr/>
            </p:nvSpPr>
            <p:spPr bwMode="auto">
              <a:xfrm>
                <a:off x="7888288" y="8274051"/>
                <a:ext cx="2187575" cy="2209800"/>
              </a:xfrm>
              <a:custGeom>
                <a:avLst/>
                <a:gdLst>
                  <a:gd name="T0" fmla="*/ 682 w 683"/>
                  <a:gd name="T1" fmla="*/ 372 h 678"/>
                  <a:gd name="T2" fmla="*/ 511 w 683"/>
                  <a:gd name="T3" fmla="*/ 104 h 678"/>
                  <a:gd name="T4" fmla="*/ 500 w 683"/>
                  <a:gd name="T5" fmla="*/ 97 h 678"/>
                  <a:gd name="T6" fmla="*/ 467 w 683"/>
                  <a:gd name="T7" fmla="*/ 56 h 678"/>
                  <a:gd name="T8" fmla="*/ 457 w 683"/>
                  <a:gd name="T9" fmla="*/ 75 h 678"/>
                  <a:gd name="T10" fmla="*/ 415 w 683"/>
                  <a:gd name="T11" fmla="*/ 80 h 678"/>
                  <a:gd name="T12" fmla="*/ 396 w 683"/>
                  <a:gd name="T13" fmla="*/ 49 h 678"/>
                  <a:gd name="T14" fmla="*/ 374 w 683"/>
                  <a:gd name="T15" fmla="*/ 56 h 678"/>
                  <a:gd name="T16" fmla="*/ 317 w 683"/>
                  <a:gd name="T17" fmla="*/ 30 h 678"/>
                  <a:gd name="T18" fmla="*/ 283 w 683"/>
                  <a:gd name="T19" fmla="*/ 43 h 678"/>
                  <a:gd name="T20" fmla="*/ 230 w 683"/>
                  <a:gd name="T21" fmla="*/ 50 h 678"/>
                  <a:gd name="T22" fmla="*/ 218 w 683"/>
                  <a:gd name="T23" fmla="*/ 64 h 678"/>
                  <a:gd name="T24" fmla="*/ 247 w 683"/>
                  <a:gd name="T25" fmla="*/ 86 h 678"/>
                  <a:gd name="T26" fmla="*/ 228 w 683"/>
                  <a:gd name="T27" fmla="*/ 86 h 678"/>
                  <a:gd name="T28" fmla="*/ 196 w 683"/>
                  <a:gd name="T29" fmla="*/ 71 h 678"/>
                  <a:gd name="T30" fmla="*/ 342 w 683"/>
                  <a:gd name="T31" fmla="*/ 583 h 678"/>
                  <a:gd name="T32" fmla="*/ 116 w 683"/>
                  <a:gd name="T33" fmla="*/ 127 h 678"/>
                  <a:gd name="T34" fmla="*/ 111 w 683"/>
                  <a:gd name="T35" fmla="*/ 145 h 678"/>
                  <a:gd name="T36" fmla="*/ 152 w 683"/>
                  <a:gd name="T37" fmla="*/ 137 h 678"/>
                  <a:gd name="T38" fmla="*/ 100 w 683"/>
                  <a:gd name="T39" fmla="*/ 146 h 678"/>
                  <a:gd name="T40" fmla="*/ 86 w 683"/>
                  <a:gd name="T41" fmla="*/ 217 h 678"/>
                  <a:gd name="T42" fmla="*/ 40 w 683"/>
                  <a:gd name="T43" fmla="*/ 268 h 678"/>
                  <a:gd name="T44" fmla="*/ 77 w 683"/>
                  <a:gd name="T45" fmla="*/ 290 h 678"/>
                  <a:gd name="T46" fmla="*/ 57 w 683"/>
                  <a:gd name="T47" fmla="*/ 474 h 678"/>
                  <a:gd name="T48" fmla="*/ 93 w 683"/>
                  <a:gd name="T49" fmla="*/ 458 h 678"/>
                  <a:gd name="T50" fmla="*/ 80 w 683"/>
                  <a:gd name="T51" fmla="*/ 445 h 678"/>
                  <a:gd name="T52" fmla="*/ 71 w 683"/>
                  <a:gd name="T53" fmla="*/ 454 h 678"/>
                  <a:gd name="T54" fmla="*/ 91 w 683"/>
                  <a:gd name="T55" fmla="*/ 528 h 678"/>
                  <a:gd name="T56" fmla="*/ 107 w 683"/>
                  <a:gd name="T57" fmla="*/ 536 h 678"/>
                  <a:gd name="T58" fmla="*/ 107 w 683"/>
                  <a:gd name="T59" fmla="*/ 547 h 678"/>
                  <a:gd name="T60" fmla="*/ 170 w 683"/>
                  <a:gd name="T61" fmla="*/ 592 h 678"/>
                  <a:gd name="T62" fmla="*/ 197 w 683"/>
                  <a:gd name="T63" fmla="*/ 570 h 678"/>
                  <a:gd name="T64" fmla="*/ 262 w 683"/>
                  <a:gd name="T65" fmla="*/ 641 h 678"/>
                  <a:gd name="T66" fmla="*/ 211 w 683"/>
                  <a:gd name="T67" fmla="*/ 622 h 678"/>
                  <a:gd name="T68" fmla="*/ 274 w 683"/>
                  <a:gd name="T69" fmla="*/ 609 h 678"/>
                  <a:gd name="T70" fmla="*/ 311 w 683"/>
                  <a:gd name="T71" fmla="*/ 648 h 678"/>
                  <a:gd name="T72" fmla="*/ 328 w 683"/>
                  <a:gd name="T73" fmla="*/ 650 h 678"/>
                  <a:gd name="T74" fmla="*/ 369 w 683"/>
                  <a:gd name="T75" fmla="*/ 609 h 678"/>
                  <a:gd name="T76" fmla="*/ 430 w 683"/>
                  <a:gd name="T77" fmla="*/ 639 h 678"/>
                  <a:gd name="T78" fmla="*/ 451 w 683"/>
                  <a:gd name="T79" fmla="*/ 596 h 678"/>
                  <a:gd name="T80" fmla="*/ 488 w 683"/>
                  <a:gd name="T81" fmla="*/ 579 h 678"/>
                  <a:gd name="T82" fmla="*/ 524 w 683"/>
                  <a:gd name="T83" fmla="*/ 593 h 678"/>
                  <a:gd name="T84" fmla="*/ 537 w 683"/>
                  <a:gd name="T85" fmla="*/ 542 h 678"/>
                  <a:gd name="T86" fmla="*/ 530 w 683"/>
                  <a:gd name="T87" fmla="*/ 566 h 678"/>
                  <a:gd name="T88" fmla="*/ 580 w 683"/>
                  <a:gd name="T89" fmla="*/ 542 h 678"/>
                  <a:gd name="T90" fmla="*/ 577 w 683"/>
                  <a:gd name="T91" fmla="*/ 494 h 678"/>
                  <a:gd name="T92" fmla="*/ 577 w 683"/>
                  <a:gd name="T93" fmla="*/ 518 h 678"/>
                  <a:gd name="T94" fmla="*/ 636 w 683"/>
                  <a:gd name="T95" fmla="*/ 453 h 678"/>
                  <a:gd name="T96" fmla="*/ 637 w 683"/>
                  <a:gd name="T97" fmla="*/ 436 h 678"/>
                  <a:gd name="T98" fmla="*/ 645 w 683"/>
                  <a:gd name="T99" fmla="*/ 283 h 678"/>
                  <a:gd name="T100" fmla="*/ 620 w 683"/>
                  <a:gd name="T101" fmla="*/ 279 h 678"/>
                  <a:gd name="T102" fmla="*/ 611 w 683"/>
                  <a:gd name="T103" fmla="*/ 184 h 678"/>
                  <a:gd name="T104" fmla="*/ 580 w 683"/>
                  <a:gd name="T105" fmla="*/ 211 h 678"/>
                  <a:gd name="T106" fmla="*/ 586 w 683"/>
                  <a:gd name="T107" fmla="*/ 171 h 678"/>
                  <a:gd name="T108" fmla="*/ 557 w 683"/>
                  <a:gd name="T109" fmla="*/ 166 h 678"/>
                  <a:gd name="T110" fmla="*/ 571 w 683"/>
                  <a:gd name="T111" fmla="*/ 183 h 678"/>
                  <a:gd name="T112" fmla="*/ 570 w 683"/>
                  <a:gd name="T113" fmla="*/ 131 h 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83" h="678">
                    <a:moveTo>
                      <a:pt x="342" y="0"/>
                    </a:moveTo>
                    <a:cubicBezTo>
                      <a:pt x="153" y="0"/>
                      <a:pt x="0" y="153"/>
                      <a:pt x="0" y="340"/>
                    </a:cubicBezTo>
                    <a:cubicBezTo>
                      <a:pt x="0" y="351"/>
                      <a:pt x="1" y="361"/>
                      <a:pt x="2" y="372"/>
                    </a:cubicBezTo>
                    <a:cubicBezTo>
                      <a:pt x="18" y="544"/>
                      <a:pt x="164" y="678"/>
                      <a:pt x="342" y="678"/>
                    </a:cubicBezTo>
                    <a:cubicBezTo>
                      <a:pt x="519" y="678"/>
                      <a:pt x="666" y="544"/>
                      <a:pt x="682" y="372"/>
                    </a:cubicBezTo>
                    <a:cubicBezTo>
                      <a:pt x="683" y="361"/>
                      <a:pt x="683" y="351"/>
                      <a:pt x="683" y="340"/>
                    </a:cubicBezTo>
                    <a:cubicBezTo>
                      <a:pt x="683" y="153"/>
                      <a:pt x="530" y="0"/>
                      <a:pt x="342" y="0"/>
                    </a:cubicBezTo>
                    <a:moveTo>
                      <a:pt x="494" y="68"/>
                    </a:moveTo>
                    <a:cubicBezTo>
                      <a:pt x="511" y="80"/>
                      <a:pt x="511" y="80"/>
                      <a:pt x="511" y="80"/>
                    </a:cubicBezTo>
                    <a:cubicBezTo>
                      <a:pt x="511" y="104"/>
                      <a:pt x="511" y="104"/>
                      <a:pt x="511" y="104"/>
                    </a:cubicBezTo>
                    <a:cubicBezTo>
                      <a:pt x="523" y="89"/>
                      <a:pt x="523" y="89"/>
                      <a:pt x="523" y="89"/>
                    </a:cubicBezTo>
                    <a:cubicBezTo>
                      <a:pt x="540" y="100"/>
                      <a:pt x="540" y="100"/>
                      <a:pt x="540" y="100"/>
                    </a:cubicBezTo>
                    <a:cubicBezTo>
                      <a:pt x="516" y="132"/>
                      <a:pt x="516" y="132"/>
                      <a:pt x="516" y="132"/>
                    </a:cubicBezTo>
                    <a:cubicBezTo>
                      <a:pt x="501" y="121"/>
                      <a:pt x="501" y="121"/>
                      <a:pt x="501" y="121"/>
                    </a:cubicBezTo>
                    <a:cubicBezTo>
                      <a:pt x="500" y="97"/>
                      <a:pt x="500" y="97"/>
                      <a:pt x="500" y="97"/>
                    </a:cubicBezTo>
                    <a:cubicBezTo>
                      <a:pt x="489" y="112"/>
                      <a:pt x="489" y="112"/>
                      <a:pt x="489" y="112"/>
                    </a:cubicBezTo>
                    <a:cubicBezTo>
                      <a:pt x="471" y="100"/>
                      <a:pt x="471" y="100"/>
                      <a:pt x="471" y="100"/>
                    </a:cubicBezTo>
                    <a:lnTo>
                      <a:pt x="494" y="68"/>
                    </a:lnTo>
                    <a:close/>
                    <a:moveTo>
                      <a:pt x="428" y="42"/>
                    </a:moveTo>
                    <a:cubicBezTo>
                      <a:pt x="467" y="56"/>
                      <a:pt x="467" y="56"/>
                      <a:pt x="467" y="56"/>
                    </a:cubicBezTo>
                    <a:cubicBezTo>
                      <a:pt x="465" y="62"/>
                      <a:pt x="465" y="62"/>
                      <a:pt x="465" y="62"/>
                    </a:cubicBezTo>
                    <a:cubicBezTo>
                      <a:pt x="446" y="56"/>
                      <a:pt x="446" y="56"/>
                      <a:pt x="446" y="56"/>
                    </a:cubicBezTo>
                    <a:cubicBezTo>
                      <a:pt x="444" y="64"/>
                      <a:pt x="444" y="64"/>
                      <a:pt x="444" y="64"/>
                    </a:cubicBezTo>
                    <a:cubicBezTo>
                      <a:pt x="459" y="69"/>
                      <a:pt x="459" y="69"/>
                      <a:pt x="459" y="69"/>
                    </a:cubicBezTo>
                    <a:cubicBezTo>
                      <a:pt x="457" y="75"/>
                      <a:pt x="457" y="75"/>
                      <a:pt x="457" y="75"/>
                    </a:cubicBezTo>
                    <a:cubicBezTo>
                      <a:pt x="442" y="70"/>
                      <a:pt x="442" y="70"/>
                      <a:pt x="442" y="70"/>
                    </a:cubicBezTo>
                    <a:cubicBezTo>
                      <a:pt x="439" y="80"/>
                      <a:pt x="439" y="80"/>
                      <a:pt x="439" y="80"/>
                    </a:cubicBezTo>
                    <a:cubicBezTo>
                      <a:pt x="457" y="86"/>
                      <a:pt x="457" y="86"/>
                      <a:pt x="457" y="86"/>
                    </a:cubicBezTo>
                    <a:cubicBezTo>
                      <a:pt x="455" y="93"/>
                      <a:pt x="455" y="93"/>
                      <a:pt x="455" y="93"/>
                    </a:cubicBezTo>
                    <a:cubicBezTo>
                      <a:pt x="415" y="80"/>
                      <a:pt x="415" y="80"/>
                      <a:pt x="415" y="80"/>
                    </a:cubicBezTo>
                    <a:lnTo>
                      <a:pt x="428" y="42"/>
                    </a:lnTo>
                    <a:close/>
                    <a:moveTo>
                      <a:pt x="343" y="30"/>
                    </a:moveTo>
                    <a:cubicBezTo>
                      <a:pt x="382" y="32"/>
                      <a:pt x="382" y="32"/>
                      <a:pt x="382" y="32"/>
                    </a:cubicBezTo>
                    <a:cubicBezTo>
                      <a:pt x="396" y="40"/>
                      <a:pt x="396" y="40"/>
                      <a:pt x="396" y="40"/>
                    </a:cubicBezTo>
                    <a:cubicBezTo>
                      <a:pt x="396" y="49"/>
                      <a:pt x="396" y="49"/>
                      <a:pt x="396" y="49"/>
                    </a:cubicBezTo>
                    <a:cubicBezTo>
                      <a:pt x="384" y="53"/>
                      <a:pt x="384" y="53"/>
                      <a:pt x="384" y="53"/>
                    </a:cubicBezTo>
                    <a:cubicBezTo>
                      <a:pt x="395" y="57"/>
                      <a:pt x="395" y="57"/>
                      <a:pt x="395" y="57"/>
                    </a:cubicBezTo>
                    <a:cubicBezTo>
                      <a:pt x="394" y="73"/>
                      <a:pt x="394" y="73"/>
                      <a:pt x="394" y="73"/>
                    </a:cubicBezTo>
                    <a:cubicBezTo>
                      <a:pt x="373" y="71"/>
                      <a:pt x="373" y="71"/>
                      <a:pt x="373" y="71"/>
                    </a:cubicBezTo>
                    <a:cubicBezTo>
                      <a:pt x="374" y="56"/>
                      <a:pt x="374" y="56"/>
                      <a:pt x="374" y="56"/>
                    </a:cubicBezTo>
                    <a:cubicBezTo>
                      <a:pt x="364" y="55"/>
                      <a:pt x="364" y="55"/>
                      <a:pt x="364" y="55"/>
                    </a:cubicBezTo>
                    <a:cubicBezTo>
                      <a:pt x="363" y="71"/>
                      <a:pt x="363" y="71"/>
                      <a:pt x="363" y="71"/>
                    </a:cubicBezTo>
                    <a:cubicBezTo>
                      <a:pt x="340" y="69"/>
                      <a:pt x="340" y="69"/>
                      <a:pt x="340" y="69"/>
                    </a:cubicBezTo>
                    <a:lnTo>
                      <a:pt x="343" y="30"/>
                    </a:lnTo>
                    <a:close/>
                    <a:moveTo>
                      <a:pt x="317" y="30"/>
                    </a:moveTo>
                    <a:cubicBezTo>
                      <a:pt x="318" y="37"/>
                      <a:pt x="318" y="37"/>
                      <a:pt x="318" y="37"/>
                    </a:cubicBezTo>
                    <a:cubicBezTo>
                      <a:pt x="305" y="40"/>
                      <a:pt x="305" y="40"/>
                      <a:pt x="305" y="40"/>
                    </a:cubicBezTo>
                    <a:cubicBezTo>
                      <a:pt x="311" y="71"/>
                      <a:pt x="311" y="71"/>
                      <a:pt x="311" y="71"/>
                    </a:cubicBezTo>
                    <a:cubicBezTo>
                      <a:pt x="288" y="74"/>
                      <a:pt x="288" y="74"/>
                      <a:pt x="288" y="74"/>
                    </a:cubicBezTo>
                    <a:cubicBezTo>
                      <a:pt x="283" y="43"/>
                      <a:pt x="283" y="43"/>
                      <a:pt x="283" y="43"/>
                    </a:cubicBezTo>
                    <a:cubicBezTo>
                      <a:pt x="270" y="45"/>
                      <a:pt x="270" y="45"/>
                      <a:pt x="270" y="45"/>
                    </a:cubicBezTo>
                    <a:cubicBezTo>
                      <a:pt x="269" y="37"/>
                      <a:pt x="269" y="37"/>
                      <a:pt x="269" y="37"/>
                    </a:cubicBezTo>
                    <a:lnTo>
                      <a:pt x="317" y="30"/>
                    </a:lnTo>
                    <a:close/>
                    <a:moveTo>
                      <a:pt x="208" y="60"/>
                    </a:moveTo>
                    <a:cubicBezTo>
                      <a:pt x="230" y="50"/>
                      <a:pt x="230" y="50"/>
                      <a:pt x="230" y="50"/>
                    </a:cubicBezTo>
                    <a:cubicBezTo>
                      <a:pt x="246" y="49"/>
                      <a:pt x="246" y="49"/>
                      <a:pt x="246" y="49"/>
                    </a:cubicBezTo>
                    <a:cubicBezTo>
                      <a:pt x="249" y="56"/>
                      <a:pt x="249" y="56"/>
                      <a:pt x="249" y="56"/>
                    </a:cubicBezTo>
                    <a:cubicBezTo>
                      <a:pt x="229" y="65"/>
                      <a:pt x="229" y="65"/>
                      <a:pt x="229" y="65"/>
                    </a:cubicBezTo>
                    <a:cubicBezTo>
                      <a:pt x="227" y="60"/>
                      <a:pt x="227" y="60"/>
                      <a:pt x="227" y="60"/>
                    </a:cubicBezTo>
                    <a:cubicBezTo>
                      <a:pt x="218" y="64"/>
                      <a:pt x="218" y="64"/>
                      <a:pt x="218" y="64"/>
                    </a:cubicBezTo>
                    <a:cubicBezTo>
                      <a:pt x="221" y="71"/>
                      <a:pt x="221" y="71"/>
                      <a:pt x="221" y="71"/>
                    </a:cubicBezTo>
                    <a:cubicBezTo>
                      <a:pt x="237" y="65"/>
                      <a:pt x="237" y="65"/>
                      <a:pt x="237" y="65"/>
                    </a:cubicBezTo>
                    <a:cubicBezTo>
                      <a:pt x="253" y="64"/>
                      <a:pt x="253" y="64"/>
                      <a:pt x="253" y="64"/>
                    </a:cubicBezTo>
                    <a:cubicBezTo>
                      <a:pt x="258" y="74"/>
                      <a:pt x="258" y="74"/>
                      <a:pt x="258" y="74"/>
                    </a:cubicBezTo>
                    <a:cubicBezTo>
                      <a:pt x="247" y="86"/>
                      <a:pt x="247" y="86"/>
                      <a:pt x="247" y="86"/>
                    </a:cubicBezTo>
                    <a:cubicBezTo>
                      <a:pt x="224" y="96"/>
                      <a:pt x="224" y="96"/>
                      <a:pt x="224" y="96"/>
                    </a:cubicBezTo>
                    <a:cubicBezTo>
                      <a:pt x="208" y="97"/>
                      <a:pt x="208" y="97"/>
                      <a:pt x="208" y="97"/>
                    </a:cubicBezTo>
                    <a:cubicBezTo>
                      <a:pt x="205" y="91"/>
                      <a:pt x="205" y="91"/>
                      <a:pt x="205" y="91"/>
                    </a:cubicBezTo>
                    <a:cubicBezTo>
                      <a:pt x="226" y="81"/>
                      <a:pt x="226" y="81"/>
                      <a:pt x="226" y="81"/>
                    </a:cubicBezTo>
                    <a:cubicBezTo>
                      <a:pt x="228" y="86"/>
                      <a:pt x="228" y="86"/>
                      <a:pt x="228" y="86"/>
                    </a:cubicBezTo>
                    <a:cubicBezTo>
                      <a:pt x="237" y="82"/>
                      <a:pt x="237" y="82"/>
                      <a:pt x="237" y="82"/>
                    </a:cubicBezTo>
                    <a:cubicBezTo>
                      <a:pt x="233" y="74"/>
                      <a:pt x="233" y="74"/>
                      <a:pt x="233" y="74"/>
                    </a:cubicBezTo>
                    <a:cubicBezTo>
                      <a:pt x="218" y="81"/>
                      <a:pt x="218" y="81"/>
                      <a:pt x="218" y="81"/>
                    </a:cubicBezTo>
                    <a:cubicBezTo>
                      <a:pt x="202" y="82"/>
                      <a:pt x="202" y="82"/>
                      <a:pt x="202" y="82"/>
                    </a:cubicBezTo>
                    <a:cubicBezTo>
                      <a:pt x="196" y="71"/>
                      <a:pt x="196" y="71"/>
                      <a:pt x="196" y="71"/>
                    </a:cubicBezTo>
                    <a:lnTo>
                      <a:pt x="208" y="60"/>
                    </a:lnTo>
                    <a:close/>
                    <a:moveTo>
                      <a:pt x="342" y="96"/>
                    </a:moveTo>
                    <a:cubicBezTo>
                      <a:pt x="477" y="96"/>
                      <a:pt x="588" y="205"/>
                      <a:pt x="588" y="340"/>
                    </a:cubicBezTo>
                    <a:cubicBezTo>
                      <a:pt x="588" y="351"/>
                      <a:pt x="587" y="361"/>
                      <a:pt x="586" y="372"/>
                    </a:cubicBezTo>
                    <a:cubicBezTo>
                      <a:pt x="569" y="491"/>
                      <a:pt x="466" y="583"/>
                      <a:pt x="342" y="583"/>
                    </a:cubicBezTo>
                    <a:cubicBezTo>
                      <a:pt x="217" y="583"/>
                      <a:pt x="115" y="491"/>
                      <a:pt x="99" y="372"/>
                    </a:cubicBezTo>
                    <a:cubicBezTo>
                      <a:pt x="97" y="361"/>
                      <a:pt x="96" y="351"/>
                      <a:pt x="96" y="340"/>
                    </a:cubicBezTo>
                    <a:cubicBezTo>
                      <a:pt x="96" y="205"/>
                      <a:pt x="206" y="96"/>
                      <a:pt x="342" y="96"/>
                    </a:cubicBezTo>
                    <a:moveTo>
                      <a:pt x="100" y="146"/>
                    </a:moveTo>
                    <a:cubicBezTo>
                      <a:pt x="116" y="127"/>
                      <a:pt x="116" y="127"/>
                      <a:pt x="116" y="127"/>
                    </a:cubicBezTo>
                    <a:cubicBezTo>
                      <a:pt x="130" y="119"/>
                      <a:pt x="130" y="119"/>
                      <a:pt x="130" y="119"/>
                    </a:cubicBezTo>
                    <a:cubicBezTo>
                      <a:pt x="137" y="125"/>
                      <a:pt x="137" y="125"/>
                      <a:pt x="137" y="125"/>
                    </a:cubicBezTo>
                    <a:cubicBezTo>
                      <a:pt x="122" y="142"/>
                      <a:pt x="122" y="142"/>
                      <a:pt x="122" y="142"/>
                    </a:cubicBezTo>
                    <a:cubicBezTo>
                      <a:pt x="117" y="137"/>
                      <a:pt x="117" y="137"/>
                      <a:pt x="117" y="137"/>
                    </a:cubicBezTo>
                    <a:cubicBezTo>
                      <a:pt x="111" y="145"/>
                      <a:pt x="111" y="145"/>
                      <a:pt x="111" y="145"/>
                    </a:cubicBezTo>
                    <a:cubicBezTo>
                      <a:pt x="129" y="160"/>
                      <a:pt x="129" y="160"/>
                      <a:pt x="129" y="160"/>
                    </a:cubicBezTo>
                    <a:cubicBezTo>
                      <a:pt x="136" y="153"/>
                      <a:pt x="136" y="153"/>
                      <a:pt x="136" y="153"/>
                    </a:cubicBezTo>
                    <a:cubicBezTo>
                      <a:pt x="129" y="147"/>
                      <a:pt x="129" y="147"/>
                      <a:pt x="129" y="147"/>
                    </a:cubicBezTo>
                    <a:cubicBezTo>
                      <a:pt x="143" y="130"/>
                      <a:pt x="143" y="130"/>
                      <a:pt x="143" y="130"/>
                    </a:cubicBezTo>
                    <a:cubicBezTo>
                      <a:pt x="152" y="137"/>
                      <a:pt x="152" y="137"/>
                      <a:pt x="152" y="137"/>
                    </a:cubicBezTo>
                    <a:cubicBezTo>
                      <a:pt x="146" y="153"/>
                      <a:pt x="146" y="153"/>
                      <a:pt x="146" y="153"/>
                    </a:cubicBezTo>
                    <a:cubicBezTo>
                      <a:pt x="131" y="170"/>
                      <a:pt x="131" y="170"/>
                      <a:pt x="131" y="170"/>
                    </a:cubicBezTo>
                    <a:cubicBezTo>
                      <a:pt x="116" y="179"/>
                      <a:pt x="116" y="179"/>
                      <a:pt x="116" y="179"/>
                    </a:cubicBezTo>
                    <a:cubicBezTo>
                      <a:pt x="94" y="160"/>
                      <a:pt x="94" y="160"/>
                      <a:pt x="94" y="160"/>
                    </a:cubicBezTo>
                    <a:lnTo>
                      <a:pt x="100" y="146"/>
                    </a:lnTo>
                    <a:close/>
                    <a:moveTo>
                      <a:pt x="68" y="193"/>
                    </a:moveTo>
                    <a:cubicBezTo>
                      <a:pt x="80" y="181"/>
                      <a:pt x="80" y="181"/>
                      <a:pt x="80" y="181"/>
                    </a:cubicBezTo>
                    <a:cubicBezTo>
                      <a:pt x="93" y="187"/>
                      <a:pt x="93" y="187"/>
                      <a:pt x="93" y="187"/>
                    </a:cubicBezTo>
                    <a:cubicBezTo>
                      <a:pt x="92" y="204"/>
                      <a:pt x="92" y="204"/>
                      <a:pt x="92" y="204"/>
                    </a:cubicBezTo>
                    <a:cubicBezTo>
                      <a:pt x="86" y="217"/>
                      <a:pt x="86" y="217"/>
                      <a:pt x="86" y="217"/>
                    </a:cubicBezTo>
                    <a:cubicBezTo>
                      <a:pt x="99" y="222"/>
                      <a:pt x="99" y="222"/>
                      <a:pt x="99" y="222"/>
                    </a:cubicBezTo>
                    <a:cubicBezTo>
                      <a:pt x="89" y="243"/>
                      <a:pt x="89" y="243"/>
                      <a:pt x="89" y="243"/>
                    </a:cubicBezTo>
                    <a:cubicBezTo>
                      <a:pt x="53" y="227"/>
                      <a:pt x="53" y="227"/>
                      <a:pt x="53" y="227"/>
                    </a:cubicBezTo>
                    <a:lnTo>
                      <a:pt x="68" y="193"/>
                    </a:lnTo>
                    <a:close/>
                    <a:moveTo>
                      <a:pt x="40" y="268"/>
                    </a:moveTo>
                    <a:cubicBezTo>
                      <a:pt x="49" y="254"/>
                      <a:pt x="49" y="254"/>
                      <a:pt x="49" y="254"/>
                    </a:cubicBezTo>
                    <a:cubicBezTo>
                      <a:pt x="63" y="257"/>
                      <a:pt x="63" y="257"/>
                      <a:pt x="63" y="257"/>
                    </a:cubicBezTo>
                    <a:cubicBezTo>
                      <a:pt x="66" y="272"/>
                      <a:pt x="66" y="272"/>
                      <a:pt x="66" y="272"/>
                    </a:cubicBezTo>
                    <a:cubicBezTo>
                      <a:pt x="64" y="286"/>
                      <a:pt x="64" y="286"/>
                      <a:pt x="64" y="286"/>
                    </a:cubicBezTo>
                    <a:cubicBezTo>
                      <a:pt x="77" y="290"/>
                      <a:pt x="77" y="290"/>
                      <a:pt x="77" y="290"/>
                    </a:cubicBezTo>
                    <a:cubicBezTo>
                      <a:pt x="72" y="311"/>
                      <a:pt x="72" y="311"/>
                      <a:pt x="72" y="311"/>
                    </a:cubicBezTo>
                    <a:cubicBezTo>
                      <a:pt x="33" y="305"/>
                      <a:pt x="33" y="305"/>
                      <a:pt x="33" y="305"/>
                    </a:cubicBezTo>
                    <a:lnTo>
                      <a:pt x="40" y="268"/>
                    </a:lnTo>
                    <a:close/>
                    <a:moveTo>
                      <a:pt x="68" y="485"/>
                    </a:moveTo>
                    <a:cubicBezTo>
                      <a:pt x="57" y="474"/>
                      <a:pt x="57" y="474"/>
                      <a:pt x="57" y="474"/>
                    </a:cubicBezTo>
                    <a:cubicBezTo>
                      <a:pt x="47" y="452"/>
                      <a:pt x="47" y="452"/>
                      <a:pt x="47" y="452"/>
                    </a:cubicBezTo>
                    <a:cubicBezTo>
                      <a:pt x="46" y="434"/>
                      <a:pt x="46" y="434"/>
                      <a:pt x="46" y="434"/>
                    </a:cubicBezTo>
                    <a:cubicBezTo>
                      <a:pt x="72" y="423"/>
                      <a:pt x="72" y="423"/>
                      <a:pt x="72" y="423"/>
                    </a:cubicBezTo>
                    <a:cubicBezTo>
                      <a:pt x="83" y="435"/>
                      <a:pt x="83" y="435"/>
                      <a:pt x="83" y="435"/>
                    </a:cubicBezTo>
                    <a:cubicBezTo>
                      <a:pt x="93" y="458"/>
                      <a:pt x="93" y="458"/>
                      <a:pt x="93" y="458"/>
                    </a:cubicBezTo>
                    <a:cubicBezTo>
                      <a:pt x="94" y="474"/>
                      <a:pt x="94" y="474"/>
                      <a:pt x="94" y="474"/>
                    </a:cubicBezTo>
                    <a:cubicBezTo>
                      <a:pt x="86" y="479"/>
                      <a:pt x="86" y="479"/>
                      <a:pt x="86" y="479"/>
                    </a:cubicBezTo>
                    <a:cubicBezTo>
                      <a:pt x="77" y="457"/>
                      <a:pt x="77" y="457"/>
                      <a:pt x="77" y="457"/>
                    </a:cubicBezTo>
                    <a:cubicBezTo>
                      <a:pt x="83" y="455"/>
                      <a:pt x="83" y="455"/>
                      <a:pt x="83" y="455"/>
                    </a:cubicBezTo>
                    <a:cubicBezTo>
                      <a:pt x="80" y="445"/>
                      <a:pt x="80" y="445"/>
                      <a:pt x="80" y="445"/>
                    </a:cubicBezTo>
                    <a:cubicBezTo>
                      <a:pt x="57" y="455"/>
                      <a:pt x="57" y="455"/>
                      <a:pt x="57" y="455"/>
                    </a:cubicBezTo>
                    <a:cubicBezTo>
                      <a:pt x="61" y="465"/>
                      <a:pt x="61" y="465"/>
                      <a:pt x="61" y="465"/>
                    </a:cubicBezTo>
                    <a:cubicBezTo>
                      <a:pt x="66" y="463"/>
                      <a:pt x="66" y="463"/>
                      <a:pt x="66" y="463"/>
                    </a:cubicBezTo>
                    <a:cubicBezTo>
                      <a:pt x="64" y="457"/>
                      <a:pt x="64" y="457"/>
                      <a:pt x="64" y="457"/>
                    </a:cubicBezTo>
                    <a:cubicBezTo>
                      <a:pt x="71" y="454"/>
                      <a:pt x="71" y="454"/>
                      <a:pt x="71" y="454"/>
                    </a:cubicBezTo>
                    <a:cubicBezTo>
                      <a:pt x="82" y="480"/>
                      <a:pt x="82" y="480"/>
                      <a:pt x="82" y="480"/>
                    </a:cubicBezTo>
                    <a:lnTo>
                      <a:pt x="68" y="485"/>
                    </a:lnTo>
                    <a:close/>
                    <a:moveTo>
                      <a:pt x="107" y="547"/>
                    </a:moveTo>
                    <a:cubicBezTo>
                      <a:pt x="103" y="542"/>
                      <a:pt x="103" y="542"/>
                      <a:pt x="103" y="542"/>
                    </a:cubicBezTo>
                    <a:cubicBezTo>
                      <a:pt x="91" y="528"/>
                      <a:pt x="91" y="528"/>
                      <a:pt x="91" y="528"/>
                    </a:cubicBezTo>
                    <a:cubicBezTo>
                      <a:pt x="86" y="513"/>
                      <a:pt x="86" y="513"/>
                      <a:pt x="86" y="513"/>
                    </a:cubicBezTo>
                    <a:cubicBezTo>
                      <a:pt x="112" y="491"/>
                      <a:pt x="112" y="491"/>
                      <a:pt x="112" y="491"/>
                    </a:cubicBezTo>
                    <a:cubicBezTo>
                      <a:pt x="126" y="508"/>
                      <a:pt x="126" y="508"/>
                      <a:pt x="126" y="508"/>
                    </a:cubicBezTo>
                    <a:cubicBezTo>
                      <a:pt x="102" y="529"/>
                      <a:pt x="102" y="529"/>
                      <a:pt x="102" y="529"/>
                    </a:cubicBezTo>
                    <a:cubicBezTo>
                      <a:pt x="107" y="536"/>
                      <a:pt x="107" y="536"/>
                      <a:pt x="107" y="536"/>
                    </a:cubicBezTo>
                    <a:cubicBezTo>
                      <a:pt x="132" y="516"/>
                      <a:pt x="132" y="516"/>
                      <a:pt x="132" y="516"/>
                    </a:cubicBezTo>
                    <a:cubicBezTo>
                      <a:pt x="147" y="533"/>
                      <a:pt x="147" y="533"/>
                      <a:pt x="147" y="533"/>
                    </a:cubicBezTo>
                    <a:cubicBezTo>
                      <a:pt x="136" y="542"/>
                      <a:pt x="136" y="542"/>
                      <a:pt x="136" y="542"/>
                    </a:cubicBezTo>
                    <a:cubicBezTo>
                      <a:pt x="121" y="555"/>
                      <a:pt x="121" y="555"/>
                      <a:pt x="121" y="555"/>
                    </a:cubicBezTo>
                    <a:lnTo>
                      <a:pt x="107" y="547"/>
                    </a:lnTo>
                    <a:close/>
                    <a:moveTo>
                      <a:pt x="190" y="596"/>
                    </a:moveTo>
                    <a:cubicBezTo>
                      <a:pt x="187" y="611"/>
                      <a:pt x="187" y="611"/>
                      <a:pt x="187" y="611"/>
                    </a:cubicBezTo>
                    <a:cubicBezTo>
                      <a:pt x="168" y="598"/>
                      <a:pt x="168" y="598"/>
                      <a:pt x="168" y="598"/>
                    </a:cubicBezTo>
                    <a:cubicBezTo>
                      <a:pt x="169" y="596"/>
                      <a:pt x="169" y="596"/>
                      <a:pt x="169" y="596"/>
                    </a:cubicBezTo>
                    <a:cubicBezTo>
                      <a:pt x="170" y="592"/>
                      <a:pt x="170" y="592"/>
                      <a:pt x="170" y="592"/>
                    </a:cubicBezTo>
                    <a:cubicBezTo>
                      <a:pt x="159" y="584"/>
                      <a:pt x="159" y="584"/>
                      <a:pt x="159" y="584"/>
                    </a:cubicBezTo>
                    <a:cubicBezTo>
                      <a:pt x="154" y="589"/>
                      <a:pt x="154" y="589"/>
                      <a:pt x="154" y="589"/>
                    </a:cubicBezTo>
                    <a:cubicBezTo>
                      <a:pt x="136" y="577"/>
                      <a:pt x="136" y="577"/>
                      <a:pt x="136" y="577"/>
                    </a:cubicBezTo>
                    <a:cubicBezTo>
                      <a:pt x="170" y="552"/>
                      <a:pt x="170" y="552"/>
                      <a:pt x="170" y="552"/>
                    </a:cubicBezTo>
                    <a:cubicBezTo>
                      <a:pt x="197" y="570"/>
                      <a:pt x="197" y="570"/>
                      <a:pt x="197" y="570"/>
                    </a:cubicBezTo>
                    <a:lnTo>
                      <a:pt x="190" y="596"/>
                    </a:lnTo>
                    <a:close/>
                    <a:moveTo>
                      <a:pt x="270" y="619"/>
                    </a:moveTo>
                    <a:cubicBezTo>
                      <a:pt x="258" y="619"/>
                      <a:pt x="258" y="619"/>
                      <a:pt x="258" y="619"/>
                    </a:cubicBezTo>
                    <a:cubicBezTo>
                      <a:pt x="267" y="627"/>
                      <a:pt x="267" y="627"/>
                      <a:pt x="267" y="627"/>
                    </a:cubicBezTo>
                    <a:cubicBezTo>
                      <a:pt x="262" y="641"/>
                      <a:pt x="262" y="641"/>
                      <a:pt x="262" y="641"/>
                    </a:cubicBezTo>
                    <a:cubicBezTo>
                      <a:pt x="241" y="633"/>
                      <a:pt x="241" y="633"/>
                      <a:pt x="241" y="633"/>
                    </a:cubicBezTo>
                    <a:cubicBezTo>
                      <a:pt x="246" y="619"/>
                      <a:pt x="246" y="619"/>
                      <a:pt x="246" y="619"/>
                    </a:cubicBezTo>
                    <a:cubicBezTo>
                      <a:pt x="238" y="616"/>
                      <a:pt x="238" y="616"/>
                      <a:pt x="238" y="616"/>
                    </a:cubicBezTo>
                    <a:cubicBezTo>
                      <a:pt x="232" y="630"/>
                      <a:pt x="232" y="630"/>
                      <a:pt x="232" y="630"/>
                    </a:cubicBezTo>
                    <a:cubicBezTo>
                      <a:pt x="211" y="622"/>
                      <a:pt x="211" y="622"/>
                      <a:pt x="211" y="622"/>
                    </a:cubicBezTo>
                    <a:cubicBezTo>
                      <a:pt x="220" y="596"/>
                      <a:pt x="220" y="596"/>
                      <a:pt x="220" y="596"/>
                    </a:cubicBezTo>
                    <a:cubicBezTo>
                      <a:pt x="225" y="585"/>
                      <a:pt x="225" y="585"/>
                      <a:pt x="225" y="585"/>
                    </a:cubicBezTo>
                    <a:cubicBezTo>
                      <a:pt x="255" y="596"/>
                      <a:pt x="255" y="596"/>
                      <a:pt x="255" y="596"/>
                    </a:cubicBezTo>
                    <a:cubicBezTo>
                      <a:pt x="262" y="598"/>
                      <a:pt x="262" y="598"/>
                      <a:pt x="262" y="598"/>
                    </a:cubicBezTo>
                    <a:cubicBezTo>
                      <a:pt x="274" y="609"/>
                      <a:pt x="274" y="609"/>
                      <a:pt x="274" y="609"/>
                    </a:cubicBezTo>
                    <a:lnTo>
                      <a:pt x="270" y="619"/>
                    </a:lnTo>
                    <a:close/>
                    <a:moveTo>
                      <a:pt x="328" y="650"/>
                    </a:moveTo>
                    <a:cubicBezTo>
                      <a:pt x="327" y="642"/>
                      <a:pt x="327" y="642"/>
                      <a:pt x="327" y="642"/>
                    </a:cubicBezTo>
                    <a:cubicBezTo>
                      <a:pt x="314" y="641"/>
                      <a:pt x="314" y="641"/>
                      <a:pt x="314" y="641"/>
                    </a:cubicBezTo>
                    <a:cubicBezTo>
                      <a:pt x="311" y="648"/>
                      <a:pt x="311" y="648"/>
                      <a:pt x="311" y="648"/>
                    </a:cubicBezTo>
                    <a:cubicBezTo>
                      <a:pt x="289" y="646"/>
                      <a:pt x="289" y="646"/>
                      <a:pt x="289" y="646"/>
                    </a:cubicBezTo>
                    <a:cubicBezTo>
                      <a:pt x="305" y="608"/>
                      <a:pt x="305" y="608"/>
                      <a:pt x="305" y="608"/>
                    </a:cubicBezTo>
                    <a:cubicBezTo>
                      <a:pt x="339" y="610"/>
                      <a:pt x="339" y="610"/>
                      <a:pt x="339" y="610"/>
                    </a:cubicBezTo>
                    <a:cubicBezTo>
                      <a:pt x="351" y="651"/>
                      <a:pt x="351" y="651"/>
                      <a:pt x="351" y="651"/>
                    </a:cubicBezTo>
                    <a:lnTo>
                      <a:pt x="328" y="650"/>
                    </a:lnTo>
                    <a:close/>
                    <a:moveTo>
                      <a:pt x="412" y="642"/>
                    </a:moveTo>
                    <a:cubicBezTo>
                      <a:pt x="393" y="626"/>
                      <a:pt x="393" y="626"/>
                      <a:pt x="393" y="626"/>
                    </a:cubicBezTo>
                    <a:cubicBezTo>
                      <a:pt x="396" y="645"/>
                      <a:pt x="396" y="645"/>
                      <a:pt x="396" y="645"/>
                    </a:cubicBezTo>
                    <a:cubicBezTo>
                      <a:pt x="376" y="648"/>
                      <a:pt x="376" y="648"/>
                      <a:pt x="376" y="648"/>
                    </a:cubicBezTo>
                    <a:cubicBezTo>
                      <a:pt x="369" y="609"/>
                      <a:pt x="369" y="609"/>
                      <a:pt x="369" y="609"/>
                    </a:cubicBezTo>
                    <a:cubicBezTo>
                      <a:pt x="388" y="606"/>
                      <a:pt x="388" y="606"/>
                      <a:pt x="388" y="606"/>
                    </a:cubicBezTo>
                    <a:cubicBezTo>
                      <a:pt x="405" y="622"/>
                      <a:pt x="405" y="622"/>
                      <a:pt x="405" y="622"/>
                    </a:cubicBezTo>
                    <a:cubicBezTo>
                      <a:pt x="402" y="604"/>
                      <a:pt x="402" y="604"/>
                      <a:pt x="402" y="604"/>
                    </a:cubicBezTo>
                    <a:cubicBezTo>
                      <a:pt x="424" y="599"/>
                      <a:pt x="424" y="599"/>
                      <a:pt x="424" y="599"/>
                    </a:cubicBezTo>
                    <a:cubicBezTo>
                      <a:pt x="430" y="639"/>
                      <a:pt x="430" y="639"/>
                      <a:pt x="430" y="639"/>
                    </a:cubicBezTo>
                    <a:lnTo>
                      <a:pt x="412" y="642"/>
                    </a:lnTo>
                    <a:close/>
                    <a:moveTo>
                      <a:pt x="470" y="622"/>
                    </a:moveTo>
                    <a:cubicBezTo>
                      <a:pt x="457" y="596"/>
                      <a:pt x="457" y="596"/>
                      <a:pt x="457" y="596"/>
                    </a:cubicBezTo>
                    <a:cubicBezTo>
                      <a:pt x="456" y="594"/>
                      <a:pt x="456" y="594"/>
                      <a:pt x="456" y="594"/>
                    </a:cubicBezTo>
                    <a:cubicBezTo>
                      <a:pt x="451" y="596"/>
                      <a:pt x="451" y="596"/>
                      <a:pt x="451" y="596"/>
                    </a:cubicBezTo>
                    <a:cubicBezTo>
                      <a:pt x="444" y="601"/>
                      <a:pt x="444" y="601"/>
                      <a:pt x="444" y="601"/>
                    </a:cubicBezTo>
                    <a:cubicBezTo>
                      <a:pt x="442" y="596"/>
                      <a:pt x="442" y="596"/>
                      <a:pt x="442" y="596"/>
                    </a:cubicBezTo>
                    <a:cubicBezTo>
                      <a:pt x="441" y="593"/>
                      <a:pt x="441" y="593"/>
                      <a:pt x="441" y="593"/>
                    </a:cubicBezTo>
                    <a:cubicBezTo>
                      <a:pt x="485" y="571"/>
                      <a:pt x="485" y="571"/>
                      <a:pt x="485" y="571"/>
                    </a:cubicBezTo>
                    <a:cubicBezTo>
                      <a:pt x="488" y="579"/>
                      <a:pt x="488" y="579"/>
                      <a:pt x="488" y="579"/>
                    </a:cubicBezTo>
                    <a:cubicBezTo>
                      <a:pt x="476" y="584"/>
                      <a:pt x="476" y="584"/>
                      <a:pt x="476" y="584"/>
                    </a:cubicBezTo>
                    <a:cubicBezTo>
                      <a:pt x="482" y="596"/>
                      <a:pt x="482" y="596"/>
                      <a:pt x="482" y="596"/>
                    </a:cubicBezTo>
                    <a:cubicBezTo>
                      <a:pt x="491" y="613"/>
                      <a:pt x="491" y="613"/>
                      <a:pt x="491" y="613"/>
                    </a:cubicBezTo>
                    <a:lnTo>
                      <a:pt x="470" y="622"/>
                    </a:lnTo>
                    <a:close/>
                    <a:moveTo>
                      <a:pt x="524" y="593"/>
                    </a:moveTo>
                    <a:cubicBezTo>
                      <a:pt x="499" y="563"/>
                      <a:pt x="499" y="563"/>
                      <a:pt x="499" y="563"/>
                    </a:cubicBezTo>
                    <a:cubicBezTo>
                      <a:pt x="525" y="542"/>
                      <a:pt x="525" y="542"/>
                      <a:pt x="525" y="542"/>
                    </a:cubicBezTo>
                    <a:cubicBezTo>
                      <a:pt x="531" y="536"/>
                      <a:pt x="531" y="536"/>
                      <a:pt x="531" y="536"/>
                    </a:cubicBezTo>
                    <a:cubicBezTo>
                      <a:pt x="536" y="542"/>
                      <a:pt x="536" y="542"/>
                      <a:pt x="536" y="542"/>
                    </a:cubicBezTo>
                    <a:cubicBezTo>
                      <a:pt x="537" y="542"/>
                      <a:pt x="537" y="542"/>
                      <a:pt x="537" y="542"/>
                    </a:cubicBezTo>
                    <a:cubicBezTo>
                      <a:pt x="521" y="554"/>
                      <a:pt x="521" y="554"/>
                      <a:pt x="521" y="554"/>
                    </a:cubicBezTo>
                    <a:cubicBezTo>
                      <a:pt x="526" y="560"/>
                      <a:pt x="526" y="560"/>
                      <a:pt x="526" y="560"/>
                    </a:cubicBezTo>
                    <a:cubicBezTo>
                      <a:pt x="539" y="551"/>
                      <a:pt x="539" y="551"/>
                      <a:pt x="539" y="551"/>
                    </a:cubicBezTo>
                    <a:cubicBezTo>
                      <a:pt x="543" y="556"/>
                      <a:pt x="543" y="556"/>
                      <a:pt x="543" y="556"/>
                    </a:cubicBezTo>
                    <a:cubicBezTo>
                      <a:pt x="530" y="566"/>
                      <a:pt x="530" y="566"/>
                      <a:pt x="530" y="566"/>
                    </a:cubicBezTo>
                    <a:cubicBezTo>
                      <a:pt x="537" y="573"/>
                      <a:pt x="537" y="573"/>
                      <a:pt x="537" y="573"/>
                    </a:cubicBezTo>
                    <a:cubicBezTo>
                      <a:pt x="552" y="561"/>
                      <a:pt x="552" y="561"/>
                      <a:pt x="552" y="561"/>
                    </a:cubicBezTo>
                    <a:cubicBezTo>
                      <a:pt x="556" y="567"/>
                      <a:pt x="556" y="567"/>
                      <a:pt x="556" y="567"/>
                    </a:cubicBezTo>
                    <a:lnTo>
                      <a:pt x="524" y="593"/>
                    </a:lnTo>
                    <a:close/>
                    <a:moveTo>
                      <a:pt x="580" y="542"/>
                    </a:moveTo>
                    <a:cubicBezTo>
                      <a:pt x="577" y="546"/>
                      <a:pt x="577" y="546"/>
                      <a:pt x="577" y="546"/>
                    </a:cubicBezTo>
                    <a:cubicBezTo>
                      <a:pt x="571" y="542"/>
                      <a:pt x="571" y="542"/>
                      <a:pt x="571" y="542"/>
                    </a:cubicBezTo>
                    <a:cubicBezTo>
                      <a:pt x="545" y="522"/>
                      <a:pt x="545" y="522"/>
                      <a:pt x="545" y="522"/>
                    </a:cubicBezTo>
                    <a:cubicBezTo>
                      <a:pt x="571" y="490"/>
                      <a:pt x="571" y="490"/>
                      <a:pt x="571" y="490"/>
                    </a:cubicBezTo>
                    <a:cubicBezTo>
                      <a:pt x="577" y="494"/>
                      <a:pt x="577" y="494"/>
                      <a:pt x="577" y="494"/>
                    </a:cubicBezTo>
                    <a:cubicBezTo>
                      <a:pt x="565" y="509"/>
                      <a:pt x="565" y="509"/>
                      <a:pt x="565" y="509"/>
                    </a:cubicBezTo>
                    <a:cubicBezTo>
                      <a:pt x="571" y="514"/>
                      <a:pt x="571" y="514"/>
                      <a:pt x="571" y="514"/>
                    </a:cubicBezTo>
                    <a:cubicBezTo>
                      <a:pt x="581" y="502"/>
                      <a:pt x="581" y="502"/>
                      <a:pt x="581" y="502"/>
                    </a:cubicBezTo>
                    <a:cubicBezTo>
                      <a:pt x="587" y="506"/>
                      <a:pt x="587" y="506"/>
                      <a:pt x="587" y="506"/>
                    </a:cubicBezTo>
                    <a:cubicBezTo>
                      <a:pt x="577" y="518"/>
                      <a:pt x="577" y="518"/>
                      <a:pt x="577" y="518"/>
                    </a:cubicBezTo>
                    <a:cubicBezTo>
                      <a:pt x="585" y="524"/>
                      <a:pt x="585" y="524"/>
                      <a:pt x="585" y="524"/>
                    </a:cubicBezTo>
                    <a:cubicBezTo>
                      <a:pt x="598" y="509"/>
                      <a:pt x="598" y="509"/>
                      <a:pt x="598" y="509"/>
                    </a:cubicBezTo>
                    <a:cubicBezTo>
                      <a:pt x="603" y="514"/>
                      <a:pt x="603" y="514"/>
                      <a:pt x="603" y="514"/>
                    </a:cubicBezTo>
                    <a:lnTo>
                      <a:pt x="580" y="542"/>
                    </a:lnTo>
                    <a:close/>
                    <a:moveTo>
                      <a:pt x="636" y="453"/>
                    </a:moveTo>
                    <a:cubicBezTo>
                      <a:pt x="619" y="489"/>
                      <a:pt x="619" y="489"/>
                      <a:pt x="619" y="489"/>
                    </a:cubicBezTo>
                    <a:cubicBezTo>
                      <a:pt x="582" y="473"/>
                      <a:pt x="582" y="473"/>
                      <a:pt x="582" y="473"/>
                    </a:cubicBezTo>
                    <a:cubicBezTo>
                      <a:pt x="599" y="437"/>
                      <a:pt x="599" y="437"/>
                      <a:pt x="599" y="437"/>
                    </a:cubicBezTo>
                    <a:cubicBezTo>
                      <a:pt x="611" y="426"/>
                      <a:pt x="611" y="426"/>
                      <a:pt x="611" y="426"/>
                    </a:cubicBezTo>
                    <a:cubicBezTo>
                      <a:pt x="637" y="436"/>
                      <a:pt x="637" y="436"/>
                      <a:pt x="637" y="436"/>
                    </a:cubicBezTo>
                    <a:lnTo>
                      <a:pt x="636" y="453"/>
                    </a:lnTo>
                    <a:close/>
                    <a:moveTo>
                      <a:pt x="644" y="274"/>
                    </a:moveTo>
                    <a:cubicBezTo>
                      <a:pt x="628" y="277"/>
                      <a:pt x="628" y="277"/>
                      <a:pt x="628" y="277"/>
                    </a:cubicBezTo>
                    <a:cubicBezTo>
                      <a:pt x="630" y="286"/>
                      <a:pt x="630" y="286"/>
                      <a:pt x="630" y="286"/>
                    </a:cubicBezTo>
                    <a:cubicBezTo>
                      <a:pt x="645" y="283"/>
                      <a:pt x="645" y="283"/>
                      <a:pt x="645" y="283"/>
                    </a:cubicBezTo>
                    <a:cubicBezTo>
                      <a:pt x="650" y="306"/>
                      <a:pt x="650" y="306"/>
                      <a:pt x="650" y="306"/>
                    </a:cubicBezTo>
                    <a:cubicBezTo>
                      <a:pt x="611" y="312"/>
                      <a:pt x="611" y="312"/>
                      <a:pt x="611" y="312"/>
                    </a:cubicBezTo>
                    <a:cubicBezTo>
                      <a:pt x="606" y="291"/>
                      <a:pt x="606" y="291"/>
                      <a:pt x="606" y="291"/>
                    </a:cubicBezTo>
                    <a:cubicBezTo>
                      <a:pt x="623" y="287"/>
                      <a:pt x="623" y="287"/>
                      <a:pt x="623" y="287"/>
                    </a:cubicBezTo>
                    <a:cubicBezTo>
                      <a:pt x="620" y="279"/>
                      <a:pt x="620" y="279"/>
                      <a:pt x="620" y="279"/>
                    </a:cubicBezTo>
                    <a:cubicBezTo>
                      <a:pt x="605" y="281"/>
                      <a:pt x="605" y="281"/>
                      <a:pt x="605" y="281"/>
                    </a:cubicBezTo>
                    <a:cubicBezTo>
                      <a:pt x="601" y="259"/>
                      <a:pt x="601" y="259"/>
                      <a:pt x="601" y="259"/>
                    </a:cubicBezTo>
                    <a:cubicBezTo>
                      <a:pt x="640" y="252"/>
                      <a:pt x="640" y="252"/>
                      <a:pt x="640" y="252"/>
                    </a:cubicBezTo>
                    <a:lnTo>
                      <a:pt x="644" y="274"/>
                    </a:lnTo>
                    <a:close/>
                    <a:moveTo>
                      <a:pt x="611" y="184"/>
                    </a:moveTo>
                    <a:cubicBezTo>
                      <a:pt x="631" y="228"/>
                      <a:pt x="631" y="228"/>
                      <a:pt x="631" y="228"/>
                    </a:cubicBezTo>
                    <a:cubicBezTo>
                      <a:pt x="624" y="231"/>
                      <a:pt x="624" y="231"/>
                      <a:pt x="624" y="231"/>
                    </a:cubicBezTo>
                    <a:cubicBezTo>
                      <a:pt x="618" y="219"/>
                      <a:pt x="618" y="219"/>
                      <a:pt x="618" y="219"/>
                    </a:cubicBezTo>
                    <a:cubicBezTo>
                      <a:pt x="589" y="232"/>
                      <a:pt x="589" y="232"/>
                      <a:pt x="589" y="232"/>
                    </a:cubicBezTo>
                    <a:cubicBezTo>
                      <a:pt x="580" y="211"/>
                      <a:pt x="580" y="211"/>
                      <a:pt x="580" y="211"/>
                    </a:cubicBezTo>
                    <a:cubicBezTo>
                      <a:pt x="610" y="198"/>
                      <a:pt x="610" y="198"/>
                      <a:pt x="610" y="198"/>
                    </a:cubicBezTo>
                    <a:cubicBezTo>
                      <a:pt x="604" y="186"/>
                      <a:pt x="604" y="186"/>
                      <a:pt x="604" y="186"/>
                    </a:cubicBezTo>
                    <a:lnTo>
                      <a:pt x="611" y="184"/>
                    </a:lnTo>
                    <a:close/>
                    <a:moveTo>
                      <a:pt x="593" y="165"/>
                    </a:moveTo>
                    <a:cubicBezTo>
                      <a:pt x="586" y="171"/>
                      <a:pt x="586" y="171"/>
                      <a:pt x="586" y="171"/>
                    </a:cubicBezTo>
                    <a:cubicBezTo>
                      <a:pt x="571" y="154"/>
                      <a:pt x="571" y="154"/>
                      <a:pt x="571" y="154"/>
                    </a:cubicBezTo>
                    <a:cubicBezTo>
                      <a:pt x="577" y="149"/>
                      <a:pt x="577" y="149"/>
                      <a:pt x="577" y="149"/>
                    </a:cubicBezTo>
                    <a:cubicBezTo>
                      <a:pt x="569" y="142"/>
                      <a:pt x="569" y="142"/>
                      <a:pt x="569" y="142"/>
                    </a:cubicBezTo>
                    <a:cubicBezTo>
                      <a:pt x="551" y="157"/>
                      <a:pt x="551" y="157"/>
                      <a:pt x="551" y="157"/>
                    </a:cubicBezTo>
                    <a:cubicBezTo>
                      <a:pt x="557" y="166"/>
                      <a:pt x="557" y="166"/>
                      <a:pt x="557" y="166"/>
                    </a:cubicBezTo>
                    <a:cubicBezTo>
                      <a:pt x="562" y="161"/>
                      <a:pt x="562" y="161"/>
                      <a:pt x="562" y="161"/>
                    </a:cubicBezTo>
                    <a:cubicBezTo>
                      <a:pt x="558" y="157"/>
                      <a:pt x="558" y="157"/>
                      <a:pt x="558" y="157"/>
                    </a:cubicBezTo>
                    <a:cubicBezTo>
                      <a:pt x="564" y="153"/>
                      <a:pt x="564" y="153"/>
                      <a:pt x="564" y="153"/>
                    </a:cubicBezTo>
                    <a:cubicBezTo>
                      <a:pt x="582" y="173"/>
                      <a:pt x="582" y="173"/>
                      <a:pt x="582" y="173"/>
                    </a:cubicBezTo>
                    <a:cubicBezTo>
                      <a:pt x="571" y="183"/>
                      <a:pt x="571" y="183"/>
                      <a:pt x="571" y="183"/>
                    </a:cubicBezTo>
                    <a:cubicBezTo>
                      <a:pt x="557" y="175"/>
                      <a:pt x="557" y="175"/>
                      <a:pt x="557" y="175"/>
                    </a:cubicBezTo>
                    <a:cubicBezTo>
                      <a:pt x="541" y="157"/>
                      <a:pt x="541" y="157"/>
                      <a:pt x="541" y="157"/>
                    </a:cubicBezTo>
                    <a:cubicBezTo>
                      <a:pt x="535" y="142"/>
                      <a:pt x="535" y="142"/>
                      <a:pt x="535" y="142"/>
                    </a:cubicBezTo>
                    <a:cubicBezTo>
                      <a:pt x="556" y="123"/>
                      <a:pt x="556" y="123"/>
                      <a:pt x="556" y="123"/>
                    </a:cubicBezTo>
                    <a:cubicBezTo>
                      <a:pt x="570" y="131"/>
                      <a:pt x="570" y="131"/>
                      <a:pt x="570" y="131"/>
                    </a:cubicBezTo>
                    <a:cubicBezTo>
                      <a:pt x="587" y="149"/>
                      <a:pt x="587" y="149"/>
                      <a:pt x="587" y="149"/>
                    </a:cubicBezTo>
                    <a:lnTo>
                      <a:pt x="593" y="16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17" name="Freeform 10">
                <a:extLst>
                  <a:ext uri="{FF2B5EF4-FFF2-40B4-BE49-F238E27FC236}">
                    <a16:creationId xmlns:a16="http://schemas.microsoft.com/office/drawing/2014/main" id="{D6913F5F-C83F-42B9-B760-B524C99866E9}"/>
                  </a:ext>
                </a:extLst>
              </p:cNvPr>
              <p:cNvSpPr>
                <a:spLocks/>
              </p:cNvSpPr>
              <p:nvPr/>
            </p:nvSpPr>
            <p:spPr bwMode="auto">
              <a:xfrm>
                <a:off x="9398000" y="8186738"/>
                <a:ext cx="107950" cy="127000"/>
              </a:xfrm>
              <a:custGeom>
                <a:avLst/>
                <a:gdLst>
                  <a:gd name="T0" fmla="*/ 34 w 34"/>
                  <a:gd name="T1" fmla="*/ 39 h 39"/>
                  <a:gd name="T2" fmla="*/ 32 w 34"/>
                  <a:gd name="T3" fmla="*/ 0 h 39"/>
                  <a:gd name="T4" fmla="*/ 0 w 34"/>
                  <a:gd name="T5" fmla="*/ 24 h 39"/>
                  <a:gd name="T6" fmla="*/ 19 w 34"/>
                  <a:gd name="T7" fmla="*/ 32 h 39"/>
                  <a:gd name="T8" fmla="*/ 34 w 34"/>
                  <a:gd name="T9" fmla="*/ 39 h 39"/>
                </a:gdLst>
                <a:ahLst/>
                <a:cxnLst>
                  <a:cxn ang="0">
                    <a:pos x="T0" y="T1"/>
                  </a:cxn>
                  <a:cxn ang="0">
                    <a:pos x="T2" y="T3"/>
                  </a:cxn>
                  <a:cxn ang="0">
                    <a:pos x="T4" y="T5"/>
                  </a:cxn>
                  <a:cxn ang="0">
                    <a:pos x="T6" y="T7"/>
                  </a:cxn>
                  <a:cxn ang="0">
                    <a:pos x="T8" y="T9"/>
                  </a:cxn>
                </a:cxnLst>
                <a:rect l="0" t="0" r="r" b="b"/>
                <a:pathLst>
                  <a:path w="34" h="39">
                    <a:moveTo>
                      <a:pt x="34" y="39"/>
                    </a:moveTo>
                    <a:cubicBezTo>
                      <a:pt x="32" y="0"/>
                      <a:pt x="32" y="0"/>
                      <a:pt x="32" y="0"/>
                    </a:cubicBezTo>
                    <a:cubicBezTo>
                      <a:pt x="0" y="24"/>
                      <a:pt x="0" y="24"/>
                      <a:pt x="0" y="24"/>
                    </a:cubicBezTo>
                    <a:cubicBezTo>
                      <a:pt x="7" y="26"/>
                      <a:pt x="12" y="29"/>
                      <a:pt x="19" y="32"/>
                    </a:cubicBezTo>
                    <a:cubicBezTo>
                      <a:pt x="24" y="34"/>
                      <a:pt x="29" y="36"/>
                      <a:pt x="34" y="3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18" name="Freeform 11">
                <a:extLst>
                  <a:ext uri="{FF2B5EF4-FFF2-40B4-BE49-F238E27FC236}">
                    <a16:creationId xmlns:a16="http://schemas.microsoft.com/office/drawing/2014/main" id="{E1543379-DCD7-4839-BABA-6EFC52287AA0}"/>
                  </a:ext>
                </a:extLst>
              </p:cNvPr>
              <p:cNvSpPr>
                <a:spLocks/>
              </p:cNvSpPr>
              <p:nvPr/>
            </p:nvSpPr>
            <p:spPr bwMode="auto">
              <a:xfrm>
                <a:off x="9967913" y="8726488"/>
                <a:ext cx="123825" cy="101600"/>
              </a:xfrm>
              <a:custGeom>
                <a:avLst/>
                <a:gdLst>
                  <a:gd name="T0" fmla="*/ 9 w 39"/>
                  <a:gd name="T1" fmla="*/ 16 h 31"/>
                  <a:gd name="T2" fmla="*/ 18 w 39"/>
                  <a:gd name="T3" fmla="*/ 31 h 31"/>
                  <a:gd name="T4" fmla="*/ 39 w 39"/>
                  <a:gd name="T5" fmla="*/ 0 h 31"/>
                  <a:gd name="T6" fmla="*/ 0 w 39"/>
                  <a:gd name="T7" fmla="*/ 0 h 31"/>
                  <a:gd name="T8" fmla="*/ 9 w 39"/>
                  <a:gd name="T9" fmla="*/ 16 h 31"/>
                </a:gdLst>
                <a:ahLst/>
                <a:cxnLst>
                  <a:cxn ang="0">
                    <a:pos x="T0" y="T1"/>
                  </a:cxn>
                  <a:cxn ang="0">
                    <a:pos x="T2" y="T3"/>
                  </a:cxn>
                  <a:cxn ang="0">
                    <a:pos x="T4" y="T5"/>
                  </a:cxn>
                  <a:cxn ang="0">
                    <a:pos x="T6" y="T7"/>
                  </a:cxn>
                  <a:cxn ang="0">
                    <a:pos x="T8" y="T9"/>
                  </a:cxn>
                </a:cxnLst>
                <a:rect l="0" t="0" r="r" b="b"/>
                <a:pathLst>
                  <a:path w="39" h="31">
                    <a:moveTo>
                      <a:pt x="9" y="16"/>
                    </a:moveTo>
                    <a:cubicBezTo>
                      <a:pt x="13" y="21"/>
                      <a:pt x="15" y="27"/>
                      <a:pt x="18" y="31"/>
                    </a:cubicBezTo>
                    <a:cubicBezTo>
                      <a:pt x="39" y="0"/>
                      <a:pt x="39" y="0"/>
                      <a:pt x="39" y="0"/>
                    </a:cubicBezTo>
                    <a:cubicBezTo>
                      <a:pt x="0" y="0"/>
                      <a:pt x="0" y="0"/>
                      <a:pt x="0" y="0"/>
                    </a:cubicBezTo>
                    <a:cubicBezTo>
                      <a:pt x="3" y="5"/>
                      <a:pt x="6" y="10"/>
                      <a:pt x="9"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19" name="Freeform 12">
                <a:extLst>
                  <a:ext uri="{FF2B5EF4-FFF2-40B4-BE49-F238E27FC236}">
                    <a16:creationId xmlns:a16="http://schemas.microsoft.com/office/drawing/2014/main" id="{B137D26A-4193-4818-8F43-06A51415B99F}"/>
                  </a:ext>
                </a:extLst>
              </p:cNvPr>
              <p:cNvSpPr>
                <a:spLocks/>
              </p:cNvSpPr>
              <p:nvPr/>
            </p:nvSpPr>
            <p:spPr bwMode="auto">
              <a:xfrm>
                <a:off x="9810750" y="8505826"/>
                <a:ext cx="122238" cy="117475"/>
              </a:xfrm>
              <a:custGeom>
                <a:avLst/>
                <a:gdLst>
                  <a:gd name="T0" fmla="*/ 13 w 38"/>
                  <a:gd name="T1" fmla="*/ 23 h 36"/>
                  <a:gd name="T2" fmla="*/ 25 w 38"/>
                  <a:gd name="T3" fmla="*/ 36 h 36"/>
                  <a:gd name="T4" fmla="*/ 38 w 38"/>
                  <a:gd name="T5" fmla="*/ 0 h 36"/>
                  <a:gd name="T6" fmla="*/ 0 w 38"/>
                  <a:gd name="T7" fmla="*/ 9 h 36"/>
                  <a:gd name="T8" fmla="*/ 13 w 38"/>
                  <a:gd name="T9" fmla="*/ 23 h 36"/>
                </a:gdLst>
                <a:ahLst/>
                <a:cxnLst>
                  <a:cxn ang="0">
                    <a:pos x="T0" y="T1"/>
                  </a:cxn>
                  <a:cxn ang="0">
                    <a:pos x="T2" y="T3"/>
                  </a:cxn>
                  <a:cxn ang="0">
                    <a:pos x="T4" y="T5"/>
                  </a:cxn>
                  <a:cxn ang="0">
                    <a:pos x="T6" y="T7"/>
                  </a:cxn>
                  <a:cxn ang="0">
                    <a:pos x="T8" y="T9"/>
                  </a:cxn>
                </a:cxnLst>
                <a:rect l="0" t="0" r="r" b="b"/>
                <a:pathLst>
                  <a:path w="38" h="36">
                    <a:moveTo>
                      <a:pt x="13" y="23"/>
                    </a:moveTo>
                    <a:cubicBezTo>
                      <a:pt x="17" y="27"/>
                      <a:pt x="20" y="32"/>
                      <a:pt x="25" y="36"/>
                    </a:cubicBezTo>
                    <a:cubicBezTo>
                      <a:pt x="38" y="0"/>
                      <a:pt x="38" y="0"/>
                      <a:pt x="38" y="0"/>
                    </a:cubicBezTo>
                    <a:cubicBezTo>
                      <a:pt x="0" y="9"/>
                      <a:pt x="0" y="9"/>
                      <a:pt x="0" y="9"/>
                    </a:cubicBezTo>
                    <a:cubicBezTo>
                      <a:pt x="4" y="13"/>
                      <a:pt x="8" y="18"/>
                      <a:pt x="13" y="2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20" name="Freeform 13">
                <a:extLst>
                  <a:ext uri="{FF2B5EF4-FFF2-40B4-BE49-F238E27FC236}">
                    <a16:creationId xmlns:a16="http://schemas.microsoft.com/office/drawing/2014/main" id="{101F9EE6-E7A0-4D53-B2C9-6915E1BC7324}"/>
                  </a:ext>
                </a:extLst>
              </p:cNvPr>
              <p:cNvSpPr>
                <a:spLocks/>
              </p:cNvSpPr>
              <p:nvPr/>
            </p:nvSpPr>
            <p:spPr bwMode="auto">
              <a:xfrm>
                <a:off x="9893300" y="8613776"/>
                <a:ext cx="125413" cy="106363"/>
              </a:xfrm>
              <a:custGeom>
                <a:avLst/>
                <a:gdLst>
                  <a:gd name="T0" fmla="*/ 12 w 39"/>
                  <a:gd name="T1" fmla="*/ 19 h 33"/>
                  <a:gd name="T2" fmla="*/ 22 w 39"/>
                  <a:gd name="T3" fmla="*/ 33 h 33"/>
                  <a:gd name="T4" fmla="*/ 39 w 39"/>
                  <a:gd name="T5" fmla="*/ 0 h 33"/>
                  <a:gd name="T6" fmla="*/ 0 w 39"/>
                  <a:gd name="T7" fmla="*/ 4 h 33"/>
                  <a:gd name="T8" fmla="*/ 12 w 39"/>
                  <a:gd name="T9" fmla="*/ 19 h 33"/>
                </a:gdLst>
                <a:ahLst/>
                <a:cxnLst>
                  <a:cxn ang="0">
                    <a:pos x="T0" y="T1"/>
                  </a:cxn>
                  <a:cxn ang="0">
                    <a:pos x="T2" y="T3"/>
                  </a:cxn>
                  <a:cxn ang="0">
                    <a:pos x="T4" y="T5"/>
                  </a:cxn>
                  <a:cxn ang="0">
                    <a:pos x="T6" y="T7"/>
                  </a:cxn>
                  <a:cxn ang="0">
                    <a:pos x="T8" y="T9"/>
                  </a:cxn>
                </a:cxnLst>
                <a:rect l="0" t="0" r="r" b="b"/>
                <a:pathLst>
                  <a:path w="39" h="33">
                    <a:moveTo>
                      <a:pt x="12" y="19"/>
                    </a:moveTo>
                    <a:cubicBezTo>
                      <a:pt x="15" y="24"/>
                      <a:pt x="18" y="29"/>
                      <a:pt x="22" y="33"/>
                    </a:cubicBezTo>
                    <a:cubicBezTo>
                      <a:pt x="39" y="0"/>
                      <a:pt x="39" y="0"/>
                      <a:pt x="39" y="0"/>
                    </a:cubicBezTo>
                    <a:cubicBezTo>
                      <a:pt x="0" y="4"/>
                      <a:pt x="0" y="4"/>
                      <a:pt x="0" y="4"/>
                    </a:cubicBezTo>
                    <a:cubicBezTo>
                      <a:pt x="4" y="8"/>
                      <a:pt x="7" y="14"/>
                      <a:pt x="12" y="1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21" name="Freeform 14">
                <a:extLst>
                  <a:ext uri="{FF2B5EF4-FFF2-40B4-BE49-F238E27FC236}">
                    <a16:creationId xmlns:a16="http://schemas.microsoft.com/office/drawing/2014/main" id="{A0383D90-58DA-4CB8-947D-4353D81D22BE}"/>
                  </a:ext>
                </a:extLst>
              </p:cNvPr>
              <p:cNvSpPr>
                <a:spLocks/>
              </p:cNvSpPr>
              <p:nvPr/>
            </p:nvSpPr>
            <p:spPr bwMode="auto">
              <a:xfrm>
                <a:off x="9163050" y="8104188"/>
                <a:ext cx="112713" cy="120650"/>
              </a:xfrm>
              <a:custGeom>
                <a:avLst/>
                <a:gdLst>
                  <a:gd name="T0" fmla="*/ 35 w 35"/>
                  <a:gd name="T1" fmla="*/ 37 h 37"/>
                  <a:gd name="T2" fmla="*/ 26 w 35"/>
                  <a:gd name="T3" fmla="*/ 0 h 37"/>
                  <a:gd name="T4" fmla="*/ 0 w 35"/>
                  <a:gd name="T5" fmla="*/ 30 h 37"/>
                  <a:gd name="T6" fmla="*/ 18 w 35"/>
                  <a:gd name="T7" fmla="*/ 33 h 37"/>
                  <a:gd name="T8" fmla="*/ 35 w 35"/>
                  <a:gd name="T9" fmla="*/ 37 h 37"/>
                </a:gdLst>
                <a:ahLst/>
                <a:cxnLst>
                  <a:cxn ang="0">
                    <a:pos x="T0" y="T1"/>
                  </a:cxn>
                  <a:cxn ang="0">
                    <a:pos x="T2" y="T3"/>
                  </a:cxn>
                  <a:cxn ang="0">
                    <a:pos x="T4" y="T5"/>
                  </a:cxn>
                  <a:cxn ang="0">
                    <a:pos x="T6" y="T7"/>
                  </a:cxn>
                  <a:cxn ang="0">
                    <a:pos x="T8" y="T9"/>
                  </a:cxn>
                </a:cxnLst>
                <a:rect l="0" t="0" r="r" b="b"/>
                <a:pathLst>
                  <a:path w="35" h="37">
                    <a:moveTo>
                      <a:pt x="35" y="37"/>
                    </a:moveTo>
                    <a:cubicBezTo>
                      <a:pt x="26" y="0"/>
                      <a:pt x="26" y="0"/>
                      <a:pt x="26" y="0"/>
                    </a:cubicBezTo>
                    <a:cubicBezTo>
                      <a:pt x="0" y="30"/>
                      <a:pt x="0" y="30"/>
                      <a:pt x="0" y="30"/>
                    </a:cubicBezTo>
                    <a:cubicBezTo>
                      <a:pt x="6" y="31"/>
                      <a:pt x="13" y="32"/>
                      <a:pt x="18" y="33"/>
                    </a:cubicBezTo>
                    <a:cubicBezTo>
                      <a:pt x="25" y="34"/>
                      <a:pt x="30" y="35"/>
                      <a:pt x="35" y="3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22" name="Freeform 15">
                <a:extLst>
                  <a:ext uri="{FF2B5EF4-FFF2-40B4-BE49-F238E27FC236}">
                    <a16:creationId xmlns:a16="http://schemas.microsoft.com/office/drawing/2014/main" id="{52A1D056-A68D-4888-AF03-D0A1B8EEED5D}"/>
                  </a:ext>
                </a:extLst>
              </p:cNvPr>
              <p:cNvSpPr>
                <a:spLocks/>
              </p:cNvSpPr>
              <p:nvPr/>
            </p:nvSpPr>
            <p:spPr bwMode="auto">
              <a:xfrm>
                <a:off x="9285288" y="8140701"/>
                <a:ext cx="109538" cy="120650"/>
              </a:xfrm>
              <a:custGeom>
                <a:avLst/>
                <a:gdLst>
                  <a:gd name="T0" fmla="*/ 34 w 34"/>
                  <a:gd name="T1" fmla="*/ 37 h 37"/>
                  <a:gd name="T2" fmla="*/ 28 w 34"/>
                  <a:gd name="T3" fmla="*/ 0 h 37"/>
                  <a:gd name="T4" fmla="*/ 0 w 34"/>
                  <a:gd name="T5" fmla="*/ 26 h 37"/>
                  <a:gd name="T6" fmla="*/ 18 w 34"/>
                  <a:gd name="T7" fmla="*/ 32 h 37"/>
                  <a:gd name="T8" fmla="*/ 34 w 34"/>
                  <a:gd name="T9" fmla="*/ 37 h 37"/>
                </a:gdLst>
                <a:ahLst/>
                <a:cxnLst>
                  <a:cxn ang="0">
                    <a:pos x="T0" y="T1"/>
                  </a:cxn>
                  <a:cxn ang="0">
                    <a:pos x="T2" y="T3"/>
                  </a:cxn>
                  <a:cxn ang="0">
                    <a:pos x="T4" y="T5"/>
                  </a:cxn>
                  <a:cxn ang="0">
                    <a:pos x="T6" y="T7"/>
                  </a:cxn>
                  <a:cxn ang="0">
                    <a:pos x="T8" y="T9"/>
                  </a:cxn>
                </a:cxnLst>
                <a:rect l="0" t="0" r="r" b="b"/>
                <a:pathLst>
                  <a:path w="34" h="37">
                    <a:moveTo>
                      <a:pt x="34" y="37"/>
                    </a:moveTo>
                    <a:cubicBezTo>
                      <a:pt x="28" y="0"/>
                      <a:pt x="28" y="0"/>
                      <a:pt x="28" y="0"/>
                    </a:cubicBezTo>
                    <a:cubicBezTo>
                      <a:pt x="0" y="26"/>
                      <a:pt x="0" y="26"/>
                      <a:pt x="0" y="26"/>
                    </a:cubicBezTo>
                    <a:cubicBezTo>
                      <a:pt x="5" y="28"/>
                      <a:pt x="12" y="29"/>
                      <a:pt x="18" y="32"/>
                    </a:cubicBezTo>
                    <a:cubicBezTo>
                      <a:pt x="23" y="34"/>
                      <a:pt x="29" y="36"/>
                      <a:pt x="34" y="3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23" name="Freeform 16">
                <a:extLst>
                  <a:ext uri="{FF2B5EF4-FFF2-40B4-BE49-F238E27FC236}">
                    <a16:creationId xmlns:a16="http://schemas.microsoft.com/office/drawing/2014/main" id="{EFB32748-BC54-44BB-9233-82EF40976C93}"/>
                  </a:ext>
                </a:extLst>
              </p:cNvPr>
              <p:cNvSpPr>
                <a:spLocks/>
              </p:cNvSpPr>
              <p:nvPr/>
            </p:nvSpPr>
            <p:spPr bwMode="auto">
              <a:xfrm>
                <a:off x="8555038" y="8140701"/>
                <a:ext cx="112713" cy="123825"/>
              </a:xfrm>
              <a:custGeom>
                <a:avLst/>
                <a:gdLst>
                  <a:gd name="T0" fmla="*/ 35 w 35"/>
                  <a:gd name="T1" fmla="*/ 27 h 38"/>
                  <a:gd name="T2" fmla="*/ 8 w 35"/>
                  <a:gd name="T3" fmla="*/ 0 h 38"/>
                  <a:gd name="T4" fmla="*/ 0 w 35"/>
                  <a:gd name="T5" fmla="*/ 38 h 38"/>
                  <a:gd name="T6" fmla="*/ 19 w 35"/>
                  <a:gd name="T7" fmla="*/ 32 h 38"/>
                  <a:gd name="T8" fmla="*/ 35 w 35"/>
                  <a:gd name="T9" fmla="*/ 27 h 38"/>
                </a:gdLst>
                <a:ahLst/>
                <a:cxnLst>
                  <a:cxn ang="0">
                    <a:pos x="T0" y="T1"/>
                  </a:cxn>
                  <a:cxn ang="0">
                    <a:pos x="T2" y="T3"/>
                  </a:cxn>
                  <a:cxn ang="0">
                    <a:pos x="T4" y="T5"/>
                  </a:cxn>
                  <a:cxn ang="0">
                    <a:pos x="T6" y="T7"/>
                  </a:cxn>
                  <a:cxn ang="0">
                    <a:pos x="T8" y="T9"/>
                  </a:cxn>
                </a:cxnLst>
                <a:rect l="0" t="0" r="r" b="b"/>
                <a:pathLst>
                  <a:path w="35" h="38">
                    <a:moveTo>
                      <a:pt x="35" y="27"/>
                    </a:moveTo>
                    <a:cubicBezTo>
                      <a:pt x="8" y="0"/>
                      <a:pt x="8" y="0"/>
                      <a:pt x="8" y="0"/>
                    </a:cubicBezTo>
                    <a:cubicBezTo>
                      <a:pt x="0" y="38"/>
                      <a:pt x="0" y="38"/>
                      <a:pt x="0" y="38"/>
                    </a:cubicBezTo>
                    <a:cubicBezTo>
                      <a:pt x="6" y="36"/>
                      <a:pt x="12" y="34"/>
                      <a:pt x="19" y="32"/>
                    </a:cubicBezTo>
                    <a:cubicBezTo>
                      <a:pt x="24" y="31"/>
                      <a:pt x="30" y="28"/>
                      <a:pt x="35" y="2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24" name="Freeform 17">
                <a:extLst>
                  <a:ext uri="{FF2B5EF4-FFF2-40B4-BE49-F238E27FC236}">
                    <a16:creationId xmlns:a16="http://schemas.microsoft.com/office/drawing/2014/main" id="{4E2E9036-5A31-4D8B-98FB-2C05A03A5721}"/>
                  </a:ext>
                </a:extLst>
              </p:cNvPr>
              <p:cNvSpPr>
                <a:spLocks/>
              </p:cNvSpPr>
              <p:nvPr/>
            </p:nvSpPr>
            <p:spPr bwMode="auto">
              <a:xfrm>
                <a:off x="8439150" y="8189913"/>
                <a:ext cx="109538" cy="123825"/>
              </a:xfrm>
              <a:custGeom>
                <a:avLst/>
                <a:gdLst>
                  <a:gd name="T0" fmla="*/ 34 w 34"/>
                  <a:gd name="T1" fmla="*/ 24 h 38"/>
                  <a:gd name="T2" fmla="*/ 5 w 34"/>
                  <a:gd name="T3" fmla="*/ 0 h 38"/>
                  <a:gd name="T4" fmla="*/ 0 w 34"/>
                  <a:gd name="T5" fmla="*/ 38 h 38"/>
                  <a:gd name="T6" fmla="*/ 19 w 34"/>
                  <a:gd name="T7" fmla="*/ 31 h 38"/>
                  <a:gd name="T8" fmla="*/ 34 w 34"/>
                  <a:gd name="T9" fmla="*/ 24 h 38"/>
                </a:gdLst>
                <a:ahLst/>
                <a:cxnLst>
                  <a:cxn ang="0">
                    <a:pos x="T0" y="T1"/>
                  </a:cxn>
                  <a:cxn ang="0">
                    <a:pos x="T2" y="T3"/>
                  </a:cxn>
                  <a:cxn ang="0">
                    <a:pos x="T4" y="T5"/>
                  </a:cxn>
                  <a:cxn ang="0">
                    <a:pos x="T6" y="T7"/>
                  </a:cxn>
                  <a:cxn ang="0">
                    <a:pos x="T8" y="T9"/>
                  </a:cxn>
                </a:cxnLst>
                <a:rect l="0" t="0" r="r" b="b"/>
                <a:pathLst>
                  <a:path w="34" h="38">
                    <a:moveTo>
                      <a:pt x="34" y="24"/>
                    </a:moveTo>
                    <a:cubicBezTo>
                      <a:pt x="5" y="0"/>
                      <a:pt x="5" y="0"/>
                      <a:pt x="5" y="0"/>
                    </a:cubicBezTo>
                    <a:cubicBezTo>
                      <a:pt x="0" y="38"/>
                      <a:pt x="0" y="38"/>
                      <a:pt x="0" y="38"/>
                    </a:cubicBezTo>
                    <a:cubicBezTo>
                      <a:pt x="7" y="36"/>
                      <a:pt x="12" y="33"/>
                      <a:pt x="19" y="31"/>
                    </a:cubicBezTo>
                    <a:cubicBezTo>
                      <a:pt x="23" y="29"/>
                      <a:pt x="29" y="26"/>
                      <a:pt x="34" y="2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25" name="Freeform 18">
                <a:extLst>
                  <a:ext uri="{FF2B5EF4-FFF2-40B4-BE49-F238E27FC236}">
                    <a16:creationId xmlns:a16="http://schemas.microsoft.com/office/drawing/2014/main" id="{E9F1A2BB-879B-4D26-81BC-D0D942035352}"/>
                  </a:ext>
                </a:extLst>
              </p:cNvPr>
              <p:cNvSpPr>
                <a:spLocks/>
              </p:cNvSpPr>
              <p:nvPr/>
            </p:nvSpPr>
            <p:spPr bwMode="auto">
              <a:xfrm>
                <a:off x="8334375" y="8251826"/>
                <a:ext cx="101600" cy="127000"/>
              </a:xfrm>
              <a:custGeom>
                <a:avLst/>
                <a:gdLst>
                  <a:gd name="T0" fmla="*/ 17 w 32"/>
                  <a:gd name="T1" fmla="*/ 29 h 39"/>
                  <a:gd name="T2" fmla="*/ 32 w 32"/>
                  <a:gd name="T3" fmla="*/ 20 h 39"/>
                  <a:gd name="T4" fmla="*/ 0 w 32"/>
                  <a:gd name="T5" fmla="*/ 0 h 39"/>
                  <a:gd name="T6" fmla="*/ 1 w 32"/>
                  <a:gd name="T7" fmla="*/ 39 h 39"/>
                  <a:gd name="T8" fmla="*/ 17 w 32"/>
                  <a:gd name="T9" fmla="*/ 29 h 39"/>
                </a:gdLst>
                <a:ahLst/>
                <a:cxnLst>
                  <a:cxn ang="0">
                    <a:pos x="T0" y="T1"/>
                  </a:cxn>
                  <a:cxn ang="0">
                    <a:pos x="T2" y="T3"/>
                  </a:cxn>
                  <a:cxn ang="0">
                    <a:pos x="T4" y="T5"/>
                  </a:cxn>
                  <a:cxn ang="0">
                    <a:pos x="T6" y="T7"/>
                  </a:cxn>
                  <a:cxn ang="0">
                    <a:pos x="T8" y="T9"/>
                  </a:cxn>
                </a:cxnLst>
                <a:rect l="0" t="0" r="r" b="b"/>
                <a:pathLst>
                  <a:path w="32" h="39">
                    <a:moveTo>
                      <a:pt x="17" y="29"/>
                    </a:moveTo>
                    <a:cubicBezTo>
                      <a:pt x="23" y="26"/>
                      <a:pt x="27" y="23"/>
                      <a:pt x="32" y="20"/>
                    </a:cubicBezTo>
                    <a:cubicBezTo>
                      <a:pt x="0" y="0"/>
                      <a:pt x="0" y="0"/>
                      <a:pt x="0" y="0"/>
                    </a:cubicBezTo>
                    <a:cubicBezTo>
                      <a:pt x="1" y="39"/>
                      <a:pt x="1" y="39"/>
                      <a:pt x="1" y="39"/>
                    </a:cubicBezTo>
                    <a:cubicBezTo>
                      <a:pt x="6" y="36"/>
                      <a:pt x="12" y="32"/>
                      <a:pt x="17" y="2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26" name="Freeform 19">
                <a:extLst>
                  <a:ext uri="{FF2B5EF4-FFF2-40B4-BE49-F238E27FC236}">
                    <a16:creationId xmlns:a16="http://schemas.microsoft.com/office/drawing/2014/main" id="{FAEE0DB9-7B17-4E19-B527-B43394EA0D74}"/>
                  </a:ext>
                </a:extLst>
              </p:cNvPr>
              <p:cNvSpPr>
                <a:spLocks/>
              </p:cNvSpPr>
              <p:nvPr/>
            </p:nvSpPr>
            <p:spPr bwMode="auto">
              <a:xfrm>
                <a:off x="8670925" y="8104188"/>
                <a:ext cx="114300" cy="120650"/>
              </a:xfrm>
              <a:custGeom>
                <a:avLst/>
                <a:gdLst>
                  <a:gd name="T0" fmla="*/ 36 w 36"/>
                  <a:gd name="T1" fmla="*/ 30 h 37"/>
                  <a:gd name="T2" fmla="*/ 12 w 36"/>
                  <a:gd name="T3" fmla="*/ 0 h 37"/>
                  <a:gd name="T4" fmla="*/ 0 w 36"/>
                  <a:gd name="T5" fmla="*/ 37 h 37"/>
                  <a:gd name="T6" fmla="*/ 20 w 36"/>
                  <a:gd name="T7" fmla="*/ 33 h 37"/>
                  <a:gd name="T8" fmla="*/ 36 w 36"/>
                  <a:gd name="T9" fmla="*/ 30 h 37"/>
                </a:gdLst>
                <a:ahLst/>
                <a:cxnLst>
                  <a:cxn ang="0">
                    <a:pos x="T0" y="T1"/>
                  </a:cxn>
                  <a:cxn ang="0">
                    <a:pos x="T2" y="T3"/>
                  </a:cxn>
                  <a:cxn ang="0">
                    <a:pos x="T4" y="T5"/>
                  </a:cxn>
                  <a:cxn ang="0">
                    <a:pos x="T6" y="T7"/>
                  </a:cxn>
                  <a:cxn ang="0">
                    <a:pos x="T8" y="T9"/>
                  </a:cxn>
                </a:cxnLst>
                <a:rect l="0" t="0" r="r" b="b"/>
                <a:pathLst>
                  <a:path w="36" h="37">
                    <a:moveTo>
                      <a:pt x="36" y="30"/>
                    </a:moveTo>
                    <a:cubicBezTo>
                      <a:pt x="12" y="0"/>
                      <a:pt x="12" y="0"/>
                      <a:pt x="12" y="0"/>
                    </a:cubicBezTo>
                    <a:cubicBezTo>
                      <a:pt x="0" y="37"/>
                      <a:pt x="0" y="37"/>
                      <a:pt x="0" y="37"/>
                    </a:cubicBezTo>
                    <a:cubicBezTo>
                      <a:pt x="7" y="36"/>
                      <a:pt x="13" y="34"/>
                      <a:pt x="20" y="33"/>
                    </a:cubicBezTo>
                    <a:cubicBezTo>
                      <a:pt x="25" y="32"/>
                      <a:pt x="31" y="31"/>
                      <a:pt x="36" y="3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27" name="Freeform 20">
                <a:extLst>
                  <a:ext uri="{FF2B5EF4-FFF2-40B4-BE49-F238E27FC236}">
                    <a16:creationId xmlns:a16="http://schemas.microsoft.com/office/drawing/2014/main" id="{E55F4B8D-D945-4C3A-A87D-9CC64773E59E}"/>
                  </a:ext>
                </a:extLst>
              </p:cNvPr>
              <p:cNvSpPr>
                <a:spLocks/>
              </p:cNvSpPr>
              <p:nvPr/>
            </p:nvSpPr>
            <p:spPr bwMode="auto">
              <a:xfrm>
                <a:off x="9039225" y="8085138"/>
                <a:ext cx="114300" cy="117475"/>
              </a:xfrm>
              <a:custGeom>
                <a:avLst/>
                <a:gdLst>
                  <a:gd name="T0" fmla="*/ 36 w 36"/>
                  <a:gd name="T1" fmla="*/ 36 h 36"/>
                  <a:gd name="T2" fmla="*/ 22 w 36"/>
                  <a:gd name="T3" fmla="*/ 0 h 36"/>
                  <a:gd name="T4" fmla="*/ 0 w 36"/>
                  <a:gd name="T5" fmla="*/ 31 h 36"/>
                  <a:gd name="T6" fmla="*/ 20 w 36"/>
                  <a:gd name="T7" fmla="*/ 33 h 36"/>
                  <a:gd name="T8" fmla="*/ 36 w 36"/>
                  <a:gd name="T9" fmla="*/ 36 h 36"/>
                </a:gdLst>
                <a:ahLst/>
                <a:cxnLst>
                  <a:cxn ang="0">
                    <a:pos x="T0" y="T1"/>
                  </a:cxn>
                  <a:cxn ang="0">
                    <a:pos x="T2" y="T3"/>
                  </a:cxn>
                  <a:cxn ang="0">
                    <a:pos x="T4" y="T5"/>
                  </a:cxn>
                  <a:cxn ang="0">
                    <a:pos x="T6" y="T7"/>
                  </a:cxn>
                  <a:cxn ang="0">
                    <a:pos x="T8" y="T9"/>
                  </a:cxn>
                </a:cxnLst>
                <a:rect l="0" t="0" r="r" b="b"/>
                <a:pathLst>
                  <a:path w="36" h="36">
                    <a:moveTo>
                      <a:pt x="36" y="36"/>
                    </a:moveTo>
                    <a:cubicBezTo>
                      <a:pt x="22" y="0"/>
                      <a:pt x="22" y="0"/>
                      <a:pt x="22" y="0"/>
                    </a:cubicBezTo>
                    <a:cubicBezTo>
                      <a:pt x="0" y="31"/>
                      <a:pt x="0" y="31"/>
                      <a:pt x="0" y="31"/>
                    </a:cubicBezTo>
                    <a:cubicBezTo>
                      <a:pt x="7" y="32"/>
                      <a:pt x="14" y="32"/>
                      <a:pt x="20" y="33"/>
                    </a:cubicBezTo>
                    <a:cubicBezTo>
                      <a:pt x="25" y="33"/>
                      <a:pt x="31" y="35"/>
                      <a:pt x="36" y="3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28" name="Freeform 21">
                <a:extLst>
                  <a:ext uri="{FF2B5EF4-FFF2-40B4-BE49-F238E27FC236}">
                    <a16:creationId xmlns:a16="http://schemas.microsoft.com/office/drawing/2014/main" id="{A0C292CE-7618-4014-AED2-C1FE89DFF134}"/>
                  </a:ext>
                </a:extLst>
              </p:cNvPr>
              <p:cNvSpPr>
                <a:spLocks/>
              </p:cNvSpPr>
              <p:nvPr/>
            </p:nvSpPr>
            <p:spPr bwMode="auto">
              <a:xfrm>
                <a:off x="8791575" y="8085138"/>
                <a:ext cx="119063" cy="117475"/>
              </a:xfrm>
              <a:custGeom>
                <a:avLst/>
                <a:gdLst>
                  <a:gd name="T0" fmla="*/ 37 w 37"/>
                  <a:gd name="T1" fmla="*/ 31 h 36"/>
                  <a:gd name="T2" fmla="*/ 16 w 37"/>
                  <a:gd name="T3" fmla="*/ 0 h 36"/>
                  <a:gd name="T4" fmla="*/ 0 w 37"/>
                  <a:gd name="T5" fmla="*/ 36 h 36"/>
                  <a:gd name="T6" fmla="*/ 20 w 37"/>
                  <a:gd name="T7" fmla="*/ 33 h 36"/>
                  <a:gd name="T8" fmla="*/ 37 w 37"/>
                  <a:gd name="T9" fmla="*/ 31 h 36"/>
                </a:gdLst>
                <a:ahLst/>
                <a:cxnLst>
                  <a:cxn ang="0">
                    <a:pos x="T0" y="T1"/>
                  </a:cxn>
                  <a:cxn ang="0">
                    <a:pos x="T2" y="T3"/>
                  </a:cxn>
                  <a:cxn ang="0">
                    <a:pos x="T4" y="T5"/>
                  </a:cxn>
                  <a:cxn ang="0">
                    <a:pos x="T6" y="T7"/>
                  </a:cxn>
                  <a:cxn ang="0">
                    <a:pos x="T8" y="T9"/>
                  </a:cxn>
                </a:cxnLst>
                <a:rect l="0" t="0" r="r" b="b"/>
                <a:pathLst>
                  <a:path w="37" h="36">
                    <a:moveTo>
                      <a:pt x="37" y="31"/>
                    </a:moveTo>
                    <a:cubicBezTo>
                      <a:pt x="16" y="0"/>
                      <a:pt x="16" y="0"/>
                      <a:pt x="16" y="0"/>
                    </a:cubicBezTo>
                    <a:cubicBezTo>
                      <a:pt x="0" y="36"/>
                      <a:pt x="0" y="36"/>
                      <a:pt x="0" y="36"/>
                    </a:cubicBezTo>
                    <a:cubicBezTo>
                      <a:pt x="7" y="35"/>
                      <a:pt x="13" y="33"/>
                      <a:pt x="20" y="33"/>
                    </a:cubicBezTo>
                    <a:cubicBezTo>
                      <a:pt x="25" y="32"/>
                      <a:pt x="31" y="32"/>
                      <a:pt x="37" y="31"/>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29" name="Freeform 22">
                <a:extLst>
                  <a:ext uri="{FF2B5EF4-FFF2-40B4-BE49-F238E27FC236}">
                    <a16:creationId xmlns:a16="http://schemas.microsoft.com/office/drawing/2014/main" id="{FD11ED57-C0B9-4E02-8911-24F852795DF4}"/>
                  </a:ext>
                </a:extLst>
              </p:cNvPr>
              <p:cNvSpPr>
                <a:spLocks/>
              </p:cNvSpPr>
              <p:nvPr/>
            </p:nvSpPr>
            <p:spPr bwMode="auto">
              <a:xfrm>
                <a:off x="9807575" y="9728201"/>
                <a:ext cx="85725" cy="65088"/>
              </a:xfrm>
              <a:custGeom>
                <a:avLst/>
                <a:gdLst>
                  <a:gd name="T0" fmla="*/ 0 w 54"/>
                  <a:gd name="T1" fmla="*/ 18 h 41"/>
                  <a:gd name="T2" fmla="*/ 44 w 54"/>
                  <a:gd name="T3" fmla="*/ 41 h 41"/>
                  <a:gd name="T4" fmla="*/ 54 w 54"/>
                  <a:gd name="T5" fmla="*/ 22 h 41"/>
                  <a:gd name="T6" fmla="*/ 8 w 54"/>
                  <a:gd name="T7" fmla="*/ 0 h 41"/>
                  <a:gd name="T8" fmla="*/ 0 w 54"/>
                  <a:gd name="T9" fmla="*/ 18 h 41"/>
                </a:gdLst>
                <a:ahLst/>
                <a:cxnLst>
                  <a:cxn ang="0">
                    <a:pos x="T0" y="T1"/>
                  </a:cxn>
                  <a:cxn ang="0">
                    <a:pos x="T2" y="T3"/>
                  </a:cxn>
                  <a:cxn ang="0">
                    <a:pos x="T4" y="T5"/>
                  </a:cxn>
                  <a:cxn ang="0">
                    <a:pos x="T6" y="T7"/>
                  </a:cxn>
                  <a:cxn ang="0">
                    <a:pos x="T8" y="T9"/>
                  </a:cxn>
                </a:cxnLst>
                <a:rect l="0" t="0" r="r" b="b"/>
                <a:pathLst>
                  <a:path w="54" h="41">
                    <a:moveTo>
                      <a:pt x="0" y="18"/>
                    </a:moveTo>
                    <a:lnTo>
                      <a:pt x="44" y="41"/>
                    </a:lnTo>
                    <a:lnTo>
                      <a:pt x="54" y="22"/>
                    </a:lnTo>
                    <a:lnTo>
                      <a:pt x="8" y="0"/>
                    </a:lnTo>
                    <a:lnTo>
                      <a:pt x="0" y="1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30" name="Freeform 23">
                <a:extLst>
                  <a:ext uri="{FF2B5EF4-FFF2-40B4-BE49-F238E27FC236}">
                    <a16:creationId xmlns:a16="http://schemas.microsoft.com/office/drawing/2014/main" id="{04EF1F44-5B97-440E-8F86-F3A4AD30DBD2}"/>
                  </a:ext>
                </a:extLst>
              </p:cNvPr>
              <p:cNvSpPr>
                <a:spLocks/>
              </p:cNvSpPr>
              <p:nvPr/>
            </p:nvSpPr>
            <p:spPr bwMode="auto">
              <a:xfrm>
                <a:off x="8913813" y="8078788"/>
                <a:ext cx="119063" cy="107950"/>
              </a:xfrm>
              <a:custGeom>
                <a:avLst/>
                <a:gdLst>
                  <a:gd name="T0" fmla="*/ 75 w 75"/>
                  <a:gd name="T1" fmla="*/ 68 h 68"/>
                  <a:gd name="T2" fmla="*/ 40 w 75"/>
                  <a:gd name="T3" fmla="*/ 0 h 68"/>
                  <a:gd name="T4" fmla="*/ 40 w 75"/>
                  <a:gd name="T5" fmla="*/ 0 h 68"/>
                  <a:gd name="T6" fmla="*/ 0 w 75"/>
                  <a:gd name="T7" fmla="*/ 68 h 68"/>
                  <a:gd name="T8" fmla="*/ 40 w 75"/>
                  <a:gd name="T9" fmla="*/ 68 h 68"/>
                  <a:gd name="T10" fmla="*/ 75 w 75"/>
                  <a:gd name="T11" fmla="*/ 68 h 68"/>
                </a:gdLst>
                <a:ahLst/>
                <a:cxnLst>
                  <a:cxn ang="0">
                    <a:pos x="T0" y="T1"/>
                  </a:cxn>
                  <a:cxn ang="0">
                    <a:pos x="T2" y="T3"/>
                  </a:cxn>
                  <a:cxn ang="0">
                    <a:pos x="T4" y="T5"/>
                  </a:cxn>
                  <a:cxn ang="0">
                    <a:pos x="T6" y="T7"/>
                  </a:cxn>
                  <a:cxn ang="0">
                    <a:pos x="T8" y="T9"/>
                  </a:cxn>
                  <a:cxn ang="0">
                    <a:pos x="T10" y="T11"/>
                  </a:cxn>
                </a:cxnLst>
                <a:rect l="0" t="0" r="r" b="b"/>
                <a:pathLst>
                  <a:path w="75" h="68">
                    <a:moveTo>
                      <a:pt x="75" y="68"/>
                    </a:moveTo>
                    <a:lnTo>
                      <a:pt x="40" y="0"/>
                    </a:lnTo>
                    <a:lnTo>
                      <a:pt x="40" y="0"/>
                    </a:lnTo>
                    <a:lnTo>
                      <a:pt x="0" y="68"/>
                    </a:lnTo>
                    <a:lnTo>
                      <a:pt x="40" y="68"/>
                    </a:lnTo>
                    <a:lnTo>
                      <a:pt x="75" y="6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31" name="Freeform 24">
                <a:extLst>
                  <a:ext uri="{FF2B5EF4-FFF2-40B4-BE49-F238E27FC236}">
                    <a16:creationId xmlns:a16="http://schemas.microsoft.com/office/drawing/2014/main" id="{C7931467-98AC-4EC3-873D-C3CAFBF983D4}"/>
                  </a:ext>
                </a:extLst>
              </p:cNvPr>
              <p:cNvSpPr>
                <a:spLocks/>
              </p:cNvSpPr>
              <p:nvPr/>
            </p:nvSpPr>
            <p:spPr bwMode="auto">
              <a:xfrm>
                <a:off x="8901113" y="10288588"/>
                <a:ext cx="31750" cy="52388"/>
              </a:xfrm>
              <a:custGeom>
                <a:avLst/>
                <a:gdLst>
                  <a:gd name="T0" fmla="*/ 8 w 20"/>
                  <a:gd name="T1" fmla="*/ 0 h 33"/>
                  <a:gd name="T2" fmla="*/ 0 w 20"/>
                  <a:gd name="T3" fmla="*/ 33 h 33"/>
                  <a:gd name="T4" fmla="*/ 20 w 20"/>
                  <a:gd name="T5" fmla="*/ 33 h 33"/>
                  <a:gd name="T6" fmla="*/ 14 w 20"/>
                  <a:gd name="T7" fmla="*/ 0 h 33"/>
                  <a:gd name="T8" fmla="*/ 8 w 20"/>
                  <a:gd name="T9" fmla="*/ 0 h 33"/>
                </a:gdLst>
                <a:ahLst/>
                <a:cxnLst>
                  <a:cxn ang="0">
                    <a:pos x="T0" y="T1"/>
                  </a:cxn>
                  <a:cxn ang="0">
                    <a:pos x="T2" y="T3"/>
                  </a:cxn>
                  <a:cxn ang="0">
                    <a:pos x="T4" y="T5"/>
                  </a:cxn>
                  <a:cxn ang="0">
                    <a:pos x="T6" y="T7"/>
                  </a:cxn>
                  <a:cxn ang="0">
                    <a:pos x="T8" y="T9"/>
                  </a:cxn>
                </a:cxnLst>
                <a:rect l="0" t="0" r="r" b="b"/>
                <a:pathLst>
                  <a:path w="20" h="33">
                    <a:moveTo>
                      <a:pt x="8" y="0"/>
                    </a:moveTo>
                    <a:lnTo>
                      <a:pt x="0" y="33"/>
                    </a:lnTo>
                    <a:lnTo>
                      <a:pt x="20" y="33"/>
                    </a:lnTo>
                    <a:lnTo>
                      <a:pt x="14" y="0"/>
                    </a:lnTo>
                    <a:lnTo>
                      <a:pt x="8" y="0"/>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32" name="Freeform 25">
                <a:extLst>
                  <a:ext uri="{FF2B5EF4-FFF2-40B4-BE49-F238E27FC236}">
                    <a16:creationId xmlns:a16="http://schemas.microsoft.com/office/drawing/2014/main" id="{D69B343B-CDC1-41EC-8E86-34EF3DD6BE46}"/>
                  </a:ext>
                </a:extLst>
              </p:cNvPr>
              <p:cNvSpPr>
                <a:spLocks/>
              </p:cNvSpPr>
              <p:nvPr/>
            </p:nvSpPr>
            <p:spPr bwMode="auto">
              <a:xfrm>
                <a:off x="9058275" y="8401051"/>
                <a:ext cx="31750" cy="30163"/>
              </a:xfrm>
              <a:custGeom>
                <a:avLst/>
                <a:gdLst>
                  <a:gd name="T0" fmla="*/ 0 w 20"/>
                  <a:gd name="T1" fmla="*/ 17 h 19"/>
                  <a:gd name="T2" fmla="*/ 18 w 20"/>
                  <a:gd name="T3" fmla="*/ 19 h 19"/>
                  <a:gd name="T4" fmla="*/ 20 w 20"/>
                  <a:gd name="T5" fmla="*/ 2 h 19"/>
                  <a:gd name="T6" fmla="*/ 0 w 20"/>
                  <a:gd name="T7" fmla="*/ 0 h 19"/>
                  <a:gd name="T8" fmla="*/ 0 w 20"/>
                  <a:gd name="T9" fmla="*/ 17 h 19"/>
                </a:gdLst>
                <a:ahLst/>
                <a:cxnLst>
                  <a:cxn ang="0">
                    <a:pos x="T0" y="T1"/>
                  </a:cxn>
                  <a:cxn ang="0">
                    <a:pos x="T2" y="T3"/>
                  </a:cxn>
                  <a:cxn ang="0">
                    <a:pos x="T4" y="T5"/>
                  </a:cxn>
                  <a:cxn ang="0">
                    <a:pos x="T6" y="T7"/>
                  </a:cxn>
                  <a:cxn ang="0">
                    <a:pos x="T8" y="T9"/>
                  </a:cxn>
                </a:cxnLst>
                <a:rect l="0" t="0" r="r" b="b"/>
                <a:pathLst>
                  <a:path w="20" h="19">
                    <a:moveTo>
                      <a:pt x="0" y="17"/>
                    </a:moveTo>
                    <a:lnTo>
                      <a:pt x="18" y="19"/>
                    </a:lnTo>
                    <a:lnTo>
                      <a:pt x="20" y="2"/>
                    </a:lnTo>
                    <a:lnTo>
                      <a:pt x="0" y="0"/>
                    </a:lnTo>
                    <a:lnTo>
                      <a:pt x="0" y="17"/>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33" name="Freeform 26">
                <a:extLst>
                  <a:ext uri="{FF2B5EF4-FFF2-40B4-BE49-F238E27FC236}">
                    <a16:creationId xmlns:a16="http://schemas.microsoft.com/office/drawing/2014/main" id="{1D9ADF18-4B27-4D4A-9190-3695A080C183}"/>
                  </a:ext>
                </a:extLst>
              </p:cNvPr>
              <p:cNvSpPr>
                <a:spLocks/>
              </p:cNvSpPr>
              <p:nvPr/>
            </p:nvSpPr>
            <p:spPr bwMode="auto">
              <a:xfrm>
                <a:off x="8677275" y="9574213"/>
                <a:ext cx="158750" cy="463550"/>
              </a:xfrm>
              <a:custGeom>
                <a:avLst/>
                <a:gdLst>
                  <a:gd name="T0" fmla="*/ 25 w 50"/>
                  <a:gd name="T1" fmla="*/ 5 h 142"/>
                  <a:gd name="T2" fmla="*/ 12 w 50"/>
                  <a:gd name="T3" fmla="*/ 0 h 142"/>
                  <a:gd name="T4" fmla="*/ 0 w 50"/>
                  <a:gd name="T5" fmla="*/ 4 h 142"/>
                  <a:gd name="T6" fmla="*/ 0 w 50"/>
                  <a:gd name="T7" fmla="*/ 5 h 142"/>
                  <a:gd name="T8" fmla="*/ 0 w 50"/>
                  <a:gd name="T9" fmla="*/ 12 h 142"/>
                  <a:gd name="T10" fmla="*/ 50 w 50"/>
                  <a:gd name="T11" fmla="*/ 142 h 142"/>
                  <a:gd name="T12" fmla="*/ 25 w 50"/>
                  <a:gd name="T13" fmla="*/ 7 h 142"/>
                  <a:gd name="T14" fmla="*/ 25 w 50"/>
                  <a:gd name="T15" fmla="*/ 5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42">
                    <a:moveTo>
                      <a:pt x="25" y="5"/>
                    </a:moveTo>
                    <a:cubicBezTo>
                      <a:pt x="21" y="3"/>
                      <a:pt x="17" y="0"/>
                      <a:pt x="12" y="0"/>
                    </a:cubicBezTo>
                    <a:cubicBezTo>
                      <a:pt x="8" y="0"/>
                      <a:pt x="4" y="2"/>
                      <a:pt x="0" y="4"/>
                    </a:cubicBezTo>
                    <a:cubicBezTo>
                      <a:pt x="0" y="5"/>
                      <a:pt x="0" y="5"/>
                      <a:pt x="0" y="5"/>
                    </a:cubicBezTo>
                    <a:cubicBezTo>
                      <a:pt x="0" y="12"/>
                      <a:pt x="0" y="12"/>
                      <a:pt x="0" y="12"/>
                    </a:cubicBezTo>
                    <a:cubicBezTo>
                      <a:pt x="0" y="62"/>
                      <a:pt x="19" y="107"/>
                      <a:pt x="50" y="142"/>
                    </a:cubicBezTo>
                    <a:cubicBezTo>
                      <a:pt x="34" y="100"/>
                      <a:pt x="25" y="55"/>
                      <a:pt x="25" y="7"/>
                    </a:cubicBezTo>
                    <a:lnTo>
                      <a:pt x="25" y="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34" name="Freeform 27">
                <a:extLst>
                  <a:ext uri="{FF2B5EF4-FFF2-40B4-BE49-F238E27FC236}">
                    <a16:creationId xmlns:a16="http://schemas.microsoft.com/office/drawing/2014/main" id="{7A6DCC7F-D046-46A1-B765-34C203DAB0B8}"/>
                  </a:ext>
                </a:extLst>
              </p:cNvPr>
              <p:cNvSpPr>
                <a:spLocks/>
              </p:cNvSpPr>
              <p:nvPr/>
            </p:nvSpPr>
            <p:spPr bwMode="auto">
              <a:xfrm>
                <a:off x="9128125" y="9574213"/>
                <a:ext cx="160338" cy="463550"/>
              </a:xfrm>
              <a:custGeom>
                <a:avLst/>
                <a:gdLst>
                  <a:gd name="T0" fmla="*/ 26 w 50"/>
                  <a:gd name="T1" fmla="*/ 5 h 142"/>
                  <a:gd name="T2" fmla="*/ 26 w 50"/>
                  <a:gd name="T3" fmla="*/ 7 h 142"/>
                  <a:gd name="T4" fmla="*/ 0 w 50"/>
                  <a:gd name="T5" fmla="*/ 142 h 142"/>
                  <a:gd name="T6" fmla="*/ 1 w 50"/>
                  <a:gd name="T7" fmla="*/ 142 h 142"/>
                  <a:gd name="T8" fmla="*/ 50 w 50"/>
                  <a:gd name="T9" fmla="*/ 12 h 142"/>
                  <a:gd name="T10" fmla="*/ 50 w 50"/>
                  <a:gd name="T11" fmla="*/ 5 h 142"/>
                  <a:gd name="T12" fmla="*/ 50 w 50"/>
                  <a:gd name="T13" fmla="*/ 4 h 142"/>
                  <a:gd name="T14" fmla="*/ 39 w 50"/>
                  <a:gd name="T15" fmla="*/ 0 h 142"/>
                  <a:gd name="T16" fmla="*/ 26 w 50"/>
                  <a:gd name="T17" fmla="*/ 5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142">
                    <a:moveTo>
                      <a:pt x="26" y="5"/>
                    </a:moveTo>
                    <a:cubicBezTo>
                      <a:pt x="26" y="7"/>
                      <a:pt x="26" y="7"/>
                      <a:pt x="26" y="7"/>
                    </a:cubicBezTo>
                    <a:cubicBezTo>
                      <a:pt x="26" y="55"/>
                      <a:pt x="17" y="100"/>
                      <a:pt x="0" y="142"/>
                    </a:cubicBezTo>
                    <a:cubicBezTo>
                      <a:pt x="1" y="142"/>
                      <a:pt x="1" y="142"/>
                      <a:pt x="1" y="142"/>
                    </a:cubicBezTo>
                    <a:cubicBezTo>
                      <a:pt x="31" y="107"/>
                      <a:pt x="50" y="62"/>
                      <a:pt x="50" y="12"/>
                    </a:cubicBezTo>
                    <a:cubicBezTo>
                      <a:pt x="50" y="5"/>
                      <a:pt x="50" y="5"/>
                      <a:pt x="50" y="5"/>
                    </a:cubicBezTo>
                    <a:cubicBezTo>
                      <a:pt x="50" y="4"/>
                      <a:pt x="50" y="4"/>
                      <a:pt x="50" y="4"/>
                    </a:cubicBezTo>
                    <a:cubicBezTo>
                      <a:pt x="46" y="2"/>
                      <a:pt x="42" y="0"/>
                      <a:pt x="39" y="0"/>
                    </a:cubicBezTo>
                    <a:cubicBezTo>
                      <a:pt x="33" y="0"/>
                      <a:pt x="29" y="3"/>
                      <a:pt x="26" y="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35" name="Freeform 28">
                <a:extLst>
                  <a:ext uri="{FF2B5EF4-FFF2-40B4-BE49-F238E27FC236}">
                    <a16:creationId xmlns:a16="http://schemas.microsoft.com/office/drawing/2014/main" id="{8793AB89-0B04-4DB4-9B69-2DC5BA348B78}"/>
                  </a:ext>
                </a:extLst>
              </p:cNvPr>
              <p:cNvSpPr>
                <a:spLocks noEditPoints="1"/>
              </p:cNvSpPr>
              <p:nvPr/>
            </p:nvSpPr>
            <p:spPr bwMode="auto">
              <a:xfrm>
                <a:off x="9144000" y="8782051"/>
                <a:ext cx="525463" cy="785813"/>
              </a:xfrm>
              <a:custGeom>
                <a:avLst/>
                <a:gdLst>
                  <a:gd name="T0" fmla="*/ 54 w 164"/>
                  <a:gd name="T1" fmla="*/ 90 h 241"/>
                  <a:gd name="T2" fmla="*/ 35 w 164"/>
                  <a:gd name="T3" fmla="*/ 137 h 241"/>
                  <a:gd name="T4" fmla="*/ 53 w 164"/>
                  <a:gd name="T5" fmla="*/ 176 h 241"/>
                  <a:gd name="T6" fmla="*/ 40 w 164"/>
                  <a:gd name="T7" fmla="*/ 200 h 241"/>
                  <a:gd name="T8" fmla="*/ 28 w 164"/>
                  <a:gd name="T9" fmla="*/ 188 h 241"/>
                  <a:gd name="T10" fmla="*/ 9 w 164"/>
                  <a:gd name="T11" fmla="*/ 226 h 241"/>
                  <a:gd name="T12" fmla="*/ 13 w 164"/>
                  <a:gd name="T13" fmla="*/ 241 h 241"/>
                  <a:gd name="T14" fmla="*/ 14 w 164"/>
                  <a:gd name="T15" fmla="*/ 241 h 241"/>
                  <a:gd name="T16" fmla="*/ 33 w 164"/>
                  <a:gd name="T17" fmla="*/ 233 h 241"/>
                  <a:gd name="T18" fmla="*/ 51 w 164"/>
                  <a:gd name="T19" fmla="*/ 240 h 241"/>
                  <a:gd name="T20" fmla="*/ 51 w 164"/>
                  <a:gd name="T21" fmla="*/ 239 h 241"/>
                  <a:gd name="T22" fmla="*/ 50 w 164"/>
                  <a:gd name="T23" fmla="*/ 218 h 241"/>
                  <a:gd name="T24" fmla="*/ 70 w 164"/>
                  <a:gd name="T25" fmla="*/ 218 h 241"/>
                  <a:gd name="T26" fmla="*/ 164 w 164"/>
                  <a:gd name="T27" fmla="*/ 171 h 241"/>
                  <a:gd name="T28" fmla="*/ 164 w 164"/>
                  <a:gd name="T29" fmla="*/ 76 h 241"/>
                  <a:gd name="T30" fmla="*/ 71 w 164"/>
                  <a:gd name="T31" fmla="*/ 27 h 241"/>
                  <a:gd name="T32" fmla="*/ 29 w 164"/>
                  <a:gd name="T33" fmla="*/ 27 h 241"/>
                  <a:gd name="T34" fmla="*/ 0 w 164"/>
                  <a:gd name="T35" fmla="*/ 0 h 241"/>
                  <a:gd name="T36" fmla="*/ 23 w 164"/>
                  <a:gd name="T37" fmla="*/ 60 h 241"/>
                  <a:gd name="T38" fmla="*/ 54 w 164"/>
                  <a:gd name="T39" fmla="*/ 90 h 241"/>
                  <a:gd name="T40" fmla="*/ 100 w 164"/>
                  <a:gd name="T41" fmla="*/ 95 h 241"/>
                  <a:gd name="T42" fmla="*/ 140 w 164"/>
                  <a:gd name="T43" fmla="*/ 153 h 241"/>
                  <a:gd name="T44" fmla="*/ 125 w 164"/>
                  <a:gd name="T45" fmla="*/ 161 h 241"/>
                  <a:gd name="T46" fmla="*/ 110 w 164"/>
                  <a:gd name="T47" fmla="*/ 167 h 241"/>
                  <a:gd name="T48" fmla="*/ 85 w 164"/>
                  <a:gd name="T49" fmla="*/ 102 h 241"/>
                  <a:gd name="T50" fmla="*/ 125 w 164"/>
                  <a:gd name="T51" fmla="*/ 161 h 241"/>
                  <a:gd name="T52" fmla="*/ 100 w 164"/>
                  <a:gd name="T53" fmla="*/ 95 h 241"/>
                  <a:gd name="T54" fmla="*/ 110 w 164"/>
                  <a:gd name="T55" fmla="*/ 168 h 241"/>
                  <a:gd name="T56" fmla="*/ 95 w 164"/>
                  <a:gd name="T57" fmla="*/ 175 h 241"/>
                  <a:gd name="T58" fmla="*/ 70 w 164"/>
                  <a:gd name="T59" fmla="*/ 110 h 241"/>
                  <a:gd name="T60" fmla="*/ 110 w 164"/>
                  <a:gd name="T61" fmla="*/ 168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64" h="241">
                    <a:moveTo>
                      <a:pt x="54" y="90"/>
                    </a:moveTo>
                    <a:cubicBezTo>
                      <a:pt x="35" y="137"/>
                      <a:pt x="35" y="137"/>
                      <a:pt x="35" y="137"/>
                    </a:cubicBezTo>
                    <a:cubicBezTo>
                      <a:pt x="53" y="176"/>
                      <a:pt x="53" y="176"/>
                      <a:pt x="53" y="176"/>
                    </a:cubicBezTo>
                    <a:cubicBezTo>
                      <a:pt x="40" y="200"/>
                      <a:pt x="40" y="200"/>
                      <a:pt x="40" y="200"/>
                    </a:cubicBezTo>
                    <a:cubicBezTo>
                      <a:pt x="28" y="188"/>
                      <a:pt x="28" y="188"/>
                      <a:pt x="28" y="188"/>
                    </a:cubicBezTo>
                    <a:cubicBezTo>
                      <a:pt x="9" y="226"/>
                      <a:pt x="9" y="226"/>
                      <a:pt x="9" y="226"/>
                    </a:cubicBezTo>
                    <a:cubicBezTo>
                      <a:pt x="10" y="230"/>
                      <a:pt x="12" y="236"/>
                      <a:pt x="13" y="241"/>
                    </a:cubicBezTo>
                    <a:cubicBezTo>
                      <a:pt x="14" y="241"/>
                      <a:pt x="14" y="241"/>
                      <a:pt x="14" y="241"/>
                    </a:cubicBezTo>
                    <a:cubicBezTo>
                      <a:pt x="19" y="236"/>
                      <a:pt x="25" y="233"/>
                      <a:pt x="33" y="233"/>
                    </a:cubicBezTo>
                    <a:cubicBezTo>
                      <a:pt x="40" y="233"/>
                      <a:pt x="46" y="235"/>
                      <a:pt x="51" y="240"/>
                    </a:cubicBezTo>
                    <a:cubicBezTo>
                      <a:pt x="51" y="239"/>
                      <a:pt x="51" y="239"/>
                      <a:pt x="51" y="239"/>
                    </a:cubicBezTo>
                    <a:cubicBezTo>
                      <a:pt x="51" y="233"/>
                      <a:pt x="50" y="225"/>
                      <a:pt x="50" y="218"/>
                    </a:cubicBezTo>
                    <a:cubicBezTo>
                      <a:pt x="70" y="218"/>
                      <a:pt x="70" y="218"/>
                      <a:pt x="70" y="218"/>
                    </a:cubicBezTo>
                    <a:cubicBezTo>
                      <a:pt x="164" y="171"/>
                      <a:pt x="164" y="171"/>
                      <a:pt x="164" y="171"/>
                    </a:cubicBezTo>
                    <a:cubicBezTo>
                      <a:pt x="164" y="76"/>
                      <a:pt x="164" y="76"/>
                      <a:pt x="164" y="76"/>
                    </a:cubicBezTo>
                    <a:cubicBezTo>
                      <a:pt x="71" y="27"/>
                      <a:pt x="71" y="27"/>
                      <a:pt x="71" y="27"/>
                    </a:cubicBezTo>
                    <a:cubicBezTo>
                      <a:pt x="29" y="27"/>
                      <a:pt x="29" y="27"/>
                      <a:pt x="29" y="27"/>
                    </a:cubicBezTo>
                    <a:cubicBezTo>
                      <a:pt x="0" y="0"/>
                      <a:pt x="0" y="0"/>
                      <a:pt x="0" y="0"/>
                    </a:cubicBezTo>
                    <a:cubicBezTo>
                      <a:pt x="23" y="60"/>
                      <a:pt x="23" y="60"/>
                      <a:pt x="23" y="60"/>
                    </a:cubicBezTo>
                    <a:lnTo>
                      <a:pt x="54" y="90"/>
                    </a:lnTo>
                    <a:close/>
                    <a:moveTo>
                      <a:pt x="100" y="95"/>
                    </a:moveTo>
                    <a:cubicBezTo>
                      <a:pt x="140" y="153"/>
                      <a:pt x="140" y="153"/>
                      <a:pt x="140" y="153"/>
                    </a:cubicBezTo>
                    <a:cubicBezTo>
                      <a:pt x="125" y="161"/>
                      <a:pt x="125" y="161"/>
                      <a:pt x="125" y="161"/>
                    </a:cubicBezTo>
                    <a:cubicBezTo>
                      <a:pt x="110" y="167"/>
                      <a:pt x="110" y="167"/>
                      <a:pt x="110" y="167"/>
                    </a:cubicBezTo>
                    <a:cubicBezTo>
                      <a:pt x="85" y="102"/>
                      <a:pt x="85" y="102"/>
                      <a:pt x="85" y="102"/>
                    </a:cubicBezTo>
                    <a:cubicBezTo>
                      <a:pt x="125" y="161"/>
                      <a:pt x="125" y="161"/>
                      <a:pt x="125" y="161"/>
                    </a:cubicBezTo>
                    <a:lnTo>
                      <a:pt x="100" y="95"/>
                    </a:lnTo>
                    <a:close/>
                    <a:moveTo>
                      <a:pt x="110" y="168"/>
                    </a:moveTo>
                    <a:cubicBezTo>
                      <a:pt x="95" y="175"/>
                      <a:pt x="95" y="175"/>
                      <a:pt x="95" y="175"/>
                    </a:cubicBezTo>
                    <a:cubicBezTo>
                      <a:pt x="70" y="110"/>
                      <a:pt x="70" y="110"/>
                      <a:pt x="70" y="110"/>
                    </a:cubicBezTo>
                    <a:lnTo>
                      <a:pt x="110" y="16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36" name="Freeform 29">
                <a:extLst>
                  <a:ext uri="{FF2B5EF4-FFF2-40B4-BE49-F238E27FC236}">
                    <a16:creationId xmlns:a16="http://schemas.microsoft.com/office/drawing/2014/main" id="{1FECDC33-2285-4827-9B76-7BDF078D3321}"/>
                  </a:ext>
                </a:extLst>
              </p:cNvPr>
              <p:cNvSpPr>
                <a:spLocks/>
              </p:cNvSpPr>
              <p:nvPr/>
            </p:nvSpPr>
            <p:spPr bwMode="auto">
              <a:xfrm>
                <a:off x="10025063" y="8834438"/>
                <a:ext cx="125413" cy="107950"/>
              </a:xfrm>
              <a:custGeom>
                <a:avLst/>
                <a:gdLst>
                  <a:gd name="T0" fmla="*/ 9 w 39"/>
                  <a:gd name="T1" fmla="*/ 18 h 33"/>
                  <a:gd name="T2" fmla="*/ 15 w 39"/>
                  <a:gd name="T3" fmla="*/ 33 h 33"/>
                  <a:gd name="T4" fmla="*/ 39 w 39"/>
                  <a:gd name="T5" fmla="*/ 3 h 33"/>
                  <a:gd name="T6" fmla="*/ 0 w 39"/>
                  <a:gd name="T7" fmla="*/ 0 h 33"/>
                  <a:gd name="T8" fmla="*/ 9 w 39"/>
                  <a:gd name="T9" fmla="*/ 18 h 33"/>
                </a:gdLst>
                <a:ahLst/>
                <a:cxnLst>
                  <a:cxn ang="0">
                    <a:pos x="T0" y="T1"/>
                  </a:cxn>
                  <a:cxn ang="0">
                    <a:pos x="T2" y="T3"/>
                  </a:cxn>
                  <a:cxn ang="0">
                    <a:pos x="T4" y="T5"/>
                  </a:cxn>
                  <a:cxn ang="0">
                    <a:pos x="T6" y="T7"/>
                  </a:cxn>
                  <a:cxn ang="0">
                    <a:pos x="T8" y="T9"/>
                  </a:cxn>
                </a:cxnLst>
                <a:rect l="0" t="0" r="r" b="b"/>
                <a:pathLst>
                  <a:path w="39" h="33">
                    <a:moveTo>
                      <a:pt x="9" y="18"/>
                    </a:moveTo>
                    <a:cubicBezTo>
                      <a:pt x="11" y="22"/>
                      <a:pt x="13" y="27"/>
                      <a:pt x="15" y="33"/>
                    </a:cubicBezTo>
                    <a:cubicBezTo>
                      <a:pt x="39" y="3"/>
                      <a:pt x="39" y="3"/>
                      <a:pt x="39" y="3"/>
                    </a:cubicBezTo>
                    <a:cubicBezTo>
                      <a:pt x="0" y="0"/>
                      <a:pt x="0" y="0"/>
                      <a:pt x="0" y="0"/>
                    </a:cubicBezTo>
                    <a:cubicBezTo>
                      <a:pt x="3" y="6"/>
                      <a:pt x="7" y="11"/>
                      <a:pt x="9"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37" name="Freeform 30">
                <a:extLst>
                  <a:ext uri="{FF2B5EF4-FFF2-40B4-BE49-F238E27FC236}">
                    <a16:creationId xmlns:a16="http://schemas.microsoft.com/office/drawing/2014/main" id="{45C79592-8423-4DAF-9C88-75F18FBFDDC0}"/>
                  </a:ext>
                </a:extLst>
              </p:cNvPr>
              <p:cNvSpPr>
                <a:spLocks/>
              </p:cNvSpPr>
              <p:nvPr/>
            </p:nvSpPr>
            <p:spPr bwMode="auto">
              <a:xfrm>
                <a:off x="10140950" y="9186863"/>
                <a:ext cx="114300" cy="120650"/>
              </a:xfrm>
              <a:custGeom>
                <a:avLst/>
                <a:gdLst>
                  <a:gd name="T0" fmla="*/ 2 w 36"/>
                  <a:gd name="T1" fmla="*/ 19 h 37"/>
                  <a:gd name="T2" fmla="*/ 4 w 36"/>
                  <a:gd name="T3" fmla="*/ 37 h 37"/>
                  <a:gd name="T4" fmla="*/ 36 w 36"/>
                  <a:gd name="T5" fmla="*/ 15 h 37"/>
                  <a:gd name="T6" fmla="*/ 0 w 36"/>
                  <a:gd name="T7" fmla="*/ 0 h 37"/>
                  <a:gd name="T8" fmla="*/ 2 w 36"/>
                  <a:gd name="T9" fmla="*/ 19 h 37"/>
                </a:gdLst>
                <a:ahLst/>
                <a:cxnLst>
                  <a:cxn ang="0">
                    <a:pos x="T0" y="T1"/>
                  </a:cxn>
                  <a:cxn ang="0">
                    <a:pos x="T2" y="T3"/>
                  </a:cxn>
                  <a:cxn ang="0">
                    <a:pos x="T4" y="T5"/>
                  </a:cxn>
                  <a:cxn ang="0">
                    <a:pos x="T6" y="T7"/>
                  </a:cxn>
                  <a:cxn ang="0">
                    <a:pos x="T8" y="T9"/>
                  </a:cxn>
                </a:cxnLst>
                <a:rect l="0" t="0" r="r" b="b"/>
                <a:pathLst>
                  <a:path w="36" h="37">
                    <a:moveTo>
                      <a:pt x="2" y="19"/>
                    </a:moveTo>
                    <a:cubicBezTo>
                      <a:pt x="3" y="25"/>
                      <a:pt x="3" y="30"/>
                      <a:pt x="4" y="37"/>
                    </a:cubicBezTo>
                    <a:cubicBezTo>
                      <a:pt x="36" y="15"/>
                      <a:pt x="36" y="15"/>
                      <a:pt x="36" y="15"/>
                    </a:cubicBezTo>
                    <a:cubicBezTo>
                      <a:pt x="0" y="0"/>
                      <a:pt x="0" y="0"/>
                      <a:pt x="0" y="0"/>
                    </a:cubicBezTo>
                    <a:cubicBezTo>
                      <a:pt x="1" y="6"/>
                      <a:pt x="2" y="13"/>
                      <a:pt x="2" y="1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38" name="Freeform 31">
                <a:extLst>
                  <a:ext uri="{FF2B5EF4-FFF2-40B4-BE49-F238E27FC236}">
                    <a16:creationId xmlns:a16="http://schemas.microsoft.com/office/drawing/2014/main" id="{9B77F405-E9F8-4CE9-98D7-BA1F6E6B93AB}"/>
                  </a:ext>
                </a:extLst>
              </p:cNvPr>
              <p:cNvSpPr>
                <a:spLocks/>
              </p:cNvSpPr>
              <p:nvPr/>
            </p:nvSpPr>
            <p:spPr bwMode="auto">
              <a:xfrm>
                <a:off x="8221663" y="8326438"/>
                <a:ext cx="109538" cy="127000"/>
              </a:xfrm>
              <a:custGeom>
                <a:avLst/>
                <a:gdLst>
                  <a:gd name="T0" fmla="*/ 20 w 34"/>
                  <a:gd name="T1" fmla="*/ 27 h 39"/>
                  <a:gd name="T2" fmla="*/ 34 w 34"/>
                  <a:gd name="T3" fmla="*/ 17 h 39"/>
                  <a:gd name="T4" fmla="*/ 0 w 34"/>
                  <a:gd name="T5" fmla="*/ 0 h 39"/>
                  <a:gd name="T6" fmla="*/ 4 w 34"/>
                  <a:gd name="T7" fmla="*/ 39 h 39"/>
                  <a:gd name="T8" fmla="*/ 20 w 34"/>
                  <a:gd name="T9" fmla="*/ 27 h 39"/>
                </a:gdLst>
                <a:ahLst/>
                <a:cxnLst>
                  <a:cxn ang="0">
                    <a:pos x="T0" y="T1"/>
                  </a:cxn>
                  <a:cxn ang="0">
                    <a:pos x="T2" y="T3"/>
                  </a:cxn>
                  <a:cxn ang="0">
                    <a:pos x="T4" y="T5"/>
                  </a:cxn>
                  <a:cxn ang="0">
                    <a:pos x="T6" y="T7"/>
                  </a:cxn>
                  <a:cxn ang="0">
                    <a:pos x="T8" y="T9"/>
                  </a:cxn>
                </a:cxnLst>
                <a:rect l="0" t="0" r="r" b="b"/>
                <a:pathLst>
                  <a:path w="34" h="39">
                    <a:moveTo>
                      <a:pt x="20" y="27"/>
                    </a:moveTo>
                    <a:cubicBezTo>
                      <a:pt x="25" y="24"/>
                      <a:pt x="29" y="20"/>
                      <a:pt x="34" y="17"/>
                    </a:cubicBezTo>
                    <a:cubicBezTo>
                      <a:pt x="0" y="0"/>
                      <a:pt x="0" y="0"/>
                      <a:pt x="0" y="0"/>
                    </a:cubicBezTo>
                    <a:cubicBezTo>
                      <a:pt x="4" y="39"/>
                      <a:pt x="4" y="39"/>
                      <a:pt x="4" y="39"/>
                    </a:cubicBezTo>
                    <a:cubicBezTo>
                      <a:pt x="10" y="34"/>
                      <a:pt x="14" y="30"/>
                      <a:pt x="20" y="2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39" name="Freeform 32">
                <a:extLst>
                  <a:ext uri="{FF2B5EF4-FFF2-40B4-BE49-F238E27FC236}">
                    <a16:creationId xmlns:a16="http://schemas.microsoft.com/office/drawing/2014/main" id="{967BBA9E-F8D8-41BE-B508-1DE726ABB2DF}"/>
                  </a:ext>
                </a:extLst>
              </p:cNvPr>
              <p:cNvSpPr>
                <a:spLocks/>
              </p:cNvSpPr>
              <p:nvPr/>
            </p:nvSpPr>
            <p:spPr bwMode="auto">
              <a:xfrm>
                <a:off x="10115550" y="9066213"/>
                <a:ext cx="117475" cy="117475"/>
              </a:xfrm>
              <a:custGeom>
                <a:avLst/>
                <a:gdLst>
                  <a:gd name="T0" fmla="*/ 5 w 37"/>
                  <a:gd name="T1" fmla="*/ 18 h 36"/>
                  <a:gd name="T2" fmla="*/ 8 w 37"/>
                  <a:gd name="T3" fmla="*/ 36 h 36"/>
                  <a:gd name="T4" fmla="*/ 37 w 37"/>
                  <a:gd name="T5" fmla="*/ 12 h 36"/>
                  <a:gd name="T6" fmla="*/ 0 w 37"/>
                  <a:gd name="T7" fmla="*/ 0 h 36"/>
                  <a:gd name="T8" fmla="*/ 5 w 37"/>
                  <a:gd name="T9" fmla="*/ 18 h 36"/>
                </a:gdLst>
                <a:ahLst/>
                <a:cxnLst>
                  <a:cxn ang="0">
                    <a:pos x="T0" y="T1"/>
                  </a:cxn>
                  <a:cxn ang="0">
                    <a:pos x="T2" y="T3"/>
                  </a:cxn>
                  <a:cxn ang="0">
                    <a:pos x="T4" y="T5"/>
                  </a:cxn>
                  <a:cxn ang="0">
                    <a:pos x="T6" y="T7"/>
                  </a:cxn>
                  <a:cxn ang="0">
                    <a:pos x="T8" y="T9"/>
                  </a:cxn>
                </a:cxnLst>
                <a:rect l="0" t="0" r="r" b="b"/>
                <a:pathLst>
                  <a:path w="37" h="36">
                    <a:moveTo>
                      <a:pt x="5" y="18"/>
                    </a:moveTo>
                    <a:cubicBezTo>
                      <a:pt x="6" y="24"/>
                      <a:pt x="7" y="30"/>
                      <a:pt x="8" y="36"/>
                    </a:cubicBezTo>
                    <a:cubicBezTo>
                      <a:pt x="37" y="12"/>
                      <a:pt x="37" y="12"/>
                      <a:pt x="37" y="12"/>
                    </a:cubicBezTo>
                    <a:cubicBezTo>
                      <a:pt x="0" y="0"/>
                      <a:pt x="0" y="0"/>
                      <a:pt x="0" y="0"/>
                    </a:cubicBezTo>
                    <a:cubicBezTo>
                      <a:pt x="2" y="6"/>
                      <a:pt x="4" y="12"/>
                      <a:pt x="5"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40" name="Freeform 33">
                <a:extLst>
                  <a:ext uri="{FF2B5EF4-FFF2-40B4-BE49-F238E27FC236}">
                    <a16:creationId xmlns:a16="http://schemas.microsoft.com/office/drawing/2014/main" id="{621D186F-C1C3-457B-926E-31C833B900DB}"/>
                  </a:ext>
                </a:extLst>
              </p:cNvPr>
              <p:cNvSpPr>
                <a:spLocks/>
              </p:cNvSpPr>
              <p:nvPr/>
            </p:nvSpPr>
            <p:spPr bwMode="auto">
              <a:xfrm>
                <a:off x="10075863" y="8948738"/>
                <a:ext cx="125413" cy="114300"/>
              </a:xfrm>
              <a:custGeom>
                <a:avLst/>
                <a:gdLst>
                  <a:gd name="T0" fmla="*/ 7 w 39"/>
                  <a:gd name="T1" fmla="*/ 17 h 35"/>
                  <a:gd name="T2" fmla="*/ 11 w 39"/>
                  <a:gd name="T3" fmla="*/ 35 h 35"/>
                  <a:gd name="T4" fmla="*/ 39 w 39"/>
                  <a:gd name="T5" fmla="*/ 8 h 35"/>
                  <a:gd name="T6" fmla="*/ 0 w 39"/>
                  <a:gd name="T7" fmla="*/ 0 h 35"/>
                  <a:gd name="T8" fmla="*/ 7 w 39"/>
                  <a:gd name="T9" fmla="*/ 17 h 35"/>
                </a:gdLst>
                <a:ahLst/>
                <a:cxnLst>
                  <a:cxn ang="0">
                    <a:pos x="T0" y="T1"/>
                  </a:cxn>
                  <a:cxn ang="0">
                    <a:pos x="T2" y="T3"/>
                  </a:cxn>
                  <a:cxn ang="0">
                    <a:pos x="T4" y="T5"/>
                  </a:cxn>
                  <a:cxn ang="0">
                    <a:pos x="T6" y="T7"/>
                  </a:cxn>
                  <a:cxn ang="0">
                    <a:pos x="T8" y="T9"/>
                  </a:cxn>
                </a:cxnLst>
                <a:rect l="0" t="0" r="r" b="b"/>
                <a:pathLst>
                  <a:path w="39" h="35">
                    <a:moveTo>
                      <a:pt x="7" y="17"/>
                    </a:moveTo>
                    <a:cubicBezTo>
                      <a:pt x="8" y="23"/>
                      <a:pt x="10" y="28"/>
                      <a:pt x="11" y="35"/>
                    </a:cubicBezTo>
                    <a:cubicBezTo>
                      <a:pt x="39" y="8"/>
                      <a:pt x="39" y="8"/>
                      <a:pt x="39" y="8"/>
                    </a:cubicBezTo>
                    <a:cubicBezTo>
                      <a:pt x="0" y="0"/>
                      <a:pt x="0" y="0"/>
                      <a:pt x="0" y="0"/>
                    </a:cubicBezTo>
                    <a:cubicBezTo>
                      <a:pt x="3" y="5"/>
                      <a:pt x="5" y="12"/>
                      <a:pt x="7"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41" name="Freeform 34">
                <a:extLst>
                  <a:ext uri="{FF2B5EF4-FFF2-40B4-BE49-F238E27FC236}">
                    <a16:creationId xmlns:a16="http://schemas.microsoft.com/office/drawing/2014/main" id="{671BFE1E-BB8C-4578-BDAE-DD073E780159}"/>
                  </a:ext>
                </a:extLst>
              </p:cNvPr>
              <p:cNvSpPr>
                <a:spLocks/>
              </p:cNvSpPr>
              <p:nvPr/>
            </p:nvSpPr>
            <p:spPr bwMode="auto">
              <a:xfrm>
                <a:off x="10153650" y="9310688"/>
                <a:ext cx="107950" cy="120650"/>
              </a:xfrm>
              <a:custGeom>
                <a:avLst/>
                <a:gdLst>
                  <a:gd name="T0" fmla="*/ 0 w 68"/>
                  <a:gd name="T1" fmla="*/ 39 h 76"/>
                  <a:gd name="T2" fmla="*/ 0 w 68"/>
                  <a:gd name="T3" fmla="*/ 76 h 76"/>
                  <a:gd name="T4" fmla="*/ 68 w 68"/>
                  <a:gd name="T5" fmla="*/ 39 h 76"/>
                  <a:gd name="T6" fmla="*/ 0 w 68"/>
                  <a:gd name="T7" fmla="*/ 0 h 76"/>
                  <a:gd name="T8" fmla="*/ 0 w 68"/>
                  <a:gd name="T9" fmla="*/ 39 h 76"/>
                </a:gdLst>
                <a:ahLst/>
                <a:cxnLst>
                  <a:cxn ang="0">
                    <a:pos x="T0" y="T1"/>
                  </a:cxn>
                  <a:cxn ang="0">
                    <a:pos x="T2" y="T3"/>
                  </a:cxn>
                  <a:cxn ang="0">
                    <a:pos x="T4" y="T5"/>
                  </a:cxn>
                  <a:cxn ang="0">
                    <a:pos x="T6" y="T7"/>
                  </a:cxn>
                  <a:cxn ang="0">
                    <a:pos x="T8" y="T9"/>
                  </a:cxn>
                </a:cxnLst>
                <a:rect l="0" t="0" r="r" b="b"/>
                <a:pathLst>
                  <a:path w="68" h="76">
                    <a:moveTo>
                      <a:pt x="0" y="39"/>
                    </a:moveTo>
                    <a:lnTo>
                      <a:pt x="0" y="76"/>
                    </a:lnTo>
                    <a:lnTo>
                      <a:pt x="68" y="39"/>
                    </a:lnTo>
                    <a:lnTo>
                      <a:pt x="0" y="0"/>
                    </a:lnTo>
                    <a:lnTo>
                      <a:pt x="0" y="39"/>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42" name="Freeform 35">
                <a:extLst>
                  <a:ext uri="{FF2B5EF4-FFF2-40B4-BE49-F238E27FC236}">
                    <a16:creationId xmlns:a16="http://schemas.microsoft.com/office/drawing/2014/main" id="{4546331C-A3FF-4AC5-BD56-073FF5A1AB7A}"/>
                  </a:ext>
                </a:extLst>
              </p:cNvPr>
              <p:cNvSpPr>
                <a:spLocks/>
              </p:cNvSpPr>
              <p:nvPr/>
            </p:nvSpPr>
            <p:spPr bwMode="auto">
              <a:xfrm>
                <a:off x="8108950" y="8932863"/>
                <a:ext cx="42863" cy="38100"/>
              </a:xfrm>
              <a:custGeom>
                <a:avLst/>
                <a:gdLst>
                  <a:gd name="T0" fmla="*/ 0 w 27"/>
                  <a:gd name="T1" fmla="*/ 14 h 24"/>
                  <a:gd name="T2" fmla="*/ 21 w 27"/>
                  <a:gd name="T3" fmla="*/ 24 h 24"/>
                  <a:gd name="T4" fmla="*/ 27 w 27"/>
                  <a:gd name="T5" fmla="*/ 8 h 24"/>
                  <a:gd name="T6" fmla="*/ 6 w 27"/>
                  <a:gd name="T7" fmla="*/ 0 h 24"/>
                  <a:gd name="T8" fmla="*/ 0 w 27"/>
                  <a:gd name="T9" fmla="*/ 14 h 24"/>
                </a:gdLst>
                <a:ahLst/>
                <a:cxnLst>
                  <a:cxn ang="0">
                    <a:pos x="T0" y="T1"/>
                  </a:cxn>
                  <a:cxn ang="0">
                    <a:pos x="T2" y="T3"/>
                  </a:cxn>
                  <a:cxn ang="0">
                    <a:pos x="T4" y="T5"/>
                  </a:cxn>
                  <a:cxn ang="0">
                    <a:pos x="T6" y="T7"/>
                  </a:cxn>
                  <a:cxn ang="0">
                    <a:pos x="T8" y="T9"/>
                  </a:cxn>
                </a:cxnLst>
                <a:rect l="0" t="0" r="r" b="b"/>
                <a:pathLst>
                  <a:path w="27" h="24">
                    <a:moveTo>
                      <a:pt x="0" y="14"/>
                    </a:moveTo>
                    <a:lnTo>
                      <a:pt x="21" y="24"/>
                    </a:lnTo>
                    <a:lnTo>
                      <a:pt x="27" y="8"/>
                    </a:lnTo>
                    <a:lnTo>
                      <a:pt x="6" y="0"/>
                    </a:lnTo>
                    <a:lnTo>
                      <a:pt x="0" y="14"/>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43" name="Freeform 36">
                <a:extLst>
                  <a:ext uri="{FF2B5EF4-FFF2-40B4-BE49-F238E27FC236}">
                    <a16:creationId xmlns:a16="http://schemas.microsoft.com/office/drawing/2014/main" id="{A225A87F-B73C-4DAD-A4C9-CB0475287663}"/>
                  </a:ext>
                </a:extLst>
              </p:cNvPr>
              <p:cNvSpPr>
                <a:spLocks/>
              </p:cNvSpPr>
              <p:nvPr/>
            </p:nvSpPr>
            <p:spPr bwMode="auto">
              <a:xfrm>
                <a:off x="8420100" y="10121901"/>
                <a:ext cx="44450" cy="55563"/>
              </a:xfrm>
              <a:custGeom>
                <a:avLst/>
                <a:gdLst>
                  <a:gd name="T0" fmla="*/ 16 w 28"/>
                  <a:gd name="T1" fmla="*/ 35 h 35"/>
                  <a:gd name="T2" fmla="*/ 28 w 28"/>
                  <a:gd name="T3" fmla="*/ 2 h 35"/>
                  <a:gd name="T4" fmla="*/ 24 w 28"/>
                  <a:gd name="T5" fmla="*/ 0 h 35"/>
                  <a:gd name="T6" fmla="*/ 0 w 28"/>
                  <a:gd name="T7" fmla="*/ 25 h 35"/>
                  <a:gd name="T8" fmla="*/ 16 w 28"/>
                  <a:gd name="T9" fmla="*/ 35 h 35"/>
                </a:gdLst>
                <a:ahLst/>
                <a:cxnLst>
                  <a:cxn ang="0">
                    <a:pos x="T0" y="T1"/>
                  </a:cxn>
                  <a:cxn ang="0">
                    <a:pos x="T2" y="T3"/>
                  </a:cxn>
                  <a:cxn ang="0">
                    <a:pos x="T4" y="T5"/>
                  </a:cxn>
                  <a:cxn ang="0">
                    <a:pos x="T6" y="T7"/>
                  </a:cxn>
                  <a:cxn ang="0">
                    <a:pos x="T8" y="T9"/>
                  </a:cxn>
                </a:cxnLst>
                <a:rect l="0" t="0" r="r" b="b"/>
                <a:pathLst>
                  <a:path w="28" h="35">
                    <a:moveTo>
                      <a:pt x="16" y="35"/>
                    </a:moveTo>
                    <a:lnTo>
                      <a:pt x="28" y="2"/>
                    </a:lnTo>
                    <a:lnTo>
                      <a:pt x="24" y="0"/>
                    </a:lnTo>
                    <a:lnTo>
                      <a:pt x="0" y="25"/>
                    </a:lnTo>
                    <a:lnTo>
                      <a:pt x="16" y="3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44" name="Freeform 37">
                <a:extLst>
                  <a:ext uri="{FF2B5EF4-FFF2-40B4-BE49-F238E27FC236}">
                    <a16:creationId xmlns:a16="http://schemas.microsoft.com/office/drawing/2014/main" id="{885BA283-6508-46C7-8E2C-0F321A0CEEBF}"/>
                  </a:ext>
                </a:extLst>
              </p:cNvPr>
              <p:cNvSpPr>
                <a:spLocks/>
              </p:cNvSpPr>
              <p:nvPr/>
            </p:nvSpPr>
            <p:spPr bwMode="auto">
              <a:xfrm>
                <a:off x="8032750" y="9174163"/>
                <a:ext cx="38100" cy="28575"/>
              </a:xfrm>
              <a:custGeom>
                <a:avLst/>
                <a:gdLst>
                  <a:gd name="T0" fmla="*/ 0 w 24"/>
                  <a:gd name="T1" fmla="*/ 16 h 18"/>
                  <a:gd name="T2" fmla="*/ 22 w 24"/>
                  <a:gd name="T3" fmla="*/ 18 h 18"/>
                  <a:gd name="T4" fmla="*/ 24 w 24"/>
                  <a:gd name="T5" fmla="*/ 4 h 18"/>
                  <a:gd name="T6" fmla="*/ 2 w 24"/>
                  <a:gd name="T7" fmla="*/ 0 h 18"/>
                  <a:gd name="T8" fmla="*/ 0 w 24"/>
                  <a:gd name="T9" fmla="*/ 16 h 18"/>
                </a:gdLst>
                <a:ahLst/>
                <a:cxnLst>
                  <a:cxn ang="0">
                    <a:pos x="T0" y="T1"/>
                  </a:cxn>
                  <a:cxn ang="0">
                    <a:pos x="T2" y="T3"/>
                  </a:cxn>
                  <a:cxn ang="0">
                    <a:pos x="T4" y="T5"/>
                  </a:cxn>
                  <a:cxn ang="0">
                    <a:pos x="T6" y="T7"/>
                  </a:cxn>
                  <a:cxn ang="0">
                    <a:pos x="T8" y="T9"/>
                  </a:cxn>
                </a:cxnLst>
                <a:rect l="0" t="0" r="r" b="b"/>
                <a:pathLst>
                  <a:path w="24" h="18">
                    <a:moveTo>
                      <a:pt x="0" y="16"/>
                    </a:moveTo>
                    <a:lnTo>
                      <a:pt x="22" y="18"/>
                    </a:lnTo>
                    <a:lnTo>
                      <a:pt x="24" y="4"/>
                    </a:lnTo>
                    <a:lnTo>
                      <a:pt x="2" y="0"/>
                    </a:lnTo>
                    <a:lnTo>
                      <a:pt x="0" y="16"/>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45" name="Freeform 38">
                <a:extLst>
                  <a:ext uri="{FF2B5EF4-FFF2-40B4-BE49-F238E27FC236}">
                    <a16:creationId xmlns:a16="http://schemas.microsoft.com/office/drawing/2014/main" id="{7E003B62-7D9B-4C2C-9C53-CEB9F0AC574E}"/>
                  </a:ext>
                </a:extLst>
              </p:cNvPr>
              <p:cNvSpPr>
                <a:spLocks/>
              </p:cNvSpPr>
              <p:nvPr/>
            </p:nvSpPr>
            <p:spPr bwMode="auto">
              <a:xfrm>
                <a:off x="8656638" y="10233026"/>
                <a:ext cx="39688" cy="31750"/>
              </a:xfrm>
              <a:custGeom>
                <a:avLst/>
                <a:gdLst>
                  <a:gd name="T0" fmla="*/ 0 w 25"/>
                  <a:gd name="T1" fmla="*/ 14 h 20"/>
                  <a:gd name="T2" fmla="*/ 21 w 25"/>
                  <a:gd name="T3" fmla="*/ 20 h 20"/>
                  <a:gd name="T4" fmla="*/ 25 w 25"/>
                  <a:gd name="T5" fmla="*/ 6 h 20"/>
                  <a:gd name="T6" fmla="*/ 7 w 25"/>
                  <a:gd name="T7" fmla="*/ 0 h 20"/>
                  <a:gd name="T8" fmla="*/ 0 w 25"/>
                  <a:gd name="T9" fmla="*/ 14 h 20"/>
                </a:gdLst>
                <a:ahLst/>
                <a:cxnLst>
                  <a:cxn ang="0">
                    <a:pos x="T0" y="T1"/>
                  </a:cxn>
                  <a:cxn ang="0">
                    <a:pos x="T2" y="T3"/>
                  </a:cxn>
                  <a:cxn ang="0">
                    <a:pos x="T4" y="T5"/>
                  </a:cxn>
                  <a:cxn ang="0">
                    <a:pos x="T6" y="T7"/>
                  </a:cxn>
                  <a:cxn ang="0">
                    <a:pos x="T8" y="T9"/>
                  </a:cxn>
                </a:cxnLst>
                <a:rect l="0" t="0" r="r" b="b"/>
                <a:pathLst>
                  <a:path w="25" h="20">
                    <a:moveTo>
                      <a:pt x="0" y="14"/>
                    </a:moveTo>
                    <a:lnTo>
                      <a:pt x="21" y="20"/>
                    </a:lnTo>
                    <a:lnTo>
                      <a:pt x="25" y="6"/>
                    </a:lnTo>
                    <a:lnTo>
                      <a:pt x="7" y="0"/>
                    </a:lnTo>
                    <a:lnTo>
                      <a:pt x="0" y="14"/>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46" name="Freeform 39">
                <a:extLst>
                  <a:ext uri="{FF2B5EF4-FFF2-40B4-BE49-F238E27FC236}">
                    <a16:creationId xmlns:a16="http://schemas.microsoft.com/office/drawing/2014/main" id="{2E178A03-1F88-4B86-B7A2-6A04140A3BAF}"/>
                  </a:ext>
                </a:extLst>
              </p:cNvPr>
              <p:cNvSpPr>
                <a:spLocks noEditPoints="1"/>
              </p:cNvSpPr>
              <p:nvPr/>
            </p:nvSpPr>
            <p:spPr bwMode="auto">
              <a:xfrm>
                <a:off x="8743950" y="8782051"/>
                <a:ext cx="477838" cy="1358900"/>
              </a:xfrm>
              <a:custGeom>
                <a:avLst/>
                <a:gdLst>
                  <a:gd name="T0" fmla="*/ 33 w 149"/>
                  <a:gd name="T1" fmla="*/ 110 h 417"/>
                  <a:gd name="T2" fmla="*/ 0 w 149"/>
                  <a:gd name="T3" fmla="*/ 179 h 417"/>
                  <a:gd name="T4" fmla="*/ 27 w 149"/>
                  <a:gd name="T5" fmla="*/ 233 h 417"/>
                  <a:gd name="T6" fmla="*/ 44 w 149"/>
                  <a:gd name="T7" fmla="*/ 274 h 417"/>
                  <a:gd name="T8" fmla="*/ 54 w 149"/>
                  <a:gd name="T9" fmla="*/ 321 h 417"/>
                  <a:gd name="T10" fmla="*/ 59 w 149"/>
                  <a:gd name="T11" fmla="*/ 413 h 417"/>
                  <a:gd name="T12" fmla="*/ 74 w 149"/>
                  <a:gd name="T13" fmla="*/ 417 h 417"/>
                  <a:gd name="T14" fmla="*/ 75 w 149"/>
                  <a:gd name="T15" fmla="*/ 417 h 417"/>
                  <a:gd name="T16" fmla="*/ 90 w 149"/>
                  <a:gd name="T17" fmla="*/ 413 h 417"/>
                  <a:gd name="T18" fmla="*/ 95 w 149"/>
                  <a:gd name="T19" fmla="*/ 321 h 417"/>
                  <a:gd name="T20" fmla="*/ 106 w 149"/>
                  <a:gd name="T21" fmla="*/ 274 h 417"/>
                  <a:gd name="T22" fmla="*/ 122 w 149"/>
                  <a:gd name="T23" fmla="*/ 233 h 417"/>
                  <a:gd name="T24" fmla="*/ 149 w 149"/>
                  <a:gd name="T25" fmla="*/ 179 h 417"/>
                  <a:gd name="T26" fmla="*/ 116 w 149"/>
                  <a:gd name="T27" fmla="*/ 110 h 417"/>
                  <a:gd name="T28" fmla="*/ 137 w 149"/>
                  <a:gd name="T29" fmla="*/ 62 h 417"/>
                  <a:gd name="T30" fmla="*/ 114 w 149"/>
                  <a:gd name="T31" fmla="*/ 0 h 417"/>
                  <a:gd name="T32" fmla="*/ 35 w 149"/>
                  <a:gd name="T33" fmla="*/ 0 h 417"/>
                  <a:gd name="T34" fmla="*/ 12 w 149"/>
                  <a:gd name="T35" fmla="*/ 62 h 417"/>
                  <a:gd name="T36" fmla="*/ 33 w 149"/>
                  <a:gd name="T37" fmla="*/ 110 h 417"/>
                  <a:gd name="T38" fmla="*/ 86 w 149"/>
                  <a:gd name="T39" fmla="*/ 322 h 417"/>
                  <a:gd name="T40" fmla="*/ 74 w 149"/>
                  <a:gd name="T41" fmla="*/ 316 h 417"/>
                  <a:gd name="T42" fmla="*/ 62 w 149"/>
                  <a:gd name="T43" fmla="*/ 322 h 417"/>
                  <a:gd name="T44" fmla="*/ 74 w 149"/>
                  <a:gd name="T45" fmla="*/ 311 h 417"/>
                  <a:gd name="T46" fmla="*/ 87 w 149"/>
                  <a:gd name="T47" fmla="*/ 322 h 417"/>
                  <a:gd name="T48" fmla="*/ 86 w 149"/>
                  <a:gd name="T49" fmla="*/ 322 h 417"/>
                  <a:gd name="T50" fmla="*/ 74 w 149"/>
                  <a:gd name="T51" fmla="*/ 281 h 417"/>
                  <a:gd name="T52" fmla="*/ 59 w 149"/>
                  <a:gd name="T53" fmla="*/ 289 h 417"/>
                  <a:gd name="T54" fmla="*/ 58 w 149"/>
                  <a:gd name="T55" fmla="*/ 289 h 417"/>
                  <a:gd name="T56" fmla="*/ 74 w 149"/>
                  <a:gd name="T57" fmla="*/ 275 h 417"/>
                  <a:gd name="T58" fmla="*/ 90 w 149"/>
                  <a:gd name="T59" fmla="*/ 289 h 417"/>
                  <a:gd name="T60" fmla="*/ 74 w 149"/>
                  <a:gd name="T61" fmla="*/ 281 h 417"/>
                  <a:gd name="T62" fmla="*/ 100 w 149"/>
                  <a:gd name="T63" fmla="*/ 253 h 417"/>
                  <a:gd name="T64" fmla="*/ 75 w 149"/>
                  <a:gd name="T65" fmla="*/ 248 h 417"/>
                  <a:gd name="T66" fmla="*/ 49 w 149"/>
                  <a:gd name="T67" fmla="*/ 253 h 417"/>
                  <a:gd name="T68" fmla="*/ 75 w 149"/>
                  <a:gd name="T69" fmla="*/ 241 h 417"/>
                  <a:gd name="T70" fmla="*/ 101 w 149"/>
                  <a:gd name="T71" fmla="*/ 253 h 417"/>
                  <a:gd name="T72" fmla="*/ 100 w 149"/>
                  <a:gd name="T73" fmla="*/ 253 h 417"/>
                  <a:gd name="T74" fmla="*/ 113 w 149"/>
                  <a:gd name="T75" fmla="*/ 220 h 417"/>
                  <a:gd name="T76" fmla="*/ 74 w 149"/>
                  <a:gd name="T77" fmla="*/ 200 h 417"/>
                  <a:gd name="T78" fmla="*/ 35 w 149"/>
                  <a:gd name="T79" fmla="*/ 218 h 417"/>
                  <a:gd name="T80" fmla="*/ 74 w 149"/>
                  <a:gd name="T81" fmla="*/ 193 h 417"/>
                  <a:gd name="T82" fmla="*/ 114 w 149"/>
                  <a:gd name="T83" fmla="*/ 220 h 417"/>
                  <a:gd name="T84" fmla="*/ 113 w 149"/>
                  <a:gd name="T85" fmla="*/ 220 h 417"/>
                  <a:gd name="T86" fmla="*/ 124 w 149"/>
                  <a:gd name="T87" fmla="*/ 171 h 417"/>
                  <a:gd name="T88" fmla="*/ 124 w 149"/>
                  <a:gd name="T89" fmla="*/ 172 h 417"/>
                  <a:gd name="T90" fmla="*/ 74 w 149"/>
                  <a:gd name="T91" fmla="*/ 150 h 417"/>
                  <a:gd name="T92" fmla="*/ 25 w 149"/>
                  <a:gd name="T93" fmla="*/ 172 h 417"/>
                  <a:gd name="T94" fmla="*/ 24 w 149"/>
                  <a:gd name="T95" fmla="*/ 171 h 417"/>
                  <a:gd name="T96" fmla="*/ 74 w 149"/>
                  <a:gd name="T97" fmla="*/ 141 h 417"/>
                  <a:gd name="T98" fmla="*/ 124 w 149"/>
                  <a:gd name="T99" fmla="*/ 171 h 417"/>
                  <a:gd name="T100" fmla="*/ 74 w 149"/>
                  <a:gd name="T101" fmla="*/ 40 h 417"/>
                  <a:gd name="T102" fmla="*/ 116 w 149"/>
                  <a:gd name="T103" fmla="*/ 61 h 417"/>
                  <a:gd name="T104" fmla="*/ 74 w 149"/>
                  <a:gd name="T105" fmla="*/ 52 h 417"/>
                  <a:gd name="T106" fmla="*/ 32 w 149"/>
                  <a:gd name="T107" fmla="*/ 61 h 417"/>
                  <a:gd name="T108" fmla="*/ 74 w 149"/>
                  <a:gd name="T109" fmla="*/ 4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9" h="417">
                    <a:moveTo>
                      <a:pt x="33" y="110"/>
                    </a:moveTo>
                    <a:cubicBezTo>
                      <a:pt x="0" y="179"/>
                      <a:pt x="0" y="179"/>
                      <a:pt x="0" y="179"/>
                    </a:cubicBezTo>
                    <a:cubicBezTo>
                      <a:pt x="0" y="179"/>
                      <a:pt x="23" y="224"/>
                      <a:pt x="27" y="233"/>
                    </a:cubicBezTo>
                    <a:cubicBezTo>
                      <a:pt x="31" y="240"/>
                      <a:pt x="39" y="264"/>
                      <a:pt x="44" y="274"/>
                    </a:cubicBezTo>
                    <a:cubicBezTo>
                      <a:pt x="47" y="284"/>
                      <a:pt x="53" y="312"/>
                      <a:pt x="54" y="321"/>
                    </a:cubicBezTo>
                    <a:cubicBezTo>
                      <a:pt x="56" y="329"/>
                      <a:pt x="59" y="413"/>
                      <a:pt x="59" y="413"/>
                    </a:cubicBezTo>
                    <a:cubicBezTo>
                      <a:pt x="63" y="416"/>
                      <a:pt x="69" y="417"/>
                      <a:pt x="74" y="417"/>
                    </a:cubicBezTo>
                    <a:cubicBezTo>
                      <a:pt x="75" y="417"/>
                      <a:pt x="75" y="417"/>
                      <a:pt x="75" y="417"/>
                    </a:cubicBezTo>
                    <a:cubicBezTo>
                      <a:pt x="81" y="417"/>
                      <a:pt x="86" y="416"/>
                      <a:pt x="90" y="413"/>
                    </a:cubicBezTo>
                    <a:cubicBezTo>
                      <a:pt x="90" y="413"/>
                      <a:pt x="94" y="329"/>
                      <a:pt x="95" y="321"/>
                    </a:cubicBezTo>
                    <a:cubicBezTo>
                      <a:pt x="96" y="312"/>
                      <a:pt x="102" y="284"/>
                      <a:pt x="106" y="274"/>
                    </a:cubicBezTo>
                    <a:cubicBezTo>
                      <a:pt x="110" y="264"/>
                      <a:pt x="119" y="240"/>
                      <a:pt x="122" y="233"/>
                    </a:cubicBezTo>
                    <a:cubicBezTo>
                      <a:pt x="126" y="224"/>
                      <a:pt x="149" y="179"/>
                      <a:pt x="149" y="179"/>
                    </a:cubicBezTo>
                    <a:cubicBezTo>
                      <a:pt x="116" y="110"/>
                      <a:pt x="116" y="110"/>
                      <a:pt x="116" y="110"/>
                    </a:cubicBezTo>
                    <a:cubicBezTo>
                      <a:pt x="137" y="62"/>
                      <a:pt x="137" y="62"/>
                      <a:pt x="137" y="62"/>
                    </a:cubicBezTo>
                    <a:cubicBezTo>
                      <a:pt x="114" y="0"/>
                      <a:pt x="114" y="0"/>
                      <a:pt x="114" y="0"/>
                    </a:cubicBezTo>
                    <a:cubicBezTo>
                      <a:pt x="35" y="0"/>
                      <a:pt x="35" y="0"/>
                      <a:pt x="35" y="0"/>
                    </a:cubicBezTo>
                    <a:cubicBezTo>
                      <a:pt x="12" y="62"/>
                      <a:pt x="12" y="62"/>
                      <a:pt x="12" y="62"/>
                    </a:cubicBezTo>
                    <a:lnTo>
                      <a:pt x="33" y="110"/>
                    </a:lnTo>
                    <a:close/>
                    <a:moveTo>
                      <a:pt x="86" y="322"/>
                    </a:moveTo>
                    <a:cubicBezTo>
                      <a:pt x="84" y="318"/>
                      <a:pt x="79" y="316"/>
                      <a:pt x="74" y="316"/>
                    </a:cubicBezTo>
                    <a:cubicBezTo>
                      <a:pt x="70" y="316"/>
                      <a:pt x="65" y="318"/>
                      <a:pt x="62" y="322"/>
                    </a:cubicBezTo>
                    <a:cubicBezTo>
                      <a:pt x="63" y="315"/>
                      <a:pt x="67" y="311"/>
                      <a:pt x="74" y="311"/>
                    </a:cubicBezTo>
                    <a:cubicBezTo>
                      <a:pt x="81" y="311"/>
                      <a:pt x="86" y="315"/>
                      <a:pt x="87" y="322"/>
                    </a:cubicBezTo>
                    <a:lnTo>
                      <a:pt x="86" y="322"/>
                    </a:lnTo>
                    <a:close/>
                    <a:moveTo>
                      <a:pt x="74" y="281"/>
                    </a:moveTo>
                    <a:cubicBezTo>
                      <a:pt x="67" y="281"/>
                      <a:pt x="62" y="285"/>
                      <a:pt x="59" y="289"/>
                    </a:cubicBezTo>
                    <a:cubicBezTo>
                      <a:pt x="58" y="289"/>
                      <a:pt x="58" y="289"/>
                      <a:pt x="58" y="289"/>
                    </a:cubicBezTo>
                    <a:cubicBezTo>
                      <a:pt x="60" y="281"/>
                      <a:pt x="66" y="275"/>
                      <a:pt x="74" y="275"/>
                    </a:cubicBezTo>
                    <a:cubicBezTo>
                      <a:pt x="83" y="275"/>
                      <a:pt x="89" y="281"/>
                      <a:pt x="90" y="289"/>
                    </a:cubicBezTo>
                    <a:cubicBezTo>
                      <a:pt x="86" y="285"/>
                      <a:pt x="81" y="281"/>
                      <a:pt x="74" y="281"/>
                    </a:cubicBezTo>
                    <a:moveTo>
                      <a:pt x="100" y="253"/>
                    </a:moveTo>
                    <a:cubicBezTo>
                      <a:pt x="92" y="250"/>
                      <a:pt x="84" y="248"/>
                      <a:pt x="75" y="248"/>
                    </a:cubicBezTo>
                    <a:cubicBezTo>
                      <a:pt x="65" y="248"/>
                      <a:pt x="57" y="250"/>
                      <a:pt x="49" y="253"/>
                    </a:cubicBezTo>
                    <a:cubicBezTo>
                      <a:pt x="54" y="246"/>
                      <a:pt x="64" y="241"/>
                      <a:pt x="75" y="241"/>
                    </a:cubicBezTo>
                    <a:cubicBezTo>
                      <a:pt x="85" y="241"/>
                      <a:pt x="95" y="246"/>
                      <a:pt x="101" y="253"/>
                    </a:cubicBezTo>
                    <a:lnTo>
                      <a:pt x="100" y="253"/>
                    </a:lnTo>
                    <a:close/>
                    <a:moveTo>
                      <a:pt x="113" y="220"/>
                    </a:moveTo>
                    <a:cubicBezTo>
                      <a:pt x="104" y="208"/>
                      <a:pt x="90" y="200"/>
                      <a:pt x="74" y="200"/>
                    </a:cubicBezTo>
                    <a:cubicBezTo>
                      <a:pt x="59" y="200"/>
                      <a:pt x="45" y="208"/>
                      <a:pt x="35" y="218"/>
                    </a:cubicBezTo>
                    <a:cubicBezTo>
                      <a:pt x="41" y="203"/>
                      <a:pt x="57" y="193"/>
                      <a:pt x="74" y="193"/>
                    </a:cubicBezTo>
                    <a:cubicBezTo>
                      <a:pt x="92" y="193"/>
                      <a:pt x="108" y="204"/>
                      <a:pt x="114" y="220"/>
                    </a:cubicBezTo>
                    <a:lnTo>
                      <a:pt x="113" y="220"/>
                    </a:lnTo>
                    <a:close/>
                    <a:moveTo>
                      <a:pt x="124" y="171"/>
                    </a:moveTo>
                    <a:cubicBezTo>
                      <a:pt x="124" y="172"/>
                      <a:pt x="124" y="172"/>
                      <a:pt x="124" y="172"/>
                    </a:cubicBezTo>
                    <a:cubicBezTo>
                      <a:pt x="111" y="158"/>
                      <a:pt x="94" y="150"/>
                      <a:pt x="74" y="150"/>
                    </a:cubicBezTo>
                    <a:cubicBezTo>
                      <a:pt x="54" y="150"/>
                      <a:pt x="37" y="159"/>
                      <a:pt x="25" y="172"/>
                    </a:cubicBezTo>
                    <a:cubicBezTo>
                      <a:pt x="24" y="171"/>
                      <a:pt x="24" y="171"/>
                      <a:pt x="24" y="171"/>
                    </a:cubicBezTo>
                    <a:cubicBezTo>
                      <a:pt x="34" y="153"/>
                      <a:pt x="52" y="141"/>
                      <a:pt x="74" y="141"/>
                    </a:cubicBezTo>
                    <a:cubicBezTo>
                      <a:pt x="96" y="141"/>
                      <a:pt x="115" y="153"/>
                      <a:pt x="124" y="171"/>
                    </a:cubicBezTo>
                    <a:moveTo>
                      <a:pt x="74" y="40"/>
                    </a:moveTo>
                    <a:cubicBezTo>
                      <a:pt x="91" y="40"/>
                      <a:pt x="107" y="48"/>
                      <a:pt x="116" y="61"/>
                    </a:cubicBezTo>
                    <a:cubicBezTo>
                      <a:pt x="103" y="55"/>
                      <a:pt x="89" y="52"/>
                      <a:pt x="74" y="52"/>
                    </a:cubicBezTo>
                    <a:cubicBezTo>
                      <a:pt x="59" y="52"/>
                      <a:pt x="45" y="55"/>
                      <a:pt x="32" y="61"/>
                    </a:cubicBezTo>
                    <a:cubicBezTo>
                      <a:pt x="41" y="48"/>
                      <a:pt x="57" y="40"/>
                      <a:pt x="74" y="4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47" name="Freeform 40">
                <a:extLst>
                  <a:ext uri="{FF2B5EF4-FFF2-40B4-BE49-F238E27FC236}">
                    <a16:creationId xmlns:a16="http://schemas.microsoft.com/office/drawing/2014/main" id="{081779A0-C314-46F7-9390-1737FD25C354}"/>
                  </a:ext>
                </a:extLst>
              </p:cNvPr>
              <p:cNvSpPr>
                <a:spLocks noEditPoints="1"/>
              </p:cNvSpPr>
              <p:nvPr/>
            </p:nvSpPr>
            <p:spPr bwMode="auto">
              <a:xfrm>
                <a:off x="8297863" y="8782051"/>
                <a:ext cx="522288" cy="785813"/>
              </a:xfrm>
              <a:custGeom>
                <a:avLst/>
                <a:gdLst>
                  <a:gd name="T0" fmla="*/ 114 w 163"/>
                  <a:gd name="T1" fmla="*/ 218 h 241"/>
                  <a:gd name="T2" fmla="*/ 113 w 163"/>
                  <a:gd name="T3" fmla="*/ 239 h 241"/>
                  <a:gd name="T4" fmla="*/ 130 w 163"/>
                  <a:gd name="T5" fmla="*/ 233 h 241"/>
                  <a:gd name="T6" fmla="*/ 150 w 163"/>
                  <a:gd name="T7" fmla="*/ 241 h 241"/>
                  <a:gd name="T8" fmla="*/ 155 w 163"/>
                  <a:gd name="T9" fmla="*/ 226 h 241"/>
                  <a:gd name="T10" fmla="*/ 136 w 163"/>
                  <a:gd name="T11" fmla="*/ 188 h 241"/>
                  <a:gd name="T12" fmla="*/ 124 w 163"/>
                  <a:gd name="T13" fmla="*/ 200 h 241"/>
                  <a:gd name="T14" fmla="*/ 110 w 163"/>
                  <a:gd name="T15" fmla="*/ 176 h 241"/>
                  <a:gd name="T16" fmla="*/ 129 w 163"/>
                  <a:gd name="T17" fmla="*/ 137 h 241"/>
                  <a:gd name="T18" fmla="*/ 110 w 163"/>
                  <a:gd name="T19" fmla="*/ 90 h 241"/>
                  <a:gd name="T20" fmla="*/ 141 w 163"/>
                  <a:gd name="T21" fmla="*/ 60 h 241"/>
                  <a:gd name="T22" fmla="*/ 163 w 163"/>
                  <a:gd name="T23" fmla="*/ 0 h 241"/>
                  <a:gd name="T24" fmla="*/ 135 w 163"/>
                  <a:gd name="T25" fmla="*/ 27 h 241"/>
                  <a:gd name="T26" fmla="*/ 92 w 163"/>
                  <a:gd name="T27" fmla="*/ 27 h 241"/>
                  <a:gd name="T28" fmla="*/ 0 w 163"/>
                  <a:gd name="T29" fmla="*/ 76 h 241"/>
                  <a:gd name="T30" fmla="*/ 0 w 163"/>
                  <a:gd name="T31" fmla="*/ 171 h 241"/>
                  <a:gd name="T32" fmla="*/ 93 w 163"/>
                  <a:gd name="T33" fmla="*/ 218 h 241"/>
                  <a:gd name="T34" fmla="*/ 114 w 163"/>
                  <a:gd name="T35" fmla="*/ 218 h 241"/>
                  <a:gd name="T36" fmla="*/ 24 w 163"/>
                  <a:gd name="T37" fmla="*/ 153 h 241"/>
                  <a:gd name="T38" fmla="*/ 63 w 163"/>
                  <a:gd name="T39" fmla="*/ 95 h 241"/>
                  <a:gd name="T40" fmla="*/ 38 w 163"/>
                  <a:gd name="T41" fmla="*/ 160 h 241"/>
                  <a:gd name="T42" fmla="*/ 24 w 163"/>
                  <a:gd name="T43" fmla="*/ 153 h 241"/>
                  <a:gd name="T44" fmla="*/ 39 w 163"/>
                  <a:gd name="T45" fmla="*/ 161 h 241"/>
                  <a:gd name="T46" fmla="*/ 78 w 163"/>
                  <a:gd name="T47" fmla="*/ 102 h 241"/>
                  <a:gd name="T48" fmla="*/ 53 w 163"/>
                  <a:gd name="T49" fmla="*/ 167 h 241"/>
                  <a:gd name="T50" fmla="*/ 39 w 163"/>
                  <a:gd name="T51" fmla="*/ 161 h 241"/>
                  <a:gd name="T52" fmla="*/ 54 w 163"/>
                  <a:gd name="T53" fmla="*/ 168 h 241"/>
                  <a:gd name="T54" fmla="*/ 95 w 163"/>
                  <a:gd name="T55" fmla="*/ 110 h 241"/>
                  <a:gd name="T56" fmla="*/ 69 w 163"/>
                  <a:gd name="T57" fmla="*/ 175 h 241"/>
                  <a:gd name="T58" fmla="*/ 54 w 163"/>
                  <a:gd name="T59" fmla="*/ 168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3" h="241">
                    <a:moveTo>
                      <a:pt x="114" y="218"/>
                    </a:moveTo>
                    <a:cubicBezTo>
                      <a:pt x="113" y="225"/>
                      <a:pt x="113" y="233"/>
                      <a:pt x="113" y="239"/>
                    </a:cubicBezTo>
                    <a:cubicBezTo>
                      <a:pt x="117" y="235"/>
                      <a:pt x="124" y="233"/>
                      <a:pt x="130" y="233"/>
                    </a:cubicBezTo>
                    <a:cubicBezTo>
                      <a:pt x="138" y="233"/>
                      <a:pt x="145" y="236"/>
                      <a:pt x="150" y="241"/>
                    </a:cubicBezTo>
                    <a:cubicBezTo>
                      <a:pt x="152" y="236"/>
                      <a:pt x="153" y="230"/>
                      <a:pt x="155" y="226"/>
                    </a:cubicBezTo>
                    <a:cubicBezTo>
                      <a:pt x="136" y="188"/>
                      <a:pt x="136" y="188"/>
                      <a:pt x="136" y="188"/>
                    </a:cubicBezTo>
                    <a:cubicBezTo>
                      <a:pt x="124" y="200"/>
                      <a:pt x="124" y="200"/>
                      <a:pt x="124" y="200"/>
                    </a:cubicBezTo>
                    <a:cubicBezTo>
                      <a:pt x="110" y="176"/>
                      <a:pt x="110" y="176"/>
                      <a:pt x="110" y="176"/>
                    </a:cubicBezTo>
                    <a:cubicBezTo>
                      <a:pt x="129" y="137"/>
                      <a:pt x="129" y="137"/>
                      <a:pt x="129" y="137"/>
                    </a:cubicBezTo>
                    <a:cubicBezTo>
                      <a:pt x="110" y="90"/>
                      <a:pt x="110" y="90"/>
                      <a:pt x="110" y="90"/>
                    </a:cubicBezTo>
                    <a:cubicBezTo>
                      <a:pt x="141" y="60"/>
                      <a:pt x="141" y="60"/>
                      <a:pt x="141" y="60"/>
                    </a:cubicBezTo>
                    <a:cubicBezTo>
                      <a:pt x="163" y="0"/>
                      <a:pt x="163" y="0"/>
                      <a:pt x="163" y="0"/>
                    </a:cubicBezTo>
                    <a:cubicBezTo>
                      <a:pt x="135" y="27"/>
                      <a:pt x="135" y="27"/>
                      <a:pt x="135" y="27"/>
                    </a:cubicBezTo>
                    <a:cubicBezTo>
                      <a:pt x="92" y="27"/>
                      <a:pt x="92" y="27"/>
                      <a:pt x="92" y="27"/>
                    </a:cubicBezTo>
                    <a:cubicBezTo>
                      <a:pt x="0" y="76"/>
                      <a:pt x="0" y="76"/>
                      <a:pt x="0" y="76"/>
                    </a:cubicBezTo>
                    <a:cubicBezTo>
                      <a:pt x="0" y="171"/>
                      <a:pt x="0" y="171"/>
                      <a:pt x="0" y="171"/>
                    </a:cubicBezTo>
                    <a:cubicBezTo>
                      <a:pt x="93" y="218"/>
                      <a:pt x="93" y="218"/>
                      <a:pt x="93" y="218"/>
                    </a:cubicBezTo>
                    <a:lnTo>
                      <a:pt x="114" y="218"/>
                    </a:lnTo>
                    <a:close/>
                    <a:moveTo>
                      <a:pt x="24" y="153"/>
                    </a:moveTo>
                    <a:cubicBezTo>
                      <a:pt x="63" y="95"/>
                      <a:pt x="63" y="95"/>
                      <a:pt x="63" y="95"/>
                    </a:cubicBezTo>
                    <a:cubicBezTo>
                      <a:pt x="38" y="160"/>
                      <a:pt x="38" y="160"/>
                      <a:pt x="38" y="160"/>
                    </a:cubicBezTo>
                    <a:lnTo>
                      <a:pt x="24" y="153"/>
                    </a:lnTo>
                    <a:close/>
                    <a:moveTo>
                      <a:pt x="39" y="161"/>
                    </a:moveTo>
                    <a:cubicBezTo>
                      <a:pt x="78" y="102"/>
                      <a:pt x="78" y="102"/>
                      <a:pt x="78" y="102"/>
                    </a:cubicBezTo>
                    <a:cubicBezTo>
                      <a:pt x="53" y="167"/>
                      <a:pt x="53" y="167"/>
                      <a:pt x="53" y="167"/>
                    </a:cubicBezTo>
                    <a:lnTo>
                      <a:pt x="39" y="161"/>
                    </a:lnTo>
                    <a:close/>
                    <a:moveTo>
                      <a:pt x="54" y="168"/>
                    </a:moveTo>
                    <a:cubicBezTo>
                      <a:pt x="95" y="110"/>
                      <a:pt x="95" y="110"/>
                      <a:pt x="95" y="110"/>
                    </a:cubicBezTo>
                    <a:cubicBezTo>
                      <a:pt x="69" y="175"/>
                      <a:pt x="69" y="175"/>
                      <a:pt x="69" y="175"/>
                    </a:cubicBezTo>
                    <a:lnTo>
                      <a:pt x="54" y="168"/>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48" name="Freeform 41">
                <a:extLst>
                  <a:ext uri="{FF2B5EF4-FFF2-40B4-BE49-F238E27FC236}">
                    <a16:creationId xmlns:a16="http://schemas.microsoft.com/office/drawing/2014/main" id="{AB2D66DD-6284-4FAC-9325-E52F784DAD16}"/>
                  </a:ext>
                </a:extLst>
              </p:cNvPr>
              <p:cNvSpPr>
                <a:spLocks/>
              </p:cNvSpPr>
              <p:nvPr/>
            </p:nvSpPr>
            <p:spPr bwMode="auto">
              <a:xfrm>
                <a:off x="9169400" y="9053513"/>
                <a:ext cx="96838" cy="142875"/>
              </a:xfrm>
              <a:custGeom>
                <a:avLst/>
                <a:gdLst>
                  <a:gd name="T0" fmla="*/ 2 w 30"/>
                  <a:gd name="T1" fmla="*/ 38 h 44"/>
                  <a:gd name="T2" fmla="*/ 3 w 30"/>
                  <a:gd name="T3" fmla="*/ 44 h 44"/>
                  <a:gd name="T4" fmla="*/ 28 w 30"/>
                  <a:gd name="T5" fmla="*/ 6 h 44"/>
                  <a:gd name="T6" fmla="*/ 28 w 30"/>
                  <a:gd name="T7" fmla="*/ 0 h 44"/>
                  <a:gd name="T8" fmla="*/ 2 w 30"/>
                  <a:gd name="T9" fmla="*/ 38 h 44"/>
                </a:gdLst>
                <a:ahLst/>
                <a:cxnLst>
                  <a:cxn ang="0">
                    <a:pos x="T0" y="T1"/>
                  </a:cxn>
                  <a:cxn ang="0">
                    <a:pos x="T2" y="T3"/>
                  </a:cxn>
                  <a:cxn ang="0">
                    <a:pos x="T4" y="T5"/>
                  </a:cxn>
                  <a:cxn ang="0">
                    <a:pos x="T6" y="T7"/>
                  </a:cxn>
                  <a:cxn ang="0">
                    <a:pos x="T8" y="T9"/>
                  </a:cxn>
                </a:cxnLst>
                <a:rect l="0" t="0" r="r" b="b"/>
                <a:pathLst>
                  <a:path w="30" h="44">
                    <a:moveTo>
                      <a:pt x="2" y="38"/>
                    </a:moveTo>
                    <a:cubicBezTo>
                      <a:pt x="2" y="40"/>
                      <a:pt x="2" y="42"/>
                      <a:pt x="3" y="44"/>
                    </a:cubicBezTo>
                    <a:cubicBezTo>
                      <a:pt x="19" y="38"/>
                      <a:pt x="30" y="22"/>
                      <a:pt x="28" y="6"/>
                    </a:cubicBezTo>
                    <a:cubicBezTo>
                      <a:pt x="28" y="0"/>
                      <a:pt x="28" y="0"/>
                      <a:pt x="28" y="0"/>
                    </a:cubicBezTo>
                    <a:cubicBezTo>
                      <a:pt x="12" y="6"/>
                      <a:pt x="0" y="20"/>
                      <a:pt x="2" y="3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49" name="Freeform 42">
                <a:extLst>
                  <a:ext uri="{FF2B5EF4-FFF2-40B4-BE49-F238E27FC236}">
                    <a16:creationId xmlns:a16="http://schemas.microsoft.com/office/drawing/2014/main" id="{30B557C0-D33F-421A-93C4-A17B01E429E5}"/>
                  </a:ext>
                </a:extLst>
              </p:cNvPr>
              <p:cNvSpPr>
                <a:spLocks/>
              </p:cNvSpPr>
              <p:nvPr/>
            </p:nvSpPr>
            <p:spPr bwMode="auto">
              <a:xfrm>
                <a:off x="8702675" y="9053513"/>
                <a:ext cx="92075" cy="142875"/>
              </a:xfrm>
              <a:custGeom>
                <a:avLst/>
                <a:gdLst>
                  <a:gd name="T0" fmla="*/ 28 w 29"/>
                  <a:gd name="T1" fmla="*/ 38 h 44"/>
                  <a:gd name="T2" fmla="*/ 2 w 29"/>
                  <a:gd name="T3" fmla="*/ 0 h 44"/>
                  <a:gd name="T4" fmla="*/ 1 w 29"/>
                  <a:gd name="T5" fmla="*/ 6 h 44"/>
                  <a:gd name="T6" fmla="*/ 27 w 29"/>
                  <a:gd name="T7" fmla="*/ 44 h 44"/>
                  <a:gd name="T8" fmla="*/ 27 w 29"/>
                  <a:gd name="T9" fmla="*/ 43 h 44"/>
                  <a:gd name="T10" fmla="*/ 28 w 29"/>
                  <a:gd name="T11" fmla="*/ 38 h 44"/>
                </a:gdLst>
                <a:ahLst/>
                <a:cxnLst>
                  <a:cxn ang="0">
                    <a:pos x="T0" y="T1"/>
                  </a:cxn>
                  <a:cxn ang="0">
                    <a:pos x="T2" y="T3"/>
                  </a:cxn>
                  <a:cxn ang="0">
                    <a:pos x="T4" y="T5"/>
                  </a:cxn>
                  <a:cxn ang="0">
                    <a:pos x="T6" y="T7"/>
                  </a:cxn>
                  <a:cxn ang="0">
                    <a:pos x="T8" y="T9"/>
                  </a:cxn>
                  <a:cxn ang="0">
                    <a:pos x="T10" y="T11"/>
                  </a:cxn>
                </a:cxnLst>
                <a:rect l="0" t="0" r="r" b="b"/>
                <a:pathLst>
                  <a:path w="29" h="44">
                    <a:moveTo>
                      <a:pt x="28" y="38"/>
                    </a:moveTo>
                    <a:cubicBezTo>
                      <a:pt x="29" y="20"/>
                      <a:pt x="19" y="6"/>
                      <a:pt x="2" y="0"/>
                    </a:cubicBezTo>
                    <a:cubicBezTo>
                      <a:pt x="2" y="2"/>
                      <a:pt x="1" y="4"/>
                      <a:pt x="1" y="6"/>
                    </a:cubicBezTo>
                    <a:cubicBezTo>
                      <a:pt x="0" y="22"/>
                      <a:pt x="11" y="38"/>
                      <a:pt x="27" y="44"/>
                    </a:cubicBezTo>
                    <a:cubicBezTo>
                      <a:pt x="27" y="43"/>
                      <a:pt x="27" y="43"/>
                      <a:pt x="27" y="43"/>
                    </a:cubicBezTo>
                    <a:cubicBezTo>
                      <a:pt x="28" y="42"/>
                      <a:pt x="28" y="40"/>
                      <a:pt x="28" y="3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50" name="Freeform 43">
                <a:extLst>
                  <a:ext uri="{FF2B5EF4-FFF2-40B4-BE49-F238E27FC236}">
                    <a16:creationId xmlns:a16="http://schemas.microsoft.com/office/drawing/2014/main" id="{2FE4041A-5377-4AED-BCEF-A15F5E91733E}"/>
                  </a:ext>
                </a:extLst>
              </p:cNvPr>
              <p:cNvSpPr>
                <a:spLocks/>
              </p:cNvSpPr>
              <p:nvPr/>
            </p:nvSpPr>
            <p:spPr bwMode="auto">
              <a:xfrm>
                <a:off x="7935913" y="8613776"/>
                <a:ext cx="122238" cy="112713"/>
              </a:xfrm>
              <a:custGeom>
                <a:avLst/>
                <a:gdLst>
                  <a:gd name="T0" fmla="*/ 27 w 38"/>
                  <a:gd name="T1" fmla="*/ 19 h 35"/>
                  <a:gd name="T2" fmla="*/ 38 w 38"/>
                  <a:gd name="T3" fmla="*/ 5 h 35"/>
                  <a:gd name="T4" fmla="*/ 0 w 38"/>
                  <a:gd name="T5" fmla="*/ 0 h 35"/>
                  <a:gd name="T6" fmla="*/ 16 w 38"/>
                  <a:gd name="T7" fmla="*/ 35 h 35"/>
                  <a:gd name="T8" fmla="*/ 27 w 38"/>
                  <a:gd name="T9" fmla="*/ 19 h 35"/>
                </a:gdLst>
                <a:ahLst/>
                <a:cxnLst>
                  <a:cxn ang="0">
                    <a:pos x="T0" y="T1"/>
                  </a:cxn>
                  <a:cxn ang="0">
                    <a:pos x="T2" y="T3"/>
                  </a:cxn>
                  <a:cxn ang="0">
                    <a:pos x="T4" y="T5"/>
                  </a:cxn>
                  <a:cxn ang="0">
                    <a:pos x="T6" y="T7"/>
                  </a:cxn>
                  <a:cxn ang="0">
                    <a:pos x="T8" y="T9"/>
                  </a:cxn>
                </a:cxnLst>
                <a:rect l="0" t="0" r="r" b="b"/>
                <a:pathLst>
                  <a:path w="38" h="35">
                    <a:moveTo>
                      <a:pt x="27" y="19"/>
                    </a:moveTo>
                    <a:cubicBezTo>
                      <a:pt x="31" y="15"/>
                      <a:pt x="35" y="10"/>
                      <a:pt x="38" y="5"/>
                    </a:cubicBezTo>
                    <a:cubicBezTo>
                      <a:pt x="0" y="0"/>
                      <a:pt x="0" y="0"/>
                      <a:pt x="0" y="0"/>
                    </a:cubicBezTo>
                    <a:cubicBezTo>
                      <a:pt x="16" y="35"/>
                      <a:pt x="16" y="35"/>
                      <a:pt x="16" y="35"/>
                    </a:cubicBezTo>
                    <a:cubicBezTo>
                      <a:pt x="21" y="30"/>
                      <a:pt x="24" y="25"/>
                      <a:pt x="27" y="19"/>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51" name="Freeform 44">
                <a:extLst>
                  <a:ext uri="{FF2B5EF4-FFF2-40B4-BE49-F238E27FC236}">
                    <a16:creationId xmlns:a16="http://schemas.microsoft.com/office/drawing/2014/main" id="{29CA4000-F72D-47D8-A11F-C951E6A0C00B}"/>
                  </a:ext>
                </a:extLst>
              </p:cNvPr>
              <p:cNvSpPr>
                <a:spLocks/>
              </p:cNvSpPr>
              <p:nvPr/>
            </p:nvSpPr>
            <p:spPr bwMode="auto">
              <a:xfrm>
                <a:off x="9045575" y="10545763"/>
                <a:ext cx="117475" cy="117475"/>
              </a:xfrm>
              <a:custGeom>
                <a:avLst/>
                <a:gdLst>
                  <a:gd name="T0" fmla="*/ 0 w 37"/>
                  <a:gd name="T1" fmla="*/ 4 h 36"/>
                  <a:gd name="T2" fmla="*/ 21 w 37"/>
                  <a:gd name="T3" fmla="*/ 36 h 36"/>
                  <a:gd name="T4" fmla="*/ 37 w 37"/>
                  <a:gd name="T5" fmla="*/ 0 h 36"/>
                  <a:gd name="T6" fmla="*/ 17 w 37"/>
                  <a:gd name="T7" fmla="*/ 3 h 36"/>
                  <a:gd name="T8" fmla="*/ 0 w 37"/>
                  <a:gd name="T9" fmla="*/ 4 h 36"/>
                </a:gdLst>
                <a:ahLst/>
                <a:cxnLst>
                  <a:cxn ang="0">
                    <a:pos x="T0" y="T1"/>
                  </a:cxn>
                  <a:cxn ang="0">
                    <a:pos x="T2" y="T3"/>
                  </a:cxn>
                  <a:cxn ang="0">
                    <a:pos x="T4" y="T5"/>
                  </a:cxn>
                  <a:cxn ang="0">
                    <a:pos x="T6" y="T7"/>
                  </a:cxn>
                  <a:cxn ang="0">
                    <a:pos x="T8" y="T9"/>
                  </a:cxn>
                </a:cxnLst>
                <a:rect l="0" t="0" r="r" b="b"/>
                <a:pathLst>
                  <a:path w="37" h="36">
                    <a:moveTo>
                      <a:pt x="0" y="4"/>
                    </a:moveTo>
                    <a:cubicBezTo>
                      <a:pt x="21" y="36"/>
                      <a:pt x="21" y="36"/>
                      <a:pt x="21" y="36"/>
                    </a:cubicBezTo>
                    <a:cubicBezTo>
                      <a:pt x="37" y="0"/>
                      <a:pt x="37" y="0"/>
                      <a:pt x="37" y="0"/>
                    </a:cubicBezTo>
                    <a:cubicBezTo>
                      <a:pt x="30" y="1"/>
                      <a:pt x="23" y="1"/>
                      <a:pt x="17" y="3"/>
                    </a:cubicBezTo>
                    <a:cubicBezTo>
                      <a:pt x="12" y="4"/>
                      <a:pt x="6" y="4"/>
                      <a:pt x="0" y="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52" name="Freeform 45">
                <a:extLst>
                  <a:ext uri="{FF2B5EF4-FFF2-40B4-BE49-F238E27FC236}">
                    <a16:creationId xmlns:a16="http://schemas.microsoft.com/office/drawing/2014/main" id="{0DAF6597-86E5-4BC0-B7A6-4C0E61AFF72C}"/>
                  </a:ext>
                </a:extLst>
              </p:cNvPr>
              <p:cNvSpPr>
                <a:spLocks/>
              </p:cNvSpPr>
              <p:nvPr/>
            </p:nvSpPr>
            <p:spPr bwMode="auto">
              <a:xfrm>
                <a:off x="8923338" y="10558463"/>
                <a:ext cx="115888" cy="111125"/>
              </a:xfrm>
              <a:custGeom>
                <a:avLst/>
                <a:gdLst>
                  <a:gd name="T0" fmla="*/ 0 w 36"/>
                  <a:gd name="T1" fmla="*/ 0 h 34"/>
                  <a:gd name="T2" fmla="*/ 17 w 36"/>
                  <a:gd name="T3" fmla="*/ 34 h 34"/>
                  <a:gd name="T4" fmla="*/ 36 w 36"/>
                  <a:gd name="T5" fmla="*/ 0 h 34"/>
                  <a:gd name="T6" fmla="*/ 17 w 36"/>
                  <a:gd name="T7" fmla="*/ 1 h 34"/>
                  <a:gd name="T8" fmla="*/ 0 w 36"/>
                  <a:gd name="T9" fmla="*/ 0 h 34"/>
                </a:gdLst>
                <a:ahLst/>
                <a:cxnLst>
                  <a:cxn ang="0">
                    <a:pos x="T0" y="T1"/>
                  </a:cxn>
                  <a:cxn ang="0">
                    <a:pos x="T2" y="T3"/>
                  </a:cxn>
                  <a:cxn ang="0">
                    <a:pos x="T4" y="T5"/>
                  </a:cxn>
                  <a:cxn ang="0">
                    <a:pos x="T6" y="T7"/>
                  </a:cxn>
                  <a:cxn ang="0">
                    <a:pos x="T8" y="T9"/>
                  </a:cxn>
                </a:cxnLst>
                <a:rect l="0" t="0" r="r" b="b"/>
                <a:pathLst>
                  <a:path w="36" h="34">
                    <a:moveTo>
                      <a:pt x="0" y="0"/>
                    </a:moveTo>
                    <a:cubicBezTo>
                      <a:pt x="17" y="34"/>
                      <a:pt x="17" y="34"/>
                      <a:pt x="17" y="34"/>
                    </a:cubicBezTo>
                    <a:cubicBezTo>
                      <a:pt x="36" y="0"/>
                      <a:pt x="36" y="0"/>
                      <a:pt x="36" y="0"/>
                    </a:cubicBezTo>
                    <a:cubicBezTo>
                      <a:pt x="30" y="1"/>
                      <a:pt x="23" y="1"/>
                      <a:pt x="17" y="1"/>
                    </a:cubicBezTo>
                    <a:cubicBezTo>
                      <a:pt x="11" y="1"/>
                      <a:pt x="5" y="1"/>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53" name="Freeform 46">
                <a:extLst>
                  <a:ext uri="{FF2B5EF4-FFF2-40B4-BE49-F238E27FC236}">
                    <a16:creationId xmlns:a16="http://schemas.microsoft.com/office/drawing/2014/main" id="{74BD12C5-E1C7-475C-99A1-AFFE06F935BA}"/>
                  </a:ext>
                </a:extLst>
              </p:cNvPr>
              <p:cNvSpPr>
                <a:spLocks/>
              </p:cNvSpPr>
              <p:nvPr/>
            </p:nvSpPr>
            <p:spPr bwMode="auto">
              <a:xfrm>
                <a:off x="9169400" y="10520363"/>
                <a:ext cx="115888" cy="123825"/>
              </a:xfrm>
              <a:custGeom>
                <a:avLst/>
                <a:gdLst>
                  <a:gd name="T0" fmla="*/ 0 w 36"/>
                  <a:gd name="T1" fmla="*/ 7 h 38"/>
                  <a:gd name="T2" fmla="*/ 24 w 36"/>
                  <a:gd name="T3" fmla="*/ 38 h 38"/>
                  <a:gd name="T4" fmla="*/ 36 w 36"/>
                  <a:gd name="T5" fmla="*/ 0 h 38"/>
                  <a:gd name="T6" fmla="*/ 16 w 36"/>
                  <a:gd name="T7" fmla="*/ 5 h 38"/>
                  <a:gd name="T8" fmla="*/ 0 w 36"/>
                  <a:gd name="T9" fmla="*/ 7 h 38"/>
                </a:gdLst>
                <a:ahLst/>
                <a:cxnLst>
                  <a:cxn ang="0">
                    <a:pos x="T0" y="T1"/>
                  </a:cxn>
                  <a:cxn ang="0">
                    <a:pos x="T2" y="T3"/>
                  </a:cxn>
                  <a:cxn ang="0">
                    <a:pos x="T4" y="T5"/>
                  </a:cxn>
                  <a:cxn ang="0">
                    <a:pos x="T6" y="T7"/>
                  </a:cxn>
                  <a:cxn ang="0">
                    <a:pos x="T8" y="T9"/>
                  </a:cxn>
                </a:cxnLst>
                <a:rect l="0" t="0" r="r" b="b"/>
                <a:pathLst>
                  <a:path w="36" h="38">
                    <a:moveTo>
                      <a:pt x="0" y="7"/>
                    </a:moveTo>
                    <a:cubicBezTo>
                      <a:pt x="24" y="38"/>
                      <a:pt x="24" y="38"/>
                      <a:pt x="24" y="38"/>
                    </a:cubicBezTo>
                    <a:cubicBezTo>
                      <a:pt x="36" y="0"/>
                      <a:pt x="36" y="0"/>
                      <a:pt x="36" y="0"/>
                    </a:cubicBezTo>
                    <a:cubicBezTo>
                      <a:pt x="29" y="2"/>
                      <a:pt x="23" y="3"/>
                      <a:pt x="16" y="5"/>
                    </a:cubicBezTo>
                    <a:cubicBezTo>
                      <a:pt x="11" y="6"/>
                      <a:pt x="5" y="7"/>
                      <a:pt x="0" y="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54" name="Freeform 47">
                <a:extLst>
                  <a:ext uri="{FF2B5EF4-FFF2-40B4-BE49-F238E27FC236}">
                    <a16:creationId xmlns:a16="http://schemas.microsoft.com/office/drawing/2014/main" id="{88739090-187C-4664-A363-6E9FA8915C55}"/>
                  </a:ext>
                </a:extLst>
              </p:cNvPr>
              <p:cNvSpPr>
                <a:spLocks/>
              </p:cNvSpPr>
              <p:nvPr/>
            </p:nvSpPr>
            <p:spPr bwMode="auto">
              <a:xfrm>
                <a:off x="9288463" y="10483851"/>
                <a:ext cx="109538" cy="123825"/>
              </a:xfrm>
              <a:custGeom>
                <a:avLst/>
                <a:gdLst>
                  <a:gd name="T0" fmla="*/ 0 w 34"/>
                  <a:gd name="T1" fmla="*/ 11 h 38"/>
                  <a:gd name="T2" fmla="*/ 27 w 34"/>
                  <a:gd name="T3" fmla="*/ 38 h 38"/>
                  <a:gd name="T4" fmla="*/ 34 w 34"/>
                  <a:gd name="T5" fmla="*/ 0 h 38"/>
                  <a:gd name="T6" fmla="*/ 17 w 34"/>
                  <a:gd name="T7" fmla="*/ 5 h 38"/>
                  <a:gd name="T8" fmla="*/ 0 w 34"/>
                  <a:gd name="T9" fmla="*/ 11 h 38"/>
                </a:gdLst>
                <a:ahLst/>
                <a:cxnLst>
                  <a:cxn ang="0">
                    <a:pos x="T0" y="T1"/>
                  </a:cxn>
                  <a:cxn ang="0">
                    <a:pos x="T2" y="T3"/>
                  </a:cxn>
                  <a:cxn ang="0">
                    <a:pos x="T4" y="T5"/>
                  </a:cxn>
                  <a:cxn ang="0">
                    <a:pos x="T6" y="T7"/>
                  </a:cxn>
                  <a:cxn ang="0">
                    <a:pos x="T8" y="T9"/>
                  </a:cxn>
                </a:cxnLst>
                <a:rect l="0" t="0" r="r" b="b"/>
                <a:pathLst>
                  <a:path w="34" h="38">
                    <a:moveTo>
                      <a:pt x="0" y="11"/>
                    </a:moveTo>
                    <a:cubicBezTo>
                      <a:pt x="27" y="38"/>
                      <a:pt x="27" y="38"/>
                      <a:pt x="27" y="38"/>
                    </a:cubicBezTo>
                    <a:cubicBezTo>
                      <a:pt x="34" y="0"/>
                      <a:pt x="34" y="0"/>
                      <a:pt x="34" y="0"/>
                    </a:cubicBezTo>
                    <a:cubicBezTo>
                      <a:pt x="29" y="2"/>
                      <a:pt x="22" y="4"/>
                      <a:pt x="17" y="5"/>
                    </a:cubicBezTo>
                    <a:cubicBezTo>
                      <a:pt x="11" y="7"/>
                      <a:pt x="5" y="10"/>
                      <a:pt x="0" y="11"/>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55" name="Freeform 48">
                <a:extLst>
                  <a:ext uri="{FF2B5EF4-FFF2-40B4-BE49-F238E27FC236}">
                    <a16:creationId xmlns:a16="http://schemas.microsoft.com/office/drawing/2014/main" id="{30AC78D0-63FD-4027-961F-7A366E2607D2}"/>
                  </a:ext>
                </a:extLst>
              </p:cNvPr>
              <p:cNvSpPr>
                <a:spLocks/>
              </p:cNvSpPr>
              <p:nvPr/>
            </p:nvSpPr>
            <p:spPr bwMode="auto">
              <a:xfrm>
                <a:off x="9407525" y="10428288"/>
                <a:ext cx="104775" cy="130175"/>
              </a:xfrm>
              <a:custGeom>
                <a:avLst/>
                <a:gdLst>
                  <a:gd name="T0" fmla="*/ 0 w 33"/>
                  <a:gd name="T1" fmla="*/ 16 h 40"/>
                  <a:gd name="T2" fmla="*/ 30 w 33"/>
                  <a:gd name="T3" fmla="*/ 40 h 40"/>
                  <a:gd name="T4" fmla="*/ 33 w 33"/>
                  <a:gd name="T5" fmla="*/ 0 h 40"/>
                  <a:gd name="T6" fmla="*/ 16 w 33"/>
                  <a:gd name="T7" fmla="*/ 9 h 40"/>
                  <a:gd name="T8" fmla="*/ 0 w 33"/>
                  <a:gd name="T9" fmla="*/ 16 h 40"/>
                </a:gdLst>
                <a:ahLst/>
                <a:cxnLst>
                  <a:cxn ang="0">
                    <a:pos x="T0" y="T1"/>
                  </a:cxn>
                  <a:cxn ang="0">
                    <a:pos x="T2" y="T3"/>
                  </a:cxn>
                  <a:cxn ang="0">
                    <a:pos x="T4" y="T5"/>
                  </a:cxn>
                  <a:cxn ang="0">
                    <a:pos x="T6" y="T7"/>
                  </a:cxn>
                  <a:cxn ang="0">
                    <a:pos x="T8" y="T9"/>
                  </a:cxn>
                </a:cxnLst>
                <a:rect l="0" t="0" r="r" b="b"/>
                <a:pathLst>
                  <a:path w="33" h="40">
                    <a:moveTo>
                      <a:pt x="0" y="16"/>
                    </a:moveTo>
                    <a:cubicBezTo>
                      <a:pt x="30" y="40"/>
                      <a:pt x="30" y="40"/>
                      <a:pt x="30" y="40"/>
                    </a:cubicBezTo>
                    <a:cubicBezTo>
                      <a:pt x="33" y="0"/>
                      <a:pt x="33" y="0"/>
                      <a:pt x="33" y="0"/>
                    </a:cubicBezTo>
                    <a:cubicBezTo>
                      <a:pt x="27" y="4"/>
                      <a:pt x="21" y="6"/>
                      <a:pt x="16" y="9"/>
                    </a:cubicBezTo>
                    <a:cubicBezTo>
                      <a:pt x="10" y="11"/>
                      <a:pt x="5" y="14"/>
                      <a:pt x="0"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56" name="Freeform 49">
                <a:extLst>
                  <a:ext uri="{FF2B5EF4-FFF2-40B4-BE49-F238E27FC236}">
                    <a16:creationId xmlns:a16="http://schemas.microsoft.com/office/drawing/2014/main" id="{0ADA92AD-F3F5-4FB7-8C72-6993F342FA45}"/>
                  </a:ext>
                </a:extLst>
              </p:cNvPr>
              <p:cNvSpPr>
                <a:spLocks/>
              </p:cNvSpPr>
              <p:nvPr/>
            </p:nvSpPr>
            <p:spPr bwMode="auto">
              <a:xfrm>
                <a:off x="8448675" y="10434638"/>
                <a:ext cx="106363" cy="123825"/>
              </a:xfrm>
              <a:custGeom>
                <a:avLst/>
                <a:gdLst>
                  <a:gd name="T0" fmla="*/ 0 w 33"/>
                  <a:gd name="T1" fmla="*/ 0 h 38"/>
                  <a:gd name="T2" fmla="*/ 2 w 33"/>
                  <a:gd name="T3" fmla="*/ 38 h 38"/>
                  <a:gd name="T4" fmla="*/ 33 w 33"/>
                  <a:gd name="T5" fmla="*/ 15 h 38"/>
                  <a:gd name="T6" fmla="*/ 15 w 33"/>
                  <a:gd name="T7" fmla="*/ 7 h 38"/>
                  <a:gd name="T8" fmla="*/ 0 w 33"/>
                  <a:gd name="T9" fmla="*/ 0 h 38"/>
                </a:gdLst>
                <a:ahLst/>
                <a:cxnLst>
                  <a:cxn ang="0">
                    <a:pos x="T0" y="T1"/>
                  </a:cxn>
                  <a:cxn ang="0">
                    <a:pos x="T2" y="T3"/>
                  </a:cxn>
                  <a:cxn ang="0">
                    <a:pos x="T4" y="T5"/>
                  </a:cxn>
                  <a:cxn ang="0">
                    <a:pos x="T6" y="T7"/>
                  </a:cxn>
                  <a:cxn ang="0">
                    <a:pos x="T8" y="T9"/>
                  </a:cxn>
                </a:cxnLst>
                <a:rect l="0" t="0" r="r" b="b"/>
                <a:pathLst>
                  <a:path w="33" h="38">
                    <a:moveTo>
                      <a:pt x="0" y="0"/>
                    </a:moveTo>
                    <a:cubicBezTo>
                      <a:pt x="2" y="38"/>
                      <a:pt x="2" y="38"/>
                      <a:pt x="2" y="38"/>
                    </a:cubicBezTo>
                    <a:cubicBezTo>
                      <a:pt x="33" y="15"/>
                      <a:pt x="33" y="15"/>
                      <a:pt x="33" y="15"/>
                    </a:cubicBezTo>
                    <a:cubicBezTo>
                      <a:pt x="27" y="12"/>
                      <a:pt x="21" y="9"/>
                      <a:pt x="15" y="7"/>
                    </a:cubicBezTo>
                    <a:cubicBezTo>
                      <a:pt x="11" y="5"/>
                      <a:pt x="5" y="2"/>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57" name="Freeform 50">
                <a:extLst>
                  <a:ext uri="{FF2B5EF4-FFF2-40B4-BE49-F238E27FC236}">
                    <a16:creationId xmlns:a16="http://schemas.microsoft.com/office/drawing/2014/main" id="{D41F29C9-3FFC-4E86-B608-EA1A25476CE9}"/>
                  </a:ext>
                </a:extLst>
              </p:cNvPr>
              <p:cNvSpPr>
                <a:spLocks/>
              </p:cNvSpPr>
              <p:nvPr/>
            </p:nvSpPr>
            <p:spPr bwMode="auto">
              <a:xfrm>
                <a:off x="9515475" y="10369551"/>
                <a:ext cx="106363" cy="127000"/>
              </a:xfrm>
              <a:custGeom>
                <a:avLst/>
                <a:gdLst>
                  <a:gd name="T0" fmla="*/ 16 w 33"/>
                  <a:gd name="T1" fmla="*/ 10 h 39"/>
                  <a:gd name="T2" fmla="*/ 0 w 33"/>
                  <a:gd name="T3" fmla="*/ 18 h 39"/>
                  <a:gd name="T4" fmla="*/ 33 w 33"/>
                  <a:gd name="T5" fmla="*/ 39 h 39"/>
                  <a:gd name="T6" fmla="*/ 32 w 33"/>
                  <a:gd name="T7" fmla="*/ 0 h 39"/>
                  <a:gd name="T8" fmla="*/ 16 w 33"/>
                  <a:gd name="T9" fmla="*/ 10 h 39"/>
                </a:gdLst>
                <a:ahLst/>
                <a:cxnLst>
                  <a:cxn ang="0">
                    <a:pos x="T0" y="T1"/>
                  </a:cxn>
                  <a:cxn ang="0">
                    <a:pos x="T2" y="T3"/>
                  </a:cxn>
                  <a:cxn ang="0">
                    <a:pos x="T4" y="T5"/>
                  </a:cxn>
                  <a:cxn ang="0">
                    <a:pos x="T6" y="T7"/>
                  </a:cxn>
                  <a:cxn ang="0">
                    <a:pos x="T8" y="T9"/>
                  </a:cxn>
                </a:cxnLst>
                <a:rect l="0" t="0" r="r" b="b"/>
                <a:pathLst>
                  <a:path w="33" h="39">
                    <a:moveTo>
                      <a:pt x="16" y="10"/>
                    </a:moveTo>
                    <a:cubicBezTo>
                      <a:pt x="10" y="13"/>
                      <a:pt x="6" y="15"/>
                      <a:pt x="0" y="18"/>
                    </a:cubicBezTo>
                    <a:cubicBezTo>
                      <a:pt x="33" y="39"/>
                      <a:pt x="33" y="39"/>
                      <a:pt x="33" y="39"/>
                    </a:cubicBezTo>
                    <a:cubicBezTo>
                      <a:pt x="32" y="0"/>
                      <a:pt x="32" y="0"/>
                      <a:pt x="32" y="0"/>
                    </a:cubicBezTo>
                    <a:cubicBezTo>
                      <a:pt x="27" y="3"/>
                      <a:pt x="21" y="6"/>
                      <a:pt x="16" y="1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58" name="Freeform 51">
                <a:extLst>
                  <a:ext uri="{FF2B5EF4-FFF2-40B4-BE49-F238E27FC236}">
                    <a16:creationId xmlns:a16="http://schemas.microsoft.com/office/drawing/2014/main" id="{38721BC7-AD81-45A5-A373-6ADA3E3D45CF}"/>
                  </a:ext>
                </a:extLst>
              </p:cNvPr>
              <p:cNvSpPr>
                <a:spLocks/>
              </p:cNvSpPr>
              <p:nvPr/>
            </p:nvSpPr>
            <p:spPr bwMode="auto">
              <a:xfrm>
                <a:off x="8558213" y="10483851"/>
                <a:ext cx="115888" cy="123825"/>
              </a:xfrm>
              <a:custGeom>
                <a:avLst/>
                <a:gdLst>
                  <a:gd name="T0" fmla="*/ 0 w 36"/>
                  <a:gd name="T1" fmla="*/ 0 h 38"/>
                  <a:gd name="T2" fmla="*/ 7 w 36"/>
                  <a:gd name="T3" fmla="*/ 38 h 38"/>
                  <a:gd name="T4" fmla="*/ 36 w 36"/>
                  <a:gd name="T5" fmla="*/ 11 h 38"/>
                  <a:gd name="T6" fmla="*/ 18 w 36"/>
                  <a:gd name="T7" fmla="*/ 5 h 38"/>
                  <a:gd name="T8" fmla="*/ 0 w 36"/>
                  <a:gd name="T9" fmla="*/ 0 h 38"/>
                </a:gdLst>
                <a:ahLst/>
                <a:cxnLst>
                  <a:cxn ang="0">
                    <a:pos x="T0" y="T1"/>
                  </a:cxn>
                  <a:cxn ang="0">
                    <a:pos x="T2" y="T3"/>
                  </a:cxn>
                  <a:cxn ang="0">
                    <a:pos x="T4" y="T5"/>
                  </a:cxn>
                  <a:cxn ang="0">
                    <a:pos x="T6" y="T7"/>
                  </a:cxn>
                  <a:cxn ang="0">
                    <a:pos x="T8" y="T9"/>
                  </a:cxn>
                </a:cxnLst>
                <a:rect l="0" t="0" r="r" b="b"/>
                <a:pathLst>
                  <a:path w="36" h="38">
                    <a:moveTo>
                      <a:pt x="0" y="0"/>
                    </a:moveTo>
                    <a:cubicBezTo>
                      <a:pt x="7" y="38"/>
                      <a:pt x="7" y="38"/>
                      <a:pt x="7" y="38"/>
                    </a:cubicBezTo>
                    <a:cubicBezTo>
                      <a:pt x="36" y="11"/>
                      <a:pt x="36" y="11"/>
                      <a:pt x="36" y="11"/>
                    </a:cubicBezTo>
                    <a:cubicBezTo>
                      <a:pt x="30" y="10"/>
                      <a:pt x="23" y="7"/>
                      <a:pt x="18" y="5"/>
                    </a:cubicBezTo>
                    <a:cubicBezTo>
                      <a:pt x="11" y="4"/>
                      <a:pt x="6" y="2"/>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59" name="Freeform 52">
                <a:extLst>
                  <a:ext uri="{FF2B5EF4-FFF2-40B4-BE49-F238E27FC236}">
                    <a16:creationId xmlns:a16="http://schemas.microsoft.com/office/drawing/2014/main" id="{DAFD1AB6-6D69-4C94-A08A-510DDD431C04}"/>
                  </a:ext>
                </a:extLst>
              </p:cNvPr>
              <p:cNvSpPr>
                <a:spLocks/>
              </p:cNvSpPr>
              <p:nvPr/>
            </p:nvSpPr>
            <p:spPr bwMode="auto">
              <a:xfrm>
                <a:off x="8797925" y="10545763"/>
                <a:ext cx="115888" cy="117475"/>
              </a:xfrm>
              <a:custGeom>
                <a:avLst/>
                <a:gdLst>
                  <a:gd name="T0" fmla="*/ 0 w 36"/>
                  <a:gd name="T1" fmla="*/ 0 h 36"/>
                  <a:gd name="T2" fmla="*/ 15 w 36"/>
                  <a:gd name="T3" fmla="*/ 36 h 36"/>
                  <a:gd name="T4" fmla="*/ 36 w 36"/>
                  <a:gd name="T5" fmla="*/ 4 h 36"/>
                  <a:gd name="T6" fmla="*/ 18 w 36"/>
                  <a:gd name="T7" fmla="*/ 3 h 36"/>
                  <a:gd name="T8" fmla="*/ 0 w 36"/>
                  <a:gd name="T9" fmla="*/ 0 h 36"/>
                </a:gdLst>
                <a:ahLst/>
                <a:cxnLst>
                  <a:cxn ang="0">
                    <a:pos x="T0" y="T1"/>
                  </a:cxn>
                  <a:cxn ang="0">
                    <a:pos x="T2" y="T3"/>
                  </a:cxn>
                  <a:cxn ang="0">
                    <a:pos x="T4" y="T5"/>
                  </a:cxn>
                  <a:cxn ang="0">
                    <a:pos x="T6" y="T7"/>
                  </a:cxn>
                  <a:cxn ang="0">
                    <a:pos x="T8" y="T9"/>
                  </a:cxn>
                </a:cxnLst>
                <a:rect l="0" t="0" r="r" b="b"/>
                <a:pathLst>
                  <a:path w="36" h="36">
                    <a:moveTo>
                      <a:pt x="0" y="0"/>
                    </a:moveTo>
                    <a:cubicBezTo>
                      <a:pt x="15" y="36"/>
                      <a:pt x="15" y="36"/>
                      <a:pt x="15" y="36"/>
                    </a:cubicBezTo>
                    <a:cubicBezTo>
                      <a:pt x="36" y="4"/>
                      <a:pt x="36" y="4"/>
                      <a:pt x="36" y="4"/>
                    </a:cubicBezTo>
                    <a:cubicBezTo>
                      <a:pt x="31" y="4"/>
                      <a:pt x="24" y="4"/>
                      <a:pt x="18" y="3"/>
                    </a:cubicBezTo>
                    <a:cubicBezTo>
                      <a:pt x="11" y="1"/>
                      <a:pt x="6" y="1"/>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60" name="Freeform 53">
                <a:extLst>
                  <a:ext uri="{FF2B5EF4-FFF2-40B4-BE49-F238E27FC236}">
                    <a16:creationId xmlns:a16="http://schemas.microsoft.com/office/drawing/2014/main" id="{4D8B8B65-7D5E-4DD2-9464-B3CC6B094F83}"/>
                  </a:ext>
                </a:extLst>
              </p:cNvPr>
              <p:cNvSpPr>
                <a:spLocks/>
              </p:cNvSpPr>
              <p:nvPr/>
            </p:nvSpPr>
            <p:spPr bwMode="auto">
              <a:xfrm>
                <a:off x="8677275" y="10523538"/>
                <a:ext cx="114300" cy="120650"/>
              </a:xfrm>
              <a:custGeom>
                <a:avLst/>
                <a:gdLst>
                  <a:gd name="T0" fmla="*/ 0 w 36"/>
                  <a:gd name="T1" fmla="*/ 0 h 37"/>
                  <a:gd name="T2" fmla="*/ 11 w 36"/>
                  <a:gd name="T3" fmla="*/ 37 h 37"/>
                  <a:gd name="T4" fmla="*/ 36 w 36"/>
                  <a:gd name="T5" fmla="*/ 7 h 37"/>
                  <a:gd name="T6" fmla="*/ 18 w 36"/>
                  <a:gd name="T7" fmla="*/ 3 h 37"/>
                  <a:gd name="T8" fmla="*/ 0 w 36"/>
                  <a:gd name="T9" fmla="*/ 0 h 37"/>
                </a:gdLst>
                <a:ahLst/>
                <a:cxnLst>
                  <a:cxn ang="0">
                    <a:pos x="T0" y="T1"/>
                  </a:cxn>
                  <a:cxn ang="0">
                    <a:pos x="T2" y="T3"/>
                  </a:cxn>
                  <a:cxn ang="0">
                    <a:pos x="T4" y="T5"/>
                  </a:cxn>
                  <a:cxn ang="0">
                    <a:pos x="T6" y="T7"/>
                  </a:cxn>
                  <a:cxn ang="0">
                    <a:pos x="T8" y="T9"/>
                  </a:cxn>
                </a:cxnLst>
                <a:rect l="0" t="0" r="r" b="b"/>
                <a:pathLst>
                  <a:path w="36" h="37">
                    <a:moveTo>
                      <a:pt x="0" y="0"/>
                    </a:moveTo>
                    <a:cubicBezTo>
                      <a:pt x="11" y="37"/>
                      <a:pt x="11" y="37"/>
                      <a:pt x="11" y="37"/>
                    </a:cubicBezTo>
                    <a:cubicBezTo>
                      <a:pt x="36" y="7"/>
                      <a:pt x="36" y="7"/>
                      <a:pt x="36" y="7"/>
                    </a:cubicBezTo>
                    <a:cubicBezTo>
                      <a:pt x="30" y="6"/>
                      <a:pt x="24" y="5"/>
                      <a:pt x="18" y="3"/>
                    </a:cubicBezTo>
                    <a:cubicBezTo>
                      <a:pt x="11" y="2"/>
                      <a:pt x="6" y="1"/>
                      <a:pt x="0"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61" name="Freeform 54">
                <a:extLst>
                  <a:ext uri="{FF2B5EF4-FFF2-40B4-BE49-F238E27FC236}">
                    <a16:creationId xmlns:a16="http://schemas.microsoft.com/office/drawing/2014/main" id="{3596F954-2147-4EB0-A6E1-A99FE57FD6C9}"/>
                  </a:ext>
                </a:extLst>
              </p:cNvPr>
              <p:cNvSpPr>
                <a:spLocks/>
              </p:cNvSpPr>
              <p:nvPr/>
            </p:nvSpPr>
            <p:spPr bwMode="auto">
              <a:xfrm>
                <a:off x="10115550" y="9558338"/>
                <a:ext cx="117475" cy="117475"/>
              </a:xfrm>
              <a:custGeom>
                <a:avLst/>
                <a:gdLst>
                  <a:gd name="T0" fmla="*/ 5 w 37"/>
                  <a:gd name="T1" fmla="*/ 20 h 36"/>
                  <a:gd name="T2" fmla="*/ 0 w 37"/>
                  <a:gd name="T3" fmla="*/ 36 h 36"/>
                  <a:gd name="T4" fmla="*/ 37 w 37"/>
                  <a:gd name="T5" fmla="*/ 26 h 36"/>
                  <a:gd name="T6" fmla="*/ 8 w 37"/>
                  <a:gd name="T7" fmla="*/ 0 h 36"/>
                  <a:gd name="T8" fmla="*/ 5 w 37"/>
                  <a:gd name="T9" fmla="*/ 20 h 36"/>
                </a:gdLst>
                <a:ahLst/>
                <a:cxnLst>
                  <a:cxn ang="0">
                    <a:pos x="T0" y="T1"/>
                  </a:cxn>
                  <a:cxn ang="0">
                    <a:pos x="T2" y="T3"/>
                  </a:cxn>
                  <a:cxn ang="0">
                    <a:pos x="T4" y="T5"/>
                  </a:cxn>
                  <a:cxn ang="0">
                    <a:pos x="T6" y="T7"/>
                  </a:cxn>
                  <a:cxn ang="0">
                    <a:pos x="T8" y="T9"/>
                  </a:cxn>
                </a:cxnLst>
                <a:rect l="0" t="0" r="r" b="b"/>
                <a:pathLst>
                  <a:path w="37" h="36">
                    <a:moveTo>
                      <a:pt x="5" y="20"/>
                    </a:moveTo>
                    <a:cubicBezTo>
                      <a:pt x="4" y="25"/>
                      <a:pt x="3" y="30"/>
                      <a:pt x="0" y="36"/>
                    </a:cubicBezTo>
                    <a:cubicBezTo>
                      <a:pt x="37" y="26"/>
                      <a:pt x="37" y="26"/>
                      <a:pt x="37" y="26"/>
                    </a:cubicBezTo>
                    <a:cubicBezTo>
                      <a:pt x="8" y="0"/>
                      <a:pt x="8" y="0"/>
                      <a:pt x="8" y="0"/>
                    </a:cubicBezTo>
                    <a:cubicBezTo>
                      <a:pt x="7" y="7"/>
                      <a:pt x="6" y="13"/>
                      <a:pt x="5" y="2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62" name="Freeform 55">
                <a:extLst>
                  <a:ext uri="{FF2B5EF4-FFF2-40B4-BE49-F238E27FC236}">
                    <a16:creationId xmlns:a16="http://schemas.microsoft.com/office/drawing/2014/main" id="{2E1A87F2-45B3-4C6A-BAC8-F15B56CBB7CB}"/>
                  </a:ext>
                </a:extLst>
              </p:cNvPr>
              <p:cNvSpPr>
                <a:spLocks/>
              </p:cNvSpPr>
              <p:nvPr/>
            </p:nvSpPr>
            <p:spPr bwMode="auto">
              <a:xfrm>
                <a:off x="10075863" y="9678988"/>
                <a:ext cx="125413" cy="114300"/>
              </a:xfrm>
              <a:custGeom>
                <a:avLst/>
                <a:gdLst>
                  <a:gd name="T0" fmla="*/ 7 w 39"/>
                  <a:gd name="T1" fmla="*/ 18 h 35"/>
                  <a:gd name="T2" fmla="*/ 0 w 39"/>
                  <a:gd name="T3" fmla="*/ 35 h 35"/>
                  <a:gd name="T4" fmla="*/ 39 w 39"/>
                  <a:gd name="T5" fmla="*/ 29 h 35"/>
                  <a:gd name="T6" fmla="*/ 12 w 39"/>
                  <a:gd name="T7" fmla="*/ 0 h 35"/>
                  <a:gd name="T8" fmla="*/ 7 w 39"/>
                  <a:gd name="T9" fmla="*/ 18 h 35"/>
                </a:gdLst>
                <a:ahLst/>
                <a:cxnLst>
                  <a:cxn ang="0">
                    <a:pos x="T0" y="T1"/>
                  </a:cxn>
                  <a:cxn ang="0">
                    <a:pos x="T2" y="T3"/>
                  </a:cxn>
                  <a:cxn ang="0">
                    <a:pos x="T4" y="T5"/>
                  </a:cxn>
                  <a:cxn ang="0">
                    <a:pos x="T6" y="T7"/>
                  </a:cxn>
                  <a:cxn ang="0">
                    <a:pos x="T8" y="T9"/>
                  </a:cxn>
                </a:cxnLst>
                <a:rect l="0" t="0" r="r" b="b"/>
                <a:pathLst>
                  <a:path w="39" h="35">
                    <a:moveTo>
                      <a:pt x="7" y="18"/>
                    </a:moveTo>
                    <a:cubicBezTo>
                      <a:pt x="5" y="24"/>
                      <a:pt x="3" y="29"/>
                      <a:pt x="0" y="35"/>
                    </a:cubicBezTo>
                    <a:cubicBezTo>
                      <a:pt x="39" y="29"/>
                      <a:pt x="39" y="29"/>
                      <a:pt x="39" y="29"/>
                    </a:cubicBezTo>
                    <a:cubicBezTo>
                      <a:pt x="12" y="0"/>
                      <a:pt x="12" y="0"/>
                      <a:pt x="12" y="0"/>
                    </a:cubicBezTo>
                    <a:cubicBezTo>
                      <a:pt x="10" y="6"/>
                      <a:pt x="9" y="13"/>
                      <a:pt x="7"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63" name="Freeform 56">
                <a:extLst>
                  <a:ext uri="{FF2B5EF4-FFF2-40B4-BE49-F238E27FC236}">
                    <a16:creationId xmlns:a16="http://schemas.microsoft.com/office/drawing/2014/main" id="{3BF1BF42-57B2-44B4-A944-ACFBFF4F36BB}"/>
                  </a:ext>
                </a:extLst>
              </p:cNvPr>
              <p:cNvSpPr>
                <a:spLocks/>
              </p:cNvSpPr>
              <p:nvPr/>
            </p:nvSpPr>
            <p:spPr bwMode="auto">
              <a:xfrm>
                <a:off x="8337550" y="10372726"/>
                <a:ext cx="107950" cy="123825"/>
              </a:xfrm>
              <a:custGeom>
                <a:avLst/>
                <a:gdLst>
                  <a:gd name="T0" fmla="*/ 1 w 34"/>
                  <a:gd name="T1" fmla="*/ 0 h 38"/>
                  <a:gd name="T2" fmla="*/ 0 w 34"/>
                  <a:gd name="T3" fmla="*/ 38 h 38"/>
                  <a:gd name="T4" fmla="*/ 34 w 34"/>
                  <a:gd name="T5" fmla="*/ 17 h 38"/>
                  <a:gd name="T6" fmla="*/ 16 w 34"/>
                  <a:gd name="T7" fmla="*/ 9 h 38"/>
                  <a:gd name="T8" fmla="*/ 1 w 34"/>
                  <a:gd name="T9" fmla="*/ 0 h 38"/>
                </a:gdLst>
                <a:ahLst/>
                <a:cxnLst>
                  <a:cxn ang="0">
                    <a:pos x="T0" y="T1"/>
                  </a:cxn>
                  <a:cxn ang="0">
                    <a:pos x="T2" y="T3"/>
                  </a:cxn>
                  <a:cxn ang="0">
                    <a:pos x="T4" y="T5"/>
                  </a:cxn>
                  <a:cxn ang="0">
                    <a:pos x="T6" y="T7"/>
                  </a:cxn>
                  <a:cxn ang="0">
                    <a:pos x="T8" y="T9"/>
                  </a:cxn>
                </a:cxnLst>
                <a:rect l="0" t="0" r="r" b="b"/>
                <a:pathLst>
                  <a:path w="34" h="38">
                    <a:moveTo>
                      <a:pt x="1" y="0"/>
                    </a:moveTo>
                    <a:cubicBezTo>
                      <a:pt x="0" y="38"/>
                      <a:pt x="0" y="38"/>
                      <a:pt x="0" y="38"/>
                    </a:cubicBezTo>
                    <a:cubicBezTo>
                      <a:pt x="34" y="17"/>
                      <a:pt x="34" y="17"/>
                      <a:pt x="34" y="17"/>
                    </a:cubicBezTo>
                    <a:cubicBezTo>
                      <a:pt x="27" y="15"/>
                      <a:pt x="22" y="12"/>
                      <a:pt x="16" y="9"/>
                    </a:cubicBezTo>
                    <a:cubicBezTo>
                      <a:pt x="11" y="6"/>
                      <a:pt x="6" y="3"/>
                      <a:pt x="1" y="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64" name="Freeform 57">
                <a:extLst>
                  <a:ext uri="{FF2B5EF4-FFF2-40B4-BE49-F238E27FC236}">
                    <a16:creationId xmlns:a16="http://schemas.microsoft.com/office/drawing/2014/main" id="{4ED1FFAD-F4A3-4581-AFFD-43187857C119}"/>
                  </a:ext>
                </a:extLst>
              </p:cNvPr>
              <p:cNvSpPr>
                <a:spLocks/>
              </p:cNvSpPr>
              <p:nvPr/>
            </p:nvSpPr>
            <p:spPr bwMode="auto">
              <a:xfrm>
                <a:off x="10140950" y="9434513"/>
                <a:ext cx="114300" cy="120650"/>
              </a:xfrm>
              <a:custGeom>
                <a:avLst/>
                <a:gdLst>
                  <a:gd name="T0" fmla="*/ 2 w 36"/>
                  <a:gd name="T1" fmla="*/ 20 h 37"/>
                  <a:gd name="T2" fmla="*/ 0 w 36"/>
                  <a:gd name="T3" fmla="*/ 37 h 37"/>
                  <a:gd name="T4" fmla="*/ 36 w 36"/>
                  <a:gd name="T5" fmla="*/ 23 h 37"/>
                  <a:gd name="T6" fmla="*/ 4 w 36"/>
                  <a:gd name="T7" fmla="*/ 0 h 37"/>
                  <a:gd name="T8" fmla="*/ 2 w 36"/>
                  <a:gd name="T9" fmla="*/ 20 h 37"/>
                </a:gdLst>
                <a:ahLst/>
                <a:cxnLst>
                  <a:cxn ang="0">
                    <a:pos x="T0" y="T1"/>
                  </a:cxn>
                  <a:cxn ang="0">
                    <a:pos x="T2" y="T3"/>
                  </a:cxn>
                  <a:cxn ang="0">
                    <a:pos x="T4" y="T5"/>
                  </a:cxn>
                  <a:cxn ang="0">
                    <a:pos x="T6" y="T7"/>
                  </a:cxn>
                  <a:cxn ang="0">
                    <a:pos x="T8" y="T9"/>
                  </a:cxn>
                </a:cxnLst>
                <a:rect l="0" t="0" r="r" b="b"/>
                <a:pathLst>
                  <a:path w="36" h="37">
                    <a:moveTo>
                      <a:pt x="2" y="20"/>
                    </a:moveTo>
                    <a:cubicBezTo>
                      <a:pt x="2" y="25"/>
                      <a:pt x="1" y="30"/>
                      <a:pt x="0" y="37"/>
                    </a:cubicBezTo>
                    <a:cubicBezTo>
                      <a:pt x="36" y="23"/>
                      <a:pt x="36" y="23"/>
                      <a:pt x="36" y="23"/>
                    </a:cubicBezTo>
                    <a:cubicBezTo>
                      <a:pt x="4" y="0"/>
                      <a:pt x="4" y="0"/>
                      <a:pt x="4" y="0"/>
                    </a:cubicBezTo>
                    <a:cubicBezTo>
                      <a:pt x="3" y="6"/>
                      <a:pt x="3" y="13"/>
                      <a:pt x="2" y="20"/>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65" name="Freeform 58">
                <a:extLst>
                  <a:ext uri="{FF2B5EF4-FFF2-40B4-BE49-F238E27FC236}">
                    <a16:creationId xmlns:a16="http://schemas.microsoft.com/office/drawing/2014/main" id="{86E3E564-0F8B-41F4-B943-C0B4AC5F4BBB}"/>
                  </a:ext>
                </a:extLst>
              </p:cNvPr>
              <p:cNvSpPr>
                <a:spLocks/>
              </p:cNvSpPr>
              <p:nvPr/>
            </p:nvSpPr>
            <p:spPr bwMode="auto">
              <a:xfrm>
                <a:off x="10028238" y="9799638"/>
                <a:ext cx="125413" cy="107950"/>
              </a:xfrm>
              <a:custGeom>
                <a:avLst/>
                <a:gdLst>
                  <a:gd name="T0" fmla="*/ 8 w 39"/>
                  <a:gd name="T1" fmla="*/ 17 h 33"/>
                  <a:gd name="T2" fmla="*/ 0 w 39"/>
                  <a:gd name="T3" fmla="*/ 33 h 33"/>
                  <a:gd name="T4" fmla="*/ 39 w 39"/>
                  <a:gd name="T5" fmla="*/ 30 h 33"/>
                  <a:gd name="T6" fmla="*/ 15 w 39"/>
                  <a:gd name="T7" fmla="*/ 0 h 33"/>
                  <a:gd name="T8" fmla="*/ 8 w 39"/>
                  <a:gd name="T9" fmla="*/ 17 h 33"/>
                </a:gdLst>
                <a:ahLst/>
                <a:cxnLst>
                  <a:cxn ang="0">
                    <a:pos x="T0" y="T1"/>
                  </a:cxn>
                  <a:cxn ang="0">
                    <a:pos x="T2" y="T3"/>
                  </a:cxn>
                  <a:cxn ang="0">
                    <a:pos x="T4" y="T5"/>
                  </a:cxn>
                  <a:cxn ang="0">
                    <a:pos x="T6" y="T7"/>
                  </a:cxn>
                  <a:cxn ang="0">
                    <a:pos x="T8" y="T9"/>
                  </a:cxn>
                </a:cxnLst>
                <a:rect l="0" t="0" r="r" b="b"/>
                <a:pathLst>
                  <a:path w="39" h="33">
                    <a:moveTo>
                      <a:pt x="8" y="17"/>
                    </a:moveTo>
                    <a:cubicBezTo>
                      <a:pt x="6" y="23"/>
                      <a:pt x="3" y="28"/>
                      <a:pt x="0" y="33"/>
                    </a:cubicBezTo>
                    <a:cubicBezTo>
                      <a:pt x="39" y="30"/>
                      <a:pt x="39" y="30"/>
                      <a:pt x="39" y="30"/>
                    </a:cubicBezTo>
                    <a:cubicBezTo>
                      <a:pt x="15" y="0"/>
                      <a:pt x="15" y="0"/>
                      <a:pt x="15" y="0"/>
                    </a:cubicBezTo>
                    <a:cubicBezTo>
                      <a:pt x="13" y="5"/>
                      <a:pt x="10" y="12"/>
                      <a:pt x="8"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66" name="Freeform 59">
                <a:extLst>
                  <a:ext uri="{FF2B5EF4-FFF2-40B4-BE49-F238E27FC236}">
                    <a16:creationId xmlns:a16="http://schemas.microsoft.com/office/drawing/2014/main" id="{A88CFCAC-0B46-46C5-8023-48C6E6F49697}"/>
                  </a:ext>
                </a:extLst>
              </p:cNvPr>
              <p:cNvSpPr>
                <a:spLocks/>
              </p:cNvSpPr>
              <p:nvPr/>
            </p:nvSpPr>
            <p:spPr bwMode="auto">
              <a:xfrm>
                <a:off x="9971088" y="9913938"/>
                <a:ext cx="120650" cy="106363"/>
              </a:xfrm>
              <a:custGeom>
                <a:avLst/>
                <a:gdLst>
                  <a:gd name="T0" fmla="*/ 8 w 38"/>
                  <a:gd name="T1" fmla="*/ 16 h 33"/>
                  <a:gd name="T2" fmla="*/ 0 w 38"/>
                  <a:gd name="T3" fmla="*/ 31 h 33"/>
                  <a:gd name="T4" fmla="*/ 38 w 38"/>
                  <a:gd name="T5" fmla="*/ 33 h 33"/>
                  <a:gd name="T6" fmla="*/ 17 w 38"/>
                  <a:gd name="T7" fmla="*/ 0 h 33"/>
                  <a:gd name="T8" fmla="*/ 8 w 38"/>
                  <a:gd name="T9" fmla="*/ 16 h 33"/>
                </a:gdLst>
                <a:ahLst/>
                <a:cxnLst>
                  <a:cxn ang="0">
                    <a:pos x="T0" y="T1"/>
                  </a:cxn>
                  <a:cxn ang="0">
                    <a:pos x="T2" y="T3"/>
                  </a:cxn>
                  <a:cxn ang="0">
                    <a:pos x="T4" y="T5"/>
                  </a:cxn>
                  <a:cxn ang="0">
                    <a:pos x="T6" y="T7"/>
                  </a:cxn>
                  <a:cxn ang="0">
                    <a:pos x="T8" y="T9"/>
                  </a:cxn>
                </a:cxnLst>
                <a:rect l="0" t="0" r="r" b="b"/>
                <a:pathLst>
                  <a:path w="38" h="33">
                    <a:moveTo>
                      <a:pt x="8" y="16"/>
                    </a:moveTo>
                    <a:cubicBezTo>
                      <a:pt x="5" y="21"/>
                      <a:pt x="2" y="26"/>
                      <a:pt x="0" y="31"/>
                    </a:cubicBezTo>
                    <a:cubicBezTo>
                      <a:pt x="38" y="33"/>
                      <a:pt x="38" y="33"/>
                      <a:pt x="38" y="33"/>
                    </a:cubicBezTo>
                    <a:cubicBezTo>
                      <a:pt x="17" y="0"/>
                      <a:pt x="17" y="0"/>
                      <a:pt x="17" y="0"/>
                    </a:cubicBezTo>
                    <a:cubicBezTo>
                      <a:pt x="15" y="5"/>
                      <a:pt x="12" y="11"/>
                      <a:pt x="8"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67" name="Freeform 60">
                <a:extLst>
                  <a:ext uri="{FF2B5EF4-FFF2-40B4-BE49-F238E27FC236}">
                    <a16:creationId xmlns:a16="http://schemas.microsoft.com/office/drawing/2014/main" id="{DB0840C7-9A48-4195-9A6D-FE82CBEE6E13}"/>
                  </a:ext>
                </a:extLst>
              </p:cNvPr>
              <p:cNvSpPr>
                <a:spLocks/>
              </p:cNvSpPr>
              <p:nvPr/>
            </p:nvSpPr>
            <p:spPr bwMode="auto">
              <a:xfrm>
                <a:off x="9723438" y="10213976"/>
                <a:ext cx="112713" cy="123825"/>
              </a:xfrm>
              <a:custGeom>
                <a:avLst/>
                <a:gdLst>
                  <a:gd name="T0" fmla="*/ 13 w 35"/>
                  <a:gd name="T1" fmla="*/ 13 h 38"/>
                  <a:gd name="T2" fmla="*/ 0 w 35"/>
                  <a:gd name="T3" fmla="*/ 24 h 38"/>
                  <a:gd name="T4" fmla="*/ 35 w 35"/>
                  <a:gd name="T5" fmla="*/ 38 h 38"/>
                  <a:gd name="T6" fmla="*/ 27 w 35"/>
                  <a:gd name="T7" fmla="*/ 0 h 38"/>
                  <a:gd name="T8" fmla="*/ 13 w 35"/>
                  <a:gd name="T9" fmla="*/ 13 h 38"/>
                </a:gdLst>
                <a:ahLst/>
                <a:cxnLst>
                  <a:cxn ang="0">
                    <a:pos x="T0" y="T1"/>
                  </a:cxn>
                  <a:cxn ang="0">
                    <a:pos x="T2" y="T3"/>
                  </a:cxn>
                  <a:cxn ang="0">
                    <a:pos x="T4" y="T5"/>
                  </a:cxn>
                  <a:cxn ang="0">
                    <a:pos x="T6" y="T7"/>
                  </a:cxn>
                  <a:cxn ang="0">
                    <a:pos x="T8" y="T9"/>
                  </a:cxn>
                </a:cxnLst>
                <a:rect l="0" t="0" r="r" b="b"/>
                <a:pathLst>
                  <a:path w="35" h="38">
                    <a:moveTo>
                      <a:pt x="13" y="13"/>
                    </a:moveTo>
                    <a:cubicBezTo>
                      <a:pt x="8" y="16"/>
                      <a:pt x="4" y="21"/>
                      <a:pt x="0" y="24"/>
                    </a:cubicBezTo>
                    <a:cubicBezTo>
                      <a:pt x="35" y="38"/>
                      <a:pt x="35" y="38"/>
                      <a:pt x="35" y="38"/>
                    </a:cubicBezTo>
                    <a:cubicBezTo>
                      <a:pt x="27" y="0"/>
                      <a:pt x="27" y="0"/>
                      <a:pt x="27" y="0"/>
                    </a:cubicBezTo>
                    <a:cubicBezTo>
                      <a:pt x="22" y="4"/>
                      <a:pt x="18" y="9"/>
                      <a:pt x="13" y="1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68" name="Freeform 61">
                <a:extLst>
                  <a:ext uri="{FF2B5EF4-FFF2-40B4-BE49-F238E27FC236}">
                    <a16:creationId xmlns:a16="http://schemas.microsoft.com/office/drawing/2014/main" id="{08257B85-04DD-4F63-9130-B7ED5EE6BEB3}"/>
                  </a:ext>
                </a:extLst>
              </p:cNvPr>
              <p:cNvSpPr>
                <a:spLocks/>
              </p:cNvSpPr>
              <p:nvPr/>
            </p:nvSpPr>
            <p:spPr bwMode="auto">
              <a:xfrm>
                <a:off x="9813925" y="10121901"/>
                <a:ext cx="122238" cy="117475"/>
              </a:xfrm>
              <a:custGeom>
                <a:avLst/>
                <a:gdLst>
                  <a:gd name="T0" fmla="*/ 12 w 38"/>
                  <a:gd name="T1" fmla="*/ 14 h 36"/>
                  <a:gd name="T2" fmla="*/ 0 w 38"/>
                  <a:gd name="T3" fmla="*/ 27 h 36"/>
                  <a:gd name="T4" fmla="*/ 38 w 38"/>
                  <a:gd name="T5" fmla="*/ 36 h 36"/>
                  <a:gd name="T6" fmla="*/ 25 w 38"/>
                  <a:gd name="T7" fmla="*/ 0 h 36"/>
                  <a:gd name="T8" fmla="*/ 12 w 38"/>
                  <a:gd name="T9" fmla="*/ 14 h 36"/>
                </a:gdLst>
                <a:ahLst/>
                <a:cxnLst>
                  <a:cxn ang="0">
                    <a:pos x="T0" y="T1"/>
                  </a:cxn>
                  <a:cxn ang="0">
                    <a:pos x="T2" y="T3"/>
                  </a:cxn>
                  <a:cxn ang="0">
                    <a:pos x="T4" y="T5"/>
                  </a:cxn>
                  <a:cxn ang="0">
                    <a:pos x="T6" y="T7"/>
                  </a:cxn>
                  <a:cxn ang="0">
                    <a:pos x="T8" y="T9"/>
                  </a:cxn>
                </a:cxnLst>
                <a:rect l="0" t="0" r="r" b="b"/>
                <a:pathLst>
                  <a:path w="38" h="36">
                    <a:moveTo>
                      <a:pt x="12" y="14"/>
                    </a:moveTo>
                    <a:cubicBezTo>
                      <a:pt x="9" y="18"/>
                      <a:pt x="4" y="23"/>
                      <a:pt x="0" y="27"/>
                    </a:cubicBezTo>
                    <a:cubicBezTo>
                      <a:pt x="38" y="36"/>
                      <a:pt x="38" y="36"/>
                      <a:pt x="38" y="36"/>
                    </a:cubicBezTo>
                    <a:cubicBezTo>
                      <a:pt x="25" y="0"/>
                      <a:pt x="25" y="0"/>
                      <a:pt x="25" y="0"/>
                    </a:cubicBezTo>
                    <a:cubicBezTo>
                      <a:pt x="20" y="4"/>
                      <a:pt x="16" y="10"/>
                      <a:pt x="12" y="1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69" name="Freeform 62">
                <a:extLst>
                  <a:ext uri="{FF2B5EF4-FFF2-40B4-BE49-F238E27FC236}">
                    <a16:creationId xmlns:a16="http://schemas.microsoft.com/office/drawing/2014/main" id="{7B927C74-4942-4AF9-8A99-095F958571E2}"/>
                  </a:ext>
                </a:extLst>
              </p:cNvPr>
              <p:cNvSpPr>
                <a:spLocks/>
              </p:cNvSpPr>
              <p:nvPr/>
            </p:nvSpPr>
            <p:spPr bwMode="auto">
              <a:xfrm>
                <a:off x="9896475" y="10017126"/>
                <a:ext cx="122238" cy="117475"/>
              </a:xfrm>
              <a:custGeom>
                <a:avLst/>
                <a:gdLst>
                  <a:gd name="T0" fmla="*/ 11 w 38"/>
                  <a:gd name="T1" fmla="*/ 17 h 36"/>
                  <a:gd name="T2" fmla="*/ 0 w 38"/>
                  <a:gd name="T3" fmla="*/ 30 h 36"/>
                  <a:gd name="T4" fmla="*/ 38 w 38"/>
                  <a:gd name="T5" fmla="*/ 36 h 36"/>
                  <a:gd name="T6" fmla="*/ 22 w 38"/>
                  <a:gd name="T7" fmla="*/ 0 h 36"/>
                  <a:gd name="T8" fmla="*/ 11 w 38"/>
                  <a:gd name="T9" fmla="*/ 17 h 36"/>
                </a:gdLst>
                <a:ahLst/>
                <a:cxnLst>
                  <a:cxn ang="0">
                    <a:pos x="T0" y="T1"/>
                  </a:cxn>
                  <a:cxn ang="0">
                    <a:pos x="T2" y="T3"/>
                  </a:cxn>
                  <a:cxn ang="0">
                    <a:pos x="T4" y="T5"/>
                  </a:cxn>
                  <a:cxn ang="0">
                    <a:pos x="T6" y="T7"/>
                  </a:cxn>
                  <a:cxn ang="0">
                    <a:pos x="T8" y="T9"/>
                  </a:cxn>
                </a:cxnLst>
                <a:rect l="0" t="0" r="r" b="b"/>
                <a:pathLst>
                  <a:path w="38" h="36">
                    <a:moveTo>
                      <a:pt x="11" y="17"/>
                    </a:moveTo>
                    <a:cubicBezTo>
                      <a:pt x="6" y="21"/>
                      <a:pt x="3" y="25"/>
                      <a:pt x="0" y="30"/>
                    </a:cubicBezTo>
                    <a:cubicBezTo>
                      <a:pt x="38" y="36"/>
                      <a:pt x="38" y="36"/>
                      <a:pt x="38" y="36"/>
                    </a:cubicBezTo>
                    <a:cubicBezTo>
                      <a:pt x="22" y="0"/>
                      <a:pt x="22" y="0"/>
                      <a:pt x="22" y="0"/>
                    </a:cubicBezTo>
                    <a:cubicBezTo>
                      <a:pt x="18" y="6"/>
                      <a:pt x="14" y="11"/>
                      <a:pt x="11"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70" name="Freeform 63">
                <a:extLst>
                  <a:ext uri="{FF2B5EF4-FFF2-40B4-BE49-F238E27FC236}">
                    <a16:creationId xmlns:a16="http://schemas.microsoft.com/office/drawing/2014/main" id="{87D3FAFF-CF5C-4645-ADB6-D53A14BB9640}"/>
                  </a:ext>
                </a:extLst>
              </p:cNvPr>
              <p:cNvSpPr>
                <a:spLocks/>
              </p:cNvSpPr>
              <p:nvPr/>
            </p:nvSpPr>
            <p:spPr bwMode="auto">
              <a:xfrm>
                <a:off x="9625013" y="10294938"/>
                <a:ext cx="107950" cy="127000"/>
              </a:xfrm>
              <a:custGeom>
                <a:avLst/>
                <a:gdLst>
                  <a:gd name="T0" fmla="*/ 14 w 34"/>
                  <a:gd name="T1" fmla="*/ 12 h 39"/>
                  <a:gd name="T2" fmla="*/ 0 w 34"/>
                  <a:gd name="T3" fmla="*/ 22 h 39"/>
                  <a:gd name="T4" fmla="*/ 34 w 34"/>
                  <a:gd name="T5" fmla="*/ 39 h 39"/>
                  <a:gd name="T6" fmla="*/ 29 w 34"/>
                  <a:gd name="T7" fmla="*/ 0 h 39"/>
                  <a:gd name="T8" fmla="*/ 14 w 34"/>
                  <a:gd name="T9" fmla="*/ 12 h 39"/>
                </a:gdLst>
                <a:ahLst/>
                <a:cxnLst>
                  <a:cxn ang="0">
                    <a:pos x="T0" y="T1"/>
                  </a:cxn>
                  <a:cxn ang="0">
                    <a:pos x="T2" y="T3"/>
                  </a:cxn>
                  <a:cxn ang="0">
                    <a:pos x="T4" y="T5"/>
                  </a:cxn>
                  <a:cxn ang="0">
                    <a:pos x="T6" y="T7"/>
                  </a:cxn>
                  <a:cxn ang="0">
                    <a:pos x="T8" y="T9"/>
                  </a:cxn>
                </a:cxnLst>
                <a:rect l="0" t="0" r="r" b="b"/>
                <a:pathLst>
                  <a:path w="34" h="39">
                    <a:moveTo>
                      <a:pt x="14" y="12"/>
                    </a:moveTo>
                    <a:cubicBezTo>
                      <a:pt x="9" y="15"/>
                      <a:pt x="4" y="19"/>
                      <a:pt x="0" y="22"/>
                    </a:cubicBezTo>
                    <a:cubicBezTo>
                      <a:pt x="34" y="39"/>
                      <a:pt x="34" y="39"/>
                      <a:pt x="34" y="39"/>
                    </a:cubicBezTo>
                    <a:cubicBezTo>
                      <a:pt x="29" y="0"/>
                      <a:pt x="29" y="0"/>
                      <a:pt x="29" y="0"/>
                    </a:cubicBezTo>
                    <a:cubicBezTo>
                      <a:pt x="24" y="4"/>
                      <a:pt x="20" y="8"/>
                      <a:pt x="14" y="12"/>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71" name="Freeform 64">
                <a:extLst>
                  <a:ext uri="{FF2B5EF4-FFF2-40B4-BE49-F238E27FC236}">
                    <a16:creationId xmlns:a16="http://schemas.microsoft.com/office/drawing/2014/main" id="{320DF336-129F-4119-A7D8-85772EA4EF37}"/>
                  </a:ext>
                </a:extLst>
              </p:cNvPr>
              <p:cNvSpPr>
                <a:spLocks/>
              </p:cNvSpPr>
              <p:nvPr/>
            </p:nvSpPr>
            <p:spPr bwMode="auto">
              <a:xfrm>
                <a:off x="7805738" y="9802813"/>
                <a:ext cx="123825" cy="111125"/>
              </a:xfrm>
              <a:custGeom>
                <a:avLst/>
                <a:gdLst>
                  <a:gd name="T0" fmla="*/ 30 w 39"/>
                  <a:gd name="T1" fmla="*/ 16 h 34"/>
                  <a:gd name="T2" fmla="*/ 23 w 39"/>
                  <a:gd name="T3" fmla="*/ 0 h 34"/>
                  <a:gd name="T4" fmla="*/ 0 w 39"/>
                  <a:gd name="T5" fmla="*/ 30 h 34"/>
                  <a:gd name="T6" fmla="*/ 39 w 39"/>
                  <a:gd name="T7" fmla="*/ 34 h 34"/>
                  <a:gd name="T8" fmla="*/ 30 w 39"/>
                  <a:gd name="T9" fmla="*/ 16 h 34"/>
                </a:gdLst>
                <a:ahLst/>
                <a:cxnLst>
                  <a:cxn ang="0">
                    <a:pos x="T0" y="T1"/>
                  </a:cxn>
                  <a:cxn ang="0">
                    <a:pos x="T2" y="T3"/>
                  </a:cxn>
                  <a:cxn ang="0">
                    <a:pos x="T4" y="T5"/>
                  </a:cxn>
                  <a:cxn ang="0">
                    <a:pos x="T6" y="T7"/>
                  </a:cxn>
                  <a:cxn ang="0">
                    <a:pos x="T8" y="T9"/>
                  </a:cxn>
                </a:cxnLst>
                <a:rect l="0" t="0" r="r" b="b"/>
                <a:pathLst>
                  <a:path w="39" h="34">
                    <a:moveTo>
                      <a:pt x="30" y="16"/>
                    </a:moveTo>
                    <a:cubicBezTo>
                      <a:pt x="28" y="11"/>
                      <a:pt x="26" y="5"/>
                      <a:pt x="23" y="0"/>
                    </a:cubicBezTo>
                    <a:cubicBezTo>
                      <a:pt x="0" y="30"/>
                      <a:pt x="0" y="30"/>
                      <a:pt x="0" y="30"/>
                    </a:cubicBezTo>
                    <a:cubicBezTo>
                      <a:pt x="39" y="34"/>
                      <a:pt x="39" y="34"/>
                      <a:pt x="39" y="34"/>
                    </a:cubicBezTo>
                    <a:cubicBezTo>
                      <a:pt x="35" y="28"/>
                      <a:pt x="33" y="22"/>
                      <a:pt x="30"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72" name="Freeform 65">
                <a:extLst>
                  <a:ext uri="{FF2B5EF4-FFF2-40B4-BE49-F238E27FC236}">
                    <a16:creationId xmlns:a16="http://schemas.microsoft.com/office/drawing/2014/main" id="{35BC72C6-AE1F-4B2C-98A3-F065B9669B69}"/>
                  </a:ext>
                </a:extLst>
              </p:cNvPr>
              <p:cNvSpPr>
                <a:spLocks/>
              </p:cNvSpPr>
              <p:nvPr/>
            </p:nvSpPr>
            <p:spPr bwMode="auto">
              <a:xfrm>
                <a:off x="7693025" y="9317038"/>
                <a:ext cx="106363" cy="117475"/>
              </a:xfrm>
              <a:custGeom>
                <a:avLst/>
                <a:gdLst>
                  <a:gd name="T0" fmla="*/ 67 w 67"/>
                  <a:gd name="T1" fmla="*/ 35 h 74"/>
                  <a:gd name="T2" fmla="*/ 67 w 67"/>
                  <a:gd name="T3" fmla="*/ 0 h 74"/>
                  <a:gd name="T4" fmla="*/ 0 w 67"/>
                  <a:gd name="T5" fmla="*/ 35 h 74"/>
                  <a:gd name="T6" fmla="*/ 67 w 67"/>
                  <a:gd name="T7" fmla="*/ 74 h 74"/>
                  <a:gd name="T8" fmla="*/ 67 w 67"/>
                  <a:gd name="T9" fmla="*/ 35 h 74"/>
                </a:gdLst>
                <a:ahLst/>
                <a:cxnLst>
                  <a:cxn ang="0">
                    <a:pos x="T0" y="T1"/>
                  </a:cxn>
                  <a:cxn ang="0">
                    <a:pos x="T2" y="T3"/>
                  </a:cxn>
                  <a:cxn ang="0">
                    <a:pos x="T4" y="T5"/>
                  </a:cxn>
                  <a:cxn ang="0">
                    <a:pos x="T6" y="T7"/>
                  </a:cxn>
                  <a:cxn ang="0">
                    <a:pos x="T8" y="T9"/>
                  </a:cxn>
                </a:cxnLst>
                <a:rect l="0" t="0" r="r" b="b"/>
                <a:pathLst>
                  <a:path w="67" h="74">
                    <a:moveTo>
                      <a:pt x="67" y="35"/>
                    </a:moveTo>
                    <a:lnTo>
                      <a:pt x="67" y="0"/>
                    </a:lnTo>
                    <a:lnTo>
                      <a:pt x="0" y="35"/>
                    </a:lnTo>
                    <a:lnTo>
                      <a:pt x="67" y="74"/>
                    </a:lnTo>
                    <a:lnTo>
                      <a:pt x="67" y="35"/>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73" name="Freeform 66">
                <a:extLst>
                  <a:ext uri="{FF2B5EF4-FFF2-40B4-BE49-F238E27FC236}">
                    <a16:creationId xmlns:a16="http://schemas.microsoft.com/office/drawing/2014/main" id="{CDD7F1E3-F53C-4F21-83E3-0BAED2F09D9E}"/>
                  </a:ext>
                </a:extLst>
              </p:cNvPr>
              <p:cNvSpPr>
                <a:spLocks/>
              </p:cNvSpPr>
              <p:nvPr/>
            </p:nvSpPr>
            <p:spPr bwMode="auto">
              <a:xfrm>
                <a:off x="7753350" y="9685338"/>
                <a:ext cx="122238" cy="114300"/>
              </a:xfrm>
              <a:custGeom>
                <a:avLst/>
                <a:gdLst>
                  <a:gd name="T0" fmla="*/ 32 w 38"/>
                  <a:gd name="T1" fmla="*/ 16 h 35"/>
                  <a:gd name="T2" fmla="*/ 27 w 38"/>
                  <a:gd name="T3" fmla="*/ 0 h 35"/>
                  <a:gd name="T4" fmla="*/ 0 w 38"/>
                  <a:gd name="T5" fmla="*/ 27 h 35"/>
                  <a:gd name="T6" fmla="*/ 38 w 38"/>
                  <a:gd name="T7" fmla="*/ 35 h 35"/>
                  <a:gd name="T8" fmla="*/ 32 w 38"/>
                  <a:gd name="T9" fmla="*/ 16 h 35"/>
                </a:gdLst>
                <a:ahLst/>
                <a:cxnLst>
                  <a:cxn ang="0">
                    <a:pos x="T0" y="T1"/>
                  </a:cxn>
                  <a:cxn ang="0">
                    <a:pos x="T2" y="T3"/>
                  </a:cxn>
                  <a:cxn ang="0">
                    <a:pos x="T4" y="T5"/>
                  </a:cxn>
                  <a:cxn ang="0">
                    <a:pos x="T6" y="T7"/>
                  </a:cxn>
                  <a:cxn ang="0">
                    <a:pos x="T8" y="T9"/>
                  </a:cxn>
                </a:cxnLst>
                <a:rect l="0" t="0" r="r" b="b"/>
                <a:pathLst>
                  <a:path w="38" h="35">
                    <a:moveTo>
                      <a:pt x="32" y="16"/>
                    </a:moveTo>
                    <a:cubicBezTo>
                      <a:pt x="31" y="11"/>
                      <a:pt x="29" y="6"/>
                      <a:pt x="27" y="0"/>
                    </a:cubicBezTo>
                    <a:cubicBezTo>
                      <a:pt x="0" y="27"/>
                      <a:pt x="0" y="27"/>
                      <a:pt x="0" y="27"/>
                    </a:cubicBezTo>
                    <a:cubicBezTo>
                      <a:pt x="38" y="35"/>
                      <a:pt x="38" y="35"/>
                      <a:pt x="38" y="35"/>
                    </a:cubicBezTo>
                    <a:cubicBezTo>
                      <a:pt x="36" y="28"/>
                      <a:pt x="34" y="23"/>
                      <a:pt x="32"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74" name="Freeform 67">
                <a:extLst>
                  <a:ext uri="{FF2B5EF4-FFF2-40B4-BE49-F238E27FC236}">
                    <a16:creationId xmlns:a16="http://schemas.microsoft.com/office/drawing/2014/main" id="{8CF9351F-1B4D-42C3-9801-D0158B642587}"/>
                  </a:ext>
                </a:extLst>
              </p:cNvPr>
              <p:cNvSpPr>
                <a:spLocks/>
              </p:cNvSpPr>
              <p:nvPr/>
            </p:nvSpPr>
            <p:spPr bwMode="auto">
              <a:xfrm>
                <a:off x="7699375" y="9440863"/>
                <a:ext cx="115888" cy="117475"/>
              </a:xfrm>
              <a:custGeom>
                <a:avLst/>
                <a:gdLst>
                  <a:gd name="T0" fmla="*/ 34 w 36"/>
                  <a:gd name="T1" fmla="*/ 18 h 36"/>
                  <a:gd name="T2" fmla="*/ 31 w 36"/>
                  <a:gd name="T3" fmla="*/ 0 h 36"/>
                  <a:gd name="T4" fmla="*/ 0 w 36"/>
                  <a:gd name="T5" fmla="*/ 21 h 36"/>
                  <a:gd name="T6" fmla="*/ 36 w 36"/>
                  <a:gd name="T7" fmla="*/ 36 h 36"/>
                  <a:gd name="T8" fmla="*/ 34 w 36"/>
                  <a:gd name="T9" fmla="*/ 18 h 36"/>
                </a:gdLst>
                <a:ahLst/>
                <a:cxnLst>
                  <a:cxn ang="0">
                    <a:pos x="T0" y="T1"/>
                  </a:cxn>
                  <a:cxn ang="0">
                    <a:pos x="T2" y="T3"/>
                  </a:cxn>
                  <a:cxn ang="0">
                    <a:pos x="T4" y="T5"/>
                  </a:cxn>
                  <a:cxn ang="0">
                    <a:pos x="T6" y="T7"/>
                  </a:cxn>
                  <a:cxn ang="0">
                    <a:pos x="T8" y="T9"/>
                  </a:cxn>
                </a:cxnLst>
                <a:rect l="0" t="0" r="r" b="b"/>
                <a:pathLst>
                  <a:path w="36" h="36">
                    <a:moveTo>
                      <a:pt x="34" y="18"/>
                    </a:moveTo>
                    <a:cubicBezTo>
                      <a:pt x="33" y="12"/>
                      <a:pt x="33" y="6"/>
                      <a:pt x="31" y="0"/>
                    </a:cubicBezTo>
                    <a:cubicBezTo>
                      <a:pt x="0" y="21"/>
                      <a:pt x="0" y="21"/>
                      <a:pt x="0" y="21"/>
                    </a:cubicBezTo>
                    <a:cubicBezTo>
                      <a:pt x="36" y="36"/>
                      <a:pt x="36" y="36"/>
                      <a:pt x="36" y="36"/>
                    </a:cubicBezTo>
                    <a:cubicBezTo>
                      <a:pt x="35" y="31"/>
                      <a:pt x="34" y="24"/>
                      <a:pt x="34" y="18"/>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75" name="Freeform 68">
                <a:extLst>
                  <a:ext uri="{FF2B5EF4-FFF2-40B4-BE49-F238E27FC236}">
                    <a16:creationId xmlns:a16="http://schemas.microsoft.com/office/drawing/2014/main" id="{AC5416AE-D17B-4466-82B3-28BE597B3EAB}"/>
                  </a:ext>
                </a:extLst>
              </p:cNvPr>
              <p:cNvSpPr>
                <a:spLocks/>
              </p:cNvSpPr>
              <p:nvPr/>
            </p:nvSpPr>
            <p:spPr bwMode="auto">
              <a:xfrm>
                <a:off x="7862888" y="9917113"/>
                <a:ext cx="125413" cy="103188"/>
              </a:xfrm>
              <a:custGeom>
                <a:avLst/>
                <a:gdLst>
                  <a:gd name="T0" fmla="*/ 29 w 39"/>
                  <a:gd name="T1" fmla="*/ 15 h 32"/>
                  <a:gd name="T2" fmla="*/ 22 w 39"/>
                  <a:gd name="T3" fmla="*/ 0 h 32"/>
                  <a:gd name="T4" fmla="*/ 0 w 39"/>
                  <a:gd name="T5" fmla="*/ 32 h 32"/>
                  <a:gd name="T6" fmla="*/ 39 w 39"/>
                  <a:gd name="T7" fmla="*/ 31 h 32"/>
                  <a:gd name="T8" fmla="*/ 29 w 39"/>
                  <a:gd name="T9" fmla="*/ 15 h 32"/>
                </a:gdLst>
                <a:ahLst/>
                <a:cxnLst>
                  <a:cxn ang="0">
                    <a:pos x="T0" y="T1"/>
                  </a:cxn>
                  <a:cxn ang="0">
                    <a:pos x="T2" y="T3"/>
                  </a:cxn>
                  <a:cxn ang="0">
                    <a:pos x="T4" y="T5"/>
                  </a:cxn>
                  <a:cxn ang="0">
                    <a:pos x="T6" y="T7"/>
                  </a:cxn>
                  <a:cxn ang="0">
                    <a:pos x="T8" y="T9"/>
                  </a:cxn>
                </a:cxnLst>
                <a:rect l="0" t="0" r="r" b="b"/>
                <a:pathLst>
                  <a:path w="39" h="32">
                    <a:moveTo>
                      <a:pt x="29" y="15"/>
                    </a:moveTo>
                    <a:cubicBezTo>
                      <a:pt x="26" y="11"/>
                      <a:pt x="24" y="5"/>
                      <a:pt x="22" y="0"/>
                    </a:cubicBezTo>
                    <a:cubicBezTo>
                      <a:pt x="0" y="32"/>
                      <a:pt x="0" y="32"/>
                      <a:pt x="0" y="32"/>
                    </a:cubicBezTo>
                    <a:cubicBezTo>
                      <a:pt x="39" y="31"/>
                      <a:pt x="39" y="31"/>
                      <a:pt x="39" y="31"/>
                    </a:cubicBezTo>
                    <a:cubicBezTo>
                      <a:pt x="36" y="26"/>
                      <a:pt x="33" y="20"/>
                      <a:pt x="29" y="1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76" name="Freeform 69">
                <a:extLst>
                  <a:ext uri="{FF2B5EF4-FFF2-40B4-BE49-F238E27FC236}">
                    <a16:creationId xmlns:a16="http://schemas.microsoft.com/office/drawing/2014/main" id="{A2B3EFD3-BD3F-4FAD-A2B5-630C9B992E09}"/>
                  </a:ext>
                </a:extLst>
              </p:cNvPr>
              <p:cNvSpPr>
                <a:spLocks/>
              </p:cNvSpPr>
              <p:nvPr/>
            </p:nvSpPr>
            <p:spPr bwMode="auto">
              <a:xfrm>
                <a:off x="8115300" y="8410576"/>
                <a:ext cx="115888" cy="123825"/>
              </a:xfrm>
              <a:custGeom>
                <a:avLst/>
                <a:gdLst>
                  <a:gd name="T0" fmla="*/ 23 w 36"/>
                  <a:gd name="T1" fmla="*/ 25 h 38"/>
                  <a:gd name="T2" fmla="*/ 36 w 36"/>
                  <a:gd name="T3" fmla="*/ 14 h 38"/>
                  <a:gd name="T4" fmla="*/ 0 w 36"/>
                  <a:gd name="T5" fmla="*/ 0 h 38"/>
                  <a:gd name="T6" fmla="*/ 9 w 36"/>
                  <a:gd name="T7" fmla="*/ 38 h 38"/>
                  <a:gd name="T8" fmla="*/ 23 w 36"/>
                  <a:gd name="T9" fmla="*/ 25 h 38"/>
                </a:gdLst>
                <a:ahLst/>
                <a:cxnLst>
                  <a:cxn ang="0">
                    <a:pos x="T0" y="T1"/>
                  </a:cxn>
                  <a:cxn ang="0">
                    <a:pos x="T2" y="T3"/>
                  </a:cxn>
                  <a:cxn ang="0">
                    <a:pos x="T4" y="T5"/>
                  </a:cxn>
                  <a:cxn ang="0">
                    <a:pos x="T6" y="T7"/>
                  </a:cxn>
                  <a:cxn ang="0">
                    <a:pos x="T8" y="T9"/>
                  </a:cxn>
                </a:cxnLst>
                <a:rect l="0" t="0" r="r" b="b"/>
                <a:pathLst>
                  <a:path w="36" h="38">
                    <a:moveTo>
                      <a:pt x="23" y="25"/>
                    </a:moveTo>
                    <a:cubicBezTo>
                      <a:pt x="28" y="20"/>
                      <a:pt x="32" y="17"/>
                      <a:pt x="36" y="14"/>
                    </a:cubicBezTo>
                    <a:cubicBezTo>
                      <a:pt x="0" y="0"/>
                      <a:pt x="0" y="0"/>
                      <a:pt x="0" y="0"/>
                    </a:cubicBezTo>
                    <a:cubicBezTo>
                      <a:pt x="9" y="38"/>
                      <a:pt x="9" y="38"/>
                      <a:pt x="9" y="38"/>
                    </a:cubicBezTo>
                    <a:cubicBezTo>
                      <a:pt x="13" y="33"/>
                      <a:pt x="18" y="29"/>
                      <a:pt x="23" y="25"/>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77" name="Freeform 70">
                <a:extLst>
                  <a:ext uri="{FF2B5EF4-FFF2-40B4-BE49-F238E27FC236}">
                    <a16:creationId xmlns:a16="http://schemas.microsoft.com/office/drawing/2014/main" id="{4E46E644-CACB-485D-BFF1-71AD2E7BE063}"/>
                  </a:ext>
                </a:extLst>
              </p:cNvPr>
              <p:cNvSpPr>
                <a:spLocks/>
              </p:cNvSpPr>
              <p:nvPr/>
            </p:nvSpPr>
            <p:spPr bwMode="auto">
              <a:xfrm>
                <a:off x="8115300" y="10217151"/>
                <a:ext cx="119063" cy="120650"/>
              </a:xfrm>
              <a:custGeom>
                <a:avLst/>
                <a:gdLst>
                  <a:gd name="T0" fmla="*/ 23 w 37"/>
                  <a:gd name="T1" fmla="*/ 12 h 37"/>
                  <a:gd name="T2" fmla="*/ 10 w 37"/>
                  <a:gd name="T3" fmla="*/ 0 h 37"/>
                  <a:gd name="T4" fmla="*/ 0 w 37"/>
                  <a:gd name="T5" fmla="*/ 37 h 37"/>
                  <a:gd name="T6" fmla="*/ 37 w 37"/>
                  <a:gd name="T7" fmla="*/ 24 h 37"/>
                  <a:gd name="T8" fmla="*/ 23 w 37"/>
                  <a:gd name="T9" fmla="*/ 12 h 37"/>
                </a:gdLst>
                <a:ahLst/>
                <a:cxnLst>
                  <a:cxn ang="0">
                    <a:pos x="T0" y="T1"/>
                  </a:cxn>
                  <a:cxn ang="0">
                    <a:pos x="T2" y="T3"/>
                  </a:cxn>
                  <a:cxn ang="0">
                    <a:pos x="T4" y="T5"/>
                  </a:cxn>
                  <a:cxn ang="0">
                    <a:pos x="T6" y="T7"/>
                  </a:cxn>
                  <a:cxn ang="0">
                    <a:pos x="T8" y="T9"/>
                  </a:cxn>
                </a:cxnLst>
                <a:rect l="0" t="0" r="r" b="b"/>
                <a:pathLst>
                  <a:path w="37" h="37">
                    <a:moveTo>
                      <a:pt x="23" y="12"/>
                    </a:moveTo>
                    <a:cubicBezTo>
                      <a:pt x="19" y="8"/>
                      <a:pt x="14" y="5"/>
                      <a:pt x="10" y="0"/>
                    </a:cubicBezTo>
                    <a:cubicBezTo>
                      <a:pt x="0" y="37"/>
                      <a:pt x="0" y="37"/>
                      <a:pt x="0" y="37"/>
                    </a:cubicBezTo>
                    <a:cubicBezTo>
                      <a:pt x="37" y="24"/>
                      <a:pt x="37" y="24"/>
                      <a:pt x="37" y="24"/>
                    </a:cubicBezTo>
                    <a:cubicBezTo>
                      <a:pt x="33" y="21"/>
                      <a:pt x="28" y="17"/>
                      <a:pt x="23" y="12"/>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78" name="Freeform 71">
                <a:extLst>
                  <a:ext uri="{FF2B5EF4-FFF2-40B4-BE49-F238E27FC236}">
                    <a16:creationId xmlns:a16="http://schemas.microsoft.com/office/drawing/2014/main" id="{1826C1EE-F268-4E69-93B3-71066EBF90A8}"/>
                  </a:ext>
                </a:extLst>
              </p:cNvPr>
              <p:cNvSpPr>
                <a:spLocks/>
              </p:cNvSpPr>
              <p:nvPr/>
            </p:nvSpPr>
            <p:spPr bwMode="auto">
              <a:xfrm>
                <a:off x="8221663" y="10298113"/>
                <a:ext cx="115888" cy="123825"/>
              </a:xfrm>
              <a:custGeom>
                <a:avLst/>
                <a:gdLst>
                  <a:gd name="T0" fmla="*/ 20 w 36"/>
                  <a:gd name="T1" fmla="*/ 11 h 38"/>
                  <a:gd name="T2" fmla="*/ 7 w 36"/>
                  <a:gd name="T3" fmla="*/ 0 h 38"/>
                  <a:gd name="T4" fmla="*/ 0 w 36"/>
                  <a:gd name="T5" fmla="*/ 38 h 38"/>
                  <a:gd name="T6" fmla="*/ 36 w 36"/>
                  <a:gd name="T7" fmla="*/ 22 h 38"/>
                  <a:gd name="T8" fmla="*/ 20 w 36"/>
                  <a:gd name="T9" fmla="*/ 11 h 38"/>
                </a:gdLst>
                <a:ahLst/>
                <a:cxnLst>
                  <a:cxn ang="0">
                    <a:pos x="T0" y="T1"/>
                  </a:cxn>
                  <a:cxn ang="0">
                    <a:pos x="T2" y="T3"/>
                  </a:cxn>
                  <a:cxn ang="0">
                    <a:pos x="T4" y="T5"/>
                  </a:cxn>
                  <a:cxn ang="0">
                    <a:pos x="T6" y="T7"/>
                  </a:cxn>
                  <a:cxn ang="0">
                    <a:pos x="T8" y="T9"/>
                  </a:cxn>
                </a:cxnLst>
                <a:rect l="0" t="0" r="r" b="b"/>
                <a:pathLst>
                  <a:path w="36" h="38">
                    <a:moveTo>
                      <a:pt x="20" y="11"/>
                    </a:moveTo>
                    <a:cubicBezTo>
                      <a:pt x="15" y="8"/>
                      <a:pt x="11" y="3"/>
                      <a:pt x="7" y="0"/>
                    </a:cubicBezTo>
                    <a:cubicBezTo>
                      <a:pt x="0" y="38"/>
                      <a:pt x="0" y="38"/>
                      <a:pt x="0" y="38"/>
                    </a:cubicBezTo>
                    <a:cubicBezTo>
                      <a:pt x="36" y="22"/>
                      <a:pt x="36" y="22"/>
                      <a:pt x="36" y="22"/>
                    </a:cubicBezTo>
                    <a:cubicBezTo>
                      <a:pt x="30" y="19"/>
                      <a:pt x="25" y="14"/>
                      <a:pt x="20" y="11"/>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79" name="Freeform 72">
                <a:extLst>
                  <a:ext uri="{FF2B5EF4-FFF2-40B4-BE49-F238E27FC236}">
                    <a16:creationId xmlns:a16="http://schemas.microsoft.com/office/drawing/2014/main" id="{F9508386-4D6D-431C-98C6-5F92D8E1567E}"/>
                  </a:ext>
                </a:extLst>
              </p:cNvPr>
              <p:cNvSpPr>
                <a:spLocks/>
              </p:cNvSpPr>
              <p:nvPr/>
            </p:nvSpPr>
            <p:spPr bwMode="auto">
              <a:xfrm>
                <a:off x="8023225" y="10125076"/>
                <a:ext cx="122238" cy="117475"/>
              </a:xfrm>
              <a:custGeom>
                <a:avLst/>
                <a:gdLst>
                  <a:gd name="T0" fmla="*/ 25 w 38"/>
                  <a:gd name="T1" fmla="*/ 13 h 36"/>
                  <a:gd name="T2" fmla="*/ 13 w 38"/>
                  <a:gd name="T3" fmla="*/ 0 h 36"/>
                  <a:gd name="T4" fmla="*/ 0 w 38"/>
                  <a:gd name="T5" fmla="*/ 36 h 36"/>
                  <a:gd name="T6" fmla="*/ 38 w 38"/>
                  <a:gd name="T7" fmla="*/ 27 h 36"/>
                  <a:gd name="T8" fmla="*/ 25 w 38"/>
                  <a:gd name="T9" fmla="*/ 13 h 36"/>
                </a:gdLst>
                <a:ahLst/>
                <a:cxnLst>
                  <a:cxn ang="0">
                    <a:pos x="T0" y="T1"/>
                  </a:cxn>
                  <a:cxn ang="0">
                    <a:pos x="T2" y="T3"/>
                  </a:cxn>
                  <a:cxn ang="0">
                    <a:pos x="T4" y="T5"/>
                  </a:cxn>
                  <a:cxn ang="0">
                    <a:pos x="T6" y="T7"/>
                  </a:cxn>
                  <a:cxn ang="0">
                    <a:pos x="T8" y="T9"/>
                  </a:cxn>
                </a:cxnLst>
                <a:rect l="0" t="0" r="r" b="b"/>
                <a:pathLst>
                  <a:path w="38" h="36">
                    <a:moveTo>
                      <a:pt x="25" y="13"/>
                    </a:moveTo>
                    <a:cubicBezTo>
                      <a:pt x="21" y="9"/>
                      <a:pt x="17" y="4"/>
                      <a:pt x="13" y="0"/>
                    </a:cubicBezTo>
                    <a:cubicBezTo>
                      <a:pt x="0" y="36"/>
                      <a:pt x="0" y="36"/>
                      <a:pt x="0" y="36"/>
                    </a:cubicBezTo>
                    <a:cubicBezTo>
                      <a:pt x="38" y="27"/>
                      <a:pt x="38" y="27"/>
                      <a:pt x="38" y="27"/>
                    </a:cubicBezTo>
                    <a:cubicBezTo>
                      <a:pt x="34" y="23"/>
                      <a:pt x="29" y="17"/>
                      <a:pt x="25" y="1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80" name="Freeform 73">
                <a:extLst>
                  <a:ext uri="{FF2B5EF4-FFF2-40B4-BE49-F238E27FC236}">
                    <a16:creationId xmlns:a16="http://schemas.microsoft.com/office/drawing/2014/main" id="{87F3BA8E-5BE1-4BCD-AEE7-A2ABB1981F65}"/>
                  </a:ext>
                </a:extLst>
              </p:cNvPr>
              <p:cNvSpPr>
                <a:spLocks/>
              </p:cNvSpPr>
              <p:nvPr/>
            </p:nvSpPr>
            <p:spPr bwMode="auto">
              <a:xfrm>
                <a:off x="7718425" y="9564688"/>
                <a:ext cx="119063" cy="117475"/>
              </a:xfrm>
              <a:custGeom>
                <a:avLst/>
                <a:gdLst>
                  <a:gd name="T0" fmla="*/ 33 w 37"/>
                  <a:gd name="T1" fmla="*/ 16 h 36"/>
                  <a:gd name="T2" fmla="*/ 30 w 37"/>
                  <a:gd name="T3" fmla="*/ 0 h 36"/>
                  <a:gd name="T4" fmla="*/ 0 w 37"/>
                  <a:gd name="T5" fmla="*/ 24 h 36"/>
                  <a:gd name="T6" fmla="*/ 37 w 37"/>
                  <a:gd name="T7" fmla="*/ 36 h 36"/>
                  <a:gd name="T8" fmla="*/ 33 w 37"/>
                  <a:gd name="T9" fmla="*/ 16 h 36"/>
                </a:gdLst>
                <a:ahLst/>
                <a:cxnLst>
                  <a:cxn ang="0">
                    <a:pos x="T0" y="T1"/>
                  </a:cxn>
                  <a:cxn ang="0">
                    <a:pos x="T2" y="T3"/>
                  </a:cxn>
                  <a:cxn ang="0">
                    <a:pos x="T4" y="T5"/>
                  </a:cxn>
                  <a:cxn ang="0">
                    <a:pos x="T6" y="T7"/>
                  </a:cxn>
                  <a:cxn ang="0">
                    <a:pos x="T8" y="T9"/>
                  </a:cxn>
                </a:cxnLst>
                <a:rect l="0" t="0" r="r" b="b"/>
                <a:pathLst>
                  <a:path w="37" h="36">
                    <a:moveTo>
                      <a:pt x="33" y="16"/>
                    </a:moveTo>
                    <a:cubicBezTo>
                      <a:pt x="32" y="11"/>
                      <a:pt x="31" y="6"/>
                      <a:pt x="30" y="0"/>
                    </a:cubicBezTo>
                    <a:cubicBezTo>
                      <a:pt x="0" y="24"/>
                      <a:pt x="0" y="24"/>
                      <a:pt x="0" y="24"/>
                    </a:cubicBezTo>
                    <a:cubicBezTo>
                      <a:pt x="37" y="36"/>
                      <a:pt x="37" y="36"/>
                      <a:pt x="37" y="36"/>
                    </a:cubicBezTo>
                    <a:cubicBezTo>
                      <a:pt x="36" y="30"/>
                      <a:pt x="34" y="23"/>
                      <a:pt x="33"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81" name="Freeform 74">
                <a:extLst>
                  <a:ext uri="{FF2B5EF4-FFF2-40B4-BE49-F238E27FC236}">
                    <a16:creationId xmlns:a16="http://schemas.microsoft.com/office/drawing/2014/main" id="{1D13AB7D-95AD-4AC6-8F5E-F4C5C2348E31}"/>
                  </a:ext>
                </a:extLst>
              </p:cNvPr>
              <p:cNvSpPr>
                <a:spLocks/>
              </p:cNvSpPr>
              <p:nvPr/>
            </p:nvSpPr>
            <p:spPr bwMode="auto">
              <a:xfrm>
                <a:off x="8020050" y="8505826"/>
                <a:ext cx="122238" cy="120650"/>
              </a:xfrm>
              <a:custGeom>
                <a:avLst/>
                <a:gdLst>
                  <a:gd name="T0" fmla="*/ 26 w 38"/>
                  <a:gd name="T1" fmla="*/ 23 h 37"/>
                  <a:gd name="T2" fmla="*/ 38 w 38"/>
                  <a:gd name="T3" fmla="*/ 10 h 37"/>
                  <a:gd name="T4" fmla="*/ 0 w 38"/>
                  <a:gd name="T5" fmla="*/ 0 h 37"/>
                  <a:gd name="T6" fmla="*/ 13 w 38"/>
                  <a:gd name="T7" fmla="*/ 37 h 37"/>
                  <a:gd name="T8" fmla="*/ 26 w 38"/>
                  <a:gd name="T9" fmla="*/ 23 h 37"/>
                </a:gdLst>
                <a:ahLst/>
                <a:cxnLst>
                  <a:cxn ang="0">
                    <a:pos x="T0" y="T1"/>
                  </a:cxn>
                  <a:cxn ang="0">
                    <a:pos x="T2" y="T3"/>
                  </a:cxn>
                  <a:cxn ang="0">
                    <a:pos x="T4" y="T5"/>
                  </a:cxn>
                  <a:cxn ang="0">
                    <a:pos x="T6" y="T7"/>
                  </a:cxn>
                  <a:cxn ang="0">
                    <a:pos x="T8" y="T9"/>
                  </a:cxn>
                </a:cxnLst>
                <a:rect l="0" t="0" r="r" b="b"/>
                <a:pathLst>
                  <a:path w="38" h="37">
                    <a:moveTo>
                      <a:pt x="26" y="23"/>
                    </a:moveTo>
                    <a:cubicBezTo>
                      <a:pt x="29" y="19"/>
                      <a:pt x="34" y="14"/>
                      <a:pt x="38" y="10"/>
                    </a:cubicBezTo>
                    <a:cubicBezTo>
                      <a:pt x="0" y="0"/>
                      <a:pt x="0" y="0"/>
                      <a:pt x="0" y="0"/>
                    </a:cubicBezTo>
                    <a:cubicBezTo>
                      <a:pt x="13" y="37"/>
                      <a:pt x="13" y="37"/>
                      <a:pt x="13" y="37"/>
                    </a:cubicBezTo>
                    <a:cubicBezTo>
                      <a:pt x="17" y="33"/>
                      <a:pt x="22" y="27"/>
                      <a:pt x="26" y="23"/>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82" name="Freeform 75">
                <a:extLst>
                  <a:ext uri="{FF2B5EF4-FFF2-40B4-BE49-F238E27FC236}">
                    <a16:creationId xmlns:a16="http://schemas.microsoft.com/office/drawing/2014/main" id="{3BF320B2-6072-4752-A447-7A2336B36B13}"/>
                  </a:ext>
                </a:extLst>
              </p:cNvPr>
              <p:cNvSpPr>
                <a:spLocks/>
              </p:cNvSpPr>
              <p:nvPr/>
            </p:nvSpPr>
            <p:spPr bwMode="auto">
              <a:xfrm>
                <a:off x="7862888" y="8726488"/>
                <a:ext cx="122238" cy="107950"/>
              </a:xfrm>
              <a:custGeom>
                <a:avLst/>
                <a:gdLst>
                  <a:gd name="T0" fmla="*/ 29 w 38"/>
                  <a:gd name="T1" fmla="*/ 16 h 33"/>
                  <a:gd name="T2" fmla="*/ 38 w 38"/>
                  <a:gd name="T3" fmla="*/ 2 h 33"/>
                  <a:gd name="T4" fmla="*/ 0 w 38"/>
                  <a:gd name="T5" fmla="*/ 0 h 33"/>
                  <a:gd name="T6" fmla="*/ 21 w 38"/>
                  <a:gd name="T7" fmla="*/ 33 h 33"/>
                  <a:gd name="T8" fmla="*/ 29 w 38"/>
                  <a:gd name="T9" fmla="*/ 16 h 33"/>
                </a:gdLst>
                <a:ahLst/>
                <a:cxnLst>
                  <a:cxn ang="0">
                    <a:pos x="T0" y="T1"/>
                  </a:cxn>
                  <a:cxn ang="0">
                    <a:pos x="T2" y="T3"/>
                  </a:cxn>
                  <a:cxn ang="0">
                    <a:pos x="T4" y="T5"/>
                  </a:cxn>
                  <a:cxn ang="0">
                    <a:pos x="T6" y="T7"/>
                  </a:cxn>
                  <a:cxn ang="0">
                    <a:pos x="T8" y="T9"/>
                  </a:cxn>
                </a:cxnLst>
                <a:rect l="0" t="0" r="r" b="b"/>
                <a:pathLst>
                  <a:path w="38" h="33">
                    <a:moveTo>
                      <a:pt x="29" y="16"/>
                    </a:moveTo>
                    <a:cubicBezTo>
                      <a:pt x="33" y="11"/>
                      <a:pt x="36" y="6"/>
                      <a:pt x="38" y="2"/>
                    </a:cubicBezTo>
                    <a:cubicBezTo>
                      <a:pt x="0" y="0"/>
                      <a:pt x="0" y="0"/>
                      <a:pt x="0" y="0"/>
                    </a:cubicBezTo>
                    <a:cubicBezTo>
                      <a:pt x="21" y="33"/>
                      <a:pt x="21" y="33"/>
                      <a:pt x="21" y="33"/>
                    </a:cubicBezTo>
                    <a:cubicBezTo>
                      <a:pt x="23" y="28"/>
                      <a:pt x="26" y="21"/>
                      <a:pt x="29"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83" name="Freeform 76">
                <a:extLst>
                  <a:ext uri="{FF2B5EF4-FFF2-40B4-BE49-F238E27FC236}">
                    <a16:creationId xmlns:a16="http://schemas.microsoft.com/office/drawing/2014/main" id="{94D6305B-B4EF-433A-B825-ADF8665CA0C8}"/>
                  </a:ext>
                </a:extLst>
              </p:cNvPr>
              <p:cNvSpPr>
                <a:spLocks/>
              </p:cNvSpPr>
              <p:nvPr/>
            </p:nvSpPr>
            <p:spPr bwMode="auto">
              <a:xfrm>
                <a:off x="7805738" y="8837613"/>
                <a:ext cx="120650" cy="111125"/>
              </a:xfrm>
              <a:custGeom>
                <a:avLst/>
                <a:gdLst>
                  <a:gd name="T0" fmla="*/ 30 w 38"/>
                  <a:gd name="T1" fmla="*/ 17 h 34"/>
                  <a:gd name="T2" fmla="*/ 38 w 38"/>
                  <a:gd name="T3" fmla="*/ 0 h 34"/>
                  <a:gd name="T4" fmla="*/ 0 w 38"/>
                  <a:gd name="T5" fmla="*/ 2 h 34"/>
                  <a:gd name="T6" fmla="*/ 22 w 38"/>
                  <a:gd name="T7" fmla="*/ 34 h 34"/>
                  <a:gd name="T8" fmla="*/ 30 w 38"/>
                  <a:gd name="T9" fmla="*/ 17 h 34"/>
                </a:gdLst>
                <a:ahLst/>
                <a:cxnLst>
                  <a:cxn ang="0">
                    <a:pos x="T0" y="T1"/>
                  </a:cxn>
                  <a:cxn ang="0">
                    <a:pos x="T2" y="T3"/>
                  </a:cxn>
                  <a:cxn ang="0">
                    <a:pos x="T4" y="T5"/>
                  </a:cxn>
                  <a:cxn ang="0">
                    <a:pos x="T6" y="T7"/>
                  </a:cxn>
                  <a:cxn ang="0">
                    <a:pos x="T8" y="T9"/>
                  </a:cxn>
                </a:cxnLst>
                <a:rect l="0" t="0" r="r" b="b"/>
                <a:pathLst>
                  <a:path w="38" h="34">
                    <a:moveTo>
                      <a:pt x="30" y="17"/>
                    </a:moveTo>
                    <a:cubicBezTo>
                      <a:pt x="32" y="11"/>
                      <a:pt x="35" y="6"/>
                      <a:pt x="38" y="0"/>
                    </a:cubicBezTo>
                    <a:cubicBezTo>
                      <a:pt x="0" y="2"/>
                      <a:pt x="0" y="2"/>
                      <a:pt x="0" y="2"/>
                    </a:cubicBezTo>
                    <a:cubicBezTo>
                      <a:pt x="22" y="34"/>
                      <a:pt x="22" y="34"/>
                      <a:pt x="22" y="34"/>
                    </a:cubicBezTo>
                    <a:cubicBezTo>
                      <a:pt x="25" y="28"/>
                      <a:pt x="28" y="22"/>
                      <a:pt x="30"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84" name="Freeform 77">
                <a:extLst>
                  <a:ext uri="{FF2B5EF4-FFF2-40B4-BE49-F238E27FC236}">
                    <a16:creationId xmlns:a16="http://schemas.microsoft.com/office/drawing/2014/main" id="{EA8761C0-415D-4907-8EB7-2FD930EF72BC}"/>
                  </a:ext>
                </a:extLst>
              </p:cNvPr>
              <p:cNvSpPr>
                <a:spLocks/>
              </p:cNvSpPr>
              <p:nvPr/>
            </p:nvSpPr>
            <p:spPr bwMode="auto">
              <a:xfrm>
                <a:off x="7935913" y="10028238"/>
                <a:ext cx="125413" cy="106363"/>
              </a:xfrm>
              <a:custGeom>
                <a:avLst/>
                <a:gdLst>
                  <a:gd name="T0" fmla="*/ 27 w 39"/>
                  <a:gd name="T1" fmla="*/ 14 h 33"/>
                  <a:gd name="T2" fmla="*/ 17 w 39"/>
                  <a:gd name="T3" fmla="*/ 0 h 33"/>
                  <a:gd name="T4" fmla="*/ 0 w 39"/>
                  <a:gd name="T5" fmla="*/ 33 h 33"/>
                  <a:gd name="T6" fmla="*/ 39 w 39"/>
                  <a:gd name="T7" fmla="*/ 29 h 33"/>
                  <a:gd name="T8" fmla="*/ 27 w 39"/>
                  <a:gd name="T9" fmla="*/ 14 h 33"/>
                </a:gdLst>
                <a:ahLst/>
                <a:cxnLst>
                  <a:cxn ang="0">
                    <a:pos x="T0" y="T1"/>
                  </a:cxn>
                  <a:cxn ang="0">
                    <a:pos x="T2" y="T3"/>
                  </a:cxn>
                  <a:cxn ang="0">
                    <a:pos x="T4" y="T5"/>
                  </a:cxn>
                  <a:cxn ang="0">
                    <a:pos x="T6" y="T7"/>
                  </a:cxn>
                  <a:cxn ang="0">
                    <a:pos x="T8" y="T9"/>
                  </a:cxn>
                </a:cxnLst>
                <a:rect l="0" t="0" r="r" b="b"/>
                <a:pathLst>
                  <a:path w="39" h="33">
                    <a:moveTo>
                      <a:pt x="27" y="14"/>
                    </a:moveTo>
                    <a:cubicBezTo>
                      <a:pt x="24" y="8"/>
                      <a:pt x="21" y="4"/>
                      <a:pt x="17" y="0"/>
                    </a:cubicBezTo>
                    <a:cubicBezTo>
                      <a:pt x="0" y="33"/>
                      <a:pt x="0" y="33"/>
                      <a:pt x="0" y="33"/>
                    </a:cubicBezTo>
                    <a:cubicBezTo>
                      <a:pt x="39" y="29"/>
                      <a:pt x="39" y="29"/>
                      <a:pt x="39" y="29"/>
                    </a:cubicBezTo>
                    <a:cubicBezTo>
                      <a:pt x="36" y="23"/>
                      <a:pt x="31" y="18"/>
                      <a:pt x="27" y="14"/>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85" name="Freeform 78">
                <a:extLst>
                  <a:ext uri="{FF2B5EF4-FFF2-40B4-BE49-F238E27FC236}">
                    <a16:creationId xmlns:a16="http://schemas.microsoft.com/office/drawing/2014/main" id="{E47D6449-B870-420F-8661-FB0D4683CA3D}"/>
                  </a:ext>
                </a:extLst>
              </p:cNvPr>
              <p:cNvSpPr>
                <a:spLocks/>
              </p:cNvSpPr>
              <p:nvPr/>
            </p:nvSpPr>
            <p:spPr bwMode="auto">
              <a:xfrm>
                <a:off x="7753350" y="8951913"/>
                <a:ext cx="122238" cy="114300"/>
              </a:xfrm>
              <a:custGeom>
                <a:avLst/>
                <a:gdLst>
                  <a:gd name="T0" fmla="*/ 32 w 38"/>
                  <a:gd name="T1" fmla="*/ 16 h 35"/>
                  <a:gd name="T2" fmla="*/ 38 w 38"/>
                  <a:gd name="T3" fmla="*/ 0 h 35"/>
                  <a:gd name="T4" fmla="*/ 0 w 38"/>
                  <a:gd name="T5" fmla="*/ 7 h 35"/>
                  <a:gd name="T6" fmla="*/ 26 w 38"/>
                  <a:gd name="T7" fmla="*/ 35 h 35"/>
                  <a:gd name="T8" fmla="*/ 32 w 38"/>
                  <a:gd name="T9" fmla="*/ 16 h 35"/>
                </a:gdLst>
                <a:ahLst/>
                <a:cxnLst>
                  <a:cxn ang="0">
                    <a:pos x="T0" y="T1"/>
                  </a:cxn>
                  <a:cxn ang="0">
                    <a:pos x="T2" y="T3"/>
                  </a:cxn>
                  <a:cxn ang="0">
                    <a:pos x="T4" y="T5"/>
                  </a:cxn>
                  <a:cxn ang="0">
                    <a:pos x="T6" y="T7"/>
                  </a:cxn>
                  <a:cxn ang="0">
                    <a:pos x="T8" y="T9"/>
                  </a:cxn>
                </a:cxnLst>
                <a:rect l="0" t="0" r="r" b="b"/>
                <a:pathLst>
                  <a:path w="38" h="35">
                    <a:moveTo>
                      <a:pt x="32" y="16"/>
                    </a:moveTo>
                    <a:cubicBezTo>
                      <a:pt x="34" y="11"/>
                      <a:pt x="36" y="6"/>
                      <a:pt x="38" y="0"/>
                    </a:cubicBezTo>
                    <a:cubicBezTo>
                      <a:pt x="0" y="7"/>
                      <a:pt x="0" y="7"/>
                      <a:pt x="0" y="7"/>
                    </a:cubicBezTo>
                    <a:cubicBezTo>
                      <a:pt x="26" y="35"/>
                      <a:pt x="26" y="35"/>
                      <a:pt x="26" y="35"/>
                    </a:cubicBezTo>
                    <a:cubicBezTo>
                      <a:pt x="29" y="29"/>
                      <a:pt x="31" y="23"/>
                      <a:pt x="32"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86" name="Freeform 79">
                <a:extLst>
                  <a:ext uri="{FF2B5EF4-FFF2-40B4-BE49-F238E27FC236}">
                    <a16:creationId xmlns:a16="http://schemas.microsoft.com/office/drawing/2014/main" id="{01222EAD-A00A-43BC-88C6-AD0ED6F9BDCD}"/>
                  </a:ext>
                </a:extLst>
              </p:cNvPr>
              <p:cNvSpPr>
                <a:spLocks/>
              </p:cNvSpPr>
              <p:nvPr/>
            </p:nvSpPr>
            <p:spPr bwMode="auto">
              <a:xfrm>
                <a:off x="7699375" y="9193213"/>
                <a:ext cx="115888" cy="117475"/>
              </a:xfrm>
              <a:custGeom>
                <a:avLst/>
                <a:gdLst>
                  <a:gd name="T0" fmla="*/ 34 w 36"/>
                  <a:gd name="T1" fmla="*/ 17 h 36"/>
                  <a:gd name="T2" fmla="*/ 36 w 36"/>
                  <a:gd name="T3" fmla="*/ 0 h 36"/>
                  <a:gd name="T4" fmla="*/ 0 w 36"/>
                  <a:gd name="T5" fmla="*/ 14 h 36"/>
                  <a:gd name="T6" fmla="*/ 31 w 36"/>
                  <a:gd name="T7" fmla="*/ 36 h 36"/>
                  <a:gd name="T8" fmla="*/ 34 w 36"/>
                  <a:gd name="T9" fmla="*/ 17 h 36"/>
                </a:gdLst>
                <a:ahLst/>
                <a:cxnLst>
                  <a:cxn ang="0">
                    <a:pos x="T0" y="T1"/>
                  </a:cxn>
                  <a:cxn ang="0">
                    <a:pos x="T2" y="T3"/>
                  </a:cxn>
                  <a:cxn ang="0">
                    <a:pos x="T4" y="T5"/>
                  </a:cxn>
                  <a:cxn ang="0">
                    <a:pos x="T6" y="T7"/>
                  </a:cxn>
                  <a:cxn ang="0">
                    <a:pos x="T8" y="T9"/>
                  </a:cxn>
                </a:cxnLst>
                <a:rect l="0" t="0" r="r" b="b"/>
                <a:pathLst>
                  <a:path w="36" h="36">
                    <a:moveTo>
                      <a:pt x="34" y="17"/>
                    </a:moveTo>
                    <a:cubicBezTo>
                      <a:pt x="34" y="11"/>
                      <a:pt x="35" y="5"/>
                      <a:pt x="36" y="0"/>
                    </a:cubicBezTo>
                    <a:cubicBezTo>
                      <a:pt x="0" y="14"/>
                      <a:pt x="0" y="14"/>
                      <a:pt x="0" y="14"/>
                    </a:cubicBezTo>
                    <a:cubicBezTo>
                      <a:pt x="31" y="36"/>
                      <a:pt x="31" y="36"/>
                      <a:pt x="31" y="36"/>
                    </a:cubicBezTo>
                    <a:cubicBezTo>
                      <a:pt x="33" y="30"/>
                      <a:pt x="33" y="24"/>
                      <a:pt x="34" y="17"/>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87" name="Freeform 80">
                <a:extLst>
                  <a:ext uri="{FF2B5EF4-FFF2-40B4-BE49-F238E27FC236}">
                    <a16:creationId xmlns:a16="http://schemas.microsoft.com/office/drawing/2014/main" id="{D6D015CE-81A0-4C22-B6F5-F2EE3504692F}"/>
                  </a:ext>
                </a:extLst>
              </p:cNvPr>
              <p:cNvSpPr>
                <a:spLocks/>
              </p:cNvSpPr>
              <p:nvPr/>
            </p:nvSpPr>
            <p:spPr bwMode="auto">
              <a:xfrm>
                <a:off x="7718425" y="9072563"/>
                <a:ext cx="119063" cy="117475"/>
              </a:xfrm>
              <a:custGeom>
                <a:avLst/>
                <a:gdLst>
                  <a:gd name="T0" fmla="*/ 33 w 37"/>
                  <a:gd name="T1" fmla="*/ 16 h 36"/>
                  <a:gd name="T2" fmla="*/ 37 w 37"/>
                  <a:gd name="T3" fmla="*/ 0 h 36"/>
                  <a:gd name="T4" fmla="*/ 0 w 37"/>
                  <a:gd name="T5" fmla="*/ 10 h 36"/>
                  <a:gd name="T6" fmla="*/ 30 w 37"/>
                  <a:gd name="T7" fmla="*/ 36 h 36"/>
                  <a:gd name="T8" fmla="*/ 33 w 37"/>
                  <a:gd name="T9" fmla="*/ 16 h 36"/>
                </a:gdLst>
                <a:ahLst/>
                <a:cxnLst>
                  <a:cxn ang="0">
                    <a:pos x="T0" y="T1"/>
                  </a:cxn>
                  <a:cxn ang="0">
                    <a:pos x="T2" y="T3"/>
                  </a:cxn>
                  <a:cxn ang="0">
                    <a:pos x="T4" y="T5"/>
                  </a:cxn>
                  <a:cxn ang="0">
                    <a:pos x="T6" y="T7"/>
                  </a:cxn>
                  <a:cxn ang="0">
                    <a:pos x="T8" y="T9"/>
                  </a:cxn>
                </a:cxnLst>
                <a:rect l="0" t="0" r="r" b="b"/>
                <a:pathLst>
                  <a:path w="37" h="36">
                    <a:moveTo>
                      <a:pt x="33" y="16"/>
                    </a:moveTo>
                    <a:cubicBezTo>
                      <a:pt x="34" y="11"/>
                      <a:pt x="36" y="6"/>
                      <a:pt x="37" y="0"/>
                    </a:cubicBezTo>
                    <a:cubicBezTo>
                      <a:pt x="0" y="10"/>
                      <a:pt x="0" y="10"/>
                      <a:pt x="0" y="10"/>
                    </a:cubicBezTo>
                    <a:cubicBezTo>
                      <a:pt x="30" y="36"/>
                      <a:pt x="30" y="36"/>
                      <a:pt x="30" y="36"/>
                    </a:cubicBezTo>
                    <a:cubicBezTo>
                      <a:pt x="31" y="29"/>
                      <a:pt x="32" y="23"/>
                      <a:pt x="33" y="16"/>
                    </a:cubicBezTo>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grpSp>
        <p:grpSp>
          <p:nvGrpSpPr>
            <p:cNvPr id="8" name="Group 7">
              <a:extLst>
                <a:ext uri="{FF2B5EF4-FFF2-40B4-BE49-F238E27FC236}">
                  <a16:creationId xmlns:a16="http://schemas.microsoft.com/office/drawing/2014/main" id="{029FF3F9-E440-4473-8FE8-4A878BAE427E}"/>
                </a:ext>
              </a:extLst>
            </p:cNvPr>
            <p:cNvGrpSpPr/>
            <p:nvPr/>
          </p:nvGrpSpPr>
          <p:grpSpPr>
            <a:xfrm>
              <a:off x="10197128" y="11946179"/>
              <a:ext cx="4100716" cy="1026626"/>
              <a:chOff x="7289800" y="11063288"/>
              <a:chExt cx="3373438" cy="844550"/>
            </a:xfrm>
          </p:grpSpPr>
          <p:sp>
            <p:nvSpPr>
              <p:cNvPr id="9" name="Rectangle 81">
                <a:extLst>
                  <a:ext uri="{FF2B5EF4-FFF2-40B4-BE49-F238E27FC236}">
                    <a16:creationId xmlns:a16="http://schemas.microsoft.com/office/drawing/2014/main" id="{5AEEC1A6-2E51-4882-8727-BACB6510B8E7}"/>
                  </a:ext>
                </a:extLst>
              </p:cNvPr>
              <p:cNvSpPr>
                <a:spLocks noChangeArrowheads="1"/>
              </p:cNvSpPr>
              <p:nvPr userDrawn="1"/>
            </p:nvSpPr>
            <p:spPr bwMode="auto">
              <a:xfrm>
                <a:off x="7289800" y="11063288"/>
                <a:ext cx="3373438" cy="8445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ZA" sz="1800" dirty="0"/>
              </a:p>
            </p:txBody>
          </p:sp>
          <p:sp>
            <p:nvSpPr>
              <p:cNvPr id="10" name="Freeform 82">
                <a:extLst>
                  <a:ext uri="{FF2B5EF4-FFF2-40B4-BE49-F238E27FC236}">
                    <a16:creationId xmlns:a16="http://schemas.microsoft.com/office/drawing/2014/main" id="{6D4FB609-C9F7-468A-84E3-9C700AB8C874}"/>
                  </a:ext>
                </a:extLst>
              </p:cNvPr>
              <p:cNvSpPr>
                <a:spLocks/>
              </p:cNvSpPr>
              <p:nvPr/>
            </p:nvSpPr>
            <p:spPr bwMode="auto">
              <a:xfrm>
                <a:off x="7334250" y="11699876"/>
                <a:ext cx="3286125" cy="165100"/>
              </a:xfrm>
              <a:custGeom>
                <a:avLst/>
                <a:gdLst>
                  <a:gd name="T0" fmla="*/ 2070 w 2070"/>
                  <a:gd name="T1" fmla="*/ 0 h 104"/>
                  <a:gd name="T2" fmla="*/ 1035 w 2070"/>
                  <a:gd name="T3" fmla="*/ 0 h 104"/>
                  <a:gd name="T4" fmla="*/ 1035 w 2070"/>
                  <a:gd name="T5" fmla="*/ 33 h 104"/>
                  <a:gd name="T6" fmla="*/ 0 w 2070"/>
                  <a:gd name="T7" fmla="*/ 33 h 104"/>
                  <a:gd name="T8" fmla="*/ 0 w 2070"/>
                  <a:gd name="T9" fmla="*/ 104 h 104"/>
                  <a:gd name="T10" fmla="*/ 1065 w 2070"/>
                  <a:gd name="T11" fmla="*/ 104 h 104"/>
                  <a:gd name="T12" fmla="*/ 1065 w 2070"/>
                  <a:gd name="T13" fmla="*/ 104 h 104"/>
                  <a:gd name="T14" fmla="*/ 2070 w 2070"/>
                  <a:gd name="T15" fmla="*/ 104 h 104"/>
                  <a:gd name="T16" fmla="*/ 2070 w 2070"/>
                  <a:gd name="T17"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70" h="104">
                    <a:moveTo>
                      <a:pt x="2070" y="0"/>
                    </a:moveTo>
                    <a:lnTo>
                      <a:pt x="1035" y="0"/>
                    </a:lnTo>
                    <a:lnTo>
                      <a:pt x="1035" y="33"/>
                    </a:lnTo>
                    <a:lnTo>
                      <a:pt x="0" y="33"/>
                    </a:lnTo>
                    <a:lnTo>
                      <a:pt x="0" y="104"/>
                    </a:lnTo>
                    <a:lnTo>
                      <a:pt x="1065" y="104"/>
                    </a:lnTo>
                    <a:lnTo>
                      <a:pt x="1065" y="104"/>
                    </a:lnTo>
                    <a:lnTo>
                      <a:pt x="2070" y="104"/>
                    </a:lnTo>
                    <a:lnTo>
                      <a:pt x="2070" y="0"/>
                    </a:lnTo>
                    <a:close/>
                  </a:path>
                </a:pathLst>
              </a:custGeom>
              <a:solidFill>
                <a:srgbClr val="0607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sp>
            <p:nvSpPr>
              <p:cNvPr id="11" name="Freeform 83">
                <a:extLst>
                  <a:ext uri="{FF2B5EF4-FFF2-40B4-BE49-F238E27FC236}">
                    <a16:creationId xmlns:a16="http://schemas.microsoft.com/office/drawing/2014/main" id="{BBCD288F-ACCE-42F3-9282-5FBD7BCAB109}"/>
                  </a:ext>
                </a:extLst>
              </p:cNvPr>
              <p:cNvSpPr>
                <a:spLocks noEditPoints="1"/>
              </p:cNvSpPr>
              <p:nvPr/>
            </p:nvSpPr>
            <p:spPr bwMode="auto">
              <a:xfrm>
                <a:off x="7440613" y="11106151"/>
                <a:ext cx="3074988" cy="430213"/>
              </a:xfrm>
              <a:custGeom>
                <a:avLst/>
                <a:gdLst>
                  <a:gd name="T0" fmla="*/ 1735 w 1937"/>
                  <a:gd name="T1" fmla="*/ 170 h 271"/>
                  <a:gd name="T2" fmla="*/ 1937 w 1937"/>
                  <a:gd name="T3" fmla="*/ 170 h 271"/>
                  <a:gd name="T4" fmla="*/ 1937 w 1937"/>
                  <a:gd name="T5" fmla="*/ 238 h 271"/>
                  <a:gd name="T6" fmla="*/ 1808 w 1937"/>
                  <a:gd name="T7" fmla="*/ 271 h 271"/>
                  <a:gd name="T8" fmla="*/ 1463 w 1937"/>
                  <a:gd name="T9" fmla="*/ 271 h 271"/>
                  <a:gd name="T10" fmla="*/ 1333 w 1937"/>
                  <a:gd name="T11" fmla="*/ 236 h 271"/>
                  <a:gd name="T12" fmla="*/ 1333 w 1937"/>
                  <a:gd name="T13" fmla="*/ 35 h 271"/>
                  <a:gd name="T14" fmla="*/ 1463 w 1937"/>
                  <a:gd name="T15" fmla="*/ 0 h 271"/>
                  <a:gd name="T16" fmla="*/ 1808 w 1937"/>
                  <a:gd name="T17" fmla="*/ 0 h 271"/>
                  <a:gd name="T18" fmla="*/ 1937 w 1937"/>
                  <a:gd name="T19" fmla="*/ 31 h 271"/>
                  <a:gd name="T20" fmla="*/ 1937 w 1937"/>
                  <a:gd name="T21" fmla="*/ 101 h 271"/>
                  <a:gd name="T22" fmla="*/ 1735 w 1937"/>
                  <a:gd name="T23" fmla="*/ 101 h 271"/>
                  <a:gd name="T24" fmla="*/ 1735 w 1937"/>
                  <a:gd name="T25" fmla="*/ 68 h 271"/>
                  <a:gd name="T26" fmla="*/ 1533 w 1937"/>
                  <a:gd name="T27" fmla="*/ 68 h 271"/>
                  <a:gd name="T28" fmla="*/ 1533 w 1937"/>
                  <a:gd name="T29" fmla="*/ 203 h 271"/>
                  <a:gd name="T30" fmla="*/ 1735 w 1937"/>
                  <a:gd name="T31" fmla="*/ 203 h 271"/>
                  <a:gd name="T32" fmla="*/ 1735 w 1937"/>
                  <a:gd name="T33" fmla="*/ 170 h 271"/>
                  <a:gd name="T34" fmla="*/ 197 w 1937"/>
                  <a:gd name="T35" fmla="*/ 133 h 271"/>
                  <a:gd name="T36" fmla="*/ 401 w 1937"/>
                  <a:gd name="T37" fmla="*/ 133 h 271"/>
                  <a:gd name="T38" fmla="*/ 401 w 1937"/>
                  <a:gd name="T39" fmla="*/ 68 h 271"/>
                  <a:gd name="T40" fmla="*/ 197 w 1937"/>
                  <a:gd name="T41" fmla="*/ 68 h 271"/>
                  <a:gd name="T42" fmla="*/ 197 w 1937"/>
                  <a:gd name="T43" fmla="*/ 133 h 271"/>
                  <a:gd name="T44" fmla="*/ 0 w 1937"/>
                  <a:gd name="T45" fmla="*/ 0 h 271"/>
                  <a:gd name="T46" fmla="*/ 472 w 1937"/>
                  <a:gd name="T47" fmla="*/ 0 h 271"/>
                  <a:gd name="T48" fmla="*/ 601 w 1937"/>
                  <a:gd name="T49" fmla="*/ 35 h 271"/>
                  <a:gd name="T50" fmla="*/ 601 w 1937"/>
                  <a:gd name="T51" fmla="*/ 170 h 271"/>
                  <a:gd name="T52" fmla="*/ 472 w 1937"/>
                  <a:gd name="T53" fmla="*/ 207 h 271"/>
                  <a:gd name="T54" fmla="*/ 197 w 1937"/>
                  <a:gd name="T55" fmla="*/ 207 h 271"/>
                  <a:gd name="T56" fmla="*/ 197 w 1937"/>
                  <a:gd name="T57" fmla="*/ 271 h 271"/>
                  <a:gd name="T58" fmla="*/ 0 w 1937"/>
                  <a:gd name="T59" fmla="*/ 271 h 271"/>
                  <a:gd name="T60" fmla="*/ 0 w 1937"/>
                  <a:gd name="T61" fmla="*/ 0 h 271"/>
                  <a:gd name="T62" fmla="*/ 867 w 1937"/>
                  <a:gd name="T63" fmla="*/ 133 h 271"/>
                  <a:gd name="T64" fmla="*/ 1069 w 1937"/>
                  <a:gd name="T65" fmla="*/ 133 h 271"/>
                  <a:gd name="T66" fmla="*/ 1069 w 1937"/>
                  <a:gd name="T67" fmla="*/ 68 h 271"/>
                  <a:gd name="T68" fmla="*/ 867 w 1937"/>
                  <a:gd name="T69" fmla="*/ 68 h 271"/>
                  <a:gd name="T70" fmla="*/ 867 w 1937"/>
                  <a:gd name="T71" fmla="*/ 133 h 271"/>
                  <a:gd name="T72" fmla="*/ 668 w 1937"/>
                  <a:gd name="T73" fmla="*/ 0 h 271"/>
                  <a:gd name="T74" fmla="*/ 1142 w 1937"/>
                  <a:gd name="T75" fmla="*/ 0 h 271"/>
                  <a:gd name="T76" fmla="*/ 1269 w 1937"/>
                  <a:gd name="T77" fmla="*/ 35 h 271"/>
                  <a:gd name="T78" fmla="*/ 1269 w 1937"/>
                  <a:gd name="T79" fmla="*/ 170 h 271"/>
                  <a:gd name="T80" fmla="*/ 1140 w 1937"/>
                  <a:gd name="T81" fmla="*/ 207 h 271"/>
                  <a:gd name="T82" fmla="*/ 867 w 1937"/>
                  <a:gd name="T83" fmla="*/ 207 h 271"/>
                  <a:gd name="T84" fmla="*/ 867 w 1937"/>
                  <a:gd name="T85" fmla="*/ 271 h 271"/>
                  <a:gd name="T86" fmla="*/ 668 w 1937"/>
                  <a:gd name="T87" fmla="*/ 271 h 271"/>
                  <a:gd name="T88" fmla="*/ 668 w 1937"/>
                  <a:gd name="T89"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37" h="271">
                    <a:moveTo>
                      <a:pt x="1735" y="170"/>
                    </a:moveTo>
                    <a:lnTo>
                      <a:pt x="1937" y="170"/>
                    </a:lnTo>
                    <a:lnTo>
                      <a:pt x="1937" y="238"/>
                    </a:lnTo>
                    <a:lnTo>
                      <a:pt x="1808" y="271"/>
                    </a:lnTo>
                    <a:lnTo>
                      <a:pt x="1463" y="271"/>
                    </a:lnTo>
                    <a:lnTo>
                      <a:pt x="1333" y="236"/>
                    </a:lnTo>
                    <a:lnTo>
                      <a:pt x="1333" y="35"/>
                    </a:lnTo>
                    <a:lnTo>
                      <a:pt x="1463" y="0"/>
                    </a:lnTo>
                    <a:lnTo>
                      <a:pt x="1808" y="0"/>
                    </a:lnTo>
                    <a:lnTo>
                      <a:pt x="1937" y="31"/>
                    </a:lnTo>
                    <a:lnTo>
                      <a:pt x="1937" y="101"/>
                    </a:lnTo>
                    <a:lnTo>
                      <a:pt x="1735" y="101"/>
                    </a:lnTo>
                    <a:lnTo>
                      <a:pt x="1735" y="68"/>
                    </a:lnTo>
                    <a:lnTo>
                      <a:pt x="1533" y="68"/>
                    </a:lnTo>
                    <a:lnTo>
                      <a:pt x="1533" y="203"/>
                    </a:lnTo>
                    <a:lnTo>
                      <a:pt x="1735" y="203"/>
                    </a:lnTo>
                    <a:lnTo>
                      <a:pt x="1735" y="170"/>
                    </a:lnTo>
                    <a:close/>
                    <a:moveTo>
                      <a:pt x="197" y="133"/>
                    </a:moveTo>
                    <a:lnTo>
                      <a:pt x="401" y="133"/>
                    </a:lnTo>
                    <a:lnTo>
                      <a:pt x="401" y="68"/>
                    </a:lnTo>
                    <a:lnTo>
                      <a:pt x="197" y="68"/>
                    </a:lnTo>
                    <a:lnTo>
                      <a:pt x="197" y="133"/>
                    </a:lnTo>
                    <a:close/>
                    <a:moveTo>
                      <a:pt x="0" y="0"/>
                    </a:moveTo>
                    <a:lnTo>
                      <a:pt x="472" y="0"/>
                    </a:lnTo>
                    <a:lnTo>
                      <a:pt x="601" y="35"/>
                    </a:lnTo>
                    <a:lnTo>
                      <a:pt x="601" y="170"/>
                    </a:lnTo>
                    <a:lnTo>
                      <a:pt x="472" y="207"/>
                    </a:lnTo>
                    <a:lnTo>
                      <a:pt x="197" y="207"/>
                    </a:lnTo>
                    <a:lnTo>
                      <a:pt x="197" y="271"/>
                    </a:lnTo>
                    <a:lnTo>
                      <a:pt x="0" y="271"/>
                    </a:lnTo>
                    <a:lnTo>
                      <a:pt x="0" y="0"/>
                    </a:lnTo>
                    <a:close/>
                    <a:moveTo>
                      <a:pt x="867" y="133"/>
                    </a:moveTo>
                    <a:lnTo>
                      <a:pt x="1069" y="133"/>
                    </a:lnTo>
                    <a:lnTo>
                      <a:pt x="1069" y="68"/>
                    </a:lnTo>
                    <a:lnTo>
                      <a:pt x="867" y="68"/>
                    </a:lnTo>
                    <a:lnTo>
                      <a:pt x="867" y="133"/>
                    </a:lnTo>
                    <a:close/>
                    <a:moveTo>
                      <a:pt x="668" y="0"/>
                    </a:moveTo>
                    <a:lnTo>
                      <a:pt x="1142" y="0"/>
                    </a:lnTo>
                    <a:lnTo>
                      <a:pt x="1269" y="35"/>
                    </a:lnTo>
                    <a:lnTo>
                      <a:pt x="1269" y="170"/>
                    </a:lnTo>
                    <a:lnTo>
                      <a:pt x="1140" y="207"/>
                    </a:lnTo>
                    <a:lnTo>
                      <a:pt x="867" y="207"/>
                    </a:lnTo>
                    <a:lnTo>
                      <a:pt x="867" y="271"/>
                    </a:lnTo>
                    <a:lnTo>
                      <a:pt x="668" y="271"/>
                    </a:lnTo>
                    <a:lnTo>
                      <a:pt x="668"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ZA" sz="1800"/>
              </a:p>
            </p:txBody>
          </p:sp>
        </p:grpSp>
      </p:grpSp>
      <p:cxnSp>
        <p:nvCxnSpPr>
          <p:cNvPr id="88" name="Straight Connector 87">
            <a:extLst>
              <a:ext uri="{FF2B5EF4-FFF2-40B4-BE49-F238E27FC236}">
                <a16:creationId xmlns:a16="http://schemas.microsoft.com/office/drawing/2014/main" id="{546382C2-3A13-4BC9-9003-1F8A60A76A8C}"/>
              </a:ext>
            </a:extLst>
          </p:cNvPr>
          <p:cNvCxnSpPr/>
          <p:nvPr userDrawn="1"/>
        </p:nvCxnSpPr>
        <p:spPr>
          <a:xfrm>
            <a:off x="1939057" y="919254"/>
            <a:ext cx="9409755" cy="0"/>
          </a:xfrm>
          <a:prstGeom prst="line">
            <a:avLst/>
          </a:prstGeom>
          <a:ln w="1143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F7815EA2-A366-400E-9DCA-F6513F91DE5B}"/>
              </a:ext>
            </a:extLst>
          </p:cNvPr>
          <p:cNvCxnSpPr>
            <a:cxnSpLocks/>
          </p:cNvCxnSpPr>
          <p:nvPr userDrawn="1"/>
        </p:nvCxnSpPr>
        <p:spPr>
          <a:xfrm>
            <a:off x="6005028" y="854832"/>
            <a:ext cx="5329031" cy="8220"/>
          </a:xfrm>
          <a:prstGeom prst="line">
            <a:avLst/>
          </a:prstGeom>
          <a:ln w="17780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83A70BAE-62E6-4F15-8733-8DF7939D420C}"/>
              </a:ext>
            </a:extLst>
          </p:cNvPr>
          <p:cNvSpPr/>
          <p:nvPr userDrawn="1"/>
        </p:nvSpPr>
        <p:spPr>
          <a:xfrm>
            <a:off x="0" y="3008674"/>
            <a:ext cx="12192000" cy="1445323"/>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Tree>
    <p:extLst>
      <p:ext uri="{BB962C8B-B14F-4D97-AF65-F5344CB8AC3E}">
        <p14:creationId xmlns:p14="http://schemas.microsoft.com/office/powerpoint/2010/main" val="2970776424"/>
      </p:ext>
    </p:extLst>
  </p:cSld>
  <p:clrMapOvr>
    <a:masterClrMapping/>
  </p:clrMapOvr>
  <p:transition spd="slow">
    <p:push dir="u"/>
  </p:transition>
  <p:extLst>
    <p:ext uri="{DCECCB84-F9BA-43D5-87BE-67443E8EF086}">
      <p15:sldGuideLst xmlns:p15="http://schemas.microsoft.com/office/powerpoint/2012/main">
        <p15:guide id="1" pos="7678">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3.xml"/><Relationship Id="rId2" Type="http://schemas.openxmlformats.org/officeDocument/2006/relationships/slideLayout" Target="../slideLayouts/slideLayout42.xml"/><Relationship Id="rId1" Type="http://schemas.openxmlformats.org/officeDocument/2006/relationships/slideLayout" Target="../slideLayouts/slideLayout41.xml"/><Relationship Id="rId5" Type="http://schemas.openxmlformats.org/officeDocument/2006/relationships/theme" Target="../theme/theme2.xml"/><Relationship Id="rId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30B1B3-9367-5945-8A5E-D9CCFBBF87B0}"/>
              </a:ext>
            </a:extLst>
          </p:cNvPr>
          <p:cNvSpPr>
            <a:spLocks noGrp="1"/>
          </p:cNvSpPr>
          <p:nvPr>
            <p:ph type="title"/>
          </p:nvPr>
        </p:nvSpPr>
        <p:spPr>
          <a:xfrm>
            <a:off x="838200" y="1258777"/>
            <a:ext cx="10515600" cy="595204"/>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871555C6-478F-B944-8162-EA9B72881F3D}"/>
              </a:ext>
            </a:extLst>
          </p:cNvPr>
          <p:cNvSpPr>
            <a:spLocks noGrp="1"/>
          </p:cNvSpPr>
          <p:nvPr>
            <p:ph type="body" idx="1"/>
          </p:nvPr>
        </p:nvSpPr>
        <p:spPr>
          <a:xfrm>
            <a:off x="838199" y="2033368"/>
            <a:ext cx="10644667" cy="4351338"/>
          </a:xfrm>
          <a:prstGeom prst="rect">
            <a:avLst/>
          </a:prstGeom>
        </p:spPr>
        <p:txBody>
          <a:bodyPr vert="horz" lIns="91440" tIns="45720" rIns="91440" bIns="45720" rtlCol="0">
            <a:normAutofit/>
          </a:bodyPr>
          <a:lstStyle/>
          <a:p>
            <a:pPr lvl="0"/>
            <a:r>
              <a:rPr lang="en-GB"/>
              <a:t>Click to edit Master text styles</a:t>
            </a:r>
          </a:p>
        </p:txBody>
      </p:sp>
    </p:spTree>
    <p:extLst>
      <p:ext uri="{BB962C8B-B14F-4D97-AF65-F5344CB8AC3E}">
        <p14:creationId xmlns:p14="http://schemas.microsoft.com/office/powerpoint/2010/main" val="33516535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8" r:id="rId40"/>
  </p:sldLayoutIdLst>
  <p:hf hdr="0" ftr="0" dt="0"/>
  <p:txStyles>
    <p:titleStyle>
      <a:lvl1pPr algn="l" defTabSz="914400" rtl="0" eaLnBrk="1" latinLnBrk="0" hangingPunct="1">
        <a:lnSpc>
          <a:spcPct val="90000"/>
        </a:lnSpc>
        <a:spcBef>
          <a:spcPct val="0"/>
        </a:spcBef>
        <a:buNone/>
        <a:defRPr sz="2000" b="1" kern="1200">
          <a:solidFill>
            <a:schemeClr val="tx1"/>
          </a:solidFill>
          <a:latin typeface="Arial" panose="020B0604020202020204" pitchFamily="34" charset="0"/>
          <a:ea typeface="+mj-ea"/>
          <a:cs typeface="Arial" panose="020B0604020202020204" pitchFamily="34" charset="0"/>
        </a:defRPr>
      </a:lvl1pPr>
    </p:titleStyle>
    <p:bodyStyle>
      <a:lvl1pPr marL="171450" indent="-171450" algn="l" defTabSz="914400" rtl="0" eaLnBrk="1" latinLnBrk="0" hangingPunct="1">
        <a:lnSpc>
          <a:spcPct val="90000"/>
        </a:lnSpc>
        <a:spcBef>
          <a:spcPts val="1000"/>
        </a:spcBef>
        <a:buFontTx/>
        <a:buBlip>
          <a:blip r:embed="rId42"/>
        </a:buBlip>
        <a:defRPr sz="12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0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6DC097FA-AF61-42F0-BCD6-85A419C060D7}"/>
              </a:ext>
            </a:extLst>
          </p:cNvPr>
          <p:cNvSpPr>
            <a:spLocks noGrp="1"/>
          </p:cNvSpPr>
          <p:nvPr>
            <p:ph type="body" idx="1"/>
          </p:nvPr>
        </p:nvSpPr>
        <p:spPr bwMode="auto">
          <a:xfrm>
            <a:off x="838419" y="1825625"/>
            <a:ext cx="10515163"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43" tIns="91422" rIns="182843" bIns="91422"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itle Placeholder 3">
            <a:extLst>
              <a:ext uri="{FF2B5EF4-FFF2-40B4-BE49-F238E27FC236}">
                <a16:creationId xmlns:a16="http://schemas.microsoft.com/office/drawing/2014/main" id="{C8458559-FC21-4D80-AEEF-1F1193A4B68D}"/>
              </a:ext>
            </a:extLst>
          </p:cNvPr>
          <p:cNvSpPr>
            <a:spLocks noGrp="1"/>
          </p:cNvSpPr>
          <p:nvPr>
            <p:ph type="title"/>
          </p:nvPr>
        </p:nvSpPr>
        <p:spPr bwMode="auto">
          <a:xfrm>
            <a:off x="838418" y="365127"/>
            <a:ext cx="10525486"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Tree>
    <p:extLst>
      <p:ext uri="{BB962C8B-B14F-4D97-AF65-F5344CB8AC3E}">
        <p14:creationId xmlns:p14="http://schemas.microsoft.com/office/powerpoint/2010/main" val="267553549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7" r:id="rId4"/>
  </p:sldLayoutIdLst>
  <p:txStyles>
    <p:titleStyle>
      <a:lvl1pPr algn="l" defTabSz="457200" rtl="0" eaLnBrk="1" latinLnBrk="0" hangingPunct="1">
        <a:lnSpc>
          <a:spcPct val="90000"/>
        </a:lnSpc>
        <a:spcBef>
          <a:spcPct val="0"/>
        </a:spcBef>
        <a:buNone/>
        <a:defRPr sz="3000" kern="1200">
          <a:solidFill>
            <a:schemeClr val="tx1">
              <a:lumMod val="50000"/>
              <a:lumOff val="50000"/>
            </a:schemeClr>
          </a:solidFill>
          <a:latin typeface="+mj-lt"/>
          <a:ea typeface="+mj-ea"/>
          <a:cs typeface="+mj-cs"/>
        </a:defRPr>
      </a:lvl1pPr>
    </p:titleStyle>
    <p:bodyStyle>
      <a:lvl1pPr marL="0" indent="0" algn="l" defTabSz="457200" rtl="0" eaLnBrk="1" latinLnBrk="0" hangingPunct="1">
        <a:lnSpc>
          <a:spcPct val="100000"/>
        </a:lnSpc>
        <a:spcBef>
          <a:spcPts val="500"/>
        </a:spcBef>
        <a:buFont typeface="Arial" panose="020B0604020202020204" pitchFamily="34" charset="0"/>
        <a:buNone/>
        <a:defRPr sz="2400" kern="1200">
          <a:solidFill>
            <a:schemeClr val="tx1"/>
          </a:solidFill>
          <a:latin typeface="+mn-lt"/>
          <a:ea typeface="+mn-ea"/>
          <a:cs typeface="+mn-cs"/>
        </a:defRPr>
      </a:lvl1pPr>
      <a:lvl2pPr marL="228600" indent="0" algn="l" defTabSz="457200" rtl="0" eaLnBrk="1" latinLnBrk="0" hangingPunct="1">
        <a:lnSpc>
          <a:spcPct val="100000"/>
        </a:lnSpc>
        <a:spcBef>
          <a:spcPts val="250"/>
        </a:spcBef>
        <a:buClr>
          <a:schemeClr val="accent2"/>
        </a:buClr>
        <a:buFont typeface="Wingdings" pitchFamily="2" charset="2"/>
        <a:buNone/>
        <a:defRPr sz="2000" kern="1200">
          <a:solidFill>
            <a:schemeClr val="tx1"/>
          </a:solidFill>
          <a:latin typeface="+mn-lt"/>
          <a:ea typeface="+mn-ea"/>
          <a:cs typeface="+mn-cs"/>
        </a:defRPr>
      </a:lvl2pPr>
      <a:lvl3pPr marL="457200" indent="0" algn="l" defTabSz="457200" rtl="0" eaLnBrk="1" latinLnBrk="0" hangingPunct="1">
        <a:lnSpc>
          <a:spcPct val="100000"/>
        </a:lnSpc>
        <a:spcBef>
          <a:spcPts val="250"/>
        </a:spcBef>
        <a:buClr>
          <a:schemeClr val="accent2"/>
        </a:buClr>
        <a:buFont typeface="Wingdings" pitchFamily="2" charset="2"/>
        <a:buNone/>
        <a:defRPr sz="1800" kern="1200">
          <a:solidFill>
            <a:schemeClr val="tx1"/>
          </a:solidFill>
          <a:latin typeface="+mn-lt"/>
          <a:ea typeface="+mn-ea"/>
          <a:cs typeface="+mn-cs"/>
        </a:defRPr>
      </a:lvl3pPr>
      <a:lvl4pPr marL="685800" indent="0" algn="l" defTabSz="457200" rtl="0" eaLnBrk="1" latinLnBrk="0" hangingPunct="1">
        <a:lnSpc>
          <a:spcPct val="100000"/>
        </a:lnSpc>
        <a:spcBef>
          <a:spcPts val="250"/>
        </a:spcBef>
        <a:buClr>
          <a:schemeClr val="accent2"/>
        </a:buClr>
        <a:buFont typeface="Wingdings" pitchFamily="2" charset="2"/>
        <a:buNone/>
        <a:defRPr sz="1600" kern="1200">
          <a:solidFill>
            <a:schemeClr val="tx1"/>
          </a:solidFill>
          <a:latin typeface="+mn-lt"/>
          <a:ea typeface="+mn-ea"/>
          <a:cs typeface="+mn-cs"/>
        </a:defRPr>
      </a:lvl4pPr>
      <a:lvl5pPr marL="914400" indent="0" algn="l" defTabSz="457200" rtl="0" eaLnBrk="1" latinLnBrk="0" hangingPunct="1">
        <a:lnSpc>
          <a:spcPct val="100000"/>
        </a:lnSpc>
        <a:spcBef>
          <a:spcPts val="250"/>
        </a:spcBef>
        <a:buClr>
          <a:schemeClr val="accent2"/>
        </a:buClr>
        <a:buFont typeface="Wingdings" pitchFamily="2" charset="2"/>
        <a:buNone/>
        <a:defRPr sz="14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248">
          <p15:clr>
            <a:srgbClr val="F26B43"/>
          </p15:clr>
        </p15:guide>
        <p15:guide id="2" pos="767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jpeg"/><Relationship Id="rId18" Type="http://schemas.openxmlformats.org/officeDocument/2006/relationships/image" Target="../media/image56.jpeg"/><Relationship Id="rId3" Type="http://schemas.openxmlformats.org/officeDocument/2006/relationships/image" Target="../media/image41.png"/><Relationship Id="rId21" Type="http://schemas.openxmlformats.org/officeDocument/2006/relationships/image" Target="../media/image59.jpeg"/><Relationship Id="rId7" Type="http://schemas.openxmlformats.org/officeDocument/2006/relationships/image" Target="../media/image45.png"/><Relationship Id="rId12" Type="http://schemas.openxmlformats.org/officeDocument/2006/relationships/image" Target="../media/image50.jpeg"/><Relationship Id="rId17" Type="http://schemas.openxmlformats.org/officeDocument/2006/relationships/image" Target="../media/image55.png"/><Relationship Id="rId2" Type="http://schemas.openxmlformats.org/officeDocument/2006/relationships/notesSlide" Target="../notesSlides/notesSlide1.xml"/><Relationship Id="rId16" Type="http://schemas.openxmlformats.org/officeDocument/2006/relationships/image" Target="../media/image54.png"/><Relationship Id="rId20" Type="http://schemas.openxmlformats.org/officeDocument/2006/relationships/image" Target="../media/image58.png"/><Relationship Id="rId1" Type="http://schemas.openxmlformats.org/officeDocument/2006/relationships/slideLayout" Target="../slideLayouts/slideLayout25.xml"/><Relationship Id="rId6" Type="http://schemas.openxmlformats.org/officeDocument/2006/relationships/image" Target="../media/image44.png"/><Relationship Id="rId11" Type="http://schemas.openxmlformats.org/officeDocument/2006/relationships/image" Target="../media/image49.png"/><Relationship Id="rId24" Type="http://schemas.openxmlformats.org/officeDocument/2006/relationships/image" Target="../media/image62.png"/><Relationship Id="rId5" Type="http://schemas.openxmlformats.org/officeDocument/2006/relationships/image" Target="../media/image43.png"/><Relationship Id="rId15" Type="http://schemas.openxmlformats.org/officeDocument/2006/relationships/image" Target="../media/image53.png"/><Relationship Id="rId23" Type="http://schemas.openxmlformats.org/officeDocument/2006/relationships/image" Target="../media/image61.png"/><Relationship Id="rId10" Type="http://schemas.openxmlformats.org/officeDocument/2006/relationships/image" Target="../media/image48.png"/><Relationship Id="rId19" Type="http://schemas.openxmlformats.org/officeDocument/2006/relationships/image" Target="../media/image57.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 Id="rId22" Type="http://schemas.openxmlformats.org/officeDocument/2006/relationships/image" Target="../media/image6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5.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5.xml"/><Relationship Id="rId5" Type="http://schemas.openxmlformats.org/officeDocument/2006/relationships/chart" Target="../charts/chart7.xml"/><Relationship Id="rId4" Type="http://schemas.openxmlformats.org/officeDocument/2006/relationships/image" Target="../media/image65.png"/></Relationships>
</file>

<file path=ppt/slides/_rels/slide10.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chart" Target="../charts/chart9.xml"/><Relationship Id="rId7" Type="http://schemas.openxmlformats.org/officeDocument/2006/relationships/image" Target="../media/image67.jpg"/><Relationship Id="rId2" Type="http://schemas.openxmlformats.org/officeDocument/2006/relationships/chart" Target="../charts/chart8.xml"/><Relationship Id="rId1" Type="http://schemas.openxmlformats.org/officeDocument/2006/relationships/slideLayout" Target="../slideLayouts/slideLayout25.xml"/><Relationship Id="rId6" Type="http://schemas.openxmlformats.org/officeDocument/2006/relationships/image" Target="../media/image66.jpg"/><Relationship Id="rId5" Type="http://schemas.openxmlformats.org/officeDocument/2006/relationships/chart" Target="../charts/chart11.xml"/><Relationship Id="rId4" Type="http://schemas.openxmlformats.org/officeDocument/2006/relationships/chart" Target="../charts/char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3176" y="4574324"/>
            <a:ext cx="12188824" cy="592431"/>
          </a:xfrm>
        </p:spPr>
        <p:txBody>
          <a:bodyPr>
            <a:normAutofit/>
          </a:bodyPr>
          <a:lstStyle/>
          <a:p>
            <a:r>
              <a:rPr lang="en-ZA" sz="2800" cap="all" dirty="0">
                <a:latin typeface="Calibri Light" panose="020F0302020204030204" pitchFamily="34" charset="0"/>
              </a:rPr>
              <a:t>EXCO MEETING</a:t>
            </a:r>
            <a:r>
              <a:rPr lang="en-US" sz="2800" cap="all" dirty="0">
                <a:latin typeface="Calibri Light" panose="020F0302020204030204" pitchFamily="34" charset="0"/>
              </a:rPr>
              <a:t> held On July 17th, 2026, in KINSHASA</a:t>
            </a:r>
            <a:endParaRPr lang="en-ZA" sz="2800" cap="all" dirty="0">
              <a:latin typeface="Calibri Light" panose="020F0302020204030204" pitchFamily="34" charset="0"/>
            </a:endParaRPr>
          </a:p>
        </p:txBody>
      </p:sp>
    </p:spTree>
    <p:extLst>
      <p:ext uri="{BB962C8B-B14F-4D97-AF65-F5344CB8AC3E}">
        <p14:creationId xmlns:p14="http://schemas.microsoft.com/office/powerpoint/2010/main" val="1608781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207;p18">
            <a:extLst>
              <a:ext uri="{FF2B5EF4-FFF2-40B4-BE49-F238E27FC236}">
                <a16:creationId xmlns:a16="http://schemas.microsoft.com/office/drawing/2014/main" id="{B8CB43F1-B9CB-2053-F6E4-5E8BE83814EC}"/>
              </a:ext>
            </a:extLst>
          </p:cNvPr>
          <p:cNvGrpSpPr/>
          <p:nvPr/>
        </p:nvGrpSpPr>
        <p:grpSpPr>
          <a:xfrm>
            <a:off x="508703" y="927777"/>
            <a:ext cx="11601135" cy="5586450"/>
            <a:chOff x="486867" y="1238325"/>
            <a:chExt cx="8267826" cy="3468053"/>
          </a:xfrm>
        </p:grpSpPr>
        <p:grpSp>
          <p:nvGrpSpPr>
            <p:cNvPr id="6" name="Google Shape;208;p18">
              <a:extLst>
                <a:ext uri="{FF2B5EF4-FFF2-40B4-BE49-F238E27FC236}">
                  <a16:creationId xmlns:a16="http://schemas.microsoft.com/office/drawing/2014/main" id="{92186F54-645F-1D90-5971-E9D2AF3DB823}"/>
                </a:ext>
              </a:extLst>
            </p:cNvPr>
            <p:cNvGrpSpPr/>
            <p:nvPr/>
          </p:nvGrpSpPr>
          <p:grpSpPr>
            <a:xfrm>
              <a:off x="486867" y="1238326"/>
              <a:ext cx="2583619" cy="3468052"/>
              <a:chOff x="475763" y="1238326"/>
              <a:chExt cx="2583619" cy="3468052"/>
            </a:xfrm>
          </p:grpSpPr>
          <p:sp>
            <p:nvSpPr>
              <p:cNvPr id="16" name="Google Shape;209;p18">
                <a:extLst>
                  <a:ext uri="{FF2B5EF4-FFF2-40B4-BE49-F238E27FC236}">
                    <a16:creationId xmlns:a16="http://schemas.microsoft.com/office/drawing/2014/main" id="{7DA81501-F062-9C75-306C-2B9BA26C2AAE}"/>
                  </a:ext>
                </a:extLst>
              </p:cNvPr>
              <p:cNvSpPr/>
              <p:nvPr/>
            </p:nvSpPr>
            <p:spPr>
              <a:xfrm>
                <a:off x="477582" y="1238326"/>
                <a:ext cx="2581800" cy="217144"/>
              </a:xfrm>
              <a:prstGeom prst="rect">
                <a:avLst/>
              </a:prstGeom>
              <a:solidFill>
                <a:srgbClr val="00B05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7" name="Google Shape;210;p18">
                <a:extLst>
                  <a:ext uri="{FF2B5EF4-FFF2-40B4-BE49-F238E27FC236}">
                    <a16:creationId xmlns:a16="http://schemas.microsoft.com/office/drawing/2014/main" id="{A7D69ED3-66E5-5409-9504-373F475F36CB}"/>
                  </a:ext>
                </a:extLst>
              </p:cNvPr>
              <p:cNvSpPr/>
              <p:nvPr/>
            </p:nvSpPr>
            <p:spPr>
              <a:xfrm>
                <a:off x="475763" y="1508494"/>
                <a:ext cx="2581800" cy="3197880"/>
              </a:xfrm>
              <a:prstGeom prst="rect">
                <a:avLst/>
              </a:prstGeom>
              <a:solidFill>
                <a:srgbClr val="CCFFFF"/>
              </a:solidFill>
              <a:ln/>
            </p:spPr>
            <p:style>
              <a:lnRef idx="0">
                <a:schemeClr val="accent6"/>
              </a:lnRef>
              <a:fillRef idx="3">
                <a:schemeClr val="accent6"/>
              </a:fillRef>
              <a:effectRef idx="3">
                <a:schemeClr val="accent6"/>
              </a:effectRef>
              <a:fontRef idx="minor">
                <a:schemeClr val="lt1"/>
              </a:fontRef>
            </p:style>
            <p:txBody>
              <a:bodyPr spcFirstLastPara="1" wrap="square" lIns="91425" tIns="91425" rIns="91425" bIns="91425" anchor="ctr" anchorCtr="0">
                <a:noAutofit/>
              </a:bodyPr>
              <a:lstStyle/>
              <a:p>
                <a:pPr marL="171450" indent="-171450" algn="just">
                  <a:buFont typeface="Arial" panose="020B0604020202020204" pitchFamily="34" charset="0"/>
                  <a:buChar char="•"/>
                </a:pPr>
                <a:endParaRPr lang="en-US" sz="1200" dirty="0">
                  <a:solidFill>
                    <a:srgbClr val="00B050"/>
                  </a:solidFill>
                </a:endParaRPr>
              </a:p>
              <a:p>
                <a:pPr algn="just"/>
                <a:endParaRPr lang="en-US" sz="1200" dirty="0">
                  <a:solidFill>
                    <a:srgbClr val="00B050"/>
                  </a:solidFill>
                </a:endParaRPr>
              </a:p>
            </p:txBody>
          </p:sp>
        </p:grpSp>
        <p:grpSp>
          <p:nvGrpSpPr>
            <p:cNvPr id="7" name="Google Shape;214;p18">
              <a:extLst>
                <a:ext uri="{FF2B5EF4-FFF2-40B4-BE49-F238E27FC236}">
                  <a16:creationId xmlns:a16="http://schemas.microsoft.com/office/drawing/2014/main" id="{0878E0B8-99ED-8875-2A8F-2C5B80D0AF1C}"/>
                </a:ext>
              </a:extLst>
            </p:cNvPr>
            <p:cNvGrpSpPr/>
            <p:nvPr/>
          </p:nvGrpSpPr>
          <p:grpSpPr>
            <a:xfrm>
              <a:off x="3287110" y="1238326"/>
              <a:ext cx="2589324" cy="3386169"/>
              <a:chOff x="3276483" y="1238326"/>
              <a:chExt cx="2589324" cy="3386169"/>
            </a:xfrm>
          </p:grpSpPr>
          <p:sp>
            <p:nvSpPr>
              <p:cNvPr id="14" name="Google Shape;215;p18">
                <a:extLst>
                  <a:ext uri="{FF2B5EF4-FFF2-40B4-BE49-F238E27FC236}">
                    <a16:creationId xmlns:a16="http://schemas.microsoft.com/office/drawing/2014/main" id="{4B051201-D610-FC7D-CEAE-89AA46F5A168}"/>
                  </a:ext>
                </a:extLst>
              </p:cNvPr>
              <p:cNvSpPr/>
              <p:nvPr/>
            </p:nvSpPr>
            <p:spPr>
              <a:xfrm>
                <a:off x="3284007" y="1238326"/>
                <a:ext cx="2581800" cy="217144"/>
              </a:xfrm>
              <a:prstGeom prst="rect">
                <a:avLst/>
              </a:prstGeom>
              <a:solidFill>
                <a:schemeClr val="accent3">
                  <a:lumMod val="50000"/>
                </a:schemeClr>
              </a:solidFill>
              <a:ln/>
            </p:spPr>
            <p:style>
              <a:lnRef idx="0">
                <a:schemeClr val="accent6"/>
              </a:lnRef>
              <a:fillRef idx="3">
                <a:schemeClr val="accent6"/>
              </a:fillRef>
              <a:effectRef idx="3">
                <a:schemeClr val="accent6"/>
              </a:effectRef>
              <a:fontRef idx="minor">
                <a:schemeClr val="lt1"/>
              </a:fontRef>
            </p:style>
            <p:txBody>
              <a:bodyPr spcFirstLastPara="1" wrap="square" lIns="91425" tIns="91425" rIns="91425" bIns="91425" anchor="ctr" anchorCtr="0">
                <a:noAutofit/>
              </a:bodyPr>
              <a:lstStyle/>
              <a:p>
                <a:pPr algn="ctr">
                  <a:buClr>
                    <a:srgbClr val="000000"/>
                  </a:buClr>
                </a:pPr>
                <a:r>
                  <a:rPr lang="en-US" sz="1600" b="1" kern="0" dirty="0">
                    <a:solidFill>
                      <a:srgbClr val="FFFFFF"/>
                    </a:solidFill>
                    <a:latin typeface="Fira Sans Extra Condensed Medium"/>
                    <a:sym typeface="Fira Sans Extra Condensed Medium"/>
                  </a:rPr>
                  <a:t>LOWLIGHT</a:t>
                </a:r>
                <a:endParaRPr sz="1600" b="1" kern="0" dirty="0">
                  <a:solidFill>
                    <a:srgbClr val="FFFFFF"/>
                  </a:solidFill>
                  <a:latin typeface="Fira Sans Extra Condensed Medium"/>
                  <a:sym typeface="Arial"/>
                </a:endParaRPr>
              </a:p>
            </p:txBody>
          </p:sp>
          <p:sp>
            <p:nvSpPr>
              <p:cNvPr id="15" name="Google Shape;216;p18">
                <a:extLst>
                  <a:ext uri="{FF2B5EF4-FFF2-40B4-BE49-F238E27FC236}">
                    <a16:creationId xmlns:a16="http://schemas.microsoft.com/office/drawing/2014/main" id="{6BF6FFEC-DE7F-7A78-84E5-C081707F1C01}"/>
                  </a:ext>
                </a:extLst>
              </p:cNvPr>
              <p:cNvSpPr/>
              <p:nvPr/>
            </p:nvSpPr>
            <p:spPr>
              <a:xfrm>
                <a:off x="3276483" y="1508495"/>
                <a:ext cx="2581800" cy="3116000"/>
              </a:xfrm>
              <a:prstGeom prst="rect">
                <a:avLst/>
              </a:prstGeom>
              <a:solidFill>
                <a:schemeClr val="accent4">
                  <a:lumMod val="20000"/>
                  <a:lumOff val="80000"/>
                </a:schemeClr>
              </a:solidFill>
              <a:ln/>
            </p:spPr>
            <p:style>
              <a:lnRef idx="0">
                <a:schemeClr val="accent6"/>
              </a:lnRef>
              <a:fillRef idx="3">
                <a:schemeClr val="accent6"/>
              </a:fillRef>
              <a:effectRef idx="3">
                <a:schemeClr val="accent6"/>
              </a:effectRef>
              <a:fontRef idx="minor">
                <a:schemeClr val="lt1"/>
              </a:fontRef>
            </p:style>
            <p:txBody>
              <a:bodyPr spcFirstLastPara="1" wrap="square" lIns="91425" tIns="91425" rIns="91425" bIns="91425" anchor="t" anchorCtr="0">
                <a:noAutofit/>
              </a:bodyPr>
              <a:lstStyle/>
              <a:p>
                <a:pPr marL="171450" indent="-171450">
                  <a:buFont typeface="Arial" panose="020B0604020202020204" pitchFamily="34" charset="0"/>
                  <a:buChar char="•"/>
                </a:pPr>
                <a:r>
                  <a:rPr lang="en-US" sz="600" b="1" dirty="0">
                    <a:solidFill>
                      <a:schemeClr val="accent3">
                        <a:lumMod val="50000"/>
                      </a:schemeClr>
                    </a:solidFill>
                  </a:rPr>
                  <a:t>Road Safety:</a:t>
                </a:r>
                <a:r>
                  <a:rPr lang="en-US" sz="600" dirty="0">
                    <a:solidFill>
                      <a:schemeClr val="accent3">
                        <a:lumMod val="50000"/>
                      </a:schemeClr>
                    </a:solidFill>
                  </a:rPr>
                  <a:t> A road traffic accident involving a LOXEA vehicle occurred near Nsele while travelling from Maluku. The vehicle was driven by </a:t>
                </a:r>
                <a:r>
                  <a:rPr lang="en-US" sz="600" b="1" dirty="0">
                    <a:solidFill>
                      <a:schemeClr val="accent3">
                        <a:lumMod val="50000"/>
                      </a:schemeClr>
                    </a:solidFill>
                  </a:rPr>
                  <a:t>Honoré Samba</a:t>
                </a:r>
                <a:r>
                  <a:rPr lang="en-US" sz="600" dirty="0">
                    <a:solidFill>
                      <a:schemeClr val="accent3">
                        <a:lumMod val="50000"/>
                      </a:schemeClr>
                    </a:solidFill>
                  </a:rPr>
                  <a:t>, accompanied by </a:t>
                </a:r>
                <a:r>
                  <a:rPr lang="en-US" sz="600" b="1" dirty="0">
                    <a:solidFill>
                      <a:schemeClr val="accent3">
                        <a:lumMod val="50000"/>
                      </a:schemeClr>
                    </a:solidFill>
                  </a:rPr>
                  <a:t>Patrick </a:t>
                </a:r>
                <a:r>
                  <a:rPr lang="en-US" sz="600" b="1" dirty="0" err="1">
                    <a:solidFill>
                      <a:schemeClr val="accent3">
                        <a:lumMod val="50000"/>
                      </a:schemeClr>
                    </a:solidFill>
                  </a:rPr>
                  <a:t>Kodjowa</a:t>
                </a:r>
                <a:r>
                  <a:rPr lang="en-US" sz="600" dirty="0">
                    <a:solidFill>
                      <a:schemeClr val="accent3">
                        <a:lumMod val="50000"/>
                      </a:schemeClr>
                    </a:solidFill>
                  </a:rPr>
                  <a:t>. Investigations are still underway to determine the root cause of the incident. Given the relatively high number of vehicle accidents recorded this year on the route between the Plant and Head Office, discussions have already been initiated with the </a:t>
                </a:r>
                <a:r>
                  <a:rPr lang="en-US" sz="600" b="1" dirty="0">
                    <a:solidFill>
                      <a:schemeClr val="accent3">
                        <a:lumMod val="50000"/>
                      </a:schemeClr>
                    </a:solidFill>
                  </a:rPr>
                  <a:t>CNPR</a:t>
                </a:r>
                <a:r>
                  <a:rPr lang="en-US" sz="600" dirty="0">
                    <a:solidFill>
                      <a:schemeClr val="accent3">
                        <a:lumMod val="50000"/>
                      </a:schemeClr>
                    </a:solidFill>
                  </a:rPr>
                  <a:t> to strengthen road safety awareness and reinforce defensive driving practices.</a:t>
                </a:r>
              </a:p>
              <a:p>
                <a:pPr marL="171450" indent="-171450">
                  <a:buFont typeface="Arial" panose="020B0604020202020204" pitchFamily="34" charset="0"/>
                  <a:buChar char="•"/>
                </a:pPr>
                <a:endParaRPr lang="en-US" sz="600" b="1" dirty="0">
                  <a:solidFill>
                    <a:schemeClr val="accent3">
                      <a:lumMod val="50000"/>
                    </a:schemeClr>
                  </a:solidFill>
                </a:endParaRPr>
              </a:p>
              <a:p>
                <a:pPr marL="171450" indent="-171450">
                  <a:buFont typeface="Arial" panose="020B0604020202020204" pitchFamily="34" charset="0"/>
                  <a:buChar char="•"/>
                </a:pPr>
                <a:r>
                  <a:rPr lang="en-US" sz="600" b="1" dirty="0">
                    <a:solidFill>
                      <a:schemeClr val="accent3">
                        <a:lumMod val="50000"/>
                      </a:schemeClr>
                    </a:solidFill>
                  </a:rPr>
                  <a:t>Performance Management:</a:t>
                </a:r>
                <a:r>
                  <a:rPr lang="en-US" sz="600" dirty="0">
                    <a:solidFill>
                      <a:schemeClr val="accent3">
                        <a:lumMod val="50000"/>
                      </a:schemeClr>
                    </a:solidFill>
                  </a:rPr>
                  <a:t> Performance reviews continue to be a key concern. Progress remains slower than expected, particularly at </a:t>
                </a:r>
                <a:r>
                  <a:rPr lang="en-US" sz="600" b="1" dirty="0" err="1">
                    <a:solidFill>
                      <a:schemeClr val="accent3">
                        <a:lumMod val="50000"/>
                      </a:schemeClr>
                    </a:solidFill>
                  </a:rPr>
                  <a:t>ExCo</a:t>
                </a:r>
                <a:r>
                  <a:rPr lang="en-US" sz="600" dirty="0">
                    <a:solidFill>
                      <a:schemeClr val="accent3">
                        <a:lumMod val="50000"/>
                      </a:schemeClr>
                    </a:solidFill>
                  </a:rPr>
                  <a:t> and </a:t>
                </a:r>
                <a:r>
                  <a:rPr lang="en-US" sz="600" b="1" dirty="0">
                    <a:solidFill>
                      <a:schemeClr val="accent3">
                        <a:lumMod val="50000"/>
                      </a:schemeClr>
                    </a:solidFill>
                  </a:rPr>
                  <a:t>N-1</a:t>
                </a:r>
                <a:r>
                  <a:rPr lang="en-US" sz="600" dirty="0">
                    <a:solidFill>
                      <a:schemeClr val="accent3">
                        <a:lumMod val="50000"/>
                      </a:schemeClr>
                    </a:solidFill>
                  </a:rPr>
                  <a:t> levels, creating a bottleneck for the remainder of the organization, as many employees depend on the completion of leadership scorecards before finalizing their own evaluations. This challenge applies both to the completion of the FY26 performance cycle and to the timely launch of the FY27 cycle. The current trend also suggests that performance scorecards are increasingly perceived as a tool primarily linked to bonus determination rather than as a continuous performance management and employee development process. Additional efforts will therefore be required to reinforce the true purpose of performance management as a tool for coaching, development, accountability and organizational improvement. </a:t>
                </a:r>
              </a:p>
              <a:p>
                <a:pPr marL="171450" indent="-171450">
                  <a:buFont typeface="Arial" panose="020B0604020202020204" pitchFamily="34" charset="0"/>
                  <a:buChar char="•"/>
                </a:pPr>
                <a:endParaRPr lang="en-US" sz="600" b="1" dirty="0">
                  <a:solidFill>
                    <a:schemeClr val="accent3">
                      <a:lumMod val="50000"/>
                    </a:schemeClr>
                  </a:solidFill>
                </a:endParaRPr>
              </a:p>
              <a:p>
                <a:pPr marL="171450" indent="-171450">
                  <a:buFont typeface="Arial" panose="020B0604020202020204" pitchFamily="34" charset="0"/>
                  <a:buChar char="•"/>
                </a:pPr>
                <a:r>
                  <a:rPr lang="en-US" sz="600" b="1" dirty="0">
                    <a:solidFill>
                      <a:schemeClr val="accent3">
                        <a:lumMod val="50000"/>
                      </a:schemeClr>
                    </a:solidFill>
                  </a:rPr>
                  <a:t>Talent Review:</a:t>
                </a:r>
                <a:r>
                  <a:rPr lang="en-US" sz="600" dirty="0">
                    <a:solidFill>
                      <a:schemeClr val="accent3">
                        <a:lumMod val="50000"/>
                      </a:schemeClr>
                    </a:solidFill>
                  </a:rPr>
                  <a:t> The Talent Review process should now progress to its next phase. Following the identification of talent gaps, the focus should shift towards the preparation and implementation of Individual Development Plans (IDPs) and targeted development actions in order to close identified capability gaps and formally conclude the talent review cycle. </a:t>
                </a:r>
              </a:p>
              <a:p>
                <a:pPr marL="171450" indent="-171450">
                  <a:buFont typeface="Arial" panose="020B0604020202020204" pitchFamily="34" charset="0"/>
                  <a:buChar char="•"/>
                </a:pPr>
                <a:endParaRPr lang="en-US" sz="600" b="1" dirty="0">
                  <a:solidFill>
                    <a:schemeClr val="accent3">
                      <a:lumMod val="50000"/>
                    </a:schemeClr>
                  </a:solidFill>
                </a:endParaRPr>
              </a:p>
              <a:p>
                <a:pPr marL="171450" indent="-171450">
                  <a:buFont typeface="Arial" panose="020B0604020202020204" pitchFamily="34" charset="0"/>
                  <a:buChar char="•"/>
                </a:pPr>
                <a:r>
                  <a:rPr lang="en-US" sz="600" b="1" dirty="0">
                    <a:solidFill>
                      <a:schemeClr val="accent3">
                        <a:lumMod val="50000"/>
                      </a:schemeClr>
                    </a:solidFill>
                  </a:rPr>
                  <a:t>Productivity:</a:t>
                </a:r>
                <a:r>
                  <a:rPr lang="en-US" sz="600" dirty="0">
                    <a:solidFill>
                      <a:schemeClr val="accent3">
                        <a:lumMod val="50000"/>
                      </a:schemeClr>
                    </a:solidFill>
                  </a:rPr>
                  <a:t> Productivity indicators remain under pressure, mainly due to continued challenges related to sales volumes and revenue generation. At the end of the quarter, productivity reached only </a:t>
                </a:r>
                <a:r>
                  <a:rPr lang="en-US" sz="600" b="1" dirty="0">
                    <a:solidFill>
                      <a:schemeClr val="accent3">
                        <a:lumMod val="50000"/>
                      </a:schemeClr>
                    </a:solidFill>
                  </a:rPr>
                  <a:t>83% of budget for Revenue per Employee</a:t>
                </a:r>
                <a:r>
                  <a:rPr lang="en-US" sz="600" dirty="0">
                    <a:solidFill>
                      <a:schemeClr val="accent3">
                        <a:lumMod val="50000"/>
                      </a:schemeClr>
                    </a:solidFill>
                  </a:rPr>
                  <a:t> and </a:t>
                </a:r>
                <a:r>
                  <a:rPr lang="en-US" sz="600" b="1" dirty="0">
                    <a:solidFill>
                      <a:schemeClr val="accent3">
                        <a:lumMod val="50000"/>
                      </a:schemeClr>
                    </a:solidFill>
                  </a:rPr>
                  <a:t>84% for Volume per Employee</a:t>
                </a:r>
                <a:r>
                  <a:rPr lang="en-US" sz="600" dirty="0">
                    <a:solidFill>
                      <a:schemeClr val="accent3">
                        <a:lumMod val="50000"/>
                      </a:schemeClr>
                    </a:solidFill>
                  </a:rPr>
                  <a:t>, highlighting the need for continued commercial recovery and productivity improvement initiatives. </a:t>
                </a:r>
              </a:p>
              <a:p>
                <a:pPr marL="171450" indent="-171450">
                  <a:buFont typeface="Arial" panose="020B0604020202020204" pitchFamily="34" charset="0"/>
                  <a:buChar char="•"/>
                </a:pPr>
                <a:r>
                  <a:rPr lang="en-US" sz="600" b="1" dirty="0">
                    <a:solidFill>
                      <a:schemeClr val="accent3">
                        <a:lumMod val="50000"/>
                      </a:schemeClr>
                    </a:solidFill>
                  </a:rPr>
                  <a:t>Clement Ndusha former (Graduate)</a:t>
                </a:r>
                <a:r>
                  <a:rPr lang="en-US" sz="600" dirty="0">
                    <a:solidFill>
                      <a:schemeClr val="accent3">
                        <a:lumMod val="50000"/>
                      </a:schemeClr>
                    </a:solidFill>
                  </a:rPr>
                  <a:t>, submitted his resignation during July. As the resignation occurred after the reporting period, it is not yet reflected in the current workforce statistics. An exit discussion will be conducted to understand the reasons behind the resignation, identify any underlying issues and implement corrective actions where appropriate. </a:t>
                </a:r>
              </a:p>
              <a:p>
                <a:pPr marL="171450" indent="-171450">
                  <a:buFont typeface="Arial" panose="020B0604020202020204" pitchFamily="34" charset="0"/>
                  <a:buChar char="•"/>
                </a:pPr>
                <a:endParaRPr lang="en-US" sz="600" b="1" dirty="0">
                  <a:solidFill>
                    <a:schemeClr val="accent3">
                      <a:lumMod val="50000"/>
                    </a:schemeClr>
                  </a:solidFill>
                </a:endParaRPr>
              </a:p>
              <a:p>
                <a:pPr marL="171450" indent="-171450">
                  <a:buFont typeface="Arial" panose="020B0604020202020204" pitchFamily="34" charset="0"/>
                  <a:buChar char="•"/>
                </a:pPr>
                <a:r>
                  <a:rPr lang="en-US" sz="600" b="1" dirty="0">
                    <a:solidFill>
                      <a:schemeClr val="accent3">
                        <a:lumMod val="50000"/>
                      </a:schemeClr>
                    </a:solidFill>
                  </a:rPr>
                  <a:t>Community Relations:</a:t>
                </a:r>
                <a:r>
                  <a:rPr lang="en-US" sz="600" dirty="0">
                    <a:solidFill>
                      <a:schemeClr val="accent3">
                        <a:lumMod val="50000"/>
                      </a:schemeClr>
                    </a:solidFill>
                  </a:rPr>
                  <a:t> Community stakeholder management continues to require close attention. Within the </a:t>
                </a:r>
                <a:r>
                  <a:rPr lang="en-US" sz="600" b="1" dirty="0">
                    <a:solidFill>
                      <a:schemeClr val="accent3">
                        <a:lumMod val="50000"/>
                      </a:schemeClr>
                    </a:solidFill>
                  </a:rPr>
                  <a:t>Nanga/Zamba Community Liaison Committee (CLA)</a:t>
                </a:r>
                <a:r>
                  <a:rPr lang="en-US" sz="600" dirty="0">
                    <a:solidFill>
                      <a:schemeClr val="accent3">
                        <a:lumMod val="50000"/>
                      </a:schemeClr>
                    </a:solidFill>
                  </a:rPr>
                  <a:t>, internal disagreements regarding the legitimacy of the former representative resulted in the establishment of a new governance structure. The community is now represented by a committee chaired by </a:t>
                </a:r>
                <a:r>
                  <a:rPr lang="en-US" sz="600" b="1" dirty="0">
                    <a:solidFill>
                      <a:schemeClr val="accent3">
                        <a:lumMod val="50000"/>
                      </a:schemeClr>
                    </a:solidFill>
                  </a:rPr>
                  <a:t>Mr. Aimé Luzayadio</a:t>
                </a:r>
                <a:r>
                  <a:rPr lang="en-US" sz="600" dirty="0">
                    <a:solidFill>
                      <a:schemeClr val="accent3">
                        <a:lumMod val="50000"/>
                      </a:schemeClr>
                    </a:solidFill>
                  </a:rPr>
                  <a:t>, CEO of Gringo. An introductory meeting between the new committee and the Managing Director is expected shortly to establish a constructive working relationship. </a:t>
                </a:r>
              </a:p>
              <a:p>
                <a:pPr marL="171450" indent="-171450">
                  <a:buFont typeface="Arial" panose="020B0604020202020204" pitchFamily="34" charset="0"/>
                  <a:buChar char="•"/>
                </a:pPr>
                <a:r>
                  <a:rPr lang="en-US" sz="600" b="1" dirty="0" err="1">
                    <a:solidFill>
                      <a:schemeClr val="accent3">
                        <a:lumMod val="50000"/>
                      </a:schemeClr>
                    </a:solidFill>
                  </a:rPr>
                  <a:t>Kuzi</a:t>
                </a:r>
                <a:r>
                  <a:rPr lang="en-US" sz="600" b="1" dirty="0">
                    <a:solidFill>
                      <a:schemeClr val="accent3">
                        <a:lumMod val="50000"/>
                      </a:schemeClr>
                    </a:solidFill>
                  </a:rPr>
                  <a:t> Clan Claims:</a:t>
                </a:r>
                <a:r>
                  <a:rPr lang="en-US" sz="600" dirty="0">
                    <a:solidFill>
                      <a:schemeClr val="accent3">
                        <a:lumMod val="50000"/>
                      </a:schemeClr>
                    </a:solidFill>
                  </a:rPr>
                  <a:t> A second community matter has emerged involving the </a:t>
                </a:r>
                <a:r>
                  <a:rPr lang="en-US" sz="600" b="1" dirty="0" err="1">
                    <a:solidFill>
                      <a:schemeClr val="accent3">
                        <a:lumMod val="50000"/>
                      </a:schemeClr>
                    </a:solidFill>
                  </a:rPr>
                  <a:t>Kuzi</a:t>
                </a:r>
                <a:r>
                  <a:rPr lang="en-US" sz="600" b="1" dirty="0">
                    <a:solidFill>
                      <a:schemeClr val="accent3">
                        <a:lumMod val="50000"/>
                      </a:schemeClr>
                    </a:solidFill>
                  </a:rPr>
                  <a:t> Clan</a:t>
                </a:r>
                <a:r>
                  <a:rPr lang="en-US" sz="600" dirty="0">
                    <a:solidFill>
                      <a:schemeClr val="accent3">
                        <a:lumMod val="50000"/>
                      </a:schemeClr>
                    </a:solidFill>
                  </a:rPr>
                  <a:t> near Malanga Gare. The clan claims that its land has been impacted by PPC's operations and is requesting formal recognition and inclusion within the Company's </a:t>
                </a:r>
                <a:r>
                  <a:rPr lang="en-US" sz="600" b="1" dirty="0">
                    <a:solidFill>
                      <a:schemeClr val="accent3">
                        <a:lumMod val="50000"/>
                      </a:schemeClr>
                    </a:solidFill>
                  </a:rPr>
                  <a:t>Cahier des Charges</a:t>
                </a:r>
                <a:r>
                  <a:rPr lang="en-US" sz="600" dirty="0">
                    <a:solidFill>
                      <a:schemeClr val="accent3">
                        <a:lumMod val="50000"/>
                      </a:schemeClr>
                    </a:solidFill>
                  </a:rPr>
                  <a:t>. This issue has also affected the implementation of certain community development initiatives, particularly the agricultural project. A structured stakeholder engagement process will therefore be established to clarify the claims and seek a sustainable resolution.</a:t>
                </a:r>
              </a:p>
              <a:p>
                <a:pPr marL="171450" indent="-171450">
                  <a:buFont typeface="Arial" panose="020B0604020202020204" pitchFamily="34" charset="0"/>
                  <a:buChar char="•"/>
                </a:pPr>
                <a:r>
                  <a:rPr lang="en-US" sz="600" b="1" dirty="0" err="1">
                    <a:solidFill>
                      <a:schemeClr val="accent3">
                        <a:lumMod val="50000"/>
                      </a:schemeClr>
                    </a:solidFill>
                  </a:rPr>
                  <a:t>Lubudi</a:t>
                </a:r>
                <a:r>
                  <a:rPr lang="en-US" sz="600" b="1" dirty="0">
                    <a:solidFill>
                      <a:schemeClr val="accent3">
                        <a:lumMod val="50000"/>
                      </a:schemeClr>
                    </a:solidFill>
                  </a:rPr>
                  <a:t> Community Relations:</a:t>
                </a:r>
                <a:r>
                  <a:rPr lang="en-US" sz="600" dirty="0">
                    <a:solidFill>
                      <a:schemeClr val="accent3">
                        <a:lumMod val="50000"/>
                      </a:schemeClr>
                    </a:solidFill>
                  </a:rPr>
                  <a:t> A similar stakeholder issue has also arisen in </a:t>
                </a:r>
                <a:r>
                  <a:rPr lang="en-US" sz="600" b="1" dirty="0" err="1">
                    <a:solidFill>
                      <a:schemeClr val="accent3">
                        <a:lumMod val="50000"/>
                      </a:schemeClr>
                    </a:solidFill>
                  </a:rPr>
                  <a:t>Lubudi</a:t>
                </a:r>
                <a:r>
                  <a:rPr lang="en-US" sz="600" dirty="0">
                    <a:solidFill>
                      <a:schemeClr val="accent3">
                        <a:lumMod val="50000"/>
                      </a:schemeClr>
                    </a:solidFill>
                  </a:rPr>
                  <a:t>, where the customary chief of </a:t>
                </a:r>
                <a:r>
                  <a:rPr lang="en-US" sz="600" b="1" dirty="0">
                    <a:solidFill>
                      <a:schemeClr val="accent3">
                        <a:lumMod val="50000"/>
                      </a:schemeClr>
                    </a:solidFill>
                  </a:rPr>
                  <a:t>Mulumbu</a:t>
                </a:r>
                <a:r>
                  <a:rPr lang="en-US" sz="600" dirty="0">
                    <a:solidFill>
                      <a:schemeClr val="accent3">
                        <a:lumMod val="50000"/>
                      </a:schemeClr>
                    </a:solidFill>
                  </a:rPr>
                  <a:t> has formally addressed a letter to PPC requesting preferential consideration for his community. This matter will require careful engagement to preserve positive community relations while ensuring consistency and fairness in the Company's community development approach. </a:t>
                </a:r>
              </a:p>
              <a:p>
                <a:pPr marR="0" lvl="0" defTabSz="914400" eaLnBrk="1" fontAlgn="auto" latinLnBrk="0" hangingPunct="1">
                  <a:lnSpc>
                    <a:spcPct val="100000"/>
                  </a:lnSpc>
                  <a:spcBef>
                    <a:spcPts val="0"/>
                  </a:spcBef>
                  <a:spcAft>
                    <a:spcPts val="0"/>
                  </a:spcAft>
                  <a:buClr>
                    <a:srgbClr val="000000"/>
                  </a:buClr>
                  <a:buSzTx/>
                  <a:tabLst/>
                  <a:defRPr/>
                </a:pPr>
                <a:endParaRPr lang="en-US" sz="600" b="1" kern="0" dirty="0">
                  <a:solidFill>
                    <a:schemeClr val="accent3">
                      <a:lumMod val="50000"/>
                    </a:schemeClr>
                  </a:solidFill>
                  <a:latin typeface="FS Albert Light"/>
                </a:endParaRPr>
              </a:p>
            </p:txBody>
          </p:sp>
        </p:grpSp>
        <p:sp>
          <p:nvSpPr>
            <p:cNvPr id="12" name="Google Shape;221;p18">
              <a:extLst>
                <a:ext uri="{FF2B5EF4-FFF2-40B4-BE49-F238E27FC236}">
                  <a16:creationId xmlns:a16="http://schemas.microsoft.com/office/drawing/2014/main" id="{47D6E433-715A-2B63-7051-9470819D0EB9}"/>
                </a:ext>
              </a:extLst>
            </p:cNvPr>
            <p:cNvSpPr/>
            <p:nvPr/>
          </p:nvSpPr>
          <p:spPr>
            <a:xfrm>
              <a:off x="6102397" y="1238326"/>
              <a:ext cx="2652296" cy="217144"/>
            </a:xfrm>
            <a:prstGeom prst="rect">
              <a:avLst/>
            </a:prstGeom>
            <a:solidFill>
              <a:srgbClr val="FFC000"/>
            </a:solidFill>
            <a:ln/>
          </p:spPr>
          <p:style>
            <a:lnRef idx="0">
              <a:schemeClr val="accent6"/>
            </a:lnRef>
            <a:fillRef idx="3">
              <a:schemeClr val="accent6"/>
            </a:fillRef>
            <a:effectRef idx="3">
              <a:schemeClr val="accent6"/>
            </a:effectRef>
            <a:fontRef idx="minor">
              <a:schemeClr val="lt1"/>
            </a:fontRef>
          </p:style>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chemeClr val="bg1"/>
                  </a:solidFill>
                  <a:effectLst/>
                  <a:uLnTx/>
                  <a:uFillTx/>
                  <a:latin typeface="Arial"/>
                  <a:cs typeface="Arial"/>
                  <a:sym typeface="Arial"/>
                </a:rPr>
                <a:t>FOCUS</a:t>
              </a:r>
              <a:endParaRPr kumimoji="0" sz="1400" b="1" i="0" u="none" strike="noStrike" kern="0" cap="none" spc="0" normalizeH="0" baseline="0" noProof="0" dirty="0">
                <a:ln>
                  <a:noFill/>
                </a:ln>
                <a:solidFill>
                  <a:schemeClr val="bg1"/>
                </a:solidFill>
                <a:effectLst/>
                <a:uLnTx/>
                <a:uFillTx/>
                <a:latin typeface="Arial"/>
                <a:cs typeface="Arial"/>
                <a:sym typeface="Arial"/>
              </a:endParaRPr>
            </a:p>
          </p:txBody>
        </p:sp>
        <p:sp>
          <p:nvSpPr>
            <p:cNvPr id="9" name="Google Shape;226;p18">
              <a:extLst>
                <a:ext uri="{FF2B5EF4-FFF2-40B4-BE49-F238E27FC236}">
                  <a16:creationId xmlns:a16="http://schemas.microsoft.com/office/drawing/2014/main" id="{744B7F77-65D1-D517-ABBB-4642B732FC91}"/>
                </a:ext>
              </a:extLst>
            </p:cNvPr>
            <p:cNvSpPr txBox="1"/>
            <p:nvPr/>
          </p:nvSpPr>
          <p:spPr>
            <a:xfrm>
              <a:off x="486868" y="1238325"/>
              <a:ext cx="2581800" cy="217144"/>
            </a:xfrm>
            <a:prstGeom prst="rect">
              <a:avLst/>
            </a:prstGeom>
            <a:solidFill>
              <a:srgbClr val="92D050"/>
            </a:solidFill>
            <a:ln/>
          </p:spPr>
          <p:style>
            <a:lnRef idx="0">
              <a:schemeClr val="accent5"/>
            </a:lnRef>
            <a:fillRef idx="3">
              <a:schemeClr val="accent5"/>
            </a:fillRef>
            <a:effectRef idx="3">
              <a:schemeClr val="accent5"/>
            </a:effectRef>
            <a:fontRef idx="minor">
              <a:schemeClr val="lt1"/>
            </a:fontRef>
          </p:style>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rPr>
                <a:t>HIGHLIGHT</a:t>
              </a:r>
              <a:endParaRPr kumimoji="0" sz="1600" b="1" i="0" u="none" strike="noStrike" kern="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endParaRPr>
            </a:p>
          </p:txBody>
        </p:sp>
      </p:grpSp>
      <p:sp>
        <p:nvSpPr>
          <p:cNvPr id="2" name="Google Shape;222;p18">
            <a:extLst>
              <a:ext uri="{FF2B5EF4-FFF2-40B4-BE49-F238E27FC236}">
                <a16:creationId xmlns:a16="http://schemas.microsoft.com/office/drawing/2014/main" id="{BF57E35C-8386-5C06-DC0B-4AE5B4D3FDFA}"/>
              </a:ext>
            </a:extLst>
          </p:cNvPr>
          <p:cNvSpPr/>
          <p:nvPr/>
        </p:nvSpPr>
        <p:spPr>
          <a:xfrm>
            <a:off x="8388225" y="1362975"/>
            <a:ext cx="3721615" cy="5019352"/>
          </a:xfrm>
          <a:prstGeom prst="rect">
            <a:avLst/>
          </a:prstGeom>
          <a:solidFill>
            <a:srgbClr val="FFFFCC"/>
          </a:solidFill>
          <a:ln/>
        </p:spPr>
        <p:style>
          <a:lnRef idx="0">
            <a:schemeClr val="accent6"/>
          </a:lnRef>
          <a:fillRef idx="3">
            <a:schemeClr val="accent6"/>
          </a:fillRef>
          <a:effectRef idx="3">
            <a:schemeClr val="accent6"/>
          </a:effectRef>
          <a:fontRef idx="minor">
            <a:schemeClr val="lt1"/>
          </a:fontRef>
        </p:style>
        <p:txBody>
          <a:bodyPr spcFirstLastPara="1" wrap="square" lIns="91425" tIns="91425" rIns="91425" bIns="91425" anchor="t" anchorCtr="0">
            <a:noAutofit/>
          </a:bodyPr>
          <a:lstStyle/>
          <a:p>
            <a:pPr marL="171450" indent="-171450">
              <a:buFont typeface="Arial" panose="020B0604020202020204" pitchFamily="34" charset="0"/>
              <a:buChar char="•"/>
            </a:pPr>
            <a:r>
              <a:rPr lang="en-US" sz="600" b="1" dirty="0">
                <a:solidFill>
                  <a:schemeClr val="tx1"/>
                </a:solidFill>
              </a:rPr>
              <a:t>Performance Management:</a:t>
            </a:r>
            <a:r>
              <a:rPr lang="en-US" sz="600" dirty="0">
                <a:solidFill>
                  <a:schemeClr val="tx1"/>
                </a:solidFill>
              </a:rPr>
              <a:t> The FY26 performance review cycle is nearing completion. The next step will be to conduct a detailed analysis of the overall rating distribution, followed by a calibration exercise where necessary. Preliminary observations indicate that a significant number of employees have received very high performance ratings, with several scores ranging between </a:t>
            </a:r>
            <a:r>
              <a:rPr lang="en-US" sz="600" b="1" dirty="0">
                <a:solidFill>
                  <a:schemeClr val="tx1"/>
                </a:solidFill>
              </a:rPr>
              <a:t>90% and 100%</a:t>
            </a:r>
            <a:r>
              <a:rPr lang="en-US" sz="600" dirty="0">
                <a:solidFill>
                  <a:schemeClr val="tx1"/>
                </a:solidFill>
              </a:rPr>
              <a:t>. Considering the Company's overall business performance during the year, these results appear relatively generous. A calibration session is therefore recommended to ensure consistency, fairness and alignment in performance ratings across departments before final scores are confirmed. </a:t>
            </a:r>
          </a:p>
          <a:p>
            <a:pPr marL="171450" indent="-171450">
              <a:buFont typeface="Arial" panose="020B0604020202020204" pitchFamily="34" charset="0"/>
              <a:buChar char="•"/>
            </a:pPr>
            <a:endParaRPr lang="en-US" sz="600" b="1" dirty="0">
              <a:solidFill>
                <a:schemeClr val="tx1"/>
              </a:solidFill>
            </a:endParaRPr>
          </a:p>
          <a:p>
            <a:pPr marL="171450" indent="-171450">
              <a:buFont typeface="Arial" panose="020B0604020202020204" pitchFamily="34" charset="0"/>
              <a:buChar char="•"/>
            </a:pPr>
            <a:r>
              <a:rPr lang="en-US" sz="600" b="1" dirty="0">
                <a:solidFill>
                  <a:schemeClr val="tx1"/>
                </a:solidFill>
              </a:rPr>
              <a:t>MD Services Replacement:</a:t>
            </a:r>
            <a:r>
              <a:rPr lang="en-US" sz="600" dirty="0">
                <a:solidFill>
                  <a:schemeClr val="tx1"/>
                </a:solidFill>
              </a:rPr>
              <a:t> The procurement process for the replacement of </a:t>
            </a:r>
            <a:r>
              <a:rPr lang="en-US" sz="600" b="1" dirty="0">
                <a:solidFill>
                  <a:schemeClr val="tx1"/>
                </a:solidFill>
              </a:rPr>
              <a:t>MD Services</a:t>
            </a:r>
            <a:r>
              <a:rPr lang="en-US" sz="600" dirty="0">
                <a:solidFill>
                  <a:schemeClr val="tx1"/>
                </a:solidFill>
              </a:rPr>
              <a:t> remains ongoing and is expected to be concluded before the end of the month. Particular attention will be given to the transition phase, including a structured handover between the outgoing service provider and the successful bidder, in order to ensure business continuity and avoid any disruption to operations. </a:t>
            </a:r>
          </a:p>
          <a:p>
            <a:pPr marL="171450" indent="-171450">
              <a:buFont typeface="Arial" panose="020B0604020202020204" pitchFamily="34" charset="0"/>
              <a:buChar char="•"/>
            </a:pPr>
            <a:endParaRPr lang="en-US" sz="600" b="1" dirty="0">
              <a:solidFill>
                <a:schemeClr val="tx1"/>
              </a:solidFill>
            </a:endParaRPr>
          </a:p>
          <a:p>
            <a:pPr marL="171450" indent="-171450">
              <a:buFont typeface="Arial" panose="020B0604020202020204" pitchFamily="34" charset="0"/>
              <a:buChar char="•"/>
            </a:pPr>
            <a:r>
              <a:rPr lang="en-US" sz="600" b="1" dirty="0">
                <a:solidFill>
                  <a:schemeClr val="tx1"/>
                </a:solidFill>
              </a:rPr>
              <a:t>Competency Matrix and Succession Planning:</a:t>
            </a:r>
            <a:r>
              <a:rPr lang="en-US" sz="600" dirty="0">
                <a:solidFill>
                  <a:schemeClr val="tx1"/>
                </a:solidFill>
              </a:rPr>
              <a:t> Development of the Competency Matrix and Succession Planning toolkits continues to progress. Awareness sessions have already commenced, and the completion of competency assessments will enable the preparation of Individual Development Plans (IDPs) and the implementation of targeted development initiatives for both current employees and identified successors.</a:t>
            </a:r>
          </a:p>
          <a:p>
            <a:r>
              <a:rPr lang="en-US" sz="600" dirty="0">
                <a:solidFill>
                  <a:schemeClr val="tx1"/>
                </a:solidFill>
              </a:rPr>
              <a:t> </a:t>
            </a:r>
          </a:p>
          <a:p>
            <a:pPr marL="171450" indent="-171450">
              <a:buFont typeface="Arial" panose="020B0604020202020204" pitchFamily="34" charset="0"/>
              <a:buChar char="•"/>
            </a:pPr>
            <a:r>
              <a:rPr lang="en-US" sz="600" b="1" dirty="0">
                <a:solidFill>
                  <a:schemeClr val="tx1"/>
                </a:solidFill>
              </a:rPr>
              <a:t>Remote Working Policy:</a:t>
            </a:r>
            <a:r>
              <a:rPr lang="en-US" sz="600" dirty="0">
                <a:solidFill>
                  <a:schemeClr val="tx1"/>
                </a:solidFill>
              </a:rPr>
              <a:t> The Remote Working Policy has been developed and is currently awaiting management review and formal approval before implementation. </a:t>
            </a:r>
          </a:p>
          <a:p>
            <a:pPr marL="171450" indent="-171450">
              <a:buFont typeface="Arial" panose="020B0604020202020204" pitchFamily="34" charset="0"/>
              <a:buChar char="•"/>
            </a:pPr>
            <a:endParaRPr lang="en-US" sz="600" b="1" dirty="0">
              <a:solidFill>
                <a:schemeClr val="tx1"/>
              </a:solidFill>
            </a:endParaRPr>
          </a:p>
          <a:p>
            <a:pPr marL="171450" indent="-171450">
              <a:buFont typeface="Arial" panose="020B0604020202020204" pitchFamily="34" charset="0"/>
              <a:buChar char="•"/>
            </a:pPr>
            <a:r>
              <a:rPr lang="en-US" sz="600" b="1" dirty="0">
                <a:solidFill>
                  <a:schemeClr val="tx1"/>
                </a:solidFill>
              </a:rPr>
              <a:t>Family Day:</a:t>
            </a:r>
            <a:r>
              <a:rPr lang="en-US" sz="600" dirty="0">
                <a:solidFill>
                  <a:schemeClr val="tx1"/>
                </a:solidFill>
              </a:rPr>
              <a:t> The annual Family Day events have now been confirmed and are scheduled to take place on </a:t>
            </a:r>
            <a:r>
              <a:rPr lang="en-US" sz="600" b="1" dirty="0">
                <a:solidFill>
                  <a:schemeClr val="tx1"/>
                </a:solidFill>
              </a:rPr>
              <a:t>27 August</a:t>
            </a:r>
            <a:r>
              <a:rPr lang="en-US" sz="600" dirty="0">
                <a:solidFill>
                  <a:schemeClr val="tx1"/>
                </a:solidFill>
              </a:rPr>
              <a:t> at the Plant (Zamba) and on </a:t>
            </a:r>
            <a:r>
              <a:rPr lang="en-US" sz="600" b="1" dirty="0">
                <a:solidFill>
                  <a:schemeClr val="tx1"/>
                </a:solidFill>
              </a:rPr>
              <a:t>5 September</a:t>
            </a:r>
            <a:r>
              <a:rPr lang="en-US" sz="600" dirty="0">
                <a:solidFill>
                  <a:schemeClr val="tx1"/>
                </a:solidFill>
              </a:rPr>
              <a:t> at Head Office (Kinshasa). These events remain an important employee engagement initiative aimed at strengthening organizational culture and reinforcing employee and family involvement. </a:t>
            </a:r>
          </a:p>
          <a:p>
            <a:pPr marL="171450" indent="-171450">
              <a:buFont typeface="Arial" panose="020B0604020202020204" pitchFamily="34" charset="0"/>
              <a:buChar char="•"/>
            </a:pPr>
            <a:endParaRPr lang="en-US" sz="600" b="1" dirty="0">
              <a:solidFill>
                <a:schemeClr val="tx1"/>
              </a:solidFill>
            </a:endParaRPr>
          </a:p>
          <a:p>
            <a:pPr marL="171450" indent="-171450">
              <a:buFont typeface="Arial" panose="020B0604020202020204" pitchFamily="34" charset="0"/>
              <a:buChar char="•"/>
            </a:pPr>
            <a:r>
              <a:rPr lang="en-US" sz="600" b="1" dirty="0">
                <a:solidFill>
                  <a:schemeClr val="tx1"/>
                </a:solidFill>
              </a:rPr>
              <a:t>Early Retirement Request – Charles Pongo-Pongo:</a:t>
            </a:r>
            <a:r>
              <a:rPr lang="en-US" sz="600" dirty="0">
                <a:solidFill>
                  <a:schemeClr val="tx1"/>
                </a:solidFill>
              </a:rPr>
              <a:t> Mr. </a:t>
            </a:r>
            <a:r>
              <a:rPr lang="en-US" sz="600" b="1" dirty="0">
                <a:solidFill>
                  <a:schemeClr val="tx1"/>
                </a:solidFill>
              </a:rPr>
              <a:t>Charles Pongo-Pongo</a:t>
            </a:r>
            <a:r>
              <a:rPr lang="en-US" sz="600" dirty="0">
                <a:solidFill>
                  <a:schemeClr val="tx1"/>
                </a:solidFill>
              </a:rPr>
              <a:t>, Quality Assurance Manager, has submitted a request for early retirement. The request is currently under review and will require Management's decision. It should be noted that Mr. Pongo-Pongo is presently subject to a </a:t>
            </a:r>
            <a:r>
              <a:rPr lang="en-US" sz="600" b="1" dirty="0">
                <a:solidFill>
                  <a:schemeClr val="tx1"/>
                </a:solidFill>
              </a:rPr>
              <a:t>Performance Improvement Plan (PIP)</a:t>
            </a:r>
            <a:r>
              <a:rPr lang="en-US" sz="600" dirty="0">
                <a:solidFill>
                  <a:schemeClr val="tx1"/>
                </a:solidFill>
              </a:rPr>
              <a:t> following performance concerns relating to laboratory management and quality performance. The outcome of the PIP should therefore be carefully considered alongside the retirement request before a final decision is made.</a:t>
            </a:r>
          </a:p>
          <a:p>
            <a:pPr marL="171450" indent="-171450">
              <a:buFont typeface="Arial" panose="020B0604020202020204" pitchFamily="34" charset="0"/>
              <a:buChar char="•"/>
            </a:pPr>
            <a:endParaRPr lang="en-US" sz="600" dirty="0">
              <a:solidFill>
                <a:schemeClr val="tx1"/>
              </a:solidFill>
            </a:endParaRPr>
          </a:p>
          <a:p>
            <a:r>
              <a:rPr lang="en-US" sz="600" b="1" dirty="0">
                <a:solidFill>
                  <a:schemeClr val="tx1"/>
                </a:solidFill>
              </a:rPr>
              <a:t>Items Requiring </a:t>
            </a:r>
            <a:r>
              <a:rPr lang="en-US" sz="600" b="1" dirty="0" err="1">
                <a:solidFill>
                  <a:schemeClr val="tx1"/>
                </a:solidFill>
              </a:rPr>
              <a:t>ExCo</a:t>
            </a:r>
            <a:r>
              <a:rPr lang="en-US" sz="600" b="1" dirty="0">
                <a:solidFill>
                  <a:schemeClr val="tx1"/>
                </a:solidFill>
              </a:rPr>
              <a:t> Approval</a:t>
            </a:r>
          </a:p>
          <a:p>
            <a:pPr marL="171450" indent="-171450">
              <a:buFont typeface="Arial" panose="020B0604020202020204" pitchFamily="34" charset="0"/>
              <a:buChar char="•"/>
            </a:pPr>
            <a:endParaRPr lang="en-US" sz="600" b="1" dirty="0">
              <a:solidFill>
                <a:schemeClr val="tx1"/>
              </a:solidFill>
            </a:endParaRPr>
          </a:p>
          <a:p>
            <a:pPr marL="171450" indent="-171450">
              <a:buFont typeface="Arial" panose="020B0604020202020204" pitchFamily="34" charset="0"/>
              <a:buChar char="•"/>
            </a:pPr>
            <a:r>
              <a:rPr lang="en-US" sz="600" dirty="0">
                <a:solidFill>
                  <a:schemeClr val="tx1"/>
                </a:solidFill>
              </a:rPr>
              <a:t>Auction of Company Vehicles: Approval is requested to proceed with the disposal through public auction of four company vehicles comprising two Toyota Hilux, one Toyota Coaster bus, and one Toyota Land Cruiser, in accordance with the Company's asset disposal procedures.</a:t>
            </a:r>
          </a:p>
          <a:p>
            <a:pPr marL="171450" indent="-171450">
              <a:buFont typeface="Arial" panose="020B0604020202020204" pitchFamily="34" charset="0"/>
              <a:buChar char="•"/>
            </a:pPr>
            <a:endParaRPr lang="en-US" sz="600" dirty="0">
              <a:solidFill>
                <a:schemeClr val="tx1"/>
              </a:solidFill>
            </a:endParaRPr>
          </a:p>
          <a:p>
            <a:pPr marL="171450" indent="-171450">
              <a:buFont typeface="Arial" panose="020B0604020202020204" pitchFamily="34" charset="0"/>
              <a:buChar char="•"/>
            </a:pPr>
            <a:r>
              <a:rPr lang="en-US" sz="600" b="1" dirty="0">
                <a:solidFill>
                  <a:schemeClr val="tx1"/>
                </a:solidFill>
              </a:rPr>
              <a:t>Medical Cases Requiring Management Decision</a:t>
            </a:r>
            <a:r>
              <a:rPr lang="en-US" sz="600" dirty="0">
                <a:solidFill>
                  <a:schemeClr val="tx1"/>
                </a:solidFill>
              </a:rPr>
              <a:t>: Management approval is requested regarding the employment status of the following employees whose medical conditions may affect their ability to continue performing their current duties:</a:t>
            </a:r>
          </a:p>
          <a:p>
            <a:pPr marL="228600" indent="-228600">
              <a:buAutoNum type="arabicPeriod"/>
            </a:pPr>
            <a:r>
              <a:rPr lang="en-US" sz="600" dirty="0">
                <a:solidFill>
                  <a:schemeClr val="tx1"/>
                </a:solidFill>
              </a:rPr>
              <a:t>Yannick Kalambayi – Instrumentation Technician;</a:t>
            </a:r>
          </a:p>
          <a:p>
            <a:pPr marL="228600" indent="-228600">
              <a:buAutoNum type="arabicPeriod"/>
            </a:pPr>
            <a:r>
              <a:rPr lang="en-US" sz="600" dirty="0">
                <a:solidFill>
                  <a:schemeClr val="tx1"/>
                </a:solidFill>
              </a:rPr>
              <a:t>Toubi Nzazi – Drilling Operator;</a:t>
            </a:r>
          </a:p>
          <a:p>
            <a:pPr marL="228600" indent="-228600">
              <a:buAutoNum type="arabicPeriod"/>
            </a:pPr>
            <a:r>
              <a:rPr lang="en-US" sz="600" dirty="0">
                <a:solidFill>
                  <a:schemeClr val="tx1"/>
                </a:solidFill>
              </a:rPr>
              <a:t>A third employee from Lab currently experiencing severe mental health challenges. Given the nature of the condition and the fact that the employment contract is due to expire in August, the current recommendation is to allow the contract to run to its natural expiry while continuing to provide appropriate support and monitoring.</a:t>
            </a:r>
          </a:p>
        </p:txBody>
      </p:sp>
      <p:sp>
        <p:nvSpPr>
          <p:cNvPr id="3" name="Title 2">
            <a:extLst>
              <a:ext uri="{FF2B5EF4-FFF2-40B4-BE49-F238E27FC236}">
                <a16:creationId xmlns:a16="http://schemas.microsoft.com/office/drawing/2014/main" id="{039DCC5C-344F-95FA-DFB5-7903AAE9E12B}"/>
              </a:ext>
            </a:extLst>
          </p:cNvPr>
          <p:cNvSpPr>
            <a:spLocks noGrp="1"/>
          </p:cNvSpPr>
          <p:nvPr>
            <p:ph type="title"/>
          </p:nvPr>
        </p:nvSpPr>
        <p:spPr>
          <a:xfrm>
            <a:off x="2785519" y="72331"/>
            <a:ext cx="6022051" cy="438764"/>
          </a:xfrm>
          <a:solidFill>
            <a:schemeClr val="accent3">
              <a:lumMod val="50000"/>
            </a:schemeClr>
          </a:solidFill>
        </p:spPr>
        <p:style>
          <a:lnRef idx="0">
            <a:schemeClr val="accent6"/>
          </a:lnRef>
          <a:fillRef idx="3">
            <a:schemeClr val="accent6"/>
          </a:fillRef>
          <a:effectRef idx="3">
            <a:schemeClr val="accent6"/>
          </a:effectRef>
          <a:fontRef idx="minor">
            <a:schemeClr val="lt1"/>
          </a:fontRef>
        </p:style>
        <p:txBody>
          <a:bodyPr/>
          <a:lstStyle/>
          <a:p>
            <a:r>
              <a:rPr lang="en-US" dirty="0">
                <a:solidFill>
                  <a:schemeClr val="bg1"/>
                </a:solidFill>
              </a:rPr>
              <a:t>HIGHLIGHT – LOWLIGHT - FOCUS</a:t>
            </a:r>
          </a:p>
        </p:txBody>
      </p:sp>
      <p:sp>
        <p:nvSpPr>
          <p:cNvPr id="18" name="TextBox 17">
            <a:extLst>
              <a:ext uri="{FF2B5EF4-FFF2-40B4-BE49-F238E27FC236}">
                <a16:creationId xmlns:a16="http://schemas.microsoft.com/office/drawing/2014/main" id="{42D904C2-A1AF-F298-708D-ADB6E625529B}"/>
              </a:ext>
            </a:extLst>
          </p:cNvPr>
          <p:cNvSpPr txBox="1"/>
          <p:nvPr/>
        </p:nvSpPr>
        <p:spPr>
          <a:xfrm>
            <a:off x="588583" y="2792129"/>
            <a:ext cx="3462933" cy="2292935"/>
          </a:xfrm>
          <a:prstGeom prst="rect">
            <a:avLst/>
          </a:prstGeom>
          <a:noFill/>
        </p:spPr>
        <p:txBody>
          <a:bodyPr wrap="square" anchor="ctr">
            <a:spAutoFit/>
          </a:bodyPr>
          <a:lstStyle/>
          <a:p>
            <a:pPr marL="171450" indent="-171450" algn="just">
              <a:buFont typeface="Arial" panose="020B0604020202020204" pitchFamily="34" charset="0"/>
              <a:buChar char="•"/>
            </a:pPr>
            <a:r>
              <a:rPr lang="en-US" sz="1100" b="1" dirty="0"/>
              <a:t>Staff Cost vs Budget:</a:t>
            </a:r>
            <a:r>
              <a:rPr lang="en-US" sz="1100" dirty="0"/>
              <a:t> Staff cost remained significantly below budget, delivering a </a:t>
            </a:r>
            <a:r>
              <a:rPr lang="en-US" sz="1100" b="1" dirty="0"/>
              <a:t>14% YTD saving</a:t>
            </a:r>
            <a:r>
              <a:rPr lang="en-US" sz="1100" dirty="0"/>
              <a:t>. However, a noticeable increase was recorded between May and June, most likely reflecting salary increases that may not have been fully accrued during the previous months. As these increases are effective from April, the June adjustment is expected to rebalance the monthly payroll provisions. </a:t>
            </a:r>
          </a:p>
          <a:p>
            <a:pPr marL="171450" indent="-171450" algn="just">
              <a:buFont typeface="Arial" panose="020B0604020202020204" pitchFamily="34" charset="0"/>
              <a:buChar char="•"/>
            </a:pPr>
            <a:endParaRPr lang="en-US" sz="1100" b="1" dirty="0"/>
          </a:p>
          <a:p>
            <a:pPr marL="171450" indent="-171450" algn="just">
              <a:buFont typeface="Arial" panose="020B0604020202020204" pitchFamily="34" charset="0"/>
              <a:buChar char="•"/>
            </a:pPr>
            <a:r>
              <a:rPr lang="en-US" sz="1100" b="1" dirty="0"/>
              <a:t>Electrification Project:</a:t>
            </a:r>
            <a:r>
              <a:rPr lang="en-US" sz="1100" dirty="0"/>
              <a:t> Electrification works in Zamba commenced during the quarter and are progressing satisfactorily, with encouraging progress against the implementation plan. </a:t>
            </a:r>
          </a:p>
        </p:txBody>
      </p:sp>
    </p:spTree>
    <p:extLst>
      <p:ext uri="{BB962C8B-B14F-4D97-AF65-F5344CB8AC3E}">
        <p14:creationId xmlns:p14="http://schemas.microsoft.com/office/powerpoint/2010/main" val="2131721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Box 3">
            <a:extLst>
              <a:ext uri="{FF2B5EF4-FFF2-40B4-BE49-F238E27FC236}">
                <a16:creationId xmlns:a16="http://schemas.microsoft.com/office/drawing/2014/main" id="{5C522819-F543-7E71-E645-1EBCFCC8A68D}"/>
              </a:ext>
            </a:extLst>
          </p:cNvPr>
          <p:cNvSpPr txBox="1"/>
          <p:nvPr/>
        </p:nvSpPr>
        <p:spPr>
          <a:xfrm>
            <a:off x="8229752" y="256032"/>
            <a:ext cx="3200400" cy="201168"/>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sz="1000">
                <a:solidFill>
                  <a:srgbClr val="FFFFFF"/>
                </a:solidFill>
              </a:defRPr>
            </a:pPr>
            <a:r>
              <a:t>Jun-26 vs May-26</a:t>
            </a:r>
          </a:p>
        </p:txBody>
      </p:sp>
      <p:sp>
        <p:nvSpPr>
          <p:cNvPr id="214" name="Rounded Rectangle 4">
            <a:extLst>
              <a:ext uri="{FF2B5EF4-FFF2-40B4-BE49-F238E27FC236}">
                <a16:creationId xmlns:a16="http://schemas.microsoft.com/office/drawing/2014/main" id="{7EE6C5F4-A28E-5C83-DFD4-7FB24B83BE5C}"/>
              </a:ext>
            </a:extLst>
          </p:cNvPr>
          <p:cNvSpPr/>
          <p:nvPr/>
        </p:nvSpPr>
        <p:spPr>
          <a:xfrm>
            <a:off x="411632" y="582648"/>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15" name="TextBox 5">
            <a:extLst>
              <a:ext uri="{FF2B5EF4-FFF2-40B4-BE49-F238E27FC236}">
                <a16:creationId xmlns:a16="http://schemas.microsoft.com/office/drawing/2014/main" id="{D13AA854-C55F-6E97-7CBB-C366BC8BADB2}"/>
              </a:ext>
            </a:extLst>
          </p:cNvPr>
          <p:cNvSpPr txBox="1"/>
          <p:nvPr/>
        </p:nvSpPr>
        <p:spPr>
          <a:xfrm>
            <a:off x="521360" y="674088"/>
            <a:ext cx="2340864" cy="201168"/>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t>Headcount</a:t>
            </a:r>
          </a:p>
        </p:txBody>
      </p:sp>
      <p:sp>
        <p:nvSpPr>
          <p:cNvPr id="216" name="TextBox 6">
            <a:extLst>
              <a:ext uri="{FF2B5EF4-FFF2-40B4-BE49-F238E27FC236}">
                <a16:creationId xmlns:a16="http://schemas.microsoft.com/office/drawing/2014/main" id="{8549AE48-05F3-40CF-4EB9-8D9D6E08CAE5}"/>
              </a:ext>
            </a:extLst>
          </p:cNvPr>
          <p:cNvSpPr txBox="1"/>
          <p:nvPr/>
        </p:nvSpPr>
        <p:spPr>
          <a:xfrm>
            <a:off x="521360" y="930120"/>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853</a:t>
            </a:r>
          </a:p>
        </p:txBody>
      </p:sp>
      <p:sp>
        <p:nvSpPr>
          <p:cNvPr id="217" name="TextBox 7">
            <a:extLst>
              <a:ext uri="{FF2B5EF4-FFF2-40B4-BE49-F238E27FC236}">
                <a16:creationId xmlns:a16="http://schemas.microsoft.com/office/drawing/2014/main" id="{D39379CB-4F97-7741-E9A5-EFDE091FAA1D}"/>
              </a:ext>
            </a:extLst>
          </p:cNvPr>
          <p:cNvSpPr txBox="1"/>
          <p:nvPr/>
        </p:nvSpPr>
        <p:spPr>
          <a:xfrm>
            <a:off x="484784" y="1323312"/>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C00000"/>
                </a:solidFill>
              </a:defRPr>
            </a:pPr>
            <a:r>
              <a:t>▼ 3.6% vs prev.</a:t>
            </a:r>
          </a:p>
        </p:txBody>
      </p:sp>
      <p:sp>
        <p:nvSpPr>
          <p:cNvPr id="218" name="Rounded Rectangle 8">
            <a:extLst>
              <a:ext uri="{FF2B5EF4-FFF2-40B4-BE49-F238E27FC236}">
                <a16:creationId xmlns:a16="http://schemas.microsoft.com/office/drawing/2014/main" id="{DA74C3EE-2655-2CA3-923D-6904EC28D059}"/>
              </a:ext>
            </a:extLst>
          </p:cNvPr>
          <p:cNvSpPr/>
          <p:nvPr/>
        </p:nvSpPr>
        <p:spPr>
          <a:xfrm>
            <a:off x="411632" y="1771368"/>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19" name="TextBox 9">
            <a:extLst>
              <a:ext uri="{FF2B5EF4-FFF2-40B4-BE49-F238E27FC236}">
                <a16:creationId xmlns:a16="http://schemas.microsoft.com/office/drawing/2014/main" id="{D1C82DA7-7169-53A9-4FA5-07085A624441}"/>
              </a:ext>
            </a:extLst>
          </p:cNvPr>
          <p:cNvSpPr txBox="1"/>
          <p:nvPr/>
        </p:nvSpPr>
        <p:spPr>
          <a:xfrm>
            <a:off x="521360" y="1862808"/>
            <a:ext cx="2340864" cy="201168"/>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t>Hires</a:t>
            </a:r>
          </a:p>
        </p:txBody>
      </p:sp>
      <p:sp>
        <p:nvSpPr>
          <p:cNvPr id="220" name="TextBox 10">
            <a:extLst>
              <a:ext uri="{FF2B5EF4-FFF2-40B4-BE49-F238E27FC236}">
                <a16:creationId xmlns:a16="http://schemas.microsoft.com/office/drawing/2014/main" id="{693CC115-BE37-D841-05A6-03819E0C8D4B}"/>
              </a:ext>
            </a:extLst>
          </p:cNvPr>
          <p:cNvSpPr txBox="1"/>
          <p:nvPr/>
        </p:nvSpPr>
        <p:spPr>
          <a:xfrm>
            <a:off x="521360" y="2118840"/>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11</a:t>
            </a:r>
          </a:p>
        </p:txBody>
      </p:sp>
      <p:sp>
        <p:nvSpPr>
          <p:cNvPr id="221" name="TextBox 11">
            <a:extLst>
              <a:ext uri="{FF2B5EF4-FFF2-40B4-BE49-F238E27FC236}">
                <a16:creationId xmlns:a16="http://schemas.microsoft.com/office/drawing/2014/main" id="{EC8BD8DB-9B45-71E8-4F5E-F2BC663ABADA}"/>
              </a:ext>
            </a:extLst>
          </p:cNvPr>
          <p:cNvSpPr txBox="1"/>
          <p:nvPr/>
        </p:nvSpPr>
        <p:spPr>
          <a:xfrm>
            <a:off x="484784" y="2512032"/>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22.2% vs prev.</a:t>
            </a:r>
          </a:p>
        </p:txBody>
      </p:sp>
      <p:sp>
        <p:nvSpPr>
          <p:cNvPr id="222" name="Rounded Rectangle 12">
            <a:extLst>
              <a:ext uri="{FF2B5EF4-FFF2-40B4-BE49-F238E27FC236}">
                <a16:creationId xmlns:a16="http://schemas.microsoft.com/office/drawing/2014/main" id="{4D47EE50-95DD-98C0-3035-EEBD0DF32DA0}"/>
              </a:ext>
            </a:extLst>
          </p:cNvPr>
          <p:cNvSpPr/>
          <p:nvPr/>
        </p:nvSpPr>
        <p:spPr>
          <a:xfrm>
            <a:off x="3337712" y="1771368"/>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23" name="TextBox 13">
            <a:extLst>
              <a:ext uri="{FF2B5EF4-FFF2-40B4-BE49-F238E27FC236}">
                <a16:creationId xmlns:a16="http://schemas.microsoft.com/office/drawing/2014/main" id="{33D73DE3-4AD1-403D-5E80-60F59BE7BBA1}"/>
              </a:ext>
            </a:extLst>
          </p:cNvPr>
          <p:cNvSpPr txBox="1"/>
          <p:nvPr/>
        </p:nvSpPr>
        <p:spPr>
          <a:xfrm>
            <a:off x="3447440" y="1862808"/>
            <a:ext cx="2340864" cy="201168"/>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t>Exits</a:t>
            </a:r>
          </a:p>
        </p:txBody>
      </p:sp>
      <p:sp>
        <p:nvSpPr>
          <p:cNvPr id="224" name="TextBox 14">
            <a:extLst>
              <a:ext uri="{FF2B5EF4-FFF2-40B4-BE49-F238E27FC236}">
                <a16:creationId xmlns:a16="http://schemas.microsoft.com/office/drawing/2014/main" id="{1835A3B2-3975-8671-623A-F048BBC1312E}"/>
              </a:ext>
            </a:extLst>
          </p:cNvPr>
          <p:cNvSpPr txBox="1"/>
          <p:nvPr/>
        </p:nvSpPr>
        <p:spPr>
          <a:xfrm>
            <a:off x="3447440" y="2118840"/>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5</a:t>
            </a:r>
          </a:p>
        </p:txBody>
      </p:sp>
      <p:sp>
        <p:nvSpPr>
          <p:cNvPr id="225" name="TextBox 15">
            <a:extLst>
              <a:ext uri="{FF2B5EF4-FFF2-40B4-BE49-F238E27FC236}">
                <a16:creationId xmlns:a16="http://schemas.microsoft.com/office/drawing/2014/main" id="{590A6350-C6E1-7A28-F535-22057D803942}"/>
              </a:ext>
            </a:extLst>
          </p:cNvPr>
          <p:cNvSpPr txBox="1"/>
          <p:nvPr/>
        </p:nvSpPr>
        <p:spPr>
          <a:xfrm>
            <a:off x="3410864" y="2512032"/>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37.5% vs prev.</a:t>
            </a:r>
          </a:p>
        </p:txBody>
      </p:sp>
      <p:sp>
        <p:nvSpPr>
          <p:cNvPr id="226" name="Rounded Rectangle 16">
            <a:extLst>
              <a:ext uri="{FF2B5EF4-FFF2-40B4-BE49-F238E27FC236}">
                <a16:creationId xmlns:a16="http://schemas.microsoft.com/office/drawing/2014/main" id="{F95C77EB-A60E-2C2C-641B-5E347F5DE179}"/>
              </a:ext>
            </a:extLst>
          </p:cNvPr>
          <p:cNvSpPr/>
          <p:nvPr/>
        </p:nvSpPr>
        <p:spPr>
          <a:xfrm>
            <a:off x="6263792" y="1771368"/>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27" name="TextBox 17">
            <a:extLst>
              <a:ext uri="{FF2B5EF4-FFF2-40B4-BE49-F238E27FC236}">
                <a16:creationId xmlns:a16="http://schemas.microsoft.com/office/drawing/2014/main" id="{06A3FC2C-6800-0033-05A5-B872147FA932}"/>
              </a:ext>
            </a:extLst>
          </p:cNvPr>
          <p:cNvSpPr txBox="1"/>
          <p:nvPr/>
        </p:nvSpPr>
        <p:spPr>
          <a:xfrm>
            <a:off x="6373520" y="1862808"/>
            <a:ext cx="2340864" cy="201168"/>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t>Turnover %</a:t>
            </a:r>
          </a:p>
        </p:txBody>
      </p:sp>
      <p:sp>
        <p:nvSpPr>
          <p:cNvPr id="228" name="TextBox 18">
            <a:extLst>
              <a:ext uri="{FF2B5EF4-FFF2-40B4-BE49-F238E27FC236}">
                <a16:creationId xmlns:a16="http://schemas.microsoft.com/office/drawing/2014/main" id="{E201943B-17BB-F215-22CE-521812297D72}"/>
              </a:ext>
            </a:extLst>
          </p:cNvPr>
          <p:cNvSpPr txBox="1"/>
          <p:nvPr/>
        </p:nvSpPr>
        <p:spPr>
          <a:xfrm>
            <a:off x="6373520" y="2118840"/>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0.6%</a:t>
            </a:r>
          </a:p>
        </p:txBody>
      </p:sp>
      <p:sp>
        <p:nvSpPr>
          <p:cNvPr id="229" name="TextBox 19">
            <a:extLst>
              <a:ext uri="{FF2B5EF4-FFF2-40B4-BE49-F238E27FC236}">
                <a16:creationId xmlns:a16="http://schemas.microsoft.com/office/drawing/2014/main" id="{F7C0870A-3405-979F-D4F2-AFD44D519336}"/>
              </a:ext>
            </a:extLst>
          </p:cNvPr>
          <p:cNvSpPr txBox="1"/>
          <p:nvPr/>
        </p:nvSpPr>
        <p:spPr>
          <a:xfrm>
            <a:off x="6336944" y="2512032"/>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35.2% vs prev.</a:t>
            </a:r>
          </a:p>
        </p:txBody>
      </p:sp>
      <p:sp>
        <p:nvSpPr>
          <p:cNvPr id="230" name="Rounded Rectangle 20">
            <a:extLst>
              <a:ext uri="{FF2B5EF4-FFF2-40B4-BE49-F238E27FC236}">
                <a16:creationId xmlns:a16="http://schemas.microsoft.com/office/drawing/2014/main" id="{35AB4FB9-B988-CA73-88CF-003801A6CB9E}"/>
              </a:ext>
            </a:extLst>
          </p:cNvPr>
          <p:cNvSpPr/>
          <p:nvPr/>
        </p:nvSpPr>
        <p:spPr>
          <a:xfrm>
            <a:off x="9189872" y="1771368"/>
            <a:ext cx="2560320" cy="987552"/>
          </a:xfrm>
          <a:prstGeom prst="roundRect">
            <a:avLst/>
          </a:prstGeom>
          <a:solidFill>
            <a:schemeClr val="accent6">
              <a:lumMod val="20000"/>
              <a:lumOff val="80000"/>
            </a:schemeClr>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31" name="TextBox 21">
            <a:extLst>
              <a:ext uri="{FF2B5EF4-FFF2-40B4-BE49-F238E27FC236}">
                <a16:creationId xmlns:a16="http://schemas.microsoft.com/office/drawing/2014/main" id="{2E3561F3-1C3A-4830-5955-D6857D3A2EDD}"/>
              </a:ext>
            </a:extLst>
          </p:cNvPr>
          <p:cNvSpPr txBox="1"/>
          <p:nvPr/>
        </p:nvSpPr>
        <p:spPr>
          <a:xfrm>
            <a:off x="9299600" y="1862808"/>
            <a:ext cx="2340864" cy="201168"/>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t>Absenteeism %</a:t>
            </a:r>
          </a:p>
        </p:txBody>
      </p:sp>
      <p:sp>
        <p:nvSpPr>
          <p:cNvPr id="232" name="TextBox 22">
            <a:extLst>
              <a:ext uri="{FF2B5EF4-FFF2-40B4-BE49-F238E27FC236}">
                <a16:creationId xmlns:a16="http://schemas.microsoft.com/office/drawing/2014/main" id="{C0D7717E-0912-0640-9CBF-0F2924A2787D}"/>
              </a:ext>
            </a:extLst>
          </p:cNvPr>
          <p:cNvSpPr txBox="1"/>
          <p:nvPr/>
        </p:nvSpPr>
        <p:spPr>
          <a:xfrm>
            <a:off x="9299600" y="2118840"/>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2.5%</a:t>
            </a:r>
          </a:p>
        </p:txBody>
      </p:sp>
      <p:sp>
        <p:nvSpPr>
          <p:cNvPr id="233" name="TextBox 23">
            <a:extLst>
              <a:ext uri="{FF2B5EF4-FFF2-40B4-BE49-F238E27FC236}">
                <a16:creationId xmlns:a16="http://schemas.microsoft.com/office/drawing/2014/main" id="{E4274E4B-EDCA-E240-ACE1-26CA2D07C30B}"/>
              </a:ext>
            </a:extLst>
          </p:cNvPr>
          <p:cNvSpPr txBox="1"/>
          <p:nvPr/>
        </p:nvSpPr>
        <p:spPr>
          <a:xfrm>
            <a:off x="9263024" y="2512032"/>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4.2% vs prev.</a:t>
            </a:r>
          </a:p>
        </p:txBody>
      </p:sp>
      <p:sp>
        <p:nvSpPr>
          <p:cNvPr id="234" name="Rounded Rectangle 24">
            <a:extLst>
              <a:ext uri="{FF2B5EF4-FFF2-40B4-BE49-F238E27FC236}">
                <a16:creationId xmlns:a16="http://schemas.microsoft.com/office/drawing/2014/main" id="{3F5EF586-BA5B-5769-2B53-2825C0732774}"/>
              </a:ext>
            </a:extLst>
          </p:cNvPr>
          <p:cNvSpPr/>
          <p:nvPr/>
        </p:nvSpPr>
        <p:spPr>
          <a:xfrm>
            <a:off x="3343808" y="2920464"/>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35" name="TextBox 25">
            <a:extLst>
              <a:ext uri="{FF2B5EF4-FFF2-40B4-BE49-F238E27FC236}">
                <a16:creationId xmlns:a16="http://schemas.microsoft.com/office/drawing/2014/main" id="{62D1CAAC-B252-2B0E-2296-3998FD33A4D9}"/>
              </a:ext>
            </a:extLst>
          </p:cNvPr>
          <p:cNvSpPr txBox="1"/>
          <p:nvPr/>
        </p:nvSpPr>
        <p:spPr>
          <a:xfrm>
            <a:off x="3453536" y="3011904"/>
            <a:ext cx="827471"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Leave COST </a:t>
            </a:r>
            <a:endParaRPr dirty="0"/>
          </a:p>
        </p:txBody>
      </p:sp>
      <p:sp>
        <p:nvSpPr>
          <p:cNvPr id="236" name="TextBox 26">
            <a:extLst>
              <a:ext uri="{FF2B5EF4-FFF2-40B4-BE49-F238E27FC236}">
                <a16:creationId xmlns:a16="http://schemas.microsoft.com/office/drawing/2014/main" id="{A75DBAA6-4E47-BA05-9282-AF416EC2BD5D}"/>
              </a:ext>
            </a:extLst>
          </p:cNvPr>
          <p:cNvSpPr txBox="1"/>
          <p:nvPr/>
        </p:nvSpPr>
        <p:spPr>
          <a:xfrm>
            <a:off x="3453536" y="3267936"/>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3.3</a:t>
            </a:r>
          </a:p>
        </p:txBody>
      </p:sp>
      <p:sp>
        <p:nvSpPr>
          <p:cNvPr id="237" name="TextBox 27">
            <a:extLst>
              <a:ext uri="{FF2B5EF4-FFF2-40B4-BE49-F238E27FC236}">
                <a16:creationId xmlns:a16="http://schemas.microsoft.com/office/drawing/2014/main" id="{400D3F22-1EF3-F747-30CA-C6826FEF2B5A}"/>
              </a:ext>
            </a:extLst>
          </p:cNvPr>
          <p:cNvSpPr txBox="1"/>
          <p:nvPr/>
        </p:nvSpPr>
        <p:spPr>
          <a:xfrm>
            <a:off x="3416960" y="3661128"/>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C00000"/>
                </a:solidFill>
              </a:defRPr>
            </a:pPr>
            <a:r>
              <a:t>▼ 1.7% vs prev.</a:t>
            </a:r>
          </a:p>
        </p:txBody>
      </p:sp>
      <p:sp>
        <p:nvSpPr>
          <p:cNvPr id="238" name="Rounded Rectangle 28">
            <a:extLst>
              <a:ext uri="{FF2B5EF4-FFF2-40B4-BE49-F238E27FC236}">
                <a16:creationId xmlns:a16="http://schemas.microsoft.com/office/drawing/2014/main" id="{4532BABF-1265-9A30-4D48-4817E32C28B3}"/>
              </a:ext>
            </a:extLst>
          </p:cNvPr>
          <p:cNvSpPr/>
          <p:nvPr/>
        </p:nvSpPr>
        <p:spPr>
          <a:xfrm>
            <a:off x="6269888" y="2920464"/>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39" name="TextBox 29">
            <a:extLst>
              <a:ext uri="{FF2B5EF4-FFF2-40B4-BE49-F238E27FC236}">
                <a16:creationId xmlns:a16="http://schemas.microsoft.com/office/drawing/2014/main" id="{DEB55220-689B-9828-38EA-EEA387296A93}"/>
              </a:ext>
            </a:extLst>
          </p:cNvPr>
          <p:cNvSpPr txBox="1"/>
          <p:nvPr/>
        </p:nvSpPr>
        <p:spPr>
          <a:xfrm>
            <a:off x="6379616" y="3011904"/>
            <a:ext cx="2340864" cy="201168"/>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t>Staff cost</a:t>
            </a:r>
          </a:p>
        </p:txBody>
      </p:sp>
      <p:sp>
        <p:nvSpPr>
          <p:cNvPr id="240" name="TextBox 30">
            <a:extLst>
              <a:ext uri="{FF2B5EF4-FFF2-40B4-BE49-F238E27FC236}">
                <a16:creationId xmlns:a16="http://schemas.microsoft.com/office/drawing/2014/main" id="{E2B91213-22DC-0CDB-CC32-887E5374BEF5}"/>
              </a:ext>
            </a:extLst>
          </p:cNvPr>
          <p:cNvSpPr txBox="1"/>
          <p:nvPr/>
        </p:nvSpPr>
        <p:spPr>
          <a:xfrm>
            <a:off x="6379616" y="3267936"/>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$1,110,302</a:t>
            </a:r>
          </a:p>
        </p:txBody>
      </p:sp>
      <p:sp>
        <p:nvSpPr>
          <p:cNvPr id="241" name="TextBox 31">
            <a:extLst>
              <a:ext uri="{FF2B5EF4-FFF2-40B4-BE49-F238E27FC236}">
                <a16:creationId xmlns:a16="http://schemas.microsoft.com/office/drawing/2014/main" id="{0726F06B-6F88-A1EB-D51F-C67F49137135}"/>
              </a:ext>
            </a:extLst>
          </p:cNvPr>
          <p:cNvSpPr txBox="1"/>
          <p:nvPr/>
        </p:nvSpPr>
        <p:spPr>
          <a:xfrm>
            <a:off x="6343040" y="3661128"/>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2.8% vs prev.</a:t>
            </a:r>
          </a:p>
        </p:txBody>
      </p:sp>
      <p:sp>
        <p:nvSpPr>
          <p:cNvPr id="242" name="Rounded Rectangle 32">
            <a:extLst>
              <a:ext uri="{FF2B5EF4-FFF2-40B4-BE49-F238E27FC236}">
                <a16:creationId xmlns:a16="http://schemas.microsoft.com/office/drawing/2014/main" id="{E9FDCE3B-C6B2-F889-86FE-E268F8286921}"/>
              </a:ext>
            </a:extLst>
          </p:cNvPr>
          <p:cNvSpPr/>
          <p:nvPr/>
        </p:nvSpPr>
        <p:spPr>
          <a:xfrm>
            <a:off x="417728" y="4173192"/>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43" name="TextBox 33">
            <a:extLst>
              <a:ext uri="{FF2B5EF4-FFF2-40B4-BE49-F238E27FC236}">
                <a16:creationId xmlns:a16="http://schemas.microsoft.com/office/drawing/2014/main" id="{599C746A-D92C-2EF4-2255-2E26755DA726}"/>
              </a:ext>
            </a:extLst>
          </p:cNvPr>
          <p:cNvSpPr txBox="1"/>
          <p:nvPr/>
        </p:nvSpPr>
        <p:spPr>
          <a:xfrm>
            <a:off x="527456" y="4264632"/>
            <a:ext cx="947695"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Volume</a:t>
            </a:r>
            <a:r>
              <a:rPr dirty="0"/>
              <a:t> / emp</a:t>
            </a:r>
          </a:p>
        </p:txBody>
      </p:sp>
      <p:sp>
        <p:nvSpPr>
          <p:cNvPr id="244" name="TextBox 34">
            <a:extLst>
              <a:ext uri="{FF2B5EF4-FFF2-40B4-BE49-F238E27FC236}">
                <a16:creationId xmlns:a16="http://schemas.microsoft.com/office/drawing/2014/main" id="{DE5762DE-FBB5-A5EF-2D9F-CFC01E64BA12}"/>
              </a:ext>
            </a:extLst>
          </p:cNvPr>
          <p:cNvSpPr txBox="1"/>
          <p:nvPr/>
        </p:nvSpPr>
        <p:spPr>
          <a:xfrm>
            <a:off x="527456" y="4520664"/>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$1,302</a:t>
            </a:r>
          </a:p>
        </p:txBody>
      </p:sp>
      <p:sp>
        <p:nvSpPr>
          <p:cNvPr id="245" name="TextBox 35">
            <a:extLst>
              <a:ext uri="{FF2B5EF4-FFF2-40B4-BE49-F238E27FC236}">
                <a16:creationId xmlns:a16="http://schemas.microsoft.com/office/drawing/2014/main" id="{9D8AA160-CF78-8F6C-88A7-2450C83EE1D8}"/>
              </a:ext>
            </a:extLst>
          </p:cNvPr>
          <p:cNvSpPr txBox="1"/>
          <p:nvPr/>
        </p:nvSpPr>
        <p:spPr>
          <a:xfrm>
            <a:off x="490880" y="4913856"/>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C00000"/>
                </a:solidFill>
              </a:defRPr>
            </a:pPr>
            <a:r>
              <a:t>▲ 0.9% vs prev.</a:t>
            </a:r>
          </a:p>
        </p:txBody>
      </p:sp>
      <p:sp>
        <p:nvSpPr>
          <p:cNvPr id="246" name="Rounded Rectangle 36">
            <a:extLst>
              <a:ext uri="{FF2B5EF4-FFF2-40B4-BE49-F238E27FC236}">
                <a16:creationId xmlns:a16="http://schemas.microsoft.com/office/drawing/2014/main" id="{A8AAB6FC-DF20-0DAE-3758-D74E35EEA801}"/>
              </a:ext>
            </a:extLst>
          </p:cNvPr>
          <p:cNvSpPr/>
          <p:nvPr/>
        </p:nvSpPr>
        <p:spPr>
          <a:xfrm>
            <a:off x="417728" y="2920464"/>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47" name="TextBox 37">
            <a:extLst>
              <a:ext uri="{FF2B5EF4-FFF2-40B4-BE49-F238E27FC236}">
                <a16:creationId xmlns:a16="http://schemas.microsoft.com/office/drawing/2014/main" id="{5783DFF4-63E7-E816-7463-947752ABB5D7}"/>
              </a:ext>
            </a:extLst>
          </p:cNvPr>
          <p:cNvSpPr txBox="1"/>
          <p:nvPr/>
        </p:nvSpPr>
        <p:spPr>
          <a:xfrm>
            <a:off x="527456" y="3011904"/>
            <a:ext cx="934871"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Leave Balance</a:t>
            </a:r>
            <a:endParaRPr dirty="0"/>
          </a:p>
        </p:txBody>
      </p:sp>
      <p:sp>
        <p:nvSpPr>
          <p:cNvPr id="248" name="TextBox 38">
            <a:extLst>
              <a:ext uri="{FF2B5EF4-FFF2-40B4-BE49-F238E27FC236}">
                <a16:creationId xmlns:a16="http://schemas.microsoft.com/office/drawing/2014/main" id="{33A4A21D-346C-6567-C319-B42745369F6D}"/>
              </a:ext>
            </a:extLst>
          </p:cNvPr>
          <p:cNvSpPr txBox="1"/>
          <p:nvPr/>
        </p:nvSpPr>
        <p:spPr>
          <a:xfrm>
            <a:off x="527456" y="3267936"/>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$4,814</a:t>
            </a:r>
          </a:p>
        </p:txBody>
      </p:sp>
      <p:sp>
        <p:nvSpPr>
          <p:cNvPr id="249" name="TextBox 39">
            <a:extLst>
              <a:ext uri="{FF2B5EF4-FFF2-40B4-BE49-F238E27FC236}">
                <a16:creationId xmlns:a16="http://schemas.microsoft.com/office/drawing/2014/main" id="{7474E692-4CEF-9391-28DA-EBB4E2BCC8CC}"/>
              </a:ext>
            </a:extLst>
          </p:cNvPr>
          <p:cNvSpPr txBox="1"/>
          <p:nvPr/>
        </p:nvSpPr>
        <p:spPr>
          <a:xfrm>
            <a:off x="490880" y="3661128"/>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1.6% vs prev.</a:t>
            </a:r>
          </a:p>
        </p:txBody>
      </p:sp>
      <p:sp>
        <p:nvSpPr>
          <p:cNvPr id="250" name="Rounded Rectangle 40">
            <a:extLst>
              <a:ext uri="{FF2B5EF4-FFF2-40B4-BE49-F238E27FC236}">
                <a16:creationId xmlns:a16="http://schemas.microsoft.com/office/drawing/2014/main" id="{B7ABDB1A-67A4-D569-85B1-1777138D1F17}"/>
              </a:ext>
            </a:extLst>
          </p:cNvPr>
          <p:cNvSpPr/>
          <p:nvPr/>
        </p:nvSpPr>
        <p:spPr>
          <a:xfrm>
            <a:off x="9189872" y="582648"/>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51" name="TextBox 41">
            <a:extLst>
              <a:ext uri="{FF2B5EF4-FFF2-40B4-BE49-F238E27FC236}">
                <a16:creationId xmlns:a16="http://schemas.microsoft.com/office/drawing/2014/main" id="{E5EB52CF-385C-A1E4-3E4F-32F1207C72AE}"/>
              </a:ext>
            </a:extLst>
          </p:cNvPr>
          <p:cNvSpPr txBox="1"/>
          <p:nvPr/>
        </p:nvSpPr>
        <p:spPr>
          <a:xfrm>
            <a:off x="9299600" y="674088"/>
            <a:ext cx="1093569"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Length of Service</a:t>
            </a:r>
            <a:endParaRPr dirty="0"/>
          </a:p>
        </p:txBody>
      </p:sp>
      <p:sp>
        <p:nvSpPr>
          <p:cNvPr id="252" name="TextBox 42">
            <a:extLst>
              <a:ext uri="{FF2B5EF4-FFF2-40B4-BE49-F238E27FC236}">
                <a16:creationId xmlns:a16="http://schemas.microsoft.com/office/drawing/2014/main" id="{3A404F73-8704-5FB5-8AB0-89DC7DCFC7AA}"/>
              </a:ext>
            </a:extLst>
          </p:cNvPr>
          <p:cNvSpPr txBox="1"/>
          <p:nvPr/>
        </p:nvSpPr>
        <p:spPr>
          <a:xfrm>
            <a:off x="9299600" y="930120"/>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6,944</a:t>
            </a:r>
          </a:p>
        </p:txBody>
      </p:sp>
      <p:sp>
        <p:nvSpPr>
          <p:cNvPr id="253" name="TextBox 43">
            <a:extLst>
              <a:ext uri="{FF2B5EF4-FFF2-40B4-BE49-F238E27FC236}">
                <a16:creationId xmlns:a16="http://schemas.microsoft.com/office/drawing/2014/main" id="{F00ABBD1-7B84-F1E7-A948-8FF0B0284C06}"/>
              </a:ext>
            </a:extLst>
          </p:cNvPr>
          <p:cNvSpPr txBox="1"/>
          <p:nvPr/>
        </p:nvSpPr>
        <p:spPr>
          <a:xfrm>
            <a:off x="9263024" y="1323312"/>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13.5% vs prev.</a:t>
            </a:r>
          </a:p>
        </p:txBody>
      </p:sp>
      <p:sp>
        <p:nvSpPr>
          <p:cNvPr id="254" name="Rounded Rectangle 44">
            <a:extLst>
              <a:ext uri="{FF2B5EF4-FFF2-40B4-BE49-F238E27FC236}">
                <a16:creationId xmlns:a16="http://schemas.microsoft.com/office/drawing/2014/main" id="{71F9693E-2F68-5374-8405-430A1B2424A0}"/>
              </a:ext>
            </a:extLst>
          </p:cNvPr>
          <p:cNvSpPr/>
          <p:nvPr/>
        </p:nvSpPr>
        <p:spPr>
          <a:xfrm>
            <a:off x="411632" y="5328384"/>
            <a:ext cx="2560320" cy="987552"/>
          </a:xfrm>
          <a:prstGeom prst="roundRect">
            <a:avLst/>
          </a:prstGeom>
          <a:solidFill>
            <a:schemeClr val="accent6">
              <a:lumMod val="20000"/>
              <a:lumOff val="80000"/>
            </a:schemeClr>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55" name="TextBox 45">
            <a:extLst>
              <a:ext uri="{FF2B5EF4-FFF2-40B4-BE49-F238E27FC236}">
                <a16:creationId xmlns:a16="http://schemas.microsoft.com/office/drawing/2014/main" id="{0DBD497B-CF5A-5784-A3C8-0983C55A2E9E}"/>
              </a:ext>
            </a:extLst>
          </p:cNvPr>
          <p:cNvSpPr txBox="1"/>
          <p:nvPr/>
        </p:nvSpPr>
        <p:spPr>
          <a:xfrm>
            <a:off x="521360" y="5419824"/>
            <a:ext cx="1205779"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Onboarding Survey</a:t>
            </a:r>
            <a:endParaRPr dirty="0"/>
          </a:p>
        </p:txBody>
      </p:sp>
      <p:sp>
        <p:nvSpPr>
          <p:cNvPr id="256" name="TextBox 46">
            <a:extLst>
              <a:ext uri="{FF2B5EF4-FFF2-40B4-BE49-F238E27FC236}">
                <a16:creationId xmlns:a16="http://schemas.microsoft.com/office/drawing/2014/main" id="{D3F3EA62-967F-F30D-D87F-D4F1E295AB0C}"/>
              </a:ext>
            </a:extLst>
          </p:cNvPr>
          <p:cNvSpPr txBox="1"/>
          <p:nvPr/>
        </p:nvSpPr>
        <p:spPr>
          <a:xfrm>
            <a:off x="521360" y="5675856"/>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74.5</a:t>
            </a:r>
          </a:p>
        </p:txBody>
      </p:sp>
      <p:sp>
        <p:nvSpPr>
          <p:cNvPr id="257" name="TextBox 47">
            <a:extLst>
              <a:ext uri="{FF2B5EF4-FFF2-40B4-BE49-F238E27FC236}">
                <a16:creationId xmlns:a16="http://schemas.microsoft.com/office/drawing/2014/main" id="{BB9984C6-BC72-342B-E5BB-12DD07FFAB14}"/>
              </a:ext>
            </a:extLst>
          </p:cNvPr>
          <p:cNvSpPr txBox="1"/>
          <p:nvPr/>
        </p:nvSpPr>
        <p:spPr>
          <a:xfrm>
            <a:off x="484784" y="6069048"/>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1.1% vs prev.</a:t>
            </a:r>
          </a:p>
        </p:txBody>
      </p:sp>
      <p:sp>
        <p:nvSpPr>
          <p:cNvPr id="258" name="Rounded Rectangle 48">
            <a:extLst>
              <a:ext uri="{FF2B5EF4-FFF2-40B4-BE49-F238E27FC236}">
                <a16:creationId xmlns:a16="http://schemas.microsoft.com/office/drawing/2014/main" id="{623956F2-4E35-E64F-CF96-E00D21F4F0BE}"/>
              </a:ext>
            </a:extLst>
          </p:cNvPr>
          <p:cNvSpPr/>
          <p:nvPr/>
        </p:nvSpPr>
        <p:spPr>
          <a:xfrm>
            <a:off x="6263792" y="5328384"/>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59" name="TextBox 49">
            <a:extLst>
              <a:ext uri="{FF2B5EF4-FFF2-40B4-BE49-F238E27FC236}">
                <a16:creationId xmlns:a16="http://schemas.microsoft.com/office/drawing/2014/main" id="{2467250D-5F3D-B4F8-C9F4-4E025A176D5B}"/>
              </a:ext>
            </a:extLst>
          </p:cNvPr>
          <p:cNvSpPr txBox="1"/>
          <p:nvPr/>
        </p:nvSpPr>
        <p:spPr>
          <a:xfrm>
            <a:off x="6373520" y="5419824"/>
            <a:ext cx="1643399"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Competency Gap Coverage </a:t>
            </a:r>
            <a:endParaRPr dirty="0"/>
          </a:p>
        </p:txBody>
      </p:sp>
      <p:sp>
        <p:nvSpPr>
          <p:cNvPr id="260" name="TextBox 50">
            <a:extLst>
              <a:ext uri="{FF2B5EF4-FFF2-40B4-BE49-F238E27FC236}">
                <a16:creationId xmlns:a16="http://schemas.microsoft.com/office/drawing/2014/main" id="{67B24606-C0D7-96E4-2058-A32D7DB70BD0}"/>
              </a:ext>
            </a:extLst>
          </p:cNvPr>
          <p:cNvSpPr txBox="1"/>
          <p:nvPr/>
        </p:nvSpPr>
        <p:spPr>
          <a:xfrm>
            <a:off x="6373520" y="5675856"/>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71.0</a:t>
            </a:r>
          </a:p>
        </p:txBody>
      </p:sp>
      <p:sp>
        <p:nvSpPr>
          <p:cNvPr id="261" name="TextBox 51">
            <a:extLst>
              <a:ext uri="{FF2B5EF4-FFF2-40B4-BE49-F238E27FC236}">
                <a16:creationId xmlns:a16="http://schemas.microsoft.com/office/drawing/2014/main" id="{6DA22F75-7921-CA2E-7DD7-A9E736E0F1DA}"/>
              </a:ext>
            </a:extLst>
          </p:cNvPr>
          <p:cNvSpPr txBox="1"/>
          <p:nvPr/>
        </p:nvSpPr>
        <p:spPr>
          <a:xfrm>
            <a:off x="6336944" y="6069048"/>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0.1% vs prev.</a:t>
            </a:r>
          </a:p>
        </p:txBody>
      </p:sp>
      <p:pic>
        <p:nvPicPr>
          <p:cNvPr id="262" name="Picture 261" descr="Download Free Headcount Icons in PNG &amp; SVG">
            <a:extLst>
              <a:ext uri="{FF2B5EF4-FFF2-40B4-BE49-F238E27FC236}">
                <a16:creationId xmlns:a16="http://schemas.microsoft.com/office/drawing/2014/main" id="{18EC72C1-D07F-78E8-6624-6B2D682D5C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1589" y="591030"/>
            <a:ext cx="280406" cy="238506"/>
          </a:xfrm>
          <a:prstGeom prst="rect">
            <a:avLst/>
          </a:prstGeom>
          <a:noFill/>
          <a:extLst>
            <a:ext uri="{909E8E84-426E-40DD-AFC4-6F175D3DCCD1}">
              <a14:hiddenFill xmlns:a14="http://schemas.microsoft.com/office/drawing/2010/main">
                <a:solidFill>
                  <a:srgbClr val="FFFFFF"/>
                </a:solidFill>
              </a14:hiddenFill>
            </a:ext>
          </a:extLst>
        </p:spPr>
      </p:pic>
      <p:pic>
        <p:nvPicPr>
          <p:cNvPr id="263" name="Picture 262" descr="New hire - Free user icons">
            <a:extLst>
              <a:ext uri="{FF2B5EF4-FFF2-40B4-BE49-F238E27FC236}">
                <a16:creationId xmlns:a16="http://schemas.microsoft.com/office/drawing/2014/main" id="{89E93F8B-92C8-7854-221C-69FCA801B5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79" y="1791847"/>
            <a:ext cx="290417" cy="290417"/>
          </a:xfrm>
          <a:prstGeom prst="rect">
            <a:avLst/>
          </a:prstGeom>
          <a:noFill/>
          <a:extLst>
            <a:ext uri="{909E8E84-426E-40DD-AFC4-6F175D3DCCD1}">
              <a14:hiddenFill xmlns:a14="http://schemas.microsoft.com/office/drawing/2010/main">
                <a:solidFill>
                  <a:srgbClr val="FFFFFF"/>
                </a:solidFill>
              </a14:hiddenFill>
            </a:ext>
          </a:extLst>
        </p:spPr>
      </p:pic>
      <p:pic>
        <p:nvPicPr>
          <p:cNvPr id="264" name="Picture 263" descr="Exit Management - Employee Exit Icon - (800x864) Png Clipart Download">
            <a:extLst>
              <a:ext uri="{FF2B5EF4-FFF2-40B4-BE49-F238E27FC236}">
                <a16:creationId xmlns:a16="http://schemas.microsoft.com/office/drawing/2014/main" id="{05761414-6E11-EA00-11A6-2F4482DCCD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7095" y="1844483"/>
            <a:ext cx="241554" cy="260566"/>
          </a:xfrm>
          <a:prstGeom prst="rect">
            <a:avLst/>
          </a:prstGeom>
          <a:noFill/>
          <a:extLst>
            <a:ext uri="{909E8E84-426E-40DD-AFC4-6F175D3DCCD1}">
              <a14:hiddenFill xmlns:a14="http://schemas.microsoft.com/office/drawing/2010/main">
                <a:solidFill>
                  <a:srgbClr val="FFFFFF"/>
                </a:solidFill>
              </a14:hiddenFill>
            </a:ext>
          </a:extLst>
        </p:spPr>
      </p:pic>
      <p:pic>
        <p:nvPicPr>
          <p:cNvPr id="265" name="Picture 264" descr="Turnover Generic Flat icon | Freepik">
            <a:extLst>
              <a:ext uri="{FF2B5EF4-FFF2-40B4-BE49-F238E27FC236}">
                <a16:creationId xmlns:a16="http://schemas.microsoft.com/office/drawing/2014/main" id="{325D49FC-ABF6-AADC-7133-61F478041C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87313" y="1796419"/>
            <a:ext cx="313277" cy="313277"/>
          </a:xfrm>
          <a:prstGeom prst="rect">
            <a:avLst/>
          </a:prstGeom>
          <a:noFill/>
          <a:extLst>
            <a:ext uri="{909E8E84-426E-40DD-AFC4-6F175D3DCCD1}">
              <a14:hiddenFill xmlns:a14="http://schemas.microsoft.com/office/drawing/2010/main">
                <a:solidFill>
                  <a:srgbClr val="FFFFFF"/>
                </a:solidFill>
              </a14:hiddenFill>
            </a:ext>
          </a:extLst>
        </p:spPr>
      </p:pic>
      <p:pic>
        <p:nvPicPr>
          <p:cNvPr id="266" name="Picture 265" descr="Absenteeism - Free business icons">
            <a:extLst>
              <a:ext uri="{FF2B5EF4-FFF2-40B4-BE49-F238E27FC236}">
                <a16:creationId xmlns:a16="http://schemas.microsoft.com/office/drawing/2014/main" id="{245ED7CD-BA9F-6001-AE23-51185B312E3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03059" y="1826232"/>
            <a:ext cx="240125" cy="240125"/>
          </a:xfrm>
          <a:prstGeom prst="rect">
            <a:avLst/>
          </a:prstGeom>
          <a:noFill/>
          <a:extLst>
            <a:ext uri="{909E8E84-426E-40DD-AFC4-6F175D3DCCD1}">
              <a14:hiddenFill xmlns:a14="http://schemas.microsoft.com/office/drawing/2010/main">
                <a:solidFill>
                  <a:srgbClr val="FFFFFF"/>
                </a:solidFill>
              </a14:hiddenFill>
            </a:ext>
          </a:extLst>
        </p:spPr>
      </p:pic>
      <p:pic>
        <p:nvPicPr>
          <p:cNvPr id="267" name="Picture 266" descr="Training - Free education icons">
            <a:extLst>
              <a:ext uri="{FF2B5EF4-FFF2-40B4-BE49-F238E27FC236}">
                <a16:creationId xmlns:a16="http://schemas.microsoft.com/office/drawing/2014/main" id="{4E33C4DD-186E-FE38-6C08-99FC6625DD0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4239" y="3011047"/>
            <a:ext cx="239457" cy="239457"/>
          </a:xfrm>
          <a:prstGeom prst="rect">
            <a:avLst/>
          </a:prstGeom>
          <a:noFill/>
          <a:extLst>
            <a:ext uri="{909E8E84-426E-40DD-AFC4-6F175D3DCCD1}">
              <a14:hiddenFill xmlns:a14="http://schemas.microsoft.com/office/drawing/2010/main">
                <a:solidFill>
                  <a:srgbClr val="FFFFFF"/>
                </a:solidFill>
              </a14:hiddenFill>
            </a:ext>
          </a:extLst>
        </p:spPr>
      </p:pic>
      <p:pic>
        <p:nvPicPr>
          <p:cNvPr id="268" name="Picture 267" descr="Reduce The Cost Of Employee Training - Cost Per Hire Icon - (512x512) Png  Clipart Download">
            <a:extLst>
              <a:ext uri="{FF2B5EF4-FFF2-40B4-BE49-F238E27FC236}">
                <a16:creationId xmlns:a16="http://schemas.microsoft.com/office/drawing/2014/main" id="{5A26F4C7-2AB3-F646-4E58-380856923D3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67168" y="3002760"/>
            <a:ext cx="365760" cy="320040"/>
          </a:xfrm>
          <a:prstGeom prst="rect">
            <a:avLst/>
          </a:prstGeom>
          <a:noFill/>
          <a:extLst>
            <a:ext uri="{909E8E84-426E-40DD-AFC4-6F175D3DCCD1}">
              <a14:hiddenFill xmlns:a14="http://schemas.microsoft.com/office/drawing/2010/main">
                <a:solidFill>
                  <a:srgbClr val="FFFFFF"/>
                </a:solidFill>
              </a14:hiddenFill>
            </a:ext>
          </a:extLst>
        </p:spPr>
      </p:pic>
      <p:sp>
        <p:nvSpPr>
          <p:cNvPr id="269" name="Rounded Rectangle 36">
            <a:extLst>
              <a:ext uri="{FF2B5EF4-FFF2-40B4-BE49-F238E27FC236}">
                <a16:creationId xmlns:a16="http://schemas.microsoft.com/office/drawing/2014/main" id="{B3796961-BDB4-4982-B17C-B7470F1915A0}"/>
              </a:ext>
            </a:extLst>
          </p:cNvPr>
          <p:cNvSpPr/>
          <p:nvPr/>
        </p:nvSpPr>
        <p:spPr>
          <a:xfrm>
            <a:off x="3343808" y="4173192"/>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70" name="TextBox 56">
            <a:extLst>
              <a:ext uri="{FF2B5EF4-FFF2-40B4-BE49-F238E27FC236}">
                <a16:creationId xmlns:a16="http://schemas.microsoft.com/office/drawing/2014/main" id="{E8B2A117-BF22-ED30-EAFE-62EA300C4835}"/>
              </a:ext>
            </a:extLst>
          </p:cNvPr>
          <p:cNvSpPr txBox="1"/>
          <p:nvPr/>
        </p:nvSpPr>
        <p:spPr>
          <a:xfrm>
            <a:off x="3453536" y="4264632"/>
            <a:ext cx="2340864" cy="201168"/>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dirty="0"/>
              <a:t>Revenue / emp</a:t>
            </a:r>
          </a:p>
        </p:txBody>
      </p:sp>
      <p:sp>
        <p:nvSpPr>
          <p:cNvPr id="271" name="TextBox 57">
            <a:extLst>
              <a:ext uri="{FF2B5EF4-FFF2-40B4-BE49-F238E27FC236}">
                <a16:creationId xmlns:a16="http://schemas.microsoft.com/office/drawing/2014/main" id="{69A53DC6-C2FF-ED57-D011-90DB5604303A}"/>
              </a:ext>
            </a:extLst>
          </p:cNvPr>
          <p:cNvSpPr txBox="1"/>
          <p:nvPr/>
        </p:nvSpPr>
        <p:spPr>
          <a:xfrm>
            <a:off x="3453536" y="4520664"/>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dirty="0"/>
              <a:t>$4,814</a:t>
            </a:r>
          </a:p>
        </p:txBody>
      </p:sp>
      <p:sp>
        <p:nvSpPr>
          <p:cNvPr id="272" name="TextBox 58">
            <a:extLst>
              <a:ext uri="{FF2B5EF4-FFF2-40B4-BE49-F238E27FC236}">
                <a16:creationId xmlns:a16="http://schemas.microsoft.com/office/drawing/2014/main" id="{7F09A0C1-BE05-6C1F-2AC7-21758E78C8A8}"/>
              </a:ext>
            </a:extLst>
          </p:cNvPr>
          <p:cNvSpPr txBox="1"/>
          <p:nvPr/>
        </p:nvSpPr>
        <p:spPr>
          <a:xfrm>
            <a:off x="3416960" y="4913856"/>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1.6% vs prev.</a:t>
            </a:r>
          </a:p>
        </p:txBody>
      </p:sp>
      <p:sp>
        <p:nvSpPr>
          <p:cNvPr id="273" name="Rounded Rectangle 40">
            <a:extLst>
              <a:ext uri="{FF2B5EF4-FFF2-40B4-BE49-F238E27FC236}">
                <a16:creationId xmlns:a16="http://schemas.microsoft.com/office/drawing/2014/main" id="{B3936859-49EE-9270-536C-6303A9EDF57F}"/>
              </a:ext>
            </a:extLst>
          </p:cNvPr>
          <p:cNvSpPr/>
          <p:nvPr/>
        </p:nvSpPr>
        <p:spPr>
          <a:xfrm>
            <a:off x="9195968" y="2920464"/>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74" name="TextBox 60">
            <a:extLst>
              <a:ext uri="{FF2B5EF4-FFF2-40B4-BE49-F238E27FC236}">
                <a16:creationId xmlns:a16="http://schemas.microsoft.com/office/drawing/2014/main" id="{990C93A4-7CFC-06DF-FF9F-69D79F8C24DF}"/>
              </a:ext>
            </a:extLst>
          </p:cNvPr>
          <p:cNvSpPr txBox="1"/>
          <p:nvPr/>
        </p:nvSpPr>
        <p:spPr>
          <a:xfrm>
            <a:off x="9906415" y="2956516"/>
            <a:ext cx="1127232"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dirty="0"/>
              <a:t>Overtime </a:t>
            </a:r>
            <a:r>
              <a:rPr lang="en-US" dirty="0"/>
              <a:t>cost </a:t>
            </a:r>
            <a:r>
              <a:rPr dirty="0" err="1"/>
              <a:t>hrs</a:t>
            </a:r>
            <a:endParaRPr dirty="0"/>
          </a:p>
        </p:txBody>
      </p:sp>
      <p:sp>
        <p:nvSpPr>
          <p:cNvPr id="275" name="TextBox 61">
            <a:extLst>
              <a:ext uri="{FF2B5EF4-FFF2-40B4-BE49-F238E27FC236}">
                <a16:creationId xmlns:a16="http://schemas.microsoft.com/office/drawing/2014/main" id="{6824C25B-CE71-0A75-C858-47F0F97271E2}"/>
              </a:ext>
            </a:extLst>
          </p:cNvPr>
          <p:cNvSpPr txBox="1"/>
          <p:nvPr/>
        </p:nvSpPr>
        <p:spPr>
          <a:xfrm>
            <a:off x="9305696" y="3267936"/>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6,944</a:t>
            </a:r>
          </a:p>
        </p:txBody>
      </p:sp>
      <p:sp>
        <p:nvSpPr>
          <p:cNvPr id="276" name="TextBox 62">
            <a:extLst>
              <a:ext uri="{FF2B5EF4-FFF2-40B4-BE49-F238E27FC236}">
                <a16:creationId xmlns:a16="http://schemas.microsoft.com/office/drawing/2014/main" id="{3076BA3E-5E88-D590-8938-2CC953FF33C4}"/>
              </a:ext>
            </a:extLst>
          </p:cNvPr>
          <p:cNvSpPr txBox="1"/>
          <p:nvPr/>
        </p:nvSpPr>
        <p:spPr>
          <a:xfrm>
            <a:off x="9269120" y="3661128"/>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13.5% vs prev.</a:t>
            </a:r>
          </a:p>
        </p:txBody>
      </p:sp>
      <p:sp>
        <p:nvSpPr>
          <p:cNvPr id="277" name="Rounded Rectangle 44">
            <a:extLst>
              <a:ext uri="{FF2B5EF4-FFF2-40B4-BE49-F238E27FC236}">
                <a16:creationId xmlns:a16="http://schemas.microsoft.com/office/drawing/2014/main" id="{39A589EF-9087-1065-EAB1-164D6E489D47}"/>
              </a:ext>
            </a:extLst>
          </p:cNvPr>
          <p:cNvSpPr/>
          <p:nvPr/>
        </p:nvSpPr>
        <p:spPr>
          <a:xfrm>
            <a:off x="6269888" y="4173192"/>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78" name="TextBox 1024">
            <a:extLst>
              <a:ext uri="{FF2B5EF4-FFF2-40B4-BE49-F238E27FC236}">
                <a16:creationId xmlns:a16="http://schemas.microsoft.com/office/drawing/2014/main" id="{F9C8B7F6-BE37-02ED-24FE-7268A7831ABD}"/>
              </a:ext>
            </a:extLst>
          </p:cNvPr>
          <p:cNvSpPr txBox="1"/>
          <p:nvPr/>
        </p:nvSpPr>
        <p:spPr>
          <a:xfrm>
            <a:off x="6379616" y="4264632"/>
            <a:ext cx="880369"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Training Cost</a:t>
            </a:r>
            <a:endParaRPr dirty="0"/>
          </a:p>
        </p:txBody>
      </p:sp>
      <p:sp>
        <p:nvSpPr>
          <p:cNvPr id="279" name="TextBox 1026">
            <a:extLst>
              <a:ext uri="{FF2B5EF4-FFF2-40B4-BE49-F238E27FC236}">
                <a16:creationId xmlns:a16="http://schemas.microsoft.com/office/drawing/2014/main" id="{40EF184E-E17E-B52B-388E-79370405D01A}"/>
              </a:ext>
            </a:extLst>
          </p:cNvPr>
          <p:cNvSpPr txBox="1"/>
          <p:nvPr/>
        </p:nvSpPr>
        <p:spPr>
          <a:xfrm>
            <a:off x="6379616" y="4520664"/>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74.5</a:t>
            </a:r>
          </a:p>
        </p:txBody>
      </p:sp>
      <p:sp>
        <p:nvSpPr>
          <p:cNvPr id="280" name="TextBox 1028">
            <a:extLst>
              <a:ext uri="{FF2B5EF4-FFF2-40B4-BE49-F238E27FC236}">
                <a16:creationId xmlns:a16="http://schemas.microsoft.com/office/drawing/2014/main" id="{A9EDF611-C2E7-1243-9C53-D2F65527C29F}"/>
              </a:ext>
            </a:extLst>
          </p:cNvPr>
          <p:cNvSpPr txBox="1"/>
          <p:nvPr/>
        </p:nvSpPr>
        <p:spPr>
          <a:xfrm>
            <a:off x="6343040" y="4913856"/>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1.1% vs prev.</a:t>
            </a:r>
          </a:p>
        </p:txBody>
      </p:sp>
      <p:sp>
        <p:nvSpPr>
          <p:cNvPr id="281" name="Rounded Rectangle 48">
            <a:extLst>
              <a:ext uri="{FF2B5EF4-FFF2-40B4-BE49-F238E27FC236}">
                <a16:creationId xmlns:a16="http://schemas.microsoft.com/office/drawing/2014/main" id="{5F73535A-3D81-75D6-0169-3ABE33FD54B5}"/>
              </a:ext>
            </a:extLst>
          </p:cNvPr>
          <p:cNvSpPr/>
          <p:nvPr/>
        </p:nvSpPr>
        <p:spPr>
          <a:xfrm>
            <a:off x="3337712" y="5328384"/>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82" name="TextBox 1032">
            <a:extLst>
              <a:ext uri="{FF2B5EF4-FFF2-40B4-BE49-F238E27FC236}">
                <a16:creationId xmlns:a16="http://schemas.microsoft.com/office/drawing/2014/main" id="{4D552E97-FF5F-51EA-CBDD-F347812FAD9E}"/>
              </a:ext>
            </a:extLst>
          </p:cNvPr>
          <p:cNvSpPr txBox="1"/>
          <p:nvPr/>
        </p:nvSpPr>
        <p:spPr>
          <a:xfrm>
            <a:off x="3447440" y="5419824"/>
            <a:ext cx="981359"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dirty="0"/>
              <a:t>Climate</a:t>
            </a:r>
            <a:r>
              <a:rPr lang="en-US" dirty="0"/>
              <a:t> Survey</a:t>
            </a:r>
            <a:endParaRPr dirty="0"/>
          </a:p>
        </p:txBody>
      </p:sp>
      <p:sp>
        <p:nvSpPr>
          <p:cNvPr id="283" name="TextBox 1034">
            <a:extLst>
              <a:ext uri="{FF2B5EF4-FFF2-40B4-BE49-F238E27FC236}">
                <a16:creationId xmlns:a16="http://schemas.microsoft.com/office/drawing/2014/main" id="{9ECB8364-243F-8AD8-56BD-9E87FD65EC94}"/>
              </a:ext>
            </a:extLst>
          </p:cNvPr>
          <p:cNvSpPr txBox="1"/>
          <p:nvPr/>
        </p:nvSpPr>
        <p:spPr>
          <a:xfrm>
            <a:off x="3447440" y="5675856"/>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71.0</a:t>
            </a:r>
          </a:p>
        </p:txBody>
      </p:sp>
      <p:sp>
        <p:nvSpPr>
          <p:cNvPr id="284" name="TextBox 1036">
            <a:extLst>
              <a:ext uri="{FF2B5EF4-FFF2-40B4-BE49-F238E27FC236}">
                <a16:creationId xmlns:a16="http://schemas.microsoft.com/office/drawing/2014/main" id="{E20F7A1E-6C2F-6D1D-7271-2DFCD4DB234D}"/>
              </a:ext>
            </a:extLst>
          </p:cNvPr>
          <p:cNvSpPr txBox="1"/>
          <p:nvPr/>
        </p:nvSpPr>
        <p:spPr>
          <a:xfrm>
            <a:off x="3410864" y="6069048"/>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0.1% vs prev.</a:t>
            </a:r>
          </a:p>
        </p:txBody>
      </p:sp>
      <p:pic>
        <p:nvPicPr>
          <p:cNvPr id="285" name="Picture 284" descr="Revenu - Icônes affaires et finances gratuites">
            <a:extLst>
              <a:ext uri="{FF2B5EF4-FFF2-40B4-BE49-F238E27FC236}">
                <a16:creationId xmlns:a16="http://schemas.microsoft.com/office/drawing/2014/main" id="{6EC65980-90EC-8A22-DE6E-23BEA9E12A8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43279" y="4285111"/>
            <a:ext cx="361377" cy="361377"/>
          </a:xfrm>
          <a:prstGeom prst="rect">
            <a:avLst/>
          </a:prstGeom>
          <a:noFill/>
          <a:extLst>
            <a:ext uri="{909E8E84-426E-40DD-AFC4-6F175D3DCCD1}">
              <a14:hiddenFill xmlns:a14="http://schemas.microsoft.com/office/drawing/2010/main">
                <a:solidFill>
                  <a:srgbClr val="FFFFFF"/>
                </a:solidFill>
              </a14:hiddenFill>
            </a:ext>
          </a:extLst>
        </p:spPr>
      </p:pic>
      <p:sp>
        <p:nvSpPr>
          <p:cNvPr id="286" name="Rounded Rectangle 36">
            <a:extLst>
              <a:ext uri="{FF2B5EF4-FFF2-40B4-BE49-F238E27FC236}">
                <a16:creationId xmlns:a16="http://schemas.microsoft.com/office/drawing/2014/main" id="{99CA6125-9A74-91FE-60B5-B64AA63EDB0E}"/>
              </a:ext>
            </a:extLst>
          </p:cNvPr>
          <p:cNvSpPr/>
          <p:nvPr/>
        </p:nvSpPr>
        <p:spPr>
          <a:xfrm>
            <a:off x="3337712" y="582648"/>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87" name="TextBox 1044">
            <a:extLst>
              <a:ext uri="{FF2B5EF4-FFF2-40B4-BE49-F238E27FC236}">
                <a16:creationId xmlns:a16="http://schemas.microsoft.com/office/drawing/2014/main" id="{93F68AD1-168A-30A2-B0A0-3FEEF726E2F7}"/>
              </a:ext>
            </a:extLst>
          </p:cNvPr>
          <p:cNvSpPr txBox="1"/>
          <p:nvPr/>
        </p:nvSpPr>
        <p:spPr>
          <a:xfrm>
            <a:off x="3888209" y="572837"/>
            <a:ext cx="1353311" cy="3847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sz="1000" b="1" dirty="0">
                <a:solidFill>
                  <a:srgbClr val="6B7280"/>
                </a:solidFill>
              </a:rPr>
              <a:t>Gender</a:t>
            </a:r>
            <a:r>
              <a:rPr lang="en-US" dirty="0"/>
              <a:t> </a:t>
            </a:r>
            <a:r>
              <a:rPr lang="en-US" sz="1000" b="1" dirty="0">
                <a:solidFill>
                  <a:srgbClr val="6B7280"/>
                </a:solidFill>
              </a:rPr>
              <a:t>Ratio</a:t>
            </a:r>
          </a:p>
        </p:txBody>
      </p:sp>
      <p:sp>
        <p:nvSpPr>
          <p:cNvPr id="288" name="TextBox 1045">
            <a:extLst>
              <a:ext uri="{FF2B5EF4-FFF2-40B4-BE49-F238E27FC236}">
                <a16:creationId xmlns:a16="http://schemas.microsoft.com/office/drawing/2014/main" id="{33AC9B08-9C5E-B278-D800-7750223444A5}"/>
              </a:ext>
            </a:extLst>
          </p:cNvPr>
          <p:cNvSpPr txBox="1"/>
          <p:nvPr/>
        </p:nvSpPr>
        <p:spPr>
          <a:xfrm>
            <a:off x="4867808" y="1211352"/>
            <a:ext cx="957072"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rPr dirty="0"/>
              <a:t>▲ 1.6% vs prev.</a:t>
            </a:r>
          </a:p>
        </p:txBody>
      </p:sp>
      <p:sp>
        <p:nvSpPr>
          <p:cNvPr id="289" name="Rounded Rectangle 40">
            <a:extLst>
              <a:ext uri="{FF2B5EF4-FFF2-40B4-BE49-F238E27FC236}">
                <a16:creationId xmlns:a16="http://schemas.microsoft.com/office/drawing/2014/main" id="{78D14613-CAD4-5493-A0A6-F7E59B53BC69}"/>
              </a:ext>
            </a:extLst>
          </p:cNvPr>
          <p:cNvSpPr/>
          <p:nvPr/>
        </p:nvSpPr>
        <p:spPr>
          <a:xfrm>
            <a:off x="6263792" y="582648"/>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90" name="TextBox 1047">
            <a:extLst>
              <a:ext uri="{FF2B5EF4-FFF2-40B4-BE49-F238E27FC236}">
                <a16:creationId xmlns:a16="http://schemas.microsoft.com/office/drawing/2014/main" id="{03914321-BB67-6A0B-1CD5-DAAE519C7C37}"/>
              </a:ext>
            </a:extLst>
          </p:cNvPr>
          <p:cNvSpPr txBox="1"/>
          <p:nvPr/>
        </p:nvSpPr>
        <p:spPr>
          <a:xfrm>
            <a:off x="6373520" y="674088"/>
            <a:ext cx="849913"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Average Age</a:t>
            </a:r>
            <a:endParaRPr dirty="0"/>
          </a:p>
        </p:txBody>
      </p:sp>
      <p:sp>
        <p:nvSpPr>
          <p:cNvPr id="291" name="TextBox 1048">
            <a:extLst>
              <a:ext uri="{FF2B5EF4-FFF2-40B4-BE49-F238E27FC236}">
                <a16:creationId xmlns:a16="http://schemas.microsoft.com/office/drawing/2014/main" id="{6CA4FDFA-1E2A-9E0A-AC14-F7195A9D28F4}"/>
              </a:ext>
            </a:extLst>
          </p:cNvPr>
          <p:cNvSpPr txBox="1"/>
          <p:nvPr/>
        </p:nvSpPr>
        <p:spPr>
          <a:xfrm>
            <a:off x="6373520" y="930120"/>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6,944</a:t>
            </a:r>
          </a:p>
        </p:txBody>
      </p:sp>
      <p:sp>
        <p:nvSpPr>
          <p:cNvPr id="292" name="TextBox 1049">
            <a:extLst>
              <a:ext uri="{FF2B5EF4-FFF2-40B4-BE49-F238E27FC236}">
                <a16:creationId xmlns:a16="http://schemas.microsoft.com/office/drawing/2014/main" id="{13462D44-453E-2BC9-1585-105A184ED60B}"/>
              </a:ext>
            </a:extLst>
          </p:cNvPr>
          <p:cNvSpPr txBox="1"/>
          <p:nvPr/>
        </p:nvSpPr>
        <p:spPr>
          <a:xfrm>
            <a:off x="6336944" y="1323312"/>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13.5% vs prev.</a:t>
            </a:r>
          </a:p>
        </p:txBody>
      </p:sp>
      <p:sp>
        <p:nvSpPr>
          <p:cNvPr id="293" name="Rounded Rectangle 44">
            <a:extLst>
              <a:ext uri="{FF2B5EF4-FFF2-40B4-BE49-F238E27FC236}">
                <a16:creationId xmlns:a16="http://schemas.microsoft.com/office/drawing/2014/main" id="{B7B4C772-56AF-B9CE-5983-7429128C992E}"/>
              </a:ext>
            </a:extLst>
          </p:cNvPr>
          <p:cNvSpPr/>
          <p:nvPr/>
        </p:nvSpPr>
        <p:spPr>
          <a:xfrm>
            <a:off x="9195968" y="4173192"/>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94" name="TextBox 1051">
            <a:extLst>
              <a:ext uri="{FF2B5EF4-FFF2-40B4-BE49-F238E27FC236}">
                <a16:creationId xmlns:a16="http://schemas.microsoft.com/office/drawing/2014/main" id="{3BD736D9-E306-0584-CA14-FFFE10C3CE02}"/>
              </a:ext>
            </a:extLst>
          </p:cNvPr>
          <p:cNvSpPr txBox="1"/>
          <p:nvPr/>
        </p:nvSpPr>
        <p:spPr>
          <a:xfrm>
            <a:off x="9305696" y="4264632"/>
            <a:ext cx="962123"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Training Hours</a:t>
            </a:r>
            <a:endParaRPr dirty="0"/>
          </a:p>
        </p:txBody>
      </p:sp>
      <p:sp>
        <p:nvSpPr>
          <p:cNvPr id="295" name="TextBox 1052">
            <a:extLst>
              <a:ext uri="{FF2B5EF4-FFF2-40B4-BE49-F238E27FC236}">
                <a16:creationId xmlns:a16="http://schemas.microsoft.com/office/drawing/2014/main" id="{3004B07B-2B3C-D9EA-A0E0-A9F5885A584C}"/>
              </a:ext>
            </a:extLst>
          </p:cNvPr>
          <p:cNvSpPr txBox="1"/>
          <p:nvPr/>
        </p:nvSpPr>
        <p:spPr>
          <a:xfrm>
            <a:off x="9305696" y="4520664"/>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74.5</a:t>
            </a:r>
          </a:p>
        </p:txBody>
      </p:sp>
      <p:sp>
        <p:nvSpPr>
          <p:cNvPr id="296" name="TextBox 1053">
            <a:extLst>
              <a:ext uri="{FF2B5EF4-FFF2-40B4-BE49-F238E27FC236}">
                <a16:creationId xmlns:a16="http://schemas.microsoft.com/office/drawing/2014/main" id="{CAB9C728-D49A-4841-5468-D69FC1C32649}"/>
              </a:ext>
            </a:extLst>
          </p:cNvPr>
          <p:cNvSpPr txBox="1"/>
          <p:nvPr/>
        </p:nvSpPr>
        <p:spPr>
          <a:xfrm>
            <a:off x="9269120" y="4913856"/>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1.1% vs prev.</a:t>
            </a:r>
          </a:p>
        </p:txBody>
      </p:sp>
      <p:sp>
        <p:nvSpPr>
          <p:cNvPr id="297" name="Rounded Rectangle 48">
            <a:extLst>
              <a:ext uri="{FF2B5EF4-FFF2-40B4-BE49-F238E27FC236}">
                <a16:creationId xmlns:a16="http://schemas.microsoft.com/office/drawing/2014/main" id="{A4D78BCF-AD0B-6A93-99C8-D30AF73A240C}"/>
              </a:ext>
            </a:extLst>
          </p:cNvPr>
          <p:cNvSpPr/>
          <p:nvPr/>
        </p:nvSpPr>
        <p:spPr>
          <a:xfrm>
            <a:off x="9189872" y="5328384"/>
            <a:ext cx="2560320" cy="987552"/>
          </a:xfrm>
          <a:prstGeom prst="roundRect">
            <a:avLst/>
          </a:prstGeom>
          <a:solidFill>
            <a:schemeClr val="accent6">
              <a:lumMod val="20000"/>
              <a:lumOff val="80000"/>
            </a:schemeClr>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98" name="TextBox 1055">
            <a:extLst>
              <a:ext uri="{FF2B5EF4-FFF2-40B4-BE49-F238E27FC236}">
                <a16:creationId xmlns:a16="http://schemas.microsoft.com/office/drawing/2014/main" id="{F35636E3-6307-EE34-F684-AC5D6FA80C94}"/>
              </a:ext>
            </a:extLst>
          </p:cNvPr>
          <p:cNvSpPr txBox="1"/>
          <p:nvPr/>
        </p:nvSpPr>
        <p:spPr>
          <a:xfrm>
            <a:off x="9299600" y="5419824"/>
            <a:ext cx="1285929"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Succession Converge</a:t>
            </a:r>
            <a:endParaRPr dirty="0"/>
          </a:p>
        </p:txBody>
      </p:sp>
      <p:sp>
        <p:nvSpPr>
          <p:cNvPr id="299" name="TextBox 1056">
            <a:extLst>
              <a:ext uri="{FF2B5EF4-FFF2-40B4-BE49-F238E27FC236}">
                <a16:creationId xmlns:a16="http://schemas.microsoft.com/office/drawing/2014/main" id="{80D6936B-E676-A191-629C-5A4062D0BA46}"/>
              </a:ext>
            </a:extLst>
          </p:cNvPr>
          <p:cNvSpPr txBox="1"/>
          <p:nvPr/>
        </p:nvSpPr>
        <p:spPr>
          <a:xfrm>
            <a:off x="9299600" y="5675856"/>
            <a:ext cx="2340864" cy="31089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t>71.0</a:t>
            </a:r>
          </a:p>
        </p:txBody>
      </p:sp>
      <p:sp>
        <p:nvSpPr>
          <p:cNvPr id="300" name="TextBox 1057">
            <a:extLst>
              <a:ext uri="{FF2B5EF4-FFF2-40B4-BE49-F238E27FC236}">
                <a16:creationId xmlns:a16="http://schemas.microsoft.com/office/drawing/2014/main" id="{9276BDD4-9EB1-BF58-1090-216FA0A45655}"/>
              </a:ext>
            </a:extLst>
          </p:cNvPr>
          <p:cNvSpPr txBox="1"/>
          <p:nvPr/>
        </p:nvSpPr>
        <p:spPr>
          <a:xfrm>
            <a:off x="9263024" y="6069048"/>
            <a:ext cx="2414016" cy="16459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t>▲ 0.1% vs prev.</a:t>
            </a:r>
          </a:p>
        </p:txBody>
      </p:sp>
      <p:pic>
        <p:nvPicPr>
          <p:cNvPr id="301" name="Picture 300" descr="Download Free Sales performance Icons in PNG &amp; SVG">
            <a:extLst>
              <a:ext uri="{FF2B5EF4-FFF2-40B4-BE49-F238E27FC236}">
                <a16:creationId xmlns:a16="http://schemas.microsoft.com/office/drawing/2014/main" id="{C4B92E22-7D46-466B-FF34-BE3F96A7342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39828" y="4205435"/>
            <a:ext cx="359187" cy="359187"/>
          </a:xfrm>
          <a:prstGeom prst="rect">
            <a:avLst/>
          </a:prstGeom>
          <a:noFill/>
          <a:extLst>
            <a:ext uri="{909E8E84-426E-40DD-AFC4-6F175D3DCCD1}">
              <a14:hiddenFill xmlns:a14="http://schemas.microsoft.com/office/drawing/2010/main">
                <a:solidFill>
                  <a:srgbClr val="FFFFFF"/>
                </a:solidFill>
              </a14:hiddenFill>
            </a:ext>
          </a:extLst>
        </p:spPr>
      </p:pic>
      <p:pic>
        <p:nvPicPr>
          <p:cNvPr id="302" name="Picture 301" descr="Education cost - Free education icons">
            <a:extLst>
              <a:ext uri="{FF2B5EF4-FFF2-40B4-BE49-F238E27FC236}">
                <a16:creationId xmlns:a16="http://schemas.microsoft.com/office/drawing/2014/main" id="{62A5D564-723E-859D-FBE3-F44DC048AB7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39581" y="4247678"/>
            <a:ext cx="279436" cy="279436"/>
          </a:xfrm>
          <a:prstGeom prst="rect">
            <a:avLst/>
          </a:prstGeom>
          <a:noFill/>
          <a:extLst>
            <a:ext uri="{909E8E84-426E-40DD-AFC4-6F175D3DCCD1}">
              <a14:hiddenFill xmlns:a14="http://schemas.microsoft.com/office/drawing/2010/main">
                <a:solidFill>
                  <a:srgbClr val="FFFFFF"/>
                </a:solidFill>
              </a14:hiddenFill>
            </a:ext>
          </a:extLst>
        </p:spPr>
      </p:pic>
      <p:pic>
        <p:nvPicPr>
          <p:cNvPr id="303" name="Picture 302" descr="90+ Climate Survey Stock Illustrations, Royalty-Free Vector Graphics &amp; Clip  Art - iStock | Human resources, Satisfaction">
            <a:extLst>
              <a:ext uri="{FF2B5EF4-FFF2-40B4-BE49-F238E27FC236}">
                <a16:creationId xmlns:a16="http://schemas.microsoft.com/office/drawing/2014/main" id="{B6FBD1F2-31FB-6EF8-2BFE-591473A89DD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55137" y="5383488"/>
            <a:ext cx="390813" cy="403192"/>
          </a:xfrm>
          <a:prstGeom prst="rect">
            <a:avLst/>
          </a:prstGeom>
          <a:noFill/>
          <a:extLst>
            <a:ext uri="{909E8E84-426E-40DD-AFC4-6F175D3DCCD1}">
              <a14:hiddenFill xmlns:a14="http://schemas.microsoft.com/office/drawing/2010/main">
                <a:solidFill>
                  <a:srgbClr val="FFFFFF"/>
                </a:solidFill>
              </a14:hiddenFill>
            </a:ext>
          </a:extLst>
        </p:spPr>
      </p:pic>
      <p:pic>
        <p:nvPicPr>
          <p:cNvPr id="304" name="Picture 303" descr="User Male Icon SVG Vector &amp; PNG Free Download | UXWing">
            <a:extLst>
              <a:ext uri="{FF2B5EF4-FFF2-40B4-BE49-F238E27FC236}">
                <a16:creationId xmlns:a16="http://schemas.microsoft.com/office/drawing/2014/main" id="{F3773DEA-97E4-F265-BD53-79DCB909F79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37367" y="666759"/>
            <a:ext cx="574257" cy="574257"/>
          </a:xfrm>
          <a:prstGeom prst="rect">
            <a:avLst/>
          </a:prstGeom>
          <a:noFill/>
          <a:extLst>
            <a:ext uri="{909E8E84-426E-40DD-AFC4-6F175D3DCCD1}">
              <a14:hiddenFill xmlns:a14="http://schemas.microsoft.com/office/drawing/2010/main">
                <a:solidFill>
                  <a:srgbClr val="FFFFFF"/>
                </a:solidFill>
              </a14:hiddenFill>
            </a:ext>
          </a:extLst>
        </p:spPr>
      </p:pic>
      <p:pic>
        <p:nvPicPr>
          <p:cNvPr id="305" name="Picture 304" descr="Woman - Flat - Wired - Lordicon">
            <a:extLst>
              <a:ext uri="{FF2B5EF4-FFF2-40B4-BE49-F238E27FC236}">
                <a16:creationId xmlns:a16="http://schemas.microsoft.com/office/drawing/2014/main" id="{CBE9E0AF-C596-70D5-015C-25872E144F0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31616" y="638179"/>
            <a:ext cx="685133" cy="685133"/>
          </a:xfrm>
          <a:prstGeom prst="rect">
            <a:avLst/>
          </a:prstGeom>
          <a:noFill/>
          <a:extLst>
            <a:ext uri="{909E8E84-426E-40DD-AFC4-6F175D3DCCD1}">
              <a14:hiddenFill xmlns:a14="http://schemas.microsoft.com/office/drawing/2010/main">
                <a:solidFill>
                  <a:srgbClr val="FFFFFF"/>
                </a:solidFill>
              </a14:hiddenFill>
            </a:ext>
          </a:extLst>
        </p:spPr>
      </p:pic>
      <p:sp>
        <p:nvSpPr>
          <p:cNvPr id="306" name="TextBox 1065">
            <a:extLst>
              <a:ext uri="{FF2B5EF4-FFF2-40B4-BE49-F238E27FC236}">
                <a16:creationId xmlns:a16="http://schemas.microsoft.com/office/drawing/2014/main" id="{7C43C2CB-1DBE-01FC-D814-F8C701F939C0}"/>
              </a:ext>
            </a:extLst>
          </p:cNvPr>
          <p:cNvSpPr txBox="1"/>
          <p:nvPr/>
        </p:nvSpPr>
        <p:spPr>
          <a:xfrm>
            <a:off x="3337712" y="1244880"/>
            <a:ext cx="957072"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rPr dirty="0"/>
              <a:t>▲ 1.6% vs prev.</a:t>
            </a:r>
          </a:p>
        </p:txBody>
      </p:sp>
      <p:pic>
        <p:nvPicPr>
          <p:cNvPr id="307" name="Picture 306" descr="Overtime - Free time and date icons">
            <a:extLst>
              <a:ext uri="{FF2B5EF4-FFF2-40B4-BE49-F238E27FC236}">
                <a16:creationId xmlns:a16="http://schemas.microsoft.com/office/drawing/2014/main" id="{AD9968CE-B118-8C9C-53E4-DD53511B7E3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127724" y="3051899"/>
            <a:ext cx="477794" cy="477794"/>
          </a:xfrm>
          <a:prstGeom prst="rect">
            <a:avLst/>
          </a:prstGeom>
          <a:noFill/>
          <a:extLst>
            <a:ext uri="{909E8E84-426E-40DD-AFC4-6F175D3DCCD1}">
              <a14:hiddenFill xmlns:a14="http://schemas.microsoft.com/office/drawing/2010/main">
                <a:solidFill>
                  <a:srgbClr val="FFFFFF"/>
                </a:solidFill>
              </a14:hiddenFill>
            </a:ext>
          </a:extLst>
        </p:spPr>
      </p:pic>
      <p:pic>
        <p:nvPicPr>
          <p:cNvPr id="308" name="Picture 307" descr="Overtime Generic color lineal-color icon | Freepik">
            <a:extLst>
              <a:ext uri="{FF2B5EF4-FFF2-40B4-BE49-F238E27FC236}">
                <a16:creationId xmlns:a16="http://schemas.microsoft.com/office/drawing/2014/main" id="{878ECBC1-E6C0-A44F-822E-96408993BB6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308844" y="3067246"/>
            <a:ext cx="401379" cy="401379"/>
          </a:xfrm>
          <a:prstGeom prst="rect">
            <a:avLst/>
          </a:prstGeom>
          <a:noFill/>
          <a:extLst>
            <a:ext uri="{909E8E84-426E-40DD-AFC4-6F175D3DCCD1}">
              <a14:hiddenFill xmlns:a14="http://schemas.microsoft.com/office/drawing/2010/main">
                <a:solidFill>
                  <a:srgbClr val="FFFFFF"/>
                </a:solidFill>
              </a14:hiddenFill>
            </a:ext>
          </a:extLst>
        </p:spPr>
      </p:pic>
      <p:pic>
        <p:nvPicPr>
          <p:cNvPr id="309" name="Picture 308" descr="Average age icon Vector Images &amp; Graphics for Commercial Use | VectorStock">
            <a:extLst>
              <a:ext uri="{FF2B5EF4-FFF2-40B4-BE49-F238E27FC236}">
                <a16:creationId xmlns:a16="http://schemas.microsoft.com/office/drawing/2014/main" id="{E26ADEFC-B317-977B-ADEE-530E93E76D4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101471" y="691478"/>
            <a:ext cx="519874" cy="519874"/>
          </a:xfrm>
          <a:prstGeom prst="rect">
            <a:avLst/>
          </a:prstGeom>
          <a:noFill/>
          <a:extLst>
            <a:ext uri="{909E8E84-426E-40DD-AFC4-6F175D3DCCD1}">
              <a14:hiddenFill xmlns:a14="http://schemas.microsoft.com/office/drawing/2010/main">
                <a:solidFill>
                  <a:srgbClr val="FFFFFF"/>
                </a:solidFill>
              </a14:hiddenFill>
            </a:ext>
          </a:extLst>
        </p:spPr>
      </p:pic>
      <p:pic>
        <p:nvPicPr>
          <p:cNvPr id="310" name="Picture 309" descr="Download Free Service time Icons in PNG &amp; SVG">
            <a:extLst>
              <a:ext uri="{FF2B5EF4-FFF2-40B4-BE49-F238E27FC236}">
                <a16:creationId xmlns:a16="http://schemas.microsoft.com/office/drawing/2014/main" id="{6E5777A9-D824-5C45-94B2-57BAF221580B}"/>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188052" y="694567"/>
            <a:ext cx="411336" cy="411336"/>
          </a:xfrm>
          <a:prstGeom prst="rect">
            <a:avLst/>
          </a:prstGeom>
          <a:noFill/>
          <a:extLst>
            <a:ext uri="{909E8E84-426E-40DD-AFC4-6F175D3DCCD1}">
              <a14:hiddenFill xmlns:a14="http://schemas.microsoft.com/office/drawing/2010/main">
                <a:solidFill>
                  <a:srgbClr val="FFFFFF"/>
                </a:solidFill>
              </a14:hiddenFill>
            </a:ext>
          </a:extLst>
        </p:spPr>
      </p:pic>
      <p:pic>
        <p:nvPicPr>
          <p:cNvPr id="311" name="Picture 310" descr="Leave - Free business icons">
            <a:extLst>
              <a:ext uri="{FF2B5EF4-FFF2-40B4-BE49-F238E27FC236}">
                <a16:creationId xmlns:a16="http://schemas.microsoft.com/office/drawing/2014/main" id="{08A67947-7577-FEF0-3B35-9452687C16A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23479" y="3068582"/>
            <a:ext cx="574258" cy="574258"/>
          </a:xfrm>
          <a:prstGeom prst="rect">
            <a:avLst/>
          </a:prstGeom>
          <a:noFill/>
          <a:extLst>
            <a:ext uri="{909E8E84-426E-40DD-AFC4-6F175D3DCCD1}">
              <a14:hiddenFill xmlns:a14="http://schemas.microsoft.com/office/drawing/2010/main">
                <a:solidFill>
                  <a:srgbClr val="FFFFFF"/>
                </a:solidFill>
              </a14:hiddenFill>
            </a:ext>
          </a:extLst>
        </p:spPr>
      </p:pic>
      <p:sp>
        <p:nvSpPr>
          <p:cNvPr id="313" name="TextBox 53">
            <a:extLst>
              <a:ext uri="{FF2B5EF4-FFF2-40B4-BE49-F238E27FC236}">
                <a16:creationId xmlns:a16="http://schemas.microsoft.com/office/drawing/2014/main" id="{B732DD50-9D1F-D16A-1E34-185976E341FD}"/>
              </a:ext>
            </a:extLst>
          </p:cNvPr>
          <p:cNvSpPr txBox="1"/>
          <p:nvPr/>
        </p:nvSpPr>
        <p:spPr>
          <a:xfrm>
            <a:off x="2803717" y="23028"/>
            <a:ext cx="4128181" cy="446276"/>
          </a:xfrm>
          <a:prstGeom prst="rect">
            <a:avLst/>
          </a:prstGeom>
          <a:solidFill>
            <a:schemeClr val="accent3">
              <a:lumMod val="50000"/>
            </a:schemeClr>
          </a:solidFill>
        </p:spPr>
        <p:style>
          <a:lnRef idx="0">
            <a:schemeClr val="accent6"/>
          </a:lnRef>
          <a:fillRef idx="3">
            <a:schemeClr val="accent6"/>
          </a:fillRef>
          <a:effectRef idx="3">
            <a:schemeClr val="accent6"/>
          </a:effectRef>
          <a:fontRef idx="minor">
            <a:schemeClr val="lt1"/>
          </a:fontRef>
        </p:style>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2300" b="1">
                <a:solidFill>
                  <a:srgbClr val="FFFFFF"/>
                </a:solidFill>
              </a:defRPr>
            </a:pPr>
            <a:r>
              <a:rPr dirty="0"/>
              <a:t>HR Dashboard | </a:t>
            </a:r>
            <a:r>
              <a:rPr lang="en-US" dirty="0"/>
              <a:t>KPI Summary</a:t>
            </a:r>
            <a:endParaRPr dirty="0"/>
          </a:p>
        </p:txBody>
      </p:sp>
      <p:sp>
        <p:nvSpPr>
          <p:cNvPr id="314" name="TextBox 54">
            <a:extLst>
              <a:ext uri="{FF2B5EF4-FFF2-40B4-BE49-F238E27FC236}">
                <a16:creationId xmlns:a16="http://schemas.microsoft.com/office/drawing/2014/main" id="{E96152B3-47A5-4F3C-33B9-4C7E2696BA40}"/>
              </a:ext>
            </a:extLst>
          </p:cNvPr>
          <p:cNvSpPr txBox="1"/>
          <p:nvPr/>
        </p:nvSpPr>
        <p:spPr>
          <a:xfrm>
            <a:off x="10232388" y="256032"/>
            <a:ext cx="1197764"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sz="1000">
                <a:solidFill>
                  <a:srgbClr val="FFFFFF"/>
                </a:solidFill>
              </a:defRPr>
            </a:pPr>
            <a:r>
              <a:rPr lang="en-US" b="1" dirty="0">
                <a:solidFill>
                  <a:schemeClr val="accent1">
                    <a:lumMod val="75000"/>
                  </a:schemeClr>
                </a:solidFill>
              </a:rPr>
              <a:t>May-26 VS June-26</a:t>
            </a:r>
          </a:p>
        </p:txBody>
      </p:sp>
      <p:sp>
        <p:nvSpPr>
          <p:cNvPr id="315" name="Rounded Rectangle 4">
            <a:extLst>
              <a:ext uri="{FF2B5EF4-FFF2-40B4-BE49-F238E27FC236}">
                <a16:creationId xmlns:a16="http://schemas.microsoft.com/office/drawing/2014/main" id="{74497C90-6FFF-681F-0282-05524F3CD29F}"/>
              </a:ext>
            </a:extLst>
          </p:cNvPr>
          <p:cNvSpPr/>
          <p:nvPr/>
        </p:nvSpPr>
        <p:spPr>
          <a:xfrm>
            <a:off x="411632" y="582648"/>
            <a:ext cx="2560320" cy="987552"/>
          </a:xfrm>
          <a:prstGeom prst="roundRect">
            <a:avLst/>
          </a:prstGeom>
          <a:solidFill>
            <a:srgbClr val="FFFFCC"/>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16" name="TextBox 1041">
            <a:extLst>
              <a:ext uri="{FF2B5EF4-FFF2-40B4-BE49-F238E27FC236}">
                <a16:creationId xmlns:a16="http://schemas.microsoft.com/office/drawing/2014/main" id="{0FA7E5C1-D440-F9E8-761A-BA21F8B7F7EC}"/>
              </a:ext>
            </a:extLst>
          </p:cNvPr>
          <p:cNvSpPr txBox="1"/>
          <p:nvPr/>
        </p:nvSpPr>
        <p:spPr>
          <a:xfrm>
            <a:off x="521360" y="674088"/>
            <a:ext cx="2340864" cy="201168"/>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t>Headcount</a:t>
            </a:r>
          </a:p>
        </p:txBody>
      </p:sp>
      <p:sp>
        <p:nvSpPr>
          <p:cNvPr id="317" name="TextBox 1042">
            <a:extLst>
              <a:ext uri="{FF2B5EF4-FFF2-40B4-BE49-F238E27FC236}">
                <a16:creationId xmlns:a16="http://schemas.microsoft.com/office/drawing/2014/main" id="{E25DB0A7-0D5F-CC52-53D9-2EB0A0CA0E59}"/>
              </a:ext>
            </a:extLst>
          </p:cNvPr>
          <p:cNvSpPr txBox="1"/>
          <p:nvPr/>
        </p:nvSpPr>
        <p:spPr>
          <a:xfrm>
            <a:off x="1414312" y="930120"/>
            <a:ext cx="554960"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t>176</a:t>
            </a:r>
            <a:endParaRPr dirty="0"/>
          </a:p>
        </p:txBody>
      </p:sp>
      <p:sp>
        <p:nvSpPr>
          <p:cNvPr id="318" name="TextBox 1043">
            <a:extLst>
              <a:ext uri="{FF2B5EF4-FFF2-40B4-BE49-F238E27FC236}">
                <a16:creationId xmlns:a16="http://schemas.microsoft.com/office/drawing/2014/main" id="{666650A5-9F0A-66C5-A385-883B275B2CE0}"/>
              </a:ext>
            </a:extLst>
          </p:cNvPr>
          <p:cNvSpPr txBox="1"/>
          <p:nvPr/>
        </p:nvSpPr>
        <p:spPr>
          <a:xfrm>
            <a:off x="1189892" y="1323312"/>
            <a:ext cx="1003801"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C00000"/>
                </a:solidFill>
              </a:defRPr>
            </a:pPr>
            <a:r>
              <a:rPr dirty="0">
                <a:solidFill>
                  <a:srgbClr val="00B050"/>
                </a:solidFill>
              </a:rPr>
              <a:t> </a:t>
            </a:r>
            <a:r>
              <a:rPr lang="en-US" dirty="0">
                <a:solidFill>
                  <a:srgbClr val="C00000"/>
                </a:solidFill>
              </a:rPr>
              <a:t>▲ </a:t>
            </a:r>
            <a:r>
              <a:rPr lang="en-US" sz="900" b="1" dirty="0">
                <a:solidFill>
                  <a:srgbClr val="C00000"/>
                </a:solidFill>
              </a:rPr>
              <a:t>1.7 </a:t>
            </a:r>
            <a:r>
              <a:rPr sz="900" b="1" dirty="0">
                <a:solidFill>
                  <a:srgbClr val="C00000"/>
                </a:solidFill>
              </a:rPr>
              <a:t>% vs prev.</a:t>
            </a:r>
          </a:p>
        </p:txBody>
      </p:sp>
      <p:sp>
        <p:nvSpPr>
          <p:cNvPr id="319" name="Rounded Rectangle 8">
            <a:extLst>
              <a:ext uri="{FF2B5EF4-FFF2-40B4-BE49-F238E27FC236}">
                <a16:creationId xmlns:a16="http://schemas.microsoft.com/office/drawing/2014/main" id="{CE4DA844-14F9-3335-18E1-CDC3B84262FD}"/>
              </a:ext>
            </a:extLst>
          </p:cNvPr>
          <p:cNvSpPr/>
          <p:nvPr/>
        </p:nvSpPr>
        <p:spPr>
          <a:xfrm>
            <a:off x="411632" y="1771368"/>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20" name="TextBox 1060">
            <a:extLst>
              <a:ext uri="{FF2B5EF4-FFF2-40B4-BE49-F238E27FC236}">
                <a16:creationId xmlns:a16="http://schemas.microsoft.com/office/drawing/2014/main" id="{D2DE5839-D9D8-757A-C3A5-484A7BE31383}"/>
              </a:ext>
            </a:extLst>
          </p:cNvPr>
          <p:cNvSpPr txBox="1"/>
          <p:nvPr/>
        </p:nvSpPr>
        <p:spPr>
          <a:xfrm>
            <a:off x="521360" y="1862808"/>
            <a:ext cx="2340864" cy="201168"/>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t>Hires</a:t>
            </a:r>
          </a:p>
        </p:txBody>
      </p:sp>
      <p:sp>
        <p:nvSpPr>
          <p:cNvPr id="321" name="TextBox 1069">
            <a:extLst>
              <a:ext uri="{FF2B5EF4-FFF2-40B4-BE49-F238E27FC236}">
                <a16:creationId xmlns:a16="http://schemas.microsoft.com/office/drawing/2014/main" id="{4461D8CE-3F5F-B2D3-6ECE-677389E91459}"/>
              </a:ext>
            </a:extLst>
          </p:cNvPr>
          <p:cNvSpPr txBox="1"/>
          <p:nvPr/>
        </p:nvSpPr>
        <p:spPr>
          <a:xfrm>
            <a:off x="1537742" y="2118840"/>
            <a:ext cx="308098"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t>3</a:t>
            </a:r>
            <a:endParaRPr dirty="0"/>
          </a:p>
        </p:txBody>
      </p:sp>
      <p:sp>
        <p:nvSpPr>
          <p:cNvPr id="322" name="TextBox 1072">
            <a:extLst>
              <a:ext uri="{FF2B5EF4-FFF2-40B4-BE49-F238E27FC236}">
                <a16:creationId xmlns:a16="http://schemas.microsoft.com/office/drawing/2014/main" id="{CA57C8E4-F52A-8C95-682E-09ECF9CDF118}"/>
              </a:ext>
            </a:extLst>
          </p:cNvPr>
          <p:cNvSpPr txBox="1"/>
          <p:nvPr/>
        </p:nvSpPr>
        <p:spPr>
          <a:xfrm>
            <a:off x="1271646" y="2512032"/>
            <a:ext cx="840295"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rPr lang="en-US" dirty="0">
                <a:solidFill>
                  <a:srgbClr val="FFC000"/>
                </a:solidFill>
              </a:rPr>
              <a:t>200%</a:t>
            </a:r>
            <a:r>
              <a:rPr dirty="0">
                <a:solidFill>
                  <a:srgbClr val="FFC000"/>
                </a:solidFill>
              </a:rPr>
              <a:t> vs prev.</a:t>
            </a:r>
          </a:p>
        </p:txBody>
      </p:sp>
      <p:sp>
        <p:nvSpPr>
          <p:cNvPr id="323" name="Rounded Rectangle 12">
            <a:extLst>
              <a:ext uri="{FF2B5EF4-FFF2-40B4-BE49-F238E27FC236}">
                <a16:creationId xmlns:a16="http://schemas.microsoft.com/office/drawing/2014/main" id="{E8A35BB5-BA9E-4681-0E7C-F95E276B6813}"/>
              </a:ext>
            </a:extLst>
          </p:cNvPr>
          <p:cNvSpPr/>
          <p:nvPr/>
        </p:nvSpPr>
        <p:spPr>
          <a:xfrm>
            <a:off x="3337712" y="1771368"/>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24" name="TextBox 1074">
            <a:extLst>
              <a:ext uri="{FF2B5EF4-FFF2-40B4-BE49-F238E27FC236}">
                <a16:creationId xmlns:a16="http://schemas.microsoft.com/office/drawing/2014/main" id="{F1986E3D-7873-5FCC-C16F-458C28BAB779}"/>
              </a:ext>
            </a:extLst>
          </p:cNvPr>
          <p:cNvSpPr txBox="1"/>
          <p:nvPr/>
        </p:nvSpPr>
        <p:spPr>
          <a:xfrm>
            <a:off x="3447440" y="1862808"/>
            <a:ext cx="2340864" cy="201168"/>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t>Exits</a:t>
            </a:r>
          </a:p>
        </p:txBody>
      </p:sp>
      <p:sp>
        <p:nvSpPr>
          <p:cNvPr id="325" name="TextBox 1075">
            <a:extLst>
              <a:ext uri="{FF2B5EF4-FFF2-40B4-BE49-F238E27FC236}">
                <a16:creationId xmlns:a16="http://schemas.microsoft.com/office/drawing/2014/main" id="{83E8E4A0-1ACB-7FF7-B9AB-C97193532BD4}"/>
              </a:ext>
            </a:extLst>
          </p:cNvPr>
          <p:cNvSpPr txBox="1"/>
          <p:nvPr/>
        </p:nvSpPr>
        <p:spPr>
          <a:xfrm>
            <a:off x="4463823" y="2118840"/>
            <a:ext cx="308098"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t>0</a:t>
            </a:r>
            <a:endParaRPr dirty="0"/>
          </a:p>
        </p:txBody>
      </p:sp>
      <p:sp>
        <p:nvSpPr>
          <p:cNvPr id="326" name="TextBox 1076">
            <a:extLst>
              <a:ext uri="{FF2B5EF4-FFF2-40B4-BE49-F238E27FC236}">
                <a16:creationId xmlns:a16="http://schemas.microsoft.com/office/drawing/2014/main" id="{18C991B3-E112-2647-6708-1C4E5B17DE17}"/>
              </a:ext>
            </a:extLst>
          </p:cNvPr>
          <p:cNvSpPr txBox="1"/>
          <p:nvPr/>
        </p:nvSpPr>
        <p:spPr>
          <a:xfrm>
            <a:off x="4071088" y="2512032"/>
            <a:ext cx="1093569"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rPr dirty="0"/>
              <a:t> </a:t>
            </a:r>
            <a:r>
              <a:rPr lang="en-US" dirty="0"/>
              <a:t>▲ </a:t>
            </a:r>
            <a:r>
              <a:rPr lang="en-US" sz="900" b="1" dirty="0">
                <a:solidFill>
                  <a:srgbClr val="2E7D32"/>
                </a:solidFill>
              </a:rPr>
              <a:t>100.0</a:t>
            </a:r>
            <a:r>
              <a:rPr sz="900" b="1" dirty="0">
                <a:solidFill>
                  <a:srgbClr val="2E7D32"/>
                </a:solidFill>
              </a:rPr>
              <a:t>% vs prev.</a:t>
            </a:r>
          </a:p>
        </p:txBody>
      </p:sp>
      <p:sp>
        <p:nvSpPr>
          <p:cNvPr id="327" name="Rounded Rectangle 16">
            <a:extLst>
              <a:ext uri="{FF2B5EF4-FFF2-40B4-BE49-F238E27FC236}">
                <a16:creationId xmlns:a16="http://schemas.microsoft.com/office/drawing/2014/main" id="{2820FE81-8684-4ED5-5A8F-FAA61C99ED1B}"/>
              </a:ext>
            </a:extLst>
          </p:cNvPr>
          <p:cNvSpPr/>
          <p:nvPr/>
        </p:nvSpPr>
        <p:spPr>
          <a:xfrm>
            <a:off x="6263792" y="1771368"/>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28" name="TextBox 1078">
            <a:extLst>
              <a:ext uri="{FF2B5EF4-FFF2-40B4-BE49-F238E27FC236}">
                <a16:creationId xmlns:a16="http://schemas.microsoft.com/office/drawing/2014/main" id="{FFF50E90-BFD6-B741-67F9-6A0606FA1993}"/>
              </a:ext>
            </a:extLst>
          </p:cNvPr>
          <p:cNvSpPr txBox="1"/>
          <p:nvPr/>
        </p:nvSpPr>
        <p:spPr>
          <a:xfrm>
            <a:off x="6373520" y="1862808"/>
            <a:ext cx="2340864" cy="201168"/>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t>Turnover %</a:t>
            </a:r>
          </a:p>
        </p:txBody>
      </p:sp>
      <p:sp>
        <p:nvSpPr>
          <p:cNvPr id="329" name="TextBox 1079">
            <a:extLst>
              <a:ext uri="{FF2B5EF4-FFF2-40B4-BE49-F238E27FC236}">
                <a16:creationId xmlns:a16="http://schemas.microsoft.com/office/drawing/2014/main" id="{221E0F2D-DB1C-373C-9B78-37953AF6F2CB}"/>
              </a:ext>
            </a:extLst>
          </p:cNvPr>
          <p:cNvSpPr txBox="1"/>
          <p:nvPr/>
        </p:nvSpPr>
        <p:spPr>
          <a:xfrm>
            <a:off x="7206359" y="2118840"/>
            <a:ext cx="675186"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dirty="0"/>
              <a:t>0.</a:t>
            </a:r>
            <a:r>
              <a:rPr lang="en-US" dirty="0"/>
              <a:t>9</a:t>
            </a:r>
            <a:r>
              <a:rPr dirty="0"/>
              <a:t>%</a:t>
            </a:r>
          </a:p>
        </p:txBody>
      </p:sp>
      <p:sp>
        <p:nvSpPr>
          <p:cNvPr id="330" name="TextBox 1080">
            <a:extLst>
              <a:ext uri="{FF2B5EF4-FFF2-40B4-BE49-F238E27FC236}">
                <a16:creationId xmlns:a16="http://schemas.microsoft.com/office/drawing/2014/main" id="{96164AD1-39EB-196F-8B71-D96AAA398CF6}"/>
              </a:ext>
            </a:extLst>
          </p:cNvPr>
          <p:cNvSpPr txBox="1"/>
          <p:nvPr/>
        </p:nvSpPr>
        <p:spPr>
          <a:xfrm>
            <a:off x="7057279" y="2512032"/>
            <a:ext cx="973344"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rPr dirty="0"/>
              <a:t> </a:t>
            </a:r>
            <a:r>
              <a:rPr lang="en-US" dirty="0">
                <a:solidFill>
                  <a:srgbClr val="C00000"/>
                </a:solidFill>
              </a:rPr>
              <a:t>▲ 55 </a:t>
            </a:r>
            <a:r>
              <a:rPr dirty="0">
                <a:solidFill>
                  <a:srgbClr val="C00000"/>
                </a:solidFill>
              </a:rPr>
              <a:t>% vs prev.</a:t>
            </a:r>
          </a:p>
        </p:txBody>
      </p:sp>
      <p:sp>
        <p:nvSpPr>
          <p:cNvPr id="331" name="Rounded Rectangle 20">
            <a:extLst>
              <a:ext uri="{FF2B5EF4-FFF2-40B4-BE49-F238E27FC236}">
                <a16:creationId xmlns:a16="http://schemas.microsoft.com/office/drawing/2014/main" id="{29E0D4DD-A8DD-C241-D0AD-11D7946215A5}"/>
              </a:ext>
            </a:extLst>
          </p:cNvPr>
          <p:cNvSpPr/>
          <p:nvPr/>
        </p:nvSpPr>
        <p:spPr>
          <a:xfrm>
            <a:off x="9189872" y="1771368"/>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32" name="TextBox 1082">
            <a:extLst>
              <a:ext uri="{FF2B5EF4-FFF2-40B4-BE49-F238E27FC236}">
                <a16:creationId xmlns:a16="http://schemas.microsoft.com/office/drawing/2014/main" id="{96CE03A5-D0C8-2066-F9A9-C04A7776BE46}"/>
              </a:ext>
            </a:extLst>
          </p:cNvPr>
          <p:cNvSpPr txBox="1"/>
          <p:nvPr/>
        </p:nvSpPr>
        <p:spPr>
          <a:xfrm>
            <a:off x="9299600" y="1862808"/>
            <a:ext cx="1010213"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Attrition</a:t>
            </a:r>
            <a:r>
              <a:rPr dirty="0"/>
              <a:t> </a:t>
            </a:r>
            <a:r>
              <a:rPr lang="en-US" dirty="0"/>
              <a:t>rate </a:t>
            </a:r>
            <a:r>
              <a:rPr dirty="0"/>
              <a:t>%</a:t>
            </a:r>
          </a:p>
        </p:txBody>
      </p:sp>
      <p:sp>
        <p:nvSpPr>
          <p:cNvPr id="333" name="TextBox 1083">
            <a:extLst>
              <a:ext uri="{FF2B5EF4-FFF2-40B4-BE49-F238E27FC236}">
                <a16:creationId xmlns:a16="http://schemas.microsoft.com/office/drawing/2014/main" id="{E1D44858-DD5C-731F-FF09-70FEEBF5DDE0}"/>
              </a:ext>
            </a:extLst>
          </p:cNvPr>
          <p:cNvSpPr txBox="1"/>
          <p:nvPr/>
        </p:nvSpPr>
        <p:spPr>
          <a:xfrm>
            <a:off x="10132439" y="2118840"/>
            <a:ext cx="675186"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t>0.0</a:t>
            </a:r>
            <a:r>
              <a:rPr dirty="0"/>
              <a:t>%</a:t>
            </a:r>
          </a:p>
        </p:txBody>
      </p:sp>
      <p:sp>
        <p:nvSpPr>
          <p:cNvPr id="334" name="TextBox 1084">
            <a:extLst>
              <a:ext uri="{FF2B5EF4-FFF2-40B4-BE49-F238E27FC236}">
                <a16:creationId xmlns:a16="http://schemas.microsoft.com/office/drawing/2014/main" id="{1B093BDB-5364-6630-8D7E-94FA9372E294}"/>
              </a:ext>
            </a:extLst>
          </p:cNvPr>
          <p:cNvSpPr txBox="1"/>
          <p:nvPr/>
        </p:nvSpPr>
        <p:spPr>
          <a:xfrm>
            <a:off x="9967329" y="2512032"/>
            <a:ext cx="1005404"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C00000"/>
                </a:solidFill>
              </a:defRPr>
            </a:pPr>
            <a:r>
              <a:rPr lang="en-US" sz="900" b="1" dirty="0">
                <a:solidFill>
                  <a:srgbClr val="2E7D32"/>
                </a:solidFill>
              </a:rPr>
              <a:t>▼</a:t>
            </a:r>
            <a:r>
              <a:rPr lang="en-US" dirty="0"/>
              <a:t> </a:t>
            </a:r>
            <a:r>
              <a:rPr lang="en-US" sz="900" b="1" dirty="0">
                <a:solidFill>
                  <a:srgbClr val="2E7D32"/>
                </a:solidFill>
              </a:rPr>
              <a:t>100 % vs prev.</a:t>
            </a:r>
          </a:p>
        </p:txBody>
      </p:sp>
      <p:sp>
        <p:nvSpPr>
          <p:cNvPr id="335" name="Rounded Rectangle 24">
            <a:extLst>
              <a:ext uri="{FF2B5EF4-FFF2-40B4-BE49-F238E27FC236}">
                <a16:creationId xmlns:a16="http://schemas.microsoft.com/office/drawing/2014/main" id="{2D8C7ECA-CBE0-824D-E011-F0D4CCD8678E}"/>
              </a:ext>
            </a:extLst>
          </p:cNvPr>
          <p:cNvSpPr/>
          <p:nvPr/>
        </p:nvSpPr>
        <p:spPr>
          <a:xfrm>
            <a:off x="3343808" y="2920464"/>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36" name="TextBox 1086">
            <a:extLst>
              <a:ext uri="{FF2B5EF4-FFF2-40B4-BE49-F238E27FC236}">
                <a16:creationId xmlns:a16="http://schemas.microsoft.com/office/drawing/2014/main" id="{FD5A0F58-AFFE-CC40-5F01-963F3E179425}"/>
              </a:ext>
            </a:extLst>
          </p:cNvPr>
          <p:cNvSpPr txBox="1"/>
          <p:nvPr/>
        </p:nvSpPr>
        <p:spPr>
          <a:xfrm>
            <a:off x="3453536" y="3011904"/>
            <a:ext cx="827471"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Leave COST </a:t>
            </a:r>
            <a:endParaRPr dirty="0"/>
          </a:p>
        </p:txBody>
      </p:sp>
      <p:sp>
        <p:nvSpPr>
          <p:cNvPr id="337" name="TextBox 1087">
            <a:extLst>
              <a:ext uri="{FF2B5EF4-FFF2-40B4-BE49-F238E27FC236}">
                <a16:creationId xmlns:a16="http://schemas.microsoft.com/office/drawing/2014/main" id="{B994A829-587B-0D4F-5C6B-291837B1DDE4}"/>
              </a:ext>
            </a:extLst>
          </p:cNvPr>
          <p:cNvSpPr txBox="1"/>
          <p:nvPr/>
        </p:nvSpPr>
        <p:spPr>
          <a:xfrm>
            <a:off x="3884825" y="3267936"/>
            <a:ext cx="1478290"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t>$ 453,847.41</a:t>
            </a:r>
            <a:endParaRPr dirty="0"/>
          </a:p>
        </p:txBody>
      </p:sp>
      <p:sp>
        <p:nvSpPr>
          <p:cNvPr id="338" name="TextBox 1088">
            <a:extLst>
              <a:ext uri="{FF2B5EF4-FFF2-40B4-BE49-F238E27FC236}">
                <a16:creationId xmlns:a16="http://schemas.microsoft.com/office/drawing/2014/main" id="{18E9D9EB-0A60-216A-203B-854536E7E79B}"/>
              </a:ext>
            </a:extLst>
          </p:cNvPr>
          <p:cNvSpPr txBox="1"/>
          <p:nvPr/>
        </p:nvSpPr>
        <p:spPr>
          <a:xfrm>
            <a:off x="4137296" y="3661128"/>
            <a:ext cx="973344" cy="3693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C00000"/>
                </a:solidFill>
              </a:defRPr>
            </a:pPr>
            <a:r>
              <a:rPr dirty="0"/>
              <a:t> </a:t>
            </a:r>
            <a:r>
              <a:rPr lang="en-US" dirty="0">
                <a:solidFill>
                  <a:srgbClr val="C00000"/>
                </a:solidFill>
              </a:rPr>
              <a:t>▲ 11 % vs prev.</a:t>
            </a:r>
            <a:endParaRPr lang="en-US" dirty="0"/>
          </a:p>
          <a:p>
            <a:pPr algn="ctr">
              <a:defRPr sz="900" b="1">
                <a:solidFill>
                  <a:srgbClr val="C00000"/>
                </a:solidFill>
              </a:defRPr>
            </a:pPr>
            <a:endParaRPr sz="900" b="1" dirty="0">
              <a:solidFill>
                <a:srgbClr val="2E7D32"/>
              </a:solidFill>
            </a:endParaRPr>
          </a:p>
        </p:txBody>
      </p:sp>
      <p:sp>
        <p:nvSpPr>
          <p:cNvPr id="339" name="Rounded Rectangle 28">
            <a:extLst>
              <a:ext uri="{FF2B5EF4-FFF2-40B4-BE49-F238E27FC236}">
                <a16:creationId xmlns:a16="http://schemas.microsoft.com/office/drawing/2014/main" id="{6CAE8B77-16C3-91CC-6C03-F2811DB2E756}"/>
              </a:ext>
            </a:extLst>
          </p:cNvPr>
          <p:cNvSpPr/>
          <p:nvPr/>
        </p:nvSpPr>
        <p:spPr>
          <a:xfrm>
            <a:off x="6269888" y="2920464"/>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40" name="TextBox 1090">
            <a:extLst>
              <a:ext uri="{FF2B5EF4-FFF2-40B4-BE49-F238E27FC236}">
                <a16:creationId xmlns:a16="http://schemas.microsoft.com/office/drawing/2014/main" id="{31A4356D-AD75-6A9A-04A4-D33FB90DFA62}"/>
              </a:ext>
            </a:extLst>
          </p:cNvPr>
          <p:cNvSpPr txBox="1"/>
          <p:nvPr/>
        </p:nvSpPr>
        <p:spPr>
          <a:xfrm>
            <a:off x="6379616" y="3011904"/>
            <a:ext cx="2340864" cy="201168"/>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t>Staff cost</a:t>
            </a:r>
          </a:p>
        </p:txBody>
      </p:sp>
      <p:sp>
        <p:nvSpPr>
          <p:cNvPr id="341" name="TextBox 1091">
            <a:extLst>
              <a:ext uri="{FF2B5EF4-FFF2-40B4-BE49-F238E27FC236}">
                <a16:creationId xmlns:a16="http://schemas.microsoft.com/office/drawing/2014/main" id="{5943D7B1-12D7-9674-7D0F-FCD3990C5930}"/>
              </a:ext>
            </a:extLst>
          </p:cNvPr>
          <p:cNvSpPr txBox="1"/>
          <p:nvPr/>
        </p:nvSpPr>
        <p:spPr>
          <a:xfrm>
            <a:off x="6838156" y="3267936"/>
            <a:ext cx="1423788"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dirty="0"/>
              <a:t>$</a:t>
            </a:r>
            <a:r>
              <a:rPr lang="en-US" dirty="0"/>
              <a:t>941,257.00</a:t>
            </a:r>
            <a:endParaRPr dirty="0"/>
          </a:p>
        </p:txBody>
      </p:sp>
      <p:sp>
        <p:nvSpPr>
          <p:cNvPr id="342" name="TextBox 1092">
            <a:extLst>
              <a:ext uri="{FF2B5EF4-FFF2-40B4-BE49-F238E27FC236}">
                <a16:creationId xmlns:a16="http://schemas.microsoft.com/office/drawing/2014/main" id="{AA2985D5-3CD8-EC03-FB4B-C885F0F37E51}"/>
              </a:ext>
            </a:extLst>
          </p:cNvPr>
          <p:cNvSpPr txBox="1"/>
          <p:nvPr/>
        </p:nvSpPr>
        <p:spPr>
          <a:xfrm>
            <a:off x="7032119" y="3661128"/>
            <a:ext cx="1035861"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C00000"/>
                </a:solidFill>
              </a:defRPr>
            </a:pPr>
            <a:r>
              <a:rPr lang="en-US" dirty="0">
                <a:solidFill>
                  <a:srgbClr val="C00000"/>
                </a:solidFill>
              </a:rPr>
              <a:t>▲ 17.9 % vs prev.</a:t>
            </a:r>
            <a:endParaRPr lang="en-US" dirty="0"/>
          </a:p>
        </p:txBody>
      </p:sp>
      <p:sp>
        <p:nvSpPr>
          <p:cNvPr id="343" name="Rounded Rectangle 32">
            <a:extLst>
              <a:ext uri="{FF2B5EF4-FFF2-40B4-BE49-F238E27FC236}">
                <a16:creationId xmlns:a16="http://schemas.microsoft.com/office/drawing/2014/main" id="{9FDA6DFA-2BE7-A348-B181-2972BECB3211}"/>
              </a:ext>
            </a:extLst>
          </p:cNvPr>
          <p:cNvSpPr/>
          <p:nvPr/>
        </p:nvSpPr>
        <p:spPr>
          <a:xfrm>
            <a:off x="417728" y="4173192"/>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44" name="TextBox 1094">
            <a:extLst>
              <a:ext uri="{FF2B5EF4-FFF2-40B4-BE49-F238E27FC236}">
                <a16:creationId xmlns:a16="http://schemas.microsoft.com/office/drawing/2014/main" id="{E4B9B3D9-CF3D-9788-738A-6CA1CE8A4D8D}"/>
              </a:ext>
            </a:extLst>
          </p:cNvPr>
          <p:cNvSpPr txBox="1"/>
          <p:nvPr/>
        </p:nvSpPr>
        <p:spPr>
          <a:xfrm>
            <a:off x="527456" y="4264632"/>
            <a:ext cx="947695"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Volume</a:t>
            </a:r>
            <a:r>
              <a:rPr dirty="0"/>
              <a:t> / emp</a:t>
            </a:r>
          </a:p>
        </p:txBody>
      </p:sp>
      <p:sp>
        <p:nvSpPr>
          <p:cNvPr id="345" name="TextBox 1095">
            <a:extLst>
              <a:ext uri="{FF2B5EF4-FFF2-40B4-BE49-F238E27FC236}">
                <a16:creationId xmlns:a16="http://schemas.microsoft.com/office/drawing/2014/main" id="{42CC0C33-1747-2DA9-FEAB-4F2503C74D55}"/>
              </a:ext>
            </a:extLst>
          </p:cNvPr>
          <p:cNvSpPr txBox="1"/>
          <p:nvPr/>
        </p:nvSpPr>
        <p:spPr>
          <a:xfrm>
            <a:off x="1264117" y="4520664"/>
            <a:ext cx="867545"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t>327.53</a:t>
            </a:r>
            <a:endParaRPr dirty="0"/>
          </a:p>
        </p:txBody>
      </p:sp>
      <p:sp>
        <p:nvSpPr>
          <p:cNvPr id="346" name="TextBox 1096">
            <a:extLst>
              <a:ext uri="{FF2B5EF4-FFF2-40B4-BE49-F238E27FC236}">
                <a16:creationId xmlns:a16="http://schemas.microsoft.com/office/drawing/2014/main" id="{42E6314A-EC64-3347-992E-341E24CD695B}"/>
              </a:ext>
            </a:extLst>
          </p:cNvPr>
          <p:cNvSpPr txBox="1"/>
          <p:nvPr/>
        </p:nvSpPr>
        <p:spPr>
          <a:xfrm>
            <a:off x="1179958" y="4913856"/>
            <a:ext cx="1035861"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C00000"/>
                </a:solidFill>
              </a:defRPr>
            </a:pPr>
            <a:r>
              <a:rPr lang="en-US" sz="900" b="1" dirty="0">
                <a:solidFill>
                  <a:srgbClr val="C00000"/>
                </a:solidFill>
              </a:rPr>
              <a:t>▼ 9.69 % vs prev.</a:t>
            </a:r>
          </a:p>
        </p:txBody>
      </p:sp>
      <p:sp>
        <p:nvSpPr>
          <p:cNvPr id="347" name="Rounded Rectangle 36">
            <a:extLst>
              <a:ext uri="{FF2B5EF4-FFF2-40B4-BE49-F238E27FC236}">
                <a16:creationId xmlns:a16="http://schemas.microsoft.com/office/drawing/2014/main" id="{F539129C-E0B4-7207-2B6A-7EBAC45BCB4D}"/>
              </a:ext>
            </a:extLst>
          </p:cNvPr>
          <p:cNvSpPr/>
          <p:nvPr/>
        </p:nvSpPr>
        <p:spPr>
          <a:xfrm>
            <a:off x="417728" y="2920464"/>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48" name="TextBox 1098">
            <a:extLst>
              <a:ext uri="{FF2B5EF4-FFF2-40B4-BE49-F238E27FC236}">
                <a16:creationId xmlns:a16="http://schemas.microsoft.com/office/drawing/2014/main" id="{A681947F-ABCA-3C8D-AD8D-E103ADBD9994}"/>
              </a:ext>
            </a:extLst>
          </p:cNvPr>
          <p:cNvSpPr txBox="1"/>
          <p:nvPr/>
        </p:nvSpPr>
        <p:spPr>
          <a:xfrm>
            <a:off x="527456" y="3011904"/>
            <a:ext cx="971741" cy="400110"/>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Leave Balance </a:t>
            </a:r>
          </a:p>
          <a:p>
            <a:pPr>
              <a:defRPr sz="1000" b="1">
                <a:solidFill>
                  <a:srgbClr val="6B7280"/>
                </a:solidFill>
              </a:defRPr>
            </a:pPr>
            <a:r>
              <a:rPr lang="en-US" dirty="0"/>
              <a:t>(Average days)</a:t>
            </a:r>
            <a:endParaRPr dirty="0"/>
          </a:p>
        </p:txBody>
      </p:sp>
      <p:sp>
        <p:nvSpPr>
          <p:cNvPr id="349" name="TextBox 1099">
            <a:extLst>
              <a:ext uri="{FF2B5EF4-FFF2-40B4-BE49-F238E27FC236}">
                <a16:creationId xmlns:a16="http://schemas.microsoft.com/office/drawing/2014/main" id="{E0AC54A2-0361-1CDD-524E-6919FB7D20D3}"/>
              </a:ext>
            </a:extLst>
          </p:cNvPr>
          <p:cNvSpPr txBox="1"/>
          <p:nvPr/>
        </p:nvSpPr>
        <p:spPr>
          <a:xfrm>
            <a:off x="1482123" y="3267936"/>
            <a:ext cx="431528"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t>18</a:t>
            </a:r>
            <a:endParaRPr dirty="0"/>
          </a:p>
        </p:txBody>
      </p:sp>
      <p:sp>
        <p:nvSpPr>
          <p:cNvPr id="350" name="TextBox 1100">
            <a:extLst>
              <a:ext uri="{FF2B5EF4-FFF2-40B4-BE49-F238E27FC236}">
                <a16:creationId xmlns:a16="http://schemas.microsoft.com/office/drawing/2014/main" id="{E3879EB9-6732-85EA-6972-F2F1CB2D2958}"/>
              </a:ext>
            </a:extLst>
          </p:cNvPr>
          <p:cNvSpPr txBox="1"/>
          <p:nvPr/>
        </p:nvSpPr>
        <p:spPr>
          <a:xfrm>
            <a:off x="1208812" y="3661128"/>
            <a:ext cx="978153"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rPr lang="en-US" dirty="0">
                <a:solidFill>
                  <a:srgbClr val="C00000"/>
                </a:solidFill>
              </a:rPr>
              <a:t>▲ 5.6 % vs prev.</a:t>
            </a:r>
            <a:endParaRPr dirty="0"/>
          </a:p>
        </p:txBody>
      </p:sp>
      <p:sp>
        <p:nvSpPr>
          <p:cNvPr id="351" name="Rounded Rectangle 40">
            <a:extLst>
              <a:ext uri="{FF2B5EF4-FFF2-40B4-BE49-F238E27FC236}">
                <a16:creationId xmlns:a16="http://schemas.microsoft.com/office/drawing/2014/main" id="{C8146876-138D-AEDC-46C7-189168E13E73}"/>
              </a:ext>
            </a:extLst>
          </p:cNvPr>
          <p:cNvSpPr/>
          <p:nvPr/>
        </p:nvSpPr>
        <p:spPr>
          <a:xfrm>
            <a:off x="9189872" y="582648"/>
            <a:ext cx="2560320" cy="987552"/>
          </a:xfrm>
          <a:prstGeom prst="roundRect">
            <a:avLst/>
          </a:prstGeom>
          <a:solidFill>
            <a:srgbClr val="FFFFCC"/>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52" name="TextBox 1102">
            <a:extLst>
              <a:ext uri="{FF2B5EF4-FFF2-40B4-BE49-F238E27FC236}">
                <a16:creationId xmlns:a16="http://schemas.microsoft.com/office/drawing/2014/main" id="{1E51EFF6-8D16-422D-FFDE-57302DFBC3EC}"/>
              </a:ext>
            </a:extLst>
          </p:cNvPr>
          <p:cNvSpPr txBox="1"/>
          <p:nvPr/>
        </p:nvSpPr>
        <p:spPr>
          <a:xfrm>
            <a:off x="9299600" y="674088"/>
            <a:ext cx="1566454"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Length of Service (In year)</a:t>
            </a:r>
            <a:endParaRPr dirty="0"/>
          </a:p>
        </p:txBody>
      </p:sp>
      <p:sp>
        <p:nvSpPr>
          <p:cNvPr id="353" name="TextBox 1103">
            <a:extLst>
              <a:ext uri="{FF2B5EF4-FFF2-40B4-BE49-F238E27FC236}">
                <a16:creationId xmlns:a16="http://schemas.microsoft.com/office/drawing/2014/main" id="{5A71C8C5-D56A-60A9-006A-F0644D0FC5FA}"/>
              </a:ext>
            </a:extLst>
          </p:cNvPr>
          <p:cNvSpPr txBox="1"/>
          <p:nvPr/>
        </p:nvSpPr>
        <p:spPr>
          <a:xfrm>
            <a:off x="10159690" y="930120"/>
            <a:ext cx="620684"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t>5.68</a:t>
            </a:r>
            <a:endParaRPr dirty="0"/>
          </a:p>
        </p:txBody>
      </p:sp>
      <p:sp>
        <p:nvSpPr>
          <p:cNvPr id="354" name="TextBox 1104">
            <a:extLst>
              <a:ext uri="{FF2B5EF4-FFF2-40B4-BE49-F238E27FC236}">
                <a16:creationId xmlns:a16="http://schemas.microsoft.com/office/drawing/2014/main" id="{04C5C489-D6DD-DDC6-6A07-E4B591EC716A}"/>
              </a:ext>
            </a:extLst>
          </p:cNvPr>
          <p:cNvSpPr txBox="1"/>
          <p:nvPr/>
        </p:nvSpPr>
        <p:spPr>
          <a:xfrm>
            <a:off x="9993779" y="1323312"/>
            <a:ext cx="952505"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rPr lang="en-US" dirty="0"/>
              <a:t>▲</a:t>
            </a:r>
            <a:r>
              <a:rPr dirty="0"/>
              <a:t> </a:t>
            </a:r>
            <a:r>
              <a:rPr lang="en-US" dirty="0"/>
              <a:t>0.3</a:t>
            </a:r>
            <a:r>
              <a:rPr dirty="0"/>
              <a:t>% vs prev.</a:t>
            </a:r>
          </a:p>
        </p:txBody>
      </p:sp>
      <p:sp>
        <p:nvSpPr>
          <p:cNvPr id="355" name="Rounded Rectangle 44">
            <a:extLst>
              <a:ext uri="{FF2B5EF4-FFF2-40B4-BE49-F238E27FC236}">
                <a16:creationId xmlns:a16="http://schemas.microsoft.com/office/drawing/2014/main" id="{8656B752-8AA6-181F-EC0A-74281185DD1E}"/>
              </a:ext>
            </a:extLst>
          </p:cNvPr>
          <p:cNvSpPr/>
          <p:nvPr/>
        </p:nvSpPr>
        <p:spPr>
          <a:xfrm>
            <a:off x="411632" y="5328384"/>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56" name="TextBox 1106">
            <a:extLst>
              <a:ext uri="{FF2B5EF4-FFF2-40B4-BE49-F238E27FC236}">
                <a16:creationId xmlns:a16="http://schemas.microsoft.com/office/drawing/2014/main" id="{162EEF39-48BC-3290-99B5-E6563FD8CD25}"/>
              </a:ext>
            </a:extLst>
          </p:cNvPr>
          <p:cNvSpPr txBox="1"/>
          <p:nvPr/>
        </p:nvSpPr>
        <p:spPr>
          <a:xfrm>
            <a:off x="521360" y="5419824"/>
            <a:ext cx="1234633" cy="400110"/>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Onboarding Survey </a:t>
            </a:r>
          </a:p>
          <a:p>
            <a:pPr>
              <a:defRPr sz="1000" b="1">
                <a:solidFill>
                  <a:srgbClr val="6B7280"/>
                </a:solidFill>
              </a:defRPr>
            </a:pPr>
            <a:r>
              <a:rPr lang="en-US" dirty="0"/>
              <a:t>(Last Survey)</a:t>
            </a:r>
            <a:endParaRPr dirty="0"/>
          </a:p>
        </p:txBody>
      </p:sp>
      <p:sp>
        <p:nvSpPr>
          <p:cNvPr id="357" name="TextBox 1107">
            <a:extLst>
              <a:ext uri="{FF2B5EF4-FFF2-40B4-BE49-F238E27FC236}">
                <a16:creationId xmlns:a16="http://schemas.microsoft.com/office/drawing/2014/main" id="{17466866-259F-BB85-88F0-E47358970F3A}"/>
              </a:ext>
            </a:extLst>
          </p:cNvPr>
          <p:cNvSpPr txBox="1"/>
          <p:nvPr/>
        </p:nvSpPr>
        <p:spPr>
          <a:xfrm>
            <a:off x="1292483" y="5675856"/>
            <a:ext cx="798617"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t>57</a:t>
            </a:r>
            <a:r>
              <a:rPr dirty="0"/>
              <a:t>.</a:t>
            </a:r>
            <a:r>
              <a:rPr lang="en-US" dirty="0"/>
              <a:t>1%</a:t>
            </a:r>
            <a:endParaRPr dirty="0"/>
          </a:p>
        </p:txBody>
      </p:sp>
      <p:sp>
        <p:nvSpPr>
          <p:cNvPr id="359" name="Rounded Rectangle 48">
            <a:extLst>
              <a:ext uri="{FF2B5EF4-FFF2-40B4-BE49-F238E27FC236}">
                <a16:creationId xmlns:a16="http://schemas.microsoft.com/office/drawing/2014/main" id="{4458FA53-E280-B202-985F-1E7248351113}"/>
              </a:ext>
            </a:extLst>
          </p:cNvPr>
          <p:cNvSpPr/>
          <p:nvPr/>
        </p:nvSpPr>
        <p:spPr>
          <a:xfrm>
            <a:off x="6263792" y="5328384"/>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60" name="TextBox 1110">
            <a:extLst>
              <a:ext uri="{FF2B5EF4-FFF2-40B4-BE49-F238E27FC236}">
                <a16:creationId xmlns:a16="http://schemas.microsoft.com/office/drawing/2014/main" id="{7E036927-CF69-0190-711D-6142E3B9A84F}"/>
              </a:ext>
            </a:extLst>
          </p:cNvPr>
          <p:cNvSpPr txBox="1"/>
          <p:nvPr/>
        </p:nvSpPr>
        <p:spPr>
          <a:xfrm>
            <a:off x="6373520" y="5419824"/>
            <a:ext cx="1790875"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Competencies Gap Coverage </a:t>
            </a:r>
            <a:endParaRPr dirty="0"/>
          </a:p>
        </p:txBody>
      </p:sp>
      <p:sp>
        <p:nvSpPr>
          <p:cNvPr id="361" name="TextBox 1111">
            <a:extLst>
              <a:ext uri="{FF2B5EF4-FFF2-40B4-BE49-F238E27FC236}">
                <a16:creationId xmlns:a16="http://schemas.microsoft.com/office/drawing/2014/main" id="{5145296F-BA49-0AEB-82A1-13C186BED52A}"/>
              </a:ext>
            </a:extLst>
          </p:cNvPr>
          <p:cNvSpPr txBox="1"/>
          <p:nvPr/>
        </p:nvSpPr>
        <p:spPr>
          <a:xfrm>
            <a:off x="7206360" y="5675856"/>
            <a:ext cx="675185"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solidFill>
                  <a:schemeClr val="accent1">
                    <a:lumMod val="75000"/>
                  </a:schemeClr>
                </a:solidFill>
              </a:rPr>
              <a:t>0.0%</a:t>
            </a:r>
            <a:endParaRPr dirty="0">
              <a:solidFill>
                <a:schemeClr val="accent1">
                  <a:lumMod val="75000"/>
                </a:schemeClr>
              </a:solidFill>
            </a:endParaRPr>
          </a:p>
        </p:txBody>
      </p:sp>
      <p:sp>
        <p:nvSpPr>
          <p:cNvPr id="362" name="TextBox 1112">
            <a:extLst>
              <a:ext uri="{FF2B5EF4-FFF2-40B4-BE49-F238E27FC236}">
                <a16:creationId xmlns:a16="http://schemas.microsoft.com/office/drawing/2014/main" id="{D071CFBC-CCD3-11A4-33D3-90F670358B0C}"/>
              </a:ext>
            </a:extLst>
          </p:cNvPr>
          <p:cNvSpPr txBox="1"/>
          <p:nvPr/>
        </p:nvSpPr>
        <p:spPr>
          <a:xfrm>
            <a:off x="7137431" y="6069048"/>
            <a:ext cx="813043"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rPr dirty="0">
                <a:solidFill>
                  <a:schemeClr val="accent1">
                    <a:lumMod val="75000"/>
                  </a:schemeClr>
                </a:solidFill>
              </a:rPr>
              <a:t>0.</a:t>
            </a:r>
            <a:r>
              <a:rPr lang="en-US" dirty="0">
                <a:solidFill>
                  <a:schemeClr val="accent1">
                    <a:lumMod val="75000"/>
                  </a:schemeClr>
                </a:solidFill>
              </a:rPr>
              <a:t>0</a:t>
            </a:r>
            <a:r>
              <a:rPr dirty="0">
                <a:solidFill>
                  <a:schemeClr val="accent1">
                    <a:lumMod val="75000"/>
                  </a:schemeClr>
                </a:solidFill>
              </a:rPr>
              <a:t>% vs prev.</a:t>
            </a:r>
          </a:p>
        </p:txBody>
      </p:sp>
      <p:pic>
        <p:nvPicPr>
          <p:cNvPr id="363" name="Picture 362" descr="Download Free Headcount Icons in PNG &amp; SVG">
            <a:extLst>
              <a:ext uri="{FF2B5EF4-FFF2-40B4-BE49-F238E27FC236}">
                <a16:creationId xmlns:a16="http://schemas.microsoft.com/office/drawing/2014/main" id="{0585F0DA-F7FB-6907-85F6-4D5B3A7F55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1589" y="591030"/>
            <a:ext cx="280406" cy="238506"/>
          </a:xfrm>
          <a:prstGeom prst="rect">
            <a:avLst/>
          </a:prstGeom>
          <a:noFill/>
          <a:extLst>
            <a:ext uri="{909E8E84-426E-40DD-AFC4-6F175D3DCCD1}">
              <a14:hiddenFill xmlns:a14="http://schemas.microsoft.com/office/drawing/2010/main">
                <a:solidFill>
                  <a:srgbClr val="FFFFFF"/>
                </a:solidFill>
              </a14:hiddenFill>
            </a:ext>
          </a:extLst>
        </p:spPr>
      </p:pic>
      <p:pic>
        <p:nvPicPr>
          <p:cNvPr id="364" name="Picture 363" descr="New hire - Free user icons">
            <a:extLst>
              <a:ext uri="{FF2B5EF4-FFF2-40B4-BE49-F238E27FC236}">
                <a16:creationId xmlns:a16="http://schemas.microsoft.com/office/drawing/2014/main" id="{FE008109-C8CC-851E-A7B9-C333CF7DCF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79" y="1791847"/>
            <a:ext cx="290417" cy="290417"/>
          </a:xfrm>
          <a:prstGeom prst="rect">
            <a:avLst/>
          </a:prstGeom>
          <a:noFill/>
          <a:extLst>
            <a:ext uri="{909E8E84-426E-40DD-AFC4-6F175D3DCCD1}">
              <a14:hiddenFill xmlns:a14="http://schemas.microsoft.com/office/drawing/2010/main">
                <a:solidFill>
                  <a:srgbClr val="FFFFFF"/>
                </a:solidFill>
              </a14:hiddenFill>
            </a:ext>
          </a:extLst>
        </p:spPr>
      </p:pic>
      <p:pic>
        <p:nvPicPr>
          <p:cNvPr id="365" name="Picture 364" descr="Exit Management - Employee Exit Icon - (800x864) Png Clipart Download">
            <a:extLst>
              <a:ext uri="{FF2B5EF4-FFF2-40B4-BE49-F238E27FC236}">
                <a16:creationId xmlns:a16="http://schemas.microsoft.com/office/drawing/2014/main" id="{16C04A97-EBE1-6365-41B1-DA7257C36A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7095" y="1844483"/>
            <a:ext cx="241554" cy="260566"/>
          </a:xfrm>
          <a:prstGeom prst="rect">
            <a:avLst/>
          </a:prstGeom>
          <a:noFill/>
          <a:extLst>
            <a:ext uri="{909E8E84-426E-40DD-AFC4-6F175D3DCCD1}">
              <a14:hiddenFill xmlns:a14="http://schemas.microsoft.com/office/drawing/2010/main">
                <a:solidFill>
                  <a:srgbClr val="FFFFFF"/>
                </a:solidFill>
              </a14:hiddenFill>
            </a:ext>
          </a:extLst>
        </p:spPr>
      </p:pic>
      <p:pic>
        <p:nvPicPr>
          <p:cNvPr id="366" name="Picture 365" descr="Turnover Generic Flat icon | Freepik">
            <a:extLst>
              <a:ext uri="{FF2B5EF4-FFF2-40B4-BE49-F238E27FC236}">
                <a16:creationId xmlns:a16="http://schemas.microsoft.com/office/drawing/2014/main" id="{3D742FCD-0723-FE7D-B944-7FA73612C87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87313" y="1796419"/>
            <a:ext cx="313277" cy="313277"/>
          </a:xfrm>
          <a:prstGeom prst="rect">
            <a:avLst/>
          </a:prstGeom>
          <a:noFill/>
          <a:extLst>
            <a:ext uri="{909E8E84-426E-40DD-AFC4-6F175D3DCCD1}">
              <a14:hiddenFill xmlns:a14="http://schemas.microsoft.com/office/drawing/2010/main">
                <a:solidFill>
                  <a:srgbClr val="FFFFFF"/>
                </a:solidFill>
              </a14:hiddenFill>
            </a:ext>
          </a:extLst>
        </p:spPr>
      </p:pic>
      <p:pic>
        <p:nvPicPr>
          <p:cNvPr id="367" name="Picture 366" descr="Absenteeism - Free business icons">
            <a:extLst>
              <a:ext uri="{FF2B5EF4-FFF2-40B4-BE49-F238E27FC236}">
                <a16:creationId xmlns:a16="http://schemas.microsoft.com/office/drawing/2014/main" id="{33510AE7-9ACA-A231-4EC7-DBF26B741DA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03059" y="1826232"/>
            <a:ext cx="240125" cy="240125"/>
          </a:xfrm>
          <a:prstGeom prst="rect">
            <a:avLst/>
          </a:prstGeom>
          <a:noFill/>
          <a:extLst>
            <a:ext uri="{909E8E84-426E-40DD-AFC4-6F175D3DCCD1}">
              <a14:hiddenFill xmlns:a14="http://schemas.microsoft.com/office/drawing/2010/main">
                <a:solidFill>
                  <a:srgbClr val="FFFFFF"/>
                </a:solidFill>
              </a14:hiddenFill>
            </a:ext>
          </a:extLst>
        </p:spPr>
      </p:pic>
      <p:pic>
        <p:nvPicPr>
          <p:cNvPr id="369" name="Picture 368" descr="Reduce The Cost Of Employee Training - Cost Per Hire Icon - (512x512) Png  Clipart Download">
            <a:extLst>
              <a:ext uri="{FF2B5EF4-FFF2-40B4-BE49-F238E27FC236}">
                <a16:creationId xmlns:a16="http://schemas.microsoft.com/office/drawing/2014/main" id="{0216CCEA-15EF-A8AE-BBB4-20705905FA7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67168" y="3002760"/>
            <a:ext cx="365760" cy="320040"/>
          </a:xfrm>
          <a:prstGeom prst="rect">
            <a:avLst/>
          </a:prstGeom>
          <a:noFill/>
          <a:extLst>
            <a:ext uri="{909E8E84-426E-40DD-AFC4-6F175D3DCCD1}">
              <a14:hiddenFill xmlns:a14="http://schemas.microsoft.com/office/drawing/2010/main">
                <a:solidFill>
                  <a:srgbClr val="FFFFFF"/>
                </a:solidFill>
              </a14:hiddenFill>
            </a:ext>
          </a:extLst>
        </p:spPr>
      </p:pic>
      <p:sp>
        <p:nvSpPr>
          <p:cNvPr id="370" name="Rounded Rectangle 36">
            <a:extLst>
              <a:ext uri="{FF2B5EF4-FFF2-40B4-BE49-F238E27FC236}">
                <a16:creationId xmlns:a16="http://schemas.microsoft.com/office/drawing/2014/main" id="{07553856-349A-D8AF-B0ED-193E5242B834}"/>
              </a:ext>
            </a:extLst>
          </p:cNvPr>
          <p:cNvSpPr/>
          <p:nvPr/>
        </p:nvSpPr>
        <p:spPr>
          <a:xfrm>
            <a:off x="3343808" y="4173192"/>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71" name="TextBox 1121">
            <a:extLst>
              <a:ext uri="{FF2B5EF4-FFF2-40B4-BE49-F238E27FC236}">
                <a16:creationId xmlns:a16="http://schemas.microsoft.com/office/drawing/2014/main" id="{7DEDD687-ABB6-9B12-2AE9-D4461C9A0146}"/>
              </a:ext>
            </a:extLst>
          </p:cNvPr>
          <p:cNvSpPr txBox="1"/>
          <p:nvPr/>
        </p:nvSpPr>
        <p:spPr>
          <a:xfrm>
            <a:off x="3453536" y="4264632"/>
            <a:ext cx="2340864" cy="201168"/>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dirty="0"/>
              <a:t>Revenue / emp</a:t>
            </a:r>
          </a:p>
        </p:txBody>
      </p:sp>
      <p:sp>
        <p:nvSpPr>
          <p:cNvPr id="372" name="TextBox 1122">
            <a:extLst>
              <a:ext uri="{FF2B5EF4-FFF2-40B4-BE49-F238E27FC236}">
                <a16:creationId xmlns:a16="http://schemas.microsoft.com/office/drawing/2014/main" id="{D781AF05-B13B-DD90-595F-E8E6CF52178E}"/>
              </a:ext>
            </a:extLst>
          </p:cNvPr>
          <p:cNvSpPr txBox="1"/>
          <p:nvPr/>
        </p:nvSpPr>
        <p:spPr>
          <a:xfrm>
            <a:off x="3967696" y="4566301"/>
            <a:ext cx="1300357"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dirty="0"/>
              <a:t>$</a:t>
            </a:r>
            <a:r>
              <a:rPr lang="en-US" dirty="0"/>
              <a:t>51,800.29</a:t>
            </a:r>
            <a:endParaRPr dirty="0"/>
          </a:p>
        </p:txBody>
      </p:sp>
      <p:sp>
        <p:nvSpPr>
          <p:cNvPr id="374" name="Rounded Rectangle 40">
            <a:extLst>
              <a:ext uri="{FF2B5EF4-FFF2-40B4-BE49-F238E27FC236}">
                <a16:creationId xmlns:a16="http://schemas.microsoft.com/office/drawing/2014/main" id="{8F2B718C-1107-3CAB-2750-943CE1EE2226}"/>
              </a:ext>
            </a:extLst>
          </p:cNvPr>
          <p:cNvSpPr/>
          <p:nvPr/>
        </p:nvSpPr>
        <p:spPr>
          <a:xfrm>
            <a:off x="9195968" y="2920464"/>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75" name="TextBox 1125">
            <a:extLst>
              <a:ext uri="{FF2B5EF4-FFF2-40B4-BE49-F238E27FC236}">
                <a16:creationId xmlns:a16="http://schemas.microsoft.com/office/drawing/2014/main" id="{99C237D2-E3BC-C7FE-93F1-A063864567D0}"/>
              </a:ext>
            </a:extLst>
          </p:cNvPr>
          <p:cNvSpPr txBox="1"/>
          <p:nvPr/>
        </p:nvSpPr>
        <p:spPr>
          <a:xfrm>
            <a:off x="9937819" y="3205074"/>
            <a:ext cx="933269"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dirty="0"/>
              <a:t>Overtime </a:t>
            </a:r>
            <a:r>
              <a:rPr lang="en-US" dirty="0"/>
              <a:t>cost</a:t>
            </a:r>
            <a:endParaRPr dirty="0"/>
          </a:p>
        </p:txBody>
      </p:sp>
      <p:sp>
        <p:nvSpPr>
          <p:cNvPr id="376" name="TextBox 1126">
            <a:extLst>
              <a:ext uri="{FF2B5EF4-FFF2-40B4-BE49-F238E27FC236}">
                <a16:creationId xmlns:a16="http://schemas.microsoft.com/office/drawing/2014/main" id="{34C2180A-AC4F-F523-D58B-A3AB1846E7ED}"/>
              </a:ext>
            </a:extLst>
          </p:cNvPr>
          <p:cNvSpPr txBox="1"/>
          <p:nvPr/>
        </p:nvSpPr>
        <p:spPr>
          <a:xfrm>
            <a:off x="10927533" y="3466092"/>
            <a:ext cx="777777"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sz="1000" dirty="0"/>
              <a:t>$11,955.24</a:t>
            </a:r>
            <a:endParaRPr sz="1000" dirty="0"/>
          </a:p>
        </p:txBody>
      </p:sp>
      <p:sp>
        <p:nvSpPr>
          <p:cNvPr id="378" name="Rounded Rectangle 44">
            <a:extLst>
              <a:ext uri="{FF2B5EF4-FFF2-40B4-BE49-F238E27FC236}">
                <a16:creationId xmlns:a16="http://schemas.microsoft.com/office/drawing/2014/main" id="{FFE2F9C0-86BF-8DC1-6953-7FDB8A1AC7D6}"/>
              </a:ext>
            </a:extLst>
          </p:cNvPr>
          <p:cNvSpPr/>
          <p:nvPr/>
        </p:nvSpPr>
        <p:spPr>
          <a:xfrm>
            <a:off x="6269888" y="4173192"/>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79" name="TextBox 1129">
            <a:extLst>
              <a:ext uri="{FF2B5EF4-FFF2-40B4-BE49-F238E27FC236}">
                <a16:creationId xmlns:a16="http://schemas.microsoft.com/office/drawing/2014/main" id="{47DAC1FF-B7EE-EB07-C69F-CC458278558E}"/>
              </a:ext>
            </a:extLst>
          </p:cNvPr>
          <p:cNvSpPr txBox="1"/>
          <p:nvPr/>
        </p:nvSpPr>
        <p:spPr>
          <a:xfrm>
            <a:off x="6379616" y="4264632"/>
            <a:ext cx="880369"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Training Cost</a:t>
            </a:r>
            <a:endParaRPr dirty="0"/>
          </a:p>
        </p:txBody>
      </p:sp>
      <p:sp>
        <p:nvSpPr>
          <p:cNvPr id="380" name="TextBox 1130">
            <a:extLst>
              <a:ext uri="{FF2B5EF4-FFF2-40B4-BE49-F238E27FC236}">
                <a16:creationId xmlns:a16="http://schemas.microsoft.com/office/drawing/2014/main" id="{52DE49B6-EA41-846E-C68F-931E8C8D5403}"/>
              </a:ext>
            </a:extLst>
          </p:cNvPr>
          <p:cNvSpPr txBox="1"/>
          <p:nvPr/>
        </p:nvSpPr>
        <p:spPr>
          <a:xfrm>
            <a:off x="7028912" y="4520664"/>
            <a:ext cx="1042273"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t>$ 35,462</a:t>
            </a:r>
            <a:endParaRPr dirty="0"/>
          </a:p>
        </p:txBody>
      </p:sp>
      <p:sp>
        <p:nvSpPr>
          <p:cNvPr id="382" name="Rounded Rectangle 48">
            <a:extLst>
              <a:ext uri="{FF2B5EF4-FFF2-40B4-BE49-F238E27FC236}">
                <a16:creationId xmlns:a16="http://schemas.microsoft.com/office/drawing/2014/main" id="{DB3F083C-3948-C3F9-F1F7-172DE5259027}"/>
              </a:ext>
            </a:extLst>
          </p:cNvPr>
          <p:cNvSpPr/>
          <p:nvPr/>
        </p:nvSpPr>
        <p:spPr>
          <a:xfrm>
            <a:off x="3337712" y="5328384"/>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83" name="TextBox 1133">
            <a:extLst>
              <a:ext uri="{FF2B5EF4-FFF2-40B4-BE49-F238E27FC236}">
                <a16:creationId xmlns:a16="http://schemas.microsoft.com/office/drawing/2014/main" id="{FA05FB43-9095-AAA2-D9C5-76FB43E6CF87}"/>
              </a:ext>
            </a:extLst>
          </p:cNvPr>
          <p:cNvSpPr txBox="1"/>
          <p:nvPr/>
        </p:nvSpPr>
        <p:spPr>
          <a:xfrm>
            <a:off x="3447440" y="5419824"/>
            <a:ext cx="1401346" cy="400110"/>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Employee Engagement</a:t>
            </a:r>
          </a:p>
          <a:p>
            <a:pPr>
              <a:defRPr sz="1000" b="1">
                <a:solidFill>
                  <a:srgbClr val="6B7280"/>
                </a:solidFill>
              </a:defRPr>
            </a:pPr>
            <a:r>
              <a:rPr lang="en-US" dirty="0"/>
              <a:t> (Last survey)</a:t>
            </a:r>
            <a:endParaRPr dirty="0"/>
          </a:p>
        </p:txBody>
      </p:sp>
      <p:sp>
        <p:nvSpPr>
          <p:cNvPr id="384" name="TextBox 1134">
            <a:extLst>
              <a:ext uri="{FF2B5EF4-FFF2-40B4-BE49-F238E27FC236}">
                <a16:creationId xmlns:a16="http://schemas.microsoft.com/office/drawing/2014/main" id="{B2759600-BBD5-6A42-F1AB-1983EB441552}"/>
              </a:ext>
            </a:extLst>
          </p:cNvPr>
          <p:cNvSpPr txBox="1"/>
          <p:nvPr/>
        </p:nvSpPr>
        <p:spPr>
          <a:xfrm>
            <a:off x="4212954" y="5675856"/>
            <a:ext cx="809837"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t>89.8</a:t>
            </a:r>
            <a:r>
              <a:rPr dirty="0"/>
              <a:t>.0</a:t>
            </a:r>
          </a:p>
        </p:txBody>
      </p:sp>
      <p:sp>
        <p:nvSpPr>
          <p:cNvPr id="385" name="TextBox 1135">
            <a:extLst>
              <a:ext uri="{FF2B5EF4-FFF2-40B4-BE49-F238E27FC236}">
                <a16:creationId xmlns:a16="http://schemas.microsoft.com/office/drawing/2014/main" id="{F7902067-CC49-2385-CA6F-26EE77C5C7DD}"/>
              </a:ext>
            </a:extLst>
          </p:cNvPr>
          <p:cNvSpPr txBox="1"/>
          <p:nvPr/>
        </p:nvSpPr>
        <p:spPr>
          <a:xfrm>
            <a:off x="4112766" y="6069048"/>
            <a:ext cx="1010213"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rPr dirty="0"/>
              <a:t>▲ </a:t>
            </a:r>
            <a:r>
              <a:rPr lang="en-US" dirty="0"/>
              <a:t>12</a:t>
            </a:r>
            <a:r>
              <a:rPr dirty="0"/>
              <a:t>.</a:t>
            </a:r>
            <a:r>
              <a:rPr lang="en-US" dirty="0"/>
              <a:t>3</a:t>
            </a:r>
            <a:r>
              <a:rPr dirty="0"/>
              <a:t>% vs prev.</a:t>
            </a:r>
          </a:p>
        </p:txBody>
      </p:sp>
      <p:pic>
        <p:nvPicPr>
          <p:cNvPr id="386" name="Picture 385" descr="Revenu - Icônes affaires et finances gratuites">
            <a:extLst>
              <a:ext uri="{FF2B5EF4-FFF2-40B4-BE49-F238E27FC236}">
                <a16:creationId xmlns:a16="http://schemas.microsoft.com/office/drawing/2014/main" id="{67215A1F-0B36-5BED-CEF1-FC3EE74A0EA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46344" y="3034575"/>
            <a:ext cx="361377" cy="361377"/>
          </a:xfrm>
          <a:prstGeom prst="rect">
            <a:avLst/>
          </a:prstGeom>
          <a:noFill/>
          <a:extLst>
            <a:ext uri="{909E8E84-426E-40DD-AFC4-6F175D3DCCD1}">
              <a14:hiddenFill xmlns:a14="http://schemas.microsoft.com/office/drawing/2010/main">
                <a:solidFill>
                  <a:srgbClr val="FFFFFF"/>
                </a:solidFill>
              </a14:hiddenFill>
            </a:ext>
          </a:extLst>
        </p:spPr>
      </p:pic>
      <p:sp>
        <p:nvSpPr>
          <p:cNvPr id="387" name="Rounded Rectangle 36">
            <a:extLst>
              <a:ext uri="{FF2B5EF4-FFF2-40B4-BE49-F238E27FC236}">
                <a16:creationId xmlns:a16="http://schemas.microsoft.com/office/drawing/2014/main" id="{13559285-D0CA-8B0A-0CB3-6976B7DED003}"/>
              </a:ext>
            </a:extLst>
          </p:cNvPr>
          <p:cNvSpPr/>
          <p:nvPr/>
        </p:nvSpPr>
        <p:spPr>
          <a:xfrm>
            <a:off x="3337712" y="582648"/>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88" name="TextBox 1138">
            <a:extLst>
              <a:ext uri="{FF2B5EF4-FFF2-40B4-BE49-F238E27FC236}">
                <a16:creationId xmlns:a16="http://schemas.microsoft.com/office/drawing/2014/main" id="{2268EB03-316B-F643-849F-D0AF35161D6D}"/>
              </a:ext>
            </a:extLst>
          </p:cNvPr>
          <p:cNvSpPr txBox="1"/>
          <p:nvPr/>
        </p:nvSpPr>
        <p:spPr>
          <a:xfrm>
            <a:off x="3888209" y="572837"/>
            <a:ext cx="1353311" cy="3847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sz="1000" b="1" dirty="0">
                <a:solidFill>
                  <a:srgbClr val="6B7280"/>
                </a:solidFill>
              </a:rPr>
              <a:t>Gender</a:t>
            </a:r>
            <a:r>
              <a:rPr lang="en-US" dirty="0"/>
              <a:t> </a:t>
            </a:r>
            <a:r>
              <a:rPr lang="en-US" sz="1000" b="1" dirty="0">
                <a:solidFill>
                  <a:srgbClr val="6B7280"/>
                </a:solidFill>
              </a:rPr>
              <a:t>Ratio</a:t>
            </a:r>
          </a:p>
        </p:txBody>
      </p:sp>
      <p:sp>
        <p:nvSpPr>
          <p:cNvPr id="389" name="TextBox 1139">
            <a:extLst>
              <a:ext uri="{FF2B5EF4-FFF2-40B4-BE49-F238E27FC236}">
                <a16:creationId xmlns:a16="http://schemas.microsoft.com/office/drawing/2014/main" id="{C2827418-62CE-A602-E96E-DF3D1BA1503B}"/>
              </a:ext>
            </a:extLst>
          </p:cNvPr>
          <p:cNvSpPr txBox="1"/>
          <p:nvPr/>
        </p:nvSpPr>
        <p:spPr>
          <a:xfrm>
            <a:off x="4971137" y="1275360"/>
            <a:ext cx="957072"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C00000"/>
                </a:solidFill>
              </a:defRPr>
            </a:pPr>
            <a:r>
              <a:rPr lang="en-US" dirty="0">
                <a:solidFill>
                  <a:srgbClr val="C00000"/>
                </a:solidFill>
              </a:rPr>
              <a:t>▲ </a:t>
            </a:r>
            <a:r>
              <a:rPr lang="en-US" sz="900" b="1" dirty="0">
                <a:solidFill>
                  <a:srgbClr val="C00000"/>
                </a:solidFill>
              </a:rPr>
              <a:t>0.3% vs prev.</a:t>
            </a:r>
          </a:p>
        </p:txBody>
      </p:sp>
      <p:sp>
        <p:nvSpPr>
          <p:cNvPr id="390" name="Rounded Rectangle 40">
            <a:extLst>
              <a:ext uri="{FF2B5EF4-FFF2-40B4-BE49-F238E27FC236}">
                <a16:creationId xmlns:a16="http://schemas.microsoft.com/office/drawing/2014/main" id="{8F17AC1C-E2DE-10F0-E3D0-24D0B562C6D4}"/>
              </a:ext>
            </a:extLst>
          </p:cNvPr>
          <p:cNvSpPr/>
          <p:nvPr/>
        </p:nvSpPr>
        <p:spPr>
          <a:xfrm>
            <a:off x="6263792" y="582648"/>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91" name="TextBox 1141">
            <a:extLst>
              <a:ext uri="{FF2B5EF4-FFF2-40B4-BE49-F238E27FC236}">
                <a16:creationId xmlns:a16="http://schemas.microsoft.com/office/drawing/2014/main" id="{EC330C4F-2D4E-3967-23D8-510C5692606F}"/>
              </a:ext>
            </a:extLst>
          </p:cNvPr>
          <p:cNvSpPr txBox="1"/>
          <p:nvPr/>
        </p:nvSpPr>
        <p:spPr>
          <a:xfrm>
            <a:off x="6373520" y="674088"/>
            <a:ext cx="1322798"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Average Age (In year)</a:t>
            </a:r>
            <a:endParaRPr dirty="0"/>
          </a:p>
        </p:txBody>
      </p:sp>
      <p:sp>
        <p:nvSpPr>
          <p:cNvPr id="392" name="TextBox 1142">
            <a:extLst>
              <a:ext uri="{FF2B5EF4-FFF2-40B4-BE49-F238E27FC236}">
                <a16:creationId xmlns:a16="http://schemas.microsoft.com/office/drawing/2014/main" id="{54320C45-579B-D3DC-8447-FBCF39F64D12}"/>
              </a:ext>
            </a:extLst>
          </p:cNvPr>
          <p:cNvSpPr txBox="1"/>
          <p:nvPr/>
        </p:nvSpPr>
        <p:spPr>
          <a:xfrm>
            <a:off x="7233610" y="930120"/>
            <a:ext cx="620684"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t>39.9</a:t>
            </a:r>
            <a:endParaRPr dirty="0"/>
          </a:p>
        </p:txBody>
      </p:sp>
      <p:sp>
        <p:nvSpPr>
          <p:cNvPr id="393" name="TextBox 1143">
            <a:extLst>
              <a:ext uri="{FF2B5EF4-FFF2-40B4-BE49-F238E27FC236}">
                <a16:creationId xmlns:a16="http://schemas.microsoft.com/office/drawing/2014/main" id="{0D4CC489-1708-09C2-ED9E-ED79828180F1}"/>
              </a:ext>
            </a:extLst>
          </p:cNvPr>
          <p:cNvSpPr txBox="1"/>
          <p:nvPr/>
        </p:nvSpPr>
        <p:spPr>
          <a:xfrm>
            <a:off x="7026021" y="1323312"/>
            <a:ext cx="1035861"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C00000"/>
                </a:solidFill>
              </a:defRPr>
            </a:pPr>
            <a:r>
              <a:rPr lang="en-US" sz="900" b="1" dirty="0">
                <a:solidFill>
                  <a:srgbClr val="2E7D32"/>
                </a:solidFill>
              </a:rPr>
              <a:t>▼</a:t>
            </a:r>
            <a:r>
              <a:rPr lang="en-US" dirty="0"/>
              <a:t> </a:t>
            </a:r>
            <a:r>
              <a:rPr lang="en-US" sz="900" b="1" dirty="0">
                <a:solidFill>
                  <a:srgbClr val="2E7D32"/>
                </a:solidFill>
              </a:rPr>
              <a:t>0.08 % vs prev.</a:t>
            </a:r>
          </a:p>
        </p:txBody>
      </p:sp>
      <p:sp>
        <p:nvSpPr>
          <p:cNvPr id="394" name="Rounded Rectangle 44">
            <a:extLst>
              <a:ext uri="{FF2B5EF4-FFF2-40B4-BE49-F238E27FC236}">
                <a16:creationId xmlns:a16="http://schemas.microsoft.com/office/drawing/2014/main" id="{266B3B67-86ED-0680-88C0-12EDB67550B1}"/>
              </a:ext>
            </a:extLst>
          </p:cNvPr>
          <p:cNvSpPr/>
          <p:nvPr/>
        </p:nvSpPr>
        <p:spPr>
          <a:xfrm>
            <a:off x="9195968" y="4173192"/>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95" name="TextBox 1145">
            <a:extLst>
              <a:ext uri="{FF2B5EF4-FFF2-40B4-BE49-F238E27FC236}">
                <a16:creationId xmlns:a16="http://schemas.microsoft.com/office/drawing/2014/main" id="{2299907A-E5F1-A49F-89DC-846FA7EB3C47}"/>
              </a:ext>
            </a:extLst>
          </p:cNvPr>
          <p:cNvSpPr txBox="1"/>
          <p:nvPr/>
        </p:nvSpPr>
        <p:spPr>
          <a:xfrm>
            <a:off x="9305696" y="4264632"/>
            <a:ext cx="962123"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Training Hours</a:t>
            </a:r>
            <a:endParaRPr dirty="0"/>
          </a:p>
        </p:txBody>
      </p:sp>
      <p:sp>
        <p:nvSpPr>
          <p:cNvPr id="396" name="TextBox 1146">
            <a:extLst>
              <a:ext uri="{FF2B5EF4-FFF2-40B4-BE49-F238E27FC236}">
                <a16:creationId xmlns:a16="http://schemas.microsoft.com/office/drawing/2014/main" id="{CEB6F617-3397-5BA2-5C9C-EA45B8CAE124}"/>
              </a:ext>
            </a:extLst>
          </p:cNvPr>
          <p:cNvSpPr txBox="1"/>
          <p:nvPr/>
        </p:nvSpPr>
        <p:spPr>
          <a:xfrm>
            <a:off x="9910782" y="4520664"/>
            <a:ext cx="1130694"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t>1,728 Hrs</a:t>
            </a:r>
            <a:endParaRPr dirty="0"/>
          </a:p>
        </p:txBody>
      </p:sp>
      <p:sp>
        <p:nvSpPr>
          <p:cNvPr id="397" name="TextBox 1147">
            <a:extLst>
              <a:ext uri="{FF2B5EF4-FFF2-40B4-BE49-F238E27FC236}">
                <a16:creationId xmlns:a16="http://schemas.microsoft.com/office/drawing/2014/main" id="{AC875C40-E4AB-84E9-F9D2-78E65650AF64}"/>
              </a:ext>
            </a:extLst>
          </p:cNvPr>
          <p:cNvSpPr txBox="1"/>
          <p:nvPr/>
        </p:nvSpPr>
        <p:spPr>
          <a:xfrm>
            <a:off x="10069607" y="4913856"/>
            <a:ext cx="813043"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rPr lang="en-US" dirty="0">
                <a:solidFill>
                  <a:srgbClr val="FFC000"/>
                </a:solidFill>
              </a:rPr>
              <a:t>0.0</a:t>
            </a:r>
            <a:r>
              <a:rPr dirty="0">
                <a:solidFill>
                  <a:srgbClr val="FFC000"/>
                </a:solidFill>
              </a:rPr>
              <a:t>% vs prev.</a:t>
            </a:r>
          </a:p>
        </p:txBody>
      </p:sp>
      <p:sp>
        <p:nvSpPr>
          <p:cNvPr id="398" name="Rounded Rectangle 48">
            <a:extLst>
              <a:ext uri="{FF2B5EF4-FFF2-40B4-BE49-F238E27FC236}">
                <a16:creationId xmlns:a16="http://schemas.microsoft.com/office/drawing/2014/main" id="{2E262D9A-7697-5657-8649-0E466E97F0DE}"/>
              </a:ext>
            </a:extLst>
          </p:cNvPr>
          <p:cNvSpPr/>
          <p:nvPr/>
        </p:nvSpPr>
        <p:spPr>
          <a:xfrm>
            <a:off x="9189872" y="5328384"/>
            <a:ext cx="2560320" cy="987552"/>
          </a:xfrm>
          <a:prstGeom prst="roundRect">
            <a:avLst/>
          </a:prstGeom>
          <a:solidFill>
            <a:schemeClr val="bg1"/>
          </a:solidFill>
          <a:ln/>
        </p:spPr>
        <p:style>
          <a:lnRef idx="0">
            <a:schemeClr val="dk1"/>
          </a:lnRef>
          <a:fillRef idx="3">
            <a:schemeClr val="dk1"/>
          </a:fillRef>
          <a:effectRef idx="3">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99" name="TextBox 1149">
            <a:extLst>
              <a:ext uri="{FF2B5EF4-FFF2-40B4-BE49-F238E27FC236}">
                <a16:creationId xmlns:a16="http://schemas.microsoft.com/office/drawing/2014/main" id="{BC507831-811C-DB68-113A-E2F92313FB67}"/>
              </a:ext>
            </a:extLst>
          </p:cNvPr>
          <p:cNvSpPr txBox="1"/>
          <p:nvPr/>
        </p:nvSpPr>
        <p:spPr>
          <a:xfrm>
            <a:off x="9299600" y="5419824"/>
            <a:ext cx="1279517" cy="2462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000" b="1">
                <a:solidFill>
                  <a:srgbClr val="6B7280"/>
                </a:solidFill>
              </a:defRPr>
            </a:pPr>
            <a:r>
              <a:rPr lang="en-US" dirty="0"/>
              <a:t>Succession Coverage</a:t>
            </a:r>
            <a:endParaRPr dirty="0"/>
          </a:p>
        </p:txBody>
      </p:sp>
      <p:sp>
        <p:nvSpPr>
          <p:cNvPr id="400" name="TextBox 1150">
            <a:extLst>
              <a:ext uri="{FF2B5EF4-FFF2-40B4-BE49-F238E27FC236}">
                <a16:creationId xmlns:a16="http://schemas.microsoft.com/office/drawing/2014/main" id="{EA011DAF-1C53-3A4D-73C4-B409E82D9FA1}"/>
              </a:ext>
            </a:extLst>
          </p:cNvPr>
          <p:cNvSpPr txBox="1"/>
          <p:nvPr/>
        </p:nvSpPr>
        <p:spPr>
          <a:xfrm>
            <a:off x="10132440" y="5675856"/>
            <a:ext cx="675185"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solidFill>
                  <a:schemeClr val="accent1">
                    <a:lumMod val="75000"/>
                  </a:schemeClr>
                </a:solidFill>
              </a:rPr>
              <a:t>0.0%</a:t>
            </a:r>
            <a:endParaRPr dirty="0">
              <a:solidFill>
                <a:schemeClr val="accent1">
                  <a:lumMod val="75000"/>
                </a:schemeClr>
              </a:solidFill>
            </a:endParaRPr>
          </a:p>
        </p:txBody>
      </p:sp>
      <p:sp>
        <p:nvSpPr>
          <p:cNvPr id="401" name="TextBox 1151">
            <a:extLst>
              <a:ext uri="{FF2B5EF4-FFF2-40B4-BE49-F238E27FC236}">
                <a16:creationId xmlns:a16="http://schemas.microsoft.com/office/drawing/2014/main" id="{F352B3BE-761A-D21D-3BBB-1B077CBF57BE}"/>
              </a:ext>
            </a:extLst>
          </p:cNvPr>
          <p:cNvSpPr txBox="1"/>
          <p:nvPr/>
        </p:nvSpPr>
        <p:spPr>
          <a:xfrm>
            <a:off x="10063511" y="6069048"/>
            <a:ext cx="813043"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rPr dirty="0">
                <a:solidFill>
                  <a:schemeClr val="accent1">
                    <a:lumMod val="75000"/>
                  </a:schemeClr>
                </a:solidFill>
              </a:rPr>
              <a:t>0.</a:t>
            </a:r>
            <a:r>
              <a:rPr lang="en-US" dirty="0">
                <a:solidFill>
                  <a:schemeClr val="accent1">
                    <a:lumMod val="75000"/>
                  </a:schemeClr>
                </a:solidFill>
              </a:rPr>
              <a:t>0</a:t>
            </a:r>
            <a:r>
              <a:rPr dirty="0">
                <a:solidFill>
                  <a:schemeClr val="accent1">
                    <a:lumMod val="75000"/>
                  </a:schemeClr>
                </a:solidFill>
              </a:rPr>
              <a:t>% vs prev.</a:t>
            </a:r>
          </a:p>
        </p:txBody>
      </p:sp>
      <p:pic>
        <p:nvPicPr>
          <p:cNvPr id="402" name="Picture 401" descr="Download Free Sales performance Icons in PNG &amp; SVG">
            <a:extLst>
              <a:ext uri="{FF2B5EF4-FFF2-40B4-BE49-F238E27FC236}">
                <a16:creationId xmlns:a16="http://schemas.microsoft.com/office/drawing/2014/main" id="{A7945AED-21C6-F6DB-9D7C-CD26CCE2127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39828" y="4205435"/>
            <a:ext cx="359187" cy="359187"/>
          </a:xfrm>
          <a:prstGeom prst="rect">
            <a:avLst/>
          </a:prstGeom>
          <a:noFill/>
          <a:extLst>
            <a:ext uri="{909E8E84-426E-40DD-AFC4-6F175D3DCCD1}">
              <a14:hiddenFill xmlns:a14="http://schemas.microsoft.com/office/drawing/2010/main">
                <a:solidFill>
                  <a:srgbClr val="FFFFFF"/>
                </a:solidFill>
              </a14:hiddenFill>
            </a:ext>
          </a:extLst>
        </p:spPr>
      </p:pic>
      <p:pic>
        <p:nvPicPr>
          <p:cNvPr id="403" name="Picture 402" descr="Education cost - Free education icons">
            <a:extLst>
              <a:ext uri="{FF2B5EF4-FFF2-40B4-BE49-F238E27FC236}">
                <a16:creationId xmlns:a16="http://schemas.microsoft.com/office/drawing/2014/main" id="{CCCE0835-6277-8F2D-C0BE-A81E5546437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39581" y="4247678"/>
            <a:ext cx="279436" cy="279436"/>
          </a:xfrm>
          <a:prstGeom prst="rect">
            <a:avLst/>
          </a:prstGeom>
          <a:noFill/>
          <a:extLst>
            <a:ext uri="{909E8E84-426E-40DD-AFC4-6F175D3DCCD1}">
              <a14:hiddenFill xmlns:a14="http://schemas.microsoft.com/office/drawing/2010/main">
                <a:solidFill>
                  <a:srgbClr val="FFFFFF"/>
                </a:solidFill>
              </a14:hiddenFill>
            </a:ext>
          </a:extLst>
        </p:spPr>
      </p:pic>
      <p:pic>
        <p:nvPicPr>
          <p:cNvPr id="404" name="Picture 403" descr="90+ Climate Survey Stock Illustrations, Royalty-Free Vector Graphics &amp; Clip  Art - iStock | Human resources, Satisfaction">
            <a:extLst>
              <a:ext uri="{FF2B5EF4-FFF2-40B4-BE49-F238E27FC236}">
                <a16:creationId xmlns:a16="http://schemas.microsoft.com/office/drawing/2014/main" id="{3892EE60-EE04-1BE0-1A32-43C37AC6D77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65786" y="5362150"/>
            <a:ext cx="610395" cy="629729"/>
          </a:xfrm>
          <a:prstGeom prst="rect">
            <a:avLst/>
          </a:prstGeom>
          <a:noFill/>
          <a:extLst>
            <a:ext uri="{909E8E84-426E-40DD-AFC4-6F175D3DCCD1}">
              <a14:hiddenFill xmlns:a14="http://schemas.microsoft.com/office/drawing/2010/main">
                <a:solidFill>
                  <a:srgbClr val="FFFFFF"/>
                </a:solidFill>
              </a14:hiddenFill>
            </a:ext>
          </a:extLst>
        </p:spPr>
      </p:pic>
      <p:pic>
        <p:nvPicPr>
          <p:cNvPr id="405" name="Picture 404" descr="User Male Icon SVG Vector &amp; PNG Free Download | UXWing">
            <a:extLst>
              <a:ext uri="{FF2B5EF4-FFF2-40B4-BE49-F238E27FC236}">
                <a16:creationId xmlns:a16="http://schemas.microsoft.com/office/drawing/2014/main" id="{AB841F2C-CCFA-6457-54F3-CB182803464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37367" y="666759"/>
            <a:ext cx="574257" cy="574257"/>
          </a:xfrm>
          <a:prstGeom prst="rect">
            <a:avLst/>
          </a:prstGeom>
          <a:noFill/>
          <a:extLst>
            <a:ext uri="{909E8E84-426E-40DD-AFC4-6F175D3DCCD1}">
              <a14:hiddenFill xmlns:a14="http://schemas.microsoft.com/office/drawing/2010/main">
                <a:solidFill>
                  <a:srgbClr val="FFFFFF"/>
                </a:solidFill>
              </a14:hiddenFill>
            </a:ext>
          </a:extLst>
        </p:spPr>
      </p:pic>
      <p:pic>
        <p:nvPicPr>
          <p:cNvPr id="406" name="Picture 405" descr="Woman - Flat - Wired - Lordicon">
            <a:extLst>
              <a:ext uri="{FF2B5EF4-FFF2-40B4-BE49-F238E27FC236}">
                <a16:creationId xmlns:a16="http://schemas.microsoft.com/office/drawing/2014/main" id="{219E2EA4-3C1E-3307-1D7A-986CEEC359A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31616" y="638179"/>
            <a:ext cx="685133" cy="685133"/>
          </a:xfrm>
          <a:prstGeom prst="rect">
            <a:avLst/>
          </a:prstGeom>
          <a:noFill/>
          <a:extLst>
            <a:ext uri="{909E8E84-426E-40DD-AFC4-6F175D3DCCD1}">
              <a14:hiddenFill xmlns:a14="http://schemas.microsoft.com/office/drawing/2010/main">
                <a:solidFill>
                  <a:srgbClr val="FFFFFF"/>
                </a:solidFill>
              </a14:hiddenFill>
            </a:ext>
          </a:extLst>
        </p:spPr>
      </p:pic>
      <p:sp>
        <p:nvSpPr>
          <p:cNvPr id="407" name="TextBox 1157">
            <a:extLst>
              <a:ext uri="{FF2B5EF4-FFF2-40B4-BE49-F238E27FC236}">
                <a16:creationId xmlns:a16="http://schemas.microsoft.com/office/drawing/2014/main" id="{8AB16D39-7D3A-3C37-4A33-C0151198E602}"/>
              </a:ext>
            </a:extLst>
          </p:cNvPr>
          <p:cNvSpPr txBox="1"/>
          <p:nvPr/>
        </p:nvSpPr>
        <p:spPr>
          <a:xfrm>
            <a:off x="3337712" y="1244880"/>
            <a:ext cx="957072"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C00000"/>
                </a:solidFill>
              </a:defRPr>
            </a:pPr>
            <a:r>
              <a:rPr lang="en-US" sz="900" b="1" dirty="0">
                <a:solidFill>
                  <a:srgbClr val="C00000"/>
                </a:solidFill>
              </a:rPr>
              <a:t>1.7% vs prev.</a:t>
            </a:r>
          </a:p>
        </p:txBody>
      </p:sp>
      <p:pic>
        <p:nvPicPr>
          <p:cNvPr id="408" name="Picture 407" descr="Overtime - Free time and date icons">
            <a:extLst>
              <a:ext uri="{FF2B5EF4-FFF2-40B4-BE49-F238E27FC236}">
                <a16:creationId xmlns:a16="http://schemas.microsoft.com/office/drawing/2014/main" id="{041FD3BE-6E56-B6CD-49EE-5713E3EA955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127724" y="3051899"/>
            <a:ext cx="477794" cy="477794"/>
          </a:xfrm>
          <a:prstGeom prst="rect">
            <a:avLst/>
          </a:prstGeom>
          <a:noFill/>
          <a:extLst>
            <a:ext uri="{909E8E84-426E-40DD-AFC4-6F175D3DCCD1}">
              <a14:hiddenFill xmlns:a14="http://schemas.microsoft.com/office/drawing/2010/main">
                <a:solidFill>
                  <a:srgbClr val="FFFFFF"/>
                </a:solidFill>
              </a14:hiddenFill>
            </a:ext>
          </a:extLst>
        </p:spPr>
      </p:pic>
      <p:pic>
        <p:nvPicPr>
          <p:cNvPr id="409" name="Picture 408" descr="Overtime Generic color lineal-color icon | Freepik">
            <a:extLst>
              <a:ext uri="{FF2B5EF4-FFF2-40B4-BE49-F238E27FC236}">
                <a16:creationId xmlns:a16="http://schemas.microsoft.com/office/drawing/2014/main" id="{761620BF-0E08-EF6A-8F01-4D4D327829C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308844" y="3067246"/>
            <a:ext cx="401379" cy="401379"/>
          </a:xfrm>
          <a:prstGeom prst="rect">
            <a:avLst/>
          </a:prstGeom>
          <a:noFill/>
          <a:extLst>
            <a:ext uri="{909E8E84-426E-40DD-AFC4-6F175D3DCCD1}">
              <a14:hiddenFill xmlns:a14="http://schemas.microsoft.com/office/drawing/2010/main">
                <a:solidFill>
                  <a:srgbClr val="FFFFFF"/>
                </a:solidFill>
              </a14:hiddenFill>
            </a:ext>
          </a:extLst>
        </p:spPr>
      </p:pic>
      <p:pic>
        <p:nvPicPr>
          <p:cNvPr id="410" name="Picture 409" descr="Average age icon Vector Images &amp; Graphics for Commercial Use | VectorStock">
            <a:extLst>
              <a:ext uri="{FF2B5EF4-FFF2-40B4-BE49-F238E27FC236}">
                <a16:creationId xmlns:a16="http://schemas.microsoft.com/office/drawing/2014/main" id="{941121AE-3046-B769-6764-F05B9C1CCD4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101471" y="691478"/>
            <a:ext cx="519874" cy="519874"/>
          </a:xfrm>
          <a:prstGeom prst="rect">
            <a:avLst/>
          </a:prstGeom>
          <a:noFill/>
          <a:extLst>
            <a:ext uri="{909E8E84-426E-40DD-AFC4-6F175D3DCCD1}">
              <a14:hiddenFill xmlns:a14="http://schemas.microsoft.com/office/drawing/2010/main">
                <a:solidFill>
                  <a:srgbClr val="FFFFFF"/>
                </a:solidFill>
              </a14:hiddenFill>
            </a:ext>
          </a:extLst>
        </p:spPr>
      </p:pic>
      <p:pic>
        <p:nvPicPr>
          <p:cNvPr id="411" name="Picture 410" descr="Download Free Service time Icons in PNG &amp; SVG">
            <a:extLst>
              <a:ext uri="{FF2B5EF4-FFF2-40B4-BE49-F238E27FC236}">
                <a16:creationId xmlns:a16="http://schemas.microsoft.com/office/drawing/2014/main" id="{856AD825-EBB2-1D49-C476-A127DC9B4812}"/>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188052" y="694567"/>
            <a:ext cx="411336" cy="411336"/>
          </a:xfrm>
          <a:prstGeom prst="rect">
            <a:avLst/>
          </a:prstGeom>
          <a:noFill/>
          <a:ln>
            <a:solidFill>
              <a:srgbClr val="FFFFCC"/>
            </a:solidFill>
          </a:ln>
          <a:extLst>
            <a:ext uri="{909E8E84-426E-40DD-AFC4-6F175D3DCCD1}">
              <a14:hiddenFill xmlns:a14="http://schemas.microsoft.com/office/drawing/2010/main">
                <a:solidFill>
                  <a:srgbClr val="FFFFFF"/>
                </a:solidFill>
              </a14:hiddenFill>
            </a:ext>
          </a:extLst>
        </p:spPr>
      </p:pic>
      <p:pic>
        <p:nvPicPr>
          <p:cNvPr id="412" name="Picture 411" descr="Leave - Free business icons">
            <a:extLst>
              <a:ext uri="{FF2B5EF4-FFF2-40B4-BE49-F238E27FC236}">
                <a16:creationId xmlns:a16="http://schemas.microsoft.com/office/drawing/2014/main" id="{334BED88-F157-6FC2-8ED3-1DF5B935BAF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23479" y="3068582"/>
            <a:ext cx="574258" cy="574258"/>
          </a:xfrm>
          <a:prstGeom prst="rect">
            <a:avLst/>
          </a:prstGeom>
          <a:noFill/>
          <a:extLst>
            <a:ext uri="{909E8E84-426E-40DD-AFC4-6F175D3DCCD1}">
              <a14:hiddenFill xmlns:a14="http://schemas.microsoft.com/office/drawing/2010/main">
                <a:solidFill>
                  <a:srgbClr val="FFFFFF"/>
                </a:solidFill>
              </a14:hiddenFill>
            </a:ext>
          </a:extLst>
        </p:spPr>
      </p:pic>
      <p:pic>
        <p:nvPicPr>
          <p:cNvPr id="413" name="Picture 412" descr="Color icon for working hours 43270695 Vector Art at Vecteezy">
            <a:extLst>
              <a:ext uri="{FF2B5EF4-FFF2-40B4-BE49-F238E27FC236}">
                <a16:creationId xmlns:a16="http://schemas.microsoft.com/office/drawing/2014/main" id="{E4494D70-2BDF-7834-5E2C-45DEB54FF8BE}"/>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934661" y="4355741"/>
            <a:ext cx="442341" cy="380194"/>
          </a:xfrm>
          <a:prstGeom prst="rect">
            <a:avLst/>
          </a:prstGeom>
          <a:noFill/>
          <a:extLst>
            <a:ext uri="{909E8E84-426E-40DD-AFC4-6F175D3DCCD1}">
              <a14:hiddenFill xmlns:a14="http://schemas.microsoft.com/office/drawing/2010/main">
                <a:solidFill>
                  <a:srgbClr val="FFFFFF"/>
                </a:solidFill>
              </a14:hiddenFill>
            </a:ext>
          </a:extLst>
        </p:spPr>
      </p:pic>
      <p:pic>
        <p:nvPicPr>
          <p:cNvPr id="414" name="Picture 413" descr="Succession planning - Free business and finance icons">
            <a:extLst>
              <a:ext uri="{FF2B5EF4-FFF2-40B4-BE49-F238E27FC236}">
                <a16:creationId xmlns:a16="http://schemas.microsoft.com/office/drawing/2014/main" id="{14C3B4EA-4505-9D75-A136-8E2C4AD96D2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954998" y="5466211"/>
            <a:ext cx="525970" cy="525970"/>
          </a:xfrm>
          <a:prstGeom prst="rect">
            <a:avLst/>
          </a:prstGeom>
          <a:noFill/>
          <a:extLst>
            <a:ext uri="{909E8E84-426E-40DD-AFC4-6F175D3DCCD1}">
              <a14:hiddenFill xmlns:a14="http://schemas.microsoft.com/office/drawing/2010/main">
                <a:solidFill>
                  <a:srgbClr val="FFFFFF"/>
                </a:solidFill>
              </a14:hiddenFill>
            </a:ext>
          </a:extLst>
        </p:spPr>
      </p:pic>
      <p:pic>
        <p:nvPicPr>
          <p:cNvPr id="415" name="Picture 414" descr="Onboarding - Free business icons">
            <a:extLst>
              <a:ext uri="{FF2B5EF4-FFF2-40B4-BE49-F238E27FC236}">
                <a16:creationId xmlns:a16="http://schemas.microsoft.com/office/drawing/2014/main" id="{D4BE4713-FFBF-07AC-CE59-91F96244FF1F}"/>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092899" y="5471525"/>
            <a:ext cx="676771" cy="676771"/>
          </a:xfrm>
          <a:prstGeom prst="rect">
            <a:avLst/>
          </a:prstGeom>
          <a:noFill/>
          <a:extLst>
            <a:ext uri="{909E8E84-426E-40DD-AFC4-6F175D3DCCD1}">
              <a14:hiddenFill xmlns:a14="http://schemas.microsoft.com/office/drawing/2010/main">
                <a:solidFill>
                  <a:srgbClr val="FFFFFF"/>
                </a:solidFill>
              </a14:hiddenFill>
            </a:ext>
          </a:extLst>
        </p:spPr>
      </p:pic>
      <p:pic>
        <p:nvPicPr>
          <p:cNvPr id="416" name="Picture 415" descr="skill gap analysis for hiring head hunting color icon illustration 65962038  Vector Art at Vecteezy">
            <a:extLst>
              <a:ext uri="{FF2B5EF4-FFF2-40B4-BE49-F238E27FC236}">
                <a16:creationId xmlns:a16="http://schemas.microsoft.com/office/drawing/2014/main" id="{B87A13E9-7802-9373-68ED-9E0E1392C469}"/>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030560" y="5419824"/>
            <a:ext cx="676770" cy="676770"/>
          </a:xfrm>
          <a:prstGeom prst="rect">
            <a:avLst/>
          </a:prstGeom>
          <a:noFill/>
          <a:extLst>
            <a:ext uri="{909E8E84-426E-40DD-AFC4-6F175D3DCCD1}">
              <a14:hiddenFill xmlns:a14="http://schemas.microsoft.com/office/drawing/2010/main">
                <a:solidFill>
                  <a:srgbClr val="FFFFFF"/>
                </a:solidFill>
              </a14:hiddenFill>
            </a:ext>
          </a:extLst>
        </p:spPr>
      </p:pic>
      <p:sp>
        <p:nvSpPr>
          <p:cNvPr id="417" name="TextBox 1042">
            <a:extLst>
              <a:ext uri="{FF2B5EF4-FFF2-40B4-BE49-F238E27FC236}">
                <a16:creationId xmlns:a16="http://schemas.microsoft.com/office/drawing/2014/main" id="{A5D91079-DF32-02FE-B3ED-94F828364567}"/>
              </a:ext>
            </a:extLst>
          </p:cNvPr>
          <p:cNvSpPr txBox="1"/>
          <p:nvPr/>
        </p:nvSpPr>
        <p:spPr>
          <a:xfrm>
            <a:off x="3894940" y="866627"/>
            <a:ext cx="1218603" cy="384721"/>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dirty="0"/>
              <a:t>15% - 85%</a:t>
            </a:r>
            <a:endParaRPr dirty="0"/>
          </a:p>
        </p:txBody>
      </p:sp>
      <p:sp>
        <p:nvSpPr>
          <p:cNvPr id="418" name="TextBox 1126">
            <a:extLst>
              <a:ext uri="{FF2B5EF4-FFF2-40B4-BE49-F238E27FC236}">
                <a16:creationId xmlns:a16="http://schemas.microsoft.com/office/drawing/2014/main" id="{FCCA49EB-3863-D31E-B9D4-8637A7378217}"/>
              </a:ext>
            </a:extLst>
          </p:cNvPr>
          <p:cNvSpPr txBox="1"/>
          <p:nvPr/>
        </p:nvSpPr>
        <p:spPr>
          <a:xfrm>
            <a:off x="9147881" y="3414240"/>
            <a:ext cx="917239" cy="253916"/>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1900" b="1">
                <a:solidFill>
                  <a:srgbClr val="1F2937"/>
                </a:solidFill>
              </a:defRPr>
            </a:pPr>
            <a:r>
              <a:rPr lang="en-US" sz="1050" dirty="0"/>
              <a:t>1,191.07 </a:t>
            </a:r>
            <a:r>
              <a:rPr lang="en-US" sz="1050" dirty="0" err="1"/>
              <a:t>Hrs</a:t>
            </a:r>
            <a:r>
              <a:rPr lang="en-US" sz="1050" dirty="0"/>
              <a:t> </a:t>
            </a:r>
            <a:endParaRPr sz="1050" dirty="0"/>
          </a:p>
        </p:txBody>
      </p:sp>
      <p:sp>
        <p:nvSpPr>
          <p:cNvPr id="419" name="TextBox 1131">
            <a:extLst>
              <a:ext uri="{FF2B5EF4-FFF2-40B4-BE49-F238E27FC236}">
                <a16:creationId xmlns:a16="http://schemas.microsoft.com/office/drawing/2014/main" id="{C031468A-303C-8EF7-2F70-F11E73F23AB9}"/>
              </a:ext>
            </a:extLst>
          </p:cNvPr>
          <p:cNvSpPr txBox="1"/>
          <p:nvPr/>
        </p:nvSpPr>
        <p:spPr>
          <a:xfrm>
            <a:off x="9122816" y="3630306"/>
            <a:ext cx="1113187"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rPr sz="900" b="1" dirty="0">
                <a:solidFill>
                  <a:srgbClr val="C00000"/>
                </a:solidFill>
              </a:rPr>
              <a:t>▲ </a:t>
            </a:r>
            <a:r>
              <a:rPr lang="en-US" sz="900" b="1" dirty="0">
                <a:solidFill>
                  <a:srgbClr val="C00000"/>
                </a:solidFill>
              </a:rPr>
              <a:t>14.8 </a:t>
            </a:r>
            <a:r>
              <a:rPr sz="900" b="1" dirty="0">
                <a:solidFill>
                  <a:srgbClr val="C00000"/>
                </a:solidFill>
              </a:rPr>
              <a:t>% vs prev.</a:t>
            </a:r>
          </a:p>
        </p:txBody>
      </p:sp>
      <p:sp>
        <p:nvSpPr>
          <p:cNvPr id="420" name="TextBox 1131">
            <a:extLst>
              <a:ext uri="{FF2B5EF4-FFF2-40B4-BE49-F238E27FC236}">
                <a16:creationId xmlns:a16="http://schemas.microsoft.com/office/drawing/2014/main" id="{EC94CB16-5401-03EA-76E2-630CD23BBB74}"/>
              </a:ext>
            </a:extLst>
          </p:cNvPr>
          <p:cNvSpPr txBox="1"/>
          <p:nvPr/>
        </p:nvSpPr>
        <p:spPr>
          <a:xfrm>
            <a:off x="10626762" y="3633338"/>
            <a:ext cx="1123430"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2E7D32"/>
                </a:solidFill>
              </a:defRPr>
            </a:pPr>
            <a:r>
              <a:rPr sz="900" b="1" dirty="0">
                <a:solidFill>
                  <a:srgbClr val="C00000"/>
                </a:solidFill>
              </a:rPr>
              <a:t>▲ </a:t>
            </a:r>
            <a:r>
              <a:rPr lang="en-US" sz="900" b="1" dirty="0">
                <a:solidFill>
                  <a:srgbClr val="C00000"/>
                </a:solidFill>
              </a:rPr>
              <a:t>19.89 </a:t>
            </a:r>
            <a:r>
              <a:rPr sz="900" b="1" dirty="0">
                <a:solidFill>
                  <a:srgbClr val="C00000"/>
                </a:solidFill>
              </a:rPr>
              <a:t>% vs prev.</a:t>
            </a:r>
          </a:p>
        </p:txBody>
      </p:sp>
      <p:sp>
        <p:nvSpPr>
          <p:cNvPr id="424" name="TextBox 1096">
            <a:extLst>
              <a:ext uri="{FF2B5EF4-FFF2-40B4-BE49-F238E27FC236}">
                <a16:creationId xmlns:a16="http://schemas.microsoft.com/office/drawing/2014/main" id="{AE84DBD8-F9D2-552A-7A79-F4FDB94BEB3C}"/>
              </a:ext>
            </a:extLst>
          </p:cNvPr>
          <p:cNvSpPr txBox="1"/>
          <p:nvPr/>
        </p:nvSpPr>
        <p:spPr>
          <a:xfrm>
            <a:off x="4059758" y="4855644"/>
            <a:ext cx="1181762"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C00000"/>
                </a:solidFill>
              </a:defRPr>
            </a:pPr>
            <a:r>
              <a:rPr lang="en-US" sz="900" b="1" dirty="0">
                <a:solidFill>
                  <a:srgbClr val="C00000"/>
                </a:solidFill>
              </a:rPr>
              <a:t>▼ 13 % vs prev.</a:t>
            </a:r>
          </a:p>
        </p:txBody>
      </p:sp>
      <p:sp>
        <p:nvSpPr>
          <p:cNvPr id="425" name="TextBox 1143">
            <a:extLst>
              <a:ext uri="{FF2B5EF4-FFF2-40B4-BE49-F238E27FC236}">
                <a16:creationId xmlns:a16="http://schemas.microsoft.com/office/drawing/2014/main" id="{2C3353CF-7FC4-BD1B-AF44-552BF329CC22}"/>
              </a:ext>
            </a:extLst>
          </p:cNvPr>
          <p:cNvSpPr txBox="1"/>
          <p:nvPr/>
        </p:nvSpPr>
        <p:spPr>
          <a:xfrm>
            <a:off x="7034344" y="4812751"/>
            <a:ext cx="1035861" cy="230832"/>
          </a:xfrm>
          <a:prstGeom prst="rect">
            <a:avLst/>
          </a:prstGeom>
          <a:no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sz="900" b="1">
                <a:solidFill>
                  <a:srgbClr val="C00000"/>
                </a:solidFill>
              </a:defRPr>
            </a:pPr>
            <a:r>
              <a:rPr lang="en-US" sz="900" b="1" dirty="0">
                <a:solidFill>
                  <a:srgbClr val="C00000"/>
                </a:solidFill>
              </a:rPr>
              <a:t>▼ 90.3 % vs prev.</a:t>
            </a:r>
          </a:p>
        </p:txBody>
      </p:sp>
    </p:spTree>
    <p:extLst>
      <p:ext uri="{BB962C8B-B14F-4D97-AF65-F5344CB8AC3E}">
        <p14:creationId xmlns:p14="http://schemas.microsoft.com/office/powerpoint/2010/main" val="1273054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46B0E-77BB-E06A-DD5A-734E85C3DC9A}"/>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690A6FF-1E66-FAEC-C125-AEDA88367C22}"/>
              </a:ext>
            </a:extLst>
          </p:cNvPr>
          <p:cNvGraphicFramePr>
            <a:graphicFrameLocks noGrp="1"/>
          </p:cNvGraphicFramePr>
          <p:nvPr/>
        </p:nvGraphicFramePr>
        <p:xfrm>
          <a:off x="570782" y="390751"/>
          <a:ext cx="10644188" cy="368098"/>
        </p:xfrm>
        <a:graphic>
          <a:graphicData uri="http://schemas.openxmlformats.org/drawingml/2006/table">
            <a:tbl>
              <a:tblPr firstRow="1" firstCol="1" bandRow="1"/>
              <a:tblGrid>
                <a:gridCol w="10644188">
                  <a:extLst>
                    <a:ext uri="{9D8B030D-6E8A-4147-A177-3AD203B41FA5}">
                      <a16:colId xmlns:a16="http://schemas.microsoft.com/office/drawing/2014/main" val="3805162465"/>
                    </a:ext>
                  </a:extLst>
                </a:gridCol>
              </a:tblGrid>
              <a:tr h="368098">
                <a:tc>
                  <a:txBody>
                    <a:bodyPr/>
                    <a:lstStyle/>
                    <a:p>
                      <a:pPr marL="457200" marR="0" lvl="1" indent="0">
                        <a:spcBef>
                          <a:spcPts val="200"/>
                        </a:spcBef>
                        <a:spcAft>
                          <a:spcPts val="0"/>
                        </a:spcAft>
                        <a:buFont typeface="+mj-lt"/>
                        <a:buNone/>
                      </a:pPr>
                      <a:r>
                        <a:rPr lang="en-US" sz="1000" b="1" dirty="0">
                          <a:solidFill>
                            <a:srgbClr val="595959"/>
                          </a:solidFill>
                          <a:effectLst/>
                          <a:latin typeface="Franklin Gothic Book" panose="020B0503020102020204" pitchFamily="34" charset="0"/>
                          <a:ea typeface="Times New Roman" panose="02020603050405020304" pitchFamily="18" charset="0"/>
                          <a:cs typeface="Times New Roman" panose="02020603050405020304" pitchFamily="18" charset="0"/>
                        </a:rPr>
                        <a:t>1. Financial KPIs </a:t>
                      </a:r>
                      <a:endParaRPr lang="en-US" sz="1000" b="1" dirty="0">
                        <a:solidFill>
                          <a:srgbClr val="595959"/>
                        </a:solidFill>
                        <a:effectLst/>
                        <a:latin typeface="Franklin Gothic Book" panose="020B0503020102020204" pitchFamily="34" charset="0"/>
                        <a:ea typeface="Franklin Gothic Book" panose="020B0503020102020204" pitchFamily="34" charset="0"/>
                        <a:cs typeface="Times New Roman" panose="02020603050405020304" pitchFamily="18" charset="0"/>
                      </a:endParaRPr>
                    </a:p>
                  </a:txBody>
                  <a:tcPr marL="0" marR="0" marT="0" marB="0" anchor="b">
                    <a:lnL>
                      <a:noFill/>
                    </a:lnL>
                    <a:lnR>
                      <a:noFill/>
                    </a:lnR>
                    <a:lnT>
                      <a:noFill/>
                    </a:lnT>
                    <a:lnB w="28575" cap="flat" cmpd="sng" algn="ctr">
                      <a:solidFill>
                        <a:srgbClr val="FEDE00"/>
                      </a:solidFill>
                      <a:prstDash val="solid"/>
                      <a:round/>
                      <a:headEnd type="none" w="med" len="med"/>
                      <a:tailEnd type="none" w="med" len="med"/>
                    </a:lnB>
                    <a:noFill/>
                  </a:tcPr>
                </a:tc>
                <a:extLst>
                  <a:ext uri="{0D108BD9-81ED-4DB2-BD59-A6C34878D82A}">
                    <a16:rowId xmlns:a16="http://schemas.microsoft.com/office/drawing/2014/main" val="3068743864"/>
                  </a:ext>
                </a:extLst>
              </a:tr>
            </a:tbl>
          </a:graphicData>
        </a:graphic>
      </p:graphicFrame>
      <p:graphicFrame>
        <p:nvGraphicFramePr>
          <p:cNvPr id="3" name="Table 2">
            <a:extLst>
              <a:ext uri="{FF2B5EF4-FFF2-40B4-BE49-F238E27FC236}">
                <a16:creationId xmlns:a16="http://schemas.microsoft.com/office/drawing/2014/main" id="{B73E313C-4AD0-E0C9-550A-C78414E5AF8E}"/>
              </a:ext>
            </a:extLst>
          </p:cNvPr>
          <p:cNvGraphicFramePr>
            <a:graphicFrameLocks noGrp="1"/>
          </p:cNvGraphicFramePr>
          <p:nvPr>
            <p:extLst>
              <p:ext uri="{D42A27DB-BD31-4B8C-83A1-F6EECF244321}">
                <p14:modId xmlns:p14="http://schemas.microsoft.com/office/powerpoint/2010/main" val="508022259"/>
              </p:ext>
            </p:extLst>
          </p:nvPr>
        </p:nvGraphicFramePr>
        <p:xfrm>
          <a:off x="570780" y="802921"/>
          <a:ext cx="10644180" cy="626704"/>
        </p:xfrm>
        <a:graphic>
          <a:graphicData uri="http://schemas.openxmlformats.org/drawingml/2006/table">
            <a:tbl>
              <a:tblPr firstRow="1"/>
              <a:tblGrid>
                <a:gridCol w="1482224">
                  <a:extLst>
                    <a:ext uri="{9D8B030D-6E8A-4147-A177-3AD203B41FA5}">
                      <a16:colId xmlns:a16="http://schemas.microsoft.com/office/drawing/2014/main" val="2465236027"/>
                    </a:ext>
                  </a:extLst>
                </a:gridCol>
                <a:gridCol w="559209">
                  <a:extLst>
                    <a:ext uri="{9D8B030D-6E8A-4147-A177-3AD203B41FA5}">
                      <a16:colId xmlns:a16="http://schemas.microsoft.com/office/drawing/2014/main" val="381102414"/>
                    </a:ext>
                  </a:extLst>
                </a:gridCol>
                <a:gridCol w="599773">
                  <a:extLst>
                    <a:ext uri="{9D8B030D-6E8A-4147-A177-3AD203B41FA5}">
                      <a16:colId xmlns:a16="http://schemas.microsoft.com/office/drawing/2014/main" val="4039513893"/>
                    </a:ext>
                  </a:extLst>
                </a:gridCol>
                <a:gridCol w="599773">
                  <a:extLst>
                    <a:ext uri="{9D8B030D-6E8A-4147-A177-3AD203B41FA5}">
                      <a16:colId xmlns:a16="http://schemas.microsoft.com/office/drawing/2014/main" val="3416928698"/>
                    </a:ext>
                  </a:extLst>
                </a:gridCol>
                <a:gridCol w="599773">
                  <a:extLst>
                    <a:ext uri="{9D8B030D-6E8A-4147-A177-3AD203B41FA5}">
                      <a16:colId xmlns:a16="http://schemas.microsoft.com/office/drawing/2014/main" val="2575275774"/>
                    </a:ext>
                  </a:extLst>
                </a:gridCol>
                <a:gridCol w="599773">
                  <a:extLst>
                    <a:ext uri="{9D8B030D-6E8A-4147-A177-3AD203B41FA5}">
                      <a16:colId xmlns:a16="http://schemas.microsoft.com/office/drawing/2014/main" val="1207771422"/>
                    </a:ext>
                  </a:extLst>
                </a:gridCol>
                <a:gridCol w="599773">
                  <a:extLst>
                    <a:ext uri="{9D8B030D-6E8A-4147-A177-3AD203B41FA5}">
                      <a16:colId xmlns:a16="http://schemas.microsoft.com/office/drawing/2014/main" val="2221727483"/>
                    </a:ext>
                  </a:extLst>
                </a:gridCol>
                <a:gridCol w="599773">
                  <a:extLst>
                    <a:ext uri="{9D8B030D-6E8A-4147-A177-3AD203B41FA5}">
                      <a16:colId xmlns:a16="http://schemas.microsoft.com/office/drawing/2014/main" val="3690676225"/>
                    </a:ext>
                  </a:extLst>
                </a:gridCol>
                <a:gridCol w="508113">
                  <a:extLst>
                    <a:ext uri="{9D8B030D-6E8A-4147-A177-3AD203B41FA5}">
                      <a16:colId xmlns:a16="http://schemas.microsoft.com/office/drawing/2014/main" val="3558639739"/>
                    </a:ext>
                  </a:extLst>
                </a:gridCol>
                <a:gridCol w="508113">
                  <a:extLst>
                    <a:ext uri="{9D8B030D-6E8A-4147-A177-3AD203B41FA5}">
                      <a16:colId xmlns:a16="http://schemas.microsoft.com/office/drawing/2014/main" val="4053600761"/>
                    </a:ext>
                  </a:extLst>
                </a:gridCol>
                <a:gridCol w="508113">
                  <a:extLst>
                    <a:ext uri="{9D8B030D-6E8A-4147-A177-3AD203B41FA5}">
                      <a16:colId xmlns:a16="http://schemas.microsoft.com/office/drawing/2014/main" val="1636194404"/>
                    </a:ext>
                  </a:extLst>
                </a:gridCol>
                <a:gridCol w="508113">
                  <a:extLst>
                    <a:ext uri="{9D8B030D-6E8A-4147-A177-3AD203B41FA5}">
                      <a16:colId xmlns:a16="http://schemas.microsoft.com/office/drawing/2014/main" val="1592025307"/>
                    </a:ext>
                  </a:extLst>
                </a:gridCol>
                <a:gridCol w="545559">
                  <a:extLst>
                    <a:ext uri="{9D8B030D-6E8A-4147-A177-3AD203B41FA5}">
                      <a16:colId xmlns:a16="http://schemas.microsoft.com/office/drawing/2014/main" val="3414584793"/>
                    </a:ext>
                  </a:extLst>
                </a:gridCol>
                <a:gridCol w="545559">
                  <a:extLst>
                    <a:ext uri="{9D8B030D-6E8A-4147-A177-3AD203B41FA5}">
                      <a16:colId xmlns:a16="http://schemas.microsoft.com/office/drawing/2014/main" val="2112689895"/>
                    </a:ext>
                  </a:extLst>
                </a:gridCol>
                <a:gridCol w="545559">
                  <a:extLst>
                    <a:ext uri="{9D8B030D-6E8A-4147-A177-3AD203B41FA5}">
                      <a16:colId xmlns:a16="http://schemas.microsoft.com/office/drawing/2014/main" val="4218093356"/>
                    </a:ext>
                  </a:extLst>
                </a:gridCol>
                <a:gridCol w="746119">
                  <a:extLst>
                    <a:ext uri="{9D8B030D-6E8A-4147-A177-3AD203B41FA5}">
                      <a16:colId xmlns:a16="http://schemas.microsoft.com/office/drawing/2014/main" val="3626582608"/>
                    </a:ext>
                  </a:extLst>
                </a:gridCol>
                <a:gridCol w="588861">
                  <a:extLst>
                    <a:ext uri="{9D8B030D-6E8A-4147-A177-3AD203B41FA5}">
                      <a16:colId xmlns:a16="http://schemas.microsoft.com/office/drawing/2014/main" val="2704805406"/>
                    </a:ext>
                  </a:extLst>
                </a:gridCol>
              </a:tblGrid>
              <a:tr h="313352">
                <a:tc>
                  <a:txBody>
                    <a:bodyPr/>
                    <a:lstStyle/>
                    <a:p>
                      <a:pPr marL="0" marR="8890" algn="r">
                        <a:spcBef>
                          <a:spcPts val="200"/>
                        </a:spcBef>
                        <a:spcAft>
                          <a:spcPts val="200"/>
                        </a:spcAft>
                      </a:pPr>
                      <a:r>
                        <a:rPr lang="en-US" sz="1200" b="1" kern="1000" cap="all" dirty="0">
                          <a:solidFill>
                            <a:srgbClr val="FFFFFF"/>
                          </a:solidFill>
                          <a:effectLst/>
                          <a:highlight>
                            <a:srgbClr val="943634"/>
                          </a:highlight>
                          <a:latin typeface="+mn-lt"/>
                          <a:ea typeface="Times New Roman" panose="02020603050405020304" pitchFamily="18" charset="0"/>
                        </a:rPr>
                        <a:t> </a:t>
                      </a:r>
                      <a:endParaRPr lang="en-US" sz="1200" b="1" dirty="0">
                        <a:solidFill>
                          <a:srgbClr val="FFFFFF"/>
                        </a:solidFill>
                        <a:effectLst/>
                        <a:highlight>
                          <a:srgbClr val="943634"/>
                        </a:highlight>
                        <a:latin typeface="+mn-lt"/>
                        <a:ea typeface="Calibri" panose="020F0502020204030204" pitchFamily="34" charset="0"/>
                      </a:endParaRPr>
                    </a:p>
                  </a:txBody>
                  <a:tcPr marL="65942" marR="65942" marT="0"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MAR 26</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APR</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MAY</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JUN</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JUL</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AUG</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SEPT</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OCT</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NOV</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DEC</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JAN</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FEV</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MAR</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YTD </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BUDGET </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Saving</a:t>
                      </a: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943634"/>
                    </a:solidFill>
                  </a:tcPr>
                </a:tc>
                <a:extLst>
                  <a:ext uri="{0D108BD9-81ED-4DB2-BD59-A6C34878D82A}">
                    <a16:rowId xmlns:a16="http://schemas.microsoft.com/office/drawing/2014/main" val="3547126638"/>
                  </a:ext>
                </a:extLst>
              </a:tr>
              <a:tr h="313352">
                <a:tc>
                  <a:txBody>
                    <a:bodyPr/>
                    <a:lstStyle/>
                    <a:p>
                      <a:pPr marL="0" marR="8890">
                        <a:spcBef>
                          <a:spcPts val="200"/>
                        </a:spcBef>
                        <a:spcAft>
                          <a:spcPts val="200"/>
                        </a:spcAft>
                      </a:pPr>
                      <a:r>
                        <a:rPr lang="en-GB" sz="1000" b="1" dirty="0">
                          <a:solidFill>
                            <a:srgbClr val="000000"/>
                          </a:solidFill>
                          <a:effectLst/>
                          <a:highlight>
                            <a:srgbClr val="E5EAEE"/>
                          </a:highlight>
                          <a:latin typeface="+mn-lt"/>
                          <a:ea typeface="Franklin Gothic Book" panose="020B0503020102020204" pitchFamily="34" charset="0"/>
                        </a:rPr>
                        <a:t>Staff Cost (000 USD)</a:t>
                      </a:r>
                      <a:endParaRPr lang="en-US" sz="1000" b="1" dirty="0">
                        <a:solidFill>
                          <a:srgbClr val="FFFFFF"/>
                        </a:solidFill>
                        <a:effectLst/>
                        <a:highlight>
                          <a:srgbClr val="E5EAEE"/>
                        </a:highlight>
                        <a:latin typeface="+mn-lt"/>
                        <a:ea typeface="Calibri" panose="020F0502020204030204" pitchFamily="34" charset="0"/>
                      </a:endParaRPr>
                    </a:p>
                  </a:txBody>
                  <a:tcPr marL="65942" marR="65942"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1" kern="1200" dirty="0">
                          <a:solidFill>
                            <a:srgbClr val="000000"/>
                          </a:solidFill>
                          <a:effectLst/>
                          <a:latin typeface="Calibri" panose="020F0502020204030204" pitchFamily="34" charset="0"/>
                          <a:ea typeface="Times New Roman" panose="02020603050405020304" pitchFamily="18" charset="0"/>
                        </a:rPr>
                        <a:t>804.78</a:t>
                      </a:r>
                      <a:endParaRPr lang="en-US" sz="1000" b="1" i="0" u="none" strike="noStrike" dirty="0">
                        <a:solidFill>
                          <a:srgbClr val="000000"/>
                        </a:solidFill>
                        <a:effectLst/>
                        <a:latin typeface="Calibri" panose="020F0502020204030204" pitchFamily="34" charset="0"/>
                      </a:endParaRP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algn="ctr" fontAlgn="ctr"/>
                      <a:r>
                        <a:rPr lang="en-US" sz="1000" b="1" i="0" u="none" strike="noStrike" dirty="0">
                          <a:solidFill>
                            <a:srgbClr val="000000"/>
                          </a:solidFill>
                          <a:effectLst/>
                          <a:latin typeface="Calibri" panose="020F0502020204030204" pitchFamily="34" charset="0"/>
                        </a:rPr>
                        <a:t>898.10</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algn="ctr" fontAlgn="ctr"/>
                      <a:r>
                        <a:rPr lang="en-US" sz="1000" b="1" i="0" u="none" strike="noStrike" dirty="0">
                          <a:solidFill>
                            <a:srgbClr val="000000"/>
                          </a:solidFill>
                          <a:effectLst/>
                          <a:latin typeface="Calibri" panose="020F0502020204030204" pitchFamily="34" charset="0"/>
                        </a:rPr>
                        <a:t>798.14</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algn="ctr" fontAlgn="ctr"/>
                      <a:r>
                        <a:rPr lang="en-US" sz="1000" b="1" i="0" u="none" strike="noStrike" dirty="0">
                          <a:solidFill>
                            <a:srgbClr val="000000"/>
                          </a:solidFill>
                          <a:effectLst/>
                          <a:latin typeface="Calibri" panose="020F0502020204030204" pitchFamily="34" charset="0"/>
                        </a:rPr>
                        <a:t>941.26</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algn="ctr" fontAlgn="ctr"/>
                      <a:endParaRPr lang="en-US" sz="1000" b="1" i="0" u="none" strike="noStrike" dirty="0">
                        <a:solidFill>
                          <a:srgbClr val="000000"/>
                        </a:solidFill>
                        <a:effectLst/>
                        <a:latin typeface="Calibri" panose="020F0502020204030204" pitchFamily="34" charset="0"/>
                      </a:endParaRP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algn="ctr" fontAlgn="b">
                        <a:buNone/>
                      </a:pPr>
                      <a:endParaRPr lang="en-US" sz="1000" b="1" i="0" u="none" strike="noStrike" dirty="0">
                        <a:effectLst/>
                        <a:latin typeface="Calibri" panose="020F0502020204030204" pitchFamily="34" charset="0"/>
                      </a:endParaRPr>
                    </a:p>
                  </a:txBody>
                  <a:tcPr marL="6350" marR="6350" marT="635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algn="ctr" fontAlgn="ctr"/>
                      <a:endParaRPr lang="en-US" sz="1000" b="1" i="0" u="none" strike="noStrike" dirty="0">
                        <a:solidFill>
                          <a:srgbClr val="000000"/>
                        </a:solidFill>
                        <a:effectLst/>
                        <a:latin typeface="Calibri" panose="020F0502020204030204" pitchFamily="34" charset="0"/>
                      </a:endParaRP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marL="0" marR="0" algn="ctr" fontAlgn="ctr">
                        <a:buNone/>
                      </a:pPr>
                      <a:endParaRPr lang="en-US" sz="1200" dirty="0">
                        <a:effectLst/>
                        <a:latin typeface="Times New Roman" panose="02020603050405020304" pitchFamily="18" charset="0"/>
                        <a:ea typeface="Calibri" panose="020F0502020204030204" pitchFamily="34" charset="0"/>
                      </a:endParaRPr>
                    </a:p>
                  </a:txBody>
                  <a:tcPr marL="95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marL="0" marR="0" algn="ctr" fontAlgn="ctr">
                        <a:buNone/>
                      </a:pPr>
                      <a:endParaRPr lang="en-US" sz="1200" dirty="0">
                        <a:effectLst/>
                        <a:latin typeface="Times New Roman" panose="02020603050405020304" pitchFamily="18" charset="0"/>
                        <a:ea typeface="Calibri" panose="020F0502020204030204" pitchFamily="34" charset="0"/>
                      </a:endParaRPr>
                    </a:p>
                  </a:txBody>
                  <a:tcPr marL="95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marL="0" marR="0" algn="ctr" fontAlgn="ctr">
                        <a:buNone/>
                      </a:pPr>
                      <a:endParaRPr lang="en-US" sz="1200" dirty="0">
                        <a:effectLst/>
                        <a:latin typeface="Times New Roman" panose="02020603050405020304" pitchFamily="18" charset="0"/>
                        <a:ea typeface="Calibri" panose="020F0502020204030204" pitchFamily="34" charset="0"/>
                      </a:endParaRPr>
                    </a:p>
                  </a:txBody>
                  <a:tcPr marL="95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marL="0" marR="0" algn="ctr" fontAlgn="ctr">
                        <a:buNone/>
                      </a:pPr>
                      <a:endParaRPr lang="en-US" sz="1200" dirty="0">
                        <a:effectLst/>
                        <a:latin typeface="Times New Roman" panose="02020603050405020304" pitchFamily="18" charset="0"/>
                        <a:ea typeface="Calibri" panose="020F0502020204030204" pitchFamily="34" charset="0"/>
                      </a:endParaRPr>
                    </a:p>
                  </a:txBody>
                  <a:tcPr marL="95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marL="0" marR="0" algn="ctr" fontAlgn="ctr">
                        <a:buNone/>
                      </a:pPr>
                      <a:endParaRPr lang="en-US" sz="1200" dirty="0">
                        <a:effectLst/>
                        <a:latin typeface="Times New Roman" panose="02020603050405020304" pitchFamily="18" charset="0"/>
                        <a:ea typeface="Calibri" panose="020F0502020204030204" pitchFamily="34" charset="0"/>
                      </a:endParaRPr>
                    </a:p>
                  </a:txBody>
                  <a:tcPr marL="95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marL="0" marR="0" algn="ctr" fontAlgn="ctr">
                        <a:buNone/>
                      </a:pPr>
                      <a:endParaRPr lang="en-US" sz="1200" dirty="0">
                        <a:effectLst/>
                        <a:latin typeface="Times New Roman" panose="02020603050405020304" pitchFamily="18" charset="0"/>
                        <a:ea typeface="Calibri" panose="020F0502020204030204" pitchFamily="34" charset="0"/>
                      </a:endParaRPr>
                    </a:p>
                  </a:txBody>
                  <a:tcPr marL="95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u="none" strike="noStrike" dirty="0">
                          <a:solidFill>
                            <a:srgbClr val="000000"/>
                          </a:solidFill>
                          <a:effectLst/>
                          <a:latin typeface="Calibri" panose="020F0502020204030204" pitchFamily="34" charset="0"/>
                        </a:rPr>
                        <a:t>2,637.49</a:t>
                      </a:r>
                      <a:endParaRPr lang="en-US" sz="800" b="1" dirty="0">
                        <a:effectLst/>
                        <a:latin typeface="+mn-lt"/>
                        <a:ea typeface="Calibri" panose="020F0502020204030204" pitchFamily="34" charset="0"/>
                      </a:endParaRPr>
                    </a:p>
                  </a:txBody>
                  <a:tcPr marL="95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marL="0" marR="0" algn="ctr" fontAlgn="ctr">
                        <a:buNone/>
                      </a:pPr>
                      <a:r>
                        <a:rPr lang="en-US" sz="1000" b="1" i="0" u="none" strike="noStrike" kern="1200" dirty="0">
                          <a:solidFill>
                            <a:srgbClr val="000000"/>
                          </a:solidFill>
                          <a:effectLst/>
                          <a:latin typeface="Calibri" panose="020F0502020204030204" pitchFamily="34" charset="0"/>
                          <a:ea typeface="+mn-ea"/>
                          <a:cs typeface="+mn-cs"/>
                        </a:rPr>
                        <a:t>3,066.44</a:t>
                      </a:r>
                    </a:p>
                  </a:txBody>
                  <a:tcPr marL="95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tc>
                  <a:txBody>
                    <a:bodyPr/>
                    <a:lstStyle/>
                    <a:p>
                      <a:pPr marL="0" marR="0" algn="ctr" fontAlgn="ctr">
                        <a:buNone/>
                      </a:pPr>
                      <a:r>
                        <a:rPr lang="en-US" sz="800" b="1" kern="1200" dirty="0">
                          <a:solidFill>
                            <a:srgbClr val="00B050"/>
                          </a:solidFill>
                          <a:effectLst/>
                          <a:latin typeface="Calibri" panose="020F0502020204030204" pitchFamily="34" charset="0"/>
                          <a:ea typeface="Times New Roman" panose="02020603050405020304" pitchFamily="18" charset="0"/>
                        </a:rPr>
                        <a:t>14%</a:t>
                      </a:r>
                      <a:endParaRPr lang="en-US" sz="1200" dirty="0">
                        <a:effectLst/>
                        <a:latin typeface="Times New Roman" panose="02020603050405020304" pitchFamily="18" charset="0"/>
                        <a:ea typeface="Calibri" panose="020F0502020204030204" pitchFamily="34" charset="0"/>
                      </a:endParaRPr>
                    </a:p>
                  </a:txBody>
                  <a:tcPr marL="9525" marR="9525" marT="952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5EAEE"/>
                    </a:solidFill>
                  </a:tcPr>
                </a:tc>
                <a:extLst>
                  <a:ext uri="{0D108BD9-81ED-4DB2-BD59-A6C34878D82A}">
                    <a16:rowId xmlns:a16="http://schemas.microsoft.com/office/drawing/2014/main" val="2156943283"/>
                  </a:ext>
                </a:extLst>
              </a:tr>
            </a:tbl>
          </a:graphicData>
        </a:graphic>
      </p:graphicFrame>
      <p:graphicFrame>
        <p:nvGraphicFramePr>
          <p:cNvPr id="12" name="Table 11">
            <a:extLst>
              <a:ext uri="{FF2B5EF4-FFF2-40B4-BE49-F238E27FC236}">
                <a16:creationId xmlns:a16="http://schemas.microsoft.com/office/drawing/2014/main" id="{2FD4E930-1E3E-8B66-BD8B-97EE27A435F4}"/>
              </a:ext>
            </a:extLst>
          </p:cNvPr>
          <p:cNvGraphicFramePr>
            <a:graphicFrameLocks noGrp="1"/>
          </p:cNvGraphicFramePr>
          <p:nvPr>
            <p:extLst>
              <p:ext uri="{D42A27DB-BD31-4B8C-83A1-F6EECF244321}">
                <p14:modId xmlns:p14="http://schemas.microsoft.com/office/powerpoint/2010/main" val="2812050891"/>
              </p:ext>
            </p:extLst>
          </p:nvPr>
        </p:nvGraphicFramePr>
        <p:xfrm>
          <a:off x="570782" y="2353197"/>
          <a:ext cx="10644188" cy="378979"/>
        </p:xfrm>
        <a:graphic>
          <a:graphicData uri="http://schemas.openxmlformats.org/drawingml/2006/table">
            <a:tbl>
              <a:tblPr firstRow="1" firstCol="1" bandRow="1"/>
              <a:tblGrid>
                <a:gridCol w="10644188">
                  <a:extLst>
                    <a:ext uri="{9D8B030D-6E8A-4147-A177-3AD203B41FA5}">
                      <a16:colId xmlns:a16="http://schemas.microsoft.com/office/drawing/2014/main" val="943269612"/>
                    </a:ext>
                  </a:extLst>
                </a:gridCol>
              </a:tblGrid>
              <a:tr h="226579">
                <a:tc>
                  <a:txBody>
                    <a:bodyPr/>
                    <a:lstStyle/>
                    <a:p>
                      <a:pPr marL="457200" marR="0" lvl="1" indent="0">
                        <a:spcBef>
                          <a:spcPts val="200"/>
                        </a:spcBef>
                        <a:spcAft>
                          <a:spcPts val="0"/>
                        </a:spcAft>
                        <a:buFont typeface="+mj-lt"/>
                        <a:buNone/>
                      </a:pPr>
                      <a:r>
                        <a:rPr lang="en-US" sz="1000" b="1" dirty="0">
                          <a:solidFill>
                            <a:srgbClr val="595959"/>
                          </a:solidFill>
                          <a:effectLst/>
                          <a:latin typeface="Franklin Gothic Book" panose="020B0503020102020204" pitchFamily="34" charset="0"/>
                          <a:ea typeface="Times New Roman" panose="02020603050405020304" pitchFamily="18" charset="0"/>
                          <a:cs typeface="Times New Roman" panose="02020603050405020304" pitchFamily="18" charset="0"/>
                        </a:rPr>
                        <a:t>2. Headcount</a:t>
                      </a:r>
                      <a:endParaRPr lang="en-US" sz="1000" b="1" dirty="0">
                        <a:solidFill>
                          <a:srgbClr val="595959"/>
                        </a:solidFill>
                        <a:effectLst/>
                        <a:latin typeface="Franklin Gothic Book" panose="020B0503020102020204" pitchFamily="34" charset="0"/>
                        <a:ea typeface="Franklin Gothic Book" panose="020B0503020102020204" pitchFamily="34" charset="0"/>
                        <a:cs typeface="Times New Roman" panose="02020603050405020304" pitchFamily="18" charset="0"/>
                      </a:endParaRPr>
                    </a:p>
                  </a:txBody>
                  <a:tcPr marL="0" marR="0" marT="0" marB="0" anchor="b">
                    <a:lnL>
                      <a:noFill/>
                    </a:lnL>
                    <a:lnR>
                      <a:noFill/>
                    </a:lnR>
                    <a:lnT>
                      <a:noFill/>
                    </a:lnT>
                    <a:lnB w="28575" cap="flat" cmpd="sng" algn="ctr">
                      <a:solidFill>
                        <a:srgbClr val="FEDE00"/>
                      </a:solidFill>
                      <a:prstDash val="solid"/>
                      <a:round/>
                      <a:headEnd type="none" w="med" len="med"/>
                      <a:tailEnd type="none" w="med" len="med"/>
                    </a:lnB>
                    <a:noFill/>
                  </a:tcPr>
                </a:tc>
                <a:extLst>
                  <a:ext uri="{0D108BD9-81ED-4DB2-BD59-A6C34878D82A}">
                    <a16:rowId xmlns:a16="http://schemas.microsoft.com/office/drawing/2014/main" val="3350934439"/>
                  </a:ext>
                </a:extLst>
              </a:tr>
              <a:tr h="113946">
                <a:tc>
                  <a:txBody>
                    <a:bodyPr/>
                    <a:lstStyle/>
                    <a:p>
                      <a:pPr marL="0" marR="0">
                        <a:spcBef>
                          <a:spcPts val="200"/>
                        </a:spcBef>
                        <a:spcAft>
                          <a:spcPts val="0"/>
                        </a:spcAft>
                      </a:pPr>
                      <a:r>
                        <a:rPr lang="en-US" sz="1000" kern="1000" dirty="0">
                          <a:solidFill>
                            <a:srgbClr val="595959"/>
                          </a:solidFill>
                          <a:effectLst/>
                          <a:latin typeface="Calibri" panose="020F0502020204030204" pitchFamily="34" charset="0"/>
                          <a:ea typeface="Franklin Gothic Book" panose="020B0503020102020204" pitchFamily="34" charset="0"/>
                        </a:rPr>
                        <a:t> </a:t>
                      </a:r>
                      <a:endParaRPr lang="en-US" sz="1200" dirty="0">
                        <a:solidFill>
                          <a:srgbClr val="595959"/>
                        </a:solidFill>
                        <a:effectLst/>
                        <a:latin typeface="Times New Roman" panose="02020603050405020304" pitchFamily="18" charset="0"/>
                        <a:ea typeface="Calibri" panose="020F0502020204030204" pitchFamily="34" charset="0"/>
                      </a:endParaRPr>
                    </a:p>
                  </a:txBody>
                  <a:tcPr marL="0" marR="0" marT="0" marB="0" anchor="ctr">
                    <a:lnL>
                      <a:noFill/>
                    </a:lnL>
                    <a:lnR>
                      <a:noFill/>
                    </a:lnR>
                    <a:lnT w="28575" cap="flat" cmpd="sng" algn="ctr">
                      <a:solidFill>
                        <a:srgbClr val="FEDE00"/>
                      </a:solidFill>
                      <a:prstDash val="solid"/>
                      <a:round/>
                      <a:headEnd type="none" w="med" len="med"/>
                      <a:tailEnd type="none" w="med" len="med"/>
                    </a:lnT>
                    <a:lnB>
                      <a:noFill/>
                    </a:lnB>
                    <a:noFill/>
                  </a:tcPr>
                </a:tc>
                <a:extLst>
                  <a:ext uri="{0D108BD9-81ED-4DB2-BD59-A6C34878D82A}">
                    <a16:rowId xmlns:a16="http://schemas.microsoft.com/office/drawing/2014/main" val="4154373107"/>
                  </a:ext>
                </a:extLst>
              </a:tr>
            </a:tbl>
          </a:graphicData>
        </a:graphic>
      </p:graphicFrame>
      <p:graphicFrame>
        <p:nvGraphicFramePr>
          <p:cNvPr id="13" name="Table 12">
            <a:extLst>
              <a:ext uri="{FF2B5EF4-FFF2-40B4-BE49-F238E27FC236}">
                <a16:creationId xmlns:a16="http://schemas.microsoft.com/office/drawing/2014/main" id="{033DB7A6-B0E8-B5E8-F44D-E042F325CB3B}"/>
              </a:ext>
            </a:extLst>
          </p:cNvPr>
          <p:cNvGraphicFramePr>
            <a:graphicFrameLocks noGrp="1"/>
          </p:cNvGraphicFramePr>
          <p:nvPr>
            <p:extLst>
              <p:ext uri="{D42A27DB-BD31-4B8C-83A1-F6EECF244321}">
                <p14:modId xmlns:p14="http://schemas.microsoft.com/office/powerpoint/2010/main" val="4264873475"/>
              </p:ext>
            </p:extLst>
          </p:nvPr>
        </p:nvGraphicFramePr>
        <p:xfrm>
          <a:off x="570782" y="2711417"/>
          <a:ext cx="11018271" cy="1261110"/>
        </p:xfrm>
        <a:graphic>
          <a:graphicData uri="http://schemas.openxmlformats.org/drawingml/2006/table">
            <a:tbl>
              <a:tblPr firstRow="1" firstCol="1" bandRow="1"/>
              <a:tblGrid>
                <a:gridCol w="1821869">
                  <a:extLst>
                    <a:ext uri="{9D8B030D-6E8A-4147-A177-3AD203B41FA5}">
                      <a16:colId xmlns:a16="http://schemas.microsoft.com/office/drawing/2014/main" val="203642807"/>
                    </a:ext>
                  </a:extLst>
                </a:gridCol>
                <a:gridCol w="700757">
                  <a:extLst>
                    <a:ext uri="{9D8B030D-6E8A-4147-A177-3AD203B41FA5}">
                      <a16:colId xmlns:a16="http://schemas.microsoft.com/office/drawing/2014/main" val="956362383"/>
                    </a:ext>
                  </a:extLst>
                </a:gridCol>
                <a:gridCol w="700757">
                  <a:extLst>
                    <a:ext uri="{9D8B030D-6E8A-4147-A177-3AD203B41FA5}">
                      <a16:colId xmlns:a16="http://schemas.microsoft.com/office/drawing/2014/main" val="3052212135"/>
                    </a:ext>
                  </a:extLst>
                </a:gridCol>
                <a:gridCol w="494546">
                  <a:extLst>
                    <a:ext uri="{9D8B030D-6E8A-4147-A177-3AD203B41FA5}">
                      <a16:colId xmlns:a16="http://schemas.microsoft.com/office/drawing/2014/main" val="4056604688"/>
                    </a:ext>
                  </a:extLst>
                </a:gridCol>
                <a:gridCol w="494547">
                  <a:extLst>
                    <a:ext uri="{9D8B030D-6E8A-4147-A177-3AD203B41FA5}">
                      <a16:colId xmlns:a16="http://schemas.microsoft.com/office/drawing/2014/main" val="2367272536"/>
                    </a:ext>
                  </a:extLst>
                </a:gridCol>
                <a:gridCol w="494546">
                  <a:extLst>
                    <a:ext uri="{9D8B030D-6E8A-4147-A177-3AD203B41FA5}">
                      <a16:colId xmlns:a16="http://schemas.microsoft.com/office/drawing/2014/main" val="3614666954"/>
                    </a:ext>
                  </a:extLst>
                </a:gridCol>
                <a:gridCol w="494546">
                  <a:extLst>
                    <a:ext uri="{9D8B030D-6E8A-4147-A177-3AD203B41FA5}">
                      <a16:colId xmlns:a16="http://schemas.microsoft.com/office/drawing/2014/main" val="4008192377"/>
                    </a:ext>
                  </a:extLst>
                </a:gridCol>
                <a:gridCol w="494547">
                  <a:extLst>
                    <a:ext uri="{9D8B030D-6E8A-4147-A177-3AD203B41FA5}">
                      <a16:colId xmlns:a16="http://schemas.microsoft.com/office/drawing/2014/main" val="1877583967"/>
                    </a:ext>
                  </a:extLst>
                </a:gridCol>
                <a:gridCol w="494547">
                  <a:extLst>
                    <a:ext uri="{9D8B030D-6E8A-4147-A177-3AD203B41FA5}">
                      <a16:colId xmlns:a16="http://schemas.microsoft.com/office/drawing/2014/main" val="3910534176"/>
                    </a:ext>
                  </a:extLst>
                </a:gridCol>
                <a:gridCol w="494546">
                  <a:extLst>
                    <a:ext uri="{9D8B030D-6E8A-4147-A177-3AD203B41FA5}">
                      <a16:colId xmlns:a16="http://schemas.microsoft.com/office/drawing/2014/main" val="797137596"/>
                    </a:ext>
                  </a:extLst>
                </a:gridCol>
                <a:gridCol w="494546">
                  <a:extLst>
                    <a:ext uri="{9D8B030D-6E8A-4147-A177-3AD203B41FA5}">
                      <a16:colId xmlns:a16="http://schemas.microsoft.com/office/drawing/2014/main" val="3273588423"/>
                    </a:ext>
                  </a:extLst>
                </a:gridCol>
                <a:gridCol w="494547">
                  <a:extLst>
                    <a:ext uri="{9D8B030D-6E8A-4147-A177-3AD203B41FA5}">
                      <a16:colId xmlns:a16="http://schemas.microsoft.com/office/drawing/2014/main" val="504746962"/>
                    </a:ext>
                  </a:extLst>
                </a:gridCol>
                <a:gridCol w="494546">
                  <a:extLst>
                    <a:ext uri="{9D8B030D-6E8A-4147-A177-3AD203B41FA5}">
                      <a16:colId xmlns:a16="http://schemas.microsoft.com/office/drawing/2014/main" val="929527503"/>
                    </a:ext>
                  </a:extLst>
                </a:gridCol>
                <a:gridCol w="494546">
                  <a:extLst>
                    <a:ext uri="{9D8B030D-6E8A-4147-A177-3AD203B41FA5}">
                      <a16:colId xmlns:a16="http://schemas.microsoft.com/office/drawing/2014/main" val="2561415036"/>
                    </a:ext>
                  </a:extLst>
                </a:gridCol>
                <a:gridCol w="1648968">
                  <a:extLst>
                    <a:ext uri="{9D8B030D-6E8A-4147-A177-3AD203B41FA5}">
                      <a16:colId xmlns:a16="http://schemas.microsoft.com/office/drawing/2014/main" val="2385030477"/>
                    </a:ext>
                  </a:extLst>
                </a:gridCol>
                <a:gridCol w="705910">
                  <a:extLst>
                    <a:ext uri="{9D8B030D-6E8A-4147-A177-3AD203B41FA5}">
                      <a16:colId xmlns:a16="http://schemas.microsoft.com/office/drawing/2014/main" val="3452249196"/>
                    </a:ext>
                  </a:extLst>
                </a:gridCol>
              </a:tblGrid>
              <a:tr h="210185">
                <a:tc>
                  <a:txBody>
                    <a:bodyPr/>
                    <a:lstStyle/>
                    <a:p>
                      <a:pPr marL="0" marR="8890" algn="ctr">
                        <a:spcBef>
                          <a:spcPts val="200"/>
                        </a:spcBef>
                        <a:spcAft>
                          <a:spcPts val="200"/>
                        </a:spcAft>
                      </a:pPr>
                      <a:r>
                        <a:rPr lang="en-US" sz="1200" kern="1000" cap="all" dirty="0">
                          <a:solidFill>
                            <a:srgbClr val="FFFFFF"/>
                          </a:solidFill>
                          <a:effectLst/>
                          <a:highlight>
                            <a:srgbClr val="943634"/>
                          </a:highlight>
                          <a:latin typeface="Calibri" panose="020F0502020204030204" pitchFamily="34" charset="0"/>
                          <a:ea typeface="Times New Roman" panose="02020603050405020304" pitchFamily="18" charset="0"/>
                        </a:rPr>
                        <a:t>Sites</a:t>
                      </a:r>
                      <a:endParaRPr lang="en-US" sz="1200" dirty="0">
                        <a:solidFill>
                          <a:srgbClr val="FFFFFF"/>
                        </a:solidFill>
                        <a:effectLst/>
                        <a:highlight>
                          <a:srgbClr val="943634"/>
                        </a:highligh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MAR 26</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rPr>
                        <a:t>APR</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MAY</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JUN</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JUL</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AUG</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SEP</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OCT</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NOV</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DEC</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JAN</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FEB</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MAR</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200" kern="1000" cap="all" dirty="0">
                          <a:solidFill>
                            <a:srgbClr val="FFFFFF"/>
                          </a:solidFill>
                          <a:effectLst/>
                          <a:latin typeface="Calibri" panose="020F0502020204030204" pitchFamily="34" charset="0"/>
                          <a:ea typeface="Times New Roman" panose="02020603050405020304" pitchFamily="18" charset="0"/>
                        </a:rPr>
                        <a:t>May  26 To June 26</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200" kern="1000" cap="all" dirty="0">
                          <a:solidFill>
                            <a:srgbClr val="FFFFFF"/>
                          </a:solidFill>
                          <a:effectLst/>
                          <a:highlight>
                            <a:srgbClr val="943634"/>
                          </a:highlight>
                          <a:latin typeface="Calibri" panose="020F0502020204030204" pitchFamily="34" charset="0"/>
                          <a:ea typeface="Times New Roman" panose="02020603050405020304" pitchFamily="18" charset="0"/>
                        </a:rPr>
                        <a:t>YTD </a:t>
                      </a:r>
                      <a:endParaRPr lang="en-US" sz="1200" dirty="0">
                        <a:solidFill>
                          <a:srgbClr val="FFFFFF"/>
                        </a:solidFill>
                        <a:effectLst/>
                        <a:highlight>
                          <a:srgbClr val="943634"/>
                        </a:highlight>
                        <a:latin typeface="Times New Roman" panose="02020603050405020304" pitchFamily="18" charset="0"/>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a:noFill/>
                    </a:lnR>
                    <a:lnT>
                      <a:noFill/>
                    </a:lnT>
                    <a:lnB w="19050" cap="flat" cmpd="sng" algn="ctr">
                      <a:solidFill>
                        <a:srgbClr val="FFFFFF"/>
                      </a:solidFill>
                      <a:prstDash val="solid"/>
                      <a:round/>
                      <a:headEnd type="none" w="med" len="med"/>
                      <a:tailEnd type="none" w="med" len="med"/>
                    </a:lnB>
                    <a:solidFill>
                      <a:srgbClr val="943634"/>
                    </a:solidFill>
                  </a:tcPr>
                </a:tc>
                <a:extLst>
                  <a:ext uri="{0D108BD9-81ED-4DB2-BD59-A6C34878D82A}">
                    <a16:rowId xmlns:a16="http://schemas.microsoft.com/office/drawing/2014/main" val="2471902424"/>
                  </a:ext>
                </a:extLst>
              </a:tr>
              <a:tr h="210185">
                <a:tc>
                  <a:txBody>
                    <a:bodyPr/>
                    <a:lstStyle/>
                    <a:p>
                      <a:pPr marL="0" marR="8890">
                        <a:spcBef>
                          <a:spcPts val="200"/>
                        </a:spcBef>
                        <a:spcAft>
                          <a:spcPts val="200"/>
                        </a:spcAft>
                      </a:pPr>
                      <a:r>
                        <a:rPr lang="en-US" sz="1200" kern="1000" dirty="0">
                          <a:solidFill>
                            <a:srgbClr val="000000"/>
                          </a:solidFill>
                          <a:effectLst/>
                          <a:latin typeface="Calibri" panose="020F0502020204030204" pitchFamily="34" charset="0"/>
                          <a:ea typeface="Franklin Gothic Book" panose="020B0503020102020204" pitchFamily="34" charset="0"/>
                        </a:rPr>
                        <a:t>Plant  </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100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100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101</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103</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685800" marR="8890" lvl="0" indent="0" algn="l" defTabSz="914400" rtl="0" eaLnBrk="1" fontAlgn="auto" latinLnBrk="0" hangingPunct="1">
                        <a:lnSpc>
                          <a:spcPct val="100000"/>
                        </a:lnSpc>
                        <a:spcBef>
                          <a:spcPts val="200"/>
                        </a:spcBef>
                        <a:spcAft>
                          <a:spcPts val="200"/>
                        </a:spcAft>
                        <a:buClrTx/>
                        <a:buSzTx/>
                        <a:buFontTx/>
                        <a:buNone/>
                        <a:tabLst/>
                        <a:defRPr/>
                      </a:pPr>
                      <a:r>
                        <a:rPr lang="en-US" sz="1200" b="1" dirty="0">
                          <a:solidFill>
                            <a:schemeClr val="tx1"/>
                          </a:solidFill>
                          <a:effectLst/>
                          <a:latin typeface="+mn-lt"/>
                          <a:ea typeface="Calibri" panose="020F0502020204030204" pitchFamily="34" charset="0"/>
                        </a:rPr>
                        <a:t>+2</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dirty="0">
                          <a:solidFill>
                            <a:schemeClr val="tx1"/>
                          </a:solidFill>
                          <a:effectLst/>
                          <a:latin typeface="Times New Roman" panose="02020603050405020304" pitchFamily="18" charset="0"/>
                          <a:ea typeface="Calibri" panose="020F0502020204030204" pitchFamily="34" charset="0"/>
                        </a:rPr>
                        <a:t>On track</a:t>
                      </a:r>
                    </a:p>
                  </a:txBody>
                  <a:tcPr marL="68580" marR="68580" marT="0" marB="0">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510677062"/>
                  </a:ext>
                </a:extLst>
              </a:tr>
              <a:tr h="210185">
                <a:tc>
                  <a:txBody>
                    <a:bodyPr/>
                    <a:lstStyle/>
                    <a:p>
                      <a:pPr marL="0" marR="8890">
                        <a:spcBef>
                          <a:spcPts val="200"/>
                        </a:spcBef>
                        <a:spcAft>
                          <a:spcPts val="200"/>
                        </a:spcAft>
                      </a:pPr>
                      <a:r>
                        <a:rPr lang="en-US" sz="1200" kern="1000" dirty="0">
                          <a:solidFill>
                            <a:srgbClr val="000000"/>
                          </a:solidFill>
                          <a:effectLst/>
                          <a:latin typeface="Calibri" panose="020F0502020204030204" pitchFamily="34" charset="0"/>
                          <a:ea typeface="Franklin Gothic Book" panose="020B0503020102020204" pitchFamily="34" charset="0"/>
                        </a:rPr>
                        <a:t>HQ and Regions</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66</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66</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65</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66</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685800" marR="8890" lvl="0" indent="0" algn="l" defTabSz="914400" rtl="0" eaLnBrk="1" fontAlgn="auto" latinLnBrk="0" hangingPunct="1">
                        <a:lnSpc>
                          <a:spcPct val="100000"/>
                        </a:lnSpc>
                        <a:spcBef>
                          <a:spcPts val="200"/>
                        </a:spcBef>
                        <a:spcAft>
                          <a:spcPts val="20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rPr>
                        <a:t>+1</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r>
                        <a:rPr lang="en-US" sz="1200" dirty="0">
                          <a:solidFill>
                            <a:schemeClr val="tx1"/>
                          </a:solidFill>
                          <a:effectLst/>
                          <a:latin typeface="Times New Roman" panose="02020603050405020304" pitchFamily="18" charset="0"/>
                          <a:ea typeface="Calibri" panose="020F0502020204030204" pitchFamily="34" charset="0"/>
                        </a:rPr>
                        <a:t>On track</a:t>
                      </a:r>
                    </a:p>
                  </a:txBody>
                  <a:tcPr marL="68580" marR="68580" marT="0" marB="0">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436939749"/>
                  </a:ext>
                </a:extLst>
              </a:tr>
              <a:tr h="210185">
                <a:tc>
                  <a:txBody>
                    <a:bodyPr/>
                    <a:lstStyle/>
                    <a:p>
                      <a:pPr marL="0" marR="8890">
                        <a:spcBef>
                          <a:spcPts val="200"/>
                        </a:spcBef>
                        <a:spcAft>
                          <a:spcPts val="200"/>
                        </a:spcAft>
                      </a:pPr>
                      <a:r>
                        <a:rPr lang="en-US" sz="1200" dirty="0" err="1">
                          <a:solidFill>
                            <a:schemeClr val="tx1"/>
                          </a:solidFill>
                          <a:effectLst/>
                          <a:latin typeface="Times New Roman" panose="02020603050405020304" pitchFamily="18" charset="0"/>
                          <a:ea typeface="Calibri" panose="020F0502020204030204" pitchFamily="34" charset="0"/>
                        </a:rPr>
                        <a:t>Lubudi</a:t>
                      </a:r>
                      <a:endParaRPr lang="en-US" sz="1200" dirty="0">
                        <a:solidFill>
                          <a:schemeClr val="tx1"/>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8</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7</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7</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7</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685800" marR="8890" lvl="0" indent="0" algn="l" defTabSz="914400" rtl="0" eaLnBrk="1" fontAlgn="auto" latinLnBrk="0" hangingPunct="1">
                        <a:lnSpc>
                          <a:spcPct val="100000"/>
                        </a:lnSpc>
                        <a:spcBef>
                          <a:spcPts val="200"/>
                        </a:spcBef>
                        <a:spcAft>
                          <a:spcPts val="20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rPr>
                        <a:t>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r>
                        <a:rPr lang="en-US" sz="1200" dirty="0">
                          <a:solidFill>
                            <a:schemeClr val="tx1"/>
                          </a:solidFill>
                          <a:effectLst/>
                          <a:latin typeface="Times New Roman" panose="02020603050405020304" pitchFamily="18" charset="0"/>
                          <a:ea typeface="Calibri" panose="020F0502020204030204" pitchFamily="34" charset="0"/>
                        </a:rPr>
                        <a:t>On track</a:t>
                      </a:r>
                    </a:p>
                  </a:txBody>
                  <a:tcPr marL="68580" marR="68580" marT="0" marB="0">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847438776"/>
                  </a:ext>
                </a:extLst>
              </a:tr>
              <a:tr h="210185">
                <a:tc>
                  <a:txBody>
                    <a:bodyPr/>
                    <a:lstStyle/>
                    <a:p>
                      <a:pPr marL="0" marR="8890">
                        <a:spcBef>
                          <a:spcPts val="200"/>
                        </a:spcBef>
                        <a:spcAft>
                          <a:spcPts val="200"/>
                        </a:spcAft>
                      </a:pPr>
                      <a:r>
                        <a:rPr lang="en-US" sz="1200" dirty="0">
                          <a:solidFill>
                            <a:schemeClr val="tx1"/>
                          </a:solidFill>
                          <a:effectLst/>
                          <a:latin typeface="Times New Roman" panose="02020603050405020304" pitchFamily="18" charset="0"/>
                          <a:ea typeface="Calibri" panose="020F0502020204030204" pitchFamily="34" charset="0"/>
                        </a:rPr>
                        <a:t>Graduates</a:t>
                      </a: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685800" marR="8890" lvl="0" indent="0" algn="l" defTabSz="914400" rtl="0" eaLnBrk="1" fontAlgn="auto" latinLnBrk="0" hangingPunct="1">
                        <a:lnSpc>
                          <a:spcPct val="100000"/>
                        </a:lnSpc>
                        <a:spcBef>
                          <a:spcPts val="200"/>
                        </a:spcBef>
                        <a:spcAft>
                          <a:spcPts val="20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rPr>
                        <a:t>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r>
                        <a:rPr lang="en-US" sz="1200" dirty="0">
                          <a:solidFill>
                            <a:schemeClr val="tx1"/>
                          </a:solidFill>
                          <a:effectLst/>
                          <a:latin typeface="Times New Roman" panose="02020603050405020304" pitchFamily="18" charset="0"/>
                          <a:ea typeface="Calibri" panose="020F0502020204030204" pitchFamily="34" charset="0"/>
                        </a:rPr>
                        <a:t>On track</a:t>
                      </a:r>
                    </a:p>
                  </a:txBody>
                  <a:tcPr marL="68580" marR="68580" marT="0" marB="0">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368851528"/>
                  </a:ext>
                </a:extLst>
              </a:tr>
              <a:tr h="210185">
                <a:tc>
                  <a:txBody>
                    <a:bodyPr/>
                    <a:lstStyle/>
                    <a:p>
                      <a:pPr marL="0" marR="8890">
                        <a:spcBef>
                          <a:spcPts val="200"/>
                        </a:spcBef>
                        <a:spcAft>
                          <a:spcPts val="200"/>
                        </a:spcAft>
                      </a:pPr>
                      <a:r>
                        <a:rPr lang="en-US" sz="1200" kern="1000" dirty="0">
                          <a:solidFill>
                            <a:srgbClr val="000000"/>
                          </a:solidFill>
                          <a:effectLst/>
                          <a:latin typeface="Calibri" panose="020F0502020204030204" pitchFamily="34" charset="0"/>
                          <a:ea typeface="Franklin Gothic Book" panose="020B0503020102020204" pitchFamily="34" charset="0"/>
                        </a:rPr>
                        <a:t>Total</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174</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173</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173</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176</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685800" marR="8890" lvl="0" indent="0" algn="l" defTabSz="914400" rtl="0" eaLnBrk="1" fontAlgn="auto" latinLnBrk="0" hangingPunct="1">
                        <a:lnSpc>
                          <a:spcPct val="100000"/>
                        </a:lnSpc>
                        <a:spcBef>
                          <a:spcPts val="200"/>
                        </a:spcBef>
                        <a:spcAft>
                          <a:spcPts val="20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Calibri" panose="020F0502020204030204" pitchFamily="34" charset="0"/>
                          <a:cs typeface="+mn-cs"/>
                        </a:rPr>
                        <a:t>+3</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r>
                        <a:rPr lang="en-US" sz="1200" dirty="0">
                          <a:solidFill>
                            <a:schemeClr val="tx1"/>
                          </a:solidFill>
                          <a:effectLst/>
                          <a:latin typeface="Times New Roman" panose="02020603050405020304" pitchFamily="18" charset="0"/>
                          <a:ea typeface="Calibri" panose="020F0502020204030204" pitchFamily="34" charset="0"/>
                        </a:rPr>
                        <a:t>On track</a:t>
                      </a:r>
                    </a:p>
                  </a:txBody>
                  <a:tcPr marL="68580" marR="68580" marT="0" marB="0">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a:noFill/>
                    </a:lnB>
                    <a:solidFill>
                      <a:srgbClr val="E5EAEE"/>
                    </a:solidFill>
                  </a:tcPr>
                </a:tc>
                <a:extLst>
                  <a:ext uri="{0D108BD9-81ED-4DB2-BD59-A6C34878D82A}">
                    <a16:rowId xmlns:a16="http://schemas.microsoft.com/office/drawing/2014/main" val="3434478323"/>
                  </a:ext>
                </a:extLst>
              </a:tr>
            </a:tbl>
          </a:graphicData>
        </a:graphic>
      </p:graphicFrame>
      <p:graphicFrame>
        <p:nvGraphicFramePr>
          <p:cNvPr id="17" name="Table 16">
            <a:extLst>
              <a:ext uri="{FF2B5EF4-FFF2-40B4-BE49-F238E27FC236}">
                <a16:creationId xmlns:a16="http://schemas.microsoft.com/office/drawing/2014/main" id="{9DFFD2E5-AC5C-AA56-9438-6D7A4A24A5D2}"/>
              </a:ext>
            </a:extLst>
          </p:cNvPr>
          <p:cNvGraphicFramePr>
            <a:graphicFrameLocks noGrp="1"/>
          </p:cNvGraphicFramePr>
          <p:nvPr>
            <p:extLst>
              <p:ext uri="{D42A27DB-BD31-4B8C-83A1-F6EECF244321}">
                <p14:modId xmlns:p14="http://schemas.microsoft.com/office/powerpoint/2010/main" val="2076500427"/>
              </p:ext>
            </p:extLst>
          </p:nvPr>
        </p:nvGraphicFramePr>
        <p:xfrm>
          <a:off x="570779" y="4063550"/>
          <a:ext cx="10644188" cy="341674"/>
        </p:xfrm>
        <a:graphic>
          <a:graphicData uri="http://schemas.openxmlformats.org/drawingml/2006/table">
            <a:tbl>
              <a:tblPr firstRow="1" firstCol="1" bandRow="1"/>
              <a:tblGrid>
                <a:gridCol w="10644188">
                  <a:extLst>
                    <a:ext uri="{9D8B030D-6E8A-4147-A177-3AD203B41FA5}">
                      <a16:colId xmlns:a16="http://schemas.microsoft.com/office/drawing/2014/main" val="3890441671"/>
                    </a:ext>
                  </a:extLst>
                </a:gridCol>
              </a:tblGrid>
              <a:tr h="189274">
                <a:tc>
                  <a:txBody>
                    <a:bodyPr/>
                    <a:lstStyle/>
                    <a:p>
                      <a:pPr marL="457200" marR="0" lvl="1" indent="0">
                        <a:spcBef>
                          <a:spcPts val="200"/>
                        </a:spcBef>
                        <a:spcAft>
                          <a:spcPts val="0"/>
                        </a:spcAft>
                        <a:buFont typeface="+mj-lt"/>
                        <a:buNone/>
                      </a:pPr>
                      <a:r>
                        <a:rPr lang="en-US" sz="1000" b="1" dirty="0">
                          <a:solidFill>
                            <a:srgbClr val="595959"/>
                          </a:solidFill>
                          <a:effectLst/>
                          <a:latin typeface="Franklin Gothic Book" panose="020B0503020102020204" pitchFamily="34" charset="0"/>
                          <a:ea typeface="Times New Roman" panose="02020603050405020304" pitchFamily="18" charset="0"/>
                          <a:cs typeface="Times New Roman" panose="02020603050405020304" pitchFamily="18" charset="0"/>
                        </a:rPr>
                        <a:t>3. Gender RATIO</a:t>
                      </a:r>
                      <a:endParaRPr lang="en-US" sz="1000" b="1" dirty="0">
                        <a:solidFill>
                          <a:srgbClr val="595959"/>
                        </a:solidFill>
                        <a:effectLst/>
                        <a:latin typeface="Franklin Gothic Book" panose="020B0503020102020204" pitchFamily="34" charset="0"/>
                        <a:ea typeface="Franklin Gothic Book" panose="020B0503020102020204" pitchFamily="34" charset="0"/>
                        <a:cs typeface="Times New Roman" panose="02020603050405020304" pitchFamily="18" charset="0"/>
                      </a:endParaRPr>
                    </a:p>
                  </a:txBody>
                  <a:tcPr marL="0" marR="0" marT="0" marB="0" anchor="b">
                    <a:lnL>
                      <a:noFill/>
                    </a:lnL>
                    <a:lnR>
                      <a:noFill/>
                    </a:lnR>
                    <a:lnT>
                      <a:noFill/>
                    </a:lnT>
                    <a:lnB w="28575" cap="flat" cmpd="sng" algn="ctr">
                      <a:solidFill>
                        <a:srgbClr val="FEDE00"/>
                      </a:solidFill>
                      <a:prstDash val="solid"/>
                      <a:round/>
                      <a:headEnd type="none" w="med" len="med"/>
                      <a:tailEnd type="none" w="med" len="med"/>
                    </a:lnB>
                    <a:noFill/>
                  </a:tcPr>
                </a:tc>
                <a:extLst>
                  <a:ext uri="{0D108BD9-81ED-4DB2-BD59-A6C34878D82A}">
                    <a16:rowId xmlns:a16="http://schemas.microsoft.com/office/drawing/2014/main" val="78933557"/>
                  </a:ext>
                </a:extLst>
              </a:tr>
              <a:tr h="115526">
                <a:tc>
                  <a:txBody>
                    <a:bodyPr/>
                    <a:lstStyle/>
                    <a:p>
                      <a:pPr marL="0" marR="0">
                        <a:spcBef>
                          <a:spcPts val="200"/>
                        </a:spcBef>
                        <a:spcAft>
                          <a:spcPts val="0"/>
                        </a:spcAft>
                      </a:pPr>
                      <a:r>
                        <a:rPr lang="en-US" sz="1000" kern="1000" dirty="0">
                          <a:solidFill>
                            <a:srgbClr val="595959"/>
                          </a:solidFill>
                          <a:effectLst/>
                          <a:latin typeface="Calibri" panose="020F0502020204030204" pitchFamily="34" charset="0"/>
                          <a:ea typeface="Franklin Gothic Book" panose="020B0503020102020204" pitchFamily="34" charset="0"/>
                        </a:rPr>
                        <a:t> </a:t>
                      </a:r>
                      <a:endParaRPr lang="en-US" sz="1200" dirty="0">
                        <a:solidFill>
                          <a:srgbClr val="595959"/>
                        </a:solidFill>
                        <a:effectLst/>
                        <a:latin typeface="Times New Roman" panose="02020603050405020304" pitchFamily="18" charset="0"/>
                        <a:ea typeface="Calibri" panose="020F0502020204030204" pitchFamily="34" charset="0"/>
                      </a:endParaRPr>
                    </a:p>
                  </a:txBody>
                  <a:tcPr marL="0" marR="0" marT="0" marB="0" anchor="ctr">
                    <a:lnL>
                      <a:noFill/>
                    </a:lnL>
                    <a:lnR>
                      <a:noFill/>
                    </a:lnR>
                    <a:lnT w="28575" cap="flat" cmpd="sng" algn="ctr">
                      <a:solidFill>
                        <a:srgbClr val="FEDE00"/>
                      </a:solidFill>
                      <a:prstDash val="solid"/>
                      <a:round/>
                      <a:headEnd type="none" w="med" len="med"/>
                      <a:tailEnd type="none" w="med" len="med"/>
                    </a:lnT>
                    <a:lnB>
                      <a:noFill/>
                    </a:lnB>
                    <a:noFill/>
                  </a:tcPr>
                </a:tc>
                <a:extLst>
                  <a:ext uri="{0D108BD9-81ED-4DB2-BD59-A6C34878D82A}">
                    <a16:rowId xmlns:a16="http://schemas.microsoft.com/office/drawing/2014/main" val="4162616846"/>
                  </a:ext>
                </a:extLst>
              </a:tr>
            </a:tbl>
          </a:graphicData>
        </a:graphic>
      </p:graphicFrame>
      <p:graphicFrame>
        <p:nvGraphicFramePr>
          <p:cNvPr id="18" name="Table 17">
            <a:extLst>
              <a:ext uri="{FF2B5EF4-FFF2-40B4-BE49-F238E27FC236}">
                <a16:creationId xmlns:a16="http://schemas.microsoft.com/office/drawing/2014/main" id="{E8625C85-8332-9FA9-71A3-46EF6584C8C7}"/>
              </a:ext>
            </a:extLst>
          </p:cNvPr>
          <p:cNvGraphicFramePr>
            <a:graphicFrameLocks noGrp="1"/>
          </p:cNvGraphicFramePr>
          <p:nvPr>
            <p:extLst>
              <p:ext uri="{D42A27DB-BD31-4B8C-83A1-F6EECF244321}">
                <p14:modId xmlns:p14="http://schemas.microsoft.com/office/powerpoint/2010/main" val="3782875421"/>
              </p:ext>
            </p:extLst>
          </p:nvPr>
        </p:nvGraphicFramePr>
        <p:xfrm>
          <a:off x="570780" y="4324309"/>
          <a:ext cx="10985789" cy="626490"/>
        </p:xfrm>
        <a:graphic>
          <a:graphicData uri="http://schemas.openxmlformats.org/drawingml/2006/table">
            <a:tbl>
              <a:tblPr firstRow="1" firstCol="1" bandRow="1"/>
              <a:tblGrid>
                <a:gridCol w="1885572">
                  <a:extLst>
                    <a:ext uri="{9D8B030D-6E8A-4147-A177-3AD203B41FA5}">
                      <a16:colId xmlns:a16="http://schemas.microsoft.com/office/drawing/2014/main" val="582065486"/>
                    </a:ext>
                  </a:extLst>
                </a:gridCol>
                <a:gridCol w="792684">
                  <a:extLst>
                    <a:ext uri="{9D8B030D-6E8A-4147-A177-3AD203B41FA5}">
                      <a16:colId xmlns:a16="http://schemas.microsoft.com/office/drawing/2014/main" val="444952138"/>
                    </a:ext>
                  </a:extLst>
                </a:gridCol>
                <a:gridCol w="694711">
                  <a:extLst>
                    <a:ext uri="{9D8B030D-6E8A-4147-A177-3AD203B41FA5}">
                      <a16:colId xmlns:a16="http://schemas.microsoft.com/office/drawing/2014/main" val="1608259310"/>
                    </a:ext>
                  </a:extLst>
                </a:gridCol>
                <a:gridCol w="516581">
                  <a:extLst>
                    <a:ext uri="{9D8B030D-6E8A-4147-A177-3AD203B41FA5}">
                      <a16:colId xmlns:a16="http://schemas.microsoft.com/office/drawing/2014/main" val="1521043198"/>
                    </a:ext>
                  </a:extLst>
                </a:gridCol>
                <a:gridCol w="525486">
                  <a:extLst>
                    <a:ext uri="{9D8B030D-6E8A-4147-A177-3AD203B41FA5}">
                      <a16:colId xmlns:a16="http://schemas.microsoft.com/office/drawing/2014/main" val="3536517283"/>
                    </a:ext>
                  </a:extLst>
                </a:gridCol>
                <a:gridCol w="516581">
                  <a:extLst>
                    <a:ext uri="{9D8B030D-6E8A-4147-A177-3AD203B41FA5}">
                      <a16:colId xmlns:a16="http://schemas.microsoft.com/office/drawing/2014/main" val="1092077108"/>
                    </a:ext>
                  </a:extLst>
                </a:gridCol>
                <a:gridCol w="498768">
                  <a:extLst>
                    <a:ext uri="{9D8B030D-6E8A-4147-A177-3AD203B41FA5}">
                      <a16:colId xmlns:a16="http://schemas.microsoft.com/office/drawing/2014/main" val="3832035741"/>
                    </a:ext>
                  </a:extLst>
                </a:gridCol>
                <a:gridCol w="552205">
                  <a:extLst>
                    <a:ext uri="{9D8B030D-6E8A-4147-A177-3AD203B41FA5}">
                      <a16:colId xmlns:a16="http://schemas.microsoft.com/office/drawing/2014/main" val="1834812749"/>
                    </a:ext>
                  </a:extLst>
                </a:gridCol>
                <a:gridCol w="543300">
                  <a:extLst>
                    <a:ext uri="{9D8B030D-6E8A-4147-A177-3AD203B41FA5}">
                      <a16:colId xmlns:a16="http://schemas.microsoft.com/office/drawing/2014/main" val="1279806106"/>
                    </a:ext>
                  </a:extLst>
                </a:gridCol>
                <a:gridCol w="507674">
                  <a:extLst>
                    <a:ext uri="{9D8B030D-6E8A-4147-A177-3AD203B41FA5}">
                      <a16:colId xmlns:a16="http://schemas.microsoft.com/office/drawing/2014/main" val="1521456844"/>
                    </a:ext>
                  </a:extLst>
                </a:gridCol>
                <a:gridCol w="507674">
                  <a:extLst>
                    <a:ext uri="{9D8B030D-6E8A-4147-A177-3AD203B41FA5}">
                      <a16:colId xmlns:a16="http://schemas.microsoft.com/office/drawing/2014/main" val="3379386762"/>
                    </a:ext>
                  </a:extLst>
                </a:gridCol>
                <a:gridCol w="507674">
                  <a:extLst>
                    <a:ext uri="{9D8B030D-6E8A-4147-A177-3AD203B41FA5}">
                      <a16:colId xmlns:a16="http://schemas.microsoft.com/office/drawing/2014/main" val="3804937131"/>
                    </a:ext>
                  </a:extLst>
                </a:gridCol>
                <a:gridCol w="552206">
                  <a:extLst>
                    <a:ext uri="{9D8B030D-6E8A-4147-A177-3AD203B41FA5}">
                      <a16:colId xmlns:a16="http://schemas.microsoft.com/office/drawing/2014/main" val="2615260272"/>
                    </a:ext>
                  </a:extLst>
                </a:gridCol>
                <a:gridCol w="552206">
                  <a:extLst>
                    <a:ext uri="{9D8B030D-6E8A-4147-A177-3AD203B41FA5}">
                      <a16:colId xmlns:a16="http://schemas.microsoft.com/office/drawing/2014/main" val="1703789628"/>
                    </a:ext>
                  </a:extLst>
                </a:gridCol>
                <a:gridCol w="1001682">
                  <a:extLst>
                    <a:ext uri="{9D8B030D-6E8A-4147-A177-3AD203B41FA5}">
                      <a16:colId xmlns:a16="http://schemas.microsoft.com/office/drawing/2014/main" val="162529956"/>
                    </a:ext>
                  </a:extLst>
                </a:gridCol>
                <a:gridCol w="830785">
                  <a:extLst>
                    <a:ext uri="{9D8B030D-6E8A-4147-A177-3AD203B41FA5}">
                      <a16:colId xmlns:a16="http://schemas.microsoft.com/office/drawing/2014/main" val="239195374"/>
                    </a:ext>
                  </a:extLst>
                </a:gridCol>
              </a:tblGrid>
              <a:tr h="239831">
                <a:tc>
                  <a:txBody>
                    <a:bodyPr/>
                    <a:lstStyle/>
                    <a:p>
                      <a:pPr marL="0" marR="8890" algn="ctr">
                        <a:spcBef>
                          <a:spcPts val="200"/>
                        </a:spcBef>
                        <a:spcAft>
                          <a:spcPts val="200"/>
                        </a:spcAft>
                      </a:pPr>
                      <a:r>
                        <a:rPr lang="en-US" sz="1200" kern="1000" cap="all" dirty="0">
                          <a:solidFill>
                            <a:srgbClr val="FFFFFF"/>
                          </a:solidFill>
                          <a:effectLst/>
                          <a:highlight>
                            <a:srgbClr val="943634"/>
                          </a:highlight>
                          <a:latin typeface="Calibri" panose="020F0502020204030204" pitchFamily="34" charset="0"/>
                          <a:ea typeface="Times New Roman" panose="02020603050405020304" pitchFamily="18" charset="0"/>
                        </a:rPr>
                        <a:t>Gender</a:t>
                      </a:r>
                      <a:endParaRPr lang="en-US" sz="1200" dirty="0">
                        <a:solidFill>
                          <a:srgbClr val="FFFFFF"/>
                        </a:solidFill>
                        <a:effectLst/>
                        <a:highlight>
                          <a:srgbClr val="943634"/>
                        </a:highlight>
                        <a:latin typeface="Times New Roman" panose="02020603050405020304" pitchFamily="18" charset="0"/>
                        <a:ea typeface="Calibri" panose="020F0502020204030204" pitchFamily="34" charset="0"/>
                      </a:endParaRPr>
                    </a:p>
                  </a:txBody>
                  <a:tcPr marL="66402" marR="66402" marT="0" marB="0">
                    <a:lnL>
                      <a:noFill/>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MAR 26</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rPr>
                        <a:t>APR</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MAY</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JUN</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JUL</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AUG</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SEP</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OCT</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NOV</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DEC</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JAN</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FEB</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MAR</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200" kern="1000" cap="all" dirty="0">
                          <a:solidFill>
                            <a:srgbClr val="FFFFFF"/>
                          </a:solidFill>
                          <a:effectLst/>
                          <a:latin typeface="Calibri" panose="020F0502020204030204" pitchFamily="34" charset="0"/>
                          <a:ea typeface="Times New Roman" panose="02020603050405020304" pitchFamily="18" charset="0"/>
                        </a:rPr>
                        <a:t>June– Sites</a:t>
                      </a:r>
                      <a:endParaRPr lang="en-US" sz="1200" dirty="0">
                        <a:solidFill>
                          <a:srgbClr val="FFFFFF"/>
                        </a:solidFill>
                        <a:effectLst/>
                        <a:latin typeface="Times New Roman" panose="02020603050405020304" pitchFamily="18" charset="0"/>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200" kern="1000" cap="all" dirty="0">
                          <a:solidFill>
                            <a:srgbClr val="FFFFFF"/>
                          </a:solidFill>
                          <a:effectLst/>
                          <a:latin typeface="Calibri" panose="020F0502020204030204" pitchFamily="34" charset="0"/>
                          <a:ea typeface="Times New Roman" panose="02020603050405020304" pitchFamily="18" charset="0"/>
                        </a:rPr>
                        <a:t>June - HO</a:t>
                      </a:r>
                      <a:endParaRPr lang="en-US" sz="1200" dirty="0">
                        <a:solidFill>
                          <a:srgbClr val="FFFFFF"/>
                        </a:solidFill>
                        <a:effectLst/>
                        <a:latin typeface="Times New Roman" panose="02020603050405020304" pitchFamily="18" charset="0"/>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a:noFill/>
                    </a:lnR>
                    <a:lnT>
                      <a:noFill/>
                    </a:lnT>
                    <a:lnB w="19050" cap="flat" cmpd="sng" algn="ctr">
                      <a:solidFill>
                        <a:srgbClr val="FFFFFF"/>
                      </a:solidFill>
                      <a:prstDash val="solid"/>
                      <a:round/>
                      <a:headEnd type="none" w="med" len="med"/>
                      <a:tailEnd type="none" w="med" len="med"/>
                    </a:lnB>
                    <a:solidFill>
                      <a:srgbClr val="943634"/>
                    </a:solidFill>
                  </a:tcPr>
                </a:tc>
                <a:extLst>
                  <a:ext uri="{0D108BD9-81ED-4DB2-BD59-A6C34878D82A}">
                    <a16:rowId xmlns:a16="http://schemas.microsoft.com/office/drawing/2014/main" val="1021154165"/>
                  </a:ext>
                </a:extLst>
              </a:tr>
              <a:tr h="203779">
                <a:tc>
                  <a:txBody>
                    <a:bodyPr/>
                    <a:lstStyle/>
                    <a:p>
                      <a:pPr marL="0" marR="8890">
                        <a:spcBef>
                          <a:spcPts val="200"/>
                        </a:spcBef>
                        <a:spcAft>
                          <a:spcPts val="200"/>
                        </a:spcAft>
                      </a:pPr>
                      <a:r>
                        <a:rPr lang="en-US" sz="1200" kern="1000" dirty="0">
                          <a:solidFill>
                            <a:srgbClr val="000000"/>
                          </a:solidFill>
                          <a:effectLst/>
                          <a:highlight>
                            <a:srgbClr val="E5EAEE"/>
                          </a:highlight>
                          <a:latin typeface="Calibri" panose="020F0502020204030204" pitchFamily="34" charset="0"/>
                          <a:ea typeface="Franklin Gothic Book" panose="020B0503020102020204" pitchFamily="34" charset="0"/>
                        </a:rPr>
                        <a:t>Male</a:t>
                      </a:r>
                      <a:endParaRPr lang="en-US" sz="1200" dirty="0">
                        <a:solidFill>
                          <a:srgbClr val="FFFFFF"/>
                        </a:solidFill>
                        <a:effectLst/>
                        <a:highlight>
                          <a:srgbClr val="E5EAEE"/>
                        </a:highlight>
                        <a:latin typeface="Times New Roman" panose="02020603050405020304" pitchFamily="18" charset="0"/>
                        <a:ea typeface="Calibri" panose="020F0502020204030204" pitchFamily="34" charset="0"/>
                      </a:endParaRPr>
                    </a:p>
                  </a:txBody>
                  <a:tcPr marL="66402" marR="66402"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84%</a:t>
                      </a: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84%</a:t>
                      </a: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84%</a:t>
                      </a: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85%</a:t>
                      </a: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93%</a:t>
                      </a: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70%</a:t>
                      </a:r>
                    </a:p>
                  </a:txBody>
                  <a:tcPr marL="66402" marR="66402" marT="0" marB="0">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1808464051"/>
                  </a:ext>
                </a:extLst>
              </a:tr>
              <a:tr h="153745">
                <a:tc>
                  <a:txBody>
                    <a:bodyPr/>
                    <a:lstStyle/>
                    <a:p>
                      <a:pPr marL="0" marR="8890">
                        <a:spcBef>
                          <a:spcPts val="200"/>
                        </a:spcBef>
                        <a:spcAft>
                          <a:spcPts val="200"/>
                        </a:spcAft>
                      </a:pPr>
                      <a:r>
                        <a:rPr lang="en-US" sz="1200" kern="1000" dirty="0">
                          <a:solidFill>
                            <a:srgbClr val="000000"/>
                          </a:solidFill>
                          <a:effectLst/>
                          <a:highlight>
                            <a:srgbClr val="E5EAEE"/>
                          </a:highlight>
                          <a:latin typeface="Calibri" panose="020F0502020204030204" pitchFamily="34" charset="0"/>
                          <a:ea typeface="Franklin Gothic Book" panose="020B0503020102020204" pitchFamily="34" charset="0"/>
                        </a:rPr>
                        <a:t>Female</a:t>
                      </a:r>
                      <a:endParaRPr lang="en-US" sz="1200" dirty="0">
                        <a:solidFill>
                          <a:srgbClr val="FFFFFF"/>
                        </a:solidFill>
                        <a:effectLst/>
                        <a:highlight>
                          <a:srgbClr val="E5EAEE"/>
                        </a:highlight>
                        <a:latin typeface="Times New Roman" panose="02020603050405020304" pitchFamily="18" charset="0"/>
                        <a:ea typeface="Calibri" panose="020F0502020204030204" pitchFamily="34" charset="0"/>
                      </a:endParaRPr>
                    </a:p>
                  </a:txBody>
                  <a:tcPr marL="66402" marR="66402"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16%</a:t>
                      </a: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16%</a:t>
                      </a: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16%</a:t>
                      </a: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15%</a:t>
                      </a: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7%</a:t>
                      </a:r>
                    </a:p>
                  </a:txBody>
                  <a:tcPr marL="66402" marR="66402"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30%</a:t>
                      </a:r>
                    </a:p>
                  </a:txBody>
                  <a:tcPr marL="66402" marR="66402" marT="0" marB="0">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a:noFill/>
                    </a:lnB>
                    <a:solidFill>
                      <a:srgbClr val="E5EAEE"/>
                    </a:solidFill>
                  </a:tcPr>
                </a:tc>
                <a:extLst>
                  <a:ext uri="{0D108BD9-81ED-4DB2-BD59-A6C34878D82A}">
                    <a16:rowId xmlns:a16="http://schemas.microsoft.com/office/drawing/2014/main" val="2520873623"/>
                  </a:ext>
                </a:extLst>
              </a:tr>
            </a:tbl>
          </a:graphicData>
        </a:graphic>
      </p:graphicFrame>
      <p:graphicFrame>
        <p:nvGraphicFramePr>
          <p:cNvPr id="19" name="Table 18">
            <a:extLst>
              <a:ext uri="{FF2B5EF4-FFF2-40B4-BE49-F238E27FC236}">
                <a16:creationId xmlns:a16="http://schemas.microsoft.com/office/drawing/2014/main" id="{2E63F715-B0DB-568D-BD84-85B724E9D7A9}"/>
              </a:ext>
            </a:extLst>
          </p:cNvPr>
          <p:cNvGraphicFramePr>
            <a:graphicFrameLocks noGrp="1"/>
          </p:cNvGraphicFramePr>
          <p:nvPr>
            <p:extLst>
              <p:ext uri="{D42A27DB-BD31-4B8C-83A1-F6EECF244321}">
                <p14:modId xmlns:p14="http://schemas.microsoft.com/office/powerpoint/2010/main" val="2307731006"/>
              </p:ext>
            </p:extLst>
          </p:nvPr>
        </p:nvGraphicFramePr>
        <p:xfrm>
          <a:off x="570779" y="5042057"/>
          <a:ext cx="10644188" cy="304800"/>
        </p:xfrm>
        <a:graphic>
          <a:graphicData uri="http://schemas.openxmlformats.org/drawingml/2006/table">
            <a:tbl>
              <a:tblPr firstRow="1" firstCol="1" bandRow="1"/>
              <a:tblGrid>
                <a:gridCol w="10644188">
                  <a:extLst>
                    <a:ext uri="{9D8B030D-6E8A-4147-A177-3AD203B41FA5}">
                      <a16:colId xmlns:a16="http://schemas.microsoft.com/office/drawing/2014/main" val="1918430878"/>
                    </a:ext>
                  </a:extLst>
                </a:gridCol>
              </a:tblGrid>
              <a:tr h="97757">
                <a:tc>
                  <a:txBody>
                    <a:bodyPr/>
                    <a:lstStyle/>
                    <a:p>
                      <a:pPr marL="457200" marR="0" lvl="1" indent="0">
                        <a:spcBef>
                          <a:spcPts val="200"/>
                        </a:spcBef>
                        <a:spcAft>
                          <a:spcPts val="0"/>
                        </a:spcAft>
                        <a:buFont typeface="+mj-lt"/>
                        <a:buNone/>
                      </a:pPr>
                      <a:r>
                        <a:rPr lang="en-US" sz="1000" b="1" dirty="0">
                          <a:solidFill>
                            <a:srgbClr val="595959"/>
                          </a:solidFill>
                          <a:effectLst/>
                          <a:latin typeface="Franklin Gothic Book" panose="020B0503020102020204" pitchFamily="34" charset="0"/>
                          <a:ea typeface="Times New Roman" panose="02020603050405020304" pitchFamily="18" charset="0"/>
                          <a:cs typeface="Times New Roman" panose="02020603050405020304" pitchFamily="18" charset="0"/>
                        </a:rPr>
                        <a:t>4. AGE </a:t>
                      </a:r>
                      <a:endParaRPr lang="en-US" sz="1000" b="1" dirty="0">
                        <a:solidFill>
                          <a:srgbClr val="595959"/>
                        </a:solidFill>
                        <a:effectLst/>
                        <a:latin typeface="Franklin Gothic Book" panose="020B0503020102020204" pitchFamily="34" charset="0"/>
                        <a:ea typeface="Franklin Gothic Book" panose="020B0503020102020204" pitchFamily="34" charset="0"/>
                        <a:cs typeface="Times New Roman" panose="02020603050405020304" pitchFamily="18" charset="0"/>
                      </a:endParaRPr>
                    </a:p>
                  </a:txBody>
                  <a:tcPr marL="0" marR="0" marT="0" marB="0" anchor="b">
                    <a:lnL>
                      <a:noFill/>
                    </a:lnL>
                    <a:lnR>
                      <a:noFill/>
                    </a:lnR>
                    <a:lnT>
                      <a:noFill/>
                    </a:lnT>
                    <a:lnB w="28575" cap="flat" cmpd="sng" algn="ctr">
                      <a:solidFill>
                        <a:srgbClr val="FEDE00"/>
                      </a:solidFill>
                      <a:prstDash val="solid"/>
                      <a:round/>
                      <a:headEnd type="none" w="med" len="med"/>
                      <a:tailEnd type="none" w="med" len="med"/>
                    </a:lnB>
                    <a:noFill/>
                  </a:tcPr>
                </a:tc>
                <a:extLst>
                  <a:ext uri="{0D108BD9-81ED-4DB2-BD59-A6C34878D82A}">
                    <a16:rowId xmlns:a16="http://schemas.microsoft.com/office/drawing/2014/main" val="1820776294"/>
                  </a:ext>
                </a:extLst>
              </a:tr>
              <a:tr h="74263">
                <a:tc>
                  <a:txBody>
                    <a:bodyPr/>
                    <a:lstStyle/>
                    <a:p>
                      <a:pPr marL="0" marR="0">
                        <a:spcBef>
                          <a:spcPts val="200"/>
                        </a:spcBef>
                        <a:spcAft>
                          <a:spcPts val="0"/>
                        </a:spcAft>
                      </a:pPr>
                      <a:r>
                        <a:rPr lang="en-US" sz="1000" kern="1000" dirty="0">
                          <a:solidFill>
                            <a:srgbClr val="595959"/>
                          </a:solidFill>
                          <a:effectLst/>
                          <a:latin typeface="Calibri" panose="020F0502020204030204" pitchFamily="34" charset="0"/>
                          <a:ea typeface="Franklin Gothic Book" panose="020B0503020102020204" pitchFamily="34" charset="0"/>
                        </a:rPr>
                        <a:t> </a:t>
                      </a:r>
                      <a:endParaRPr lang="en-US" sz="1200" dirty="0">
                        <a:solidFill>
                          <a:srgbClr val="595959"/>
                        </a:solidFill>
                        <a:effectLst/>
                        <a:latin typeface="Times New Roman" panose="02020603050405020304" pitchFamily="18" charset="0"/>
                        <a:ea typeface="Calibri" panose="020F0502020204030204" pitchFamily="34" charset="0"/>
                      </a:endParaRPr>
                    </a:p>
                  </a:txBody>
                  <a:tcPr marL="0" marR="0" marT="0" marB="0" anchor="ctr">
                    <a:lnL>
                      <a:noFill/>
                    </a:lnL>
                    <a:lnR>
                      <a:noFill/>
                    </a:lnR>
                    <a:lnT w="28575" cap="flat" cmpd="sng" algn="ctr">
                      <a:solidFill>
                        <a:srgbClr val="FEDE00"/>
                      </a:solidFill>
                      <a:prstDash val="solid"/>
                      <a:round/>
                      <a:headEnd type="none" w="med" len="med"/>
                      <a:tailEnd type="none" w="med" len="med"/>
                    </a:lnT>
                    <a:lnB>
                      <a:noFill/>
                    </a:lnB>
                    <a:noFill/>
                  </a:tcPr>
                </a:tc>
                <a:extLst>
                  <a:ext uri="{0D108BD9-81ED-4DB2-BD59-A6C34878D82A}">
                    <a16:rowId xmlns:a16="http://schemas.microsoft.com/office/drawing/2014/main" val="3167574848"/>
                  </a:ext>
                </a:extLst>
              </a:tr>
            </a:tbl>
          </a:graphicData>
        </a:graphic>
      </p:graphicFrame>
      <p:graphicFrame>
        <p:nvGraphicFramePr>
          <p:cNvPr id="20" name="Table 19">
            <a:extLst>
              <a:ext uri="{FF2B5EF4-FFF2-40B4-BE49-F238E27FC236}">
                <a16:creationId xmlns:a16="http://schemas.microsoft.com/office/drawing/2014/main" id="{6628D6B8-1808-8DBC-4A6A-411120006B21}"/>
              </a:ext>
            </a:extLst>
          </p:cNvPr>
          <p:cNvGraphicFramePr>
            <a:graphicFrameLocks noGrp="1"/>
          </p:cNvGraphicFramePr>
          <p:nvPr>
            <p:extLst>
              <p:ext uri="{D42A27DB-BD31-4B8C-83A1-F6EECF244321}">
                <p14:modId xmlns:p14="http://schemas.microsoft.com/office/powerpoint/2010/main" val="2934704160"/>
              </p:ext>
            </p:extLst>
          </p:nvPr>
        </p:nvGraphicFramePr>
        <p:xfrm>
          <a:off x="570779" y="5245257"/>
          <a:ext cx="10676588" cy="1233805"/>
        </p:xfrm>
        <a:graphic>
          <a:graphicData uri="http://schemas.openxmlformats.org/drawingml/2006/table">
            <a:tbl>
              <a:tblPr firstRow="1" firstCol="1" bandRow="1"/>
              <a:tblGrid>
                <a:gridCol w="1795590">
                  <a:extLst>
                    <a:ext uri="{9D8B030D-6E8A-4147-A177-3AD203B41FA5}">
                      <a16:colId xmlns:a16="http://schemas.microsoft.com/office/drawing/2014/main" val="93990960"/>
                    </a:ext>
                  </a:extLst>
                </a:gridCol>
                <a:gridCol w="582613">
                  <a:extLst>
                    <a:ext uri="{9D8B030D-6E8A-4147-A177-3AD203B41FA5}">
                      <a16:colId xmlns:a16="http://schemas.microsoft.com/office/drawing/2014/main" val="2313585579"/>
                    </a:ext>
                  </a:extLst>
                </a:gridCol>
                <a:gridCol w="550216">
                  <a:extLst>
                    <a:ext uri="{9D8B030D-6E8A-4147-A177-3AD203B41FA5}">
                      <a16:colId xmlns:a16="http://schemas.microsoft.com/office/drawing/2014/main" val="3939299677"/>
                    </a:ext>
                  </a:extLst>
                </a:gridCol>
                <a:gridCol w="550216">
                  <a:extLst>
                    <a:ext uri="{9D8B030D-6E8A-4147-A177-3AD203B41FA5}">
                      <a16:colId xmlns:a16="http://schemas.microsoft.com/office/drawing/2014/main" val="1573470608"/>
                    </a:ext>
                  </a:extLst>
                </a:gridCol>
                <a:gridCol w="550216">
                  <a:extLst>
                    <a:ext uri="{9D8B030D-6E8A-4147-A177-3AD203B41FA5}">
                      <a16:colId xmlns:a16="http://schemas.microsoft.com/office/drawing/2014/main" val="208082459"/>
                    </a:ext>
                  </a:extLst>
                </a:gridCol>
                <a:gridCol w="550216">
                  <a:extLst>
                    <a:ext uri="{9D8B030D-6E8A-4147-A177-3AD203B41FA5}">
                      <a16:colId xmlns:a16="http://schemas.microsoft.com/office/drawing/2014/main" val="830939073"/>
                    </a:ext>
                  </a:extLst>
                </a:gridCol>
                <a:gridCol w="550216">
                  <a:extLst>
                    <a:ext uri="{9D8B030D-6E8A-4147-A177-3AD203B41FA5}">
                      <a16:colId xmlns:a16="http://schemas.microsoft.com/office/drawing/2014/main" val="1074135555"/>
                    </a:ext>
                  </a:extLst>
                </a:gridCol>
                <a:gridCol w="426716">
                  <a:extLst>
                    <a:ext uri="{9D8B030D-6E8A-4147-A177-3AD203B41FA5}">
                      <a16:colId xmlns:a16="http://schemas.microsoft.com/office/drawing/2014/main" val="3049128089"/>
                    </a:ext>
                  </a:extLst>
                </a:gridCol>
                <a:gridCol w="426716">
                  <a:extLst>
                    <a:ext uri="{9D8B030D-6E8A-4147-A177-3AD203B41FA5}">
                      <a16:colId xmlns:a16="http://schemas.microsoft.com/office/drawing/2014/main" val="1794297127"/>
                    </a:ext>
                  </a:extLst>
                </a:gridCol>
                <a:gridCol w="426716">
                  <a:extLst>
                    <a:ext uri="{9D8B030D-6E8A-4147-A177-3AD203B41FA5}">
                      <a16:colId xmlns:a16="http://schemas.microsoft.com/office/drawing/2014/main" val="3506582199"/>
                    </a:ext>
                  </a:extLst>
                </a:gridCol>
                <a:gridCol w="426716">
                  <a:extLst>
                    <a:ext uri="{9D8B030D-6E8A-4147-A177-3AD203B41FA5}">
                      <a16:colId xmlns:a16="http://schemas.microsoft.com/office/drawing/2014/main" val="2155511049"/>
                    </a:ext>
                  </a:extLst>
                </a:gridCol>
                <a:gridCol w="426716">
                  <a:extLst>
                    <a:ext uri="{9D8B030D-6E8A-4147-A177-3AD203B41FA5}">
                      <a16:colId xmlns:a16="http://schemas.microsoft.com/office/drawing/2014/main" val="2583194401"/>
                    </a:ext>
                  </a:extLst>
                </a:gridCol>
                <a:gridCol w="426716">
                  <a:extLst>
                    <a:ext uri="{9D8B030D-6E8A-4147-A177-3AD203B41FA5}">
                      <a16:colId xmlns:a16="http://schemas.microsoft.com/office/drawing/2014/main" val="3156230483"/>
                    </a:ext>
                  </a:extLst>
                </a:gridCol>
                <a:gridCol w="426716">
                  <a:extLst>
                    <a:ext uri="{9D8B030D-6E8A-4147-A177-3AD203B41FA5}">
                      <a16:colId xmlns:a16="http://schemas.microsoft.com/office/drawing/2014/main" val="2748165615"/>
                    </a:ext>
                  </a:extLst>
                </a:gridCol>
                <a:gridCol w="2560293">
                  <a:extLst>
                    <a:ext uri="{9D8B030D-6E8A-4147-A177-3AD203B41FA5}">
                      <a16:colId xmlns:a16="http://schemas.microsoft.com/office/drawing/2014/main" val="2441381800"/>
                    </a:ext>
                  </a:extLst>
                </a:gridCol>
              </a:tblGrid>
              <a:tr h="0">
                <a:tc>
                  <a:txBody>
                    <a:bodyPr/>
                    <a:lstStyle/>
                    <a:p>
                      <a:pPr marL="0" marR="8890" algn="ctr">
                        <a:spcBef>
                          <a:spcPts val="200"/>
                        </a:spcBef>
                        <a:spcAft>
                          <a:spcPts val="200"/>
                        </a:spcAft>
                      </a:pPr>
                      <a:r>
                        <a:rPr lang="en-US" sz="1200" kern="1000" cap="all" dirty="0">
                          <a:solidFill>
                            <a:srgbClr val="FFFFFF"/>
                          </a:solidFill>
                          <a:effectLst/>
                          <a:highlight>
                            <a:srgbClr val="943634"/>
                          </a:highlight>
                          <a:latin typeface="Calibri" panose="020F0502020204030204" pitchFamily="34" charset="0"/>
                          <a:ea typeface="Times New Roman" panose="02020603050405020304" pitchFamily="18" charset="0"/>
                        </a:rPr>
                        <a:t> </a:t>
                      </a:r>
                      <a:endParaRPr lang="en-US" sz="1200" dirty="0">
                        <a:solidFill>
                          <a:srgbClr val="FFFFFF"/>
                        </a:solidFill>
                        <a:effectLst/>
                        <a:highlight>
                          <a:srgbClr val="943634"/>
                        </a:highligh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chemeClr val="bg1"/>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MAR 26</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rPr>
                        <a:t>APR</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MAY</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JUN</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JUL</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AUG</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SEP</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OCT</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NOV</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DEC</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JAN</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FEB</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MAR</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a:noFill/>
                    </a:lnR>
                    <a:lnT>
                      <a:noFill/>
                    </a:lnT>
                    <a:lnB w="19050" cap="flat" cmpd="sng" algn="ctr">
                      <a:solidFill>
                        <a:srgbClr val="FFFFFF"/>
                      </a:solidFill>
                      <a:prstDash val="solid"/>
                      <a:round/>
                      <a:headEnd type="none" w="med" len="med"/>
                      <a:tailEnd type="none" w="med" len="med"/>
                    </a:lnB>
                    <a:solidFill>
                      <a:srgbClr val="943634"/>
                    </a:solidFill>
                  </a:tcPr>
                </a:tc>
                <a:extLst>
                  <a:ext uri="{0D108BD9-81ED-4DB2-BD59-A6C34878D82A}">
                    <a16:rowId xmlns:a16="http://schemas.microsoft.com/office/drawing/2014/main" val="2194752739"/>
                  </a:ext>
                </a:extLst>
              </a:tr>
              <a:tr h="210185">
                <a:tc>
                  <a:txBody>
                    <a:bodyPr/>
                    <a:lstStyle/>
                    <a:p>
                      <a:pPr marL="0" marR="8890">
                        <a:spcBef>
                          <a:spcPts val="200"/>
                        </a:spcBef>
                        <a:spcAft>
                          <a:spcPts val="200"/>
                        </a:spcAft>
                      </a:pPr>
                      <a:r>
                        <a:rPr lang="en-US" sz="1200" kern="1000" dirty="0">
                          <a:solidFill>
                            <a:srgbClr val="000000"/>
                          </a:solidFill>
                          <a:effectLst/>
                          <a:latin typeface="Calibri" panose="020F0502020204030204" pitchFamily="34" charset="0"/>
                          <a:ea typeface="Franklin Gothic Book" panose="020B0503020102020204" pitchFamily="34" charset="0"/>
                        </a:rPr>
                        <a:t>Average Age</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39.8</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r>
                        <a:rPr lang="en-US" sz="1200" b="1" kern="1200" dirty="0">
                          <a:solidFill>
                            <a:schemeClr val="tx1"/>
                          </a:solidFill>
                          <a:effectLst/>
                          <a:latin typeface="+mn-lt"/>
                          <a:cs typeface="+mn-cs"/>
                        </a:rPr>
                        <a:t>39.9</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40.0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39.9</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highlight>
                          <a:srgbClr val="E5EAEE"/>
                        </a:highlight>
                        <a:latin typeface="+mn-lt"/>
                        <a:ea typeface="Calibri" panose="020F0502020204030204" pitchFamily="34" charset="0"/>
                      </a:endParaRPr>
                    </a:p>
                  </a:txBody>
                  <a:tcPr marL="68580" marR="68580" marT="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1550590802"/>
                  </a:ext>
                </a:extLst>
              </a:tr>
              <a:tr h="210185">
                <a:tc>
                  <a:txBody>
                    <a:bodyPr/>
                    <a:lstStyle/>
                    <a:p>
                      <a:pPr marL="0" marR="8890">
                        <a:spcBef>
                          <a:spcPts val="200"/>
                        </a:spcBef>
                        <a:spcAft>
                          <a:spcPts val="200"/>
                        </a:spcAft>
                      </a:pPr>
                      <a:r>
                        <a:rPr lang="en-US" sz="1200" kern="1000" dirty="0">
                          <a:solidFill>
                            <a:srgbClr val="000000"/>
                          </a:solidFill>
                          <a:effectLst/>
                          <a:latin typeface="Calibri" panose="020F0502020204030204" pitchFamily="34" charset="0"/>
                          <a:ea typeface="Franklin Gothic Book" panose="020B0503020102020204" pitchFamily="34" charset="0"/>
                        </a:rPr>
                        <a:t>Male Average Age</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40.4</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r>
                        <a:rPr lang="en-US" sz="1200" b="1" kern="1200" dirty="0">
                          <a:solidFill>
                            <a:schemeClr val="tx1"/>
                          </a:solidFill>
                          <a:effectLst/>
                          <a:latin typeface="+mn-lt"/>
                          <a:cs typeface="+mn-cs"/>
                        </a:rPr>
                        <a:t>40.5</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40.6</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40.5</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highlight>
                          <a:srgbClr val="E5EAEE"/>
                        </a:highlight>
                        <a:latin typeface="+mn-lt"/>
                        <a:ea typeface="Calibri" panose="020F0502020204030204" pitchFamily="34" charset="0"/>
                      </a:endParaRPr>
                    </a:p>
                  </a:txBody>
                  <a:tcPr marL="68580" marR="68580" marT="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1832880748"/>
                  </a:ext>
                </a:extLst>
              </a:tr>
              <a:tr h="210185">
                <a:tc>
                  <a:txBody>
                    <a:bodyPr/>
                    <a:lstStyle/>
                    <a:p>
                      <a:pPr marL="0" marR="8890">
                        <a:spcBef>
                          <a:spcPts val="200"/>
                        </a:spcBef>
                        <a:spcAft>
                          <a:spcPts val="200"/>
                        </a:spcAft>
                      </a:pPr>
                      <a:r>
                        <a:rPr lang="en-US" sz="1200" kern="1000" dirty="0">
                          <a:solidFill>
                            <a:srgbClr val="000000"/>
                          </a:solidFill>
                          <a:effectLst/>
                          <a:latin typeface="Calibri" panose="020F0502020204030204" pitchFamily="34" charset="0"/>
                          <a:ea typeface="Franklin Gothic Book" panose="020B0503020102020204" pitchFamily="34" charset="0"/>
                        </a:rPr>
                        <a:t>Female Average Age</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36.3</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r>
                        <a:rPr lang="en-US" sz="1200" b="1" kern="1200" dirty="0">
                          <a:solidFill>
                            <a:schemeClr val="tx1"/>
                          </a:solidFill>
                          <a:effectLst/>
                          <a:latin typeface="+mn-lt"/>
                          <a:cs typeface="+mn-cs"/>
                        </a:rPr>
                        <a:t>36.4</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36.5</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36.7</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highlight>
                          <a:srgbClr val="E5EAEE"/>
                        </a:highlight>
                        <a:latin typeface="+mn-lt"/>
                        <a:ea typeface="Calibri" panose="020F0502020204030204" pitchFamily="34" charset="0"/>
                      </a:endParaRPr>
                    </a:p>
                  </a:txBody>
                  <a:tcPr marL="68580" marR="68580" marT="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873510556"/>
                  </a:ext>
                </a:extLst>
              </a:tr>
              <a:tr h="210185">
                <a:tc>
                  <a:txBody>
                    <a:bodyPr/>
                    <a:lstStyle/>
                    <a:p>
                      <a:pPr marL="0" marR="8890">
                        <a:spcBef>
                          <a:spcPts val="200"/>
                        </a:spcBef>
                        <a:spcAft>
                          <a:spcPts val="200"/>
                        </a:spcAft>
                      </a:pPr>
                      <a:r>
                        <a:rPr lang="en-US" sz="1200" kern="1000" dirty="0">
                          <a:solidFill>
                            <a:srgbClr val="000000"/>
                          </a:solidFill>
                          <a:effectLst/>
                          <a:latin typeface="Calibri" panose="020F0502020204030204" pitchFamily="34" charset="0"/>
                          <a:ea typeface="Franklin Gothic Book" panose="020B0503020102020204" pitchFamily="34" charset="0"/>
                        </a:rPr>
                        <a:t>Retirement</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r>
                        <a:rPr lang="en-US" sz="1200" b="1" kern="1200" dirty="0">
                          <a:solidFill>
                            <a:schemeClr val="tx1"/>
                          </a:solidFill>
                          <a:effectLst/>
                          <a:latin typeface="+mn-lt"/>
                          <a:cs typeface="+mn-cs"/>
                        </a:rPr>
                        <a:t>0</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highlight>
                          <a:srgbClr val="E5EAEE"/>
                        </a:highlight>
                        <a:latin typeface="+mn-lt"/>
                        <a:ea typeface="Calibri" panose="020F0502020204030204" pitchFamily="34" charset="0"/>
                      </a:endParaRPr>
                    </a:p>
                  </a:txBody>
                  <a:tcPr marL="68580" marR="68580" marT="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334947455"/>
                  </a:ext>
                </a:extLst>
              </a:tr>
              <a:tr h="210185">
                <a:tc>
                  <a:txBody>
                    <a:bodyPr/>
                    <a:lstStyle/>
                    <a:p>
                      <a:pPr marL="0" marR="8890">
                        <a:spcBef>
                          <a:spcPts val="200"/>
                        </a:spcBef>
                        <a:spcAft>
                          <a:spcPts val="200"/>
                        </a:spcAft>
                      </a:pPr>
                      <a:r>
                        <a:rPr lang="en-US" sz="1200" kern="1000" dirty="0">
                          <a:solidFill>
                            <a:srgbClr val="000000"/>
                          </a:solidFill>
                          <a:effectLst/>
                          <a:latin typeface="Calibri" panose="020F0502020204030204" pitchFamily="34" charset="0"/>
                          <a:ea typeface="Franklin Gothic Book" panose="020B0503020102020204" pitchFamily="34" charset="0"/>
                        </a:rPr>
                        <a:t>Pre-retirement</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rtl="0" fontAlgn="ctr"/>
                      <a:r>
                        <a:rPr lang="en-US" sz="1200" b="1" kern="1200" dirty="0">
                          <a:solidFill>
                            <a:schemeClr val="tx1"/>
                          </a:solidFill>
                          <a:effectLst/>
                          <a:latin typeface="+mn-lt"/>
                          <a:cs typeface="+mn-cs"/>
                        </a:rPr>
                        <a:t>10</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lang="en-US" sz="1200" b="1" dirty="0">
                        <a:solidFill>
                          <a:schemeClr val="tx1"/>
                        </a:solidFill>
                        <a:effectLst/>
                        <a:highlight>
                          <a:srgbClr val="E5EAEE"/>
                        </a:highlight>
                        <a:latin typeface="+mn-lt"/>
                        <a:ea typeface="Calibri" panose="020F0502020204030204" pitchFamily="34" charset="0"/>
                      </a:endParaRPr>
                    </a:p>
                  </a:txBody>
                  <a:tcPr marL="68580" marR="68580" marT="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a:noFill/>
                    </a:lnB>
                    <a:solidFill>
                      <a:srgbClr val="E5EAEE"/>
                    </a:solidFill>
                  </a:tcPr>
                </a:tc>
                <a:extLst>
                  <a:ext uri="{0D108BD9-81ED-4DB2-BD59-A6C34878D82A}">
                    <a16:rowId xmlns:a16="http://schemas.microsoft.com/office/drawing/2014/main" val="1606711294"/>
                  </a:ext>
                </a:extLst>
              </a:tr>
            </a:tbl>
          </a:graphicData>
        </a:graphic>
      </p:graphicFrame>
      <p:graphicFrame>
        <p:nvGraphicFramePr>
          <p:cNvPr id="25" name="Table 24">
            <a:extLst>
              <a:ext uri="{FF2B5EF4-FFF2-40B4-BE49-F238E27FC236}">
                <a16:creationId xmlns:a16="http://schemas.microsoft.com/office/drawing/2014/main" id="{9DAB02C4-822E-66C6-6D3F-88DED2DA227B}"/>
              </a:ext>
            </a:extLst>
          </p:cNvPr>
          <p:cNvGraphicFramePr>
            <a:graphicFrameLocks noGrp="1"/>
          </p:cNvGraphicFramePr>
          <p:nvPr>
            <p:extLst>
              <p:ext uri="{D42A27DB-BD31-4B8C-83A1-F6EECF244321}">
                <p14:modId xmlns:p14="http://schemas.microsoft.com/office/powerpoint/2010/main" val="1066233542"/>
              </p:ext>
            </p:extLst>
          </p:nvPr>
        </p:nvGraphicFramePr>
        <p:xfrm>
          <a:off x="570779" y="1429624"/>
          <a:ext cx="10985790" cy="782165"/>
        </p:xfrm>
        <a:graphic>
          <a:graphicData uri="http://schemas.openxmlformats.org/drawingml/2006/table">
            <a:tbl>
              <a:tblPr firstRow="1"/>
              <a:tblGrid>
                <a:gridCol w="1552391">
                  <a:extLst>
                    <a:ext uri="{9D8B030D-6E8A-4147-A177-3AD203B41FA5}">
                      <a16:colId xmlns:a16="http://schemas.microsoft.com/office/drawing/2014/main" val="1492789894"/>
                    </a:ext>
                  </a:extLst>
                </a:gridCol>
                <a:gridCol w="661474">
                  <a:extLst>
                    <a:ext uri="{9D8B030D-6E8A-4147-A177-3AD203B41FA5}">
                      <a16:colId xmlns:a16="http://schemas.microsoft.com/office/drawing/2014/main" val="3035261456"/>
                    </a:ext>
                  </a:extLst>
                </a:gridCol>
                <a:gridCol w="551855">
                  <a:extLst>
                    <a:ext uri="{9D8B030D-6E8A-4147-A177-3AD203B41FA5}">
                      <a16:colId xmlns:a16="http://schemas.microsoft.com/office/drawing/2014/main" val="2170069226"/>
                    </a:ext>
                  </a:extLst>
                </a:gridCol>
                <a:gridCol w="819422">
                  <a:extLst>
                    <a:ext uri="{9D8B030D-6E8A-4147-A177-3AD203B41FA5}">
                      <a16:colId xmlns:a16="http://schemas.microsoft.com/office/drawing/2014/main" val="3843673121"/>
                    </a:ext>
                  </a:extLst>
                </a:gridCol>
                <a:gridCol w="846178">
                  <a:extLst>
                    <a:ext uri="{9D8B030D-6E8A-4147-A177-3AD203B41FA5}">
                      <a16:colId xmlns:a16="http://schemas.microsoft.com/office/drawing/2014/main" val="3388395332"/>
                    </a:ext>
                  </a:extLst>
                </a:gridCol>
                <a:gridCol w="580284">
                  <a:extLst>
                    <a:ext uri="{9D8B030D-6E8A-4147-A177-3AD203B41FA5}">
                      <a16:colId xmlns:a16="http://schemas.microsoft.com/office/drawing/2014/main" val="4121875275"/>
                    </a:ext>
                  </a:extLst>
                </a:gridCol>
                <a:gridCol w="680622">
                  <a:extLst>
                    <a:ext uri="{9D8B030D-6E8A-4147-A177-3AD203B41FA5}">
                      <a16:colId xmlns:a16="http://schemas.microsoft.com/office/drawing/2014/main" val="3691132135"/>
                    </a:ext>
                  </a:extLst>
                </a:gridCol>
                <a:gridCol w="485775">
                  <a:extLst>
                    <a:ext uri="{9D8B030D-6E8A-4147-A177-3AD203B41FA5}">
                      <a16:colId xmlns:a16="http://schemas.microsoft.com/office/drawing/2014/main" val="282905639"/>
                    </a:ext>
                  </a:extLst>
                </a:gridCol>
                <a:gridCol w="454025">
                  <a:extLst>
                    <a:ext uri="{9D8B030D-6E8A-4147-A177-3AD203B41FA5}">
                      <a16:colId xmlns:a16="http://schemas.microsoft.com/office/drawing/2014/main" val="1609613964"/>
                    </a:ext>
                  </a:extLst>
                </a:gridCol>
                <a:gridCol w="598170">
                  <a:extLst>
                    <a:ext uri="{9D8B030D-6E8A-4147-A177-3AD203B41FA5}">
                      <a16:colId xmlns:a16="http://schemas.microsoft.com/office/drawing/2014/main" val="1277548259"/>
                    </a:ext>
                  </a:extLst>
                </a:gridCol>
                <a:gridCol w="469900">
                  <a:extLst>
                    <a:ext uri="{9D8B030D-6E8A-4147-A177-3AD203B41FA5}">
                      <a16:colId xmlns:a16="http://schemas.microsoft.com/office/drawing/2014/main" val="3119090467"/>
                    </a:ext>
                  </a:extLst>
                </a:gridCol>
                <a:gridCol w="460693">
                  <a:extLst>
                    <a:ext uri="{9D8B030D-6E8A-4147-A177-3AD203B41FA5}">
                      <a16:colId xmlns:a16="http://schemas.microsoft.com/office/drawing/2014/main" val="3407139286"/>
                    </a:ext>
                  </a:extLst>
                </a:gridCol>
                <a:gridCol w="589280">
                  <a:extLst>
                    <a:ext uri="{9D8B030D-6E8A-4147-A177-3AD203B41FA5}">
                      <a16:colId xmlns:a16="http://schemas.microsoft.com/office/drawing/2014/main" val="4005180140"/>
                    </a:ext>
                  </a:extLst>
                </a:gridCol>
                <a:gridCol w="476250">
                  <a:extLst>
                    <a:ext uri="{9D8B030D-6E8A-4147-A177-3AD203B41FA5}">
                      <a16:colId xmlns:a16="http://schemas.microsoft.com/office/drawing/2014/main" val="3169296741"/>
                    </a:ext>
                  </a:extLst>
                </a:gridCol>
                <a:gridCol w="542925">
                  <a:extLst>
                    <a:ext uri="{9D8B030D-6E8A-4147-A177-3AD203B41FA5}">
                      <a16:colId xmlns:a16="http://schemas.microsoft.com/office/drawing/2014/main" val="3162864860"/>
                    </a:ext>
                  </a:extLst>
                </a:gridCol>
                <a:gridCol w="601149">
                  <a:extLst>
                    <a:ext uri="{9D8B030D-6E8A-4147-A177-3AD203B41FA5}">
                      <a16:colId xmlns:a16="http://schemas.microsoft.com/office/drawing/2014/main" val="3296364834"/>
                    </a:ext>
                  </a:extLst>
                </a:gridCol>
                <a:gridCol w="615397">
                  <a:extLst>
                    <a:ext uri="{9D8B030D-6E8A-4147-A177-3AD203B41FA5}">
                      <a16:colId xmlns:a16="http://schemas.microsoft.com/office/drawing/2014/main" val="4046281831"/>
                    </a:ext>
                  </a:extLst>
                </a:gridCol>
              </a:tblGrid>
              <a:tr h="317026">
                <a:tc>
                  <a:txBody>
                    <a:bodyPr/>
                    <a:lstStyle/>
                    <a:p>
                      <a:pPr marL="0" marR="8890" algn="r">
                        <a:spcBef>
                          <a:spcPts val="200"/>
                        </a:spcBef>
                        <a:spcAft>
                          <a:spcPts val="200"/>
                        </a:spcAft>
                      </a:pPr>
                      <a:r>
                        <a:rPr lang="en-US" sz="1200" b="1" kern="1000" cap="all" dirty="0">
                          <a:solidFill>
                            <a:srgbClr val="FFFFFF"/>
                          </a:solidFill>
                          <a:effectLst/>
                          <a:latin typeface="+mn-lt"/>
                          <a:ea typeface="+mn-ea"/>
                        </a:rPr>
                        <a:t> </a:t>
                      </a:r>
                      <a:endParaRPr lang="en-US" sz="1200" b="1" dirty="0">
                        <a:solidFill>
                          <a:srgbClr val="FFFFFF"/>
                        </a:solidFill>
                        <a:effectLst/>
                        <a:latin typeface="+mn-lt"/>
                        <a:ea typeface="+mn-ea"/>
                      </a:endParaRPr>
                    </a:p>
                  </a:txBody>
                  <a:tcPr marL="65942" marR="65942"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March 26</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APR</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MAY</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JUN</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JUL</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AUG</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SEPT</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OCT</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NOV</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DEC</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JAN</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FEV</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MAR</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YTD</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BUDGET</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marL="0" marR="8890" algn="ctr">
                        <a:spcBef>
                          <a:spcPts val="200"/>
                        </a:spcBef>
                        <a:spcAft>
                          <a:spcPts val="200"/>
                        </a:spcAft>
                      </a:pPr>
                      <a:r>
                        <a:rPr lang="en-US" sz="1000" b="0" dirty="0">
                          <a:solidFill>
                            <a:srgbClr val="FFFFFF"/>
                          </a:solidFill>
                          <a:effectLst/>
                          <a:latin typeface="+mn-lt"/>
                          <a:ea typeface="Calibri" panose="020F0502020204030204" pitchFamily="34" charset="0"/>
                        </a:rPr>
                        <a:t>%</a:t>
                      </a:r>
                    </a:p>
                  </a:txBody>
                  <a:tcPr marL="65942" marR="65942"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3097657291"/>
                  </a:ext>
                </a:extLst>
              </a:tr>
              <a:tr h="266877">
                <a:tc>
                  <a:txBody>
                    <a:bodyPr/>
                    <a:lstStyle/>
                    <a:p>
                      <a:pPr marL="0" marR="8890">
                        <a:spcBef>
                          <a:spcPts val="200"/>
                        </a:spcBef>
                        <a:spcAft>
                          <a:spcPts val="200"/>
                        </a:spcAft>
                      </a:pPr>
                      <a:r>
                        <a:rPr lang="en-US" sz="1000" b="1" dirty="0">
                          <a:solidFill>
                            <a:schemeClr val="tx1"/>
                          </a:solidFill>
                          <a:effectLst/>
                          <a:latin typeface="+mn-lt"/>
                          <a:ea typeface="+mn-ea"/>
                        </a:rPr>
                        <a:t>Ton per Employee</a:t>
                      </a:r>
                    </a:p>
                  </a:txBody>
                  <a:tcPr marL="65942" marR="65942"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algn="ctr">
                        <a:spcBef>
                          <a:spcPts val="200"/>
                        </a:spcBef>
                        <a:spcAft>
                          <a:spcPts val="200"/>
                        </a:spcAft>
                        <a:buNone/>
                      </a:pPr>
                      <a:r>
                        <a:rPr lang="en-US" sz="800" b="1" kern="1200" dirty="0">
                          <a:solidFill>
                            <a:srgbClr val="000000"/>
                          </a:solidFill>
                          <a:effectLst/>
                          <a:latin typeface="Calibri" panose="020F0502020204030204" pitchFamily="34" charset="0"/>
                          <a:ea typeface="Times New Roman" panose="02020603050405020304" pitchFamily="18" charset="0"/>
                        </a:rPr>
                        <a:t> 271.36</a:t>
                      </a:r>
                      <a:endParaRPr lang="en-US" sz="1200" dirty="0">
                        <a:effectLst/>
                        <a:latin typeface="Times New Roman" panose="02020603050405020304" pitchFamily="18" charset="0"/>
                        <a:ea typeface="Calibri" panose="020F0502020204030204" pitchFamily="34" charset="0"/>
                      </a:endParaRPr>
                    </a:p>
                  </a:txBody>
                  <a:tcPr marL="66040" marR="66040"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900" b="1" i="0" u="none" strike="noStrike" dirty="0">
                          <a:effectLst/>
                          <a:latin typeface="Calibri" panose="020F0502020204030204" pitchFamily="34" charset="0"/>
                        </a:rPr>
                        <a:t>187.3</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900" b="1" i="0" u="none" strike="noStrike" dirty="0">
                          <a:effectLst/>
                          <a:latin typeface="Calibri" panose="020F0502020204030204" pitchFamily="34" charset="0"/>
                        </a:rPr>
                        <a:t>362.68</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900" b="1" i="0" u="none" strike="noStrike" dirty="0">
                          <a:effectLst/>
                          <a:latin typeface="Calibri" panose="020F0502020204030204" pitchFamily="34" charset="0"/>
                        </a:rPr>
                        <a:t>327.53</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900" b="1" i="0" u="none" strike="noStrike" dirty="0">
                        <a:effectLst/>
                        <a:latin typeface="Calibri" panose="020F0502020204030204" pitchFamily="34" charset="0"/>
                      </a:endParaRP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900" b="1" i="0" u="none" strike="noStrike" dirty="0">
                        <a:effectLst/>
                        <a:latin typeface="Calibri" panose="020F0502020204030204" pitchFamily="34" charset="0"/>
                      </a:endParaRP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900" b="1" i="0" u="none" strike="noStrike" dirty="0">
                        <a:effectLst/>
                        <a:latin typeface="Calibri" panose="020F0502020204030204" pitchFamily="34" charset="0"/>
                      </a:endParaRP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algn="ctr" fontAlgn="b">
                        <a:buNone/>
                      </a:pPr>
                      <a:endParaRPr lang="en-US" sz="1200">
                        <a:effectLst/>
                        <a:latin typeface="Times New Roman" panose="02020603050405020304" pitchFamily="18" charset="0"/>
                        <a:ea typeface="Calibri" panose="020F0502020204030204" pitchFamily="34" charset="0"/>
                      </a:endParaRPr>
                    </a:p>
                  </a:txBody>
                  <a:tcPr marL="9525" marR="9525"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buNone/>
                      </a:pPr>
                      <a:endParaRPr lang="en-US" sz="1200" dirty="0">
                        <a:effectLst/>
                        <a:latin typeface="Times New Roman" panose="02020603050405020304" pitchFamily="18" charset="0"/>
                        <a:ea typeface="Calibri" panose="020F0502020204030204" pitchFamily="34" charset="0"/>
                      </a:endParaRPr>
                    </a:p>
                  </a:txBody>
                  <a:tcPr marL="66040" marR="66040"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buNone/>
                      </a:pPr>
                      <a:endParaRPr lang="en-US" sz="1200" dirty="0">
                        <a:effectLst/>
                        <a:latin typeface="Times New Roman" panose="02020603050405020304" pitchFamily="18" charset="0"/>
                        <a:ea typeface="Calibri" panose="020F0502020204030204" pitchFamily="34" charset="0"/>
                      </a:endParaRPr>
                    </a:p>
                  </a:txBody>
                  <a:tcPr marL="66040" marR="66040"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algn="ctr">
                        <a:spcBef>
                          <a:spcPts val="200"/>
                        </a:spcBef>
                        <a:spcAft>
                          <a:spcPts val="200"/>
                        </a:spcAft>
                        <a:buNone/>
                      </a:pPr>
                      <a:endParaRPr lang="en-US" sz="1200" dirty="0">
                        <a:effectLst/>
                        <a:latin typeface="Times New Roman" panose="02020603050405020304" pitchFamily="18" charset="0"/>
                        <a:ea typeface="Calibri" panose="020F0502020204030204" pitchFamily="34" charset="0"/>
                      </a:endParaRPr>
                    </a:p>
                  </a:txBody>
                  <a:tcPr marL="66040" marR="66040"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algn="ctr">
                        <a:spcBef>
                          <a:spcPts val="200"/>
                        </a:spcBef>
                        <a:spcAft>
                          <a:spcPts val="200"/>
                        </a:spcAft>
                        <a:buNone/>
                      </a:pPr>
                      <a:endParaRPr lang="en-US" sz="1200" dirty="0">
                        <a:effectLst/>
                        <a:latin typeface="Times New Roman" panose="02020603050405020304" pitchFamily="18" charset="0"/>
                        <a:ea typeface="Calibri" panose="020F0502020204030204" pitchFamily="34" charset="0"/>
                      </a:endParaRPr>
                    </a:p>
                  </a:txBody>
                  <a:tcPr marL="66040" marR="66040"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algn="ctr">
                        <a:spcBef>
                          <a:spcPts val="200"/>
                        </a:spcBef>
                        <a:spcAft>
                          <a:spcPts val="200"/>
                        </a:spcAft>
                        <a:buNone/>
                      </a:pPr>
                      <a:endParaRPr lang="en-US" sz="1200" dirty="0">
                        <a:effectLst/>
                        <a:latin typeface="Times New Roman" panose="02020603050405020304" pitchFamily="18" charset="0"/>
                        <a:ea typeface="Calibri" panose="020F0502020204030204" pitchFamily="34" charset="0"/>
                      </a:endParaRPr>
                    </a:p>
                  </a:txBody>
                  <a:tcPr marL="66040" marR="66040"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algn="ctr" fontAlgn="ctr">
                        <a:buNone/>
                      </a:pPr>
                      <a:r>
                        <a:rPr lang="en-US" sz="1000" b="1" i="0" u="none" strike="noStrike" kern="1200" dirty="0">
                          <a:solidFill>
                            <a:srgbClr val="000000"/>
                          </a:solidFill>
                          <a:effectLst/>
                          <a:latin typeface="Calibri" panose="020F0502020204030204" pitchFamily="34" charset="0"/>
                          <a:ea typeface="+mn-ea"/>
                          <a:cs typeface="+mn-cs"/>
                        </a:rPr>
                        <a:t>868.14</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algn="ctr" fontAlgn="ctr">
                        <a:buNone/>
                      </a:pPr>
                      <a:r>
                        <a:rPr lang="en-US" sz="900" b="1" kern="1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1,038.77</a:t>
                      </a:r>
                    </a:p>
                  </a:txBody>
                  <a:tcPr marL="9525" marR="9525"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algn="ctr" fontAlgn="ctr">
                        <a:buNone/>
                      </a:pPr>
                      <a:r>
                        <a:rPr lang="en-GB" sz="900" b="1" kern="1000" dirty="0">
                          <a:solidFill>
                            <a:schemeClr val="accent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84%</a:t>
                      </a:r>
                      <a:endParaRPr lang="en-US" sz="1200" dirty="0">
                        <a:solidFill>
                          <a:schemeClr val="accent1">
                            <a:lumMod val="75000"/>
                          </a:schemeClr>
                        </a:solidFill>
                        <a:effectLst/>
                        <a:latin typeface="Times New Roman" panose="02020603050405020304" pitchFamily="18" charset="0"/>
                        <a:ea typeface="Calibri" panose="020F0502020204030204" pitchFamily="34" charset="0"/>
                      </a:endParaRPr>
                    </a:p>
                  </a:txBody>
                  <a:tcPr marL="66040" marR="66040"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478114777"/>
                  </a:ext>
                </a:extLst>
              </a:tr>
              <a:tr h="198262">
                <a:tc>
                  <a:txBody>
                    <a:bodyPr/>
                    <a:lstStyle/>
                    <a:p>
                      <a:pPr marL="0" marR="8890">
                        <a:spcBef>
                          <a:spcPts val="200"/>
                        </a:spcBef>
                        <a:spcAft>
                          <a:spcPts val="200"/>
                        </a:spcAft>
                      </a:pPr>
                      <a:r>
                        <a:rPr lang="en-US" sz="1000" b="1" dirty="0">
                          <a:solidFill>
                            <a:schemeClr val="tx1"/>
                          </a:solidFill>
                          <a:effectLst/>
                          <a:latin typeface="+mn-lt"/>
                          <a:ea typeface="+mn-ea"/>
                        </a:rPr>
                        <a:t>Revenue per Employee</a:t>
                      </a:r>
                    </a:p>
                  </a:txBody>
                  <a:tcPr marL="65942" marR="65942"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0" algn="ctr" fontAlgn="b">
                        <a:buNone/>
                      </a:pPr>
                      <a:r>
                        <a:rPr lang="en-US" sz="800" b="1" kern="1200" dirty="0">
                          <a:solidFill>
                            <a:srgbClr val="000000"/>
                          </a:solidFill>
                          <a:effectLst/>
                          <a:latin typeface="Calibri" panose="020F0502020204030204" pitchFamily="34" charset="0"/>
                          <a:ea typeface="Times New Roman" panose="02020603050405020304" pitchFamily="18" charset="0"/>
                        </a:rPr>
                        <a:t>47,011.60 </a:t>
                      </a:r>
                      <a:endParaRPr lang="en-US" sz="1200" dirty="0">
                        <a:effectLst/>
                        <a:latin typeface="Times New Roman" panose="02020603050405020304" pitchFamily="18" charset="0"/>
                        <a:ea typeface="Calibri" panose="020F0502020204030204" pitchFamily="34" charset="0"/>
                      </a:endParaRPr>
                    </a:p>
                  </a:txBody>
                  <a:tcPr marL="9525" marR="9525"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r>
                        <a:rPr lang="en-US" sz="900" b="1" i="0" u="none" strike="noStrike" dirty="0">
                          <a:effectLst/>
                          <a:latin typeface="Calibri" panose="020F0502020204030204" pitchFamily="34" charset="0"/>
                        </a:rPr>
                        <a:t>31,530.7</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r>
                        <a:rPr lang="en-US" sz="900" b="1" i="0" u="none" strike="noStrike" dirty="0">
                          <a:effectLst/>
                          <a:latin typeface="Calibri" panose="020F0502020204030204" pitchFamily="34" charset="0"/>
                        </a:rPr>
                        <a:t>59,536.15</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r>
                        <a:rPr lang="en-US" sz="900" b="1" i="0" u="none" strike="noStrike" dirty="0">
                          <a:effectLst/>
                          <a:latin typeface="Calibri" panose="020F0502020204030204" pitchFamily="34" charset="0"/>
                        </a:rPr>
                        <a:t>51,800.29</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endParaRPr lang="en-US" sz="900" b="1" i="0" u="none" strike="noStrike" dirty="0">
                        <a:effectLst/>
                        <a:latin typeface="Calibri" panose="020F0502020204030204" pitchFamily="34" charset="0"/>
                      </a:endParaRP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ctr">
                        <a:buNone/>
                      </a:pPr>
                      <a:endParaRPr lang="en-US" sz="900" b="0" i="0" u="none" strike="noStrike" dirty="0">
                        <a:solidFill>
                          <a:srgbClr val="000000"/>
                        </a:solidFill>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endParaRPr lang="en-US" sz="900" b="1" i="0" u="none" strike="noStrike" dirty="0">
                        <a:effectLst/>
                        <a:latin typeface="Calibri" panose="020F0502020204030204" pitchFamily="34" charset="0"/>
                      </a:endParaRP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0" algn="ctr" fontAlgn="b">
                        <a:buNone/>
                      </a:pPr>
                      <a:endParaRPr lang="en-US" sz="1200">
                        <a:effectLst/>
                        <a:latin typeface="Times New Roman" panose="02020603050405020304" pitchFamily="18" charset="0"/>
                        <a:ea typeface="Calibri" panose="020F0502020204030204" pitchFamily="34" charset="0"/>
                      </a:endParaRPr>
                    </a:p>
                  </a:txBody>
                  <a:tcPr marL="9525" marR="9525"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fontAlgn="b">
                        <a:spcBef>
                          <a:spcPts val="200"/>
                        </a:spcBef>
                        <a:spcAft>
                          <a:spcPts val="200"/>
                        </a:spcAft>
                        <a:buNone/>
                      </a:pPr>
                      <a:endParaRPr lang="en-US" sz="1200" dirty="0">
                        <a:effectLst/>
                        <a:latin typeface="Times New Roman" panose="02020603050405020304" pitchFamily="18" charset="0"/>
                        <a:ea typeface="Calibri" panose="020F0502020204030204" pitchFamily="34" charset="0"/>
                      </a:endParaRPr>
                    </a:p>
                  </a:txBody>
                  <a:tcPr marL="66040" marR="66040"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0" algn="ctr" fontAlgn="b">
                        <a:buNone/>
                      </a:pPr>
                      <a:endParaRPr lang="en-US" sz="1200" dirty="0">
                        <a:effectLst/>
                        <a:latin typeface="Times New Roman" panose="02020603050405020304" pitchFamily="18" charset="0"/>
                        <a:ea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0" algn="ctr" fontAlgn="b">
                        <a:buNone/>
                      </a:pPr>
                      <a:endParaRPr lang="en-US" sz="1200" dirty="0">
                        <a:effectLst/>
                        <a:latin typeface="Times New Roman" panose="02020603050405020304" pitchFamily="18" charset="0"/>
                        <a:ea typeface="Calibri" panose="020F0502020204030204" pitchFamily="34" charset="0"/>
                      </a:endParaRPr>
                    </a:p>
                  </a:txBody>
                  <a:tcPr marL="9525" marR="9525"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0" algn="ctr" fontAlgn="b">
                        <a:spcBef>
                          <a:spcPts val="200"/>
                        </a:spcBef>
                        <a:spcAft>
                          <a:spcPts val="200"/>
                        </a:spcAft>
                        <a:buNone/>
                      </a:pPr>
                      <a:endParaRPr lang="en-US" sz="1200" dirty="0">
                        <a:effectLst/>
                        <a:latin typeface="Times New Roman" panose="02020603050405020304" pitchFamily="18" charset="0"/>
                        <a:ea typeface="Calibri" panose="020F0502020204030204" pitchFamily="34" charset="0"/>
                      </a:endParaRPr>
                    </a:p>
                  </a:txBody>
                  <a:tcPr marL="66040" marR="66040"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0" algn="ctr" fontAlgn="b">
                        <a:buNone/>
                      </a:pPr>
                      <a:endParaRPr lang="en-US" sz="1200" dirty="0">
                        <a:effectLst/>
                        <a:latin typeface="Times New Roman" panose="02020603050405020304" pitchFamily="18" charset="0"/>
                        <a:ea typeface="Calibri" panose="020F0502020204030204" pitchFamily="34" charset="0"/>
                      </a:endParaRPr>
                    </a:p>
                  </a:txBody>
                  <a:tcPr marL="9525" marR="9525"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0" algn="ctr" fontAlgn="b">
                        <a:buNone/>
                      </a:pPr>
                      <a:r>
                        <a:rPr lang="en-US" sz="900" b="1" kern="1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141,314.85</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0" algn="ctr" fontAlgn="b">
                        <a:buNone/>
                      </a:pPr>
                      <a:r>
                        <a:rPr lang="en-US" sz="900" b="1" kern="1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169,948.06</a:t>
                      </a:r>
                    </a:p>
                  </a:txBody>
                  <a:tcPr marL="9525" marR="9525"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0" algn="ctr" fontAlgn="b">
                        <a:buNone/>
                      </a:pPr>
                      <a:r>
                        <a:rPr lang="en-GB" sz="800" b="1" kern="1000" dirty="0">
                          <a:solidFill>
                            <a:schemeClr val="accent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83%</a:t>
                      </a:r>
                      <a:endParaRPr lang="en-US" sz="1200" dirty="0">
                        <a:solidFill>
                          <a:schemeClr val="accent1">
                            <a:lumMod val="75000"/>
                          </a:schemeClr>
                        </a:solidFill>
                        <a:effectLst/>
                        <a:latin typeface="Times New Roman" panose="02020603050405020304" pitchFamily="18" charset="0"/>
                        <a:ea typeface="Calibri" panose="020F0502020204030204" pitchFamily="34" charset="0"/>
                      </a:endParaRPr>
                    </a:p>
                  </a:txBody>
                  <a:tcPr marL="66040" marR="66040" marT="952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extLst>
                  <a:ext uri="{0D108BD9-81ED-4DB2-BD59-A6C34878D82A}">
                    <a16:rowId xmlns:a16="http://schemas.microsoft.com/office/drawing/2014/main" val="3427520353"/>
                  </a:ext>
                </a:extLst>
              </a:tr>
            </a:tbl>
          </a:graphicData>
        </a:graphic>
      </p:graphicFrame>
      <p:sp>
        <p:nvSpPr>
          <p:cNvPr id="4" name="Title 2">
            <a:extLst>
              <a:ext uri="{FF2B5EF4-FFF2-40B4-BE49-F238E27FC236}">
                <a16:creationId xmlns:a16="http://schemas.microsoft.com/office/drawing/2014/main" id="{0352C41A-DA8C-C16D-B28B-8DDB68CC7948}"/>
              </a:ext>
            </a:extLst>
          </p:cNvPr>
          <p:cNvSpPr>
            <a:spLocks noGrp="1"/>
          </p:cNvSpPr>
          <p:nvPr>
            <p:ph type="title"/>
          </p:nvPr>
        </p:nvSpPr>
        <p:spPr>
          <a:xfrm>
            <a:off x="2785519" y="72331"/>
            <a:ext cx="3140828" cy="438764"/>
          </a:xfrm>
          <a:solidFill>
            <a:schemeClr val="accent3">
              <a:lumMod val="50000"/>
            </a:schemeClr>
          </a:solidFill>
        </p:spPr>
        <p:style>
          <a:lnRef idx="0">
            <a:schemeClr val="accent6"/>
          </a:lnRef>
          <a:fillRef idx="3">
            <a:schemeClr val="accent6"/>
          </a:fillRef>
          <a:effectRef idx="3">
            <a:schemeClr val="accent6"/>
          </a:effectRef>
          <a:fontRef idx="minor">
            <a:schemeClr val="lt1"/>
          </a:fontRef>
        </p:style>
        <p:txBody>
          <a:bodyPr>
            <a:normAutofit/>
          </a:bodyPr>
          <a:lstStyle/>
          <a:p>
            <a:r>
              <a:rPr lang="en-US" dirty="0">
                <a:solidFill>
                  <a:schemeClr val="bg1"/>
                </a:solidFill>
              </a:rPr>
              <a:t>HR KPI  - Trends</a:t>
            </a:r>
          </a:p>
        </p:txBody>
      </p:sp>
    </p:spTree>
    <p:extLst>
      <p:ext uri="{BB962C8B-B14F-4D97-AF65-F5344CB8AC3E}">
        <p14:creationId xmlns:p14="http://schemas.microsoft.com/office/powerpoint/2010/main" val="3865624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Table 20">
            <a:extLst>
              <a:ext uri="{FF2B5EF4-FFF2-40B4-BE49-F238E27FC236}">
                <a16:creationId xmlns:a16="http://schemas.microsoft.com/office/drawing/2014/main" id="{9B8D84D8-A083-570D-1200-555E2FFD7E9D}"/>
              </a:ext>
            </a:extLst>
          </p:cNvPr>
          <p:cNvGraphicFramePr>
            <a:graphicFrameLocks noGrp="1"/>
          </p:cNvGraphicFramePr>
          <p:nvPr>
            <p:extLst>
              <p:ext uri="{D42A27DB-BD31-4B8C-83A1-F6EECF244321}">
                <p14:modId xmlns:p14="http://schemas.microsoft.com/office/powerpoint/2010/main" val="3141031976"/>
              </p:ext>
            </p:extLst>
          </p:nvPr>
        </p:nvGraphicFramePr>
        <p:xfrm>
          <a:off x="450010" y="563016"/>
          <a:ext cx="10644188" cy="257152"/>
        </p:xfrm>
        <a:graphic>
          <a:graphicData uri="http://schemas.openxmlformats.org/drawingml/2006/table">
            <a:tbl>
              <a:tblPr firstRow="1" firstCol="1" bandRow="1"/>
              <a:tblGrid>
                <a:gridCol w="10644188">
                  <a:extLst>
                    <a:ext uri="{9D8B030D-6E8A-4147-A177-3AD203B41FA5}">
                      <a16:colId xmlns:a16="http://schemas.microsoft.com/office/drawing/2014/main" val="2095277014"/>
                    </a:ext>
                  </a:extLst>
                </a:gridCol>
              </a:tblGrid>
              <a:tr h="257152">
                <a:tc>
                  <a:txBody>
                    <a:bodyPr/>
                    <a:lstStyle/>
                    <a:p>
                      <a:pPr marL="457200" marR="0" lvl="1" indent="0">
                        <a:spcBef>
                          <a:spcPts val="200"/>
                        </a:spcBef>
                        <a:spcAft>
                          <a:spcPts val="0"/>
                        </a:spcAft>
                        <a:buFont typeface="+mj-lt"/>
                        <a:buNone/>
                      </a:pPr>
                      <a:r>
                        <a:rPr lang="en-US" sz="1000" b="1" dirty="0">
                          <a:solidFill>
                            <a:srgbClr val="595959"/>
                          </a:solidFill>
                          <a:effectLst/>
                          <a:latin typeface="Franklin Gothic Book" panose="020B0503020102020204" pitchFamily="34" charset="0"/>
                          <a:ea typeface="Times New Roman" panose="02020603050405020304" pitchFamily="18" charset="0"/>
                          <a:cs typeface="Times New Roman" panose="02020603050405020304" pitchFamily="18" charset="0"/>
                        </a:rPr>
                        <a:t>5. Staff Movement – Turnover – Age – Length of service</a:t>
                      </a:r>
                      <a:endParaRPr lang="en-US" sz="1000" b="1" dirty="0">
                        <a:solidFill>
                          <a:srgbClr val="595959"/>
                        </a:solidFill>
                        <a:effectLst/>
                        <a:latin typeface="Franklin Gothic Book" panose="020B0503020102020204" pitchFamily="34" charset="0"/>
                        <a:ea typeface="Franklin Gothic Book" panose="020B0503020102020204" pitchFamily="34" charset="0"/>
                        <a:cs typeface="Times New Roman" panose="02020603050405020304" pitchFamily="18" charset="0"/>
                      </a:endParaRPr>
                    </a:p>
                  </a:txBody>
                  <a:tcPr marL="0" marR="0" marT="0" marB="0" anchor="b">
                    <a:lnL>
                      <a:noFill/>
                    </a:lnL>
                    <a:lnR>
                      <a:noFill/>
                    </a:lnR>
                    <a:lnT>
                      <a:noFill/>
                    </a:lnT>
                    <a:lnB w="28575" cap="flat" cmpd="sng" algn="ctr">
                      <a:solidFill>
                        <a:srgbClr val="FEDE00"/>
                      </a:solidFill>
                      <a:prstDash val="solid"/>
                      <a:round/>
                      <a:headEnd type="none" w="med" len="med"/>
                      <a:tailEnd type="none" w="med" len="med"/>
                    </a:lnB>
                    <a:noFill/>
                  </a:tcPr>
                </a:tc>
                <a:extLst>
                  <a:ext uri="{0D108BD9-81ED-4DB2-BD59-A6C34878D82A}">
                    <a16:rowId xmlns:a16="http://schemas.microsoft.com/office/drawing/2014/main" val="2873139934"/>
                  </a:ext>
                </a:extLst>
              </a:tr>
            </a:tbl>
          </a:graphicData>
        </a:graphic>
      </p:graphicFrame>
      <p:graphicFrame>
        <p:nvGraphicFramePr>
          <p:cNvPr id="6" name="Table 5">
            <a:extLst>
              <a:ext uri="{FF2B5EF4-FFF2-40B4-BE49-F238E27FC236}">
                <a16:creationId xmlns:a16="http://schemas.microsoft.com/office/drawing/2014/main" id="{DD5275B6-6A3B-3EFB-F732-3254E8DB39AF}"/>
              </a:ext>
            </a:extLst>
          </p:cNvPr>
          <p:cNvGraphicFramePr>
            <a:graphicFrameLocks noGrp="1"/>
          </p:cNvGraphicFramePr>
          <p:nvPr>
            <p:extLst>
              <p:ext uri="{D42A27DB-BD31-4B8C-83A1-F6EECF244321}">
                <p14:modId xmlns:p14="http://schemas.microsoft.com/office/powerpoint/2010/main" val="2053261782"/>
              </p:ext>
            </p:extLst>
          </p:nvPr>
        </p:nvGraphicFramePr>
        <p:xfrm>
          <a:off x="450010" y="884098"/>
          <a:ext cx="10864206" cy="1351380"/>
        </p:xfrm>
        <a:graphic>
          <a:graphicData uri="http://schemas.openxmlformats.org/drawingml/2006/table">
            <a:tbl>
              <a:tblPr firstRow="1" firstCol="1" bandRow="1"/>
              <a:tblGrid>
                <a:gridCol w="2432654">
                  <a:extLst>
                    <a:ext uri="{9D8B030D-6E8A-4147-A177-3AD203B41FA5}">
                      <a16:colId xmlns:a16="http://schemas.microsoft.com/office/drawing/2014/main" val="1139382827"/>
                    </a:ext>
                  </a:extLst>
                </a:gridCol>
                <a:gridCol w="582613">
                  <a:extLst>
                    <a:ext uri="{9D8B030D-6E8A-4147-A177-3AD203B41FA5}">
                      <a16:colId xmlns:a16="http://schemas.microsoft.com/office/drawing/2014/main" val="755313647"/>
                    </a:ext>
                  </a:extLst>
                </a:gridCol>
                <a:gridCol w="443660">
                  <a:extLst>
                    <a:ext uri="{9D8B030D-6E8A-4147-A177-3AD203B41FA5}">
                      <a16:colId xmlns:a16="http://schemas.microsoft.com/office/drawing/2014/main" val="1143850189"/>
                    </a:ext>
                  </a:extLst>
                </a:gridCol>
                <a:gridCol w="443660">
                  <a:extLst>
                    <a:ext uri="{9D8B030D-6E8A-4147-A177-3AD203B41FA5}">
                      <a16:colId xmlns:a16="http://schemas.microsoft.com/office/drawing/2014/main" val="3339244156"/>
                    </a:ext>
                  </a:extLst>
                </a:gridCol>
                <a:gridCol w="443660">
                  <a:extLst>
                    <a:ext uri="{9D8B030D-6E8A-4147-A177-3AD203B41FA5}">
                      <a16:colId xmlns:a16="http://schemas.microsoft.com/office/drawing/2014/main" val="2784203244"/>
                    </a:ext>
                  </a:extLst>
                </a:gridCol>
                <a:gridCol w="484187">
                  <a:extLst>
                    <a:ext uri="{9D8B030D-6E8A-4147-A177-3AD203B41FA5}">
                      <a16:colId xmlns:a16="http://schemas.microsoft.com/office/drawing/2014/main" val="187446532"/>
                    </a:ext>
                  </a:extLst>
                </a:gridCol>
                <a:gridCol w="484187">
                  <a:extLst>
                    <a:ext uri="{9D8B030D-6E8A-4147-A177-3AD203B41FA5}">
                      <a16:colId xmlns:a16="http://schemas.microsoft.com/office/drawing/2014/main" val="894957097"/>
                    </a:ext>
                  </a:extLst>
                </a:gridCol>
                <a:gridCol w="443660">
                  <a:extLst>
                    <a:ext uri="{9D8B030D-6E8A-4147-A177-3AD203B41FA5}">
                      <a16:colId xmlns:a16="http://schemas.microsoft.com/office/drawing/2014/main" val="362513042"/>
                    </a:ext>
                  </a:extLst>
                </a:gridCol>
                <a:gridCol w="443660">
                  <a:extLst>
                    <a:ext uri="{9D8B030D-6E8A-4147-A177-3AD203B41FA5}">
                      <a16:colId xmlns:a16="http://schemas.microsoft.com/office/drawing/2014/main" val="4288945845"/>
                    </a:ext>
                  </a:extLst>
                </a:gridCol>
                <a:gridCol w="443660">
                  <a:extLst>
                    <a:ext uri="{9D8B030D-6E8A-4147-A177-3AD203B41FA5}">
                      <a16:colId xmlns:a16="http://schemas.microsoft.com/office/drawing/2014/main" val="511038007"/>
                    </a:ext>
                  </a:extLst>
                </a:gridCol>
                <a:gridCol w="443660">
                  <a:extLst>
                    <a:ext uri="{9D8B030D-6E8A-4147-A177-3AD203B41FA5}">
                      <a16:colId xmlns:a16="http://schemas.microsoft.com/office/drawing/2014/main" val="1790287352"/>
                    </a:ext>
                  </a:extLst>
                </a:gridCol>
                <a:gridCol w="443660">
                  <a:extLst>
                    <a:ext uri="{9D8B030D-6E8A-4147-A177-3AD203B41FA5}">
                      <a16:colId xmlns:a16="http://schemas.microsoft.com/office/drawing/2014/main" val="813054166"/>
                    </a:ext>
                  </a:extLst>
                </a:gridCol>
                <a:gridCol w="443660">
                  <a:extLst>
                    <a:ext uri="{9D8B030D-6E8A-4147-A177-3AD203B41FA5}">
                      <a16:colId xmlns:a16="http://schemas.microsoft.com/office/drawing/2014/main" val="777913738"/>
                    </a:ext>
                  </a:extLst>
                </a:gridCol>
                <a:gridCol w="443660">
                  <a:extLst>
                    <a:ext uri="{9D8B030D-6E8A-4147-A177-3AD203B41FA5}">
                      <a16:colId xmlns:a16="http://schemas.microsoft.com/office/drawing/2014/main" val="1091280491"/>
                    </a:ext>
                  </a:extLst>
                </a:gridCol>
                <a:gridCol w="2443965">
                  <a:extLst>
                    <a:ext uri="{9D8B030D-6E8A-4147-A177-3AD203B41FA5}">
                      <a16:colId xmlns:a16="http://schemas.microsoft.com/office/drawing/2014/main" val="2780768768"/>
                    </a:ext>
                  </a:extLst>
                </a:gridCol>
              </a:tblGrid>
              <a:tr h="225230">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Times New Roman" panose="02020603050405020304" pitchFamily="18" charset="0"/>
                        </a:rPr>
                        <a:t> IN – OUT YTD </a:t>
                      </a:r>
                      <a:endParaRPr lang="en-US" sz="1200" dirty="0">
                        <a:solidFill>
                          <a:srgbClr val="FFFFFF"/>
                        </a:solidFill>
                        <a:effectLst/>
                        <a:highlight>
                          <a:srgbClr val="943634"/>
                        </a:highligh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MAR 26</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APR</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MAY</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JUN</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JUL</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AUG</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SEP</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OCT</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NOV</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DEC</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JAN</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FEB</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MAR</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Times New Roman" panose="02020603050405020304" pitchFamily="18" charset="0"/>
                          <a:cs typeface="+mn-cs"/>
                        </a:rPr>
                        <a:t>FY26 YTD</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a:noFill/>
                    </a:lnR>
                    <a:lnT>
                      <a:noFill/>
                    </a:lnT>
                    <a:lnB w="19050" cap="flat" cmpd="sng" algn="ctr">
                      <a:solidFill>
                        <a:srgbClr val="FFFFFF"/>
                      </a:solidFill>
                      <a:prstDash val="solid"/>
                      <a:round/>
                      <a:headEnd type="none" w="med" len="med"/>
                      <a:tailEnd type="none" w="med" len="med"/>
                    </a:lnB>
                    <a:solidFill>
                      <a:srgbClr val="943634"/>
                    </a:solidFill>
                  </a:tcPr>
                </a:tc>
                <a:extLst>
                  <a:ext uri="{0D108BD9-81ED-4DB2-BD59-A6C34878D82A}">
                    <a16:rowId xmlns:a16="http://schemas.microsoft.com/office/drawing/2014/main" val="1265344585"/>
                  </a:ext>
                </a:extLst>
              </a:tr>
              <a:tr h="225230">
                <a:tc>
                  <a:txBody>
                    <a:bodyPr/>
                    <a:lstStyle/>
                    <a:p>
                      <a:pPr marL="0" marR="8890">
                        <a:spcBef>
                          <a:spcPts val="200"/>
                        </a:spcBef>
                        <a:spcAft>
                          <a:spcPts val="200"/>
                        </a:spcAft>
                      </a:pPr>
                      <a:r>
                        <a:rPr lang="en-US" sz="1000" kern="1000" dirty="0">
                          <a:solidFill>
                            <a:srgbClr val="000000"/>
                          </a:solidFill>
                          <a:effectLst/>
                          <a:latin typeface="Calibri" panose="020F0502020204030204" pitchFamily="34" charset="0"/>
                          <a:ea typeface="Calibri" panose="020F0502020204030204" pitchFamily="34" charset="0"/>
                        </a:rPr>
                        <a:t>IN</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dirty="0">
                          <a:solidFill>
                            <a:schemeClr val="tx1"/>
                          </a:solidFill>
                          <a:effectLst/>
                          <a:latin typeface="+mn-lt"/>
                          <a:ea typeface="Calibri" panose="020F0502020204030204" pitchFamily="34" charset="0"/>
                        </a:rPr>
                        <a:t>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dirty="0">
                          <a:solidFill>
                            <a:schemeClr val="tx1"/>
                          </a:solidFill>
                          <a:effectLst/>
                          <a:latin typeface="+mn-lt"/>
                          <a:ea typeface="Calibri" panose="020F0502020204030204" pitchFamily="34" charset="0"/>
                        </a:rPr>
                        <a:t>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dirty="0">
                          <a:solidFill>
                            <a:schemeClr val="tx1"/>
                          </a:solidFill>
                          <a:effectLst/>
                          <a:latin typeface="+mn-lt"/>
                          <a:ea typeface="Calibri" panose="020F0502020204030204" pitchFamily="34" charset="0"/>
                        </a:rPr>
                        <a:t>1</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dirty="0">
                          <a:solidFill>
                            <a:schemeClr val="tx1"/>
                          </a:solidFill>
                          <a:effectLst/>
                          <a:latin typeface="+mn-lt"/>
                          <a:ea typeface="Calibri" panose="020F0502020204030204" pitchFamily="34" charset="0"/>
                        </a:rPr>
                        <a:t>3</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b="1" dirty="0">
                          <a:solidFill>
                            <a:schemeClr val="tx1"/>
                          </a:solidFill>
                          <a:effectLst/>
                          <a:latin typeface="+mn-lt"/>
                          <a:ea typeface="Calibri" panose="020F0502020204030204" pitchFamily="34" charset="0"/>
                        </a:rPr>
                        <a:t>4</a:t>
                      </a:r>
                    </a:p>
                  </a:txBody>
                  <a:tcPr marL="68580" marR="68580" marT="0" marB="0">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201865975"/>
                  </a:ext>
                </a:extLst>
              </a:tr>
              <a:tr h="225230">
                <a:tc>
                  <a:txBody>
                    <a:bodyPr/>
                    <a:lstStyle/>
                    <a:p>
                      <a:pPr marL="0" marR="8890">
                        <a:spcBef>
                          <a:spcPts val="200"/>
                        </a:spcBef>
                        <a:spcAft>
                          <a:spcPts val="200"/>
                        </a:spcAft>
                      </a:pPr>
                      <a:r>
                        <a:rPr lang="en-US" sz="1000" kern="1000" dirty="0">
                          <a:solidFill>
                            <a:srgbClr val="000000"/>
                          </a:solidFill>
                          <a:effectLst/>
                          <a:latin typeface="Calibri" panose="020F0502020204030204" pitchFamily="34" charset="0"/>
                          <a:ea typeface="Calibri" panose="020F0502020204030204" pitchFamily="34" charset="0"/>
                        </a:rPr>
                        <a:t>Out</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dirty="0">
                          <a:solidFill>
                            <a:schemeClr val="tx1"/>
                          </a:solidFill>
                          <a:effectLst/>
                          <a:latin typeface="+mn-lt"/>
                          <a:ea typeface="Calibri" panose="020F0502020204030204" pitchFamily="34" charset="0"/>
                        </a:rPr>
                        <a:t>1</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dirty="0">
                          <a:solidFill>
                            <a:schemeClr val="tx1"/>
                          </a:solidFill>
                          <a:effectLst/>
                          <a:latin typeface="+mn-lt"/>
                          <a:ea typeface="Calibri" panose="020F0502020204030204" pitchFamily="34" charset="0"/>
                        </a:rPr>
                        <a:t>1</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dirty="0">
                          <a:solidFill>
                            <a:schemeClr val="tx1"/>
                          </a:solidFill>
                          <a:effectLst/>
                          <a:latin typeface="+mn-lt"/>
                          <a:ea typeface="Calibri" panose="020F0502020204030204" pitchFamily="34" charset="0"/>
                        </a:rPr>
                        <a:t>1</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dirty="0">
                          <a:solidFill>
                            <a:schemeClr val="tx1"/>
                          </a:solidFill>
                          <a:effectLst/>
                          <a:latin typeface="+mn-lt"/>
                          <a:ea typeface="Calibri" panose="020F0502020204030204" pitchFamily="34" charset="0"/>
                        </a:rPr>
                        <a:t>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b="1" dirty="0">
                          <a:solidFill>
                            <a:schemeClr val="tx1"/>
                          </a:solidFill>
                          <a:effectLst/>
                          <a:latin typeface="+mn-lt"/>
                          <a:ea typeface="Calibri" panose="020F0502020204030204" pitchFamily="34" charset="0"/>
                        </a:rPr>
                        <a:t>2</a:t>
                      </a:r>
                    </a:p>
                  </a:txBody>
                  <a:tcPr marL="68580" marR="68580" marT="0" marB="0">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4127131971"/>
                  </a:ext>
                </a:extLst>
              </a:tr>
              <a:tr h="225230">
                <a:tc>
                  <a:txBody>
                    <a:bodyPr/>
                    <a:lstStyle/>
                    <a:p>
                      <a:pPr marL="0" marR="8890">
                        <a:spcBef>
                          <a:spcPts val="200"/>
                        </a:spcBef>
                        <a:spcAft>
                          <a:spcPts val="200"/>
                        </a:spcAft>
                      </a:pPr>
                      <a:r>
                        <a:rPr lang="en-US" sz="1000" kern="1000" dirty="0">
                          <a:solidFill>
                            <a:srgbClr val="000000"/>
                          </a:solidFill>
                          <a:effectLst/>
                          <a:latin typeface="Calibri" panose="020F0502020204030204" pitchFamily="34" charset="0"/>
                          <a:ea typeface="Calibri" panose="020F0502020204030204" pitchFamily="34" charset="0"/>
                          <a:cs typeface="+mn-cs"/>
                        </a:rPr>
                        <a:t>Attrition Rate</a:t>
                      </a: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dirty="0">
                          <a:solidFill>
                            <a:schemeClr val="tx1"/>
                          </a:solidFill>
                          <a:effectLst/>
                          <a:latin typeface="+mn-lt"/>
                          <a:ea typeface="Calibri" panose="020F0502020204030204" pitchFamily="34" charset="0"/>
                        </a:rPr>
                        <a:t>0.6%</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dirty="0">
                          <a:solidFill>
                            <a:schemeClr val="tx1"/>
                          </a:solidFill>
                          <a:effectLst/>
                          <a:latin typeface="+mn-lt"/>
                          <a:ea typeface="Calibri" panose="020F0502020204030204" pitchFamily="34" charset="0"/>
                        </a:rPr>
                        <a:t>0.6%</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dirty="0">
                          <a:solidFill>
                            <a:schemeClr val="tx1"/>
                          </a:solidFill>
                          <a:effectLst/>
                          <a:latin typeface="+mn-lt"/>
                          <a:ea typeface="Calibri" panose="020F0502020204030204" pitchFamily="34" charset="0"/>
                        </a:rPr>
                        <a:t>0.6%</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dirty="0">
                          <a:solidFill>
                            <a:schemeClr val="tx1"/>
                          </a:solidFill>
                          <a:effectLst/>
                          <a:latin typeface="+mn-lt"/>
                          <a:ea typeface="Calibri" panose="020F0502020204030204" pitchFamily="34" charset="0"/>
                        </a:rPr>
                        <a:t>0.0%</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b="1" dirty="0">
                          <a:solidFill>
                            <a:schemeClr val="tx1"/>
                          </a:solidFill>
                          <a:effectLst/>
                          <a:latin typeface="+mn-lt"/>
                          <a:ea typeface="Calibri" panose="020F0502020204030204" pitchFamily="34" charset="0"/>
                        </a:rPr>
                        <a:t>1.14%</a:t>
                      </a:r>
                    </a:p>
                  </a:txBody>
                  <a:tcPr marL="68580" marR="68580" marT="0" marB="0">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347701273"/>
                  </a:ext>
                </a:extLst>
              </a:tr>
              <a:tr h="225230">
                <a:tc>
                  <a:txBody>
                    <a:bodyPr/>
                    <a:lstStyle/>
                    <a:p>
                      <a:pPr marL="0" marR="8890">
                        <a:spcBef>
                          <a:spcPts val="200"/>
                        </a:spcBef>
                        <a:spcAft>
                          <a:spcPts val="200"/>
                        </a:spcAft>
                      </a:pPr>
                      <a:r>
                        <a:rPr lang="en-US" sz="1000" kern="1000" dirty="0">
                          <a:solidFill>
                            <a:srgbClr val="000000"/>
                          </a:solidFill>
                          <a:effectLst/>
                          <a:latin typeface="Calibri" panose="020F0502020204030204" pitchFamily="34" charset="0"/>
                          <a:ea typeface="Franklin Gothic Book" panose="020B0503020102020204" pitchFamily="34" charset="0"/>
                        </a:rPr>
                        <a:t>Turnover</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rPr>
                        <a:t>0.3%</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rPr>
                        <a:t>0.3%</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rPr>
                        <a:t>0.6%</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rPr>
                        <a:t>0.9%</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b="1" dirty="0">
                          <a:solidFill>
                            <a:schemeClr val="tx1"/>
                          </a:solidFill>
                          <a:effectLst/>
                          <a:latin typeface="+mn-lt"/>
                          <a:ea typeface="Calibri" panose="020F0502020204030204" pitchFamily="34" charset="0"/>
                        </a:rPr>
                        <a:t>1.73%</a:t>
                      </a:r>
                    </a:p>
                  </a:txBody>
                  <a:tcPr marL="68580" marR="68580" marT="0" marB="0">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291526635"/>
                  </a:ext>
                </a:extLst>
              </a:tr>
              <a:tr h="225230">
                <a:tc>
                  <a:txBody>
                    <a:bodyPr/>
                    <a:lstStyle/>
                    <a:p>
                      <a:pPr marL="0" marR="8890">
                        <a:spcBef>
                          <a:spcPts val="200"/>
                        </a:spcBef>
                        <a:spcAft>
                          <a:spcPts val="200"/>
                        </a:spcAft>
                      </a:pPr>
                      <a:r>
                        <a:rPr lang="en-US" sz="1200" dirty="0">
                          <a:solidFill>
                            <a:schemeClr val="tx1"/>
                          </a:solidFill>
                          <a:effectLst/>
                          <a:latin typeface="Times New Roman" panose="02020603050405020304" pitchFamily="18" charset="0"/>
                          <a:ea typeface="Calibri" panose="020F0502020204030204" pitchFamily="34" charset="0"/>
                        </a:rPr>
                        <a:t>Total Headcount</a:t>
                      </a: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rPr>
                        <a:t>174</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Calibri" panose="020F0502020204030204"/>
                          <a:ea typeface="Calibri" panose="020F0502020204030204" pitchFamily="34" charset="0"/>
                          <a:cs typeface="+mn-cs"/>
                        </a:rPr>
                        <a:t>173</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Calibri" panose="020F0502020204030204"/>
                          <a:ea typeface="Calibri" panose="020F0502020204030204" pitchFamily="34" charset="0"/>
                          <a:cs typeface="+mn-cs"/>
                        </a:rPr>
                        <a:t>173</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Calibri" panose="020F0502020204030204"/>
                          <a:ea typeface="Calibri" panose="020F0502020204030204" pitchFamily="34" charset="0"/>
                          <a:cs typeface="+mn-cs"/>
                        </a:rPr>
                        <a:t>176</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200" b="1" i="0" u="none" strike="noStrike" kern="1200" cap="none" spc="0" normalizeH="0" baseline="0" noProof="0" dirty="0">
                        <a:ln>
                          <a:noFill/>
                        </a:ln>
                        <a:solidFill>
                          <a:schemeClr val="tx1"/>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200" b="1" i="0" u="none" strike="noStrike" kern="1200" cap="none" spc="0" normalizeH="0" baseline="0" noProof="0" dirty="0">
                        <a:ln>
                          <a:noFill/>
                        </a:ln>
                        <a:solidFill>
                          <a:schemeClr val="tx1"/>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176</a:t>
                      </a:r>
                    </a:p>
                  </a:txBody>
                  <a:tcPr marL="68580" marR="68580" marT="0" marB="0">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a:noFill/>
                    </a:lnB>
                    <a:solidFill>
                      <a:srgbClr val="E5EAEE"/>
                    </a:solidFill>
                  </a:tcPr>
                </a:tc>
                <a:extLst>
                  <a:ext uri="{0D108BD9-81ED-4DB2-BD59-A6C34878D82A}">
                    <a16:rowId xmlns:a16="http://schemas.microsoft.com/office/drawing/2014/main" val="1940347217"/>
                  </a:ext>
                </a:extLst>
              </a:tr>
            </a:tbl>
          </a:graphicData>
        </a:graphic>
      </p:graphicFrame>
      <p:graphicFrame>
        <p:nvGraphicFramePr>
          <p:cNvPr id="7" name="Table 6">
            <a:extLst>
              <a:ext uri="{FF2B5EF4-FFF2-40B4-BE49-F238E27FC236}">
                <a16:creationId xmlns:a16="http://schemas.microsoft.com/office/drawing/2014/main" id="{B53F4A9A-E787-5A0E-257C-9C563BAFA292}"/>
              </a:ext>
            </a:extLst>
          </p:cNvPr>
          <p:cNvGraphicFramePr>
            <a:graphicFrameLocks noGrp="1"/>
          </p:cNvGraphicFramePr>
          <p:nvPr>
            <p:extLst>
              <p:ext uri="{D42A27DB-BD31-4B8C-83A1-F6EECF244321}">
                <p14:modId xmlns:p14="http://schemas.microsoft.com/office/powerpoint/2010/main" val="2802152966"/>
              </p:ext>
            </p:extLst>
          </p:nvPr>
        </p:nvGraphicFramePr>
        <p:xfrm>
          <a:off x="387562" y="4417737"/>
          <a:ext cx="10644188" cy="401704"/>
        </p:xfrm>
        <a:graphic>
          <a:graphicData uri="http://schemas.openxmlformats.org/drawingml/2006/table">
            <a:tbl>
              <a:tblPr firstRow="1" firstCol="1" bandRow="1"/>
              <a:tblGrid>
                <a:gridCol w="10644188">
                  <a:extLst>
                    <a:ext uri="{9D8B030D-6E8A-4147-A177-3AD203B41FA5}">
                      <a16:colId xmlns:a16="http://schemas.microsoft.com/office/drawing/2014/main" val="210152188"/>
                    </a:ext>
                  </a:extLst>
                </a:gridCol>
              </a:tblGrid>
              <a:tr h="249304">
                <a:tc>
                  <a:txBody>
                    <a:bodyPr/>
                    <a:lstStyle/>
                    <a:p>
                      <a:pPr marL="457200" marR="0" lvl="1" indent="0">
                        <a:spcBef>
                          <a:spcPts val="200"/>
                        </a:spcBef>
                        <a:spcAft>
                          <a:spcPts val="0"/>
                        </a:spcAft>
                        <a:buFont typeface="+mj-lt"/>
                        <a:buNone/>
                      </a:pPr>
                      <a:r>
                        <a:rPr lang="en-US" sz="1000" b="1" dirty="0">
                          <a:solidFill>
                            <a:srgbClr val="595959"/>
                          </a:solidFill>
                          <a:effectLst/>
                          <a:latin typeface="Franklin Gothic Book" panose="020B0503020102020204" pitchFamily="34" charset="0"/>
                          <a:ea typeface="Times New Roman" panose="02020603050405020304" pitchFamily="18" charset="0"/>
                          <a:cs typeface="Times New Roman" panose="02020603050405020304" pitchFamily="18" charset="0"/>
                        </a:rPr>
                        <a:t>6. Leaves</a:t>
                      </a:r>
                      <a:endParaRPr lang="en-US" sz="1000" b="1" dirty="0">
                        <a:solidFill>
                          <a:srgbClr val="595959"/>
                        </a:solidFill>
                        <a:effectLst/>
                        <a:latin typeface="Franklin Gothic Book" panose="020B0503020102020204" pitchFamily="34" charset="0"/>
                        <a:ea typeface="Franklin Gothic Book" panose="020B0503020102020204" pitchFamily="34" charset="0"/>
                        <a:cs typeface="Times New Roman" panose="02020603050405020304" pitchFamily="18" charset="0"/>
                      </a:endParaRPr>
                    </a:p>
                  </a:txBody>
                  <a:tcPr marL="0" marR="0" marT="0" marB="0" anchor="b">
                    <a:lnL>
                      <a:noFill/>
                    </a:lnL>
                    <a:lnR>
                      <a:noFill/>
                    </a:lnR>
                    <a:lnT>
                      <a:noFill/>
                    </a:lnT>
                    <a:lnB w="28575" cap="flat" cmpd="sng" algn="ctr">
                      <a:solidFill>
                        <a:srgbClr val="FEDE00"/>
                      </a:solidFill>
                      <a:prstDash val="solid"/>
                      <a:round/>
                      <a:headEnd type="none" w="med" len="med"/>
                      <a:tailEnd type="none" w="med" len="med"/>
                    </a:lnB>
                    <a:noFill/>
                  </a:tcPr>
                </a:tc>
                <a:extLst>
                  <a:ext uri="{0D108BD9-81ED-4DB2-BD59-A6C34878D82A}">
                    <a16:rowId xmlns:a16="http://schemas.microsoft.com/office/drawing/2014/main" val="1763328110"/>
                  </a:ext>
                </a:extLst>
              </a:tr>
              <a:tr h="83217">
                <a:tc>
                  <a:txBody>
                    <a:bodyPr/>
                    <a:lstStyle/>
                    <a:p>
                      <a:pPr marL="0" marR="0">
                        <a:spcBef>
                          <a:spcPts val="200"/>
                        </a:spcBef>
                        <a:spcAft>
                          <a:spcPts val="0"/>
                        </a:spcAft>
                      </a:pPr>
                      <a:r>
                        <a:rPr lang="en-US" sz="1000" kern="1000" dirty="0">
                          <a:solidFill>
                            <a:srgbClr val="595959"/>
                          </a:solidFill>
                          <a:effectLst/>
                          <a:latin typeface="Calibri" panose="020F0502020204030204" pitchFamily="34" charset="0"/>
                          <a:ea typeface="Franklin Gothic Book" panose="020B0503020102020204" pitchFamily="34" charset="0"/>
                        </a:rPr>
                        <a:t> </a:t>
                      </a:r>
                      <a:endParaRPr lang="en-US" sz="1200" dirty="0">
                        <a:solidFill>
                          <a:srgbClr val="595959"/>
                        </a:solidFill>
                        <a:effectLst/>
                        <a:latin typeface="Times New Roman" panose="02020603050405020304" pitchFamily="18" charset="0"/>
                        <a:ea typeface="Calibri" panose="020F0502020204030204" pitchFamily="34" charset="0"/>
                      </a:endParaRPr>
                    </a:p>
                  </a:txBody>
                  <a:tcPr marL="0" marR="0" marT="0" marB="0" anchor="ctr">
                    <a:lnL>
                      <a:noFill/>
                    </a:lnL>
                    <a:lnR>
                      <a:noFill/>
                    </a:lnR>
                    <a:lnT w="28575" cap="flat" cmpd="sng" algn="ctr">
                      <a:solidFill>
                        <a:srgbClr val="FEDE00"/>
                      </a:solidFill>
                      <a:prstDash val="solid"/>
                      <a:round/>
                      <a:headEnd type="none" w="med" len="med"/>
                      <a:tailEnd type="none" w="med" len="med"/>
                    </a:lnT>
                    <a:lnB>
                      <a:noFill/>
                    </a:lnB>
                    <a:noFill/>
                  </a:tcPr>
                </a:tc>
                <a:extLst>
                  <a:ext uri="{0D108BD9-81ED-4DB2-BD59-A6C34878D82A}">
                    <a16:rowId xmlns:a16="http://schemas.microsoft.com/office/drawing/2014/main" val="3059038139"/>
                  </a:ext>
                </a:extLst>
              </a:tr>
            </a:tbl>
          </a:graphicData>
        </a:graphic>
      </p:graphicFrame>
      <p:graphicFrame>
        <p:nvGraphicFramePr>
          <p:cNvPr id="8" name="Table 7">
            <a:extLst>
              <a:ext uri="{FF2B5EF4-FFF2-40B4-BE49-F238E27FC236}">
                <a16:creationId xmlns:a16="http://schemas.microsoft.com/office/drawing/2014/main" id="{48BBF804-C484-74AC-3D1B-B9B8FB5E972A}"/>
              </a:ext>
            </a:extLst>
          </p:cNvPr>
          <p:cNvGraphicFramePr>
            <a:graphicFrameLocks noGrp="1"/>
          </p:cNvGraphicFramePr>
          <p:nvPr>
            <p:extLst>
              <p:ext uri="{D42A27DB-BD31-4B8C-83A1-F6EECF244321}">
                <p14:modId xmlns:p14="http://schemas.microsoft.com/office/powerpoint/2010/main" val="1061238416"/>
              </p:ext>
            </p:extLst>
          </p:nvPr>
        </p:nvGraphicFramePr>
        <p:xfrm>
          <a:off x="381631" y="4682346"/>
          <a:ext cx="10932585" cy="1233380"/>
        </p:xfrm>
        <a:graphic>
          <a:graphicData uri="http://schemas.openxmlformats.org/drawingml/2006/table">
            <a:tbl>
              <a:tblPr firstRow="1" firstCol="1" bandRow="1"/>
              <a:tblGrid>
                <a:gridCol w="1996185">
                  <a:extLst>
                    <a:ext uri="{9D8B030D-6E8A-4147-A177-3AD203B41FA5}">
                      <a16:colId xmlns:a16="http://schemas.microsoft.com/office/drawing/2014/main" val="3348371372"/>
                    </a:ext>
                  </a:extLst>
                </a:gridCol>
                <a:gridCol w="640785">
                  <a:extLst>
                    <a:ext uri="{9D8B030D-6E8A-4147-A177-3AD203B41FA5}">
                      <a16:colId xmlns:a16="http://schemas.microsoft.com/office/drawing/2014/main" val="1450889388"/>
                    </a:ext>
                  </a:extLst>
                </a:gridCol>
                <a:gridCol w="736441">
                  <a:extLst>
                    <a:ext uri="{9D8B030D-6E8A-4147-A177-3AD203B41FA5}">
                      <a16:colId xmlns:a16="http://schemas.microsoft.com/office/drawing/2014/main" val="636406347"/>
                    </a:ext>
                  </a:extLst>
                </a:gridCol>
                <a:gridCol w="611656">
                  <a:extLst>
                    <a:ext uri="{9D8B030D-6E8A-4147-A177-3AD203B41FA5}">
                      <a16:colId xmlns:a16="http://schemas.microsoft.com/office/drawing/2014/main" val="499126626"/>
                    </a:ext>
                  </a:extLst>
                </a:gridCol>
                <a:gridCol w="727162">
                  <a:extLst>
                    <a:ext uri="{9D8B030D-6E8A-4147-A177-3AD203B41FA5}">
                      <a16:colId xmlns:a16="http://schemas.microsoft.com/office/drawing/2014/main" val="1373835793"/>
                    </a:ext>
                  </a:extLst>
                </a:gridCol>
                <a:gridCol w="716831">
                  <a:extLst>
                    <a:ext uri="{9D8B030D-6E8A-4147-A177-3AD203B41FA5}">
                      <a16:colId xmlns:a16="http://schemas.microsoft.com/office/drawing/2014/main" val="396988970"/>
                    </a:ext>
                  </a:extLst>
                </a:gridCol>
                <a:gridCol w="724199">
                  <a:extLst>
                    <a:ext uri="{9D8B030D-6E8A-4147-A177-3AD203B41FA5}">
                      <a16:colId xmlns:a16="http://schemas.microsoft.com/office/drawing/2014/main" val="3277065871"/>
                    </a:ext>
                  </a:extLst>
                </a:gridCol>
                <a:gridCol w="727553">
                  <a:extLst>
                    <a:ext uri="{9D8B030D-6E8A-4147-A177-3AD203B41FA5}">
                      <a16:colId xmlns:a16="http://schemas.microsoft.com/office/drawing/2014/main" val="2346397147"/>
                    </a:ext>
                  </a:extLst>
                </a:gridCol>
                <a:gridCol w="828364">
                  <a:extLst>
                    <a:ext uri="{9D8B030D-6E8A-4147-A177-3AD203B41FA5}">
                      <a16:colId xmlns:a16="http://schemas.microsoft.com/office/drawing/2014/main" val="4208426689"/>
                    </a:ext>
                  </a:extLst>
                </a:gridCol>
                <a:gridCol w="630715">
                  <a:extLst>
                    <a:ext uri="{9D8B030D-6E8A-4147-A177-3AD203B41FA5}">
                      <a16:colId xmlns:a16="http://schemas.microsoft.com/office/drawing/2014/main" val="3876495877"/>
                    </a:ext>
                  </a:extLst>
                </a:gridCol>
                <a:gridCol w="636021">
                  <a:extLst>
                    <a:ext uri="{9D8B030D-6E8A-4147-A177-3AD203B41FA5}">
                      <a16:colId xmlns:a16="http://schemas.microsoft.com/office/drawing/2014/main" val="2325644477"/>
                    </a:ext>
                  </a:extLst>
                </a:gridCol>
                <a:gridCol w="647873">
                  <a:extLst>
                    <a:ext uri="{9D8B030D-6E8A-4147-A177-3AD203B41FA5}">
                      <a16:colId xmlns:a16="http://schemas.microsoft.com/office/drawing/2014/main" val="4182878001"/>
                    </a:ext>
                  </a:extLst>
                </a:gridCol>
                <a:gridCol w="654400">
                  <a:extLst>
                    <a:ext uri="{9D8B030D-6E8A-4147-A177-3AD203B41FA5}">
                      <a16:colId xmlns:a16="http://schemas.microsoft.com/office/drawing/2014/main" val="1120712521"/>
                    </a:ext>
                  </a:extLst>
                </a:gridCol>
                <a:gridCol w="654400">
                  <a:extLst>
                    <a:ext uri="{9D8B030D-6E8A-4147-A177-3AD203B41FA5}">
                      <a16:colId xmlns:a16="http://schemas.microsoft.com/office/drawing/2014/main" val="1453678237"/>
                    </a:ext>
                  </a:extLst>
                </a:gridCol>
              </a:tblGrid>
              <a:tr h="246676">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Times New Roman" panose="02020603050405020304" pitchFamily="18" charset="0"/>
                        </a:rPr>
                        <a:t> Balance</a:t>
                      </a:r>
                      <a:endParaRPr lang="en-US" sz="1200" dirty="0">
                        <a:solidFill>
                          <a:srgbClr val="FFFFFF"/>
                        </a:solidFill>
                        <a:effectLst/>
                        <a:highlight>
                          <a:srgbClr val="943634"/>
                        </a:highlight>
                        <a:latin typeface="Times New Roman" panose="02020603050405020304" pitchFamily="18" charset="0"/>
                        <a:ea typeface="Calibri" panose="020F0502020204030204" pitchFamily="34" charset="0"/>
                      </a:endParaRPr>
                    </a:p>
                  </a:txBody>
                  <a:tcPr marL="68580" marR="68580" marT="0" marB="0" anchor="ctr">
                    <a:lnL>
                      <a:noFill/>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MAR 26</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Times New Roman" panose="02020603050405020304" pitchFamily="18" charset="0"/>
                        </a:rPr>
                        <a:t>Apr</a:t>
                      </a:r>
                      <a:endParaRPr lang="en-US" sz="1200" dirty="0">
                        <a:solidFill>
                          <a:srgbClr val="FFFFFF"/>
                        </a:solidFill>
                        <a:effectLst/>
                        <a:highlight>
                          <a:srgbClr val="943634"/>
                        </a:highlight>
                        <a:latin typeface="Times New Roman" panose="02020603050405020304" pitchFamily="18" charset="0"/>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MAY</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JUN</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JUL</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AUG</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SEP</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OCT</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NOV</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DEC</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JAN</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FEB</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MAR</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extLst>
                  <a:ext uri="{0D108BD9-81ED-4DB2-BD59-A6C34878D82A}">
                    <a16:rowId xmlns:a16="http://schemas.microsoft.com/office/drawing/2014/main" val="2014392835"/>
                  </a:ext>
                </a:extLst>
              </a:tr>
              <a:tr h="246676">
                <a:tc>
                  <a:txBody>
                    <a:bodyPr/>
                    <a:lstStyle/>
                    <a:p>
                      <a:pPr marL="0" marR="8890">
                        <a:spcBef>
                          <a:spcPts val="200"/>
                        </a:spcBef>
                        <a:spcAft>
                          <a:spcPts val="200"/>
                        </a:spcAft>
                      </a:pPr>
                      <a:r>
                        <a:rPr lang="en-US" sz="1000" kern="1000" dirty="0">
                          <a:solidFill>
                            <a:srgbClr val="000000"/>
                          </a:solidFill>
                          <a:effectLst/>
                          <a:latin typeface="Calibri" panose="020F0502020204030204" pitchFamily="34" charset="0"/>
                          <a:ea typeface="Franklin Gothic Book" panose="020B0503020102020204" pitchFamily="34" charset="0"/>
                        </a:rPr>
                        <a:t>Plant (Average Days) </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16</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17</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17</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17</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097619930"/>
                  </a:ext>
                </a:extLst>
              </a:tr>
              <a:tr h="246676">
                <a:tc>
                  <a:txBody>
                    <a:bodyPr/>
                    <a:lstStyle/>
                    <a:p>
                      <a:pPr marL="0" marR="8890">
                        <a:spcBef>
                          <a:spcPts val="200"/>
                        </a:spcBef>
                        <a:spcAft>
                          <a:spcPts val="200"/>
                        </a:spcAft>
                      </a:pPr>
                      <a:r>
                        <a:rPr lang="en-US" sz="1000" kern="1000" dirty="0">
                          <a:solidFill>
                            <a:srgbClr val="000000"/>
                          </a:solidFill>
                          <a:effectLst/>
                          <a:latin typeface="Calibri" panose="020F0502020204030204" pitchFamily="34" charset="0"/>
                          <a:ea typeface="Franklin Gothic Book" panose="020B0503020102020204" pitchFamily="34" charset="0"/>
                        </a:rPr>
                        <a:t>HQ and Region (Average Days)</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kern="1200" dirty="0">
                          <a:solidFill>
                            <a:schemeClr val="tx1"/>
                          </a:solidFill>
                          <a:effectLst/>
                          <a:latin typeface="+mn-lt"/>
                          <a:ea typeface="Calibri" panose="020F0502020204030204" pitchFamily="34" charset="0"/>
                          <a:cs typeface="+mn-cs"/>
                        </a:rPr>
                        <a:t>22</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21</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22</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23</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697241006"/>
                  </a:ext>
                </a:extLst>
              </a:tr>
              <a:tr h="246676">
                <a:tc>
                  <a:txBody>
                    <a:bodyPr/>
                    <a:lstStyle/>
                    <a:p>
                      <a:pPr marL="0" marR="8890">
                        <a:spcBef>
                          <a:spcPts val="200"/>
                        </a:spcBef>
                        <a:spcAft>
                          <a:spcPts val="200"/>
                        </a:spcAft>
                      </a:pPr>
                      <a:r>
                        <a:rPr lang="en-US" sz="1000" b="0" dirty="0" err="1">
                          <a:solidFill>
                            <a:schemeClr val="tx1"/>
                          </a:solidFill>
                          <a:effectLst/>
                          <a:latin typeface="+mn-lt"/>
                          <a:ea typeface="Calibri" panose="020F0502020204030204" pitchFamily="34" charset="0"/>
                        </a:rPr>
                        <a:t>Lubudi</a:t>
                      </a:r>
                      <a:r>
                        <a:rPr lang="en-US" sz="1000" b="0" dirty="0">
                          <a:solidFill>
                            <a:schemeClr val="tx1"/>
                          </a:solidFill>
                          <a:effectLst/>
                          <a:latin typeface="+mn-lt"/>
                          <a:ea typeface="Calibri" panose="020F0502020204030204" pitchFamily="34" charset="0"/>
                        </a:rPr>
                        <a:t> </a:t>
                      </a:r>
                      <a:r>
                        <a:rPr lang="en-US" sz="1000" kern="1000" dirty="0">
                          <a:solidFill>
                            <a:srgbClr val="000000"/>
                          </a:solidFill>
                          <a:effectLst/>
                          <a:latin typeface="Calibri" panose="020F0502020204030204" pitchFamily="34" charset="0"/>
                          <a:ea typeface="Franklin Gothic Book" panose="020B0503020102020204" pitchFamily="34" charset="0"/>
                        </a:rPr>
                        <a:t>(Average Days)</a:t>
                      </a:r>
                      <a:endParaRPr lang="en-US" sz="1000" b="0" dirty="0">
                        <a:solidFill>
                          <a:schemeClr val="tx1"/>
                        </a:solidFill>
                        <a:effectLst/>
                        <a:latin typeface="+mn-lt"/>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kern="1200" dirty="0">
                          <a:solidFill>
                            <a:schemeClr val="tx1"/>
                          </a:solidFill>
                          <a:effectLst/>
                          <a:latin typeface="+mn-lt"/>
                          <a:ea typeface="Calibri" panose="020F0502020204030204" pitchFamily="34" charset="0"/>
                          <a:cs typeface="+mn-cs"/>
                        </a:rPr>
                        <a:t>6</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lumMod val="50000"/>
                        <a:lumOff val="50000"/>
                      </a:schemeClr>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rPr>
                        <a:t>7</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9</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7</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highlight>
                          <a:srgbClr val="E5EAEE"/>
                        </a:highligh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highlight>
                          <a:srgbClr val="E5EAEE"/>
                        </a:highligh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defTabSz="914400" rtl="0" eaLnBrk="1" latinLnBrk="0" hangingPunct="1">
                        <a:spcBef>
                          <a:spcPts val="200"/>
                        </a:spcBef>
                        <a:spcAft>
                          <a:spcPts val="200"/>
                        </a:spcAft>
                      </a:pPr>
                      <a:endParaRPr lang="en-US" sz="1200" b="1" kern="1200" dirty="0">
                        <a:solidFill>
                          <a:schemeClr val="tx1"/>
                        </a:solidFill>
                        <a:effectLst/>
                        <a:latin typeface="+mn-lt"/>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defTabSz="914400" rtl="0" eaLnBrk="1" latinLnBrk="0" hangingPunct="1">
                        <a:spcBef>
                          <a:spcPts val="200"/>
                        </a:spcBef>
                        <a:spcAft>
                          <a:spcPts val="200"/>
                        </a:spcAft>
                      </a:pPr>
                      <a:endParaRPr lang="en-US" sz="1200" b="1" kern="1200" dirty="0">
                        <a:solidFill>
                          <a:schemeClr val="tx1"/>
                        </a:solidFill>
                        <a:effectLst/>
                        <a:latin typeface="+mn-lt"/>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defTabSz="914400" rtl="0" eaLnBrk="1" latinLnBrk="0" hangingPunct="1">
                        <a:spcBef>
                          <a:spcPts val="200"/>
                        </a:spcBef>
                        <a:spcAft>
                          <a:spcPts val="200"/>
                        </a:spcAft>
                      </a:pPr>
                      <a:endParaRPr lang="en-US" sz="1200" b="1" kern="1200" dirty="0">
                        <a:solidFill>
                          <a:schemeClr val="tx1"/>
                        </a:solidFill>
                        <a:effectLst/>
                        <a:latin typeface="+mn-lt"/>
                        <a:ea typeface="Calibri" panose="020F0502020204030204" pitchFamily="34" charset="0"/>
                        <a:cs typeface="+mn-cs"/>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1498969290"/>
                  </a:ext>
                </a:extLst>
              </a:tr>
              <a:tr h="246676">
                <a:tc>
                  <a:txBody>
                    <a:bodyPr/>
                    <a:lstStyle/>
                    <a:p>
                      <a:pPr marL="0" marR="8890">
                        <a:spcBef>
                          <a:spcPts val="200"/>
                        </a:spcBef>
                        <a:spcAft>
                          <a:spcPts val="200"/>
                        </a:spcAft>
                      </a:pPr>
                      <a:r>
                        <a:rPr lang="en-US" sz="1000" kern="1000" dirty="0">
                          <a:solidFill>
                            <a:srgbClr val="000000"/>
                          </a:solidFill>
                          <a:effectLst/>
                          <a:latin typeface="Calibri" panose="020F0502020204030204" pitchFamily="34" charset="0"/>
                          <a:ea typeface="Franklin Gothic Book" panose="020B0503020102020204" pitchFamily="34" charset="0"/>
                        </a:rPr>
                        <a:t>All Company (Average Days)</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18</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lvl="0" indent="0" algn="ctr" defTabSz="914400" rtl="0" eaLnBrk="1" fontAlgn="auto" latinLnBrk="0" hangingPunct="1">
                        <a:lnSpc>
                          <a:spcPct val="100000"/>
                        </a:lnSpc>
                        <a:spcBef>
                          <a:spcPts val="200"/>
                        </a:spcBef>
                        <a:spcAft>
                          <a:spcPts val="20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mn-cs"/>
                        </a:rPr>
                        <a:t>18</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18</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19</a:t>
                      </a: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marL="0" marR="8890" algn="ctr">
                        <a:spcBef>
                          <a:spcPts val="200"/>
                        </a:spcBef>
                        <a:spcAft>
                          <a:spcPts val="200"/>
                        </a:spcAft>
                      </a:pPr>
                      <a:endParaRPr lang="en-US" sz="1200" b="1"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extLst>
                  <a:ext uri="{0D108BD9-81ED-4DB2-BD59-A6C34878D82A}">
                    <a16:rowId xmlns:a16="http://schemas.microsoft.com/office/drawing/2014/main" val="4246798925"/>
                  </a:ext>
                </a:extLst>
              </a:tr>
            </a:tbl>
          </a:graphicData>
        </a:graphic>
      </p:graphicFrame>
      <p:sp>
        <p:nvSpPr>
          <p:cNvPr id="4" name="Title 6">
            <a:extLst>
              <a:ext uri="{FF2B5EF4-FFF2-40B4-BE49-F238E27FC236}">
                <a16:creationId xmlns:a16="http://schemas.microsoft.com/office/drawing/2014/main" id="{AC029841-56A7-4B39-05C3-97523F7CF2F3}"/>
              </a:ext>
            </a:extLst>
          </p:cNvPr>
          <p:cNvSpPr>
            <a:spLocks noGrp="1"/>
          </p:cNvSpPr>
          <p:nvPr/>
        </p:nvSpPr>
        <p:spPr>
          <a:xfrm>
            <a:off x="430062" y="2829436"/>
            <a:ext cx="3647062" cy="310743"/>
          </a:xfrm>
          <a:prstGeom prst="rect">
            <a:avLst/>
          </a:prstGeom>
          <a:solidFill>
            <a:schemeClr val="accent1">
              <a:lumMod val="50000"/>
            </a:schemeClr>
          </a:solidFill>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rtlCol="0" anchor="b">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algn="ctr" eaLnBrk="0" fontAlgn="base" hangingPunct="0">
              <a:lnSpc>
                <a:spcPct val="150000"/>
              </a:lnSpc>
              <a:spcBef>
                <a:spcPts val="0"/>
              </a:spcBef>
              <a:spcAft>
                <a:spcPts val="0"/>
              </a:spcAft>
            </a:pPr>
            <a:r>
              <a:rPr lang="en-GB" b="1" dirty="0">
                <a:solidFill>
                  <a:schemeClr val="bg1"/>
                </a:solidFill>
                <a:effectLst>
                  <a:outerShdw blurRad="38100" dist="38100" dir="2700000" algn="tl">
                    <a:srgbClr val="000000">
                      <a:alpha val="43000"/>
                    </a:srgbClr>
                  </a:outerShdw>
                </a:effectLst>
                <a:ea typeface="Calibri" panose="020F0502020204030204" pitchFamily="34" charset="0"/>
                <a:cs typeface="Times New Roman" panose="02020603050405020304" pitchFamily="18" charset="0"/>
              </a:rPr>
              <a:t>Age Distribution (Average Age : </a:t>
            </a:r>
            <a:r>
              <a:rPr lang="en-GB" b="1" dirty="0">
                <a:solidFill>
                  <a:srgbClr val="FFFF00"/>
                </a:solidFill>
                <a:effectLst>
                  <a:outerShdw blurRad="38100" dist="38100" dir="2700000" algn="tl">
                    <a:srgbClr val="000000">
                      <a:alpha val="43000"/>
                    </a:srgbClr>
                  </a:outerShdw>
                </a:effectLst>
                <a:ea typeface="Calibri" panose="020F0502020204030204" pitchFamily="34" charset="0"/>
                <a:cs typeface="Times New Roman" panose="02020603050405020304" pitchFamily="18" charset="0"/>
              </a:rPr>
              <a:t>39.9 years old</a:t>
            </a:r>
            <a:r>
              <a:rPr lang="en-GB" b="1" dirty="0">
                <a:solidFill>
                  <a:schemeClr val="bg1"/>
                </a:solidFill>
                <a:effectLst>
                  <a:outerShdw blurRad="38100" dist="38100" dir="2700000" algn="tl">
                    <a:srgbClr val="000000">
                      <a:alpha val="43000"/>
                    </a:srgbClr>
                  </a:outerShdw>
                </a:effectLst>
                <a:ea typeface="Calibri" panose="020F0502020204030204" pitchFamily="34" charset="0"/>
                <a:cs typeface="Times New Roman" panose="02020603050405020304" pitchFamily="18" charset="0"/>
              </a:rPr>
              <a:t>)</a:t>
            </a:r>
            <a:endParaRPr lang="en-US" sz="1100" dirty="0">
              <a:solidFill>
                <a:schemeClr val="bg1"/>
              </a:solidFill>
              <a:effectLst/>
              <a:ea typeface="Calibri" panose="020F0502020204030204" pitchFamily="34" charset="0"/>
              <a:cs typeface="Times New Roman" panose="02020603050405020304" pitchFamily="18" charset="0"/>
            </a:endParaRPr>
          </a:p>
        </p:txBody>
      </p:sp>
      <p:sp>
        <p:nvSpPr>
          <p:cNvPr id="5" name="Title 6">
            <a:extLst>
              <a:ext uri="{FF2B5EF4-FFF2-40B4-BE49-F238E27FC236}">
                <a16:creationId xmlns:a16="http://schemas.microsoft.com/office/drawing/2014/main" id="{2AFCF68D-9588-0800-933A-09EC00BC2939}"/>
              </a:ext>
            </a:extLst>
          </p:cNvPr>
          <p:cNvSpPr>
            <a:spLocks noGrp="1"/>
          </p:cNvSpPr>
          <p:nvPr/>
        </p:nvSpPr>
        <p:spPr>
          <a:xfrm>
            <a:off x="4405815" y="2825317"/>
            <a:ext cx="3508074" cy="310742"/>
          </a:xfrm>
          <a:prstGeom prst="rect">
            <a:avLst/>
          </a:prstGeom>
          <a:ln/>
        </p:spPr>
        <p:style>
          <a:lnRef idx="0">
            <a:schemeClr val="accent2"/>
          </a:lnRef>
          <a:fillRef idx="3">
            <a:schemeClr val="accent2"/>
          </a:fillRef>
          <a:effectRef idx="3">
            <a:schemeClr val="accent2"/>
          </a:effectRef>
          <a:fontRef idx="minor">
            <a:schemeClr val="lt1"/>
          </a:fontRef>
        </p:style>
        <p:txBody>
          <a:bodyPr vert="horz" wrap="square" lIns="91440" tIns="45720" rIns="91440" bIns="45720" rtlCol="0" anchor="b">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algn="ctr" eaLnBrk="0" fontAlgn="base" hangingPunct="0">
              <a:lnSpc>
                <a:spcPct val="150000"/>
              </a:lnSpc>
              <a:spcBef>
                <a:spcPts val="0"/>
              </a:spcBef>
              <a:spcAft>
                <a:spcPts val="0"/>
              </a:spcAft>
            </a:pPr>
            <a:r>
              <a:rPr lang="en-GB" b="1" dirty="0">
                <a:solidFill>
                  <a:schemeClr val="bg1"/>
                </a:solidFill>
                <a:effectLst>
                  <a:outerShdw blurRad="38100" dist="38100" dir="2700000" algn="tl">
                    <a:srgbClr val="000000">
                      <a:alpha val="43000"/>
                    </a:srgbClr>
                  </a:outerShdw>
                </a:effectLst>
                <a:ea typeface="Calibri" panose="020F0502020204030204" pitchFamily="34" charset="0"/>
                <a:cs typeface="Times New Roman" panose="02020603050405020304" pitchFamily="18" charset="0"/>
              </a:rPr>
              <a:t>Length of Service (Average: </a:t>
            </a:r>
            <a:r>
              <a:rPr lang="en-GB" b="1" dirty="0">
                <a:solidFill>
                  <a:srgbClr val="FFFF00"/>
                </a:solidFill>
                <a:effectLst>
                  <a:outerShdw blurRad="38100" dist="38100" dir="2700000" algn="tl">
                    <a:srgbClr val="000000">
                      <a:alpha val="43000"/>
                    </a:srgbClr>
                  </a:outerShdw>
                </a:effectLst>
                <a:ea typeface="Calibri" panose="020F0502020204030204" pitchFamily="34" charset="0"/>
                <a:cs typeface="Times New Roman" panose="02020603050405020304" pitchFamily="18" charset="0"/>
              </a:rPr>
              <a:t>5.68 years</a:t>
            </a:r>
            <a:r>
              <a:rPr lang="en-GB" b="1" dirty="0">
                <a:solidFill>
                  <a:schemeClr val="bg1"/>
                </a:solidFill>
                <a:effectLst>
                  <a:outerShdw blurRad="38100" dist="38100" dir="2700000" algn="tl">
                    <a:srgbClr val="000000">
                      <a:alpha val="43000"/>
                    </a:srgbClr>
                  </a:outerShdw>
                </a:effectLst>
                <a:ea typeface="Calibri" panose="020F0502020204030204" pitchFamily="34" charset="0"/>
                <a:cs typeface="Times New Roman" panose="02020603050405020304" pitchFamily="18" charset="0"/>
              </a:rPr>
              <a:t>)</a:t>
            </a:r>
            <a:endParaRPr lang="en-US" sz="1100" dirty="0">
              <a:solidFill>
                <a:schemeClr val="bg1"/>
              </a:solidFill>
              <a:effectLst/>
              <a:ea typeface="Calibri" panose="020F0502020204030204" pitchFamily="34" charset="0"/>
              <a:cs typeface="Times New Roman" panose="02020603050405020304" pitchFamily="18" charset="0"/>
            </a:endParaRPr>
          </a:p>
        </p:txBody>
      </p:sp>
      <p:sp>
        <p:nvSpPr>
          <p:cNvPr id="10" name="Title 6">
            <a:extLst>
              <a:ext uri="{FF2B5EF4-FFF2-40B4-BE49-F238E27FC236}">
                <a16:creationId xmlns:a16="http://schemas.microsoft.com/office/drawing/2014/main" id="{5BA3E5E4-52BF-6F82-F082-B6D88DB26690}"/>
              </a:ext>
            </a:extLst>
          </p:cNvPr>
          <p:cNvSpPr>
            <a:spLocks noGrp="1"/>
          </p:cNvSpPr>
          <p:nvPr/>
        </p:nvSpPr>
        <p:spPr>
          <a:xfrm>
            <a:off x="8251208" y="2825316"/>
            <a:ext cx="3063004" cy="310743"/>
          </a:xfrm>
          <a:prstGeom prst="rect">
            <a:avLst/>
          </a:prstGeom>
          <a:solidFill>
            <a:schemeClr val="accent1">
              <a:lumMod val="50000"/>
            </a:schemeClr>
          </a:solidFill>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rtlCol="0" anchor="b">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algn="ctr" eaLnBrk="0" fontAlgn="base" hangingPunct="0">
              <a:lnSpc>
                <a:spcPct val="150000"/>
              </a:lnSpc>
              <a:spcBef>
                <a:spcPts val="0"/>
              </a:spcBef>
              <a:spcAft>
                <a:spcPts val="0"/>
              </a:spcAft>
            </a:pPr>
            <a:r>
              <a:rPr lang="en-GB" b="1" dirty="0">
                <a:solidFill>
                  <a:schemeClr val="bg1"/>
                </a:solidFill>
                <a:effectLst>
                  <a:outerShdw blurRad="38100" dist="38100" dir="2700000" algn="tl">
                    <a:srgbClr val="000000">
                      <a:alpha val="43000"/>
                    </a:srgbClr>
                  </a:outerShdw>
                </a:effectLst>
                <a:ea typeface="Calibri" panose="020F0502020204030204" pitchFamily="34" charset="0"/>
                <a:cs typeface="Times New Roman" panose="02020603050405020304" pitchFamily="18" charset="0"/>
              </a:rPr>
              <a:t>Departure and Termination (Total YTD : </a:t>
            </a:r>
            <a:r>
              <a:rPr lang="en-GB" b="1" dirty="0">
                <a:solidFill>
                  <a:srgbClr val="FF0000"/>
                </a:solidFill>
                <a:effectLst>
                  <a:outerShdw blurRad="38100" dist="38100" dir="2700000" algn="tl">
                    <a:srgbClr val="000000">
                      <a:alpha val="43000"/>
                    </a:srgbClr>
                  </a:outerShdw>
                </a:effectLst>
                <a:ea typeface="Calibri" panose="020F0502020204030204" pitchFamily="34" charset="0"/>
                <a:cs typeface="Times New Roman" panose="02020603050405020304" pitchFamily="18" charset="0"/>
              </a:rPr>
              <a:t>2</a:t>
            </a:r>
            <a:r>
              <a:rPr lang="en-GB" b="1" dirty="0">
                <a:solidFill>
                  <a:srgbClr val="FFC000"/>
                </a:solidFill>
                <a:effectLst>
                  <a:outerShdw blurRad="38100" dist="38100" dir="2700000" algn="tl">
                    <a:srgbClr val="000000">
                      <a:alpha val="43000"/>
                    </a:srgbClr>
                  </a:outerShdw>
                </a:effectLst>
                <a:ea typeface="Calibri" panose="020F0502020204030204" pitchFamily="34" charset="0"/>
                <a:cs typeface="Times New Roman" panose="02020603050405020304" pitchFamily="18" charset="0"/>
              </a:rPr>
              <a:t> </a:t>
            </a:r>
            <a:r>
              <a:rPr lang="en-GB" b="1" dirty="0">
                <a:solidFill>
                  <a:schemeClr val="bg1"/>
                </a:solidFill>
                <a:effectLst>
                  <a:outerShdw blurRad="38100" dist="38100" dir="2700000" algn="tl">
                    <a:srgbClr val="000000">
                      <a:alpha val="43000"/>
                    </a:srgbClr>
                  </a:outerShdw>
                </a:effectLst>
                <a:ea typeface="Calibri" panose="020F0502020204030204" pitchFamily="34" charset="0"/>
                <a:cs typeface="Times New Roman" panose="02020603050405020304" pitchFamily="18" charset="0"/>
              </a:rPr>
              <a:t>)</a:t>
            </a:r>
            <a:endParaRPr lang="en-US" sz="1100" dirty="0">
              <a:solidFill>
                <a:schemeClr val="bg1"/>
              </a:solidFill>
              <a:effectLst/>
              <a:ea typeface="Calibri" panose="020F0502020204030204" pitchFamily="34"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B47B14C8-7C33-7E2C-1F0F-51CCA2E00857}"/>
              </a:ext>
            </a:extLst>
          </p:cNvPr>
          <p:cNvGraphicFramePr>
            <a:graphicFrameLocks noGrp="1"/>
          </p:cNvGraphicFramePr>
          <p:nvPr>
            <p:extLst>
              <p:ext uri="{D42A27DB-BD31-4B8C-83A1-F6EECF244321}">
                <p14:modId xmlns:p14="http://schemas.microsoft.com/office/powerpoint/2010/main" val="3221979134"/>
              </p:ext>
            </p:extLst>
          </p:nvPr>
        </p:nvGraphicFramePr>
        <p:xfrm>
          <a:off x="413441" y="6003537"/>
          <a:ext cx="10900777" cy="403146"/>
        </p:xfrm>
        <a:graphic>
          <a:graphicData uri="http://schemas.openxmlformats.org/drawingml/2006/table">
            <a:tbl>
              <a:tblPr firstRow="1" firstCol="1" bandRow="1"/>
              <a:tblGrid>
                <a:gridCol w="2350689">
                  <a:extLst>
                    <a:ext uri="{9D8B030D-6E8A-4147-A177-3AD203B41FA5}">
                      <a16:colId xmlns:a16="http://schemas.microsoft.com/office/drawing/2014/main" val="609164087"/>
                    </a:ext>
                  </a:extLst>
                </a:gridCol>
                <a:gridCol w="674880">
                  <a:extLst>
                    <a:ext uri="{9D8B030D-6E8A-4147-A177-3AD203B41FA5}">
                      <a16:colId xmlns:a16="http://schemas.microsoft.com/office/drawing/2014/main" val="3373288211"/>
                    </a:ext>
                  </a:extLst>
                </a:gridCol>
                <a:gridCol w="674880">
                  <a:extLst>
                    <a:ext uri="{9D8B030D-6E8A-4147-A177-3AD203B41FA5}">
                      <a16:colId xmlns:a16="http://schemas.microsoft.com/office/drawing/2014/main" val="3981566364"/>
                    </a:ext>
                  </a:extLst>
                </a:gridCol>
                <a:gridCol w="674880">
                  <a:extLst>
                    <a:ext uri="{9D8B030D-6E8A-4147-A177-3AD203B41FA5}">
                      <a16:colId xmlns:a16="http://schemas.microsoft.com/office/drawing/2014/main" val="1662140840"/>
                    </a:ext>
                  </a:extLst>
                </a:gridCol>
                <a:gridCol w="674880">
                  <a:extLst>
                    <a:ext uri="{9D8B030D-6E8A-4147-A177-3AD203B41FA5}">
                      <a16:colId xmlns:a16="http://schemas.microsoft.com/office/drawing/2014/main" val="3081161070"/>
                    </a:ext>
                  </a:extLst>
                </a:gridCol>
                <a:gridCol w="617600">
                  <a:extLst>
                    <a:ext uri="{9D8B030D-6E8A-4147-A177-3AD203B41FA5}">
                      <a16:colId xmlns:a16="http://schemas.microsoft.com/office/drawing/2014/main" val="2510185707"/>
                    </a:ext>
                  </a:extLst>
                </a:gridCol>
                <a:gridCol w="633976">
                  <a:extLst>
                    <a:ext uri="{9D8B030D-6E8A-4147-A177-3AD203B41FA5}">
                      <a16:colId xmlns:a16="http://schemas.microsoft.com/office/drawing/2014/main" val="368713317"/>
                    </a:ext>
                  </a:extLst>
                </a:gridCol>
                <a:gridCol w="711693">
                  <a:extLst>
                    <a:ext uri="{9D8B030D-6E8A-4147-A177-3AD203B41FA5}">
                      <a16:colId xmlns:a16="http://schemas.microsoft.com/office/drawing/2014/main" val="198557764"/>
                    </a:ext>
                  </a:extLst>
                </a:gridCol>
                <a:gridCol w="711693">
                  <a:extLst>
                    <a:ext uri="{9D8B030D-6E8A-4147-A177-3AD203B41FA5}">
                      <a16:colId xmlns:a16="http://schemas.microsoft.com/office/drawing/2014/main" val="648700207"/>
                    </a:ext>
                  </a:extLst>
                </a:gridCol>
                <a:gridCol w="620471">
                  <a:extLst>
                    <a:ext uri="{9D8B030D-6E8A-4147-A177-3AD203B41FA5}">
                      <a16:colId xmlns:a16="http://schemas.microsoft.com/office/drawing/2014/main" val="2505331204"/>
                    </a:ext>
                  </a:extLst>
                </a:gridCol>
                <a:gridCol w="620471">
                  <a:extLst>
                    <a:ext uri="{9D8B030D-6E8A-4147-A177-3AD203B41FA5}">
                      <a16:colId xmlns:a16="http://schemas.microsoft.com/office/drawing/2014/main" val="4208985823"/>
                    </a:ext>
                  </a:extLst>
                </a:gridCol>
                <a:gridCol w="639313">
                  <a:extLst>
                    <a:ext uri="{9D8B030D-6E8A-4147-A177-3AD203B41FA5}">
                      <a16:colId xmlns:a16="http://schemas.microsoft.com/office/drawing/2014/main" val="576834241"/>
                    </a:ext>
                  </a:extLst>
                </a:gridCol>
                <a:gridCol w="674880">
                  <a:extLst>
                    <a:ext uri="{9D8B030D-6E8A-4147-A177-3AD203B41FA5}">
                      <a16:colId xmlns:a16="http://schemas.microsoft.com/office/drawing/2014/main" val="59238545"/>
                    </a:ext>
                  </a:extLst>
                </a:gridCol>
                <a:gridCol w="620471">
                  <a:extLst>
                    <a:ext uri="{9D8B030D-6E8A-4147-A177-3AD203B41FA5}">
                      <a16:colId xmlns:a16="http://schemas.microsoft.com/office/drawing/2014/main" val="3548099423"/>
                    </a:ext>
                  </a:extLst>
                </a:gridCol>
              </a:tblGrid>
              <a:tr h="201573">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Times New Roman" panose="02020603050405020304" pitchFamily="18" charset="0"/>
                        </a:rPr>
                        <a:t> COSTS (000 USD)</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nchor="ctr">
                    <a:lnL>
                      <a:noFill/>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rPr>
                        <a:t>MAR 26</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Times New Roman" panose="02020603050405020304" pitchFamily="18" charset="0"/>
                        </a:rPr>
                        <a:t>Apr</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a:solidFill>
                            <a:srgbClr val="FFFFFF"/>
                          </a:solidFill>
                          <a:effectLst/>
                          <a:latin typeface="Calibri" panose="020F0502020204030204" pitchFamily="34" charset="0"/>
                          <a:ea typeface="Calibri" panose="020F0502020204030204" pitchFamily="34" charset="0"/>
                          <a:cs typeface="+mn-cs"/>
                        </a:rPr>
                        <a:t>MAY</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a:solidFill>
                            <a:srgbClr val="FFFFFF"/>
                          </a:solidFill>
                          <a:effectLst/>
                          <a:latin typeface="Calibri" panose="020F0502020204030204" pitchFamily="34" charset="0"/>
                          <a:ea typeface="Calibri" panose="020F0502020204030204" pitchFamily="34" charset="0"/>
                          <a:cs typeface="+mn-cs"/>
                        </a:rPr>
                        <a:t>JUN</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a:solidFill>
                            <a:srgbClr val="FFFFFF"/>
                          </a:solidFill>
                          <a:effectLst/>
                          <a:latin typeface="Calibri" panose="020F0502020204030204" pitchFamily="34" charset="0"/>
                          <a:ea typeface="Calibri" panose="020F0502020204030204" pitchFamily="34" charset="0"/>
                          <a:cs typeface="+mn-cs"/>
                        </a:rPr>
                        <a:t>JUL</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a:solidFill>
                            <a:srgbClr val="FFFFFF"/>
                          </a:solidFill>
                          <a:effectLst/>
                          <a:latin typeface="Calibri" panose="020F0502020204030204" pitchFamily="34" charset="0"/>
                          <a:ea typeface="Calibri" panose="020F0502020204030204" pitchFamily="34" charset="0"/>
                          <a:cs typeface="+mn-cs"/>
                        </a:rPr>
                        <a:t>AUG</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a:solidFill>
                            <a:srgbClr val="FFFFFF"/>
                          </a:solidFill>
                          <a:effectLst/>
                          <a:latin typeface="Calibri" panose="020F0502020204030204" pitchFamily="34" charset="0"/>
                          <a:ea typeface="Calibri" panose="020F0502020204030204" pitchFamily="34" charset="0"/>
                          <a:cs typeface="+mn-cs"/>
                        </a:rPr>
                        <a:t>SEP</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a:solidFill>
                            <a:srgbClr val="FFFFFF"/>
                          </a:solidFill>
                          <a:effectLst/>
                          <a:latin typeface="Calibri" panose="020F0502020204030204" pitchFamily="34" charset="0"/>
                          <a:ea typeface="Calibri" panose="020F0502020204030204" pitchFamily="34" charset="0"/>
                          <a:cs typeface="+mn-cs"/>
                        </a:rPr>
                        <a:t>OCT</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a:solidFill>
                            <a:srgbClr val="FFFFFF"/>
                          </a:solidFill>
                          <a:effectLst/>
                          <a:latin typeface="Calibri" panose="020F0502020204030204" pitchFamily="34" charset="0"/>
                          <a:ea typeface="Calibri" panose="020F0502020204030204" pitchFamily="34" charset="0"/>
                          <a:cs typeface="+mn-cs"/>
                        </a:rPr>
                        <a:t>NOV</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a:solidFill>
                            <a:srgbClr val="FFFFFF"/>
                          </a:solidFill>
                          <a:effectLst/>
                          <a:latin typeface="Calibri" panose="020F0502020204030204" pitchFamily="34" charset="0"/>
                          <a:ea typeface="Calibri" panose="020F0502020204030204" pitchFamily="34" charset="0"/>
                          <a:cs typeface="+mn-cs"/>
                        </a:rPr>
                        <a:t>DEC</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a:solidFill>
                            <a:srgbClr val="FFFFFF"/>
                          </a:solidFill>
                          <a:effectLst/>
                          <a:latin typeface="Calibri" panose="020F0502020204030204" pitchFamily="34" charset="0"/>
                          <a:ea typeface="Calibri" panose="020F0502020204030204" pitchFamily="34" charset="0"/>
                          <a:cs typeface="+mn-cs"/>
                        </a:rPr>
                        <a:t>JAN</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a:solidFill>
                            <a:srgbClr val="FFFFFF"/>
                          </a:solidFill>
                          <a:effectLst/>
                          <a:latin typeface="Calibri" panose="020F0502020204030204" pitchFamily="34" charset="0"/>
                          <a:ea typeface="Calibri" panose="020F0502020204030204" pitchFamily="34" charset="0"/>
                          <a:cs typeface="+mn-cs"/>
                        </a:rPr>
                        <a:t>FEB</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a:solidFill>
                            <a:srgbClr val="FFFFFF"/>
                          </a:solidFill>
                          <a:effectLst/>
                          <a:latin typeface="Calibri" panose="020F0502020204030204" pitchFamily="34" charset="0"/>
                          <a:ea typeface="Calibri" panose="020F0502020204030204" pitchFamily="34" charset="0"/>
                          <a:cs typeface="+mn-cs"/>
                        </a:rPr>
                        <a:t>MAR</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extLst>
                  <a:ext uri="{0D108BD9-81ED-4DB2-BD59-A6C34878D82A}">
                    <a16:rowId xmlns:a16="http://schemas.microsoft.com/office/drawing/2014/main" val="2536029513"/>
                  </a:ext>
                </a:extLst>
              </a:tr>
              <a:tr h="201573">
                <a:tc>
                  <a:txBody>
                    <a:bodyPr/>
                    <a:lstStyle/>
                    <a:p>
                      <a:pPr marL="0" marR="8890">
                        <a:spcBef>
                          <a:spcPts val="200"/>
                        </a:spcBef>
                        <a:spcAft>
                          <a:spcPts val="200"/>
                        </a:spcAft>
                      </a:pPr>
                      <a:r>
                        <a:rPr lang="en-US" sz="1000" kern="1000" dirty="0">
                          <a:solidFill>
                            <a:srgbClr val="000000"/>
                          </a:solidFill>
                          <a:effectLst/>
                          <a:latin typeface="Calibri" panose="020F0502020204030204" pitchFamily="34" charset="0"/>
                          <a:ea typeface="Calibri" panose="020F0502020204030204" pitchFamily="34" charset="0"/>
                        </a:rPr>
                        <a:t>Provision (Leave not taken)</a:t>
                      </a:r>
                      <a:r>
                        <a:rPr lang="fr-FR" sz="1000" kern="1000" dirty="0">
                          <a:solidFill>
                            <a:srgbClr val="000000"/>
                          </a:solidFill>
                          <a:effectLst/>
                          <a:latin typeface="Calibri" panose="020F0502020204030204" pitchFamily="34" charset="0"/>
                          <a:ea typeface="Calibri" panose="020F0502020204030204" pitchFamily="34" charset="0"/>
                        </a:rPr>
                        <a:t>  </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b="1" kern="1200" dirty="0">
                          <a:solidFill>
                            <a:schemeClr val="tx1"/>
                          </a:solidFill>
                          <a:effectLst/>
                          <a:latin typeface="+mn-lt"/>
                          <a:ea typeface="Calibri" panose="020F0502020204030204" pitchFamily="34" charset="0"/>
                          <a:cs typeface="+mn-cs"/>
                        </a:rPr>
                        <a:t>377.88</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b="1" dirty="0">
                          <a:solidFill>
                            <a:schemeClr val="tx1"/>
                          </a:solidFill>
                          <a:effectLst/>
                          <a:latin typeface="+mn-lt"/>
                          <a:ea typeface="Calibri" panose="020F0502020204030204" pitchFamily="34" charset="0"/>
                        </a:rPr>
                        <a:t>391.7</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b="1" kern="1200" dirty="0">
                          <a:solidFill>
                            <a:schemeClr val="tx1"/>
                          </a:solidFill>
                          <a:effectLst/>
                          <a:latin typeface="+mn-lt"/>
                          <a:ea typeface="Calibri" panose="020F0502020204030204" pitchFamily="34" charset="0"/>
                          <a:cs typeface="+mn-cs"/>
                        </a:rPr>
                        <a:t>390.47</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b="1" kern="1200" dirty="0">
                          <a:solidFill>
                            <a:schemeClr val="tx1"/>
                          </a:solidFill>
                          <a:effectLst/>
                          <a:latin typeface="+mn-lt"/>
                          <a:ea typeface="Calibri" panose="020F0502020204030204" pitchFamily="34" charset="0"/>
                          <a:cs typeface="+mn-cs"/>
                        </a:rPr>
                        <a:t>435.85</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r" fontAlgn="b">
                        <a:buNone/>
                      </a:pPr>
                      <a:endParaRPr lang="en-US" sz="1000" b="1" kern="1200" dirty="0">
                        <a:solidFill>
                          <a:schemeClr val="tx1"/>
                        </a:solidFill>
                        <a:effectLst/>
                        <a:latin typeface="+mn-lt"/>
                        <a:cs typeface="+mn-cs"/>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r" fontAlgn="b">
                        <a:buNone/>
                      </a:pPr>
                      <a:endParaRPr lang="en-US" sz="1000" b="1"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r" defTabSz="914400" rtl="0" eaLnBrk="1" fontAlgn="b" latinLnBrk="0" hangingPunct="1">
                        <a:spcBef>
                          <a:spcPts val="200"/>
                        </a:spcBef>
                        <a:spcAft>
                          <a:spcPts val="200"/>
                        </a:spcAft>
                        <a:buNone/>
                      </a:pPr>
                      <a:endParaRPr lang="en-US" sz="1000" b="1" i="0" u="none" strike="noStrike" kern="1200" dirty="0">
                        <a:solidFill>
                          <a:schemeClr val="tx1"/>
                        </a:solidFill>
                        <a:effectLst/>
                        <a:latin typeface="Calibri" panose="020F0502020204030204" pitchFamily="34" charset="0"/>
                        <a:ea typeface="+mn-ea"/>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b="1" kern="1200" dirty="0">
                        <a:solidFill>
                          <a:schemeClr val="tx1"/>
                        </a:solidFill>
                        <a:effectLst/>
                        <a:latin typeface="+mn-lt"/>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b="1" kern="1200" dirty="0">
                        <a:solidFill>
                          <a:schemeClr val="tx1"/>
                        </a:solidFill>
                        <a:effectLst/>
                        <a:latin typeface="+mn-lt"/>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ctr"/>
                      <a:endParaRPr lang="en-US" sz="1000" b="1"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b="1" kern="1200" dirty="0">
                        <a:solidFill>
                          <a:schemeClr val="tx1"/>
                        </a:solidFill>
                        <a:effectLst/>
                        <a:latin typeface="+mn-lt"/>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b="1" kern="1200" dirty="0">
                        <a:solidFill>
                          <a:schemeClr val="tx1"/>
                        </a:solidFill>
                        <a:effectLst/>
                        <a:latin typeface="+mn-lt"/>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b="1" kern="1200" dirty="0">
                        <a:solidFill>
                          <a:schemeClr val="tx1"/>
                        </a:solidFill>
                        <a:effectLst/>
                        <a:latin typeface="+mn-lt"/>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325063228"/>
                  </a:ext>
                </a:extLst>
              </a:tr>
            </a:tbl>
          </a:graphicData>
        </a:graphic>
      </p:graphicFrame>
      <p:graphicFrame>
        <p:nvGraphicFramePr>
          <p:cNvPr id="14" name="Table 13">
            <a:extLst>
              <a:ext uri="{FF2B5EF4-FFF2-40B4-BE49-F238E27FC236}">
                <a16:creationId xmlns:a16="http://schemas.microsoft.com/office/drawing/2014/main" id="{3203FC70-3A2A-6441-A499-5DF8F8FFE799}"/>
              </a:ext>
            </a:extLst>
          </p:cNvPr>
          <p:cNvGraphicFramePr>
            <a:graphicFrameLocks noGrp="1"/>
          </p:cNvGraphicFramePr>
          <p:nvPr>
            <p:extLst>
              <p:ext uri="{D42A27DB-BD31-4B8C-83A1-F6EECF244321}">
                <p14:modId xmlns:p14="http://schemas.microsoft.com/office/powerpoint/2010/main" val="4024876480"/>
              </p:ext>
            </p:extLst>
          </p:nvPr>
        </p:nvGraphicFramePr>
        <p:xfrm>
          <a:off x="450005" y="2301565"/>
          <a:ext cx="10864208" cy="450460"/>
        </p:xfrm>
        <a:graphic>
          <a:graphicData uri="http://schemas.openxmlformats.org/drawingml/2006/table">
            <a:tbl>
              <a:tblPr firstRow="1" firstCol="1" bandRow="1"/>
              <a:tblGrid>
                <a:gridCol w="2450940">
                  <a:extLst>
                    <a:ext uri="{9D8B030D-6E8A-4147-A177-3AD203B41FA5}">
                      <a16:colId xmlns:a16="http://schemas.microsoft.com/office/drawing/2014/main" val="809349592"/>
                    </a:ext>
                  </a:extLst>
                </a:gridCol>
                <a:gridCol w="586992">
                  <a:extLst>
                    <a:ext uri="{9D8B030D-6E8A-4147-A177-3AD203B41FA5}">
                      <a16:colId xmlns:a16="http://schemas.microsoft.com/office/drawing/2014/main" val="3533021073"/>
                    </a:ext>
                  </a:extLst>
                </a:gridCol>
                <a:gridCol w="446995">
                  <a:extLst>
                    <a:ext uri="{9D8B030D-6E8A-4147-A177-3AD203B41FA5}">
                      <a16:colId xmlns:a16="http://schemas.microsoft.com/office/drawing/2014/main" val="228369809"/>
                    </a:ext>
                  </a:extLst>
                </a:gridCol>
                <a:gridCol w="446995">
                  <a:extLst>
                    <a:ext uri="{9D8B030D-6E8A-4147-A177-3AD203B41FA5}">
                      <a16:colId xmlns:a16="http://schemas.microsoft.com/office/drawing/2014/main" val="4032105230"/>
                    </a:ext>
                  </a:extLst>
                </a:gridCol>
                <a:gridCol w="446995">
                  <a:extLst>
                    <a:ext uri="{9D8B030D-6E8A-4147-A177-3AD203B41FA5}">
                      <a16:colId xmlns:a16="http://schemas.microsoft.com/office/drawing/2014/main" val="1640296345"/>
                    </a:ext>
                  </a:extLst>
                </a:gridCol>
                <a:gridCol w="446995">
                  <a:extLst>
                    <a:ext uri="{9D8B030D-6E8A-4147-A177-3AD203B41FA5}">
                      <a16:colId xmlns:a16="http://schemas.microsoft.com/office/drawing/2014/main" val="2229760704"/>
                    </a:ext>
                  </a:extLst>
                </a:gridCol>
                <a:gridCol w="446995">
                  <a:extLst>
                    <a:ext uri="{9D8B030D-6E8A-4147-A177-3AD203B41FA5}">
                      <a16:colId xmlns:a16="http://schemas.microsoft.com/office/drawing/2014/main" val="1815659593"/>
                    </a:ext>
                  </a:extLst>
                </a:gridCol>
                <a:gridCol w="446995">
                  <a:extLst>
                    <a:ext uri="{9D8B030D-6E8A-4147-A177-3AD203B41FA5}">
                      <a16:colId xmlns:a16="http://schemas.microsoft.com/office/drawing/2014/main" val="2104924462"/>
                    </a:ext>
                  </a:extLst>
                </a:gridCol>
                <a:gridCol w="446995">
                  <a:extLst>
                    <a:ext uri="{9D8B030D-6E8A-4147-A177-3AD203B41FA5}">
                      <a16:colId xmlns:a16="http://schemas.microsoft.com/office/drawing/2014/main" val="3753294512"/>
                    </a:ext>
                  </a:extLst>
                </a:gridCol>
                <a:gridCol w="446995">
                  <a:extLst>
                    <a:ext uri="{9D8B030D-6E8A-4147-A177-3AD203B41FA5}">
                      <a16:colId xmlns:a16="http://schemas.microsoft.com/office/drawing/2014/main" val="2851798818"/>
                    </a:ext>
                  </a:extLst>
                </a:gridCol>
                <a:gridCol w="446995">
                  <a:extLst>
                    <a:ext uri="{9D8B030D-6E8A-4147-A177-3AD203B41FA5}">
                      <a16:colId xmlns:a16="http://schemas.microsoft.com/office/drawing/2014/main" val="537607502"/>
                    </a:ext>
                  </a:extLst>
                </a:gridCol>
                <a:gridCol w="446995">
                  <a:extLst>
                    <a:ext uri="{9D8B030D-6E8A-4147-A177-3AD203B41FA5}">
                      <a16:colId xmlns:a16="http://schemas.microsoft.com/office/drawing/2014/main" val="3232292741"/>
                    </a:ext>
                  </a:extLst>
                </a:gridCol>
                <a:gridCol w="446995">
                  <a:extLst>
                    <a:ext uri="{9D8B030D-6E8A-4147-A177-3AD203B41FA5}">
                      <a16:colId xmlns:a16="http://schemas.microsoft.com/office/drawing/2014/main" val="307588643"/>
                    </a:ext>
                  </a:extLst>
                </a:gridCol>
                <a:gridCol w="446995">
                  <a:extLst>
                    <a:ext uri="{9D8B030D-6E8A-4147-A177-3AD203B41FA5}">
                      <a16:colId xmlns:a16="http://schemas.microsoft.com/office/drawing/2014/main" val="1914967548"/>
                    </a:ext>
                  </a:extLst>
                </a:gridCol>
                <a:gridCol w="2462336">
                  <a:extLst>
                    <a:ext uri="{9D8B030D-6E8A-4147-A177-3AD203B41FA5}">
                      <a16:colId xmlns:a16="http://schemas.microsoft.com/office/drawing/2014/main" val="1389540202"/>
                    </a:ext>
                  </a:extLst>
                </a:gridCol>
              </a:tblGrid>
              <a:tr h="225230">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Times New Roman" panose="02020603050405020304" pitchFamily="18" charset="0"/>
                        </a:rPr>
                        <a:t> STAFF PROMOTIONS YTD</a:t>
                      </a:r>
                      <a:endParaRPr lang="en-US" sz="1200" dirty="0">
                        <a:solidFill>
                          <a:srgbClr val="FFFFFF"/>
                        </a:solidFill>
                        <a:effectLst/>
                        <a:highlight>
                          <a:srgbClr val="943634"/>
                        </a:highligh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MAR 26</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rPr>
                        <a:t>APR</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MAY</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a:solidFill>
                            <a:srgbClr val="FFFFFF"/>
                          </a:solidFill>
                          <a:effectLst/>
                          <a:latin typeface="Calibri" panose="020F0502020204030204" pitchFamily="34" charset="0"/>
                          <a:ea typeface="Calibri" panose="020F0502020204030204" pitchFamily="34" charset="0"/>
                          <a:cs typeface="+mn-cs"/>
                        </a:rPr>
                        <a:t>JUN</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a:solidFill>
                            <a:srgbClr val="FFFFFF"/>
                          </a:solidFill>
                          <a:effectLst/>
                          <a:latin typeface="Calibri" panose="020F0502020204030204" pitchFamily="34" charset="0"/>
                          <a:ea typeface="Calibri" panose="020F0502020204030204" pitchFamily="34" charset="0"/>
                          <a:cs typeface="+mn-cs"/>
                        </a:rPr>
                        <a:t>JUL</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AUG</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a:solidFill>
                            <a:srgbClr val="FFFFFF"/>
                          </a:solidFill>
                          <a:effectLst/>
                          <a:latin typeface="Calibri" panose="020F0502020204030204" pitchFamily="34" charset="0"/>
                          <a:ea typeface="Calibri" panose="020F0502020204030204" pitchFamily="34" charset="0"/>
                          <a:cs typeface="+mn-cs"/>
                        </a:rPr>
                        <a:t>SEP</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OCT</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NOV</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a:solidFill>
                            <a:srgbClr val="FFFFFF"/>
                          </a:solidFill>
                          <a:effectLst/>
                          <a:latin typeface="Calibri" panose="020F0502020204030204" pitchFamily="34" charset="0"/>
                          <a:ea typeface="Calibri" panose="020F0502020204030204" pitchFamily="34" charset="0"/>
                          <a:cs typeface="+mn-cs"/>
                        </a:rPr>
                        <a:t>DEC</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JAN</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FEB</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MAR</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Times New Roman" panose="02020603050405020304" pitchFamily="18" charset="0"/>
                          <a:cs typeface="+mn-cs"/>
                        </a:rPr>
                        <a:t>FY27 YTD</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a:noFill/>
                    </a:lnR>
                    <a:lnT>
                      <a:noFill/>
                    </a:lnT>
                    <a:lnB w="19050" cap="flat" cmpd="sng" algn="ctr">
                      <a:solidFill>
                        <a:srgbClr val="FFFFFF"/>
                      </a:solidFill>
                      <a:prstDash val="solid"/>
                      <a:round/>
                      <a:headEnd type="none" w="med" len="med"/>
                      <a:tailEnd type="none" w="med" len="med"/>
                    </a:lnB>
                    <a:solidFill>
                      <a:srgbClr val="943634"/>
                    </a:solidFill>
                  </a:tcPr>
                </a:tc>
                <a:extLst>
                  <a:ext uri="{0D108BD9-81ED-4DB2-BD59-A6C34878D82A}">
                    <a16:rowId xmlns:a16="http://schemas.microsoft.com/office/drawing/2014/main" val="1065410174"/>
                  </a:ext>
                </a:extLst>
              </a:tr>
              <a:tr h="225230">
                <a:tc>
                  <a:txBody>
                    <a:bodyPr/>
                    <a:lstStyle/>
                    <a:p>
                      <a:pPr marL="0" marR="8890">
                        <a:spcBef>
                          <a:spcPts val="200"/>
                        </a:spcBef>
                        <a:spcAft>
                          <a:spcPts val="200"/>
                        </a:spcAft>
                      </a:pPr>
                      <a:r>
                        <a:rPr lang="en-US" sz="1000" b="1" kern="1000" dirty="0">
                          <a:solidFill>
                            <a:srgbClr val="000000"/>
                          </a:solidFill>
                          <a:effectLst/>
                          <a:highlight>
                            <a:srgbClr val="E5EAEE"/>
                          </a:highlight>
                          <a:latin typeface="Calibri" panose="020F0502020204030204" pitchFamily="34" charset="0"/>
                          <a:ea typeface="Calibri" panose="020F0502020204030204" pitchFamily="34" charset="0"/>
                        </a:rPr>
                        <a:t>Promotion</a:t>
                      </a:r>
                      <a:endParaRPr lang="en-US" sz="1200" b="1" dirty="0">
                        <a:solidFill>
                          <a:srgbClr val="FFFFFF"/>
                        </a:solidFill>
                        <a:effectLst/>
                        <a:highlight>
                          <a:srgbClr val="E5EAEE"/>
                        </a:highlight>
                        <a:latin typeface="Times New Roman" panose="02020603050405020304" pitchFamily="18" charset="0"/>
                        <a:ea typeface="Calibri" panose="020F0502020204030204" pitchFamily="34" charset="0"/>
                      </a:endParaRPr>
                    </a:p>
                  </a:txBody>
                  <a:tcPr marL="68580" marR="68580" marT="0" marB="0">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b="1" dirty="0">
                          <a:solidFill>
                            <a:schemeClr val="tx1"/>
                          </a:solidFill>
                          <a:effectLst/>
                          <a:latin typeface="+mn-lt"/>
                          <a:ea typeface="Calibri" panose="020F0502020204030204" pitchFamily="34" charset="0"/>
                        </a:rPr>
                        <a:t>1</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b="1" dirty="0">
                          <a:solidFill>
                            <a:schemeClr val="tx1"/>
                          </a:solidFill>
                          <a:effectLst/>
                          <a:latin typeface="+mn-lt"/>
                          <a:ea typeface="Calibri" panose="020F0502020204030204" pitchFamily="34" charset="0"/>
                        </a:rPr>
                        <a:t>1</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b="1" dirty="0">
                          <a:solidFill>
                            <a:schemeClr val="tx1"/>
                          </a:solidFill>
                          <a:effectLst/>
                          <a:latin typeface="+mn-lt"/>
                          <a:ea typeface="Calibri" panose="020F0502020204030204" pitchFamily="34" charset="0"/>
                        </a:rPr>
                        <a:t>0</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000" b="1" dirty="0">
                          <a:solidFill>
                            <a:schemeClr val="tx1"/>
                          </a:solidFill>
                          <a:effectLst/>
                          <a:latin typeface="+mn-lt"/>
                          <a:ea typeface="Calibri" panose="020F0502020204030204" pitchFamily="34" charset="0"/>
                        </a:rPr>
                        <a:t>0</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b="1" dirty="0">
                        <a:solidFill>
                          <a:schemeClr val="tx1"/>
                        </a:solidFill>
                        <a:effectLst/>
                        <a:latin typeface="+mn-lt"/>
                        <a:ea typeface="Calibri" panose="020F0502020204030204" pitchFamily="34"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b="1" dirty="0">
                        <a:solidFill>
                          <a:schemeClr val="tx1"/>
                        </a:solidFill>
                        <a:effectLst/>
                        <a:latin typeface="+mn-lt"/>
                        <a:ea typeface="Calibri" panose="020F0502020204030204" pitchFamily="34"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b="1" dirty="0">
                        <a:solidFill>
                          <a:schemeClr val="tx1"/>
                        </a:solidFill>
                        <a:effectLst/>
                        <a:latin typeface="+mn-lt"/>
                        <a:ea typeface="Calibri" panose="020F0502020204030204" pitchFamily="34"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b="1" dirty="0">
                        <a:solidFill>
                          <a:schemeClr val="tx1"/>
                        </a:solidFill>
                        <a:effectLst/>
                        <a:latin typeface="+mn-lt"/>
                        <a:ea typeface="Calibri" panose="020F0502020204030204" pitchFamily="34"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b="1" dirty="0">
                        <a:solidFill>
                          <a:schemeClr val="tx1"/>
                        </a:solidFill>
                        <a:effectLst/>
                        <a:latin typeface="+mn-lt"/>
                        <a:ea typeface="Calibri" panose="020F0502020204030204" pitchFamily="34"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000" b="1" dirty="0">
                        <a:solidFill>
                          <a:schemeClr val="tx1"/>
                        </a:solidFill>
                        <a:effectLst/>
                        <a:latin typeface="+mn-lt"/>
                        <a:ea typeface="Calibri" panose="020F0502020204030204" pitchFamily="34"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endParaRPr lang="en-US" sz="1200" dirty="0">
                        <a:solidFill>
                          <a:schemeClr val="tx1"/>
                        </a:solidFill>
                        <a:effectLst/>
                        <a:latin typeface="+mn-lt"/>
                        <a:ea typeface="Calibri" panose="020F0502020204030204" pitchFamily="34" charset="0"/>
                      </a:endParaRPr>
                    </a:p>
                  </a:txBody>
                  <a:tcPr marL="68580" marR="6858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8890" algn="ctr">
                        <a:spcBef>
                          <a:spcPts val="200"/>
                        </a:spcBef>
                        <a:spcAft>
                          <a:spcPts val="200"/>
                        </a:spcAft>
                      </a:pPr>
                      <a:r>
                        <a:rPr lang="en-US" sz="1200" b="1" dirty="0">
                          <a:solidFill>
                            <a:schemeClr val="tx1"/>
                          </a:solidFill>
                          <a:effectLst/>
                          <a:latin typeface="+mn-lt"/>
                          <a:ea typeface="Calibri" panose="020F0502020204030204" pitchFamily="34" charset="0"/>
                        </a:rPr>
                        <a:t>1</a:t>
                      </a:r>
                    </a:p>
                  </a:txBody>
                  <a:tcPr marL="68580" marR="68580" marT="0" marB="0">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639495540"/>
                  </a:ext>
                </a:extLst>
              </a:tr>
            </a:tbl>
          </a:graphicData>
        </a:graphic>
      </p:graphicFrame>
      <p:sp>
        <p:nvSpPr>
          <p:cNvPr id="9" name="Title 2">
            <a:extLst>
              <a:ext uri="{FF2B5EF4-FFF2-40B4-BE49-F238E27FC236}">
                <a16:creationId xmlns:a16="http://schemas.microsoft.com/office/drawing/2014/main" id="{5BD2AA7C-C70B-8FD6-6189-C8686011DDA8}"/>
              </a:ext>
            </a:extLst>
          </p:cNvPr>
          <p:cNvSpPr>
            <a:spLocks noGrp="1"/>
          </p:cNvSpPr>
          <p:nvPr>
            <p:ph type="title"/>
          </p:nvPr>
        </p:nvSpPr>
        <p:spPr>
          <a:xfrm>
            <a:off x="2785520" y="72331"/>
            <a:ext cx="4167372" cy="438764"/>
          </a:xfrm>
          <a:solidFill>
            <a:schemeClr val="accent3">
              <a:lumMod val="50000"/>
            </a:schemeClr>
          </a:solidFill>
        </p:spPr>
        <p:style>
          <a:lnRef idx="0">
            <a:schemeClr val="accent6"/>
          </a:lnRef>
          <a:fillRef idx="3">
            <a:schemeClr val="accent6"/>
          </a:fillRef>
          <a:effectRef idx="3">
            <a:schemeClr val="accent6"/>
          </a:effectRef>
          <a:fontRef idx="minor">
            <a:schemeClr val="lt1"/>
          </a:fontRef>
        </p:style>
        <p:txBody>
          <a:bodyPr/>
          <a:lstStyle/>
          <a:p>
            <a:r>
              <a:rPr lang="en-US" dirty="0">
                <a:solidFill>
                  <a:schemeClr val="bg1"/>
                </a:solidFill>
              </a:rPr>
              <a:t>HR KPI AND DIVERSITY</a:t>
            </a:r>
          </a:p>
        </p:txBody>
      </p:sp>
      <p:graphicFrame>
        <p:nvGraphicFramePr>
          <p:cNvPr id="2" name="Chart 1">
            <a:extLst>
              <a:ext uri="{FF2B5EF4-FFF2-40B4-BE49-F238E27FC236}">
                <a16:creationId xmlns:a16="http://schemas.microsoft.com/office/drawing/2014/main" id="{C8F16320-4550-5ABE-9CF7-E6A1A17FB7A6}"/>
              </a:ext>
            </a:extLst>
          </p:cNvPr>
          <p:cNvGraphicFramePr>
            <a:graphicFrameLocks/>
          </p:cNvGraphicFramePr>
          <p:nvPr>
            <p:extLst>
              <p:ext uri="{D42A27DB-BD31-4B8C-83A1-F6EECF244321}">
                <p14:modId xmlns:p14="http://schemas.microsoft.com/office/powerpoint/2010/main" val="2837985970"/>
              </p:ext>
            </p:extLst>
          </p:nvPr>
        </p:nvGraphicFramePr>
        <p:xfrm>
          <a:off x="8259835" y="3136060"/>
          <a:ext cx="3054378" cy="13331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51E34520-86D5-3462-04FA-DDE72A6C114E}"/>
              </a:ext>
            </a:extLst>
          </p:cNvPr>
          <p:cNvGraphicFramePr>
            <a:graphicFrameLocks/>
          </p:cNvGraphicFramePr>
          <p:nvPr>
            <p:extLst>
              <p:ext uri="{D42A27DB-BD31-4B8C-83A1-F6EECF244321}">
                <p14:modId xmlns:p14="http://schemas.microsoft.com/office/powerpoint/2010/main" val="2494519591"/>
              </p:ext>
            </p:extLst>
          </p:nvPr>
        </p:nvGraphicFramePr>
        <p:xfrm>
          <a:off x="450005" y="3136059"/>
          <a:ext cx="3626375" cy="13331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a:extLst>
              <a:ext uri="{FF2B5EF4-FFF2-40B4-BE49-F238E27FC236}">
                <a16:creationId xmlns:a16="http://schemas.microsoft.com/office/drawing/2014/main" id="{1F0174BC-C8B2-6DCE-7B35-D7ADC630AD5C}"/>
              </a:ext>
            </a:extLst>
          </p:cNvPr>
          <p:cNvGraphicFramePr>
            <a:graphicFrameLocks/>
          </p:cNvGraphicFramePr>
          <p:nvPr>
            <p:extLst>
              <p:ext uri="{D42A27DB-BD31-4B8C-83A1-F6EECF244321}">
                <p14:modId xmlns:p14="http://schemas.microsoft.com/office/powerpoint/2010/main" val="781065706"/>
              </p:ext>
            </p:extLst>
          </p:nvPr>
        </p:nvGraphicFramePr>
        <p:xfrm>
          <a:off x="4405816" y="3160658"/>
          <a:ext cx="3508074" cy="130851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03104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32AA87-4586-C33E-250F-8C339D9B580A}"/>
              </a:ext>
            </a:extLst>
          </p:cNvPr>
          <p:cNvSpPr>
            <a:spLocks noGrp="1"/>
          </p:cNvSpPr>
          <p:nvPr>
            <p:ph type="sldNum" sz="quarter" idx="4"/>
          </p:nvPr>
        </p:nvSpPr>
        <p:spPr/>
        <p:txBody>
          <a:bodyPr/>
          <a:lstStyle/>
          <a:p>
            <a:fld id="{DDAFD0C9-8BC0-5147-B74C-78C6A0363883}" type="slidenum">
              <a:rPr lang="en-ZA" smtClean="0"/>
              <a:pPr/>
              <a:t>6</a:t>
            </a:fld>
            <a:endParaRPr lang="en-ZA"/>
          </a:p>
        </p:txBody>
      </p:sp>
      <p:graphicFrame>
        <p:nvGraphicFramePr>
          <p:cNvPr id="6" name="Table 5">
            <a:extLst>
              <a:ext uri="{FF2B5EF4-FFF2-40B4-BE49-F238E27FC236}">
                <a16:creationId xmlns:a16="http://schemas.microsoft.com/office/drawing/2014/main" id="{DCAE36D3-49D3-B588-C62F-0E50AE8ED6D7}"/>
              </a:ext>
            </a:extLst>
          </p:cNvPr>
          <p:cNvGraphicFramePr>
            <a:graphicFrameLocks noGrp="1"/>
          </p:cNvGraphicFramePr>
          <p:nvPr>
            <p:extLst>
              <p:ext uri="{D42A27DB-BD31-4B8C-83A1-F6EECF244321}">
                <p14:modId xmlns:p14="http://schemas.microsoft.com/office/powerpoint/2010/main" val="2023925376"/>
              </p:ext>
            </p:extLst>
          </p:nvPr>
        </p:nvGraphicFramePr>
        <p:xfrm>
          <a:off x="450010" y="563016"/>
          <a:ext cx="10644188" cy="257152"/>
        </p:xfrm>
        <a:graphic>
          <a:graphicData uri="http://schemas.openxmlformats.org/drawingml/2006/table">
            <a:tbl>
              <a:tblPr firstRow="1" firstCol="1" bandRow="1"/>
              <a:tblGrid>
                <a:gridCol w="10644188">
                  <a:extLst>
                    <a:ext uri="{9D8B030D-6E8A-4147-A177-3AD203B41FA5}">
                      <a16:colId xmlns:a16="http://schemas.microsoft.com/office/drawing/2014/main" val="2095277014"/>
                    </a:ext>
                  </a:extLst>
                </a:gridCol>
              </a:tblGrid>
              <a:tr h="257152">
                <a:tc>
                  <a:txBody>
                    <a:bodyPr/>
                    <a:lstStyle/>
                    <a:p>
                      <a:pPr marL="457200" marR="0" lvl="1" indent="0">
                        <a:spcBef>
                          <a:spcPts val="200"/>
                        </a:spcBef>
                        <a:spcAft>
                          <a:spcPts val="0"/>
                        </a:spcAft>
                        <a:buFont typeface="+mj-lt"/>
                        <a:buNone/>
                      </a:pPr>
                      <a:r>
                        <a:rPr lang="en-US" sz="1000" b="1" dirty="0">
                          <a:solidFill>
                            <a:srgbClr val="595959"/>
                          </a:solidFill>
                          <a:effectLst/>
                          <a:latin typeface="Franklin Gothic Book" panose="020B0503020102020204" pitchFamily="34" charset="0"/>
                          <a:ea typeface="Times New Roman" panose="02020603050405020304" pitchFamily="18" charset="0"/>
                          <a:cs typeface="Times New Roman" panose="02020603050405020304" pitchFamily="18" charset="0"/>
                        </a:rPr>
                        <a:t>7 .Overtime </a:t>
                      </a:r>
                      <a:endParaRPr lang="en-US" sz="1000" b="1" dirty="0">
                        <a:solidFill>
                          <a:srgbClr val="595959"/>
                        </a:solidFill>
                        <a:effectLst/>
                        <a:latin typeface="Franklin Gothic Book" panose="020B0503020102020204" pitchFamily="34" charset="0"/>
                        <a:ea typeface="Franklin Gothic Book" panose="020B0503020102020204" pitchFamily="34" charset="0"/>
                        <a:cs typeface="Times New Roman" panose="02020603050405020304" pitchFamily="18" charset="0"/>
                      </a:endParaRPr>
                    </a:p>
                  </a:txBody>
                  <a:tcPr marL="0" marR="0" marT="0" marB="0" anchor="b">
                    <a:lnL>
                      <a:noFill/>
                    </a:lnL>
                    <a:lnR>
                      <a:noFill/>
                    </a:lnR>
                    <a:lnT>
                      <a:noFill/>
                    </a:lnT>
                    <a:lnB w="28575" cap="flat" cmpd="sng" algn="ctr">
                      <a:solidFill>
                        <a:srgbClr val="FEDE00"/>
                      </a:solidFill>
                      <a:prstDash val="solid"/>
                      <a:round/>
                      <a:headEnd type="none" w="med" len="med"/>
                      <a:tailEnd type="none" w="med" len="med"/>
                    </a:lnB>
                    <a:noFill/>
                  </a:tcPr>
                </a:tc>
                <a:extLst>
                  <a:ext uri="{0D108BD9-81ED-4DB2-BD59-A6C34878D82A}">
                    <a16:rowId xmlns:a16="http://schemas.microsoft.com/office/drawing/2014/main" val="2873139934"/>
                  </a:ext>
                </a:extLst>
              </a:tr>
            </a:tbl>
          </a:graphicData>
        </a:graphic>
      </p:graphicFrame>
      <p:graphicFrame>
        <p:nvGraphicFramePr>
          <p:cNvPr id="7" name="Table 6">
            <a:extLst>
              <a:ext uri="{FF2B5EF4-FFF2-40B4-BE49-F238E27FC236}">
                <a16:creationId xmlns:a16="http://schemas.microsoft.com/office/drawing/2014/main" id="{56090061-04B7-8D45-2D94-5235ABBD7A8D}"/>
              </a:ext>
            </a:extLst>
          </p:cNvPr>
          <p:cNvGraphicFramePr>
            <a:graphicFrameLocks noGrp="1"/>
          </p:cNvGraphicFramePr>
          <p:nvPr>
            <p:extLst>
              <p:ext uri="{D42A27DB-BD31-4B8C-83A1-F6EECF244321}">
                <p14:modId xmlns:p14="http://schemas.microsoft.com/office/powerpoint/2010/main" val="2850271401"/>
              </p:ext>
            </p:extLst>
          </p:nvPr>
        </p:nvGraphicFramePr>
        <p:xfrm>
          <a:off x="450010" y="1011098"/>
          <a:ext cx="11601094" cy="2034027"/>
        </p:xfrm>
        <a:graphic>
          <a:graphicData uri="http://schemas.openxmlformats.org/drawingml/2006/table">
            <a:tbl>
              <a:tblPr firstRow="1" firstCol="1" bandRow="1"/>
              <a:tblGrid>
                <a:gridCol w="1255751">
                  <a:extLst>
                    <a:ext uri="{9D8B030D-6E8A-4147-A177-3AD203B41FA5}">
                      <a16:colId xmlns:a16="http://schemas.microsoft.com/office/drawing/2014/main" val="1139382827"/>
                    </a:ext>
                  </a:extLst>
                </a:gridCol>
                <a:gridCol w="612646">
                  <a:extLst>
                    <a:ext uri="{9D8B030D-6E8A-4147-A177-3AD203B41FA5}">
                      <a16:colId xmlns:a16="http://schemas.microsoft.com/office/drawing/2014/main" val="755313647"/>
                    </a:ext>
                  </a:extLst>
                </a:gridCol>
                <a:gridCol w="536936">
                  <a:extLst>
                    <a:ext uri="{9D8B030D-6E8A-4147-A177-3AD203B41FA5}">
                      <a16:colId xmlns:a16="http://schemas.microsoft.com/office/drawing/2014/main" val="1143850189"/>
                    </a:ext>
                  </a:extLst>
                </a:gridCol>
                <a:gridCol w="688356">
                  <a:extLst>
                    <a:ext uri="{9D8B030D-6E8A-4147-A177-3AD203B41FA5}">
                      <a16:colId xmlns:a16="http://schemas.microsoft.com/office/drawing/2014/main" val="3339244156"/>
                    </a:ext>
                  </a:extLst>
                </a:gridCol>
                <a:gridCol w="612646">
                  <a:extLst>
                    <a:ext uri="{9D8B030D-6E8A-4147-A177-3AD203B41FA5}">
                      <a16:colId xmlns:a16="http://schemas.microsoft.com/office/drawing/2014/main" val="2784203244"/>
                    </a:ext>
                  </a:extLst>
                </a:gridCol>
                <a:gridCol w="571498">
                  <a:extLst>
                    <a:ext uri="{9D8B030D-6E8A-4147-A177-3AD203B41FA5}">
                      <a16:colId xmlns:a16="http://schemas.microsoft.com/office/drawing/2014/main" val="187446532"/>
                    </a:ext>
                  </a:extLst>
                </a:gridCol>
                <a:gridCol w="612646">
                  <a:extLst>
                    <a:ext uri="{9D8B030D-6E8A-4147-A177-3AD203B41FA5}">
                      <a16:colId xmlns:a16="http://schemas.microsoft.com/office/drawing/2014/main" val="894957097"/>
                    </a:ext>
                  </a:extLst>
                </a:gridCol>
                <a:gridCol w="583690">
                  <a:extLst>
                    <a:ext uri="{9D8B030D-6E8A-4147-A177-3AD203B41FA5}">
                      <a16:colId xmlns:a16="http://schemas.microsoft.com/office/drawing/2014/main" val="362513042"/>
                    </a:ext>
                  </a:extLst>
                </a:gridCol>
                <a:gridCol w="615721">
                  <a:extLst>
                    <a:ext uri="{9D8B030D-6E8A-4147-A177-3AD203B41FA5}">
                      <a16:colId xmlns:a16="http://schemas.microsoft.com/office/drawing/2014/main" val="4288945845"/>
                    </a:ext>
                  </a:extLst>
                </a:gridCol>
                <a:gridCol w="593582">
                  <a:extLst>
                    <a:ext uri="{9D8B030D-6E8A-4147-A177-3AD203B41FA5}">
                      <a16:colId xmlns:a16="http://schemas.microsoft.com/office/drawing/2014/main" val="511038007"/>
                    </a:ext>
                  </a:extLst>
                </a:gridCol>
                <a:gridCol w="694086">
                  <a:extLst>
                    <a:ext uri="{9D8B030D-6E8A-4147-A177-3AD203B41FA5}">
                      <a16:colId xmlns:a16="http://schemas.microsoft.com/office/drawing/2014/main" val="1790287352"/>
                    </a:ext>
                  </a:extLst>
                </a:gridCol>
                <a:gridCol w="846202">
                  <a:extLst>
                    <a:ext uri="{9D8B030D-6E8A-4147-A177-3AD203B41FA5}">
                      <a16:colId xmlns:a16="http://schemas.microsoft.com/office/drawing/2014/main" val="813054166"/>
                    </a:ext>
                  </a:extLst>
                </a:gridCol>
                <a:gridCol w="886421">
                  <a:extLst>
                    <a:ext uri="{9D8B030D-6E8A-4147-A177-3AD203B41FA5}">
                      <a16:colId xmlns:a16="http://schemas.microsoft.com/office/drawing/2014/main" val="777913738"/>
                    </a:ext>
                  </a:extLst>
                </a:gridCol>
                <a:gridCol w="886421">
                  <a:extLst>
                    <a:ext uri="{9D8B030D-6E8A-4147-A177-3AD203B41FA5}">
                      <a16:colId xmlns:a16="http://schemas.microsoft.com/office/drawing/2014/main" val="723346365"/>
                    </a:ext>
                  </a:extLst>
                </a:gridCol>
                <a:gridCol w="1604492">
                  <a:extLst>
                    <a:ext uri="{9D8B030D-6E8A-4147-A177-3AD203B41FA5}">
                      <a16:colId xmlns:a16="http://schemas.microsoft.com/office/drawing/2014/main" val="2780768768"/>
                    </a:ext>
                  </a:extLst>
                </a:gridCol>
              </a:tblGrid>
              <a:tr h="225230">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Times New Roman" panose="02020603050405020304" pitchFamily="18" charset="0"/>
                        </a:rPr>
                        <a:t>Overtime -  Hours </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nchor="ctr">
                    <a:lnL>
                      <a:noFill/>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Mar 26</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rPr>
                        <a:t>APR</a:t>
                      </a:r>
                      <a:endParaRPr lang="en-US" sz="1200" dirty="0">
                        <a:solidFill>
                          <a:srgbClr val="FFFFFF"/>
                        </a:solidFill>
                        <a:effectLst/>
                        <a:latin typeface="Times New Roman" panose="02020603050405020304" pitchFamily="18" charset="0"/>
                        <a:ea typeface="Calibri" panose="020F0502020204030204" pitchFamily="34"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MAY</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JUN</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JUL</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AUG</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SEP</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OCT</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NOV</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DEC</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JAN</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FEB</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Calibri" panose="020F0502020204030204" pitchFamily="34" charset="0"/>
                          <a:cs typeface="+mn-cs"/>
                        </a:rPr>
                        <a:t>MAR</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latin typeface="Calibri" panose="020F0502020204030204" pitchFamily="34" charset="0"/>
                          <a:ea typeface="Times New Roman" panose="02020603050405020304" pitchFamily="18" charset="0"/>
                          <a:cs typeface="+mn-cs"/>
                        </a:rPr>
                        <a:t>FY27 YTD</a:t>
                      </a:r>
                      <a:endParaRPr lang="en-US" sz="1000" kern="1000" cap="all" dirty="0">
                        <a:solidFill>
                          <a:srgbClr val="FFFFFF"/>
                        </a:solidFill>
                        <a:effectLs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a:noFill/>
                    </a:lnR>
                    <a:lnT>
                      <a:noFill/>
                    </a:lnT>
                    <a:lnB w="19050" cap="flat" cmpd="sng" algn="ctr">
                      <a:solidFill>
                        <a:srgbClr val="FFFFFF"/>
                      </a:solidFill>
                      <a:prstDash val="solid"/>
                      <a:round/>
                      <a:headEnd type="none" w="med" len="med"/>
                      <a:tailEnd type="none" w="med" len="med"/>
                    </a:lnB>
                    <a:solidFill>
                      <a:srgbClr val="943634"/>
                    </a:solidFill>
                  </a:tcPr>
                </a:tc>
                <a:extLst>
                  <a:ext uri="{0D108BD9-81ED-4DB2-BD59-A6C34878D82A}">
                    <a16:rowId xmlns:a16="http://schemas.microsoft.com/office/drawing/2014/main" val="1265344585"/>
                  </a:ext>
                </a:extLst>
              </a:tr>
              <a:tr h="225230">
                <a:tc>
                  <a:txBody>
                    <a:bodyPr/>
                    <a:lstStyle/>
                    <a:p>
                      <a:pPr algn="l" fontAlgn="b"/>
                      <a:r>
                        <a:rPr lang="en-US" sz="1100" b="1" i="0" u="none" strike="noStrike" dirty="0">
                          <a:effectLst/>
                          <a:latin typeface="Calibri" panose="020F0502020204030204" pitchFamily="34" charset="0"/>
                        </a:rPr>
                        <a:t>CEC</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0</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r>
                        <a:rPr lang="en-US" sz="1100" b="0" i="0" u="none" strike="noStrike" dirty="0">
                          <a:effectLst/>
                          <a:latin typeface="Calibri" panose="020F0502020204030204" pitchFamily="34" charset="0"/>
                        </a:rPr>
                        <a:t>16.00</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0</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16.00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1366078748"/>
                  </a:ext>
                </a:extLst>
              </a:tr>
              <a:tr h="225230">
                <a:tc>
                  <a:txBody>
                    <a:bodyPr/>
                    <a:lstStyle/>
                    <a:p>
                      <a:pPr algn="l" fontAlgn="b"/>
                      <a:r>
                        <a:rPr lang="en-US" sz="1100" b="1" i="0" u="none" strike="noStrike" dirty="0">
                          <a:effectLst/>
                          <a:latin typeface="Calibri" panose="020F0502020204030204" pitchFamily="34" charset="0"/>
                        </a:rPr>
                        <a:t>ENG</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a:effectLst/>
                          <a:latin typeface="Calibri" panose="020F0502020204030204" pitchFamily="34" charset="0"/>
                        </a:rPr>
                        <a:t>356.34</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356.34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r>
                        <a:rPr lang="en-US" sz="1100" b="0" i="0" u="none" strike="noStrike" dirty="0">
                          <a:effectLst/>
                          <a:latin typeface="Calibri" panose="020F0502020204030204" pitchFamily="34" charset="0"/>
                        </a:rPr>
                        <a:t>538.73</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784.18</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1,679.25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12959278"/>
                  </a:ext>
                </a:extLst>
              </a:tr>
              <a:tr h="225230">
                <a:tc>
                  <a:txBody>
                    <a:bodyPr/>
                    <a:lstStyle/>
                    <a:p>
                      <a:pPr algn="l" fontAlgn="b"/>
                      <a:r>
                        <a:rPr lang="en-US" sz="1100" b="1" i="0" u="none" strike="noStrike" dirty="0">
                          <a:effectLst/>
                          <a:latin typeface="Calibri" panose="020F0502020204030204" pitchFamily="34" charset="0"/>
                        </a:rPr>
                        <a:t>Mining</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0</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64.00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r>
                        <a:rPr lang="en-US" sz="1100" b="0" i="0" u="none" strike="noStrike" dirty="0">
                          <a:effectLst/>
                          <a:latin typeface="Calibri" panose="020F0502020204030204" pitchFamily="34" charset="0"/>
                        </a:rPr>
                        <a:t>52.30</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a:effectLst/>
                          <a:latin typeface="Calibri" panose="020F0502020204030204" pitchFamily="34" charset="0"/>
                        </a:rPr>
                        <a:t>60</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176.30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566772076"/>
                  </a:ext>
                </a:extLst>
              </a:tr>
              <a:tr h="225230">
                <a:tc>
                  <a:txBody>
                    <a:bodyPr/>
                    <a:lstStyle/>
                    <a:p>
                      <a:pPr algn="l" fontAlgn="b"/>
                      <a:r>
                        <a:rPr lang="en-US" sz="1100" b="1" i="0" u="none" strike="noStrike" dirty="0" err="1">
                          <a:effectLst/>
                          <a:latin typeface="Calibri" panose="020F0502020204030204" pitchFamily="34" charset="0"/>
                        </a:rPr>
                        <a:t>Opt</a:t>
                      </a:r>
                      <a:endParaRPr lang="en-US" sz="1100" b="1" i="0" u="none" strike="noStrike" dirty="0">
                        <a:effectLst/>
                        <a:latin typeface="Calibri" panose="020F0502020204030204" pitchFamily="34" charset="0"/>
                      </a:endParaRP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0</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r>
                        <a:rPr lang="en-US" sz="1100" b="0" i="0" u="none" strike="noStrike" dirty="0">
                          <a:effectLst/>
                          <a:latin typeface="Calibri" panose="020F0502020204030204" pitchFamily="34" charset="0"/>
                        </a:rPr>
                        <a:t>6.30</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0</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6.30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4127131971"/>
                  </a:ext>
                </a:extLst>
              </a:tr>
              <a:tr h="225230">
                <a:tc>
                  <a:txBody>
                    <a:bodyPr/>
                    <a:lstStyle/>
                    <a:p>
                      <a:pPr algn="l" fontAlgn="b"/>
                      <a:r>
                        <a:rPr lang="en-US" sz="1100" b="1" i="0" u="none" strike="noStrike" dirty="0">
                          <a:effectLst/>
                          <a:latin typeface="Calibri" panose="020F0502020204030204" pitchFamily="34" charset="0"/>
                        </a:rPr>
                        <a:t>Prod</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53.06</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53.06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r>
                        <a:rPr lang="en-US" sz="1100" b="0" i="0" u="none" strike="noStrike" dirty="0">
                          <a:effectLst/>
                          <a:latin typeface="Calibri" panose="020F0502020204030204" pitchFamily="34" charset="0"/>
                        </a:rPr>
                        <a:t>241.41</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163.52</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457.99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347701273"/>
                  </a:ext>
                </a:extLst>
              </a:tr>
              <a:tr h="225230">
                <a:tc>
                  <a:txBody>
                    <a:bodyPr/>
                    <a:lstStyle/>
                    <a:p>
                      <a:pPr algn="l" fontAlgn="b"/>
                      <a:r>
                        <a:rPr lang="en-US" sz="1100" b="1" i="0" u="none" strike="noStrike" dirty="0">
                          <a:effectLst/>
                          <a:latin typeface="Calibri" panose="020F0502020204030204" pitchFamily="34" charset="0"/>
                        </a:rPr>
                        <a:t>Log</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57.99</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57.99</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r>
                        <a:rPr lang="en-US" sz="1100" b="0" i="0" u="none" strike="noStrike" dirty="0">
                          <a:effectLst/>
                          <a:latin typeface="Calibri" panose="020F0502020204030204" pitchFamily="34" charset="0"/>
                        </a:rPr>
                        <a:t>128.91</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82.24</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269.14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813952595"/>
                  </a:ext>
                </a:extLst>
              </a:tr>
              <a:tr h="225230">
                <a:tc>
                  <a:txBody>
                    <a:bodyPr/>
                    <a:lstStyle/>
                    <a:p>
                      <a:pPr algn="l" fontAlgn="b"/>
                      <a:r>
                        <a:rPr lang="en-US" sz="1100" b="1" i="0" u="none" strike="noStrike" dirty="0">
                          <a:effectLst/>
                          <a:latin typeface="Calibri" panose="020F0502020204030204" pitchFamily="34" charset="0"/>
                        </a:rPr>
                        <a:t>QA</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68.58</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68.58</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r>
                        <a:rPr lang="en-US" sz="1100" b="0" i="0" u="none" strike="noStrike" dirty="0">
                          <a:effectLst/>
                          <a:latin typeface="Calibri" panose="020F0502020204030204" pitchFamily="34" charset="0"/>
                        </a:rPr>
                        <a:t>53.97</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101.13</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223.68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4258032940"/>
                  </a:ext>
                </a:extLst>
              </a:tr>
              <a:tr h="232187">
                <a:tc>
                  <a:txBody>
                    <a:bodyPr/>
                    <a:lstStyle/>
                    <a:p>
                      <a:pPr marL="0" marR="8890" algn="l">
                        <a:spcBef>
                          <a:spcPts val="200"/>
                        </a:spcBef>
                        <a:spcAft>
                          <a:spcPts val="200"/>
                        </a:spcAft>
                      </a:pPr>
                      <a:r>
                        <a:rPr lang="en-US" sz="1200" b="1" u="none" strike="noStrike" kern="1200" dirty="0">
                          <a:solidFill>
                            <a:schemeClr val="tx1"/>
                          </a:solidFill>
                          <a:effectLst/>
                          <a:highlight>
                            <a:srgbClr val="E5EAEE"/>
                          </a:highlight>
                          <a:latin typeface="+mn-lt"/>
                          <a:ea typeface="+mn-ea"/>
                          <a:cs typeface="+mn-cs"/>
                        </a:rPr>
                        <a:t>Total</a:t>
                      </a:r>
                    </a:p>
                  </a:txBody>
                  <a:tcPr marL="68580" marR="68580" marT="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l" fontAlgn="b">
                        <a:buNone/>
                      </a:pPr>
                      <a:r>
                        <a:rPr lang="en-US" sz="1100" b="0" i="0" u="none" strike="noStrike" dirty="0">
                          <a:effectLst/>
                          <a:latin typeface="Calibri" panose="020F0502020204030204" pitchFamily="34" charset="0"/>
                        </a:rPr>
                        <a:t>      </a:t>
                      </a:r>
                      <a:r>
                        <a:rPr lang="en-US" sz="1100" b="1" i="0" u="none" strike="noStrike" dirty="0">
                          <a:effectLst/>
                          <a:latin typeface="Calibri" panose="020F0502020204030204" pitchFamily="34" charset="0"/>
                        </a:rPr>
                        <a:t>535.97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r>
                        <a:rPr lang="en-US" sz="1100" b="0" i="0" u="none" strike="noStrike" dirty="0">
                          <a:effectLst/>
                          <a:latin typeface="Calibri" panose="020F0502020204030204" pitchFamily="34" charset="0"/>
                        </a:rPr>
                        <a:t>  </a:t>
                      </a:r>
                      <a:r>
                        <a:rPr lang="en-US" sz="1100" b="1" i="0" u="none" strike="noStrike" dirty="0">
                          <a:effectLst/>
                          <a:latin typeface="Calibri" panose="020F0502020204030204" pitchFamily="34" charset="0"/>
                        </a:rPr>
                        <a:t>599.97</a:t>
                      </a:r>
                      <a:r>
                        <a:rPr lang="en-US" sz="1100" b="0" i="0" u="none" strike="noStrike" dirty="0">
                          <a:effectLst/>
                          <a:latin typeface="Calibri" panose="020F0502020204030204" pitchFamily="34" charset="0"/>
                        </a:rPr>
                        <a:t>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rtl="0" fontAlgn="b"/>
                      <a:r>
                        <a:rPr lang="en-US" sz="1000" b="1" i="0" u="none" strike="noStrike" dirty="0">
                          <a:solidFill>
                            <a:srgbClr val="000000"/>
                          </a:solidFill>
                          <a:effectLst/>
                          <a:latin typeface="Aptos Narrow" panose="020B0004020202020204" pitchFamily="34" charset="0"/>
                        </a:rPr>
                        <a:t>1,037.62</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r>
                        <a:rPr lang="en-US" sz="1100" b="0" i="0" u="none" strike="noStrike" dirty="0">
                          <a:effectLst/>
                          <a:latin typeface="Calibri" panose="020F0502020204030204" pitchFamily="34" charset="0"/>
                        </a:rPr>
                        <a:t>   </a:t>
                      </a:r>
                      <a:r>
                        <a:rPr lang="en-US" sz="1100" b="1" i="0" u="none" strike="noStrike" dirty="0">
                          <a:effectLst/>
                          <a:latin typeface="Calibri" panose="020F0502020204030204" pitchFamily="34" charset="0"/>
                        </a:rPr>
                        <a:t>1,191.07</a:t>
                      </a:r>
                      <a:r>
                        <a:rPr lang="en-US" sz="1100" b="0" i="0" u="none" strike="noStrike" dirty="0">
                          <a:effectLst/>
                          <a:latin typeface="Calibri" panose="020F0502020204030204" pitchFamily="34" charset="0"/>
                        </a:rPr>
                        <a:t>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endParaRPr lang="en-US" sz="1100" b="1"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rtl="0" fontAlgn="b"/>
                      <a:endParaRPr lang="en-US" sz="1000" b="1" i="0" u="none" strike="noStrike" dirty="0">
                        <a:solidFill>
                          <a:srgbClr val="000000"/>
                        </a:solidFill>
                        <a:effectLst/>
                        <a:latin typeface="Aptos Narrow" panose="020B00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rtl="0" fontAlgn="b"/>
                      <a:endParaRPr lang="en-US" sz="1000" b="1" i="0" u="none" strike="noStrike" dirty="0">
                        <a:solidFill>
                          <a:srgbClr val="000000"/>
                        </a:solidFill>
                        <a:effectLst/>
                        <a:latin typeface="Aptos Narrow" panose="020B00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endParaRPr lang="en-US" sz="1100" b="1"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endParaRPr lang="en-US" sz="1100" b="1"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endParaRPr lang="en-US" sz="1100" b="1"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endParaRPr lang="en-US" sz="1100" b="1"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l" fontAlgn="b">
                        <a:buNone/>
                      </a:pPr>
                      <a:endParaRPr lang="en-US" sz="1100" b="1"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r>
                        <a:rPr lang="en-US" sz="1100" b="0" i="0" u="none" strike="noStrike" dirty="0">
                          <a:effectLst/>
                          <a:latin typeface="Calibri" panose="020F0502020204030204" pitchFamily="34" charset="0"/>
                        </a:rPr>
                        <a:t>         </a:t>
                      </a:r>
                      <a:r>
                        <a:rPr lang="en-US" sz="1100" b="1" i="0" u="none" strike="noStrike" dirty="0">
                          <a:effectLst/>
                          <a:latin typeface="Calibri" panose="020F0502020204030204" pitchFamily="34" charset="0"/>
                        </a:rPr>
                        <a:t>2,828.66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a:noFill/>
                    </a:lnB>
                    <a:solidFill>
                      <a:srgbClr val="E5EAEE"/>
                    </a:solidFill>
                  </a:tcPr>
                </a:tc>
                <a:extLst>
                  <a:ext uri="{0D108BD9-81ED-4DB2-BD59-A6C34878D82A}">
                    <a16:rowId xmlns:a16="http://schemas.microsoft.com/office/drawing/2014/main" val="1940347217"/>
                  </a:ext>
                </a:extLst>
              </a:tr>
            </a:tbl>
          </a:graphicData>
        </a:graphic>
      </p:graphicFrame>
      <p:sp>
        <p:nvSpPr>
          <p:cNvPr id="2" name="Title 2">
            <a:extLst>
              <a:ext uri="{FF2B5EF4-FFF2-40B4-BE49-F238E27FC236}">
                <a16:creationId xmlns:a16="http://schemas.microsoft.com/office/drawing/2014/main" id="{5969DBF3-6D21-29C0-859D-F9EDE2FC0B1E}"/>
              </a:ext>
            </a:extLst>
          </p:cNvPr>
          <p:cNvSpPr>
            <a:spLocks noGrp="1"/>
          </p:cNvSpPr>
          <p:nvPr>
            <p:ph type="title"/>
          </p:nvPr>
        </p:nvSpPr>
        <p:spPr>
          <a:xfrm>
            <a:off x="2785520" y="72331"/>
            <a:ext cx="3399620" cy="438764"/>
          </a:xfrm>
          <a:solidFill>
            <a:schemeClr val="accent3">
              <a:lumMod val="50000"/>
            </a:schemeClr>
          </a:solidFill>
        </p:spPr>
        <p:style>
          <a:lnRef idx="0">
            <a:schemeClr val="accent6"/>
          </a:lnRef>
          <a:fillRef idx="3">
            <a:schemeClr val="accent6"/>
          </a:fillRef>
          <a:effectRef idx="3">
            <a:schemeClr val="accent6"/>
          </a:effectRef>
          <a:fontRef idx="minor">
            <a:schemeClr val="lt1"/>
          </a:fontRef>
        </p:style>
        <p:txBody>
          <a:bodyPr>
            <a:normAutofit/>
          </a:bodyPr>
          <a:lstStyle/>
          <a:p>
            <a:r>
              <a:rPr lang="en-US" dirty="0">
                <a:solidFill>
                  <a:schemeClr val="bg1"/>
                </a:solidFill>
              </a:rPr>
              <a:t>OVERTIME - Hours</a:t>
            </a:r>
          </a:p>
        </p:txBody>
      </p:sp>
      <p:graphicFrame>
        <p:nvGraphicFramePr>
          <p:cNvPr id="3" name="Chart 2">
            <a:extLst>
              <a:ext uri="{FF2B5EF4-FFF2-40B4-BE49-F238E27FC236}">
                <a16:creationId xmlns:a16="http://schemas.microsoft.com/office/drawing/2014/main" id="{C2CB9599-64F8-AD66-FAEB-FEFC653855B2}"/>
              </a:ext>
            </a:extLst>
          </p:cNvPr>
          <p:cNvGraphicFramePr>
            <a:graphicFrameLocks/>
          </p:cNvGraphicFramePr>
          <p:nvPr>
            <p:extLst>
              <p:ext uri="{D42A27DB-BD31-4B8C-83A1-F6EECF244321}">
                <p14:modId xmlns:p14="http://schemas.microsoft.com/office/powerpoint/2010/main" val="2561490565"/>
              </p:ext>
            </p:extLst>
          </p:nvPr>
        </p:nvGraphicFramePr>
        <p:xfrm>
          <a:off x="450009" y="3236055"/>
          <a:ext cx="11601093" cy="323375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91809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32A7D0-D4AD-10BE-73DD-515B2DA5FC9D}"/>
              </a:ext>
            </a:extLst>
          </p:cNvPr>
          <p:cNvSpPr>
            <a:spLocks noGrp="1"/>
          </p:cNvSpPr>
          <p:nvPr>
            <p:ph type="title"/>
          </p:nvPr>
        </p:nvSpPr>
        <p:spPr>
          <a:xfrm>
            <a:off x="2958049" y="0"/>
            <a:ext cx="7803963" cy="361638"/>
          </a:xfrm>
          <a:solidFill>
            <a:schemeClr val="accent3">
              <a:lumMod val="50000"/>
            </a:schemeClr>
          </a:solidFill>
        </p:spPr>
        <p:style>
          <a:lnRef idx="0">
            <a:schemeClr val="accent6"/>
          </a:lnRef>
          <a:fillRef idx="3">
            <a:schemeClr val="accent6"/>
          </a:fillRef>
          <a:effectRef idx="3">
            <a:schemeClr val="accent6"/>
          </a:effectRef>
          <a:fontRef idx="minor">
            <a:schemeClr val="lt1"/>
          </a:fontRef>
        </p:style>
        <p:txBody>
          <a:bodyPr>
            <a:normAutofit fontScale="90000"/>
          </a:bodyPr>
          <a:lstStyle/>
          <a:p>
            <a:pPr algn="ctr"/>
            <a:r>
              <a:rPr lang="en-US" dirty="0">
                <a:solidFill>
                  <a:schemeClr val="bg1"/>
                </a:solidFill>
              </a:rPr>
              <a:t>Overtime vs Leave Balance</a:t>
            </a:r>
          </a:p>
        </p:txBody>
      </p:sp>
      <p:sp>
        <p:nvSpPr>
          <p:cNvPr id="15" name="Rectangle 4">
            <a:extLst>
              <a:ext uri="{FF2B5EF4-FFF2-40B4-BE49-F238E27FC236}">
                <a16:creationId xmlns:a16="http://schemas.microsoft.com/office/drawing/2014/main" id="{9BF57EB5-FE8D-D28F-9A42-7765B109B6D4}"/>
              </a:ext>
            </a:extLst>
          </p:cNvPr>
          <p:cNvSpPr>
            <a:spLocks noChangeArrowheads="1"/>
          </p:cNvSpPr>
          <p:nvPr/>
        </p:nvSpPr>
        <p:spPr bwMode="auto">
          <a:xfrm>
            <a:off x="4724553" y="712286"/>
            <a:ext cx="2848564" cy="3985706"/>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accent1">
                    <a:lumMod val="50000"/>
                  </a:schemeClr>
                </a:solidFill>
                <a:effectLst/>
                <a:latin typeface="Arial" panose="020B0604020202020204" pitchFamily="34" charset="0"/>
              </a:rPr>
              <a:t>General Overview - March</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Total workforce</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1" i="0" u="none" strike="noStrike" cap="none" normalizeH="0" baseline="0" dirty="0">
                <a:ln>
                  <a:noFill/>
                </a:ln>
                <a:solidFill>
                  <a:schemeClr val="accent1">
                    <a:lumMod val="50000"/>
                  </a:schemeClr>
                </a:solidFill>
                <a:effectLst/>
                <a:latin typeface="Arial" panose="020B0604020202020204" pitchFamily="34" charset="0"/>
              </a:rPr>
              <a:t>176 employees</a:t>
            </a:r>
          </a:p>
          <a:p>
            <a:pPr marR="0" lvl="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accent1">
                  <a:lumMod val="50000"/>
                </a:schemeClr>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Employees with recorded hours</a:t>
            </a:r>
            <a:r>
              <a:rPr kumimoji="0" lang="en-US" altLang="en-US" sz="1100" b="0" i="0" u="none" strike="noStrike" cap="none" normalizeH="0" baseline="0" dirty="0">
                <a:ln>
                  <a:noFill/>
                </a:ln>
                <a:solidFill>
                  <a:schemeClr val="tx1"/>
                </a:solidFill>
                <a:effectLst/>
                <a:latin typeface="Arial" panose="020B0604020202020204" pitchFamily="34" charset="0"/>
              </a:rPr>
              <a:t>: </a:t>
            </a:r>
            <a:r>
              <a:rPr lang="en-US" altLang="en-US" sz="1100" b="1" dirty="0">
                <a:solidFill>
                  <a:schemeClr val="accent1">
                    <a:lumMod val="50000"/>
                  </a:schemeClr>
                </a:solidFill>
                <a:latin typeface="Arial" panose="020B0604020202020204" pitchFamily="34" charset="0"/>
              </a:rPr>
              <a:t>49</a:t>
            </a:r>
            <a:r>
              <a:rPr kumimoji="0" lang="en-US" altLang="en-US" sz="1100" b="1" i="0" u="none" strike="noStrike" cap="none" normalizeH="0" baseline="0" dirty="0">
                <a:ln>
                  <a:noFill/>
                </a:ln>
                <a:solidFill>
                  <a:schemeClr val="accent1">
                    <a:lumMod val="50000"/>
                  </a:schemeClr>
                </a:solidFill>
                <a:effectLst/>
                <a:latin typeface="Arial" panose="020B0604020202020204" pitchFamily="34" charset="0"/>
              </a:rPr>
              <a:t> ⇒ 28 % of the total staff</a:t>
            </a:r>
          </a:p>
          <a:p>
            <a:pPr marR="0" lvl="0" algn="just"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Total Overtime</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1" i="0" u="none" strike="noStrike" cap="none" normalizeH="0" baseline="0" dirty="0">
                <a:ln>
                  <a:noFill/>
                </a:ln>
                <a:solidFill>
                  <a:schemeClr val="accent1">
                    <a:lumMod val="50000"/>
                  </a:schemeClr>
                </a:solidFill>
                <a:effectLst/>
                <a:latin typeface="Arial" panose="020B0604020202020204" pitchFamily="34" charset="0"/>
              </a:rPr>
              <a:t>1,191.07 hours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100" b="0" i="0" u="none" strike="noStrike" cap="none" normalizeH="0" baseline="0" dirty="0">
              <a:ln>
                <a:noFill/>
              </a:ln>
              <a:solidFill>
                <a:schemeClr val="accent1">
                  <a:lumMod val="50000"/>
                </a:schemeClr>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Average hours </a:t>
            </a:r>
            <a:r>
              <a:rPr kumimoji="0" lang="en-US" altLang="en-US" sz="1100" b="0" i="0" u="none" strike="noStrike" cap="none" normalizeH="0" baseline="0" dirty="0">
                <a:ln>
                  <a:noFill/>
                </a:ln>
                <a:solidFill>
                  <a:schemeClr val="tx1"/>
                </a:solidFill>
                <a:effectLst/>
                <a:latin typeface="Arial" panose="020B0604020202020204" pitchFamily="34" charset="0"/>
              </a:rPr>
              <a:t>: </a:t>
            </a:r>
            <a:r>
              <a:rPr lang="en-US" altLang="en-US" sz="1100" b="1" dirty="0">
                <a:solidFill>
                  <a:schemeClr val="accent1">
                    <a:lumMod val="50000"/>
                  </a:schemeClr>
                </a:solidFill>
                <a:latin typeface="Arial" panose="020B0604020202020204" pitchFamily="34" charset="0"/>
              </a:rPr>
              <a:t>24.31</a:t>
            </a:r>
            <a:r>
              <a:rPr kumimoji="0" lang="en-US" altLang="en-US" sz="1100" b="1" i="0" u="none" strike="noStrike" cap="none" normalizeH="0" baseline="0" dirty="0">
                <a:ln>
                  <a:noFill/>
                </a:ln>
                <a:solidFill>
                  <a:schemeClr val="accent1">
                    <a:lumMod val="50000"/>
                  </a:schemeClr>
                </a:solidFill>
                <a:effectLst/>
                <a:latin typeface="Arial" panose="020B0604020202020204" pitchFamily="34" charset="0"/>
              </a:rPr>
              <a:t> hours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100" b="0" i="0" u="none" strike="noStrike" cap="none" normalizeH="0" baseline="0" dirty="0">
              <a:ln>
                <a:noFill/>
              </a:ln>
              <a:solidFill>
                <a:schemeClr val="accent1">
                  <a:lumMod val="50000"/>
                </a:schemeClr>
              </a:solidFill>
              <a:effectLst/>
              <a:latin typeface="Arial" panose="020B0604020202020204" pitchFamily="34" charset="0"/>
            </a:endParaRPr>
          </a:p>
          <a:p>
            <a:pPr marL="285750" lvl="0" indent="-285750" algn="just" eaLnBrk="0" fontAlgn="base" hangingPunct="0">
              <a:spcBef>
                <a:spcPct val="0"/>
              </a:spcBef>
              <a:spcAft>
                <a:spcPct val="0"/>
              </a:spcAft>
              <a:buFont typeface="Arial" panose="020B0604020202020204" pitchFamily="34" charset="0"/>
              <a:buChar char="•"/>
            </a:pPr>
            <a:r>
              <a:rPr kumimoji="0" lang="en-US" altLang="en-US" sz="1100" b="1" i="0" u="none" strike="noStrike" cap="none" normalizeH="0" baseline="0" dirty="0">
                <a:ln>
                  <a:noFill/>
                </a:ln>
                <a:solidFill>
                  <a:schemeClr val="tx1"/>
                </a:solidFill>
                <a:effectLst/>
                <a:latin typeface="Arial" panose="020B0604020202020204" pitchFamily="34" charset="0"/>
              </a:rPr>
              <a:t>Total cost : </a:t>
            </a:r>
            <a:r>
              <a:rPr kumimoji="0" lang="en-US" altLang="en-US" sz="1100" b="1" i="0" u="none" strike="noStrike" cap="none" normalizeH="0" baseline="0" dirty="0">
                <a:ln>
                  <a:noFill/>
                </a:ln>
                <a:solidFill>
                  <a:schemeClr val="accent1">
                    <a:lumMod val="50000"/>
                  </a:schemeClr>
                </a:solidFill>
                <a:effectLst/>
                <a:latin typeface="Arial" panose="020B0604020202020204" pitchFamily="34" charset="0"/>
              </a:rPr>
              <a:t>USD </a:t>
            </a:r>
            <a:r>
              <a:rPr lang="en-US" sz="1100" b="1" dirty="0">
                <a:solidFill>
                  <a:schemeClr val="accent1">
                    <a:lumMod val="50000"/>
                  </a:schemeClr>
                </a:solidFill>
                <a:latin typeface="Calibri" panose="020F0502020204030204" pitchFamily="34" charset="0"/>
              </a:rPr>
              <a:t>11,955.24</a:t>
            </a:r>
            <a:endParaRPr kumimoji="0" lang="en-US" altLang="en-US" sz="1100" b="1" i="0" u="none" strike="noStrike" cap="none" normalizeH="0" baseline="0" dirty="0">
              <a:ln>
                <a:noFill/>
              </a:ln>
              <a:solidFill>
                <a:schemeClr val="accent1">
                  <a:lumMod val="50000"/>
                </a:schemeClr>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accent1">
                  <a:lumMod val="50000"/>
                </a:schemeClr>
              </a:solidFill>
              <a:effectLst/>
              <a:latin typeface="Arial" panose="020B0604020202020204" pitchFamily="34" charset="0"/>
            </a:endParaRPr>
          </a:p>
          <a:p>
            <a:pPr marL="285750" lvl="0" indent="-285750" algn="just" eaLnBrk="0" fontAlgn="base" hangingPunct="0">
              <a:spcBef>
                <a:spcPct val="0"/>
              </a:spcBef>
              <a:spcAft>
                <a:spcPct val="0"/>
              </a:spcAft>
              <a:buFont typeface="Arial" panose="020B0604020202020204" pitchFamily="34" charset="0"/>
              <a:buChar char="•"/>
            </a:pPr>
            <a:r>
              <a:rPr kumimoji="0" lang="en-US" altLang="en-US" sz="1100" b="1" i="0" u="none" strike="noStrike" cap="none" normalizeH="0" baseline="0" dirty="0">
                <a:ln>
                  <a:noFill/>
                </a:ln>
                <a:solidFill>
                  <a:schemeClr val="tx1"/>
                </a:solidFill>
                <a:effectLst/>
                <a:latin typeface="Arial" panose="020B0604020202020204" pitchFamily="34" charset="0"/>
              </a:rPr>
              <a:t>Average cost per </a:t>
            </a:r>
            <a:r>
              <a:rPr lang="en-US" altLang="en-US" sz="1100" b="1" dirty="0">
                <a:latin typeface="Arial" panose="020B0604020202020204" pitchFamily="34" charset="0"/>
              </a:rPr>
              <a:t>employee</a:t>
            </a:r>
            <a:endParaRPr kumimoji="0" lang="en-US" altLang="en-US" sz="1100" b="1" i="0" u="none" strike="noStrike" cap="none" normalizeH="0" baseline="0" dirty="0">
              <a:ln>
                <a:noFill/>
              </a:ln>
              <a:solidFill>
                <a:schemeClr val="tx1"/>
              </a:solidFill>
              <a:effectLst/>
              <a:latin typeface="Arial" panose="020B0604020202020204" pitchFamily="34" charset="0"/>
            </a:endParaRPr>
          </a:p>
          <a:p>
            <a:pPr lvl="0" algn="just" eaLnBrk="0" fontAlgn="base" hangingPunct="0">
              <a:spcBef>
                <a:spcPct val="0"/>
              </a:spcBef>
              <a:spcAft>
                <a:spcPct val="0"/>
              </a:spcAft>
            </a:pPr>
            <a:r>
              <a:rPr lang="en-US" altLang="en-US" sz="1100" dirty="0">
                <a:latin typeface="Arial" panose="020B0604020202020204" pitchFamily="34" charset="0"/>
              </a:rPr>
              <a:t>                </a:t>
            </a:r>
            <a:r>
              <a:rPr kumimoji="0" lang="en-US" altLang="en-US" sz="1100" b="1" i="0" u="none" strike="noStrike" cap="none" normalizeH="0" baseline="0" dirty="0">
                <a:ln>
                  <a:noFill/>
                </a:ln>
                <a:solidFill>
                  <a:schemeClr val="accent1">
                    <a:lumMod val="50000"/>
                  </a:schemeClr>
                </a:solidFill>
                <a:effectLst/>
                <a:latin typeface="Arial" panose="020B0604020202020204" pitchFamily="34" charset="0"/>
              </a:rPr>
              <a:t>USD 243.98</a:t>
            </a:r>
          </a:p>
          <a:p>
            <a:pPr marR="0" lvl="0" algn="just"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accent1">
                  <a:lumMod val="50000"/>
                </a:schemeClr>
              </a:solidFill>
              <a:effectLst/>
              <a:latin typeface="Arial" panose="020B0604020202020204" pitchFamily="34" charset="0"/>
            </a:endParaRPr>
          </a:p>
          <a:p>
            <a:pPr marL="285750" lvl="0" indent="-285750" algn="just" eaLnBrk="0" fontAlgn="base" hangingPunct="0">
              <a:spcBef>
                <a:spcPct val="0"/>
              </a:spcBef>
              <a:spcAft>
                <a:spcPct val="0"/>
              </a:spcAft>
              <a:buFont typeface="Arial" panose="020B0604020202020204" pitchFamily="34" charset="0"/>
              <a:buChar char="•"/>
            </a:pPr>
            <a:r>
              <a:rPr lang="en-US" sz="1100" b="1" dirty="0"/>
              <a:t>Overtime represents </a:t>
            </a:r>
            <a:r>
              <a:rPr lang="en-US" sz="1100" b="1" dirty="0">
                <a:solidFill>
                  <a:srgbClr val="00B050"/>
                </a:solidFill>
              </a:rPr>
              <a:t>0.91 % of overall staff cost YTD, and 1.27 % in June 2026</a:t>
            </a:r>
          </a:p>
          <a:p>
            <a:pPr marL="285750" lvl="0" indent="-285750" algn="just" eaLnBrk="0" fontAlgn="base" hangingPunct="0">
              <a:spcBef>
                <a:spcPct val="0"/>
              </a:spcBef>
              <a:spcAft>
                <a:spcPct val="0"/>
              </a:spcAft>
              <a:buFont typeface="Arial" panose="020B0604020202020204" pitchFamily="34" charset="0"/>
              <a:buChar char="•"/>
            </a:pPr>
            <a:endParaRPr kumimoji="0" lang="en-US" altLang="en-US" sz="1100" b="0" i="0" u="none" strike="noStrike" cap="none" normalizeH="0" baseline="0" dirty="0">
              <a:ln>
                <a:noFill/>
              </a:ln>
              <a:solidFill>
                <a:schemeClr val="accent1">
                  <a:lumMod val="50000"/>
                </a:schemeClr>
              </a:solidFill>
              <a:effectLst/>
              <a:latin typeface="Arial" panose="020B0604020202020204" pitchFamily="34" charset="0"/>
            </a:endParaRPr>
          </a:p>
          <a:p>
            <a:pPr marL="285750" lvl="0" indent="-285750" algn="just" eaLnBrk="0" fontAlgn="base" hangingPunct="0">
              <a:spcBef>
                <a:spcPct val="0"/>
              </a:spcBef>
              <a:spcAft>
                <a:spcPct val="0"/>
              </a:spcAft>
              <a:buFont typeface="Arial" panose="020B0604020202020204" pitchFamily="34" charset="0"/>
              <a:buChar char="•"/>
            </a:pPr>
            <a:endParaRPr kumimoji="0" lang="en-US" altLang="en-US" sz="1100" b="0" i="0" u="none" strike="noStrike" cap="none" normalizeH="0" baseline="0" dirty="0">
              <a:ln>
                <a:noFill/>
              </a:ln>
              <a:solidFill>
                <a:schemeClr val="accent1">
                  <a:lumMod val="50000"/>
                </a:schemeClr>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Average remaining leave days (OVT recorded employees)</a:t>
            </a: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100" b="1" i="0" u="none" strike="noStrike" cap="none" normalizeH="0" baseline="0" dirty="0">
                <a:ln>
                  <a:noFill/>
                </a:ln>
                <a:solidFill>
                  <a:schemeClr val="accent1">
                    <a:lumMod val="50000"/>
                  </a:schemeClr>
                </a:solidFill>
                <a:effectLst/>
                <a:latin typeface="Arial" panose="020B0604020202020204" pitchFamily="34" charset="0"/>
              </a:rPr>
              <a:t>16.81 days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7679E599-8D18-E54E-F941-C5E40086C58D}"/>
              </a:ext>
            </a:extLst>
          </p:cNvPr>
          <p:cNvSpPr txBox="1">
            <a:spLocks/>
          </p:cNvSpPr>
          <p:nvPr/>
        </p:nvSpPr>
        <p:spPr>
          <a:xfrm>
            <a:off x="123496" y="474039"/>
            <a:ext cx="2834553" cy="24154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i="0" kern="1200">
                <a:solidFill>
                  <a:schemeClr val="tx1"/>
                </a:solidFill>
                <a:latin typeface="Arial Black" panose="020B0604020202020204" pitchFamily="34" charset="0"/>
                <a:ea typeface="+mj-ea"/>
                <a:cs typeface="Arial Black" panose="020B0604020202020204" pitchFamily="34" charset="0"/>
              </a:defRPr>
            </a:lvl1pPr>
          </a:lstStyle>
          <a:p>
            <a:pPr algn="ctr"/>
            <a:r>
              <a:rPr lang="en-US" sz="1100" dirty="0">
                <a:solidFill>
                  <a:schemeClr val="accent1">
                    <a:lumMod val="50000"/>
                  </a:schemeClr>
                </a:solidFill>
              </a:rPr>
              <a:t>Overtime – Top Employees</a:t>
            </a:r>
          </a:p>
        </p:txBody>
      </p:sp>
      <p:sp>
        <p:nvSpPr>
          <p:cNvPr id="5" name="Title 2">
            <a:extLst>
              <a:ext uri="{FF2B5EF4-FFF2-40B4-BE49-F238E27FC236}">
                <a16:creationId xmlns:a16="http://schemas.microsoft.com/office/drawing/2014/main" id="{65267C76-3F46-88EE-5C0A-938DD3962E2B}"/>
              </a:ext>
            </a:extLst>
          </p:cNvPr>
          <p:cNvSpPr txBox="1">
            <a:spLocks/>
          </p:cNvSpPr>
          <p:nvPr/>
        </p:nvSpPr>
        <p:spPr>
          <a:xfrm>
            <a:off x="7696609" y="474039"/>
            <a:ext cx="2834553" cy="241540"/>
          </a:xfrm>
          <a:prstGeom prst="rect">
            <a:avLst/>
          </a:prstGeom>
        </p:spPr>
        <p:txBody>
          <a:bodyPr vert="horz" lIns="91440" tIns="45720" rIns="91440" bIns="45720" rtlCol="0" anchor="t">
            <a:normAutofit fontScale="45000" lnSpcReduction="20000"/>
          </a:bodyPr>
          <a:lstStyle>
            <a:lvl1pPr algn="l" defTabSz="914400" rtl="0" eaLnBrk="1" latinLnBrk="0" hangingPunct="1">
              <a:lnSpc>
                <a:spcPct val="90000"/>
              </a:lnSpc>
              <a:spcBef>
                <a:spcPct val="0"/>
              </a:spcBef>
              <a:buNone/>
              <a:defRPr sz="2400" b="1" i="0" kern="1200">
                <a:solidFill>
                  <a:schemeClr val="tx1"/>
                </a:solidFill>
                <a:latin typeface="Arial Black" panose="020B0604020202020204" pitchFamily="34" charset="0"/>
                <a:ea typeface="+mj-ea"/>
                <a:cs typeface="Arial Black" panose="020B0604020202020204" pitchFamily="34" charset="0"/>
              </a:defRPr>
            </a:lvl1pPr>
          </a:lstStyle>
          <a:p>
            <a:pPr algn="ctr"/>
            <a:r>
              <a:rPr lang="en-US" dirty="0">
                <a:solidFill>
                  <a:schemeClr val="accent1">
                    <a:lumMod val="50000"/>
                  </a:schemeClr>
                </a:solidFill>
              </a:rPr>
              <a:t>Leave Balance – Top Employees</a:t>
            </a:r>
          </a:p>
        </p:txBody>
      </p:sp>
      <p:sp>
        <p:nvSpPr>
          <p:cNvPr id="11" name="TextBox 10">
            <a:extLst>
              <a:ext uri="{FF2B5EF4-FFF2-40B4-BE49-F238E27FC236}">
                <a16:creationId xmlns:a16="http://schemas.microsoft.com/office/drawing/2014/main" id="{FC64C2F9-2462-3721-E704-08DDC3C14ED8}"/>
              </a:ext>
            </a:extLst>
          </p:cNvPr>
          <p:cNvSpPr txBox="1"/>
          <p:nvPr/>
        </p:nvSpPr>
        <p:spPr>
          <a:xfrm>
            <a:off x="4742378" y="4891738"/>
            <a:ext cx="2830739" cy="276999"/>
          </a:xfrm>
          <a:prstGeom prst="rect">
            <a:avLst/>
          </a:prstGeom>
          <a:noFill/>
        </p:spPr>
        <p:txBody>
          <a:bodyPr wrap="square">
            <a:spAutoFit/>
          </a:bodyPr>
          <a:lstStyle/>
          <a:p>
            <a:r>
              <a:rPr lang="en-US" sz="1200" b="1" dirty="0">
                <a:solidFill>
                  <a:schemeClr val="accent1">
                    <a:lumMod val="50000"/>
                  </a:schemeClr>
                </a:solidFill>
              </a:rPr>
              <a:t>Overtime vs Leave Balance per DEPT</a:t>
            </a:r>
            <a:endParaRPr lang="en-US" sz="1200" b="1" dirty="0"/>
          </a:p>
        </p:txBody>
      </p:sp>
      <p:graphicFrame>
        <p:nvGraphicFramePr>
          <p:cNvPr id="7" name="Table 6">
            <a:extLst>
              <a:ext uri="{FF2B5EF4-FFF2-40B4-BE49-F238E27FC236}">
                <a16:creationId xmlns:a16="http://schemas.microsoft.com/office/drawing/2014/main" id="{26B61E17-299C-E207-A56C-79BB38D34172}"/>
              </a:ext>
            </a:extLst>
          </p:cNvPr>
          <p:cNvGraphicFramePr>
            <a:graphicFrameLocks noGrp="1"/>
          </p:cNvGraphicFramePr>
          <p:nvPr>
            <p:extLst>
              <p:ext uri="{D42A27DB-BD31-4B8C-83A1-F6EECF244321}">
                <p14:modId xmlns:p14="http://schemas.microsoft.com/office/powerpoint/2010/main" val="2683730555"/>
              </p:ext>
            </p:extLst>
          </p:nvPr>
        </p:nvGraphicFramePr>
        <p:xfrm>
          <a:off x="4742378" y="5168737"/>
          <a:ext cx="2954231" cy="1185249"/>
        </p:xfrm>
        <a:graphic>
          <a:graphicData uri="http://schemas.openxmlformats.org/drawingml/2006/table">
            <a:tbl>
              <a:tblPr>
                <a:tableStyleId>{EB9631B5-78F2-41C9-869B-9F39066F8104}</a:tableStyleId>
              </a:tblPr>
              <a:tblGrid>
                <a:gridCol w="808233">
                  <a:extLst>
                    <a:ext uri="{9D8B030D-6E8A-4147-A177-3AD203B41FA5}">
                      <a16:colId xmlns:a16="http://schemas.microsoft.com/office/drawing/2014/main" val="3277559050"/>
                    </a:ext>
                  </a:extLst>
                </a:gridCol>
                <a:gridCol w="622432">
                  <a:extLst>
                    <a:ext uri="{9D8B030D-6E8A-4147-A177-3AD203B41FA5}">
                      <a16:colId xmlns:a16="http://schemas.microsoft.com/office/drawing/2014/main" val="1556573381"/>
                    </a:ext>
                  </a:extLst>
                </a:gridCol>
                <a:gridCol w="826813">
                  <a:extLst>
                    <a:ext uri="{9D8B030D-6E8A-4147-A177-3AD203B41FA5}">
                      <a16:colId xmlns:a16="http://schemas.microsoft.com/office/drawing/2014/main" val="4244718852"/>
                    </a:ext>
                  </a:extLst>
                </a:gridCol>
                <a:gridCol w="696753">
                  <a:extLst>
                    <a:ext uri="{9D8B030D-6E8A-4147-A177-3AD203B41FA5}">
                      <a16:colId xmlns:a16="http://schemas.microsoft.com/office/drawing/2014/main" val="3039268967"/>
                    </a:ext>
                  </a:extLst>
                </a:gridCol>
              </a:tblGrid>
              <a:tr h="76902">
                <a:tc>
                  <a:txBody>
                    <a:bodyPr/>
                    <a:lstStyle/>
                    <a:p>
                      <a:pPr algn="l" fontAlgn="b">
                        <a:buNone/>
                      </a:pPr>
                      <a:r>
                        <a:rPr lang="en-US" sz="800" b="1" u="none" strike="noStrike" dirty="0">
                          <a:solidFill>
                            <a:srgbClr val="FFFFFF"/>
                          </a:solidFill>
                          <a:effectLst/>
                        </a:rPr>
                        <a:t>DPT</a:t>
                      </a:r>
                      <a:endParaRPr lang="en-US" sz="800" b="1" i="0" u="none" strike="noStrike" dirty="0">
                        <a:solidFill>
                          <a:srgbClr val="FFFFFF"/>
                        </a:solidFill>
                        <a:effectLst/>
                        <a:latin typeface="Calibri" panose="020F0502020204030204" pitchFamily="34" charset="0"/>
                      </a:endParaRPr>
                    </a:p>
                  </a:txBody>
                  <a:tcPr marL="6350" marR="6350" marT="6350" marB="0" anchor="b">
                    <a:solidFill>
                      <a:schemeClr val="accent1">
                        <a:lumMod val="50000"/>
                      </a:schemeClr>
                    </a:solidFill>
                  </a:tcPr>
                </a:tc>
                <a:tc>
                  <a:txBody>
                    <a:bodyPr/>
                    <a:lstStyle/>
                    <a:p>
                      <a:pPr algn="l" fontAlgn="b">
                        <a:buNone/>
                      </a:pPr>
                      <a:r>
                        <a:rPr lang="en-US" sz="800" b="1" u="none" strike="noStrike" dirty="0">
                          <a:solidFill>
                            <a:srgbClr val="FFFFFF"/>
                          </a:solidFill>
                          <a:effectLst/>
                        </a:rPr>
                        <a:t>Hours</a:t>
                      </a:r>
                      <a:endParaRPr lang="en-US" sz="800" b="1" i="0" u="none" strike="noStrike" dirty="0">
                        <a:solidFill>
                          <a:srgbClr val="FFFFFF"/>
                        </a:solidFill>
                        <a:effectLst/>
                        <a:latin typeface="Calibri" panose="020F0502020204030204" pitchFamily="34" charset="0"/>
                      </a:endParaRPr>
                    </a:p>
                  </a:txBody>
                  <a:tcPr marL="6350" marR="6350" marT="6350" marB="0" anchor="b">
                    <a:solidFill>
                      <a:schemeClr val="accent1">
                        <a:lumMod val="50000"/>
                      </a:schemeClr>
                    </a:solidFill>
                  </a:tcPr>
                </a:tc>
                <a:tc>
                  <a:txBody>
                    <a:bodyPr/>
                    <a:lstStyle/>
                    <a:p>
                      <a:pPr algn="l" fontAlgn="b">
                        <a:buNone/>
                      </a:pPr>
                      <a:r>
                        <a:rPr lang="en-US" sz="800" b="1" u="none" strike="noStrike" dirty="0">
                          <a:solidFill>
                            <a:srgbClr val="FFFFFF"/>
                          </a:solidFill>
                          <a:effectLst/>
                        </a:rPr>
                        <a:t>Cost Value</a:t>
                      </a:r>
                      <a:endParaRPr lang="en-US" sz="800" b="1" i="0" u="none" strike="noStrike" dirty="0">
                        <a:solidFill>
                          <a:srgbClr val="FFFFFF"/>
                        </a:solidFill>
                        <a:effectLst/>
                        <a:latin typeface="Calibri" panose="020F0502020204030204" pitchFamily="34" charset="0"/>
                      </a:endParaRPr>
                    </a:p>
                  </a:txBody>
                  <a:tcPr marL="6350" marR="6350" marT="6350" marB="0" anchor="b">
                    <a:solidFill>
                      <a:schemeClr val="accent1">
                        <a:lumMod val="50000"/>
                      </a:schemeClr>
                    </a:solidFill>
                  </a:tcPr>
                </a:tc>
                <a:tc>
                  <a:txBody>
                    <a:bodyPr/>
                    <a:lstStyle/>
                    <a:p>
                      <a:pPr algn="l" fontAlgn="b">
                        <a:buNone/>
                      </a:pPr>
                      <a:r>
                        <a:rPr lang="en-US" sz="800" b="1" u="none" strike="noStrike" dirty="0">
                          <a:solidFill>
                            <a:srgbClr val="FFFFFF"/>
                          </a:solidFill>
                          <a:effectLst/>
                        </a:rPr>
                        <a:t> Leave-B </a:t>
                      </a:r>
                      <a:endParaRPr lang="en-US" sz="800" b="1" i="0" u="none" strike="noStrike" dirty="0">
                        <a:solidFill>
                          <a:srgbClr val="FFFFFF"/>
                        </a:solidFill>
                        <a:effectLst/>
                        <a:latin typeface="Calibri" panose="020F0502020204030204" pitchFamily="34" charset="0"/>
                      </a:endParaRPr>
                    </a:p>
                  </a:txBody>
                  <a:tcPr marL="6350" marR="6350" marT="6350" marB="0" anchor="b">
                    <a:solidFill>
                      <a:schemeClr val="accent1">
                        <a:lumMod val="50000"/>
                      </a:schemeClr>
                    </a:solidFill>
                  </a:tcPr>
                </a:tc>
                <a:extLst>
                  <a:ext uri="{0D108BD9-81ED-4DB2-BD59-A6C34878D82A}">
                    <a16:rowId xmlns:a16="http://schemas.microsoft.com/office/drawing/2014/main" val="3160474375"/>
                  </a:ext>
                </a:extLst>
              </a:tr>
              <a:tr h="150997">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tc>
                <a:tc>
                  <a:txBody>
                    <a:bodyPr/>
                    <a:lstStyle/>
                    <a:p>
                      <a:pPr algn="r" fontAlgn="b">
                        <a:buNone/>
                      </a:pPr>
                      <a:r>
                        <a:rPr lang="en-US" sz="700" b="0" i="0" u="none" strike="noStrike">
                          <a:effectLst/>
                          <a:latin typeface="Calibri" panose="020F0502020204030204" pitchFamily="34" charset="0"/>
                        </a:rPr>
                        <a:t>784.18</a:t>
                      </a:r>
                    </a:p>
                  </a:txBody>
                  <a:tcPr marL="6350" marR="6350" marT="6350" marB="0" anchor="ctr"/>
                </a:tc>
                <a:tc>
                  <a:txBody>
                    <a:bodyPr/>
                    <a:lstStyle/>
                    <a:p>
                      <a:pPr algn="l" fontAlgn="b">
                        <a:buNone/>
                      </a:pPr>
                      <a:r>
                        <a:rPr lang="en-US" sz="700" b="0" i="0" u="none" strike="noStrike">
                          <a:effectLst/>
                          <a:latin typeface="Calibri" panose="020F0502020204030204" pitchFamily="34" charset="0"/>
                        </a:rPr>
                        <a:t>      8,020.62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245.01 </a:t>
                      </a:r>
                    </a:p>
                  </a:txBody>
                  <a:tcPr marL="6350" marR="6350" marT="6350" marB="0" anchor="ctr"/>
                </a:tc>
                <a:extLst>
                  <a:ext uri="{0D108BD9-81ED-4DB2-BD59-A6C34878D82A}">
                    <a16:rowId xmlns:a16="http://schemas.microsoft.com/office/drawing/2014/main" val="2935546993"/>
                  </a:ext>
                </a:extLst>
              </a:tr>
              <a:tr h="150997">
                <a:tc>
                  <a:txBody>
                    <a:bodyPr/>
                    <a:lstStyle/>
                    <a:p>
                      <a:pPr algn="l" fontAlgn="b">
                        <a:buNone/>
                      </a:pPr>
                      <a:r>
                        <a:rPr lang="en-US" sz="700" b="0" i="0" u="none" strike="noStrike">
                          <a:effectLst/>
                          <a:latin typeface="Calibri" panose="020F0502020204030204" pitchFamily="34" charset="0"/>
                        </a:rPr>
                        <a:t>Logistic</a:t>
                      </a:r>
                    </a:p>
                  </a:txBody>
                  <a:tcPr marL="6350" marR="6350" marT="6350" marB="0" anchor="ctr"/>
                </a:tc>
                <a:tc>
                  <a:txBody>
                    <a:bodyPr/>
                    <a:lstStyle/>
                    <a:p>
                      <a:pPr algn="r" fontAlgn="b">
                        <a:buNone/>
                      </a:pPr>
                      <a:r>
                        <a:rPr lang="en-US" sz="700" b="0" i="0" u="none" strike="noStrike">
                          <a:effectLst/>
                          <a:latin typeface="Calibri" panose="020F0502020204030204" pitchFamily="34" charset="0"/>
                        </a:rPr>
                        <a:t>82.24</a:t>
                      </a:r>
                    </a:p>
                  </a:txBody>
                  <a:tcPr marL="6350" marR="6350" marT="6350" marB="0" anchor="ctr"/>
                </a:tc>
                <a:tc>
                  <a:txBody>
                    <a:bodyPr/>
                    <a:lstStyle/>
                    <a:p>
                      <a:pPr algn="l" fontAlgn="b">
                        <a:buNone/>
                      </a:pPr>
                      <a:r>
                        <a:rPr lang="en-US" sz="700" b="0" i="0" u="none" strike="noStrike">
                          <a:effectLst/>
                          <a:latin typeface="Calibri" panose="020F0502020204030204" pitchFamily="34" charset="0"/>
                        </a:rPr>
                        <a:t>         824.62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35.92 </a:t>
                      </a:r>
                    </a:p>
                  </a:txBody>
                  <a:tcPr marL="6350" marR="6350" marT="6350" marB="0" anchor="ctr"/>
                </a:tc>
                <a:extLst>
                  <a:ext uri="{0D108BD9-81ED-4DB2-BD59-A6C34878D82A}">
                    <a16:rowId xmlns:a16="http://schemas.microsoft.com/office/drawing/2014/main" val="2926668864"/>
                  </a:ext>
                </a:extLst>
              </a:tr>
              <a:tr h="150997">
                <a:tc>
                  <a:txBody>
                    <a:bodyPr/>
                    <a:lstStyle/>
                    <a:p>
                      <a:pPr algn="l" fontAlgn="b">
                        <a:buNone/>
                      </a:pPr>
                      <a:r>
                        <a:rPr lang="en-US" sz="700" b="0" i="0" u="none" strike="noStrike">
                          <a:effectLst/>
                          <a:latin typeface="Calibri" panose="020F0502020204030204" pitchFamily="34" charset="0"/>
                        </a:rPr>
                        <a:t>Mining</a:t>
                      </a:r>
                    </a:p>
                  </a:txBody>
                  <a:tcPr marL="6350" marR="6350" marT="6350" marB="0" anchor="ctr"/>
                </a:tc>
                <a:tc>
                  <a:txBody>
                    <a:bodyPr/>
                    <a:lstStyle/>
                    <a:p>
                      <a:pPr algn="r" fontAlgn="b">
                        <a:buNone/>
                      </a:pPr>
                      <a:r>
                        <a:rPr lang="en-US" sz="700" b="0" i="0" u="none" strike="noStrike">
                          <a:effectLst/>
                          <a:latin typeface="Calibri" panose="020F0502020204030204" pitchFamily="34" charset="0"/>
                        </a:rPr>
                        <a:t>60</a:t>
                      </a:r>
                    </a:p>
                  </a:txBody>
                  <a:tcPr marL="6350" marR="6350" marT="6350" marB="0" anchor="ctr"/>
                </a:tc>
                <a:tc>
                  <a:txBody>
                    <a:bodyPr/>
                    <a:lstStyle/>
                    <a:p>
                      <a:pPr algn="l" fontAlgn="b">
                        <a:buNone/>
                      </a:pPr>
                      <a:r>
                        <a:rPr lang="en-US" sz="700" b="0" i="0" u="none" strike="noStrike">
                          <a:effectLst/>
                          <a:latin typeface="Calibri" panose="020F0502020204030204" pitchFamily="34" charset="0"/>
                        </a:rPr>
                        <a:t>         586.04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81.13 </a:t>
                      </a:r>
                    </a:p>
                  </a:txBody>
                  <a:tcPr marL="6350" marR="6350" marT="6350" marB="0" anchor="ctr"/>
                </a:tc>
                <a:extLst>
                  <a:ext uri="{0D108BD9-81ED-4DB2-BD59-A6C34878D82A}">
                    <a16:rowId xmlns:a16="http://schemas.microsoft.com/office/drawing/2014/main" val="1915376000"/>
                  </a:ext>
                </a:extLst>
              </a:tr>
              <a:tr h="150997">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tc>
                <a:tc>
                  <a:txBody>
                    <a:bodyPr/>
                    <a:lstStyle/>
                    <a:p>
                      <a:pPr algn="r" fontAlgn="b">
                        <a:buNone/>
                      </a:pPr>
                      <a:r>
                        <a:rPr lang="en-US" sz="700" b="0" i="0" u="none" strike="noStrike">
                          <a:effectLst/>
                          <a:latin typeface="Calibri" panose="020F0502020204030204" pitchFamily="34" charset="0"/>
                        </a:rPr>
                        <a:t>163.52</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1,749.33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356.58 </a:t>
                      </a:r>
                    </a:p>
                  </a:txBody>
                  <a:tcPr marL="6350" marR="6350" marT="6350" marB="0" anchor="ctr"/>
                </a:tc>
                <a:extLst>
                  <a:ext uri="{0D108BD9-81ED-4DB2-BD59-A6C34878D82A}">
                    <a16:rowId xmlns:a16="http://schemas.microsoft.com/office/drawing/2014/main" val="2844453631"/>
                  </a:ext>
                </a:extLst>
              </a:tr>
              <a:tr h="150997">
                <a:tc>
                  <a:txBody>
                    <a:bodyPr/>
                    <a:lstStyle/>
                    <a:p>
                      <a:pPr algn="l" fontAlgn="b">
                        <a:buNone/>
                      </a:pPr>
                      <a:r>
                        <a:rPr lang="en-US" sz="700" b="0" i="0" u="none" strike="noStrike">
                          <a:effectLst/>
                          <a:latin typeface="Calibri" panose="020F0502020204030204" pitchFamily="34" charset="0"/>
                        </a:rPr>
                        <a:t>Quality Assurance</a:t>
                      </a:r>
                    </a:p>
                  </a:txBody>
                  <a:tcPr marL="6350" marR="6350" marT="6350" marB="0" anchor="ctr"/>
                </a:tc>
                <a:tc>
                  <a:txBody>
                    <a:bodyPr/>
                    <a:lstStyle/>
                    <a:p>
                      <a:pPr algn="r" fontAlgn="b">
                        <a:buNone/>
                      </a:pPr>
                      <a:r>
                        <a:rPr lang="en-US" sz="700" b="0" i="0" u="none" strike="noStrike">
                          <a:effectLst/>
                          <a:latin typeface="Calibri" panose="020F0502020204030204" pitchFamily="34" charset="0"/>
                        </a:rPr>
                        <a:t>101.13</a:t>
                      </a:r>
                    </a:p>
                  </a:txBody>
                  <a:tcPr marL="6350" marR="6350" marT="6350" marB="0" anchor="ctr"/>
                </a:tc>
                <a:tc>
                  <a:txBody>
                    <a:bodyPr/>
                    <a:lstStyle/>
                    <a:p>
                      <a:pPr algn="l" fontAlgn="b">
                        <a:buNone/>
                      </a:pPr>
                      <a:r>
                        <a:rPr lang="en-US" sz="700" b="0" i="0" u="none" strike="noStrike">
                          <a:effectLst/>
                          <a:latin typeface="Calibri" panose="020F0502020204030204" pitchFamily="34" charset="0"/>
                        </a:rPr>
                        <a:t>         774.63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105.06 </a:t>
                      </a:r>
                    </a:p>
                  </a:txBody>
                  <a:tcPr marL="6350" marR="6350" marT="6350" marB="0" anchor="ctr"/>
                </a:tc>
                <a:extLst>
                  <a:ext uri="{0D108BD9-81ED-4DB2-BD59-A6C34878D82A}">
                    <a16:rowId xmlns:a16="http://schemas.microsoft.com/office/drawing/2014/main" val="967623150"/>
                  </a:ext>
                </a:extLst>
              </a:tr>
              <a:tr h="150997">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tc>
                <a:tc>
                  <a:txBody>
                    <a:bodyPr/>
                    <a:lstStyle/>
                    <a:p>
                      <a:pPr algn="r" fontAlgn="b">
                        <a:buNone/>
                      </a:pPr>
                      <a:r>
                        <a:rPr lang="en-US" sz="700" b="0" i="0" u="none" strike="noStrike">
                          <a:effectLst/>
                          <a:latin typeface="Calibri" panose="020F0502020204030204" pitchFamily="34" charset="0"/>
                        </a:rPr>
                        <a:t>784.18</a:t>
                      </a:r>
                    </a:p>
                  </a:txBody>
                  <a:tcPr marL="6350" marR="6350" marT="6350" marB="0" anchor="ctr"/>
                </a:tc>
                <a:tc>
                  <a:txBody>
                    <a:bodyPr/>
                    <a:lstStyle/>
                    <a:p>
                      <a:pPr algn="l" fontAlgn="b">
                        <a:buNone/>
                      </a:pPr>
                      <a:r>
                        <a:rPr lang="en-US" sz="700" b="0" i="0" u="none" strike="noStrike">
                          <a:effectLst/>
                          <a:latin typeface="Calibri" panose="020F0502020204030204" pitchFamily="34" charset="0"/>
                        </a:rPr>
                        <a:t>      8,020.62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245.01 </a:t>
                      </a:r>
                    </a:p>
                  </a:txBody>
                  <a:tcPr marL="6350" marR="6350" marT="6350" marB="0" anchor="ctr"/>
                </a:tc>
                <a:extLst>
                  <a:ext uri="{0D108BD9-81ED-4DB2-BD59-A6C34878D82A}">
                    <a16:rowId xmlns:a16="http://schemas.microsoft.com/office/drawing/2014/main" val="2368189079"/>
                  </a:ext>
                </a:extLst>
              </a:tr>
              <a:tr h="150997">
                <a:tc>
                  <a:txBody>
                    <a:bodyPr/>
                    <a:lstStyle/>
                    <a:p>
                      <a:pPr algn="l" fontAlgn="b">
                        <a:buNone/>
                      </a:pPr>
                      <a:r>
                        <a:rPr lang="en-US" sz="700" b="0" i="0" u="none" strike="noStrike">
                          <a:effectLst/>
                          <a:latin typeface="Calibri" panose="020F0502020204030204" pitchFamily="34" charset="0"/>
                        </a:rPr>
                        <a:t>Logistic</a:t>
                      </a:r>
                    </a:p>
                  </a:txBody>
                  <a:tcPr marL="6350" marR="6350" marT="6350" marB="0" anchor="ctr"/>
                </a:tc>
                <a:tc>
                  <a:txBody>
                    <a:bodyPr/>
                    <a:lstStyle/>
                    <a:p>
                      <a:pPr algn="r" fontAlgn="b">
                        <a:buNone/>
                      </a:pPr>
                      <a:r>
                        <a:rPr lang="en-US" sz="700" b="0" i="0" u="none" strike="noStrike">
                          <a:effectLst/>
                          <a:latin typeface="Calibri" panose="020F0502020204030204" pitchFamily="34" charset="0"/>
                        </a:rPr>
                        <a:t>82.24</a:t>
                      </a:r>
                    </a:p>
                  </a:txBody>
                  <a:tcPr marL="6350" marR="6350" marT="6350" marB="0" anchor="ctr"/>
                </a:tc>
                <a:tc>
                  <a:txBody>
                    <a:bodyPr/>
                    <a:lstStyle/>
                    <a:p>
                      <a:pPr algn="l" fontAlgn="b">
                        <a:buNone/>
                      </a:pPr>
                      <a:r>
                        <a:rPr lang="en-US" sz="700" b="0" i="0" u="none" strike="noStrike">
                          <a:effectLst/>
                          <a:latin typeface="Calibri" panose="020F0502020204030204" pitchFamily="34" charset="0"/>
                        </a:rPr>
                        <a:t>         824.62 </a:t>
                      </a:r>
                    </a:p>
                  </a:txBody>
                  <a:tcPr marL="6350" marR="6350" marT="6350" marB="0" anchor="ctr"/>
                </a:tc>
                <a:tc>
                  <a:txBody>
                    <a:bodyPr/>
                    <a:lstStyle/>
                    <a:p>
                      <a:pPr algn="l" fontAlgn="b">
                        <a:buNone/>
                      </a:pPr>
                      <a:r>
                        <a:rPr lang="en-US" sz="700" b="0" i="0" u="none" strike="noStrike" dirty="0">
                          <a:effectLst/>
                          <a:latin typeface="Calibri" panose="020F0502020204030204" pitchFamily="34" charset="0"/>
                        </a:rPr>
                        <a:t>              35.92 </a:t>
                      </a:r>
                    </a:p>
                  </a:txBody>
                  <a:tcPr marL="6350" marR="6350" marT="6350" marB="0" anchor="ctr"/>
                </a:tc>
                <a:extLst>
                  <a:ext uri="{0D108BD9-81ED-4DB2-BD59-A6C34878D82A}">
                    <a16:rowId xmlns:a16="http://schemas.microsoft.com/office/drawing/2014/main" val="63985316"/>
                  </a:ext>
                </a:extLst>
              </a:tr>
            </a:tbl>
          </a:graphicData>
        </a:graphic>
      </p:graphicFrame>
      <p:graphicFrame>
        <p:nvGraphicFramePr>
          <p:cNvPr id="8" name="Table 7">
            <a:extLst>
              <a:ext uri="{FF2B5EF4-FFF2-40B4-BE49-F238E27FC236}">
                <a16:creationId xmlns:a16="http://schemas.microsoft.com/office/drawing/2014/main" id="{2518763A-B38D-E7C4-2BF6-066BCDCACCE2}"/>
              </a:ext>
            </a:extLst>
          </p:cNvPr>
          <p:cNvGraphicFramePr>
            <a:graphicFrameLocks noGrp="1"/>
          </p:cNvGraphicFramePr>
          <p:nvPr>
            <p:extLst>
              <p:ext uri="{D42A27DB-BD31-4B8C-83A1-F6EECF244321}">
                <p14:modId xmlns:p14="http://schemas.microsoft.com/office/powerpoint/2010/main" val="2641975890"/>
              </p:ext>
            </p:extLst>
          </p:nvPr>
        </p:nvGraphicFramePr>
        <p:xfrm>
          <a:off x="225877" y="676154"/>
          <a:ext cx="4134555" cy="6146878"/>
        </p:xfrm>
        <a:graphic>
          <a:graphicData uri="http://schemas.openxmlformats.org/drawingml/2006/table">
            <a:tbl>
              <a:tblPr>
                <a:tableStyleId>{00A15C55-8517-42AA-B614-E9B94910E393}</a:tableStyleId>
              </a:tblPr>
              <a:tblGrid>
                <a:gridCol w="474781">
                  <a:extLst>
                    <a:ext uri="{9D8B030D-6E8A-4147-A177-3AD203B41FA5}">
                      <a16:colId xmlns:a16="http://schemas.microsoft.com/office/drawing/2014/main" val="2375148642"/>
                    </a:ext>
                  </a:extLst>
                </a:gridCol>
                <a:gridCol w="969347">
                  <a:extLst>
                    <a:ext uri="{9D8B030D-6E8A-4147-A177-3AD203B41FA5}">
                      <a16:colId xmlns:a16="http://schemas.microsoft.com/office/drawing/2014/main" val="3888970453"/>
                    </a:ext>
                  </a:extLst>
                </a:gridCol>
                <a:gridCol w="474781">
                  <a:extLst>
                    <a:ext uri="{9D8B030D-6E8A-4147-A177-3AD203B41FA5}">
                      <a16:colId xmlns:a16="http://schemas.microsoft.com/office/drawing/2014/main" val="3325392612"/>
                    </a:ext>
                  </a:extLst>
                </a:gridCol>
                <a:gridCol w="692389">
                  <a:extLst>
                    <a:ext uri="{9D8B030D-6E8A-4147-A177-3AD203B41FA5}">
                      <a16:colId xmlns:a16="http://schemas.microsoft.com/office/drawing/2014/main" val="3031493645"/>
                    </a:ext>
                  </a:extLst>
                </a:gridCol>
                <a:gridCol w="642933">
                  <a:extLst>
                    <a:ext uri="{9D8B030D-6E8A-4147-A177-3AD203B41FA5}">
                      <a16:colId xmlns:a16="http://schemas.microsoft.com/office/drawing/2014/main" val="2604081902"/>
                    </a:ext>
                  </a:extLst>
                </a:gridCol>
                <a:gridCol w="880324">
                  <a:extLst>
                    <a:ext uri="{9D8B030D-6E8A-4147-A177-3AD203B41FA5}">
                      <a16:colId xmlns:a16="http://schemas.microsoft.com/office/drawing/2014/main" val="1208268115"/>
                    </a:ext>
                  </a:extLst>
                </a:gridCol>
              </a:tblGrid>
              <a:tr h="103617">
                <a:tc>
                  <a:txBody>
                    <a:bodyPr/>
                    <a:lstStyle/>
                    <a:p>
                      <a:pPr algn="ctr" fontAlgn="b">
                        <a:buNone/>
                      </a:pPr>
                      <a:r>
                        <a:rPr lang="en-US" sz="700" b="1" u="none" strike="noStrike" dirty="0">
                          <a:solidFill>
                            <a:srgbClr val="FFFFFF"/>
                          </a:solidFill>
                          <a:effectLst/>
                        </a:rPr>
                        <a:t>ID</a:t>
                      </a:r>
                      <a:endParaRPr lang="en-US" sz="700" b="1" i="0" u="none" strike="noStrike" dirty="0">
                        <a:solidFill>
                          <a:srgbClr val="FFFFFF"/>
                        </a:solidFill>
                        <a:effectLst/>
                        <a:latin typeface="Calibri" panose="020F0502020204030204" pitchFamily="34" charset="0"/>
                      </a:endParaRPr>
                    </a:p>
                  </a:txBody>
                  <a:tcPr marL="2809" marR="2809" marT="2809" marB="0" anchor="ctr">
                    <a:solidFill>
                      <a:schemeClr val="accent3">
                        <a:lumMod val="50000"/>
                      </a:schemeClr>
                    </a:solidFill>
                  </a:tcPr>
                </a:tc>
                <a:tc>
                  <a:txBody>
                    <a:bodyPr/>
                    <a:lstStyle/>
                    <a:p>
                      <a:pPr algn="ctr" fontAlgn="b">
                        <a:buNone/>
                      </a:pPr>
                      <a:r>
                        <a:rPr lang="en-US" sz="700" b="1" u="none" strike="noStrike" dirty="0">
                          <a:solidFill>
                            <a:srgbClr val="FFFFFF"/>
                          </a:solidFill>
                          <a:effectLst/>
                        </a:rPr>
                        <a:t>Names</a:t>
                      </a:r>
                      <a:endParaRPr lang="en-US" sz="700" b="1" i="0" u="none" strike="noStrike" dirty="0">
                        <a:solidFill>
                          <a:srgbClr val="FFFFFF"/>
                        </a:solidFill>
                        <a:effectLst/>
                        <a:latin typeface="Calibri" panose="020F0502020204030204" pitchFamily="34" charset="0"/>
                      </a:endParaRPr>
                    </a:p>
                  </a:txBody>
                  <a:tcPr marL="2809" marR="2809" marT="2809" marB="0" anchor="ctr">
                    <a:solidFill>
                      <a:schemeClr val="accent3">
                        <a:lumMod val="50000"/>
                      </a:schemeClr>
                    </a:solidFill>
                  </a:tcPr>
                </a:tc>
                <a:tc>
                  <a:txBody>
                    <a:bodyPr/>
                    <a:lstStyle/>
                    <a:p>
                      <a:pPr algn="ctr" fontAlgn="b">
                        <a:buNone/>
                      </a:pPr>
                      <a:r>
                        <a:rPr lang="en-US" sz="700" b="1" u="none" strike="noStrike" dirty="0">
                          <a:solidFill>
                            <a:srgbClr val="FFFFFF"/>
                          </a:solidFill>
                          <a:effectLst/>
                        </a:rPr>
                        <a:t>Hours</a:t>
                      </a:r>
                      <a:endParaRPr lang="en-US" sz="700" b="1" i="0" u="none" strike="noStrike" dirty="0">
                        <a:solidFill>
                          <a:srgbClr val="FFFFFF"/>
                        </a:solidFill>
                        <a:effectLst/>
                        <a:latin typeface="Calibri" panose="020F0502020204030204" pitchFamily="34" charset="0"/>
                      </a:endParaRPr>
                    </a:p>
                  </a:txBody>
                  <a:tcPr marL="2809" marR="2809" marT="2809" marB="0" anchor="ctr">
                    <a:solidFill>
                      <a:schemeClr val="accent3">
                        <a:lumMod val="50000"/>
                      </a:schemeClr>
                    </a:solidFill>
                  </a:tcPr>
                </a:tc>
                <a:tc>
                  <a:txBody>
                    <a:bodyPr/>
                    <a:lstStyle/>
                    <a:p>
                      <a:pPr algn="ctr" fontAlgn="b">
                        <a:buNone/>
                      </a:pPr>
                      <a:r>
                        <a:rPr lang="en-US" sz="700" b="1" u="none" strike="noStrike" dirty="0">
                          <a:solidFill>
                            <a:srgbClr val="FFFFFF"/>
                          </a:solidFill>
                          <a:effectLst/>
                        </a:rPr>
                        <a:t> Cost </a:t>
                      </a:r>
                      <a:endParaRPr lang="en-US" sz="700" b="1" i="0" u="none" strike="noStrike" dirty="0">
                        <a:solidFill>
                          <a:srgbClr val="FFFFFF"/>
                        </a:solidFill>
                        <a:effectLst/>
                        <a:latin typeface="Calibri" panose="020F0502020204030204" pitchFamily="34" charset="0"/>
                      </a:endParaRPr>
                    </a:p>
                  </a:txBody>
                  <a:tcPr marL="2809" marR="2809" marT="2809" marB="0" anchor="ctr">
                    <a:solidFill>
                      <a:schemeClr val="accent3">
                        <a:lumMod val="50000"/>
                      </a:schemeClr>
                    </a:solidFill>
                  </a:tcPr>
                </a:tc>
                <a:tc>
                  <a:txBody>
                    <a:bodyPr/>
                    <a:lstStyle/>
                    <a:p>
                      <a:pPr algn="ctr" fontAlgn="b">
                        <a:buNone/>
                      </a:pPr>
                      <a:r>
                        <a:rPr lang="en-US" sz="700" b="1" u="none" strike="noStrike" dirty="0">
                          <a:solidFill>
                            <a:srgbClr val="FFFFFF"/>
                          </a:solidFill>
                          <a:effectLst/>
                        </a:rPr>
                        <a:t>Leave</a:t>
                      </a:r>
                      <a:endParaRPr lang="en-US" sz="700" b="1" i="0" u="none" strike="noStrike" dirty="0">
                        <a:solidFill>
                          <a:srgbClr val="FFFFFF"/>
                        </a:solidFill>
                        <a:effectLst/>
                        <a:latin typeface="Calibri" panose="020F0502020204030204" pitchFamily="34" charset="0"/>
                      </a:endParaRPr>
                    </a:p>
                  </a:txBody>
                  <a:tcPr marL="2809" marR="2809" marT="2809" marB="0" anchor="ctr">
                    <a:solidFill>
                      <a:schemeClr val="accent3">
                        <a:lumMod val="50000"/>
                      </a:schemeClr>
                    </a:solidFill>
                  </a:tcPr>
                </a:tc>
                <a:tc>
                  <a:txBody>
                    <a:bodyPr/>
                    <a:lstStyle/>
                    <a:p>
                      <a:pPr algn="ctr" fontAlgn="b">
                        <a:buNone/>
                      </a:pPr>
                      <a:r>
                        <a:rPr lang="en-US" sz="700" b="1" u="none" strike="noStrike" dirty="0">
                          <a:solidFill>
                            <a:srgbClr val="FFFFFF"/>
                          </a:solidFill>
                          <a:effectLst/>
                        </a:rPr>
                        <a:t>DPT</a:t>
                      </a:r>
                    </a:p>
                    <a:p>
                      <a:pPr algn="ctr" fontAlgn="b">
                        <a:buNone/>
                      </a:pPr>
                      <a:endParaRPr lang="en-US" sz="700" b="1" i="0" u="none" strike="noStrike" dirty="0">
                        <a:solidFill>
                          <a:srgbClr val="FFFFFF"/>
                        </a:solidFill>
                        <a:effectLst/>
                        <a:latin typeface="Calibri" panose="020F0502020204030204" pitchFamily="34" charset="0"/>
                      </a:endParaRPr>
                    </a:p>
                  </a:txBody>
                  <a:tcPr marL="2809" marR="2809" marT="2809" marB="0" anchor="ctr">
                    <a:solidFill>
                      <a:schemeClr val="accent3">
                        <a:lumMod val="50000"/>
                      </a:schemeClr>
                    </a:solidFill>
                  </a:tcPr>
                </a:tc>
                <a:extLst>
                  <a:ext uri="{0D108BD9-81ED-4DB2-BD59-A6C34878D82A}">
                    <a16:rowId xmlns:a16="http://schemas.microsoft.com/office/drawing/2014/main" val="1517895436"/>
                  </a:ext>
                </a:extLst>
              </a:tr>
              <a:tr h="185305">
                <a:tc>
                  <a:txBody>
                    <a:bodyPr/>
                    <a:lstStyle/>
                    <a:p>
                      <a:pPr algn="ctr" fontAlgn="b">
                        <a:buNone/>
                      </a:pPr>
                      <a:r>
                        <a:rPr lang="en-US" sz="700" b="0" u="none" strike="noStrike" dirty="0">
                          <a:effectLst/>
                        </a:rPr>
                        <a:t>1</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l" fontAlgn="b">
                        <a:buNone/>
                      </a:pPr>
                      <a:r>
                        <a:rPr lang="en-US" sz="700" b="0" u="none" strike="noStrike" dirty="0">
                          <a:effectLst/>
                        </a:rPr>
                        <a:t>Patience Mansiamina</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r" fontAlgn="b">
                        <a:buNone/>
                      </a:pPr>
                      <a:r>
                        <a:rPr lang="en-US" sz="700" b="0" i="0" u="none" strike="noStrike" dirty="0">
                          <a:effectLst/>
                          <a:latin typeface="Calibri" panose="020F0502020204030204" pitchFamily="34" charset="0"/>
                        </a:rPr>
                        <a:t>101.92</a:t>
                      </a:r>
                    </a:p>
                  </a:txBody>
                  <a:tcPr marL="6350" marR="6350" marT="6350" marB="0" anchor="ctr">
                    <a:solidFill>
                      <a:schemeClr val="accent4">
                        <a:lumMod val="60000"/>
                        <a:lumOff val="40000"/>
                      </a:schemeClr>
                    </a:solidFill>
                  </a:tcPr>
                </a:tc>
                <a:tc>
                  <a:txBody>
                    <a:bodyPr/>
                    <a:lstStyle/>
                    <a:p>
                      <a:pPr algn="ctr" fontAlgn="b">
                        <a:buNone/>
                      </a:pPr>
                      <a:r>
                        <a:rPr lang="en-US" sz="700" b="0" u="none" strike="noStrike">
                          <a:effectLst/>
                        </a:rPr>
                        <a:t>  2,987,391.72 </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a:effectLst/>
                        </a:rPr>
                        <a:t>             22.50 </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dirty="0">
                          <a:effectLst/>
                        </a:rPr>
                        <a:t>Engineering</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extLst>
                  <a:ext uri="{0D108BD9-81ED-4DB2-BD59-A6C34878D82A}">
                    <a16:rowId xmlns:a16="http://schemas.microsoft.com/office/drawing/2014/main" val="3235117561"/>
                  </a:ext>
                </a:extLst>
              </a:tr>
              <a:tr h="106968">
                <a:tc>
                  <a:txBody>
                    <a:bodyPr/>
                    <a:lstStyle/>
                    <a:p>
                      <a:pPr algn="ctr" fontAlgn="b">
                        <a:buNone/>
                      </a:pPr>
                      <a:r>
                        <a:rPr lang="en-US" sz="700" b="0" u="none" strike="noStrike">
                          <a:effectLst/>
                        </a:rPr>
                        <a:t>2</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l" fontAlgn="b">
                        <a:buNone/>
                      </a:pPr>
                      <a:r>
                        <a:rPr lang="en-US" sz="700" b="0" u="none" strike="noStrike" dirty="0">
                          <a:effectLst/>
                        </a:rPr>
                        <a:t>LUZOLO NSEMBOLO</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r" fontAlgn="b">
                        <a:buNone/>
                      </a:pPr>
                      <a:r>
                        <a:rPr lang="en-US" sz="700" b="0" i="0" u="none" strike="noStrike" dirty="0">
                          <a:effectLst/>
                          <a:latin typeface="Calibri" panose="020F0502020204030204" pitchFamily="34" charset="0"/>
                        </a:rPr>
                        <a:t>84.7</a:t>
                      </a:r>
                    </a:p>
                  </a:txBody>
                  <a:tcPr marL="6350" marR="6350" marT="6350" marB="0" anchor="ctr">
                    <a:solidFill>
                      <a:schemeClr val="accent4">
                        <a:lumMod val="60000"/>
                        <a:lumOff val="40000"/>
                      </a:schemeClr>
                    </a:solidFill>
                  </a:tcPr>
                </a:tc>
                <a:tc>
                  <a:txBody>
                    <a:bodyPr/>
                    <a:lstStyle/>
                    <a:p>
                      <a:pPr algn="ctr" fontAlgn="b">
                        <a:buNone/>
                      </a:pPr>
                      <a:r>
                        <a:rPr lang="en-US" sz="700" b="0" u="none" strike="noStrike">
                          <a:effectLst/>
                        </a:rPr>
                        <a:t>  2,381,970.78 </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a:effectLst/>
                        </a:rPr>
                        <a:t>             18.76 </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dirty="0">
                          <a:effectLst/>
                        </a:rPr>
                        <a:t>Engineering</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extLst>
                  <a:ext uri="{0D108BD9-81ED-4DB2-BD59-A6C34878D82A}">
                    <a16:rowId xmlns:a16="http://schemas.microsoft.com/office/drawing/2014/main" val="1675407738"/>
                  </a:ext>
                </a:extLst>
              </a:tr>
              <a:tr h="106968">
                <a:tc>
                  <a:txBody>
                    <a:bodyPr/>
                    <a:lstStyle/>
                    <a:p>
                      <a:pPr algn="ctr" fontAlgn="b">
                        <a:buNone/>
                      </a:pPr>
                      <a:r>
                        <a:rPr lang="en-US" sz="700" b="0" u="none" strike="noStrike">
                          <a:effectLst/>
                        </a:rPr>
                        <a:t>3</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l" fontAlgn="b">
                        <a:buNone/>
                      </a:pPr>
                      <a:r>
                        <a:rPr lang="en-US" sz="700" b="0" u="none" strike="noStrike" dirty="0">
                          <a:effectLst/>
                        </a:rPr>
                        <a:t>Simon Bayisa</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r" fontAlgn="b">
                        <a:buNone/>
                      </a:pPr>
                      <a:r>
                        <a:rPr lang="en-US" sz="700" b="0" i="0" u="none" strike="noStrike" dirty="0">
                          <a:effectLst/>
                          <a:latin typeface="Calibri" panose="020F0502020204030204" pitchFamily="34" charset="0"/>
                        </a:rPr>
                        <a:t>80.55</a:t>
                      </a:r>
                    </a:p>
                  </a:txBody>
                  <a:tcPr marL="6350" marR="6350" marT="6350" marB="0" anchor="ctr">
                    <a:solidFill>
                      <a:schemeClr val="accent4">
                        <a:lumMod val="60000"/>
                        <a:lumOff val="40000"/>
                      </a:schemeClr>
                    </a:solidFill>
                  </a:tcPr>
                </a:tc>
                <a:tc>
                  <a:txBody>
                    <a:bodyPr/>
                    <a:lstStyle/>
                    <a:p>
                      <a:pPr algn="ctr" fontAlgn="b">
                        <a:buNone/>
                      </a:pPr>
                      <a:r>
                        <a:rPr lang="en-US" sz="700" b="0" u="none" strike="noStrike">
                          <a:effectLst/>
                        </a:rPr>
                        <a:t>  2,069,309.03 </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a:effectLst/>
                        </a:rPr>
                        <a:t>             25.25 </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a:effectLst/>
                        </a:rPr>
                        <a:t>Engineering</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extLst>
                  <a:ext uri="{0D108BD9-81ED-4DB2-BD59-A6C34878D82A}">
                    <a16:rowId xmlns:a16="http://schemas.microsoft.com/office/drawing/2014/main" val="4112182485"/>
                  </a:ext>
                </a:extLst>
              </a:tr>
              <a:tr h="185305">
                <a:tc>
                  <a:txBody>
                    <a:bodyPr/>
                    <a:lstStyle/>
                    <a:p>
                      <a:pPr algn="ctr" fontAlgn="b">
                        <a:buNone/>
                      </a:pPr>
                      <a:r>
                        <a:rPr lang="en-US" sz="700" b="0" u="none" strike="noStrike">
                          <a:effectLst/>
                        </a:rPr>
                        <a:t>4</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l" fontAlgn="b">
                        <a:buNone/>
                      </a:pPr>
                      <a:r>
                        <a:rPr lang="en-US" sz="700" b="0" u="none" strike="noStrike">
                          <a:effectLst/>
                        </a:rPr>
                        <a:t>Declairck Nsilulu Ngimbi</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r" fontAlgn="b">
                        <a:buNone/>
                      </a:pPr>
                      <a:r>
                        <a:rPr lang="en-US" sz="700" b="0" i="0" u="none" strike="noStrike">
                          <a:effectLst/>
                          <a:latin typeface="Calibri" panose="020F0502020204030204" pitchFamily="34" charset="0"/>
                        </a:rPr>
                        <a:t>69.66</a:t>
                      </a:r>
                    </a:p>
                  </a:txBody>
                  <a:tcPr marL="6350" marR="6350" marT="6350" marB="0" anchor="ctr">
                    <a:solidFill>
                      <a:schemeClr val="accent4">
                        <a:lumMod val="60000"/>
                        <a:lumOff val="40000"/>
                      </a:schemeClr>
                    </a:solidFill>
                  </a:tcPr>
                </a:tc>
                <a:tc>
                  <a:txBody>
                    <a:bodyPr/>
                    <a:lstStyle/>
                    <a:p>
                      <a:pPr algn="ctr" fontAlgn="b">
                        <a:buNone/>
                      </a:pPr>
                      <a:r>
                        <a:rPr lang="en-US" sz="700" b="0" u="none" strike="noStrike" dirty="0">
                          <a:effectLst/>
                        </a:rPr>
                        <a:t>     569,733.75 </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dirty="0">
                          <a:effectLst/>
                        </a:rPr>
                        <a:t>               5.38 </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a:effectLst/>
                        </a:rPr>
                        <a:t>Engineering</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extLst>
                  <a:ext uri="{0D108BD9-81ED-4DB2-BD59-A6C34878D82A}">
                    <a16:rowId xmlns:a16="http://schemas.microsoft.com/office/drawing/2014/main" val="1797803819"/>
                  </a:ext>
                </a:extLst>
              </a:tr>
              <a:tr h="106968">
                <a:tc>
                  <a:txBody>
                    <a:bodyPr/>
                    <a:lstStyle/>
                    <a:p>
                      <a:pPr algn="ctr" fontAlgn="b">
                        <a:buNone/>
                      </a:pPr>
                      <a:r>
                        <a:rPr lang="en-US" sz="700" b="0" u="none" strike="noStrike">
                          <a:effectLst/>
                        </a:rPr>
                        <a:t>5</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l" fontAlgn="b">
                        <a:buNone/>
                      </a:pPr>
                      <a:r>
                        <a:rPr lang="en-US" sz="700" b="0" u="none" strike="noStrike" dirty="0">
                          <a:effectLst/>
                        </a:rPr>
                        <a:t>Antoine Nzungu</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r" fontAlgn="b">
                        <a:buNone/>
                      </a:pPr>
                      <a:r>
                        <a:rPr lang="en-US" sz="700" b="0" i="0" u="none" strike="noStrike" dirty="0">
                          <a:effectLst/>
                          <a:latin typeface="Calibri" panose="020F0502020204030204" pitchFamily="34" charset="0"/>
                        </a:rPr>
                        <a:t>63.47</a:t>
                      </a:r>
                    </a:p>
                  </a:txBody>
                  <a:tcPr marL="6350" marR="6350" marT="6350" marB="0" anchor="ctr">
                    <a:solidFill>
                      <a:schemeClr val="accent4">
                        <a:lumMod val="60000"/>
                        <a:lumOff val="40000"/>
                      </a:schemeClr>
                    </a:solidFill>
                  </a:tcPr>
                </a:tc>
                <a:tc>
                  <a:txBody>
                    <a:bodyPr/>
                    <a:lstStyle/>
                    <a:p>
                      <a:pPr algn="ctr" fontAlgn="b">
                        <a:buNone/>
                      </a:pPr>
                      <a:r>
                        <a:rPr lang="en-US" sz="700" b="0" u="none" strike="noStrike">
                          <a:effectLst/>
                        </a:rPr>
                        <a:t>  1,691,168.64 </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dirty="0">
                          <a:effectLst/>
                        </a:rPr>
                        <a:t>             18.84 </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a:effectLst/>
                        </a:rPr>
                        <a:t>Engineering</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extLst>
                  <a:ext uri="{0D108BD9-81ED-4DB2-BD59-A6C34878D82A}">
                    <a16:rowId xmlns:a16="http://schemas.microsoft.com/office/drawing/2014/main" val="2974694007"/>
                  </a:ext>
                </a:extLst>
              </a:tr>
              <a:tr h="185305">
                <a:tc>
                  <a:txBody>
                    <a:bodyPr/>
                    <a:lstStyle/>
                    <a:p>
                      <a:pPr algn="ctr" fontAlgn="b">
                        <a:buNone/>
                      </a:pPr>
                      <a:r>
                        <a:rPr lang="en-US" sz="700" b="0" u="none" strike="noStrike">
                          <a:effectLst/>
                        </a:rPr>
                        <a:t>6</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l" fontAlgn="b">
                        <a:buNone/>
                      </a:pPr>
                      <a:r>
                        <a:rPr lang="en-US" sz="700" b="0" u="none" strike="noStrike">
                          <a:effectLst/>
                        </a:rPr>
                        <a:t>Guylain Wampangulua</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r" fontAlgn="b">
                        <a:buNone/>
                      </a:pPr>
                      <a:r>
                        <a:rPr lang="en-US" sz="700" b="0" i="0" u="none" strike="noStrike">
                          <a:effectLst/>
                          <a:latin typeface="Calibri" panose="020F0502020204030204" pitchFamily="34" charset="0"/>
                        </a:rPr>
                        <a:t>61.41</a:t>
                      </a:r>
                    </a:p>
                  </a:txBody>
                  <a:tcPr marL="6350" marR="6350" marT="6350" marB="0" anchor="ctr">
                    <a:solidFill>
                      <a:schemeClr val="accent4">
                        <a:lumMod val="60000"/>
                        <a:lumOff val="40000"/>
                      </a:schemeClr>
                    </a:solidFill>
                  </a:tcPr>
                </a:tc>
                <a:tc>
                  <a:txBody>
                    <a:bodyPr/>
                    <a:lstStyle/>
                    <a:p>
                      <a:pPr algn="ctr" fontAlgn="b">
                        <a:buNone/>
                      </a:pPr>
                      <a:r>
                        <a:rPr lang="en-US" sz="700" b="0" u="none" strike="noStrike" dirty="0">
                          <a:effectLst/>
                        </a:rPr>
                        <a:t>     433,642.91 </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dirty="0">
                          <a:effectLst/>
                        </a:rPr>
                        <a:t>             23.17 </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a:effectLst/>
                        </a:rPr>
                        <a:t>Engineering</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extLst>
                  <a:ext uri="{0D108BD9-81ED-4DB2-BD59-A6C34878D82A}">
                    <a16:rowId xmlns:a16="http://schemas.microsoft.com/office/drawing/2014/main" val="2285703619"/>
                  </a:ext>
                </a:extLst>
              </a:tr>
              <a:tr h="106968">
                <a:tc>
                  <a:txBody>
                    <a:bodyPr/>
                    <a:lstStyle/>
                    <a:p>
                      <a:pPr algn="ctr" fontAlgn="b">
                        <a:buNone/>
                      </a:pPr>
                      <a:r>
                        <a:rPr lang="en-US" sz="700" b="0" u="none" strike="noStrike">
                          <a:effectLst/>
                        </a:rPr>
                        <a:t>7</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l" fontAlgn="b">
                        <a:buNone/>
                      </a:pPr>
                      <a:r>
                        <a:rPr lang="en-US" sz="700" b="0" u="none" strike="noStrike">
                          <a:effectLst/>
                        </a:rPr>
                        <a:t>Jean Biawila</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r" fontAlgn="b">
                        <a:buNone/>
                      </a:pPr>
                      <a:r>
                        <a:rPr lang="en-US" sz="700" b="0" i="0" u="none" strike="noStrike" dirty="0">
                          <a:effectLst/>
                          <a:latin typeface="Calibri" panose="020F0502020204030204" pitchFamily="34" charset="0"/>
                        </a:rPr>
                        <a:t>54.74</a:t>
                      </a:r>
                    </a:p>
                  </a:txBody>
                  <a:tcPr marL="6350" marR="6350" marT="6350" marB="0" anchor="ctr">
                    <a:solidFill>
                      <a:schemeClr val="accent4">
                        <a:lumMod val="60000"/>
                        <a:lumOff val="40000"/>
                      </a:schemeClr>
                    </a:solidFill>
                  </a:tcPr>
                </a:tc>
                <a:tc>
                  <a:txBody>
                    <a:bodyPr/>
                    <a:lstStyle/>
                    <a:p>
                      <a:pPr algn="ctr" fontAlgn="b">
                        <a:buNone/>
                      </a:pPr>
                      <a:r>
                        <a:rPr lang="en-US" sz="700" b="0" u="none" strike="noStrike">
                          <a:effectLst/>
                        </a:rPr>
                        <a:t>  1,077,708.42 </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dirty="0">
                          <a:effectLst/>
                        </a:rPr>
                        <a:t>             22.75 </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a:effectLst/>
                        </a:rPr>
                        <a:t>Logistic</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extLst>
                  <a:ext uri="{0D108BD9-81ED-4DB2-BD59-A6C34878D82A}">
                    <a16:rowId xmlns:a16="http://schemas.microsoft.com/office/drawing/2014/main" val="3286526921"/>
                  </a:ext>
                </a:extLst>
              </a:tr>
              <a:tr h="106968">
                <a:tc>
                  <a:txBody>
                    <a:bodyPr/>
                    <a:lstStyle/>
                    <a:p>
                      <a:pPr algn="ctr" fontAlgn="b">
                        <a:buNone/>
                      </a:pPr>
                      <a:r>
                        <a:rPr lang="en-US" sz="700" b="0" u="none" strike="noStrike">
                          <a:effectLst/>
                        </a:rPr>
                        <a:t>8</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l" fontAlgn="b">
                        <a:buNone/>
                      </a:pPr>
                      <a:r>
                        <a:rPr lang="en-US" sz="700" b="0" u="none" strike="noStrike">
                          <a:effectLst/>
                        </a:rPr>
                        <a:t>Dieu Ngoma</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r" fontAlgn="b">
                        <a:buNone/>
                      </a:pPr>
                      <a:r>
                        <a:rPr lang="en-US" sz="700" b="0" i="0" u="none" strike="noStrike">
                          <a:effectLst/>
                          <a:latin typeface="Calibri" panose="020F0502020204030204" pitchFamily="34" charset="0"/>
                        </a:rPr>
                        <a:t>53.87</a:t>
                      </a:r>
                    </a:p>
                  </a:txBody>
                  <a:tcPr marL="6350" marR="6350" marT="6350" marB="0" anchor="ctr">
                    <a:solidFill>
                      <a:schemeClr val="accent4">
                        <a:lumMod val="60000"/>
                        <a:lumOff val="40000"/>
                      </a:schemeClr>
                    </a:solidFill>
                  </a:tcPr>
                </a:tc>
                <a:tc>
                  <a:txBody>
                    <a:bodyPr/>
                    <a:lstStyle/>
                    <a:p>
                      <a:pPr algn="ctr" fontAlgn="b">
                        <a:buNone/>
                      </a:pPr>
                      <a:r>
                        <a:rPr lang="en-US" sz="700" b="0" u="none" strike="noStrike">
                          <a:effectLst/>
                        </a:rPr>
                        <a:t>  1,629,130.11 </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dirty="0">
                          <a:effectLst/>
                        </a:rPr>
                        <a:t>             24.09 </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dirty="0">
                          <a:effectLst/>
                        </a:rPr>
                        <a:t>Engineering</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extLst>
                  <a:ext uri="{0D108BD9-81ED-4DB2-BD59-A6C34878D82A}">
                    <a16:rowId xmlns:a16="http://schemas.microsoft.com/office/drawing/2014/main" val="2499937219"/>
                  </a:ext>
                </a:extLst>
              </a:tr>
              <a:tr h="106968">
                <a:tc>
                  <a:txBody>
                    <a:bodyPr/>
                    <a:lstStyle/>
                    <a:p>
                      <a:pPr algn="ctr" fontAlgn="b">
                        <a:buNone/>
                      </a:pPr>
                      <a:r>
                        <a:rPr lang="en-US" sz="700" b="0" u="none" strike="noStrike">
                          <a:effectLst/>
                        </a:rPr>
                        <a:t>9</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l" fontAlgn="b">
                        <a:buNone/>
                      </a:pPr>
                      <a:r>
                        <a:rPr lang="en-US" sz="700" b="0" u="none" strike="noStrike">
                          <a:effectLst/>
                        </a:rPr>
                        <a:t>Lundi Onosamba</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r" fontAlgn="b">
                        <a:buNone/>
                      </a:pPr>
                      <a:r>
                        <a:rPr lang="en-US" sz="700" b="0" i="0" u="none" strike="noStrike" dirty="0">
                          <a:effectLst/>
                          <a:latin typeface="Calibri" panose="020F0502020204030204" pitchFamily="34" charset="0"/>
                        </a:rPr>
                        <a:t>51.17</a:t>
                      </a:r>
                    </a:p>
                  </a:txBody>
                  <a:tcPr marL="6350" marR="6350" marT="6350" marB="0" anchor="ctr">
                    <a:solidFill>
                      <a:schemeClr val="accent4">
                        <a:lumMod val="60000"/>
                        <a:lumOff val="40000"/>
                      </a:schemeClr>
                    </a:solidFill>
                  </a:tcPr>
                </a:tc>
                <a:tc>
                  <a:txBody>
                    <a:bodyPr/>
                    <a:lstStyle/>
                    <a:p>
                      <a:pPr algn="ctr" fontAlgn="b">
                        <a:buNone/>
                      </a:pPr>
                      <a:r>
                        <a:rPr lang="en-US" sz="700" b="0" u="none" strike="noStrike" dirty="0">
                          <a:effectLst/>
                        </a:rPr>
                        <a:t>  1,333,455.51 </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a:effectLst/>
                        </a:rPr>
                        <a:t>             20.84 </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dirty="0">
                          <a:effectLst/>
                        </a:rPr>
                        <a:t>Engineering</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extLst>
                  <a:ext uri="{0D108BD9-81ED-4DB2-BD59-A6C34878D82A}">
                    <a16:rowId xmlns:a16="http://schemas.microsoft.com/office/drawing/2014/main" val="3732617094"/>
                  </a:ext>
                </a:extLst>
              </a:tr>
              <a:tr h="106968">
                <a:tc>
                  <a:txBody>
                    <a:bodyPr/>
                    <a:lstStyle/>
                    <a:p>
                      <a:pPr algn="ctr" fontAlgn="b">
                        <a:buNone/>
                      </a:pPr>
                      <a:r>
                        <a:rPr lang="en-US" sz="700" b="0" u="none" strike="noStrike">
                          <a:effectLst/>
                        </a:rPr>
                        <a:t>10</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l" fontAlgn="b">
                        <a:buNone/>
                      </a:pPr>
                      <a:r>
                        <a:rPr lang="en-US" sz="700" b="0" u="none" strike="noStrike">
                          <a:effectLst/>
                        </a:rPr>
                        <a:t>Oxano Muntanda</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r" fontAlgn="b">
                        <a:buNone/>
                      </a:pPr>
                      <a:r>
                        <a:rPr lang="en-US" sz="700" b="0" i="0" u="none" strike="noStrike">
                          <a:effectLst/>
                          <a:latin typeface="Calibri" panose="020F0502020204030204" pitchFamily="34" charset="0"/>
                        </a:rPr>
                        <a:t>48.53</a:t>
                      </a:r>
                    </a:p>
                  </a:txBody>
                  <a:tcPr marL="6350" marR="6350" marT="6350" marB="0" anchor="ctr">
                    <a:solidFill>
                      <a:schemeClr val="accent4">
                        <a:lumMod val="60000"/>
                        <a:lumOff val="40000"/>
                      </a:schemeClr>
                    </a:solidFill>
                  </a:tcPr>
                </a:tc>
                <a:tc>
                  <a:txBody>
                    <a:bodyPr/>
                    <a:lstStyle/>
                    <a:p>
                      <a:pPr algn="ctr" fontAlgn="b">
                        <a:buNone/>
                      </a:pPr>
                      <a:r>
                        <a:rPr lang="en-US" sz="700" b="0" u="none" strike="noStrike">
                          <a:effectLst/>
                        </a:rPr>
                        <a:t>  1,029,946.54 </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a:effectLst/>
                        </a:rPr>
                        <a:t>               9.12 </a:t>
                      </a:r>
                      <a:endParaRPr lang="en-US" sz="700" b="0" i="0" u="none" strike="noStrike">
                        <a:effectLst/>
                        <a:latin typeface="Calibri" panose="020F0502020204030204" pitchFamily="34" charset="0"/>
                      </a:endParaRPr>
                    </a:p>
                  </a:txBody>
                  <a:tcPr marL="2809" marR="2809" marT="2809" marB="0" anchor="ctr">
                    <a:solidFill>
                      <a:schemeClr val="accent4">
                        <a:lumMod val="60000"/>
                        <a:lumOff val="40000"/>
                      </a:schemeClr>
                    </a:solidFill>
                  </a:tcPr>
                </a:tc>
                <a:tc>
                  <a:txBody>
                    <a:bodyPr/>
                    <a:lstStyle/>
                    <a:p>
                      <a:pPr algn="ctr" fontAlgn="b">
                        <a:buNone/>
                      </a:pPr>
                      <a:r>
                        <a:rPr lang="en-US" sz="700" b="0" u="none" strike="noStrike" dirty="0">
                          <a:effectLst/>
                        </a:rPr>
                        <a:t>Engineering</a:t>
                      </a:r>
                      <a:endParaRPr lang="en-US" sz="700" b="0" i="0" u="none" strike="noStrike" dirty="0">
                        <a:effectLst/>
                        <a:latin typeface="Calibri" panose="020F0502020204030204" pitchFamily="34" charset="0"/>
                      </a:endParaRPr>
                    </a:p>
                  </a:txBody>
                  <a:tcPr marL="2809" marR="2809" marT="2809" marB="0" anchor="ctr">
                    <a:solidFill>
                      <a:schemeClr val="accent4">
                        <a:lumMod val="60000"/>
                        <a:lumOff val="40000"/>
                      </a:schemeClr>
                    </a:solidFill>
                  </a:tcPr>
                </a:tc>
                <a:extLst>
                  <a:ext uri="{0D108BD9-81ED-4DB2-BD59-A6C34878D82A}">
                    <a16:rowId xmlns:a16="http://schemas.microsoft.com/office/drawing/2014/main" val="168031956"/>
                  </a:ext>
                </a:extLst>
              </a:tr>
              <a:tr h="106968">
                <a:tc>
                  <a:txBody>
                    <a:bodyPr/>
                    <a:lstStyle/>
                    <a:p>
                      <a:pPr algn="ctr" fontAlgn="b">
                        <a:buNone/>
                      </a:pPr>
                      <a:r>
                        <a:rPr lang="en-US" sz="700" b="0" u="none" strike="noStrike">
                          <a:effectLst/>
                        </a:rPr>
                        <a:t>11</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Blanchard Muzo</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42.9</a:t>
                      </a:r>
                    </a:p>
                  </a:txBody>
                  <a:tcPr marL="6350" marR="6350" marT="6350" marB="0" anchor="ctr"/>
                </a:tc>
                <a:tc>
                  <a:txBody>
                    <a:bodyPr/>
                    <a:lstStyle/>
                    <a:p>
                      <a:pPr algn="ctr" fontAlgn="b">
                        <a:buNone/>
                      </a:pPr>
                      <a:r>
                        <a:rPr lang="en-US" sz="700" b="0" u="none" strike="noStrike" dirty="0">
                          <a:effectLst/>
                        </a:rPr>
                        <a:t>  1,128,351.12 </a:t>
                      </a:r>
                      <a:endParaRPr lang="en-US" sz="700" b="0" i="0" u="none" strike="noStrike" dirty="0">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3.49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Engineering</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2956486063"/>
                  </a:ext>
                </a:extLst>
              </a:tr>
              <a:tr h="106968">
                <a:tc>
                  <a:txBody>
                    <a:bodyPr/>
                    <a:lstStyle/>
                    <a:p>
                      <a:pPr algn="ctr" fontAlgn="b">
                        <a:buNone/>
                      </a:pPr>
                      <a:r>
                        <a:rPr lang="en-US" sz="700" b="0" u="none" strike="noStrike">
                          <a:effectLst/>
                        </a:rPr>
                        <a:t>12</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Alphonse Bindama</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35.07</a:t>
                      </a:r>
                    </a:p>
                  </a:txBody>
                  <a:tcPr marL="6350" marR="6350" marT="6350" marB="0" anchor="ctr"/>
                </a:tc>
                <a:tc>
                  <a:txBody>
                    <a:bodyPr/>
                    <a:lstStyle/>
                    <a:p>
                      <a:pPr algn="ctr" fontAlgn="b">
                        <a:buNone/>
                      </a:pPr>
                      <a:r>
                        <a:rPr lang="en-US" sz="700" b="0" u="none" strike="noStrike">
                          <a:effectLst/>
                        </a:rPr>
                        <a:t>  1,201,920.54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24.50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Engineering</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3983019776"/>
                  </a:ext>
                </a:extLst>
              </a:tr>
              <a:tr h="106968">
                <a:tc>
                  <a:txBody>
                    <a:bodyPr/>
                    <a:lstStyle/>
                    <a:p>
                      <a:pPr algn="ctr" fontAlgn="b">
                        <a:buNone/>
                      </a:pPr>
                      <a:r>
                        <a:rPr lang="en-US" sz="700" b="0" u="none" strike="noStrike">
                          <a:effectLst/>
                        </a:rPr>
                        <a:t>13</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Ovie Tulomba</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33.99</a:t>
                      </a:r>
                    </a:p>
                  </a:txBody>
                  <a:tcPr marL="6350" marR="6350" marT="6350" marB="0" anchor="ctr"/>
                </a:tc>
                <a:tc>
                  <a:txBody>
                    <a:bodyPr/>
                    <a:lstStyle/>
                    <a:p>
                      <a:pPr algn="ctr" fontAlgn="b">
                        <a:buNone/>
                      </a:pPr>
                      <a:r>
                        <a:rPr lang="en-US" sz="700" b="0" u="none" strike="noStrike">
                          <a:effectLst/>
                        </a:rPr>
                        <a:t>     821,688.05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10.25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Engineering</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2794461257"/>
                  </a:ext>
                </a:extLst>
              </a:tr>
              <a:tr h="106968">
                <a:tc>
                  <a:txBody>
                    <a:bodyPr/>
                    <a:lstStyle/>
                    <a:p>
                      <a:pPr algn="ctr" fontAlgn="b">
                        <a:buNone/>
                      </a:pPr>
                      <a:r>
                        <a:rPr lang="en-US" sz="700" b="0" u="none" strike="noStrike">
                          <a:effectLst/>
                        </a:rPr>
                        <a:t>14</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Dinandi Mvumbi</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30.93</a:t>
                      </a:r>
                    </a:p>
                  </a:txBody>
                  <a:tcPr marL="6350" marR="6350" marT="6350" marB="0" anchor="ctr"/>
                </a:tc>
                <a:tc>
                  <a:txBody>
                    <a:bodyPr/>
                    <a:lstStyle/>
                    <a:p>
                      <a:pPr algn="ctr" fontAlgn="b">
                        <a:buNone/>
                      </a:pPr>
                      <a:r>
                        <a:rPr lang="en-US" sz="700" b="0" u="none" strike="noStrike" dirty="0">
                          <a:effectLst/>
                        </a:rPr>
                        <a:t>     789,373.83 </a:t>
                      </a:r>
                      <a:endParaRPr lang="en-US" sz="700" b="0" i="0" u="none" strike="noStrike" dirty="0">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18.00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Engineering</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1351310227"/>
                  </a:ext>
                </a:extLst>
              </a:tr>
              <a:tr h="106968">
                <a:tc>
                  <a:txBody>
                    <a:bodyPr/>
                    <a:lstStyle/>
                    <a:p>
                      <a:pPr algn="ctr" fontAlgn="b">
                        <a:buNone/>
                      </a:pPr>
                      <a:r>
                        <a:rPr lang="en-US" sz="700" b="0" u="none" strike="noStrike">
                          <a:effectLst/>
                        </a:rPr>
                        <a:t>15</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Jonas LINGOMA</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27.5</a:t>
                      </a:r>
                    </a:p>
                  </a:txBody>
                  <a:tcPr marL="6350" marR="6350" marT="6350" marB="0" anchor="ctr"/>
                </a:tc>
                <a:tc>
                  <a:txBody>
                    <a:bodyPr/>
                    <a:lstStyle/>
                    <a:p>
                      <a:pPr algn="ctr" fontAlgn="b">
                        <a:buNone/>
                      </a:pPr>
                      <a:r>
                        <a:rPr lang="en-US" sz="700" b="0" u="none" strike="noStrike">
                          <a:effectLst/>
                        </a:rPr>
                        <a:t>     834,172.48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13.17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Logistic</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3535327940"/>
                  </a:ext>
                </a:extLst>
              </a:tr>
              <a:tr h="106968">
                <a:tc>
                  <a:txBody>
                    <a:bodyPr/>
                    <a:lstStyle/>
                    <a:p>
                      <a:pPr algn="ctr" fontAlgn="b">
                        <a:buNone/>
                      </a:pPr>
                      <a:r>
                        <a:rPr lang="en-US" sz="700" b="0" u="none" strike="noStrike">
                          <a:effectLst/>
                        </a:rPr>
                        <a:t>16</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Emmanuel Mawete</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22.98</a:t>
                      </a:r>
                    </a:p>
                  </a:txBody>
                  <a:tcPr marL="6350" marR="6350" marT="6350" marB="0" anchor="ctr"/>
                </a:tc>
                <a:tc>
                  <a:txBody>
                    <a:bodyPr/>
                    <a:lstStyle/>
                    <a:p>
                      <a:pPr algn="ctr" fontAlgn="b">
                        <a:buNone/>
                      </a:pPr>
                      <a:r>
                        <a:rPr lang="en-US" sz="700" b="0" u="none" strike="noStrike" dirty="0">
                          <a:effectLst/>
                        </a:rPr>
                        <a:t>     296,017.34 </a:t>
                      </a:r>
                      <a:endParaRPr lang="en-US" sz="700" b="0" i="0" u="none" strike="noStrike" dirty="0">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14.56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Quality Assurance</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938101316"/>
                  </a:ext>
                </a:extLst>
              </a:tr>
              <a:tr h="106968">
                <a:tc>
                  <a:txBody>
                    <a:bodyPr/>
                    <a:lstStyle/>
                    <a:p>
                      <a:pPr algn="ctr" fontAlgn="b">
                        <a:buNone/>
                      </a:pPr>
                      <a:r>
                        <a:rPr lang="en-US" sz="700" b="0" u="none" strike="noStrike">
                          <a:effectLst/>
                        </a:rPr>
                        <a:t>17</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Maphasi Vangu</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22.21</a:t>
                      </a:r>
                    </a:p>
                  </a:txBody>
                  <a:tcPr marL="6350" marR="6350" marT="6350" marB="0" anchor="ctr"/>
                </a:tc>
                <a:tc>
                  <a:txBody>
                    <a:bodyPr/>
                    <a:lstStyle/>
                    <a:p>
                      <a:pPr algn="ctr" fontAlgn="b">
                        <a:buNone/>
                      </a:pPr>
                      <a:r>
                        <a:rPr lang="en-US" sz="700" b="0" u="none" strike="noStrike">
                          <a:effectLst/>
                        </a:rPr>
                        <a:t>  1,021,779.09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18.59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3627939951"/>
                  </a:ext>
                </a:extLst>
              </a:tr>
              <a:tr h="106968">
                <a:tc>
                  <a:txBody>
                    <a:bodyPr/>
                    <a:lstStyle/>
                    <a:p>
                      <a:pPr algn="ctr" fontAlgn="b">
                        <a:buNone/>
                      </a:pPr>
                      <a:r>
                        <a:rPr lang="en-US" sz="700" b="0" u="none" strike="noStrike">
                          <a:effectLst/>
                        </a:rPr>
                        <a:t>18</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Longo Zola</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20</a:t>
                      </a:r>
                    </a:p>
                  </a:txBody>
                  <a:tcPr marL="6350" marR="6350" marT="6350" marB="0" anchor="ctr"/>
                </a:tc>
                <a:tc>
                  <a:txBody>
                    <a:bodyPr/>
                    <a:lstStyle/>
                    <a:p>
                      <a:pPr algn="ctr" fontAlgn="b">
                        <a:buNone/>
                      </a:pPr>
                      <a:r>
                        <a:rPr lang="en-US" sz="700" b="0" u="none" strike="noStrike">
                          <a:effectLst/>
                        </a:rPr>
                        <a:t>     651,508.85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29.09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Mining</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3987964871"/>
                  </a:ext>
                </a:extLst>
              </a:tr>
              <a:tr h="106968">
                <a:tc>
                  <a:txBody>
                    <a:bodyPr/>
                    <a:lstStyle/>
                    <a:p>
                      <a:pPr algn="ctr" fontAlgn="b">
                        <a:buNone/>
                      </a:pPr>
                      <a:r>
                        <a:rPr lang="en-US" sz="700" b="0" u="none" strike="noStrike">
                          <a:effectLst/>
                        </a:rPr>
                        <a:t>19</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Nadege </a:t>
                      </a:r>
                      <a:r>
                        <a:rPr lang="en-US" sz="700" b="0" u="none" strike="noStrike" dirty="0" err="1">
                          <a:effectLst/>
                        </a:rPr>
                        <a:t>Nsilu</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18.72</a:t>
                      </a:r>
                    </a:p>
                  </a:txBody>
                  <a:tcPr marL="6350" marR="6350" marT="6350" marB="0" anchor="ctr"/>
                </a:tc>
                <a:tc>
                  <a:txBody>
                    <a:bodyPr/>
                    <a:lstStyle/>
                    <a:p>
                      <a:pPr algn="ctr" fontAlgn="b">
                        <a:buNone/>
                      </a:pPr>
                      <a:r>
                        <a:rPr lang="en-US" sz="700" b="0" u="none" strike="noStrike" dirty="0">
                          <a:effectLst/>
                        </a:rPr>
                        <a:t>     320,439.85 </a:t>
                      </a:r>
                      <a:endParaRPr lang="en-US" sz="700" b="0" i="0" u="none" strike="noStrike" dirty="0">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14.25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Quality Assurance</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2801043281"/>
                  </a:ext>
                </a:extLst>
              </a:tr>
              <a:tr h="106968">
                <a:tc>
                  <a:txBody>
                    <a:bodyPr/>
                    <a:lstStyle/>
                    <a:p>
                      <a:pPr algn="ctr" fontAlgn="b">
                        <a:buNone/>
                      </a:pPr>
                      <a:r>
                        <a:rPr lang="en-US" sz="700" b="0" u="none" strike="noStrike">
                          <a:effectLst/>
                        </a:rPr>
                        <a:t>20</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Albert Vangu</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18.3</a:t>
                      </a:r>
                    </a:p>
                  </a:txBody>
                  <a:tcPr marL="6350" marR="6350" marT="6350" marB="0" anchor="ctr"/>
                </a:tc>
                <a:tc>
                  <a:txBody>
                    <a:bodyPr/>
                    <a:lstStyle/>
                    <a:p>
                      <a:pPr algn="ctr" fontAlgn="b">
                        <a:buNone/>
                      </a:pPr>
                      <a:r>
                        <a:rPr lang="en-US" sz="700" b="0" u="none" strike="noStrike">
                          <a:effectLst/>
                        </a:rPr>
                        <a:t>     182,120.47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16.92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2856338288"/>
                  </a:ext>
                </a:extLst>
              </a:tr>
              <a:tr h="106968">
                <a:tc>
                  <a:txBody>
                    <a:bodyPr/>
                    <a:lstStyle/>
                    <a:p>
                      <a:pPr algn="ctr" fontAlgn="b">
                        <a:buNone/>
                      </a:pPr>
                      <a:r>
                        <a:rPr lang="en-US" sz="700" b="0" u="none" strike="noStrike">
                          <a:effectLst/>
                        </a:rPr>
                        <a:t>21</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Dieu-Merci Ntunga</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18.17</a:t>
                      </a:r>
                    </a:p>
                  </a:txBody>
                  <a:tcPr marL="6350" marR="6350" marT="6350" marB="0" anchor="ctr"/>
                </a:tc>
                <a:tc>
                  <a:txBody>
                    <a:bodyPr/>
                    <a:lstStyle/>
                    <a:p>
                      <a:pPr algn="ctr" fontAlgn="b">
                        <a:buNone/>
                      </a:pPr>
                      <a:r>
                        <a:rPr lang="en-US" sz="700" b="0" u="none" strike="noStrike">
                          <a:effectLst/>
                        </a:rPr>
                        <a:t>     375,787.29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2.59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Engineering</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3250060624"/>
                  </a:ext>
                </a:extLst>
              </a:tr>
              <a:tr h="106968">
                <a:tc>
                  <a:txBody>
                    <a:bodyPr/>
                    <a:lstStyle/>
                    <a:p>
                      <a:pPr algn="ctr" fontAlgn="b">
                        <a:buNone/>
                      </a:pPr>
                      <a:r>
                        <a:rPr lang="en-US" sz="700" b="0" u="none" strike="noStrike">
                          <a:effectLst/>
                        </a:rPr>
                        <a:t>22</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Erick Nlandu</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17.28</a:t>
                      </a:r>
                    </a:p>
                  </a:txBody>
                  <a:tcPr marL="6350" marR="6350" marT="6350" marB="0" anchor="ctr"/>
                </a:tc>
                <a:tc>
                  <a:txBody>
                    <a:bodyPr/>
                    <a:lstStyle/>
                    <a:p>
                      <a:pPr algn="ctr" fontAlgn="b">
                        <a:buNone/>
                      </a:pPr>
                      <a:r>
                        <a:rPr lang="en-US" sz="700" b="0" u="none" strike="noStrike" dirty="0">
                          <a:effectLst/>
                        </a:rPr>
                        <a:t>     330,188.32 </a:t>
                      </a:r>
                      <a:endParaRPr lang="en-US" sz="700" b="0" i="0" u="none" strike="noStrike" dirty="0">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23.25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Quality Assurance</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1477543763"/>
                  </a:ext>
                </a:extLst>
              </a:tr>
              <a:tr h="106968">
                <a:tc>
                  <a:txBody>
                    <a:bodyPr/>
                    <a:lstStyle/>
                    <a:p>
                      <a:pPr algn="ctr" fontAlgn="b">
                        <a:buNone/>
                      </a:pPr>
                      <a:r>
                        <a:rPr lang="en-US" sz="700" b="0" u="none" strike="noStrike">
                          <a:effectLst/>
                        </a:rPr>
                        <a:t>23</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Masudi Nkosi</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16</a:t>
                      </a:r>
                    </a:p>
                  </a:txBody>
                  <a:tcPr marL="6350" marR="6350" marT="6350" marB="0" anchor="ctr"/>
                </a:tc>
                <a:tc>
                  <a:txBody>
                    <a:bodyPr/>
                    <a:lstStyle/>
                    <a:p>
                      <a:pPr algn="ctr" fontAlgn="b">
                        <a:buNone/>
                      </a:pPr>
                      <a:r>
                        <a:rPr lang="en-US" sz="700" b="0" u="none" strike="noStrike">
                          <a:effectLst/>
                        </a:rPr>
                        <a:t>     139,113.82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17.17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Mining</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4168640022"/>
                  </a:ext>
                </a:extLst>
              </a:tr>
              <a:tr h="106968">
                <a:tc>
                  <a:txBody>
                    <a:bodyPr/>
                    <a:lstStyle/>
                    <a:p>
                      <a:pPr algn="ctr" fontAlgn="b">
                        <a:buNone/>
                      </a:pPr>
                      <a:r>
                        <a:rPr lang="en-US" sz="700" b="0" u="none" strike="noStrike">
                          <a:effectLst/>
                        </a:rPr>
                        <a:t>24</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Hassan Kananga</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16</a:t>
                      </a:r>
                    </a:p>
                  </a:txBody>
                  <a:tcPr marL="6350" marR="6350" marT="6350" marB="0" anchor="ctr"/>
                </a:tc>
                <a:tc>
                  <a:txBody>
                    <a:bodyPr/>
                    <a:lstStyle/>
                    <a:p>
                      <a:pPr algn="ctr" fontAlgn="b">
                        <a:buNone/>
                      </a:pPr>
                      <a:r>
                        <a:rPr lang="en-US" sz="700" b="0" u="none" strike="noStrike" dirty="0">
                          <a:effectLst/>
                        </a:rPr>
                        <a:t>     480,018.64 </a:t>
                      </a:r>
                      <a:endParaRPr lang="en-US" sz="700" b="0" i="0" u="none" strike="noStrike" dirty="0">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25.71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Mining</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2258499285"/>
                  </a:ext>
                </a:extLst>
              </a:tr>
              <a:tr h="106968">
                <a:tc>
                  <a:txBody>
                    <a:bodyPr/>
                    <a:lstStyle/>
                    <a:p>
                      <a:pPr algn="ctr" fontAlgn="b">
                        <a:buNone/>
                      </a:pPr>
                      <a:r>
                        <a:rPr lang="en-US" sz="700" b="0" u="none" strike="noStrike">
                          <a:effectLst/>
                        </a:rPr>
                        <a:t>25</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Kabangu Mutambayi</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14</a:t>
                      </a:r>
                    </a:p>
                  </a:txBody>
                  <a:tcPr marL="6350" marR="6350" marT="6350" marB="0" anchor="ctr"/>
                </a:tc>
                <a:tc>
                  <a:txBody>
                    <a:bodyPr/>
                    <a:lstStyle/>
                    <a:p>
                      <a:pPr algn="ctr" fontAlgn="b">
                        <a:buNone/>
                      </a:pPr>
                      <a:r>
                        <a:rPr lang="en-US" sz="700" b="0" u="none" strike="noStrike" dirty="0">
                          <a:effectLst/>
                        </a:rPr>
                        <a:t>     606,932.75 </a:t>
                      </a:r>
                      <a:endParaRPr lang="en-US" sz="700" b="0" i="0" u="none" strike="noStrike" dirty="0">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26.59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1543269235"/>
                  </a:ext>
                </a:extLst>
              </a:tr>
              <a:tr h="106968">
                <a:tc>
                  <a:txBody>
                    <a:bodyPr/>
                    <a:lstStyle/>
                    <a:p>
                      <a:pPr algn="ctr" fontAlgn="b">
                        <a:buNone/>
                      </a:pPr>
                      <a:r>
                        <a:rPr lang="en-US" sz="700" b="0" u="none" strike="noStrike">
                          <a:effectLst/>
                        </a:rPr>
                        <a:t>26</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Bertin Tandu</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13.37</a:t>
                      </a:r>
                    </a:p>
                  </a:txBody>
                  <a:tcPr marL="6350" marR="6350" marT="6350" marB="0" anchor="ctr"/>
                </a:tc>
                <a:tc>
                  <a:txBody>
                    <a:bodyPr/>
                    <a:lstStyle/>
                    <a:p>
                      <a:pPr algn="ctr" fontAlgn="b">
                        <a:buNone/>
                      </a:pPr>
                      <a:r>
                        <a:rPr lang="en-US" sz="700" b="0" u="none" strike="noStrike" dirty="0">
                          <a:effectLst/>
                        </a:rPr>
                        <a:t>     178,950.91 </a:t>
                      </a:r>
                      <a:endParaRPr lang="en-US" sz="700" b="0" i="0" u="none" strike="noStrike" dirty="0">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10.75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Quality Assurance</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3384403763"/>
                  </a:ext>
                </a:extLst>
              </a:tr>
              <a:tr h="106968">
                <a:tc>
                  <a:txBody>
                    <a:bodyPr/>
                    <a:lstStyle/>
                    <a:p>
                      <a:pPr algn="ctr" fontAlgn="b">
                        <a:buNone/>
                      </a:pPr>
                      <a:r>
                        <a:rPr lang="en-US" sz="700" b="0" u="none" strike="noStrike">
                          <a:effectLst/>
                        </a:rPr>
                        <a:t>27</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Rodrigue Luzolawo</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12.01</a:t>
                      </a:r>
                    </a:p>
                  </a:txBody>
                  <a:tcPr marL="6350" marR="6350" marT="6350" marB="0" anchor="ctr"/>
                </a:tc>
                <a:tc>
                  <a:txBody>
                    <a:bodyPr/>
                    <a:lstStyle/>
                    <a:p>
                      <a:pPr algn="ctr" fontAlgn="b">
                        <a:buNone/>
                      </a:pPr>
                      <a:r>
                        <a:rPr lang="en-US" sz="700" b="0" u="none" strike="noStrike" dirty="0">
                          <a:effectLst/>
                        </a:rPr>
                        <a:t>     265,428.87 </a:t>
                      </a:r>
                      <a:endParaRPr lang="en-US" sz="700" b="0" i="0" u="none" strike="noStrike" dirty="0">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30.91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1268327232"/>
                  </a:ext>
                </a:extLst>
              </a:tr>
              <a:tr h="106968">
                <a:tc>
                  <a:txBody>
                    <a:bodyPr/>
                    <a:lstStyle/>
                    <a:p>
                      <a:pPr algn="ctr" fontAlgn="b">
                        <a:buNone/>
                      </a:pPr>
                      <a:r>
                        <a:rPr lang="en-US" sz="700" b="0" u="none" strike="noStrike">
                          <a:effectLst/>
                        </a:rPr>
                        <a:t>28</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CHRISTIAN KUABI</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10.48</a:t>
                      </a:r>
                    </a:p>
                  </a:txBody>
                  <a:tcPr marL="6350" marR="6350" marT="6350" marB="0" anchor="ctr"/>
                </a:tc>
                <a:tc>
                  <a:txBody>
                    <a:bodyPr/>
                    <a:lstStyle/>
                    <a:p>
                      <a:pPr algn="ctr" fontAlgn="b">
                        <a:buNone/>
                      </a:pPr>
                      <a:r>
                        <a:rPr lang="en-US" sz="700" b="0" u="none" strike="noStrike" dirty="0">
                          <a:effectLst/>
                        </a:rPr>
                        <a:t>     246,730.47 </a:t>
                      </a:r>
                      <a:endParaRPr lang="en-US" sz="700" b="0" i="0" u="none" strike="noStrike" dirty="0">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16.92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3056874326"/>
                  </a:ext>
                </a:extLst>
              </a:tr>
              <a:tr h="106968">
                <a:tc>
                  <a:txBody>
                    <a:bodyPr/>
                    <a:lstStyle/>
                    <a:p>
                      <a:pPr algn="ctr" fontAlgn="b">
                        <a:buNone/>
                      </a:pPr>
                      <a:r>
                        <a:rPr lang="en-US" sz="700" b="0" u="none" strike="noStrike">
                          <a:effectLst/>
                        </a:rPr>
                        <a:t>29</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Moise Musako</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dirty="0">
                          <a:effectLst/>
                          <a:latin typeface="Calibri" panose="020F0502020204030204" pitchFamily="34" charset="0"/>
                        </a:rPr>
                        <a:t>10</a:t>
                      </a:r>
                    </a:p>
                  </a:txBody>
                  <a:tcPr marL="6350" marR="6350" marT="6350" marB="0" anchor="ctr"/>
                </a:tc>
                <a:tc>
                  <a:txBody>
                    <a:bodyPr/>
                    <a:lstStyle/>
                    <a:p>
                      <a:pPr algn="ctr" fontAlgn="b">
                        <a:buNone/>
                      </a:pPr>
                      <a:r>
                        <a:rPr lang="en-US" sz="700" b="0" u="none" strike="noStrike" dirty="0">
                          <a:effectLst/>
                        </a:rPr>
                        <a:t>     399,955.16 </a:t>
                      </a:r>
                      <a:endParaRPr lang="en-US" sz="700" b="0" i="0" u="none" strike="noStrike" dirty="0">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12.75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Quality Assurance</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795580884"/>
                  </a:ext>
                </a:extLst>
              </a:tr>
              <a:tr h="106968">
                <a:tc>
                  <a:txBody>
                    <a:bodyPr/>
                    <a:lstStyle/>
                    <a:p>
                      <a:pPr algn="ctr" fontAlgn="b">
                        <a:buNone/>
                      </a:pPr>
                      <a:r>
                        <a:rPr lang="en-US" sz="700" b="0" u="none" strike="noStrike">
                          <a:effectLst/>
                        </a:rPr>
                        <a:t>30</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Joel Nzuzi</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8.31</a:t>
                      </a:r>
                    </a:p>
                  </a:txBody>
                  <a:tcPr marL="6350" marR="6350" marT="6350" marB="0" anchor="ctr"/>
                </a:tc>
                <a:tc>
                  <a:txBody>
                    <a:bodyPr/>
                    <a:lstStyle/>
                    <a:p>
                      <a:pPr algn="ctr" fontAlgn="b">
                        <a:buNone/>
                      </a:pPr>
                      <a:r>
                        <a:rPr lang="en-US" sz="700" b="0" u="none" strike="noStrike">
                          <a:effectLst/>
                        </a:rPr>
                        <a:t>     258,000.11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20.91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1454421590"/>
                  </a:ext>
                </a:extLst>
              </a:tr>
              <a:tr h="106968">
                <a:tc>
                  <a:txBody>
                    <a:bodyPr/>
                    <a:lstStyle/>
                    <a:p>
                      <a:pPr algn="ctr" fontAlgn="b">
                        <a:buNone/>
                      </a:pPr>
                      <a:r>
                        <a:rPr lang="en-US" sz="700" b="0" u="none" strike="noStrike">
                          <a:effectLst/>
                        </a:rPr>
                        <a:t>31</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Olivier Lutonadio</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8</a:t>
                      </a:r>
                    </a:p>
                  </a:txBody>
                  <a:tcPr marL="6350" marR="6350" marT="6350" marB="0" anchor="ctr"/>
                </a:tc>
                <a:tc>
                  <a:txBody>
                    <a:bodyPr/>
                    <a:lstStyle/>
                    <a:p>
                      <a:pPr algn="ctr" fontAlgn="b">
                        <a:buNone/>
                      </a:pPr>
                      <a:r>
                        <a:rPr lang="en-US" sz="700" b="0" u="none" strike="noStrike">
                          <a:effectLst/>
                        </a:rPr>
                        <a:t>     179,138.23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6.83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3462388050"/>
                  </a:ext>
                </a:extLst>
              </a:tr>
              <a:tr h="185305">
                <a:tc>
                  <a:txBody>
                    <a:bodyPr/>
                    <a:lstStyle/>
                    <a:p>
                      <a:pPr algn="ctr" fontAlgn="b">
                        <a:buNone/>
                      </a:pPr>
                      <a:r>
                        <a:rPr lang="en-US" sz="700" b="0" u="none" strike="noStrike">
                          <a:effectLst/>
                        </a:rPr>
                        <a:t>32</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RACHIE DIAWAWANA</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8</a:t>
                      </a:r>
                    </a:p>
                  </a:txBody>
                  <a:tcPr marL="6350" marR="6350" marT="6350" marB="0" anchor="ctr"/>
                </a:tc>
                <a:tc>
                  <a:txBody>
                    <a:bodyPr/>
                    <a:lstStyle/>
                    <a:p>
                      <a:pPr algn="ctr" fontAlgn="b">
                        <a:buNone/>
                      </a:pPr>
                      <a:r>
                        <a:rPr lang="en-US" sz="700" b="0" u="none" strike="noStrike">
                          <a:effectLst/>
                        </a:rPr>
                        <a:t>       88,101.63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9.17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Mining</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1934508570"/>
                  </a:ext>
                </a:extLst>
              </a:tr>
              <a:tr h="106968">
                <a:tc>
                  <a:txBody>
                    <a:bodyPr/>
                    <a:lstStyle/>
                    <a:p>
                      <a:pPr algn="ctr" fontAlgn="b">
                        <a:buNone/>
                      </a:pPr>
                      <a:r>
                        <a:rPr lang="en-US" sz="700" b="0" u="none" strike="noStrike">
                          <a:effectLst/>
                        </a:rPr>
                        <a:t>33</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Joel Matoko</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8</a:t>
                      </a:r>
                    </a:p>
                  </a:txBody>
                  <a:tcPr marL="6350" marR="6350" marT="6350" marB="0" anchor="ctr"/>
                </a:tc>
                <a:tc>
                  <a:txBody>
                    <a:bodyPr/>
                    <a:lstStyle/>
                    <a:p>
                      <a:pPr algn="ctr" fontAlgn="b">
                        <a:buNone/>
                      </a:pPr>
                      <a:r>
                        <a:rPr lang="en-US" sz="700" b="0" u="none" strike="noStrike">
                          <a:effectLst/>
                        </a:rPr>
                        <a:t>       87,620.88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20.42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1279321552"/>
                  </a:ext>
                </a:extLst>
              </a:tr>
              <a:tr h="106968">
                <a:tc>
                  <a:txBody>
                    <a:bodyPr/>
                    <a:lstStyle/>
                    <a:p>
                      <a:pPr algn="ctr" fontAlgn="b">
                        <a:buNone/>
                      </a:pPr>
                      <a:r>
                        <a:rPr lang="en-US" sz="700" b="0" u="none" strike="noStrike">
                          <a:effectLst/>
                        </a:rPr>
                        <a:t>34</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Edgard Finkidi</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7.64</a:t>
                      </a:r>
                    </a:p>
                  </a:txBody>
                  <a:tcPr marL="6350" marR="6350" marT="6350" marB="0" anchor="ctr"/>
                </a:tc>
                <a:tc>
                  <a:txBody>
                    <a:bodyPr/>
                    <a:lstStyle/>
                    <a:p>
                      <a:pPr algn="ctr" fontAlgn="b">
                        <a:buNone/>
                      </a:pPr>
                      <a:r>
                        <a:rPr lang="en-US" sz="700" b="0" u="none" strike="noStrike">
                          <a:effectLst/>
                        </a:rPr>
                        <a:t>       80,269.99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9.00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Quality Assurance</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604712246"/>
                  </a:ext>
                </a:extLst>
              </a:tr>
              <a:tr h="106968">
                <a:tc>
                  <a:txBody>
                    <a:bodyPr/>
                    <a:lstStyle/>
                    <a:p>
                      <a:pPr algn="ctr" fontAlgn="b">
                        <a:buNone/>
                      </a:pPr>
                      <a:r>
                        <a:rPr lang="en-US" sz="700" b="0" u="none" strike="noStrike">
                          <a:effectLst/>
                        </a:rPr>
                        <a:t>35</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Noel Ndonga</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7</a:t>
                      </a:r>
                    </a:p>
                  </a:txBody>
                  <a:tcPr marL="6350" marR="6350" marT="6350" marB="0" anchor="ctr"/>
                </a:tc>
                <a:tc>
                  <a:txBody>
                    <a:bodyPr/>
                    <a:lstStyle/>
                    <a:p>
                      <a:pPr algn="ctr" fontAlgn="b">
                        <a:buNone/>
                      </a:pPr>
                      <a:r>
                        <a:rPr lang="en-US" sz="700" b="0" u="none" strike="noStrike">
                          <a:effectLst/>
                        </a:rPr>
                        <a:t>     215,314.20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13.41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134406456"/>
                  </a:ext>
                </a:extLst>
              </a:tr>
              <a:tr h="106968">
                <a:tc>
                  <a:txBody>
                    <a:bodyPr/>
                    <a:lstStyle/>
                    <a:p>
                      <a:pPr algn="ctr" fontAlgn="b">
                        <a:buNone/>
                      </a:pPr>
                      <a:r>
                        <a:rPr lang="en-US" sz="700" b="0" u="none" strike="noStrike">
                          <a:effectLst/>
                        </a:rPr>
                        <a:t>36</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Willy Tshilolo</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7</a:t>
                      </a:r>
                    </a:p>
                  </a:txBody>
                  <a:tcPr marL="6350" marR="6350" marT="6350" marB="0" anchor="ctr"/>
                </a:tc>
                <a:tc>
                  <a:txBody>
                    <a:bodyPr/>
                    <a:lstStyle/>
                    <a:p>
                      <a:pPr algn="ctr" fontAlgn="b">
                        <a:buNone/>
                      </a:pPr>
                      <a:r>
                        <a:rPr lang="en-US" sz="700" b="0" u="none" strike="noStrike">
                          <a:effectLst/>
                        </a:rPr>
                        <a:t>     123,050.67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20.75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1416383501"/>
                  </a:ext>
                </a:extLst>
              </a:tr>
              <a:tr h="106968">
                <a:tc>
                  <a:txBody>
                    <a:bodyPr/>
                    <a:lstStyle/>
                    <a:p>
                      <a:pPr algn="ctr" fontAlgn="b">
                        <a:buNone/>
                      </a:pPr>
                      <a:r>
                        <a:rPr lang="en-US" sz="700" b="0" u="none" strike="noStrike">
                          <a:effectLst/>
                        </a:rPr>
                        <a:t>37</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Platini Dunga</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6.05</a:t>
                      </a:r>
                    </a:p>
                  </a:txBody>
                  <a:tcPr marL="6350" marR="6350" marT="6350" marB="0" anchor="ctr"/>
                </a:tc>
                <a:tc>
                  <a:txBody>
                    <a:bodyPr/>
                    <a:lstStyle/>
                    <a:p>
                      <a:pPr algn="ctr" fontAlgn="b">
                        <a:buNone/>
                      </a:pPr>
                      <a:r>
                        <a:rPr lang="en-US" sz="700" b="0" u="none" strike="noStrike">
                          <a:effectLst/>
                        </a:rPr>
                        <a:t>     104,228.15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5.83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1288486057"/>
                  </a:ext>
                </a:extLst>
              </a:tr>
              <a:tr h="106968">
                <a:tc>
                  <a:txBody>
                    <a:bodyPr/>
                    <a:lstStyle/>
                    <a:p>
                      <a:pPr algn="ctr" fontAlgn="b">
                        <a:buNone/>
                      </a:pPr>
                      <a:r>
                        <a:rPr lang="en-US" sz="700" b="0" u="none" strike="noStrike">
                          <a:effectLst/>
                        </a:rPr>
                        <a:t>38</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Cadet Samba</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6.04</a:t>
                      </a:r>
                    </a:p>
                  </a:txBody>
                  <a:tcPr marL="6350" marR="6350" marT="6350" marB="0" anchor="ctr"/>
                </a:tc>
                <a:tc>
                  <a:txBody>
                    <a:bodyPr/>
                    <a:lstStyle/>
                    <a:p>
                      <a:pPr algn="ctr" fontAlgn="b">
                        <a:buNone/>
                      </a:pPr>
                      <a:r>
                        <a:rPr lang="en-US" sz="700" b="0" u="none" strike="noStrike">
                          <a:effectLst/>
                        </a:rPr>
                        <a:t>       54,441.69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10.25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Quality Assurance</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1835811480"/>
                  </a:ext>
                </a:extLst>
              </a:tr>
              <a:tr h="106968">
                <a:tc>
                  <a:txBody>
                    <a:bodyPr/>
                    <a:lstStyle/>
                    <a:p>
                      <a:pPr algn="ctr" fontAlgn="b">
                        <a:buNone/>
                      </a:pPr>
                      <a:r>
                        <a:rPr lang="en-US" sz="700" b="0" u="none" strike="noStrike">
                          <a:effectLst/>
                        </a:rPr>
                        <a:t>39</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Leon Badibanga</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6.01</a:t>
                      </a:r>
                    </a:p>
                  </a:txBody>
                  <a:tcPr marL="6350" marR="6350" marT="6350" marB="0" anchor="ctr"/>
                </a:tc>
                <a:tc>
                  <a:txBody>
                    <a:bodyPr/>
                    <a:lstStyle/>
                    <a:p>
                      <a:pPr algn="ctr" fontAlgn="b">
                        <a:buNone/>
                      </a:pPr>
                      <a:r>
                        <a:rPr lang="en-US" sz="700" b="0" u="none" strike="noStrike">
                          <a:effectLst/>
                        </a:rPr>
                        <a:t>     111,263.13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20.75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2443209008"/>
                  </a:ext>
                </a:extLst>
              </a:tr>
              <a:tr h="106968">
                <a:tc>
                  <a:txBody>
                    <a:bodyPr/>
                    <a:lstStyle/>
                    <a:p>
                      <a:pPr algn="ctr" fontAlgn="b">
                        <a:buNone/>
                      </a:pPr>
                      <a:r>
                        <a:rPr lang="en-US" sz="700" b="0" u="none" strike="noStrike">
                          <a:effectLst/>
                        </a:rPr>
                        <a:t>40</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a:effectLst/>
                        </a:rPr>
                        <a:t>Gervais Bavibidila</a:t>
                      </a:r>
                      <a:endParaRPr lang="en-US" sz="700" b="0" i="0" u="none" strike="noStrike">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6</a:t>
                      </a:r>
                    </a:p>
                  </a:txBody>
                  <a:tcPr marL="6350" marR="6350" marT="6350" marB="0" anchor="ctr"/>
                </a:tc>
                <a:tc>
                  <a:txBody>
                    <a:bodyPr/>
                    <a:lstStyle/>
                    <a:p>
                      <a:pPr algn="ctr" fontAlgn="b">
                        <a:buNone/>
                      </a:pPr>
                      <a:r>
                        <a:rPr lang="en-US" sz="700" b="0" u="none" strike="noStrike">
                          <a:effectLst/>
                        </a:rPr>
                        <a:t>       59,686.22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16.41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2721504780"/>
                  </a:ext>
                </a:extLst>
              </a:tr>
              <a:tr h="106968">
                <a:tc>
                  <a:txBody>
                    <a:bodyPr/>
                    <a:lstStyle/>
                    <a:p>
                      <a:pPr algn="ctr" fontAlgn="b">
                        <a:buNone/>
                      </a:pPr>
                      <a:r>
                        <a:rPr lang="en-US" sz="700" b="0" u="none" strike="noStrike">
                          <a:effectLst/>
                        </a:rPr>
                        <a:t>41</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Osee Lukuayi</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6</a:t>
                      </a:r>
                    </a:p>
                  </a:txBody>
                  <a:tcPr marL="6350" marR="6350" marT="6350" marB="0" anchor="ctr"/>
                </a:tc>
                <a:tc>
                  <a:txBody>
                    <a:bodyPr/>
                    <a:lstStyle/>
                    <a:p>
                      <a:pPr algn="ctr" fontAlgn="b">
                        <a:buNone/>
                      </a:pPr>
                      <a:r>
                        <a:rPr lang="en-US" sz="700" b="0" u="none" strike="noStrike">
                          <a:effectLst/>
                        </a:rPr>
                        <a:t>       56,064.01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24.09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3635779712"/>
                  </a:ext>
                </a:extLst>
              </a:tr>
              <a:tr h="106968">
                <a:tc>
                  <a:txBody>
                    <a:bodyPr/>
                    <a:lstStyle/>
                    <a:p>
                      <a:pPr algn="ctr" fontAlgn="b">
                        <a:buNone/>
                      </a:pPr>
                      <a:r>
                        <a:rPr lang="en-US" sz="700" b="0" u="none" strike="noStrike">
                          <a:effectLst/>
                        </a:rPr>
                        <a:t>42</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Eder Bitutu</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5.24</a:t>
                      </a:r>
                    </a:p>
                  </a:txBody>
                  <a:tcPr marL="6350" marR="6350" marT="6350" marB="0" anchor="ctr"/>
                </a:tc>
                <a:tc>
                  <a:txBody>
                    <a:bodyPr/>
                    <a:lstStyle/>
                    <a:p>
                      <a:pPr algn="ctr" fontAlgn="b">
                        <a:buNone/>
                      </a:pPr>
                      <a:r>
                        <a:rPr lang="en-US" sz="700" b="0" u="none" strike="noStrike">
                          <a:effectLst/>
                        </a:rPr>
                        <a:t>       51,829.47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26.83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896003020"/>
                  </a:ext>
                </a:extLst>
              </a:tr>
              <a:tr h="106968">
                <a:tc>
                  <a:txBody>
                    <a:bodyPr/>
                    <a:lstStyle/>
                    <a:p>
                      <a:pPr algn="ctr" fontAlgn="b">
                        <a:buNone/>
                      </a:pPr>
                      <a:r>
                        <a:rPr lang="en-US" sz="700" b="0" u="none" strike="noStrike">
                          <a:effectLst/>
                        </a:rPr>
                        <a:t>43</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Jisca Muanda</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5.16</a:t>
                      </a:r>
                    </a:p>
                  </a:txBody>
                  <a:tcPr marL="6350" marR="6350" marT="6350" marB="0" anchor="ctr"/>
                </a:tc>
                <a:tc>
                  <a:txBody>
                    <a:bodyPr/>
                    <a:lstStyle/>
                    <a:p>
                      <a:pPr algn="ctr" fontAlgn="b">
                        <a:buNone/>
                      </a:pPr>
                      <a:r>
                        <a:rPr lang="en-US" sz="700" b="0" u="none" strike="noStrike">
                          <a:effectLst/>
                        </a:rPr>
                        <a:t>     200,409.81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14.91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2695371708"/>
                  </a:ext>
                </a:extLst>
              </a:tr>
              <a:tr h="204576">
                <a:tc>
                  <a:txBody>
                    <a:bodyPr/>
                    <a:lstStyle/>
                    <a:p>
                      <a:pPr algn="ctr" fontAlgn="b">
                        <a:buNone/>
                      </a:pPr>
                      <a:r>
                        <a:rPr lang="en-US" sz="700" b="0" u="none" strike="noStrike">
                          <a:effectLst/>
                        </a:rPr>
                        <a:t>44</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Sosthene </a:t>
                      </a:r>
                      <a:r>
                        <a:rPr lang="en-US" sz="700" b="0" u="none" strike="noStrike" dirty="0" err="1">
                          <a:effectLst/>
                        </a:rPr>
                        <a:t>Nyomba</a:t>
                      </a:r>
                      <a:r>
                        <a:rPr lang="en-US" sz="700" b="0" u="none" strike="noStrike" dirty="0">
                          <a:effectLst/>
                        </a:rPr>
                        <a:t> Kamanda</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5.1</a:t>
                      </a:r>
                    </a:p>
                  </a:txBody>
                  <a:tcPr marL="6350" marR="6350" marT="6350" marB="0" anchor="ctr"/>
                </a:tc>
                <a:tc>
                  <a:txBody>
                    <a:bodyPr/>
                    <a:lstStyle/>
                    <a:p>
                      <a:pPr algn="ctr" fontAlgn="b">
                        <a:buNone/>
                      </a:pPr>
                      <a:r>
                        <a:rPr lang="en-US" sz="700" b="0" u="none" strike="noStrike">
                          <a:effectLst/>
                        </a:rPr>
                        <a:t>     135,706.88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10.25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Quality Assurance</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1081548045"/>
                  </a:ext>
                </a:extLst>
              </a:tr>
              <a:tr h="106968">
                <a:tc>
                  <a:txBody>
                    <a:bodyPr/>
                    <a:lstStyle/>
                    <a:p>
                      <a:pPr algn="ctr" fontAlgn="b">
                        <a:buNone/>
                      </a:pPr>
                      <a:r>
                        <a:rPr lang="en-US" sz="700" b="0" u="none" strike="noStrike">
                          <a:effectLst/>
                        </a:rPr>
                        <a:t>45</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Yannick Kamunga</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5.09</a:t>
                      </a:r>
                    </a:p>
                  </a:txBody>
                  <a:tcPr marL="6350" marR="6350" marT="6350" marB="0" anchor="ctr"/>
                </a:tc>
                <a:tc>
                  <a:txBody>
                    <a:bodyPr/>
                    <a:lstStyle/>
                    <a:p>
                      <a:pPr algn="ctr" fontAlgn="b">
                        <a:buNone/>
                      </a:pPr>
                      <a:r>
                        <a:rPr lang="en-US" sz="700" b="0" u="none" strike="noStrike">
                          <a:effectLst/>
                        </a:rPr>
                        <a:t>       86,871.33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16.33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802353136"/>
                  </a:ext>
                </a:extLst>
              </a:tr>
              <a:tr h="106968">
                <a:tc>
                  <a:txBody>
                    <a:bodyPr/>
                    <a:lstStyle/>
                    <a:p>
                      <a:pPr algn="ctr" fontAlgn="b">
                        <a:buNone/>
                      </a:pPr>
                      <a:r>
                        <a:rPr lang="en-US" sz="700" b="0" u="none" strike="noStrike">
                          <a:effectLst/>
                        </a:rPr>
                        <a:t>46</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Ramses Kalunga</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5.07</a:t>
                      </a:r>
                    </a:p>
                  </a:txBody>
                  <a:tcPr marL="6350" marR="6350" marT="6350" marB="0" anchor="ctr"/>
                </a:tc>
                <a:tc>
                  <a:txBody>
                    <a:bodyPr/>
                    <a:lstStyle/>
                    <a:p>
                      <a:pPr algn="ctr" fontAlgn="b">
                        <a:buNone/>
                      </a:pPr>
                      <a:r>
                        <a:rPr lang="en-US" sz="700" b="0" u="none" strike="noStrike">
                          <a:effectLst/>
                        </a:rPr>
                        <a:t>     161,646.52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24.91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1925400348"/>
                  </a:ext>
                </a:extLst>
              </a:tr>
              <a:tr h="106968">
                <a:tc>
                  <a:txBody>
                    <a:bodyPr/>
                    <a:lstStyle/>
                    <a:p>
                      <a:pPr algn="ctr" fontAlgn="b">
                        <a:buNone/>
                      </a:pPr>
                      <a:r>
                        <a:rPr lang="en-US" sz="700" b="0" u="none" strike="noStrike">
                          <a:effectLst/>
                        </a:rPr>
                        <a:t>47</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Reagan Tulengi</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4.6</a:t>
                      </a:r>
                    </a:p>
                  </a:txBody>
                  <a:tcPr marL="6350" marR="6350" marT="6350" marB="0" anchor="ctr"/>
                </a:tc>
                <a:tc>
                  <a:txBody>
                    <a:bodyPr/>
                    <a:lstStyle/>
                    <a:p>
                      <a:pPr algn="ctr" fontAlgn="b">
                        <a:buNone/>
                      </a:pPr>
                      <a:r>
                        <a:rPr lang="en-US" sz="700" b="0" u="none" strike="noStrike">
                          <a:effectLst/>
                        </a:rPr>
                        <a:t>     122,370.32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11.49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Engineering</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4249603164"/>
                  </a:ext>
                </a:extLst>
              </a:tr>
              <a:tr h="106968">
                <a:tc>
                  <a:txBody>
                    <a:bodyPr/>
                    <a:lstStyle/>
                    <a:p>
                      <a:pPr algn="ctr" fontAlgn="b">
                        <a:buNone/>
                      </a:pPr>
                      <a:r>
                        <a:rPr lang="en-US" sz="700" b="0" u="none" strike="noStrike">
                          <a:effectLst/>
                        </a:rPr>
                        <a:t>48</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Alidor Kankonde</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a:effectLst/>
                          <a:latin typeface="Calibri" panose="020F0502020204030204" pitchFamily="34" charset="0"/>
                        </a:rPr>
                        <a:t>3.59</a:t>
                      </a:r>
                    </a:p>
                  </a:txBody>
                  <a:tcPr marL="6350" marR="6350" marT="6350" marB="0" anchor="ctr"/>
                </a:tc>
                <a:tc>
                  <a:txBody>
                    <a:bodyPr/>
                    <a:lstStyle/>
                    <a:p>
                      <a:pPr algn="ctr" fontAlgn="b">
                        <a:buNone/>
                      </a:pPr>
                      <a:r>
                        <a:rPr lang="en-US" sz="700" b="0" u="none" strike="noStrike">
                          <a:effectLst/>
                        </a:rPr>
                        <a:t>       37,703.47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14.25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Production</a:t>
                      </a:r>
                      <a:endParaRPr lang="en-US" sz="700" b="0" i="0" u="none" strike="noStrike">
                        <a:effectLst/>
                        <a:latin typeface="Calibri" panose="020F0502020204030204" pitchFamily="34" charset="0"/>
                      </a:endParaRPr>
                    </a:p>
                  </a:txBody>
                  <a:tcPr marL="2809" marR="2809" marT="2809" marB="0" anchor="ctr"/>
                </a:tc>
                <a:extLst>
                  <a:ext uri="{0D108BD9-81ED-4DB2-BD59-A6C34878D82A}">
                    <a16:rowId xmlns:a16="http://schemas.microsoft.com/office/drawing/2014/main" val="895291496"/>
                  </a:ext>
                </a:extLst>
              </a:tr>
              <a:tr h="106968">
                <a:tc>
                  <a:txBody>
                    <a:bodyPr/>
                    <a:lstStyle/>
                    <a:p>
                      <a:pPr algn="ctr" fontAlgn="b">
                        <a:buNone/>
                      </a:pPr>
                      <a:r>
                        <a:rPr lang="en-US" sz="700" b="0" u="none" strike="noStrike">
                          <a:effectLst/>
                        </a:rPr>
                        <a:t>49</a:t>
                      </a:r>
                      <a:endParaRPr lang="en-US" sz="700" b="0" i="0" u="none" strike="noStrike">
                        <a:effectLst/>
                        <a:latin typeface="Calibri" panose="020F0502020204030204" pitchFamily="34" charset="0"/>
                      </a:endParaRPr>
                    </a:p>
                  </a:txBody>
                  <a:tcPr marL="2809" marR="2809" marT="2809" marB="0" anchor="ctr"/>
                </a:tc>
                <a:tc>
                  <a:txBody>
                    <a:bodyPr/>
                    <a:lstStyle/>
                    <a:p>
                      <a:pPr algn="l" fontAlgn="b">
                        <a:buNone/>
                      </a:pPr>
                      <a:r>
                        <a:rPr lang="en-US" sz="700" b="0" u="none" strike="noStrike" dirty="0">
                          <a:effectLst/>
                        </a:rPr>
                        <a:t>Andre Mbangi</a:t>
                      </a:r>
                      <a:endParaRPr lang="en-US" sz="700" b="0" i="0" u="none" strike="noStrike" dirty="0">
                        <a:effectLst/>
                        <a:latin typeface="Calibri" panose="020F0502020204030204" pitchFamily="34" charset="0"/>
                      </a:endParaRPr>
                    </a:p>
                  </a:txBody>
                  <a:tcPr marL="2809" marR="2809" marT="2809" marB="0" anchor="ctr"/>
                </a:tc>
                <a:tc>
                  <a:txBody>
                    <a:bodyPr/>
                    <a:lstStyle/>
                    <a:p>
                      <a:pPr algn="r" fontAlgn="b">
                        <a:buNone/>
                      </a:pPr>
                      <a:r>
                        <a:rPr lang="en-US" sz="700" b="0" i="0" u="none" strike="noStrike" dirty="0">
                          <a:effectLst/>
                          <a:latin typeface="Calibri" panose="020F0502020204030204" pitchFamily="34" charset="0"/>
                        </a:rPr>
                        <a:t>3.24</a:t>
                      </a:r>
                    </a:p>
                  </a:txBody>
                  <a:tcPr marL="6350" marR="6350" marT="6350" marB="0" anchor="ctr"/>
                </a:tc>
                <a:tc>
                  <a:txBody>
                    <a:bodyPr/>
                    <a:lstStyle/>
                    <a:p>
                      <a:pPr algn="ctr" fontAlgn="b">
                        <a:buNone/>
                      </a:pPr>
                      <a:r>
                        <a:rPr lang="en-US" sz="700" b="0" u="none" strike="noStrike" dirty="0">
                          <a:effectLst/>
                        </a:rPr>
                        <a:t>       30,564.39 </a:t>
                      </a:r>
                      <a:endParaRPr lang="en-US" sz="700" b="0" i="0" u="none" strike="noStrike" dirty="0">
                        <a:effectLst/>
                        <a:latin typeface="Calibri" panose="020F0502020204030204" pitchFamily="34" charset="0"/>
                      </a:endParaRPr>
                    </a:p>
                  </a:txBody>
                  <a:tcPr marL="2809" marR="2809" marT="2809" marB="0" anchor="ctr"/>
                </a:tc>
                <a:tc>
                  <a:txBody>
                    <a:bodyPr/>
                    <a:lstStyle/>
                    <a:p>
                      <a:pPr algn="ctr" fontAlgn="b">
                        <a:buNone/>
                      </a:pPr>
                      <a:r>
                        <a:rPr lang="en-US" sz="700" b="0" u="none" strike="noStrike">
                          <a:effectLst/>
                        </a:rPr>
                        <a:t>               6.75 </a:t>
                      </a:r>
                      <a:endParaRPr lang="en-US" sz="700" b="0" i="0" u="none" strike="noStrike">
                        <a:effectLst/>
                        <a:latin typeface="Calibri" panose="020F0502020204030204" pitchFamily="34" charset="0"/>
                      </a:endParaRPr>
                    </a:p>
                  </a:txBody>
                  <a:tcPr marL="2809" marR="2809" marT="2809" marB="0" anchor="ctr"/>
                </a:tc>
                <a:tc>
                  <a:txBody>
                    <a:bodyPr/>
                    <a:lstStyle/>
                    <a:p>
                      <a:pPr algn="ctr" fontAlgn="b">
                        <a:buNone/>
                      </a:pPr>
                      <a:r>
                        <a:rPr lang="en-US" sz="700" b="0" u="none" strike="noStrike" dirty="0">
                          <a:effectLst/>
                        </a:rPr>
                        <a:t>Engineering</a:t>
                      </a:r>
                      <a:endParaRPr lang="en-US" sz="700" b="0" i="0" u="none" strike="noStrike" dirty="0">
                        <a:effectLst/>
                        <a:latin typeface="Calibri" panose="020F0502020204030204" pitchFamily="34" charset="0"/>
                      </a:endParaRPr>
                    </a:p>
                  </a:txBody>
                  <a:tcPr marL="2809" marR="2809" marT="2809" marB="0" anchor="ctr"/>
                </a:tc>
                <a:extLst>
                  <a:ext uri="{0D108BD9-81ED-4DB2-BD59-A6C34878D82A}">
                    <a16:rowId xmlns:a16="http://schemas.microsoft.com/office/drawing/2014/main" val="1500078341"/>
                  </a:ext>
                </a:extLst>
              </a:tr>
            </a:tbl>
          </a:graphicData>
        </a:graphic>
      </p:graphicFrame>
      <p:graphicFrame>
        <p:nvGraphicFramePr>
          <p:cNvPr id="10" name="Table 9">
            <a:extLst>
              <a:ext uri="{FF2B5EF4-FFF2-40B4-BE49-F238E27FC236}">
                <a16:creationId xmlns:a16="http://schemas.microsoft.com/office/drawing/2014/main" id="{E08CEF67-40A1-B9D4-AE15-2393FFF70606}"/>
              </a:ext>
            </a:extLst>
          </p:cNvPr>
          <p:cNvGraphicFramePr>
            <a:graphicFrameLocks noGrp="1"/>
          </p:cNvGraphicFramePr>
          <p:nvPr>
            <p:extLst>
              <p:ext uri="{D42A27DB-BD31-4B8C-83A1-F6EECF244321}">
                <p14:modId xmlns:p14="http://schemas.microsoft.com/office/powerpoint/2010/main" val="4247295143"/>
              </p:ext>
            </p:extLst>
          </p:nvPr>
        </p:nvGraphicFramePr>
        <p:xfrm>
          <a:off x="7820101" y="676154"/>
          <a:ext cx="4134555" cy="6222084"/>
        </p:xfrm>
        <a:graphic>
          <a:graphicData uri="http://schemas.openxmlformats.org/drawingml/2006/table">
            <a:tbl>
              <a:tblPr>
                <a:tableStyleId>{00A15C55-8517-42AA-B614-E9B94910E393}</a:tableStyleId>
              </a:tblPr>
              <a:tblGrid>
                <a:gridCol w="474781">
                  <a:extLst>
                    <a:ext uri="{9D8B030D-6E8A-4147-A177-3AD203B41FA5}">
                      <a16:colId xmlns:a16="http://schemas.microsoft.com/office/drawing/2014/main" val="2375148642"/>
                    </a:ext>
                  </a:extLst>
                </a:gridCol>
                <a:gridCol w="969347">
                  <a:extLst>
                    <a:ext uri="{9D8B030D-6E8A-4147-A177-3AD203B41FA5}">
                      <a16:colId xmlns:a16="http://schemas.microsoft.com/office/drawing/2014/main" val="3888970453"/>
                    </a:ext>
                  </a:extLst>
                </a:gridCol>
                <a:gridCol w="474781">
                  <a:extLst>
                    <a:ext uri="{9D8B030D-6E8A-4147-A177-3AD203B41FA5}">
                      <a16:colId xmlns:a16="http://schemas.microsoft.com/office/drawing/2014/main" val="3325392612"/>
                    </a:ext>
                  </a:extLst>
                </a:gridCol>
                <a:gridCol w="692389">
                  <a:extLst>
                    <a:ext uri="{9D8B030D-6E8A-4147-A177-3AD203B41FA5}">
                      <a16:colId xmlns:a16="http://schemas.microsoft.com/office/drawing/2014/main" val="3031493645"/>
                    </a:ext>
                  </a:extLst>
                </a:gridCol>
                <a:gridCol w="642933">
                  <a:extLst>
                    <a:ext uri="{9D8B030D-6E8A-4147-A177-3AD203B41FA5}">
                      <a16:colId xmlns:a16="http://schemas.microsoft.com/office/drawing/2014/main" val="2604081902"/>
                    </a:ext>
                  </a:extLst>
                </a:gridCol>
                <a:gridCol w="880324">
                  <a:extLst>
                    <a:ext uri="{9D8B030D-6E8A-4147-A177-3AD203B41FA5}">
                      <a16:colId xmlns:a16="http://schemas.microsoft.com/office/drawing/2014/main" val="1208268115"/>
                    </a:ext>
                  </a:extLst>
                </a:gridCol>
              </a:tblGrid>
              <a:tr h="211625">
                <a:tc>
                  <a:txBody>
                    <a:bodyPr/>
                    <a:lstStyle/>
                    <a:p>
                      <a:pPr algn="ctr" fontAlgn="b">
                        <a:buNone/>
                      </a:pPr>
                      <a:r>
                        <a:rPr lang="en-US" sz="700" b="1" u="none" strike="noStrike" dirty="0">
                          <a:solidFill>
                            <a:srgbClr val="FFFFFF"/>
                          </a:solidFill>
                          <a:effectLst/>
                        </a:rPr>
                        <a:t>ID</a:t>
                      </a:r>
                      <a:endParaRPr lang="en-US" sz="700" b="1" i="0" u="none" strike="noStrike" dirty="0">
                        <a:solidFill>
                          <a:srgbClr val="FFFFFF"/>
                        </a:solidFill>
                        <a:effectLst/>
                        <a:latin typeface="Calibri" panose="020F0502020204030204" pitchFamily="34" charset="0"/>
                      </a:endParaRPr>
                    </a:p>
                  </a:txBody>
                  <a:tcPr marL="2809" marR="2809" marT="2809" marB="0" anchor="ctr">
                    <a:solidFill>
                      <a:schemeClr val="accent3">
                        <a:lumMod val="50000"/>
                      </a:schemeClr>
                    </a:solidFill>
                  </a:tcPr>
                </a:tc>
                <a:tc>
                  <a:txBody>
                    <a:bodyPr/>
                    <a:lstStyle/>
                    <a:p>
                      <a:pPr algn="ctr" fontAlgn="b">
                        <a:buNone/>
                      </a:pPr>
                      <a:r>
                        <a:rPr lang="en-US" sz="700" b="1" u="none" strike="noStrike" dirty="0">
                          <a:solidFill>
                            <a:srgbClr val="FFFFFF"/>
                          </a:solidFill>
                          <a:effectLst/>
                        </a:rPr>
                        <a:t>Names</a:t>
                      </a:r>
                      <a:endParaRPr lang="en-US" sz="700" b="1" i="0" u="none" strike="noStrike" dirty="0">
                        <a:solidFill>
                          <a:srgbClr val="FFFFFF"/>
                        </a:solidFill>
                        <a:effectLst/>
                        <a:latin typeface="Calibri" panose="020F0502020204030204" pitchFamily="34" charset="0"/>
                      </a:endParaRPr>
                    </a:p>
                  </a:txBody>
                  <a:tcPr marL="2809" marR="2809" marT="2809" marB="0" anchor="ctr">
                    <a:solidFill>
                      <a:schemeClr val="accent3">
                        <a:lumMod val="50000"/>
                      </a:schemeClr>
                    </a:solidFill>
                  </a:tcPr>
                </a:tc>
                <a:tc>
                  <a:txBody>
                    <a:bodyPr/>
                    <a:lstStyle/>
                    <a:p>
                      <a:pPr algn="ctr" fontAlgn="b">
                        <a:buNone/>
                      </a:pPr>
                      <a:r>
                        <a:rPr lang="en-US" sz="700" b="1" u="none" strike="noStrike" dirty="0">
                          <a:solidFill>
                            <a:srgbClr val="FFFFFF"/>
                          </a:solidFill>
                          <a:effectLst/>
                        </a:rPr>
                        <a:t>Hours</a:t>
                      </a:r>
                      <a:endParaRPr lang="en-US" sz="700" b="1" i="0" u="none" strike="noStrike" dirty="0">
                        <a:solidFill>
                          <a:srgbClr val="FFFFFF"/>
                        </a:solidFill>
                        <a:effectLst/>
                        <a:latin typeface="Calibri" panose="020F0502020204030204" pitchFamily="34" charset="0"/>
                      </a:endParaRPr>
                    </a:p>
                  </a:txBody>
                  <a:tcPr marL="2809" marR="2809" marT="2809" marB="0" anchor="ctr">
                    <a:solidFill>
                      <a:schemeClr val="accent3">
                        <a:lumMod val="50000"/>
                      </a:schemeClr>
                    </a:solidFill>
                  </a:tcPr>
                </a:tc>
                <a:tc>
                  <a:txBody>
                    <a:bodyPr/>
                    <a:lstStyle/>
                    <a:p>
                      <a:pPr algn="ctr" fontAlgn="b">
                        <a:buNone/>
                      </a:pPr>
                      <a:r>
                        <a:rPr lang="en-US" sz="700" b="1" u="none" strike="noStrike" dirty="0">
                          <a:solidFill>
                            <a:srgbClr val="FFFFFF"/>
                          </a:solidFill>
                          <a:effectLst/>
                        </a:rPr>
                        <a:t> Cost </a:t>
                      </a:r>
                      <a:endParaRPr lang="en-US" sz="700" b="1" i="0" u="none" strike="noStrike" dirty="0">
                        <a:solidFill>
                          <a:srgbClr val="FFFFFF"/>
                        </a:solidFill>
                        <a:effectLst/>
                        <a:latin typeface="Calibri" panose="020F0502020204030204" pitchFamily="34" charset="0"/>
                      </a:endParaRPr>
                    </a:p>
                  </a:txBody>
                  <a:tcPr marL="2809" marR="2809" marT="2809" marB="0" anchor="ctr">
                    <a:solidFill>
                      <a:schemeClr val="accent3">
                        <a:lumMod val="50000"/>
                      </a:schemeClr>
                    </a:solidFill>
                  </a:tcPr>
                </a:tc>
                <a:tc>
                  <a:txBody>
                    <a:bodyPr/>
                    <a:lstStyle/>
                    <a:p>
                      <a:pPr algn="ctr" fontAlgn="b">
                        <a:buNone/>
                      </a:pPr>
                      <a:r>
                        <a:rPr lang="en-US" sz="700" b="1" u="none" strike="noStrike" dirty="0">
                          <a:solidFill>
                            <a:srgbClr val="FFFFFF"/>
                          </a:solidFill>
                          <a:effectLst/>
                        </a:rPr>
                        <a:t>Leave</a:t>
                      </a:r>
                      <a:endParaRPr lang="en-US" sz="700" b="1" i="0" u="none" strike="noStrike" dirty="0">
                        <a:solidFill>
                          <a:srgbClr val="FFFFFF"/>
                        </a:solidFill>
                        <a:effectLst/>
                        <a:latin typeface="Calibri" panose="020F0502020204030204" pitchFamily="34" charset="0"/>
                      </a:endParaRPr>
                    </a:p>
                  </a:txBody>
                  <a:tcPr marL="2809" marR="2809" marT="2809" marB="0" anchor="ctr">
                    <a:solidFill>
                      <a:schemeClr val="accent3">
                        <a:lumMod val="50000"/>
                      </a:schemeClr>
                    </a:solidFill>
                  </a:tcPr>
                </a:tc>
                <a:tc>
                  <a:txBody>
                    <a:bodyPr/>
                    <a:lstStyle/>
                    <a:p>
                      <a:pPr algn="ctr" fontAlgn="b">
                        <a:buNone/>
                      </a:pPr>
                      <a:r>
                        <a:rPr lang="en-US" sz="700" b="1" u="none" strike="noStrike" dirty="0">
                          <a:solidFill>
                            <a:srgbClr val="FFFFFF"/>
                          </a:solidFill>
                          <a:effectLst/>
                        </a:rPr>
                        <a:t>DPT</a:t>
                      </a:r>
                    </a:p>
                    <a:p>
                      <a:pPr algn="ctr" fontAlgn="b">
                        <a:buNone/>
                      </a:pPr>
                      <a:endParaRPr lang="en-US" sz="700" b="1" i="0" u="none" strike="noStrike" dirty="0">
                        <a:solidFill>
                          <a:srgbClr val="FFFFFF"/>
                        </a:solidFill>
                        <a:effectLst/>
                        <a:latin typeface="Calibri" panose="020F0502020204030204" pitchFamily="34" charset="0"/>
                      </a:endParaRPr>
                    </a:p>
                  </a:txBody>
                  <a:tcPr marL="2809" marR="2809" marT="2809" marB="0" anchor="ctr">
                    <a:solidFill>
                      <a:schemeClr val="accent3">
                        <a:lumMod val="50000"/>
                      </a:schemeClr>
                    </a:solidFill>
                  </a:tcPr>
                </a:tc>
                <a:extLst>
                  <a:ext uri="{0D108BD9-81ED-4DB2-BD59-A6C34878D82A}">
                    <a16:rowId xmlns:a16="http://schemas.microsoft.com/office/drawing/2014/main" val="1517895436"/>
                  </a:ext>
                </a:extLst>
              </a:tr>
              <a:tr h="181410">
                <a:tc>
                  <a:txBody>
                    <a:bodyPr/>
                    <a:lstStyle/>
                    <a:p>
                      <a:pPr algn="r" fontAlgn="b">
                        <a:buNone/>
                      </a:pPr>
                      <a:r>
                        <a:rPr lang="en-US" sz="700" b="0" i="0" u="none" strike="noStrike" dirty="0">
                          <a:effectLst/>
                          <a:latin typeface="Calibri" panose="020F0502020204030204" pitchFamily="34" charset="0"/>
                        </a:rPr>
                        <a:t>1</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Rodrigue Luzolawo</a:t>
                      </a:r>
                    </a:p>
                  </a:txBody>
                  <a:tcPr marL="6350" marR="6350" marT="6350" marB="0" anchor="ctr">
                    <a:solidFill>
                      <a:schemeClr val="accent4">
                        <a:lumMod val="60000"/>
                        <a:lumOff val="40000"/>
                      </a:schemeClr>
                    </a:solidFill>
                  </a:tcPr>
                </a:tc>
                <a:tc>
                  <a:txBody>
                    <a:bodyPr/>
                    <a:lstStyle/>
                    <a:p>
                      <a:pPr algn="r" fontAlgn="b">
                        <a:buNone/>
                      </a:pPr>
                      <a:r>
                        <a:rPr lang="en-US" sz="700" b="0" i="0" u="none" strike="noStrike">
                          <a:effectLst/>
                          <a:latin typeface="Calibri" panose="020F0502020204030204" pitchFamily="34" charset="0"/>
                        </a:rPr>
                        <a:t>12.01</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114.48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30.91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solidFill>
                      <a:schemeClr val="accent4">
                        <a:lumMod val="60000"/>
                        <a:lumOff val="40000"/>
                      </a:schemeClr>
                    </a:solidFill>
                  </a:tcPr>
                </a:tc>
                <a:extLst>
                  <a:ext uri="{0D108BD9-81ED-4DB2-BD59-A6C34878D82A}">
                    <a16:rowId xmlns:a16="http://schemas.microsoft.com/office/drawing/2014/main" val="3235117561"/>
                  </a:ext>
                </a:extLst>
              </a:tr>
              <a:tr h="110654">
                <a:tc>
                  <a:txBody>
                    <a:bodyPr/>
                    <a:lstStyle/>
                    <a:p>
                      <a:pPr algn="r" fontAlgn="b">
                        <a:buNone/>
                      </a:pPr>
                      <a:r>
                        <a:rPr lang="en-US" sz="700" b="0" i="0" u="none" strike="noStrike">
                          <a:effectLst/>
                          <a:latin typeface="Calibri" panose="020F0502020204030204" pitchFamily="34" charset="0"/>
                        </a:rPr>
                        <a:t>2</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Longo Zola</a:t>
                      </a:r>
                    </a:p>
                  </a:txBody>
                  <a:tcPr marL="6350" marR="6350" marT="6350" marB="0" anchor="ctr">
                    <a:solidFill>
                      <a:schemeClr val="accent4">
                        <a:lumMod val="60000"/>
                        <a:lumOff val="40000"/>
                      </a:schemeClr>
                    </a:solidFill>
                  </a:tcPr>
                </a:tc>
                <a:tc>
                  <a:txBody>
                    <a:bodyPr/>
                    <a:lstStyle/>
                    <a:p>
                      <a:pPr algn="r" fontAlgn="b">
                        <a:buNone/>
                      </a:pPr>
                      <a:r>
                        <a:rPr lang="en-US" sz="700" b="0" i="0" u="none" strike="noStrike">
                          <a:effectLst/>
                          <a:latin typeface="Calibri" panose="020F0502020204030204" pitchFamily="34" charset="0"/>
                        </a:rPr>
                        <a:t>20</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281.00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dirty="0">
                          <a:effectLst/>
                          <a:latin typeface="Calibri" panose="020F0502020204030204" pitchFamily="34" charset="0"/>
                        </a:rPr>
                        <a:t>             29.09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Mining</a:t>
                      </a:r>
                    </a:p>
                  </a:txBody>
                  <a:tcPr marL="6350" marR="6350" marT="6350" marB="0" anchor="ctr">
                    <a:solidFill>
                      <a:schemeClr val="accent4">
                        <a:lumMod val="60000"/>
                        <a:lumOff val="40000"/>
                      </a:schemeClr>
                    </a:solidFill>
                  </a:tcPr>
                </a:tc>
                <a:extLst>
                  <a:ext uri="{0D108BD9-81ED-4DB2-BD59-A6C34878D82A}">
                    <a16:rowId xmlns:a16="http://schemas.microsoft.com/office/drawing/2014/main" val="1675407738"/>
                  </a:ext>
                </a:extLst>
              </a:tr>
              <a:tr h="110654">
                <a:tc>
                  <a:txBody>
                    <a:bodyPr/>
                    <a:lstStyle/>
                    <a:p>
                      <a:pPr algn="r" fontAlgn="b">
                        <a:buNone/>
                      </a:pPr>
                      <a:r>
                        <a:rPr lang="en-US" sz="700" b="0" i="0" u="none" strike="noStrike">
                          <a:effectLst/>
                          <a:latin typeface="Calibri" panose="020F0502020204030204" pitchFamily="34" charset="0"/>
                        </a:rPr>
                        <a:t>3</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Eder Bitutu</a:t>
                      </a:r>
                    </a:p>
                  </a:txBody>
                  <a:tcPr marL="6350" marR="6350" marT="6350" marB="0" anchor="ctr">
                    <a:solidFill>
                      <a:schemeClr val="accent4">
                        <a:lumMod val="60000"/>
                        <a:lumOff val="40000"/>
                      </a:schemeClr>
                    </a:solidFill>
                  </a:tcPr>
                </a:tc>
                <a:tc>
                  <a:txBody>
                    <a:bodyPr/>
                    <a:lstStyle/>
                    <a:p>
                      <a:pPr algn="r" fontAlgn="b">
                        <a:buNone/>
                      </a:pPr>
                      <a:r>
                        <a:rPr lang="en-US" sz="700" b="0" i="0" u="none" strike="noStrike">
                          <a:effectLst/>
                          <a:latin typeface="Calibri" panose="020F0502020204030204" pitchFamily="34" charset="0"/>
                        </a:rPr>
                        <a:t>5.24</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22.35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26.83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solidFill>
                      <a:schemeClr val="accent4">
                        <a:lumMod val="60000"/>
                        <a:lumOff val="40000"/>
                      </a:schemeClr>
                    </a:solidFill>
                  </a:tcPr>
                </a:tc>
                <a:extLst>
                  <a:ext uri="{0D108BD9-81ED-4DB2-BD59-A6C34878D82A}">
                    <a16:rowId xmlns:a16="http://schemas.microsoft.com/office/drawing/2014/main" val="4112182485"/>
                  </a:ext>
                </a:extLst>
              </a:tr>
              <a:tr h="181410">
                <a:tc>
                  <a:txBody>
                    <a:bodyPr/>
                    <a:lstStyle/>
                    <a:p>
                      <a:pPr algn="r" fontAlgn="b">
                        <a:buNone/>
                      </a:pPr>
                      <a:r>
                        <a:rPr lang="en-US" sz="700" b="0" i="0" u="none" strike="noStrike">
                          <a:effectLst/>
                          <a:latin typeface="Calibri" panose="020F0502020204030204" pitchFamily="34" charset="0"/>
                        </a:rPr>
                        <a:t>4</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Kabangu Mutambayi</a:t>
                      </a:r>
                    </a:p>
                  </a:txBody>
                  <a:tcPr marL="6350" marR="6350" marT="6350" marB="0" anchor="ctr">
                    <a:solidFill>
                      <a:schemeClr val="accent4">
                        <a:lumMod val="60000"/>
                        <a:lumOff val="40000"/>
                      </a:schemeClr>
                    </a:solidFill>
                  </a:tcPr>
                </a:tc>
                <a:tc>
                  <a:txBody>
                    <a:bodyPr/>
                    <a:lstStyle/>
                    <a:p>
                      <a:pPr algn="r" fontAlgn="b">
                        <a:buNone/>
                      </a:pPr>
                      <a:r>
                        <a:rPr lang="en-US" sz="700" b="0" i="0" u="none" strike="noStrike">
                          <a:effectLst/>
                          <a:latin typeface="Calibri" panose="020F0502020204030204" pitchFamily="34" charset="0"/>
                        </a:rPr>
                        <a:t>14</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261.78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26.59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solidFill>
                      <a:schemeClr val="accent4">
                        <a:lumMod val="60000"/>
                        <a:lumOff val="40000"/>
                      </a:schemeClr>
                    </a:solidFill>
                  </a:tcPr>
                </a:tc>
                <a:extLst>
                  <a:ext uri="{0D108BD9-81ED-4DB2-BD59-A6C34878D82A}">
                    <a16:rowId xmlns:a16="http://schemas.microsoft.com/office/drawing/2014/main" val="1797803819"/>
                  </a:ext>
                </a:extLst>
              </a:tr>
              <a:tr h="110654">
                <a:tc>
                  <a:txBody>
                    <a:bodyPr/>
                    <a:lstStyle/>
                    <a:p>
                      <a:pPr algn="r" fontAlgn="b">
                        <a:buNone/>
                      </a:pPr>
                      <a:r>
                        <a:rPr lang="en-US" sz="700" b="0" i="0" u="none" strike="noStrike">
                          <a:effectLst/>
                          <a:latin typeface="Calibri" panose="020F0502020204030204" pitchFamily="34" charset="0"/>
                        </a:rPr>
                        <a:t>5</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Hassan Kananga</a:t>
                      </a:r>
                    </a:p>
                  </a:txBody>
                  <a:tcPr marL="6350" marR="6350" marT="6350" marB="0" anchor="ctr">
                    <a:solidFill>
                      <a:schemeClr val="accent4">
                        <a:lumMod val="60000"/>
                        <a:lumOff val="40000"/>
                      </a:schemeClr>
                    </a:solidFill>
                  </a:tcPr>
                </a:tc>
                <a:tc>
                  <a:txBody>
                    <a:bodyPr/>
                    <a:lstStyle/>
                    <a:p>
                      <a:pPr algn="r" fontAlgn="b">
                        <a:buNone/>
                      </a:pPr>
                      <a:r>
                        <a:rPr lang="en-US" sz="700" b="0" i="0" u="none" strike="noStrike">
                          <a:effectLst/>
                          <a:latin typeface="Calibri" panose="020F0502020204030204" pitchFamily="34" charset="0"/>
                        </a:rPr>
                        <a:t>16</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207.04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25.71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Mining</a:t>
                      </a:r>
                    </a:p>
                  </a:txBody>
                  <a:tcPr marL="6350" marR="6350" marT="6350" marB="0" anchor="ctr">
                    <a:solidFill>
                      <a:schemeClr val="accent4">
                        <a:lumMod val="60000"/>
                        <a:lumOff val="40000"/>
                      </a:schemeClr>
                    </a:solidFill>
                  </a:tcPr>
                </a:tc>
                <a:extLst>
                  <a:ext uri="{0D108BD9-81ED-4DB2-BD59-A6C34878D82A}">
                    <a16:rowId xmlns:a16="http://schemas.microsoft.com/office/drawing/2014/main" val="2974694007"/>
                  </a:ext>
                </a:extLst>
              </a:tr>
              <a:tr h="181410">
                <a:tc>
                  <a:txBody>
                    <a:bodyPr/>
                    <a:lstStyle/>
                    <a:p>
                      <a:pPr algn="r" fontAlgn="b">
                        <a:buNone/>
                      </a:pPr>
                      <a:r>
                        <a:rPr lang="en-US" sz="700" b="0" i="0" u="none" strike="noStrike">
                          <a:effectLst/>
                          <a:latin typeface="Calibri" panose="020F0502020204030204" pitchFamily="34" charset="0"/>
                        </a:rPr>
                        <a:t>6</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Simon Bayisa</a:t>
                      </a:r>
                    </a:p>
                  </a:txBody>
                  <a:tcPr marL="6350" marR="6350" marT="6350" marB="0" anchor="ctr">
                    <a:solidFill>
                      <a:schemeClr val="accent4">
                        <a:lumMod val="60000"/>
                        <a:lumOff val="40000"/>
                      </a:schemeClr>
                    </a:solidFill>
                  </a:tcPr>
                </a:tc>
                <a:tc>
                  <a:txBody>
                    <a:bodyPr/>
                    <a:lstStyle/>
                    <a:p>
                      <a:pPr algn="r" fontAlgn="b">
                        <a:buNone/>
                      </a:pPr>
                      <a:r>
                        <a:rPr lang="en-US" sz="700" b="0" i="0" u="none" strike="noStrike">
                          <a:effectLst/>
                          <a:latin typeface="Calibri" panose="020F0502020204030204" pitchFamily="34" charset="0"/>
                        </a:rPr>
                        <a:t>80.55</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892.52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25.25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solidFill>
                      <a:schemeClr val="accent4">
                        <a:lumMod val="60000"/>
                        <a:lumOff val="40000"/>
                      </a:schemeClr>
                    </a:solidFill>
                  </a:tcPr>
                </a:tc>
                <a:extLst>
                  <a:ext uri="{0D108BD9-81ED-4DB2-BD59-A6C34878D82A}">
                    <a16:rowId xmlns:a16="http://schemas.microsoft.com/office/drawing/2014/main" val="2285703619"/>
                  </a:ext>
                </a:extLst>
              </a:tr>
              <a:tr h="110654">
                <a:tc>
                  <a:txBody>
                    <a:bodyPr/>
                    <a:lstStyle/>
                    <a:p>
                      <a:pPr algn="r" fontAlgn="b">
                        <a:buNone/>
                      </a:pPr>
                      <a:r>
                        <a:rPr lang="en-US" sz="700" b="0" i="0" u="none" strike="noStrike">
                          <a:effectLst/>
                          <a:latin typeface="Calibri" panose="020F0502020204030204" pitchFamily="34" charset="0"/>
                        </a:rPr>
                        <a:t>7</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Ramses Kalunga</a:t>
                      </a:r>
                    </a:p>
                  </a:txBody>
                  <a:tcPr marL="6350" marR="6350" marT="6350" marB="0" anchor="ctr">
                    <a:solidFill>
                      <a:schemeClr val="accent4">
                        <a:lumMod val="60000"/>
                        <a:lumOff val="40000"/>
                      </a:schemeClr>
                    </a:solidFill>
                  </a:tcPr>
                </a:tc>
                <a:tc>
                  <a:txBody>
                    <a:bodyPr/>
                    <a:lstStyle/>
                    <a:p>
                      <a:pPr algn="r" fontAlgn="b">
                        <a:buNone/>
                      </a:pPr>
                      <a:r>
                        <a:rPr lang="en-US" sz="700" b="0" i="0" u="none" strike="noStrike">
                          <a:effectLst/>
                          <a:latin typeface="Calibri" panose="020F0502020204030204" pitchFamily="34" charset="0"/>
                        </a:rPr>
                        <a:t>5.07</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69.72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24.91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solidFill>
                      <a:schemeClr val="accent4">
                        <a:lumMod val="60000"/>
                        <a:lumOff val="40000"/>
                      </a:schemeClr>
                    </a:solidFill>
                  </a:tcPr>
                </a:tc>
                <a:extLst>
                  <a:ext uri="{0D108BD9-81ED-4DB2-BD59-A6C34878D82A}">
                    <a16:rowId xmlns:a16="http://schemas.microsoft.com/office/drawing/2014/main" val="3286526921"/>
                  </a:ext>
                </a:extLst>
              </a:tr>
              <a:tr h="110654">
                <a:tc>
                  <a:txBody>
                    <a:bodyPr/>
                    <a:lstStyle/>
                    <a:p>
                      <a:pPr algn="r" fontAlgn="b">
                        <a:buNone/>
                      </a:pPr>
                      <a:r>
                        <a:rPr lang="en-US" sz="700" b="0" i="0" u="none" strike="noStrike">
                          <a:effectLst/>
                          <a:latin typeface="Calibri" panose="020F0502020204030204" pitchFamily="34" charset="0"/>
                        </a:rPr>
                        <a:t>8</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Alphonse Bindama</a:t>
                      </a:r>
                    </a:p>
                  </a:txBody>
                  <a:tcPr marL="6350" marR="6350" marT="6350" marB="0" anchor="ctr">
                    <a:solidFill>
                      <a:schemeClr val="accent4">
                        <a:lumMod val="60000"/>
                        <a:lumOff val="40000"/>
                      </a:schemeClr>
                    </a:solidFill>
                  </a:tcPr>
                </a:tc>
                <a:tc>
                  <a:txBody>
                    <a:bodyPr/>
                    <a:lstStyle/>
                    <a:p>
                      <a:pPr algn="r" fontAlgn="b">
                        <a:buNone/>
                      </a:pPr>
                      <a:r>
                        <a:rPr lang="en-US" sz="700" b="0" i="0" u="none" strike="noStrike">
                          <a:effectLst/>
                          <a:latin typeface="Calibri" panose="020F0502020204030204" pitchFamily="34" charset="0"/>
                        </a:rPr>
                        <a:t>35.07</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518.40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24.50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solidFill>
                      <a:schemeClr val="accent4">
                        <a:lumMod val="60000"/>
                        <a:lumOff val="40000"/>
                      </a:schemeClr>
                    </a:solidFill>
                  </a:tcPr>
                </a:tc>
                <a:extLst>
                  <a:ext uri="{0D108BD9-81ED-4DB2-BD59-A6C34878D82A}">
                    <a16:rowId xmlns:a16="http://schemas.microsoft.com/office/drawing/2014/main" val="2499937219"/>
                  </a:ext>
                </a:extLst>
              </a:tr>
              <a:tr h="110654">
                <a:tc>
                  <a:txBody>
                    <a:bodyPr/>
                    <a:lstStyle/>
                    <a:p>
                      <a:pPr algn="r" fontAlgn="b">
                        <a:buNone/>
                      </a:pPr>
                      <a:r>
                        <a:rPr lang="en-US" sz="700" b="0" i="0" u="none" strike="noStrike">
                          <a:effectLst/>
                          <a:latin typeface="Calibri" panose="020F0502020204030204" pitchFamily="34" charset="0"/>
                        </a:rPr>
                        <a:t>9</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Dieu Ngoma</a:t>
                      </a:r>
                    </a:p>
                  </a:txBody>
                  <a:tcPr marL="6350" marR="6350" marT="6350" marB="0" anchor="ctr">
                    <a:solidFill>
                      <a:schemeClr val="accent4">
                        <a:lumMod val="60000"/>
                        <a:lumOff val="40000"/>
                      </a:schemeClr>
                    </a:solidFill>
                  </a:tcPr>
                </a:tc>
                <a:tc>
                  <a:txBody>
                    <a:bodyPr/>
                    <a:lstStyle/>
                    <a:p>
                      <a:pPr algn="r" fontAlgn="b">
                        <a:buNone/>
                      </a:pPr>
                      <a:r>
                        <a:rPr lang="en-US" sz="700" b="0" i="0" u="none" strike="noStrike">
                          <a:effectLst/>
                          <a:latin typeface="Calibri" panose="020F0502020204030204" pitchFamily="34" charset="0"/>
                        </a:rPr>
                        <a:t>53.87</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702.67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24.09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solidFill>
                      <a:schemeClr val="accent4">
                        <a:lumMod val="60000"/>
                        <a:lumOff val="40000"/>
                      </a:schemeClr>
                    </a:solidFill>
                  </a:tcPr>
                </a:tc>
                <a:extLst>
                  <a:ext uri="{0D108BD9-81ED-4DB2-BD59-A6C34878D82A}">
                    <a16:rowId xmlns:a16="http://schemas.microsoft.com/office/drawing/2014/main" val="3732617094"/>
                  </a:ext>
                </a:extLst>
              </a:tr>
              <a:tr h="110654">
                <a:tc>
                  <a:txBody>
                    <a:bodyPr/>
                    <a:lstStyle/>
                    <a:p>
                      <a:pPr algn="r" fontAlgn="b">
                        <a:buNone/>
                      </a:pPr>
                      <a:r>
                        <a:rPr lang="en-US" sz="700" b="0" i="0" u="none" strike="noStrike">
                          <a:effectLst/>
                          <a:latin typeface="Calibri" panose="020F0502020204030204" pitchFamily="34" charset="0"/>
                        </a:rPr>
                        <a:t>10</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Osee Lukuayi</a:t>
                      </a:r>
                    </a:p>
                  </a:txBody>
                  <a:tcPr marL="6350" marR="6350" marT="6350" marB="0" anchor="ctr">
                    <a:solidFill>
                      <a:schemeClr val="accent4">
                        <a:lumMod val="60000"/>
                        <a:lumOff val="40000"/>
                      </a:schemeClr>
                    </a:solidFill>
                  </a:tcPr>
                </a:tc>
                <a:tc>
                  <a:txBody>
                    <a:bodyPr/>
                    <a:lstStyle/>
                    <a:p>
                      <a:pPr algn="r" fontAlgn="b">
                        <a:buNone/>
                      </a:pPr>
                      <a:r>
                        <a:rPr lang="en-US" sz="700" b="0" i="0" u="none" strike="noStrike">
                          <a:effectLst/>
                          <a:latin typeface="Calibri" panose="020F0502020204030204" pitchFamily="34" charset="0"/>
                        </a:rPr>
                        <a:t>6</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24.18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             24.09 </a:t>
                      </a:r>
                    </a:p>
                  </a:txBody>
                  <a:tcPr marL="6350" marR="6350" marT="6350" marB="0" anchor="ctr">
                    <a:solidFill>
                      <a:schemeClr val="accent4">
                        <a:lumMod val="60000"/>
                        <a:lumOff val="40000"/>
                      </a:schemeClr>
                    </a:solidFill>
                  </a:tcP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solidFill>
                      <a:schemeClr val="accent4">
                        <a:lumMod val="60000"/>
                        <a:lumOff val="40000"/>
                      </a:schemeClr>
                    </a:solidFill>
                  </a:tcPr>
                </a:tc>
                <a:extLst>
                  <a:ext uri="{0D108BD9-81ED-4DB2-BD59-A6C34878D82A}">
                    <a16:rowId xmlns:a16="http://schemas.microsoft.com/office/drawing/2014/main" val="168031956"/>
                  </a:ext>
                </a:extLst>
              </a:tr>
              <a:tr h="110654">
                <a:tc>
                  <a:txBody>
                    <a:bodyPr/>
                    <a:lstStyle/>
                    <a:p>
                      <a:pPr algn="r" fontAlgn="b">
                        <a:buNone/>
                      </a:pPr>
                      <a:r>
                        <a:rPr lang="en-US" sz="700" b="0" i="0" u="none" strike="noStrike">
                          <a:effectLst/>
                          <a:latin typeface="Calibri" panose="020F0502020204030204" pitchFamily="34" charset="0"/>
                        </a:rPr>
                        <a:t>11</a:t>
                      </a:r>
                    </a:p>
                  </a:txBody>
                  <a:tcPr marL="6350" marR="6350" marT="6350" marB="0" anchor="ctr"/>
                </a:tc>
                <a:tc>
                  <a:txBody>
                    <a:bodyPr/>
                    <a:lstStyle/>
                    <a:p>
                      <a:pPr algn="l" fontAlgn="b">
                        <a:buNone/>
                      </a:pPr>
                      <a:r>
                        <a:rPr lang="en-US" sz="700" b="0" i="0" u="none" strike="noStrike">
                          <a:effectLst/>
                          <a:latin typeface="Calibri" panose="020F0502020204030204" pitchFamily="34" charset="0"/>
                        </a:rPr>
                        <a:t>Erick Nlandu</a:t>
                      </a:r>
                    </a:p>
                  </a:txBody>
                  <a:tcPr marL="6350" marR="6350" marT="6350" marB="0" anchor="ctr"/>
                </a:tc>
                <a:tc>
                  <a:txBody>
                    <a:bodyPr/>
                    <a:lstStyle/>
                    <a:p>
                      <a:pPr algn="r" fontAlgn="b">
                        <a:buNone/>
                      </a:pPr>
                      <a:r>
                        <a:rPr lang="en-US" sz="700" b="0" i="0" u="none" strike="noStrike">
                          <a:effectLst/>
                          <a:latin typeface="Calibri" panose="020F0502020204030204" pitchFamily="34" charset="0"/>
                        </a:rPr>
                        <a:t>17.28</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142.41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23.25 </a:t>
                      </a:r>
                    </a:p>
                  </a:txBody>
                  <a:tcPr marL="6350" marR="6350" marT="6350" marB="0" anchor="ctr"/>
                </a:tc>
                <a:tc>
                  <a:txBody>
                    <a:bodyPr/>
                    <a:lstStyle/>
                    <a:p>
                      <a:pPr algn="l" fontAlgn="b">
                        <a:buNone/>
                      </a:pPr>
                      <a:r>
                        <a:rPr lang="en-US" sz="700" b="0" i="0" u="none" strike="noStrike">
                          <a:effectLst/>
                          <a:latin typeface="Calibri" panose="020F0502020204030204" pitchFamily="34" charset="0"/>
                        </a:rPr>
                        <a:t>Quality Assurance</a:t>
                      </a:r>
                    </a:p>
                  </a:txBody>
                  <a:tcPr marL="6350" marR="6350" marT="6350" marB="0" anchor="ctr"/>
                </a:tc>
                <a:extLst>
                  <a:ext uri="{0D108BD9-81ED-4DB2-BD59-A6C34878D82A}">
                    <a16:rowId xmlns:a16="http://schemas.microsoft.com/office/drawing/2014/main" val="2956486063"/>
                  </a:ext>
                </a:extLst>
              </a:tr>
              <a:tr h="110654">
                <a:tc>
                  <a:txBody>
                    <a:bodyPr/>
                    <a:lstStyle/>
                    <a:p>
                      <a:pPr algn="r" fontAlgn="b">
                        <a:buNone/>
                      </a:pPr>
                      <a:r>
                        <a:rPr lang="en-US" sz="700" b="0" i="0" u="none" strike="noStrike">
                          <a:effectLst/>
                          <a:latin typeface="Calibri" panose="020F0502020204030204" pitchFamily="34" charset="0"/>
                        </a:rPr>
                        <a:t>12</a:t>
                      </a:r>
                    </a:p>
                  </a:txBody>
                  <a:tcPr marL="6350" marR="6350" marT="6350" marB="0" anchor="ctr"/>
                </a:tc>
                <a:tc>
                  <a:txBody>
                    <a:bodyPr/>
                    <a:lstStyle/>
                    <a:p>
                      <a:pPr algn="l" fontAlgn="b">
                        <a:buNone/>
                      </a:pPr>
                      <a:r>
                        <a:rPr lang="en-US" sz="700" b="0" i="0" u="none" strike="noStrike">
                          <a:effectLst/>
                          <a:latin typeface="Calibri" panose="020F0502020204030204" pitchFamily="34" charset="0"/>
                        </a:rPr>
                        <a:t>Guylain Wampangulua</a:t>
                      </a:r>
                    </a:p>
                  </a:txBody>
                  <a:tcPr marL="6350" marR="6350" marT="6350" marB="0" anchor="ctr"/>
                </a:tc>
                <a:tc>
                  <a:txBody>
                    <a:bodyPr/>
                    <a:lstStyle/>
                    <a:p>
                      <a:pPr algn="r" fontAlgn="b">
                        <a:buNone/>
                      </a:pPr>
                      <a:r>
                        <a:rPr lang="en-US" sz="700" b="0" i="0" u="none" strike="noStrike">
                          <a:effectLst/>
                          <a:latin typeface="Calibri" panose="020F0502020204030204" pitchFamily="34" charset="0"/>
                        </a:rPr>
                        <a:t>61.41</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187.04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23.17 </a:t>
                      </a:r>
                    </a:p>
                  </a:txBody>
                  <a:tcPr marL="6350" marR="6350" marT="6350" marB="0" anchor="ctr"/>
                </a:tc>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tc>
                <a:extLst>
                  <a:ext uri="{0D108BD9-81ED-4DB2-BD59-A6C34878D82A}">
                    <a16:rowId xmlns:a16="http://schemas.microsoft.com/office/drawing/2014/main" val="3983019776"/>
                  </a:ext>
                </a:extLst>
              </a:tr>
              <a:tr h="110654">
                <a:tc>
                  <a:txBody>
                    <a:bodyPr/>
                    <a:lstStyle/>
                    <a:p>
                      <a:pPr algn="r" fontAlgn="b">
                        <a:buNone/>
                      </a:pPr>
                      <a:r>
                        <a:rPr lang="en-US" sz="700" b="0" i="0" u="none" strike="noStrike">
                          <a:effectLst/>
                          <a:latin typeface="Calibri" panose="020F0502020204030204" pitchFamily="34" charset="0"/>
                        </a:rPr>
                        <a:t>13</a:t>
                      </a:r>
                    </a:p>
                  </a:txBody>
                  <a:tcPr marL="6350" marR="6350" marT="6350" marB="0" anchor="ctr"/>
                </a:tc>
                <a:tc>
                  <a:txBody>
                    <a:bodyPr/>
                    <a:lstStyle/>
                    <a:p>
                      <a:pPr algn="l" fontAlgn="b">
                        <a:buNone/>
                      </a:pPr>
                      <a:r>
                        <a:rPr lang="en-US" sz="700" b="0" i="0" u="none" strike="noStrike">
                          <a:effectLst/>
                          <a:latin typeface="Calibri" panose="020F0502020204030204" pitchFamily="34" charset="0"/>
                        </a:rPr>
                        <a:t>Jean Biawila</a:t>
                      </a:r>
                    </a:p>
                  </a:txBody>
                  <a:tcPr marL="6350" marR="6350" marT="6350" marB="0" anchor="ctr"/>
                </a:tc>
                <a:tc>
                  <a:txBody>
                    <a:bodyPr/>
                    <a:lstStyle/>
                    <a:p>
                      <a:pPr algn="r" fontAlgn="b">
                        <a:buNone/>
                      </a:pPr>
                      <a:r>
                        <a:rPr lang="en-US" sz="700" b="0" i="0" u="none" strike="noStrike">
                          <a:effectLst/>
                          <a:latin typeface="Calibri" panose="020F0502020204030204" pitchFamily="34" charset="0"/>
                        </a:rPr>
                        <a:t>54.74</a:t>
                      </a:r>
                    </a:p>
                  </a:txBody>
                  <a:tcPr marL="6350" marR="6350" marT="6350" marB="0" anchor="ctr"/>
                </a:tc>
                <a:tc>
                  <a:txBody>
                    <a:bodyPr/>
                    <a:lstStyle/>
                    <a:p>
                      <a:pPr algn="l" fontAlgn="b">
                        <a:buNone/>
                      </a:pPr>
                      <a:r>
                        <a:rPr lang="en-US" sz="700" b="0" i="0" u="none" strike="noStrike">
                          <a:effectLst/>
                          <a:latin typeface="Calibri" panose="020F0502020204030204" pitchFamily="34" charset="0"/>
                        </a:rPr>
                        <a:t>             464.83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22.75 </a:t>
                      </a:r>
                    </a:p>
                  </a:txBody>
                  <a:tcPr marL="6350" marR="6350" marT="6350" marB="0" anchor="ctr"/>
                </a:tc>
                <a:tc>
                  <a:txBody>
                    <a:bodyPr/>
                    <a:lstStyle/>
                    <a:p>
                      <a:pPr algn="l" fontAlgn="b">
                        <a:buNone/>
                      </a:pPr>
                      <a:r>
                        <a:rPr lang="en-US" sz="700" b="0" i="0" u="none" strike="noStrike">
                          <a:effectLst/>
                          <a:latin typeface="Calibri" panose="020F0502020204030204" pitchFamily="34" charset="0"/>
                        </a:rPr>
                        <a:t>Logistic</a:t>
                      </a:r>
                    </a:p>
                  </a:txBody>
                  <a:tcPr marL="6350" marR="6350" marT="6350" marB="0" anchor="ctr"/>
                </a:tc>
                <a:extLst>
                  <a:ext uri="{0D108BD9-81ED-4DB2-BD59-A6C34878D82A}">
                    <a16:rowId xmlns:a16="http://schemas.microsoft.com/office/drawing/2014/main" val="2794461257"/>
                  </a:ext>
                </a:extLst>
              </a:tr>
              <a:tr h="110654">
                <a:tc>
                  <a:txBody>
                    <a:bodyPr/>
                    <a:lstStyle/>
                    <a:p>
                      <a:pPr algn="r" fontAlgn="b">
                        <a:buNone/>
                      </a:pPr>
                      <a:r>
                        <a:rPr lang="en-US" sz="700" b="0" i="0" u="none" strike="noStrike">
                          <a:effectLst/>
                          <a:latin typeface="Calibri" panose="020F0502020204030204" pitchFamily="34" charset="0"/>
                        </a:rPr>
                        <a:t>14</a:t>
                      </a:r>
                    </a:p>
                  </a:txBody>
                  <a:tcPr marL="6350" marR="6350" marT="6350" marB="0" anchor="ctr"/>
                </a:tc>
                <a:tc>
                  <a:txBody>
                    <a:bodyPr/>
                    <a:lstStyle/>
                    <a:p>
                      <a:pPr algn="l" fontAlgn="b">
                        <a:buNone/>
                      </a:pPr>
                      <a:r>
                        <a:rPr lang="en-US" sz="700" b="0" i="0" u="none" strike="noStrike">
                          <a:effectLst/>
                          <a:latin typeface="Calibri" panose="020F0502020204030204" pitchFamily="34" charset="0"/>
                        </a:rPr>
                        <a:t>Patience Mansiamina</a:t>
                      </a:r>
                    </a:p>
                  </a:txBody>
                  <a:tcPr marL="6350" marR="6350" marT="6350" marB="0" anchor="ctr"/>
                </a:tc>
                <a:tc>
                  <a:txBody>
                    <a:bodyPr/>
                    <a:lstStyle/>
                    <a:p>
                      <a:pPr algn="r" fontAlgn="b">
                        <a:buNone/>
                      </a:pPr>
                      <a:r>
                        <a:rPr lang="en-US" sz="700" b="0" i="0" u="none" strike="noStrike">
                          <a:effectLst/>
                          <a:latin typeface="Calibri" panose="020F0502020204030204" pitchFamily="34" charset="0"/>
                        </a:rPr>
                        <a:t>101.92</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1,288.50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22.50 </a:t>
                      </a:r>
                    </a:p>
                  </a:txBody>
                  <a:tcPr marL="6350" marR="6350" marT="6350" marB="0" anchor="ctr"/>
                </a:tc>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tc>
                <a:extLst>
                  <a:ext uri="{0D108BD9-81ED-4DB2-BD59-A6C34878D82A}">
                    <a16:rowId xmlns:a16="http://schemas.microsoft.com/office/drawing/2014/main" val="1351310227"/>
                  </a:ext>
                </a:extLst>
              </a:tr>
              <a:tr h="110654">
                <a:tc>
                  <a:txBody>
                    <a:bodyPr/>
                    <a:lstStyle/>
                    <a:p>
                      <a:pPr algn="r" fontAlgn="b">
                        <a:buNone/>
                      </a:pPr>
                      <a:r>
                        <a:rPr lang="en-US" sz="700" b="0" i="0" u="none" strike="noStrike">
                          <a:effectLst/>
                          <a:latin typeface="Calibri" panose="020F0502020204030204" pitchFamily="34" charset="0"/>
                        </a:rPr>
                        <a:t>15</a:t>
                      </a:r>
                    </a:p>
                  </a:txBody>
                  <a:tcPr marL="6350" marR="6350" marT="6350" marB="0" anchor="ctr"/>
                </a:tc>
                <a:tc>
                  <a:txBody>
                    <a:bodyPr/>
                    <a:lstStyle/>
                    <a:p>
                      <a:pPr algn="l" fontAlgn="b">
                        <a:buNone/>
                      </a:pPr>
                      <a:r>
                        <a:rPr lang="en-US" sz="700" b="0" i="0" u="none" strike="noStrike">
                          <a:effectLst/>
                          <a:latin typeface="Calibri" panose="020F0502020204030204" pitchFamily="34" charset="0"/>
                        </a:rPr>
                        <a:t>Joel Nzuzi</a:t>
                      </a:r>
                    </a:p>
                  </a:txBody>
                  <a:tcPr marL="6350" marR="6350" marT="6350" marB="0" anchor="ctr"/>
                </a:tc>
                <a:tc>
                  <a:txBody>
                    <a:bodyPr/>
                    <a:lstStyle/>
                    <a:p>
                      <a:pPr algn="r" fontAlgn="b">
                        <a:buNone/>
                      </a:pPr>
                      <a:r>
                        <a:rPr lang="en-US" sz="700" b="0" i="0" u="none" strike="noStrike">
                          <a:effectLst/>
                          <a:latin typeface="Calibri" panose="020F0502020204030204" pitchFamily="34" charset="0"/>
                        </a:rPr>
                        <a:t>8.31</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111.28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20.91 </a:t>
                      </a:r>
                    </a:p>
                  </a:txBody>
                  <a:tcPr marL="6350" marR="6350" marT="6350" marB="0" anchor="ct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tc>
                <a:extLst>
                  <a:ext uri="{0D108BD9-81ED-4DB2-BD59-A6C34878D82A}">
                    <a16:rowId xmlns:a16="http://schemas.microsoft.com/office/drawing/2014/main" val="3535327940"/>
                  </a:ext>
                </a:extLst>
              </a:tr>
              <a:tr h="110654">
                <a:tc>
                  <a:txBody>
                    <a:bodyPr/>
                    <a:lstStyle/>
                    <a:p>
                      <a:pPr algn="r" fontAlgn="b">
                        <a:buNone/>
                      </a:pPr>
                      <a:r>
                        <a:rPr lang="en-US" sz="700" b="0" i="0" u="none" strike="noStrike">
                          <a:effectLst/>
                          <a:latin typeface="Calibri" panose="020F0502020204030204" pitchFamily="34" charset="0"/>
                        </a:rPr>
                        <a:t>16</a:t>
                      </a:r>
                    </a:p>
                  </a:txBody>
                  <a:tcPr marL="6350" marR="6350" marT="6350" marB="0" anchor="ctr"/>
                </a:tc>
                <a:tc>
                  <a:txBody>
                    <a:bodyPr/>
                    <a:lstStyle/>
                    <a:p>
                      <a:pPr algn="l" fontAlgn="b">
                        <a:buNone/>
                      </a:pPr>
                      <a:r>
                        <a:rPr lang="en-US" sz="700" b="0" i="0" u="none" strike="noStrike">
                          <a:effectLst/>
                          <a:latin typeface="Calibri" panose="020F0502020204030204" pitchFamily="34" charset="0"/>
                        </a:rPr>
                        <a:t>Lundi Onosamba</a:t>
                      </a:r>
                    </a:p>
                  </a:txBody>
                  <a:tcPr marL="6350" marR="6350" marT="6350" marB="0" anchor="ctr"/>
                </a:tc>
                <a:tc>
                  <a:txBody>
                    <a:bodyPr/>
                    <a:lstStyle/>
                    <a:p>
                      <a:pPr algn="r" fontAlgn="b">
                        <a:buNone/>
                      </a:pPr>
                      <a:r>
                        <a:rPr lang="en-US" sz="700" b="0" i="0" u="none" strike="noStrike">
                          <a:effectLst/>
                          <a:latin typeface="Calibri" panose="020F0502020204030204" pitchFamily="34" charset="0"/>
                        </a:rPr>
                        <a:t>51.17</a:t>
                      </a:r>
                    </a:p>
                  </a:txBody>
                  <a:tcPr marL="6350" marR="6350" marT="6350" marB="0" anchor="ctr"/>
                </a:tc>
                <a:tc>
                  <a:txBody>
                    <a:bodyPr/>
                    <a:lstStyle/>
                    <a:p>
                      <a:pPr algn="l" fontAlgn="b">
                        <a:buNone/>
                      </a:pPr>
                      <a:r>
                        <a:rPr lang="en-US" sz="700" b="0" i="0" u="none" strike="noStrike">
                          <a:effectLst/>
                          <a:latin typeface="Calibri" panose="020F0502020204030204" pitchFamily="34" charset="0"/>
                        </a:rPr>
                        <a:t>             575.14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20.84 </a:t>
                      </a:r>
                    </a:p>
                  </a:txBody>
                  <a:tcPr marL="6350" marR="6350" marT="6350" marB="0" anchor="ctr"/>
                </a:tc>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tc>
                <a:extLst>
                  <a:ext uri="{0D108BD9-81ED-4DB2-BD59-A6C34878D82A}">
                    <a16:rowId xmlns:a16="http://schemas.microsoft.com/office/drawing/2014/main" val="938101316"/>
                  </a:ext>
                </a:extLst>
              </a:tr>
              <a:tr h="110654">
                <a:tc>
                  <a:txBody>
                    <a:bodyPr/>
                    <a:lstStyle/>
                    <a:p>
                      <a:pPr algn="r" fontAlgn="b">
                        <a:buNone/>
                      </a:pPr>
                      <a:r>
                        <a:rPr lang="en-US" sz="700" b="0" i="0" u="none" strike="noStrike">
                          <a:effectLst/>
                          <a:latin typeface="Calibri" panose="020F0502020204030204" pitchFamily="34" charset="0"/>
                        </a:rPr>
                        <a:t>17</a:t>
                      </a:r>
                    </a:p>
                  </a:txBody>
                  <a:tcPr marL="6350" marR="6350" marT="6350" marB="0" anchor="ctr"/>
                </a:tc>
                <a:tc>
                  <a:txBody>
                    <a:bodyPr/>
                    <a:lstStyle/>
                    <a:p>
                      <a:pPr algn="l" fontAlgn="b">
                        <a:buNone/>
                      </a:pPr>
                      <a:r>
                        <a:rPr lang="en-US" sz="700" b="0" i="0" u="none" strike="noStrike">
                          <a:effectLst/>
                          <a:latin typeface="Calibri" panose="020F0502020204030204" pitchFamily="34" charset="0"/>
                        </a:rPr>
                        <a:t>Willy Tshilolo</a:t>
                      </a:r>
                    </a:p>
                  </a:txBody>
                  <a:tcPr marL="6350" marR="6350" marT="6350" marB="0" anchor="ctr"/>
                </a:tc>
                <a:tc>
                  <a:txBody>
                    <a:bodyPr/>
                    <a:lstStyle/>
                    <a:p>
                      <a:pPr algn="r" fontAlgn="b">
                        <a:buNone/>
                      </a:pPr>
                      <a:r>
                        <a:rPr lang="en-US" sz="700" b="0" i="0" u="none" strike="noStrike">
                          <a:effectLst/>
                          <a:latin typeface="Calibri" panose="020F0502020204030204" pitchFamily="34" charset="0"/>
                        </a:rPr>
                        <a:t>7</a:t>
                      </a:r>
                    </a:p>
                  </a:txBody>
                  <a:tcPr marL="6350" marR="6350" marT="6350" marB="0" anchor="ctr"/>
                </a:tc>
                <a:tc>
                  <a:txBody>
                    <a:bodyPr/>
                    <a:lstStyle/>
                    <a:p>
                      <a:pPr algn="l" fontAlgn="b">
                        <a:buNone/>
                      </a:pPr>
                      <a:r>
                        <a:rPr lang="en-US" sz="700" b="0" i="0" u="none" strike="noStrike">
                          <a:effectLst/>
                          <a:latin typeface="Calibri" panose="020F0502020204030204" pitchFamily="34" charset="0"/>
                        </a:rPr>
                        <a:t>               53.07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20.75 </a:t>
                      </a:r>
                    </a:p>
                  </a:txBody>
                  <a:tcPr marL="6350" marR="6350" marT="6350" marB="0" anchor="ct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tc>
                <a:extLst>
                  <a:ext uri="{0D108BD9-81ED-4DB2-BD59-A6C34878D82A}">
                    <a16:rowId xmlns:a16="http://schemas.microsoft.com/office/drawing/2014/main" val="3627939951"/>
                  </a:ext>
                </a:extLst>
              </a:tr>
              <a:tr h="110654">
                <a:tc>
                  <a:txBody>
                    <a:bodyPr/>
                    <a:lstStyle/>
                    <a:p>
                      <a:pPr algn="r" fontAlgn="b">
                        <a:buNone/>
                      </a:pPr>
                      <a:r>
                        <a:rPr lang="en-US" sz="700" b="0" i="0" u="none" strike="noStrike">
                          <a:effectLst/>
                          <a:latin typeface="Calibri" panose="020F0502020204030204" pitchFamily="34" charset="0"/>
                        </a:rPr>
                        <a:t>18</a:t>
                      </a:r>
                    </a:p>
                  </a:txBody>
                  <a:tcPr marL="6350" marR="6350" marT="6350" marB="0" anchor="ctr"/>
                </a:tc>
                <a:tc>
                  <a:txBody>
                    <a:bodyPr/>
                    <a:lstStyle/>
                    <a:p>
                      <a:pPr algn="l" fontAlgn="b">
                        <a:buNone/>
                      </a:pPr>
                      <a:r>
                        <a:rPr lang="en-US" sz="700" b="0" i="0" u="none" strike="noStrike">
                          <a:effectLst/>
                          <a:latin typeface="Calibri" panose="020F0502020204030204" pitchFamily="34" charset="0"/>
                        </a:rPr>
                        <a:t>Leon Badibanga</a:t>
                      </a:r>
                    </a:p>
                  </a:txBody>
                  <a:tcPr marL="6350" marR="6350" marT="6350" marB="0" anchor="ctr"/>
                </a:tc>
                <a:tc>
                  <a:txBody>
                    <a:bodyPr/>
                    <a:lstStyle/>
                    <a:p>
                      <a:pPr algn="r" fontAlgn="b">
                        <a:buNone/>
                      </a:pPr>
                      <a:r>
                        <a:rPr lang="en-US" sz="700" b="0" i="0" u="none" strike="noStrike">
                          <a:effectLst/>
                          <a:latin typeface="Calibri" panose="020F0502020204030204" pitchFamily="34" charset="0"/>
                        </a:rPr>
                        <a:t>6.01</a:t>
                      </a:r>
                    </a:p>
                  </a:txBody>
                  <a:tcPr marL="6350" marR="6350" marT="6350" marB="0" anchor="ctr"/>
                </a:tc>
                <a:tc>
                  <a:txBody>
                    <a:bodyPr/>
                    <a:lstStyle/>
                    <a:p>
                      <a:pPr algn="l" fontAlgn="b">
                        <a:buNone/>
                      </a:pPr>
                      <a:r>
                        <a:rPr lang="en-US" sz="700" b="0" i="0" u="none" strike="noStrike">
                          <a:effectLst/>
                          <a:latin typeface="Calibri" panose="020F0502020204030204" pitchFamily="34" charset="0"/>
                        </a:rPr>
                        <a:t>               47.99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20.75 </a:t>
                      </a:r>
                    </a:p>
                  </a:txBody>
                  <a:tcPr marL="6350" marR="6350" marT="6350" marB="0" anchor="ct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tc>
                <a:extLst>
                  <a:ext uri="{0D108BD9-81ED-4DB2-BD59-A6C34878D82A}">
                    <a16:rowId xmlns:a16="http://schemas.microsoft.com/office/drawing/2014/main" val="3987964871"/>
                  </a:ext>
                </a:extLst>
              </a:tr>
              <a:tr h="110654">
                <a:tc>
                  <a:txBody>
                    <a:bodyPr/>
                    <a:lstStyle/>
                    <a:p>
                      <a:pPr algn="r" fontAlgn="b">
                        <a:buNone/>
                      </a:pPr>
                      <a:r>
                        <a:rPr lang="en-US" sz="700" b="0" i="0" u="none" strike="noStrike">
                          <a:effectLst/>
                          <a:latin typeface="Calibri" panose="020F0502020204030204" pitchFamily="34" charset="0"/>
                        </a:rPr>
                        <a:t>19</a:t>
                      </a:r>
                    </a:p>
                  </a:txBody>
                  <a:tcPr marL="6350" marR="6350" marT="6350" marB="0" anchor="ctr"/>
                </a:tc>
                <a:tc>
                  <a:txBody>
                    <a:bodyPr/>
                    <a:lstStyle/>
                    <a:p>
                      <a:pPr algn="l" fontAlgn="b">
                        <a:buNone/>
                      </a:pPr>
                      <a:r>
                        <a:rPr lang="en-US" sz="700" b="0" i="0" u="none" strike="noStrike">
                          <a:effectLst/>
                          <a:latin typeface="Calibri" panose="020F0502020204030204" pitchFamily="34" charset="0"/>
                        </a:rPr>
                        <a:t>Joel Matoko</a:t>
                      </a:r>
                    </a:p>
                  </a:txBody>
                  <a:tcPr marL="6350" marR="6350" marT="6350" marB="0" anchor="ctr"/>
                </a:tc>
                <a:tc>
                  <a:txBody>
                    <a:bodyPr/>
                    <a:lstStyle/>
                    <a:p>
                      <a:pPr algn="r" fontAlgn="b">
                        <a:buNone/>
                      </a:pPr>
                      <a:r>
                        <a:rPr lang="en-US" sz="700" b="0" i="0" u="none" strike="noStrike">
                          <a:effectLst/>
                          <a:latin typeface="Calibri" panose="020F0502020204030204" pitchFamily="34" charset="0"/>
                        </a:rPr>
                        <a:t>8</a:t>
                      </a:r>
                    </a:p>
                  </a:txBody>
                  <a:tcPr marL="6350" marR="6350" marT="6350" marB="0" anchor="ctr"/>
                </a:tc>
                <a:tc>
                  <a:txBody>
                    <a:bodyPr/>
                    <a:lstStyle/>
                    <a:p>
                      <a:pPr algn="l" fontAlgn="b">
                        <a:buNone/>
                      </a:pPr>
                      <a:r>
                        <a:rPr lang="en-US" sz="700" b="0" i="0" u="none" strike="noStrike">
                          <a:effectLst/>
                          <a:latin typeface="Calibri" panose="020F0502020204030204" pitchFamily="34" charset="0"/>
                        </a:rPr>
                        <a:t>               37.79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20.42 </a:t>
                      </a:r>
                    </a:p>
                  </a:txBody>
                  <a:tcPr marL="6350" marR="6350" marT="6350" marB="0" anchor="ct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tc>
                <a:extLst>
                  <a:ext uri="{0D108BD9-81ED-4DB2-BD59-A6C34878D82A}">
                    <a16:rowId xmlns:a16="http://schemas.microsoft.com/office/drawing/2014/main" val="2801043281"/>
                  </a:ext>
                </a:extLst>
              </a:tr>
              <a:tr h="110654">
                <a:tc>
                  <a:txBody>
                    <a:bodyPr/>
                    <a:lstStyle/>
                    <a:p>
                      <a:pPr algn="r" fontAlgn="b">
                        <a:buNone/>
                      </a:pPr>
                      <a:r>
                        <a:rPr lang="en-US" sz="700" b="0" i="0" u="none" strike="noStrike">
                          <a:effectLst/>
                          <a:latin typeface="Calibri" panose="020F0502020204030204" pitchFamily="34" charset="0"/>
                        </a:rPr>
                        <a:t>20</a:t>
                      </a:r>
                    </a:p>
                  </a:txBody>
                  <a:tcPr marL="6350" marR="6350" marT="6350" marB="0" anchor="ctr"/>
                </a:tc>
                <a:tc>
                  <a:txBody>
                    <a:bodyPr/>
                    <a:lstStyle/>
                    <a:p>
                      <a:pPr algn="l" fontAlgn="b">
                        <a:buNone/>
                      </a:pPr>
                      <a:r>
                        <a:rPr lang="en-US" sz="700" b="0" i="0" u="none" strike="noStrike">
                          <a:effectLst/>
                          <a:latin typeface="Calibri" panose="020F0502020204030204" pitchFamily="34" charset="0"/>
                        </a:rPr>
                        <a:t>Antoine Nzungu</a:t>
                      </a:r>
                    </a:p>
                  </a:txBody>
                  <a:tcPr marL="6350" marR="6350" marT="6350" marB="0" anchor="ctr"/>
                </a:tc>
                <a:tc>
                  <a:txBody>
                    <a:bodyPr/>
                    <a:lstStyle/>
                    <a:p>
                      <a:pPr algn="r" fontAlgn="b">
                        <a:buNone/>
                      </a:pPr>
                      <a:r>
                        <a:rPr lang="en-US" sz="700" b="0" i="0" u="none" strike="noStrike">
                          <a:effectLst/>
                          <a:latin typeface="Calibri" panose="020F0502020204030204" pitchFamily="34" charset="0"/>
                        </a:rPr>
                        <a:t>63.47</a:t>
                      </a:r>
                    </a:p>
                  </a:txBody>
                  <a:tcPr marL="6350" marR="6350" marT="6350" marB="0" anchor="ctr"/>
                </a:tc>
                <a:tc>
                  <a:txBody>
                    <a:bodyPr/>
                    <a:lstStyle/>
                    <a:p>
                      <a:pPr algn="l" fontAlgn="b">
                        <a:buNone/>
                      </a:pPr>
                      <a:r>
                        <a:rPr lang="en-US" sz="700" b="0" i="0" u="none" strike="noStrike">
                          <a:effectLst/>
                          <a:latin typeface="Calibri" panose="020F0502020204030204" pitchFamily="34" charset="0"/>
                        </a:rPr>
                        <a:t>             729.42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18.84 </a:t>
                      </a:r>
                    </a:p>
                  </a:txBody>
                  <a:tcPr marL="6350" marR="6350" marT="6350" marB="0" anchor="ctr"/>
                </a:tc>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tc>
                <a:extLst>
                  <a:ext uri="{0D108BD9-81ED-4DB2-BD59-A6C34878D82A}">
                    <a16:rowId xmlns:a16="http://schemas.microsoft.com/office/drawing/2014/main" val="2856338288"/>
                  </a:ext>
                </a:extLst>
              </a:tr>
              <a:tr h="110654">
                <a:tc>
                  <a:txBody>
                    <a:bodyPr/>
                    <a:lstStyle/>
                    <a:p>
                      <a:pPr algn="r" fontAlgn="b">
                        <a:buNone/>
                      </a:pPr>
                      <a:r>
                        <a:rPr lang="en-US" sz="700" b="0" i="0" u="none" strike="noStrike">
                          <a:effectLst/>
                          <a:latin typeface="Calibri" panose="020F0502020204030204" pitchFamily="34" charset="0"/>
                        </a:rPr>
                        <a:t>21</a:t>
                      </a:r>
                    </a:p>
                  </a:txBody>
                  <a:tcPr marL="6350" marR="6350" marT="6350" marB="0" anchor="ctr"/>
                </a:tc>
                <a:tc>
                  <a:txBody>
                    <a:bodyPr/>
                    <a:lstStyle/>
                    <a:p>
                      <a:pPr algn="l" fontAlgn="b">
                        <a:buNone/>
                      </a:pPr>
                      <a:r>
                        <a:rPr lang="en-US" sz="700" b="0" i="0" u="none" strike="noStrike">
                          <a:effectLst/>
                          <a:latin typeface="Calibri" panose="020F0502020204030204" pitchFamily="34" charset="0"/>
                        </a:rPr>
                        <a:t>LUZOLO NSEMBOLO</a:t>
                      </a:r>
                    </a:p>
                  </a:txBody>
                  <a:tcPr marL="6350" marR="6350" marT="6350" marB="0" anchor="ctr"/>
                </a:tc>
                <a:tc>
                  <a:txBody>
                    <a:bodyPr/>
                    <a:lstStyle/>
                    <a:p>
                      <a:pPr algn="r" fontAlgn="b">
                        <a:buNone/>
                      </a:pPr>
                      <a:r>
                        <a:rPr lang="en-US" sz="700" b="0" i="0" u="none" strike="noStrike">
                          <a:effectLst/>
                          <a:latin typeface="Calibri" panose="020F0502020204030204" pitchFamily="34" charset="0"/>
                        </a:rPr>
                        <a:t>84.7</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1,027.38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18.76 </a:t>
                      </a:r>
                    </a:p>
                  </a:txBody>
                  <a:tcPr marL="6350" marR="6350" marT="6350" marB="0" anchor="ctr"/>
                </a:tc>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tc>
                <a:extLst>
                  <a:ext uri="{0D108BD9-81ED-4DB2-BD59-A6C34878D82A}">
                    <a16:rowId xmlns:a16="http://schemas.microsoft.com/office/drawing/2014/main" val="3250060624"/>
                  </a:ext>
                </a:extLst>
              </a:tr>
              <a:tr h="110654">
                <a:tc>
                  <a:txBody>
                    <a:bodyPr/>
                    <a:lstStyle/>
                    <a:p>
                      <a:pPr algn="r" fontAlgn="b">
                        <a:buNone/>
                      </a:pPr>
                      <a:r>
                        <a:rPr lang="en-US" sz="700" b="0" i="0" u="none" strike="noStrike">
                          <a:effectLst/>
                          <a:latin typeface="Calibri" panose="020F0502020204030204" pitchFamily="34" charset="0"/>
                        </a:rPr>
                        <a:t>22</a:t>
                      </a:r>
                    </a:p>
                  </a:txBody>
                  <a:tcPr marL="6350" marR="6350" marT="6350" marB="0" anchor="ctr"/>
                </a:tc>
                <a:tc>
                  <a:txBody>
                    <a:bodyPr/>
                    <a:lstStyle/>
                    <a:p>
                      <a:pPr algn="l" fontAlgn="b">
                        <a:buNone/>
                      </a:pPr>
                      <a:r>
                        <a:rPr lang="en-US" sz="700" b="0" i="0" u="none" strike="noStrike">
                          <a:effectLst/>
                          <a:latin typeface="Calibri" panose="020F0502020204030204" pitchFamily="34" charset="0"/>
                        </a:rPr>
                        <a:t>Maphasi Vangu</a:t>
                      </a:r>
                    </a:p>
                  </a:txBody>
                  <a:tcPr marL="6350" marR="6350" marT="6350" marB="0" anchor="ctr"/>
                </a:tc>
                <a:tc>
                  <a:txBody>
                    <a:bodyPr/>
                    <a:lstStyle/>
                    <a:p>
                      <a:pPr algn="r" fontAlgn="b">
                        <a:buNone/>
                      </a:pPr>
                      <a:r>
                        <a:rPr lang="en-US" sz="700" b="0" i="0" u="none" strike="noStrike">
                          <a:effectLst/>
                          <a:latin typeface="Calibri" panose="020F0502020204030204" pitchFamily="34" charset="0"/>
                        </a:rPr>
                        <a:t>22.21</a:t>
                      </a:r>
                    </a:p>
                  </a:txBody>
                  <a:tcPr marL="6350" marR="6350" marT="6350" marB="0" anchor="ctr"/>
                </a:tc>
                <a:tc>
                  <a:txBody>
                    <a:bodyPr/>
                    <a:lstStyle/>
                    <a:p>
                      <a:pPr algn="l" fontAlgn="b">
                        <a:buNone/>
                      </a:pPr>
                      <a:r>
                        <a:rPr lang="en-US" sz="700" b="0" i="0" u="none" strike="noStrike">
                          <a:effectLst/>
                          <a:latin typeface="Calibri" panose="020F0502020204030204" pitchFamily="34" charset="0"/>
                        </a:rPr>
                        <a:t>             440.71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18.59 </a:t>
                      </a:r>
                    </a:p>
                  </a:txBody>
                  <a:tcPr marL="6350" marR="6350" marT="6350" marB="0" anchor="ct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tc>
                <a:extLst>
                  <a:ext uri="{0D108BD9-81ED-4DB2-BD59-A6C34878D82A}">
                    <a16:rowId xmlns:a16="http://schemas.microsoft.com/office/drawing/2014/main" val="1477543763"/>
                  </a:ext>
                </a:extLst>
              </a:tr>
              <a:tr h="110654">
                <a:tc>
                  <a:txBody>
                    <a:bodyPr/>
                    <a:lstStyle/>
                    <a:p>
                      <a:pPr algn="r" fontAlgn="b">
                        <a:buNone/>
                      </a:pPr>
                      <a:r>
                        <a:rPr lang="en-US" sz="700" b="0" i="0" u="none" strike="noStrike">
                          <a:effectLst/>
                          <a:latin typeface="Calibri" panose="020F0502020204030204" pitchFamily="34" charset="0"/>
                        </a:rPr>
                        <a:t>23</a:t>
                      </a:r>
                    </a:p>
                  </a:txBody>
                  <a:tcPr marL="6350" marR="6350" marT="6350" marB="0" anchor="ctr"/>
                </a:tc>
                <a:tc>
                  <a:txBody>
                    <a:bodyPr/>
                    <a:lstStyle/>
                    <a:p>
                      <a:pPr algn="l" fontAlgn="b">
                        <a:buNone/>
                      </a:pPr>
                      <a:r>
                        <a:rPr lang="en-US" sz="700" b="0" i="0" u="none" strike="noStrike">
                          <a:effectLst/>
                          <a:latin typeface="Calibri" panose="020F0502020204030204" pitchFamily="34" charset="0"/>
                        </a:rPr>
                        <a:t>Dinandi Mvumbi</a:t>
                      </a:r>
                    </a:p>
                  </a:txBody>
                  <a:tcPr marL="6350" marR="6350" marT="6350" marB="0" anchor="ctr"/>
                </a:tc>
                <a:tc>
                  <a:txBody>
                    <a:bodyPr/>
                    <a:lstStyle/>
                    <a:p>
                      <a:pPr algn="r" fontAlgn="b">
                        <a:buNone/>
                      </a:pPr>
                      <a:r>
                        <a:rPr lang="en-US" sz="700" b="0" i="0" u="none" strike="noStrike">
                          <a:effectLst/>
                          <a:latin typeface="Calibri" panose="020F0502020204030204" pitchFamily="34" charset="0"/>
                        </a:rPr>
                        <a:t>30.93</a:t>
                      </a:r>
                    </a:p>
                  </a:txBody>
                  <a:tcPr marL="6350" marR="6350" marT="6350" marB="0" anchor="ctr"/>
                </a:tc>
                <a:tc>
                  <a:txBody>
                    <a:bodyPr/>
                    <a:lstStyle/>
                    <a:p>
                      <a:pPr algn="l" fontAlgn="b">
                        <a:buNone/>
                      </a:pPr>
                      <a:r>
                        <a:rPr lang="en-US" sz="700" b="0" i="0" u="none" strike="noStrike">
                          <a:effectLst/>
                          <a:latin typeface="Calibri" panose="020F0502020204030204" pitchFamily="34" charset="0"/>
                        </a:rPr>
                        <a:t>             340.47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18.00 </a:t>
                      </a:r>
                    </a:p>
                  </a:txBody>
                  <a:tcPr marL="6350" marR="6350" marT="6350" marB="0" anchor="ctr"/>
                </a:tc>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tc>
                <a:extLst>
                  <a:ext uri="{0D108BD9-81ED-4DB2-BD59-A6C34878D82A}">
                    <a16:rowId xmlns:a16="http://schemas.microsoft.com/office/drawing/2014/main" val="4168640022"/>
                  </a:ext>
                </a:extLst>
              </a:tr>
              <a:tr h="110654">
                <a:tc>
                  <a:txBody>
                    <a:bodyPr/>
                    <a:lstStyle/>
                    <a:p>
                      <a:pPr algn="r" fontAlgn="b">
                        <a:buNone/>
                      </a:pPr>
                      <a:r>
                        <a:rPr lang="en-US" sz="700" b="0" i="0" u="none" strike="noStrike">
                          <a:effectLst/>
                          <a:latin typeface="Calibri" panose="020F0502020204030204" pitchFamily="34" charset="0"/>
                        </a:rPr>
                        <a:t>24</a:t>
                      </a:r>
                    </a:p>
                  </a:txBody>
                  <a:tcPr marL="6350" marR="6350" marT="6350" marB="0" anchor="ctr"/>
                </a:tc>
                <a:tc>
                  <a:txBody>
                    <a:bodyPr/>
                    <a:lstStyle/>
                    <a:p>
                      <a:pPr algn="l" fontAlgn="b">
                        <a:buNone/>
                      </a:pPr>
                      <a:r>
                        <a:rPr lang="en-US" sz="700" b="0" i="0" u="none" strike="noStrike">
                          <a:effectLst/>
                          <a:latin typeface="Calibri" panose="020F0502020204030204" pitchFamily="34" charset="0"/>
                        </a:rPr>
                        <a:t>Masudi Nkosi</a:t>
                      </a:r>
                    </a:p>
                  </a:txBody>
                  <a:tcPr marL="6350" marR="6350" marT="6350" marB="0" anchor="ctr"/>
                </a:tc>
                <a:tc>
                  <a:txBody>
                    <a:bodyPr/>
                    <a:lstStyle/>
                    <a:p>
                      <a:pPr algn="r" fontAlgn="b">
                        <a:buNone/>
                      </a:pPr>
                      <a:r>
                        <a:rPr lang="en-US" sz="700" b="0" i="0" u="none" strike="noStrike">
                          <a:effectLst/>
                          <a:latin typeface="Calibri" panose="020F0502020204030204" pitchFamily="34" charset="0"/>
                        </a:rPr>
                        <a:t>16</a:t>
                      </a:r>
                    </a:p>
                  </a:txBody>
                  <a:tcPr marL="6350" marR="6350" marT="6350" marB="0" anchor="ctr"/>
                </a:tc>
                <a:tc>
                  <a:txBody>
                    <a:bodyPr/>
                    <a:lstStyle/>
                    <a:p>
                      <a:pPr algn="l" fontAlgn="b">
                        <a:buNone/>
                      </a:pPr>
                      <a:r>
                        <a:rPr lang="en-US" sz="700" b="0" i="0" u="none" strike="noStrike">
                          <a:effectLst/>
                          <a:latin typeface="Calibri" panose="020F0502020204030204" pitchFamily="34" charset="0"/>
                        </a:rPr>
                        <a:t>               60.00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17.17 </a:t>
                      </a:r>
                    </a:p>
                  </a:txBody>
                  <a:tcPr marL="6350" marR="6350" marT="6350" marB="0" anchor="ctr"/>
                </a:tc>
                <a:tc>
                  <a:txBody>
                    <a:bodyPr/>
                    <a:lstStyle/>
                    <a:p>
                      <a:pPr algn="l" fontAlgn="b">
                        <a:buNone/>
                      </a:pPr>
                      <a:r>
                        <a:rPr lang="en-US" sz="700" b="0" i="0" u="none" strike="noStrike">
                          <a:effectLst/>
                          <a:latin typeface="Calibri" panose="020F0502020204030204" pitchFamily="34" charset="0"/>
                        </a:rPr>
                        <a:t>Mining</a:t>
                      </a:r>
                    </a:p>
                  </a:txBody>
                  <a:tcPr marL="6350" marR="6350" marT="6350" marB="0" anchor="ctr"/>
                </a:tc>
                <a:extLst>
                  <a:ext uri="{0D108BD9-81ED-4DB2-BD59-A6C34878D82A}">
                    <a16:rowId xmlns:a16="http://schemas.microsoft.com/office/drawing/2014/main" val="2258499285"/>
                  </a:ext>
                </a:extLst>
              </a:tr>
              <a:tr h="110654">
                <a:tc>
                  <a:txBody>
                    <a:bodyPr/>
                    <a:lstStyle/>
                    <a:p>
                      <a:pPr algn="r" fontAlgn="b">
                        <a:buNone/>
                      </a:pPr>
                      <a:r>
                        <a:rPr lang="en-US" sz="700" b="0" i="0" u="none" strike="noStrike">
                          <a:effectLst/>
                          <a:latin typeface="Calibri" panose="020F0502020204030204" pitchFamily="34" charset="0"/>
                        </a:rPr>
                        <a:t>25</a:t>
                      </a:r>
                    </a:p>
                  </a:txBody>
                  <a:tcPr marL="6350" marR="6350" marT="6350" marB="0" anchor="ctr"/>
                </a:tc>
                <a:tc>
                  <a:txBody>
                    <a:bodyPr/>
                    <a:lstStyle/>
                    <a:p>
                      <a:pPr algn="l" fontAlgn="b">
                        <a:buNone/>
                      </a:pPr>
                      <a:r>
                        <a:rPr lang="en-US" sz="700" b="0" i="0" u="none" strike="noStrike">
                          <a:effectLst/>
                          <a:latin typeface="Calibri" panose="020F0502020204030204" pitchFamily="34" charset="0"/>
                        </a:rPr>
                        <a:t>CHRISTIAN KUABI</a:t>
                      </a:r>
                    </a:p>
                  </a:txBody>
                  <a:tcPr marL="6350" marR="6350" marT="6350" marB="0" anchor="ctr"/>
                </a:tc>
                <a:tc>
                  <a:txBody>
                    <a:bodyPr/>
                    <a:lstStyle/>
                    <a:p>
                      <a:pPr algn="r" fontAlgn="b">
                        <a:buNone/>
                      </a:pPr>
                      <a:r>
                        <a:rPr lang="en-US" sz="700" b="0" i="0" u="none" strike="noStrike">
                          <a:effectLst/>
                          <a:latin typeface="Calibri" panose="020F0502020204030204" pitchFamily="34" charset="0"/>
                        </a:rPr>
                        <a:t>10.48</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106.42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16.92 </a:t>
                      </a:r>
                    </a:p>
                  </a:txBody>
                  <a:tcPr marL="6350" marR="6350" marT="6350" marB="0" anchor="ct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tc>
                <a:extLst>
                  <a:ext uri="{0D108BD9-81ED-4DB2-BD59-A6C34878D82A}">
                    <a16:rowId xmlns:a16="http://schemas.microsoft.com/office/drawing/2014/main" val="1543269235"/>
                  </a:ext>
                </a:extLst>
              </a:tr>
              <a:tr h="110654">
                <a:tc>
                  <a:txBody>
                    <a:bodyPr/>
                    <a:lstStyle/>
                    <a:p>
                      <a:pPr algn="r" fontAlgn="b">
                        <a:buNone/>
                      </a:pPr>
                      <a:r>
                        <a:rPr lang="en-US" sz="700" b="0" i="0" u="none" strike="noStrike">
                          <a:effectLst/>
                          <a:latin typeface="Calibri" panose="020F0502020204030204" pitchFamily="34" charset="0"/>
                        </a:rPr>
                        <a:t>26</a:t>
                      </a:r>
                    </a:p>
                  </a:txBody>
                  <a:tcPr marL="6350" marR="6350" marT="6350" marB="0" anchor="ctr"/>
                </a:tc>
                <a:tc>
                  <a:txBody>
                    <a:bodyPr/>
                    <a:lstStyle/>
                    <a:p>
                      <a:pPr algn="l" fontAlgn="b">
                        <a:buNone/>
                      </a:pPr>
                      <a:r>
                        <a:rPr lang="en-US" sz="700" b="0" i="0" u="none" strike="noStrike">
                          <a:effectLst/>
                          <a:latin typeface="Calibri" panose="020F0502020204030204" pitchFamily="34" charset="0"/>
                        </a:rPr>
                        <a:t>Albert Vangu</a:t>
                      </a:r>
                    </a:p>
                  </a:txBody>
                  <a:tcPr marL="6350" marR="6350" marT="6350" marB="0" anchor="ctr"/>
                </a:tc>
                <a:tc>
                  <a:txBody>
                    <a:bodyPr/>
                    <a:lstStyle/>
                    <a:p>
                      <a:pPr algn="r" fontAlgn="b">
                        <a:buNone/>
                      </a:pPr>
                      <a:r>
                        <a:rPr lang="en-US" sz="700" b="0" i="0" u="none" strike="noStrike">
                          <a:effectLst/>
                          <a:latin typeface="Calibri" panose="020F0502020204030204" pitchFamily="34" charset="0"/>
                        </a:rPr>
                        <a:t>18.3</a:t>
                      </a:r>
                    </a:p>
                  </a:txBody>
                  <a:tcPr marL="6350" marR="6350" marT="6350" marB="0" anchor="ctr"/>
                </a:tc>
                <a:tc>
                  <a:txBody>
                    <a:bodyPr/>
                    <a:lstStyle/>
                    <a:p>
                      <a:pPr algn="l" fontAlgn="b">
                        <a:buNone/>
                      </a:pPr>
                      <a:r>
                        <a:rPr lang="en-US" sz="700" b="0" i="0" u="none" strike="noStrike">
                          <a:effectLst/>
                          <a:latin typeface="Calibri" panose="020F0502020204030204" pitchFamily="34" charset="0"/>
                        </a:rPr>
                        <a:t>               78.55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16.92 </a:t>
                      </a:r>
                    </a:p>
                  </a:txBody>
                  <a:tcPr marL="6350" marR="6350" marT="6350" marB="0" anchor="ct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tc>
                <a:extLst>
                  <a:ext uri="{0D108BD9-81ED-4DB2-BD59-A6C34878D82A}">
                    <a16:rowId xmlns:a16="http://schemas.microsoft.com/office/drawing/2014/main" val="3384403763"/>
                  </a:ext>
                </a:extLst>
              </a:tr>
              <a:tr h="110654">
                <a:tc>
                  <a:txBody>
                    <a:bodyPr/>
                    <a:lstStyle/>
                    <a:p>
                      <a:pPr algn="r" fontAlgn="b">
                        <a:buNone/>
                      </a:pPr>
                      <a:r>
                        <a:rPr lang="en-US" sz="700" b="0" i="0" u="none" strike="noStrike">
                          <a:effectLst/>
                          <a:latin typeface="Calibri" panose="020F0502020204030204" pitchFamily="34" charset="0"/>
                        </a:rPr>
                        <a:t>27</a:t>
                      </a:r>
                    </a:p>
                  </a:txBody>
                  <a:tcPr marL="6350" marR="6350" marT="6350" marB="0" anchor="ctr"/>
                </a:tc>
                <a:tc>
                  <a:txBody>
                    <a:bodyPr/>
                    <a:lstStyle/>
                    <a:p>
                      <a:pPr algn="l" fontAlgn="b">
                        <a:buNone/>
                      </a:pPr>
                      <a:r>
                        <a:rPr lang="en-US" sz="700" b="0" i="0" u="none" strike="noStrike">
                          <a:effectLst/>
                          <a:latin typeface="Calibri" panose="020F0502020204030204" pitchFamily="34" charset="0"/>
                        </a:rPr>
                        <a:t>Gervais Bavibidila</a:t>
                      </a:r>
                    </a:p>
                  </a:txBody>
                  <a:tcPr marL="6350" marR="6350" marT="6350" marB="0" anchor="ctr"/>
                </a:tc>
                <a:tc>
                  <a:txBody>
                    <a:bodyPr/>
                    <a:lstStyle/>
                    <a:p>
                      <a:pPr algn="r" fontAlgn="b">
                        <a:buNone/>
                      </a:pPr>
                      <a:r>
                        <a:rPr lang="en-US" sz="700" b="0" i="0" u="none" strike="noStrike">
                          <a:effectLst/>
                          <a:latin typeface="Calibri" panose="020F0502020204030204" pitchFamily="34" charset="0"/>
                        </a:rPr>
                        <a:t>6</a:t>
                      </a:r>
                    </a:p>
                  </a:txBody>
                  <a:tcPr marL="6350" marR="6350" marT="6350" marB="0" anchor="ctr"/>
                </a:tc>
                <a:tc>
                  <a:txBody>
                    <a:bodyPr/>
                    <a:lstStyle/>
                    <a:p>
                      <a:pPr algn="l" fontAlgn="b">
                        <a:buNone/>
                      </a:pPr>
                      <a:r>
                        <a:rPr lang="en-US" sz="700" b="0" i="0" u="none" strike="noStrike">
                          <a:effectLst/>
                          <a:latin typeface="Calibri" panose="020F0502020204030204" pitchFamily="34" charset="0"/>
                        </a:rPr>
                        <a:t>               25.74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16.41 </a:t>
                      </a:r>
                    </a:p>
                  </a:txBody>
                  <a:tcPr marL="6350" marR="6350" marT="6350" marB="0" anchor="ct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tc>
                <a:extLst>
                  <a:ext uri="{0D108BD9-81ED-4DB2-BD59-A6C34878D82A}">
                    <a16:rowId xmlns:a16="http://schemas.microsoft.com/office/drawing/2014/main" val="1268327232"/>
                  </a:ext>
                </a:extLst>
              </a:tr>
              <a:tr h="110654">
                <a:tc>
                  <a:txBody>
                    <a:bodyPr/>
                    <a:lstStyle/>
                    <a:p>
                      <a:pPr algn="r" fontAlgn="b">
                        <a:buNone/>
                      </a:pPr>
                      <a:r>
                        <a:rPr lang="en-US" sz="700" b="0" i="0" u="none" strike="noStrike">
                          <a:effectLst/>
                          <a:latin typeface="Calibri" panose="020F0502020204030204" pitchFamily="34" charset="0"/>
                        </a:rPr>
                        <a:t>28</a:t>
                      </a:r>
                    </a:p>
                  </a:txBody>
                  <a:tcPr marL="6350" marR="6350" marT="6350" marB="0" anchor="ctr"/>
                </a:tc>
                <a:tc>
                  <a:txBody>
                    <a:bodyPr/>
                    <a:lstStyle/>
                    <a:p>
                      <a:pPr algn="l" fontAlgn="b">
                        <a:buNone/>
                      </a:pPr>
                      <a:r>
                        <a:rPr lang="en-US" sz="700" b="0" i="0" u="none" strike="noStrike">
                          <a:effectLst/>
                          <a:latin typeface="Calibri" panose="020F0502020204030204" pitchFamily="34" charset="0"/>
                        </a:rPr>
                        <a:t>Yannick Kamunga</a:t>
                      </a:r>
                    </a:p>
                  </a:txBody>
                  <a:tcPr marL="6350" marR="6350" marT="6350" marB="0" anchor="ctr"/>
                </a:tc>
                <a:tc>
                  <a:txBody>
                    <a:bodyPr/>
                    <a:lstStyle/>
                    <a:p>
                      <a:pPr algn="r" fontAlgn="b">
                        <a:buNone/>
                      </a:pPr>
                      <a:r>
                        <a:rPr lang="en-US" sz="700" b="0" i="0" u="none" strike="noStrike">
                          <a:effectLst/>
                          <a:latin typeface="Calibri" panose="020F0502020204030204" pitchFamily="34" charset="0"/>
                        </a:rPr>
                        <a:t>5.09</a:t>
                      </a:r>
                    </a:p>
                  </a:txBody>
                  <a:tcPr marL="6350" marR="6350" marT="6350" marB="0" anchor="ctr"/>
                </a:tc>
                <a:tc>
                  <a:txBody>
                    <a:bodyPr/>
                    <a:lstStyle/>
                    <a:p>
                      <a:pPr algn="l" fontAlgn="b">
                        <a:buNone/>
                      </a:pPr>
                      <a:r>
                        <a:rPr lang="en-US" sz="700" b="0" i="0" u="none" strike="noStrike">
                          <a:effectLst/>
                          <a:latin typeface="Calibri" panose="020F0502020204030204" pitchFamily="34" charset="0"/>
                        </a:rPr>
                        <a:t>               37.47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16.33 </a:t>
                      </a:r>
                    </a:p>
                  </a:txBody>
                  <a:tcPr marL="6350" marR="6350" marT="6350" marB="0" anchor="ct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tc>
                <a:extLst>
                  <a:ext uri="{0D108BD9-81ED-4DB2-BD59-A6C34878D82A}">
                    <a16:rowId xmlns:a16="http://schemas.microsoft.com/office/drawing/2014/main" val="3056874326"/>
                  </a:ext>
                </a:extLst>
              </a:tr>
              <a:tr h="110654">
                <a:tc>
                  <a:txBody>
                    <a:bodyPr/>
                    <a:lstStyle/>
                    <a:p>
                      <a:pPr algn="r" fontAlgn="b">
                        <a:buNone/>
                      </a:pPr>
                      <a:r>
                        <a:rPr lang="en-US" sz="700" b="0" i="0" u="none" strike="noStrike">
                          <a:effectLst/>
                          <a:latin typeface="Calibri" panose="020F0502020204030204" pitchFamily="34" charset="0"/>
                        </a:rPr>
                        <a:t>29</a:t>
                      </a:r>
                    </a:p>
                  </a:txBody>
                  <a:tcPr marL="6350" marR="6350" marT="6350" marB="0" anchor="ctr"/>
                </a:tc>
                <a:tc>
                  <a:txBody>
                    <a:bodyPr/>
                    <a:lstStyle/>
                    <a:p>
                      <a:pPr algn="l" fontAlgn="b">
                        <a:buNone/>
                      </a:pPr>
                      <a:r>
                        <a:rPr lang="en-US" sz="700" b="0" i="0" u="none" strike="noStrike">
                          <a:effectLst/>
                          <a:latin typeface="Calibri" panose="020F0502020204030204" pitchFamily="34" charset="0"/>
                        </a:rPr>
                        <a:t>Jisca Muanda</a:t>
                      </a:r>
                    </a:p>
                  </a:txBody>
                  <a:tcPr marL="6350" marR="6350" marT="6350" marB="0" anchor="ctr"/>
                </a:tc>
                <a:tc>
                  <a:txBody>
                    <a:bodyPr/>
                    <a:lstStyle/>
                    <a:p>
                      <a:pPr algn="r" fontAlgn="b">
                        <a:buNone/>
                      </a:pPr>
                      <a:r>
                        <a:rPr lang="en-US" sz="700" b="0" i="0" u="none" strike="noStrike">
                          <a:effectLst/>
                          <a:latin typeface="Calibri" panose="020F0502020204030204" pitchFamily="34" charset="0"/>
                        </a:rPr>
                        <a:t>5.16</a:t>
                      </a:r>
                    </a:p>
                  </a:txBody>
                  <a:tcPr marL="6350" marR="6350" marT="6350" marB="0" anchor="ctr"/>
                </a:tc>
                <a:tc>
                  <a:txBody>
                    <a:bodyPr/>
                    <a:lstStyle/>
                    <a:p>
                      <a:pPr algn="l" fontAlgn="b">
                        <a:buNone/>
                      </a:pPr>
                      <a:r>
                        <a:rPr lang="en-US" sz="700" b="0" i="0" u="none" strike="noStrike">
                          <a:effectLst/>
                          <a:latin typeface="Calibri" panose="020F0502020204030204" pitchFamily="34" charset="0"/>
                        </a:rPr>
                        <a:t>               86.44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14.91 </a:t>
                      </a:r>
                    </a:p>
                  </a:txBody>
                  <a:tcPr marL="6350" marR="6350" marT="6350" marB="0" anchor="ct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tc>
                <a:extLst>
                  <a:ext uri="{0D108BD9-81ED-4DB2-BD59-A6C34878D82A}">
                    <a16:rowId xmlns:a16="http://schemas.microsoft.com/office/drawing/2014/main" val="795580884"/>
                  </a:ext>
                </a:extLst>
              </a:tr>
              <a:tr h="110654">
                <a:tc>
                  <a:txBody>
                    <a:bodyPr/>
                    <a:lstStyle/>
                    <a:p>
                      <a:pPr algn="r" fontAlgn="b">
                        <a:buNone/>
                      </a:pPr>
                      <a:r>
                        <a:rPr lang="en-US" sz="700" b="0" i="0" u="none" strike="noStrike">
                          <a:effectLst/>
                          <a:latin typeface="Calibri" panose="020F0502020204030204" pitchFamily="34" charset="0"/>
                        </a:rPr>
                        <a:t>30</a:t>
                      </a:r>
                    </a:p>
                  </a:txBody>
                  <a:tcPr marL="6350" marR="6350" marT="6350" marB="0" anchor="ctr"/>
                </a:tc>
                <a:tc>
                  <a:txBody>
                    <a:bodyPr/>
                    <a:lstStyle/>
                    <a:p>
                      <a:pPr algn="l" fontAlgn="b">
                        <a:buNone/>
                      </a:pPr>
                      <a:r>
                        <a:rPr lang="en-US" sz="700" b="0" i="0" u="none" strike="noStrike">
                          <a:effectLst/>
                          <a:latin typeface="Calibri" panose="020F0502020204030204" pitchFamily="34" charset="0"/>
                        </a:rPr>
                        <a:t>Emmanuel Mawete</a:t>
                      </a:r>
                    </a:p>
                  </a:txBody>
                  <a:tcPr marL="6350" marR="6350" marT="6350" marB="0" anchor="ctr"/>
                </a:tc>
                <a:tc>
                  <a:txBody>
                    <a:bodyPr/>
                    <a:lstStyle/>
                    <a:p>
                      <a:pPr algn="r" fontAlgn="b">
                        <a:buNone/>
                      </a:pPr>
                      <a:r>
                        <a:rPr lang="en-US" sz="700" b="0" i="0" u="none" strike="noStrike">
                          <a:effectLst/>
                          <a:latin typeface="Calibri" panose="020F0502020204030204" pitchFamily="34" charset="0"/>
                        </a:rPr>
                        <a:t>22.98</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127.68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14.56 </a:t>
                      </a:r>
                    </a:p>
                  </a:txBody>
                  <a:tcPr marL="6350" marR="6350" marT="6350" marB="0" anchor="ctr"/>
                </a:tc>
                <a:tc>
                  <a:txBody>
                    <a:bodyPr/>
                    <a:lstStyle/>
                    <a:p>
                      <a:pPr algn="l" fontAlgn="b">
                        <a:buNone/>
                      </a:pPr>
                      <a:r>
                        <a:rPr lang="en-US" sz="700" b="0" i="0" u="none" strike="noStrike">
                          <a:effectLst/>
                          <a:latin typeface="Calibri" panose="020F0502020204030204" pitchFamily="34" charset="0"/>
                        </a:rPr>
                        <a:t>Quality Assurance</a:t>
                      </a:r>
                    </a:p>
                  </a:txBody>
                  <a:tcPr marL="6350" marR="6350" marT="6350" marB="0" anchor="ctr"/>
                </a:tc>
                <a:extLst>
                  <a:ext uri="{0D108BD9-81ED-4DB2-BD59-A6C34878D82A}">
                    <a16:rowId xmlns:a16="http://schemas.microsoft.com/office/drawing/2014/main" val="1454421590"/>
                  </a:ext>
                </a:extLst>
              </a:tr>
              <a:tr h="110654">
                <a:tc>
                  <a:txBody>
                    <a:bodyPr/>
                    <a:lstStyle/>
                    <a:p>
                      <a:pPr algn="r" fontAlgn="b">
                        <a:buNone/>
                      </a:pPr>
                      <a:r>
                        <a:rPr lang="en-US" sz="700" b="0" i="0" u="none" strike="noStrike">
                          <a:effectLst/>
                          <a:latin typeface="Calibri" panose="020F0502020204030204" pitchFamily="34" charset="0"/>
                        </a:rPr>
                        <a:t>31</a:t>
                      </a:r>
                    </a:p>
                  </a:txBody>
                  <a:tcPr marL="6350" marR="6350" marT="6350" marB="0" anchor="ctr"/>
                </a:tc>
                <a:tc>
                  <a:txBody>
                    <a:bodyPr/>
                    <a:lstStyle/>
                    <a:p>
                      <a:pPr algn="l" fontAlgn="b">
                        <a:buNone/>
                      </a:pPr>
                      <a:r>
                        <a:rPr lang="en-US" sz="700" b="0" i="0" u="none" strike="noStrike">
                          <a:effectLst/>
                          <a:latin typeface="Calibri" panose="020F0502020204030204" pitchFamily="34" charset="0"/>
                        </a:rPr>
                        <a:t>Alidor Kankonde</a:t>
                      </a:r>
                    </a:p>
                  </a:txBody>
                  <a:tcPr marL="6350" marR="6350" marT="6350" marB="0" anchor="ctr"/>
                </a:tc>
                <a:tc>
                  <a:txBody>
                    <a:bodyPr/>
                    <a:lstStyle/>
                    <a:p>
                      <a:pPr algn="r" fontAlgn="b">
                        <a:buNone/>
                      </a:pPr>
                      <a:r>
                        <a:rPr lang="en-US" sz="700" b="0" i="0" u="none" strike="noStrike">
                          <a:effectLst/>
                          <a:latin typeface="Calibri" panose="020F0502020204030204" pitchFamily="34" charset="0"/>
                        </a:rPr>
                        <a:t>3.59</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16.26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14.25 </a:t>
                      </a:r>
                    </a:p>
                  </a:txBody>
                  <a:tcPr marL="6350" marR="6350" marT="6350" marB="0" anchor="ct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tc>
                <a:extLst>
                  <a:ext uri="{0D108BD9-81ED-4DB2-BD59-A6C34878D82A}">
                    <a16:rowId xmlns:a16="http://schemas.microsoft.com/office/drawing/2014/main" val="3462388050"/>
                  </a:ext>
                </a:extLst>
              </a:tr>
              <a:tr h="181410">
                <a:tc>
                  <a:txBody>
                    <a:bodyPr/>
                    <a:lstStyle/>
                    <a:p>
                      <a:pPr algn="r" fontAlgn="b">
                        <a:buNone/>
                      </a:pPr>
                      <a:r>
                        <a:rPr lang="en-US" sz="700" b="0" i="0" u="none" strike="noStrike">
                          <a:effectLst/>
                          <a:latin typeface="Calibri" panose="020F0502020204030204" pitchFamily="34" charset="0"/>
                        </a:rPr>
                        <a:t>32</a:t>
                      </a:r>
                    </a:p>
                  </a:txBody>
                  <a:tcPr marL="6350" marR="6350" marT="6350" marB="0" anchor="ctr"/>
                </a:tc>
                <a:tc>
                  <a:txBody>
                    <a:bodyPr/>
                    <a:lstStyle/>
                    <a:p>
                      <a:pPr algn="l" fontAlgn="b">
                        <a:buNone/>
                      </a:pPr>
                      <a:r>
                        <a:rPr lang="en-US" sz="700" b="0" i="0" u="none" strike="noStrike">
                          <a:effectLst/>
                          <a:latin typeface="Calibri" panose="020F0502020204030204" pitchFamily="34" charset="0"/>
                        </a:rPr>
                        <a:t>Nadege Nsilu</a:t>
                      </a:r>
                    </a:p>
                  </a:txBody>
                  <a:tcPr marL="6350" marR="6350" marT="6350" marB="0" anchor="ctr"/>
                </a:tc>
                <a:tc>
                  <a:txBody>
                    <a:bodyPr/>
                    <a:lstStyle/>
                    <a:p>
                      <a:pPr algn="r" fontAlgn="b">
                        <a:buNone/>
                      </a:pPr>
                      <a:r>
                        <a:rPr lang="en-US" sz="700" b="0" i="0" u="none" strike="noStrike">
                          <a:effectLst/>
                          <a:latin typeface="Calibri" panose="020F0502020204030204" pitchFamily="34" charset="0"/>
                        </a:rPr>
                        <a:t>18.72</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138.21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14.25 </a:t>
                      </a:r>
                    </a:p>
                  </a:txBody>
                  <a:tcPr marL="6350" marR="6350" marT="6350" marB="0" anchor="ctr"/>
                </a:tc>
                <a:tc>
                  <a:txBody>
                    <a:bodyPr/>
                    <a:lstStyle/>
                    <a:p>
                      <a:pPr algn="l" fontAlgn="b">
                        <a:buNone/>
                      </a:pPr>
                      <a:r>
                        <a:rPr lang="en-US" sz="700" b="0" i="0" u="none" strike="noStrike">
                          <a:effectLst/>
                          <a:latin typeface="Calibri" panose="020F0502020204030204" pitchFamily="34" charset="0"/>
                        </a:rPr>
                        <a:t>Quality Assurance</a:t>
                      </a:r>
                    </a:p>
                  </a:txBody>
                  <a:tcPr marL="6350" marR="6350" marT="6350" marB="0" anchor="ctr"/>
                </a:tc>
                <a:extLst>
                  <a:ext uri="{0D108BD9-81ED-4DB2-BD59-A6C34878D82A}">
                    <a16:rowId xmlns:a16="http://schemas.microsoft.com/office/drawing/2014/main" val="1934508570"/>
                  </a:ext>
                </a:extLst>
              </a:tr>
              <a:tr h="110654">
                <a:tc>
                  <a:txBody>
                    <a:bodyPr/>
                    <a:lstStyle/>
                    <a:p>
                      <a:pPr algn="r" fontAlgn="b">
                        <a:buNone/>
                      </a:pPr>
                      <a:r>
                        <a:rPr lang="en-US" sz="700" b="0" i="0" u="none" strike="noStrike">
                          <a:effectLst/>
                          <a:latin typeface="Calibri" panose="020F0502020204030204" pitchFamily="34" charset="0"/>
                        </a:rPr>
                        <a:t>33</a:t>
                      </a:r>
                    </a:p>
                  </a:txBody>
                  <a:tcPr marL="6350" marR="6350" marT="6350" marB="0" anchor="ctr"/>
                </a:tc>
                <a:tc>
                  <a:txBody>
                    <a:bodyPr/>
                    <a:lstStyle/>
                    <a:p>
                      <a:pPr algn="l" fontAlgn="b">
                        <a:buNone/>
                      </a:pPr>
                      <a:r>
                        <a:rPr lang="en-US" sz="700" b="0" i="0" u="none" strike="noStrike">
                          <a:effectLst/>
                          <a:latin typeface="Calibri" panose="020F0502020204030204" pitchFamily="34" charset="0"/>
                        </a:rPr>
                        <a:t>Noel Ndonga</a:t>
                      </a:r>
                    </a:p>
                  </a:txBody>
                  <a:tcPr marL="6350" marR="6350" marT="6350" marB="0" anchor="ctr"/>
                </a:tc>
                <a:tc>
                  <a:txBody>
                    <a:bodyPr/>
                    <a:lstStyle/>
                    <a:p>
                      <a:pPr algn="r" fontAlgn="b">
                        <a:buNone/>
                      </a:pPr>
                      <a:r>
                        <a:rPr lang="en-US" sz="700" b="0" i="0" u="none" strike="noStrike">
                          <a:effectLst/>
                          <a:latin typeface="Calibri" panose="020F0502020204030204" pitchFamily="34" charset="0"/>
                        </a:rPr>
                        <a:t>7</a:t>
                      </a:r>
                    </a:p>
                  </a:txBody>
                  <a:tcPr marL="6350" marR="6350" marT="6350" marB="0" anchor="ctr"/>
                </a:tc>
                <a:tc>
                  <a:txBody>
                    <a:bodyPr/>
                    <a:lstStyle/>
                    <a:p>
                      <a:pPr algn="l" fontAlgn="b">
                        <a:buNone/>
                      </a:pPr>
                      <a:r>
                        <a:rPr lang="en-US" sz="700" b="0" i="0" u="none" strike="noStrike">
                          <a:effectLst/>
                          <a:latin typeface="Calibri" panose="020F0502020204030204" pitchFamily="34" charset="0"/>
                        </a:rPr>
                        <a:t>               92.87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13.41 </a:t>
                      </a:r>
                    </a:p>
                  </a:txBody>
                  <a:tcPr marL="6350" marR="6350" marT="6350" marB="0" anchor="ct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tc>
                <a:extLst>
                  <a:ext uri="{0D108BD9-81ED-4DB2-BD59-A6C34878D82A}">
                    <a16:rowId xmlns:a16="http://schemas.microsoft.com/office/drawing/2014/main" val="1279321552"/>
                  </a:ext>
                </a:extLst>
              </a:tr>
              <a:tr h="110654">
                <a:tc>
                  <a:txBody>
                    <a:bodyPr/>
                    <a:lstStyle/>
                    <a:p>
                      <a:pPr algn="r" fontAlgn="b">
                        <a:buNone/>
                      </a:pPr>
                      <a:r>
                        <a:rPr lang="en-US" sz="700" b="0" i="0" u="none" strike="noStrike">
                          <a:effectLst/>
                          <a:latin typeface="Calibri" panose="020F0502020204030204" pitchFamily="34" charset="0"/>
                        </a:rPr>
                        <a:t>34</a:t>
                      </a:r>
                    </a:p>
                  </a:txBody>
                  <a:tcPr marL="6350" marR="6350" marT="6350" marB="0" anchor="ctr"/>
                </a:tc>
                <a:tc>
                  <a:txBody>
                    <a:bodyPr/>
                    <a:lstStyle/>
                    <a:p>
                      <a:pPr algn="l" fontAlgn="b">
                        <a:buNone/>
                      </a:pPr>
                      <a:r>
                        <a:rPr lang="en-US" sz="700" b="0" i="0" u="none" strike="noStrike">
                          <a:effectLst/>
                          <a:latin typeface="Calibri" panose="020F0502020204030204" pitchFamily="34" charset="0"/>
                        </a:rPr>
                        <a:t>Jonas LINGOMA</a:t>
                      </a:r>
                    </a:p>
                  </a:txBody>
                  <a:tcPr marL="6350" marR="6350" marT="6350" marB="0" anchor="ctr"/>
                </a:tc>
                <a:tc>
                  <a:txBody>
                    <a:bodyPr/>
                    <a:lstStyle/>
                    <a:p>
                      <a:pPr algn="r" fontAlgn="b">
                        <a:buNone/>
                      </a:pPr>
                      <a:r>
                        <a:rPr lang="en-US" sz="700" b="0" i="0" u="none" strike="noStrike">
                          <a:effectLst/>
                          <a:latin typeface="Calibri" panose="020F0502020204030204" pitchFamily="34" charset="0"/>
                        </a:rPr>
                        <a:t>27.5</a:t>
                      </a:r>
                    </a:p>
                  </a:txBody>
                  <a:tcPr marL="6350" marR="6350" marT="6350" marB="0" anchor="ctr"/>
                </a:tc>
                <a:tc>
                  <a:txBody>
                    <a:bodyPr/>
                    <a:lstStyle/>
                    <a:p>
                      <a:pPr algn="l" fontAlgn="b">
                        <a:buNone/>
                      </a:pPr>
                      <a:r>
                        <a:rPr lang="en-US" sz="700" b="0" i="0" u="none" strike="noStrike">
                          <a:effectLst/>
                          <a:latin typeface="Calibri" panose="020F0502020204030204" pitchFamily="34" charset="0"/>
                        </a:rPr>
                        <a:t>             359.79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13.17 </a:t>
                      </a:r>
                    </a:p>
                  </a:txBody>
                  <a:tcPr marL="6350" marR="6350" marT="6350" marB="0" anchor="ctr"/>
                </a:tc>
                <a:tc>
                  <a:txBody>
                    <a:bodyPr/>
                    <a:lstStyle/>
                    <a:p>
                      <a:pPr algn="l" fontAlgn="b">
                        <a:buNone/>
                      </a:pPr>
                      <a:r>
                        <a:rPr lang="en-US" sz="700" b="0" i="0" u="none" strike="noStrike">
                          <a:effectLst/>
                          <a:latin typeface="Calibri" panose="020F0502020204030204" pitchFamily="34" charset="0"/>
                        </a:rPr>
                        <a:t>Logistic</a:t>
                      </a:r>
                    </a:p>
                  </a:txBody>
                  <a:tcPr marL="6350" marR="6350" marT="6350" marB="0" anchor="ctr"/>
                </a:tc>
                <a:extLst>
                  <a:ext uri="{0D108BD9-81ED-4DB2-BD59-A6C34878D82A}">
                    <a16:rowId xmlns:a16="http://schemas.microsoft.com/office/drawing/2014/main" val="604712246"/>
                  </a:ext>
                </a:extLst>
              </a:tr>
              <a:tr h="110654">
                <a:tc>
                  <a:txBody>
                    <a:bodyPr/>
                    <a:lstStyle/>
                    <a:p>
                      <a:pPr algn="r" fontAlgn="b">
                        <a:buNone/>
                      </a:pPr>
                      <a:r>
                        <a:rPr lang="en-US" sz="700" b="0" i="0" u="none" strike="noStrike">
                          <a:effectLst/>
                          <a:latin typeface="Calibri" panose="020F0502020204030204" pitchFamily="34" charset="0"/>
                        </a:rPr>
                        <a:t>35</a:t>
                      </a:r>
                    </a:p>
                  </a:txBody>
                  <a:tcPr marL="6350" marR="6350" marT="6350" marB="0" anchor="ctr"/>
                </a:tc>
                <a:tc>
                  <a:txBody>
                    <a:bodyPr/>
                    <a:lstStyle/>
                    <a:p>
                      <a:pPr algn="l" fontAlgn="b">
                        <a:buNone/>
                      </a:pPr>
                      <a:r>
                        <a:rPr lang="en-US" sz="700" b="0" i="0" u="none" strike="noStrike">
                          <a:effectLst/>
                          <a:latin typeface="Calibri" panose="020F0502020204030204" pitchFamily="34" charset="0"/>
                        </a:rPr>
                        <a:t>Moise Musako</a:t>
                      </a:r>
                    </a:p>
                  </a:txBody>
                  <a:tcPr marL="6350" marR="6350" marT="6350" marB="0" anchor="ctr"/>
                </a:tc>
                <a:tc>
                  <a:txBody>
                    <a:bodyPr/>
                    <a:lstStyle/>
                    <a:p>
                      <a:pPr algn="r" fontAlgn="b">
                        <a:buNone/>
                      </a:pPr>
                      <a:r>
                        <a:rPr lang="en-US" sz="700" b="0" i="0" u="none" strike="noStrike">
                          <a:effectLst/>
                          <a:latin typeface="Calibri" panose="020F0502020204030204" pitchFamily="34" charset="0"/>
                        </a:rPr>
                        <a:t>10</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172.51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12.75 </a:t>
                      </a:r>
                    </a:p>
                  </a:txBody>
                  <a:tcPr marL="6350" marR="6350" marT="6350" marB="0" anchor="ctr"/>
                </a:tc>
                <a:tc>
                  <a:txBody>
                    <a:bodyPr/>
                    <a:lstStyle/>
                    <a:p>
                      <a:pPr algn="l" fontAlgn="b">
                        <a:buNone/>
                      </a:pPr>
                      <a:r>
                        <a:rPr lang="en-US" sz="700" b="0" i="0" u="none" strike="noStrike">
                          <a:effectLst/>
                          <a:latin typeface="Calibri" panose="020F0502020204030204" pitchFamily="34" charset="0"/>
                        </a:rPr>
                        <a:t>Quality Assurance</a:t>
                      </a:r>
                    </a:p>
                  </a:txBody>
                  <a:tcPr marL="6350" marR="6350" marT="6350" marB="0" anchor="ctr"/>
                </a:tc>
                <a:extLst>
                  <a:ext uri="{0D108BD9-81ED-4DB2-BD59-A6C34878D82A}">
                    <a16:rowId xmlns:a16="http://schemas.microsoft.com/office/drawing/2014/main" val="134406456"/>
                  </a:ext>
                </a:extLst>
              </a:tr>
              <a:tr h="110654">
                <a:tc>
                  <a:txBody>
                    <a:bodyPr/>
                    <a:lstStyle/>
                    <a:p>
                      <a:pPr algn="r" fontAlgn="b">
                        <a:buNone/>
                      </a:pPr>
                      <a:r>
                        <a:rPr lang="en-US" sz="700" b="0" i="0" u="none" strike="noStrike">
                          <a:effectLst/>
                          <a:latin typeface="Calibri" panose="020F0502020204030204" pitchFamily="34" charset="0"/>
                        </a:rPr>
                        <a:t>36</a:t>
                      </a:r>
                    </a:p>
                  </a:txBody>
                  <a:tcPr marL="6350" marR="6350" marT="6350" marB="0" anchor="ctr"/>
                </a:tc>
                <a:tc>
                  <a:txBody>
                    <a:bodyPr/>
                    <a:lstStyle/>
                    <a:p>
                      <a:pPr algn="l" fontAlgn="b">
                        <a:buNone/>
                      </a:pPr>
                      <a:r>
                        <a:rPr lang="en-US" sz="700" b="0" i="0" u="none" strike="noStrike">
                          <a:effectLst/>
                          <a:latin typeface="Calibri" panose="020F0502020204030204" pitchFamily="34" charset="0"/>
                        </a:rPr>
                        <a:t>Reagan Tulengi</a:t>
                      </a:r>
                    </a:p>
                  </a:txBody>
                  <a:tcPr marL="6350" marR="6350" marT="6350" marB="0" anchor="ctr"/>
                </a:tc>
                <a:tc>
                  <a:txBody>
                    <a:bodyPr/>
                    <a:lstStyle/>
                    <a:p>
                      <a:pPr algn="r" fontAlgn="b">
                        <a:buNone/>
                      </a:pPr>
                      <a:r>
                        <a:rPr lang="en-US" sz="700" b="0" i="0" u="none" strike="noStrike">
                          <a:effectLst/>
                          <a:latin typeface="Calibri" panose="020F0502020204030204" pitchFamily="34" charset="0"/>
                        </a:rPr>
                        <a:t>4.6</a:t>
                      </a:r>
                    </a:p>
                  </a:txBody>
                  <a:tcPr marL="6350" marR="6350" marT="6350" marB="0" anchor="ctr"/>
                </a:tc>
                <a:tc>
                  <a:txBody>
                    <a:bodyPr/>
                    <a:lstStyle/>
                    <a:p>
                      <a:pPr algn="l" fontAlgn="b">
                        <a:buNone/>
                      </a:pPr>
                      <a:r>
                        <a:rPr lang="en-US" sz="700" b="0" i="0" u="none" strike="noStrike">
                          <a:effectLst/>
                          <a:latin typeface="Calibri" panose="020F0502020204030204" pitchFamily="34" charset="0"/>
                        </a:rPr>
                        <a:t>               52.78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11.49 </a:t>
                      </a:r>
                    </a:p>
                  </a:txBody>
                  <a:tcPr marL="6350" marR="6350" marT="6350" marB="0" anchor="ctr"/>
                </a:tc>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tc>
                <a:extLst>
                  <a:ext uri="{0D108BD9-81ED-4DB2-BD59-A6C34878D82A}">
                    <a16:rowId xmlns:a16="http://schemas.microsoft.com/office/drawing/2014/main" val="1416383501"/>
                  </a:ext>
                </a:extLst>
              </a:tr>
              <a:tr h="110654">
                <a:tc>
                  <a:txBody>
                    <a:bodyPr/>
                    <a:lstStyle/>
                    <a:p>
                      <a:pPr algn="r" fontAlgn="b">
                        <a:buNone/>
                      </a:pPr>
                      <a:r>
                        <a:rPr lang="en-US" sz="700" b="0" i="0" u="none" strike="noStrike">
                          <a:effectLst/>
                          <a:latin typeface="Calibri" panose="020F0502020204030204" pitchFamily="34" charset="0"/>
                        </a:rPr>
                        <a:t>37</a:t>
                      </a:r>
                    </a:p>
                  </a:txBody>
                  <a:tcPr marL="6350" marR="6350" marT="6350" marB="0" anchor="ctr"/>
                </a:tc>
                <a:tc>
                  <a:txBody>
                    <a:bodyPr/>
                    <a:lstStyle/>
                    <a:p>
                      <a:pPr algn="l" fontAlgn="b">
                        <a:buNone/>
                      </a:pPr>
                      <a:r>
                        <a:rPr lang="en-US" sz="700" b="0" i="0" u="none" strike="noStrike">
                          <a:effectLst/>
                          <a:latin typeface="Calibri" panose="020F0502020204030204" pitchFamily="34" charset="0"/>
                        </a:rPr>
                        <a:t>Bertin Tandu</a:t>
                      </a:r>
                    </a:p>
                  </a:txBody>
                  <a:tcPr marL="6350" marR="6350" marT="6350" marB="0" anchor="ctr"/>
                </a:tc>
                <a:tc>
                  <a:txBody>
                    <a:bodyPr/>
                    <a:lstStyle/>
                    <a:p>
                      <a:pPr algn="r" fontAlgn="b">
                        <a:buNone/>
                      </a:pPr>
                      <a:r>
                        <a:rPr lang="en-US" sz="700" b="0" i="0" u="none" strike="noStrike">
                          <a:effectLst/>
                          <a:latin typeface="Calibri" panose="020F0502020204030204" pitchFamily="34" charset="0"/>
                        </a:rPr>
                        <a:t>13.37</a:t>
                      </a:r>
                    </a:p>
                  </a:txBody>
                  <a:tcPr marL="6350" marR="6350" marT="6350" marB="0" anchor="ctr"/>
                </a:tc>
                <a:tc>
                  <a:txBody>
                    <a:bodyPr/>
                    <a:lstStyle/>
                    <a:p>
                      <a:pPr algn="l" fontAlgn="b">
                        <a:buNone/>
                      </a:pPr>
                      <a:r>
                        <a:rPr lang="en-US" sz="700" b="0" i="0" u="none" strike="noStrike">
                          <a:effectLst/>
                          <a:latin typeface="Calibri" panose="020F0502020204030204" pitchFamily="34" charset="0"/>
                        </a:rPr>
                        <a:t>               77.18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10.75 </a:t>
                      </a:r>
                    </a:p>
                  </a:txBody>
                  <a:tcPr marL="6350" marR="6350" marT="6350" marB="0" anchor="ctr"/>
                </a:tc>
                <a:tc>
                  <a:txBody>
                    <a:bodyPr/>
                    <a:lstStyle/>
                    <a:p>
                      <a:pPr algn="l" fontAlgn="b">
                        <a:buNone/>
                      </a:pPr>
                      <a:r>
                        <a:rPr lang="en-US" sz="700" b="0" i="0" u="none" strike="noStrike">
                          <a:effectLst/>
                          <a:latin typeface="Calibri" panose="020F0502020204030204" pitchFamily="34" charset="0"/>
                        </a:rPr>
                        <a:t>Quality Assurance</a:t>
                      </a:r>
                    </a:p>
                  </a:txBody>
                  <a:tcPr marL="6350" marR="6350" marT="6350" marB="0" anchor="ctr"/>
                </a:tc>
                <a:extLst>
                  <a:ext uri="{0D108BD9-81ED-4DB2-BD59-A6C34878D82A}">
                    <a16:rowId xmlns:a16="http://schemas.microsoft.com/office/drawing/2014/main" val="1288486057"/>
                  </a:ext>
                </a:extLst>
              </a:tr>
              <a:tr h="215091">
                <a:tc>
                  <a:txBody>
                    <a:bodyPr/>
                    <a:lstStyle/>
                    <a:p>
                      <a:pPr algn="r" fontAlgn="b">
                        <a:buNone/>
                      </a:pPr>
                      <a:r>
                        <a:rPr lang="en-US" sz="700" b="0" i="0" u="none" strike="noStrike">
                          <a:effectLst/>
                          <a:latin typeface="Calibri" panose="020F0502020204030204" pitchFamily="34" charset="0"/>
                        </a:rPr>
                        <a:t>38</a:t>
                      </a:r>
                    </a:p>
                  </a:txBody>
                  <a:tcPr marL="6350" marR="6350" marT="6350" marB="0" anchor="ctr"/>
                </a:tc>
                <a:tc>
                  <a:txBody>
                    <a:bodyPr/>
                    <a:lstStyle/>
                    <a:p>
                      <a:pPr algn="l" fontAlgn="b">
                        <a:buNone/>
                      </a:pPr>
                      <a:r>
                        <a:rPr lang="en-US" sz="700" b="0" i="0" u="none" strike="noStrike">
                          <a:effectLst/>
                          <a:latin typeface="Calibri" panose="020F0502020204030204" pitchFamily="34" charset="0"/>
                        </a:rPr>
                        <a:t>Sosthene Nyomba Kamanda</a:t>
                      </a:r>
                    </a:p>
                  </a:txBody>
                  <a:tcPr marL="6350" marR="6350" marT="6350" marB="0" anchor="ctr"/>
                </a:tc>
                <a:tc>
                  <a:txBody>
                    <a:bodyPr/>
                    <a:lstStyle/>
                    <a:p>
                      <a:pPr algn="r" fontAlgn="b">
                        <a:buNone/>
                      </a:pPr>
                      <a:r>
                        <a:rPr lang="en-US" sz="700" b="0" i="0" u="none" strike="noStrike">
                          <a:effectLst/>
                          <a:latin typeface="Calibri" panose="020F0502020204030204" pitchFamily="34" charset="0"/>
                        </a:rPr>
                        <a:t>5.1</a:t>
                      </a:r>
                    </a:p>
                  </a:txBody>
                  <a:tcPr marL="6350" marR="6350" marT="6350" marB="0" anchor="ctr"/>
                </a:tc>
                <a:tc>
                  <a:txBody>
                    <a:bodyPr/>
                    <a:lstStyle/>
                    <a:p>
                      <a:pPr algn="l" fontAlgn="b">
                        <a:buNone/>
                      </a:pPr>
                      <a:r>
                        <a:rPr lang="en-US" sz="700" b="0" i="0" u="none" strike="noStrike">
                          <a:effectLst/>
                          <a:latin typeface="Calibri" panose="020F0502020204030204" pitchFamily="34" charset="0"/>
                        </a:rPr>
                        <a:t>               58.53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10.25 </a:t>
                      </a:r>
                    </a:p>
                  </a:txBody>
                  <a:tcPr marL="6350" marR="6350" marT="6350" marB="0" anchor="ctr"/>
                </a:tc>
                <a:tc>
                  <a:txBody>
                    <a:bodyPr/>
                    <a:lstStyle/>
                    <a:p>
                      <a:pPr algn="l" fontAlgn="b">
                        <a:buNone/>
                      </a:pPr>
                      <a:r>
                        <a:rPr lang="en-US" sz="700" b="0" i="0" u="none" strike="noStrike">
                          <a:effectLst/>
                          <a:latin typeface="Calibri" panose="020F0502020204030204" pitchFamily="34" charset="0"/>
                        </a:rPr>
                        <a:t>Quality Assurance</a:t>
                      </a:r>
                    </a:p>
                  </a:txBody>
                  <a:tcPr marL="6350" marR="6350" marT="6350" marB="0" anchor="ctr"/>
                </a:tc>
                <a:extLst>
                  <a:ext uri="{0D108BD9-81ED-4DB2-BD59-A6C34878D82A}">
                    <a16:rowId xmlns:a16="http://schemas.microsoft.com/office/drawing/2014/main" val="1835811480"/>
                  </a:ext>
                </a:extLst>
              </a:tr>
              <a:tr h="110654">
                <a:tc>
                  <a:txBody>
                    <a:bodyPr/>
                    <a:lstStyle/>
                    <a:p>
                      <a:pPr algn="r" fontAlgn="b">
                        <a:buNone/>
                      </a:pPr>
                      <a:r>
                        <a:rPr lang="en-US" sz="700" b="0" i="0" u="none" strike="noStrike">
                          <a:effectLst/>
                          <a:latin typeface="Calibri" panose="020F0502020204030204" pitchFamily="34" charset="0"/>
                        </a:rPr>
                        <a:t>39</a:t>
                      </a:r>
                    </a:p>
                  </a:txBody>
                  <a:tcPr marL="6350" marR="6350" marT="6350" marB="0" anchor="ctr"/>
                </a:tc>
                <a:tc>
                  <a:txBody>
                    <a:bodyPr/>
                    <a:lstStyle/>
                    <a:p>
                      <a:pPr algn="l" fontAlgn="b">
                        <a:buNone/>
                      </a:pPr>
                      <a:r>
                        <a:rPr lang="en-US" sz="700" b="0" i="0" u="none" strike="noStrike">
                          <a:effectLst/>
                          <a:latin typeface="Calibri" panose="020F0502020204030204" pitchFamily="34" charset="0"/>
                        </a:rPr>
                        <a:t>Ovie Tulomba</a:t>
                      </a:r>
                    </a:p>
                  </a:txBody>
                  <a:tcPr marL="6350" marR="6350" marT="6350" marB="0" anchor="ctr"/>
                </a:tc>
                <a:tc>
                  <a:txBody>
                    <a:bodyPr/>
                    <a:lstStyle/>
                    <a:p>
                      <a:pPr algn="r" fontAlgn="b">
                        <a:buNone/>
                      </a:pPr>
                      <a:r>
                        <a:rPr lang="en-US" sz="700" b="0" i="0" u="none" strike="noStrike">
                          <a:effectLst/>
                          <a:latin typeface="Calibri" panose="020F0502020204030204" pitchFamily="34" charset="0"/>
                        </a:rPr>
                        <a:t>33.99</a:t>
                      </a:r>
                    </a:p>
                  </a:txBody>
                  <a:tcPr marL="6350" marR="6350" marT="6350" marB="0" anchor="ctr"/>
                </a:tc>
                <a:tc>
                  <a:txBody>
                    <a:bodyPr/>
                    <a:lstStyle/>
                    <a:p>
                      <a:pPr algn="l" fontAlgn="b">
                        <a:buNone/>
                      </a:pPr>
                      <a:r>
                        <a:rPr lang="en-US" sz="700" b="0" i="0" u="none" strike="noStrike">
                          <a:effectLst/>
                          <a:latin typeface="Calibri" panose="020F0502020204030204" pitchFamily="34" charset="0"/>
                        </a:rPr>
                        <a:t>             354.41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10.25 </a:t>
                      </a:r>
                    </a:p>
                  </a:txBody>
                  <a:tcPr marL="6350" marR="6350" marT="6350" marB="0" anchor="ctr"/>
                </a:tc>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tc>
                <a:extLst>
                  <a:ext uri="{0D108BD9-81ED-4DB2-BD59-A6C34878D82A}">
                    <a16:rowId xmlns:a16="http://schemas.microsoft.com/office/drawing/2014/main" val="2443209008"/>
                  </a:ext>
                </a:extLst>
              </a:tr>
              <a:tr h="110654">
                <a:tc>
                  <a:txBody>
                    <a:bodyPr/>
                    <a:lstStyle/>
                    <a:p>
                      <a:pPr algn="r" fontAlgn="b">
                        <a:buNone/>
                      </a:pPr>
                      <a:r>
                        <a:rPr lang="en-US" sz="700" b="0" i="0" u="none" strike="noStrike">
                          <a:effectLst/>
                          <a:latin typeface="Calibri" panose="020F0502020204030204" pitchFamily="34" charset="0"/>
                        </a:rPr>
                        <a:t>40</a:t>
                      </a:r>
                    </a:p>
                  </a:txBody>
                  <a:tcPr marL="6350" marR="6350" marT="6350" marB="0" anchor="ctr"/>
                </a:tc>
                <a:tc>
                  <a:txBody>
                    <a:bodyPr/>
                    <a:lstStyle/>
                    <a:p>
                      <a:pPr algn="l" fontAlgn="b">
                        <a:buNone/>
                      </a:pPr>
                      <a:r>
                        <a:rPr lang="en-US" sz="700" b="0" i="0" u="none" strike="noStrike">
                          <a:effectLst/>
                          <a:latin typeface="Calibri" panose="020F0502020204030204" pitchFamily="34" charset="0"/>
                        </a:rPr>
                        <a:t>Cadet Samba</a:t>
                      </a:r>
                    </a:p>
                  </a:txBody>
                  <a:tcPr marL="6350" marR="6350" marT="6350" marB="0" anchor="ctr"/>
                </a:tc>
                <a:tc>
                  <a:txBody>
                    <a:bodyPr/>
                    <a:lstStyle/>
                    <a:p>
                      <a:pPr algn="r" fontAlgn="b">
                        <a:buNone/>
                      </a:pPr>
                      <a:r>
                        <a:rPr lang="en-US" sz="700" b="0" i="0" u="none" strike="noStrike">
                          <a:effectLst/>
                          <a:latin typeface="Calibri" panose="020F0502020204030204" pitchFamily="34" charset="0"/>
                        </a:rPr>
                        <a:t>6.04</a:t>
                      </a:r>
                    </a:p>
                  </a:txBody>
                  <a:tcPr marL="6350" marR="6350" marT="6350" marB="0" anchor="ctr"/>
                </a:tc>
                <a:tc>
                  <a:txBody>
                    <a:bodyPr/>
                    <a:lstStyle/>
                    <a:p>
                      <a:pPr algn="l" fontAlgn="b">
                        <a:buNone/>
                      </a:pPr>
                      <a:r>
                        <a:rPr lang="en-US" sz="700" b="0" i="0" u="none" strike="noStrike">
                          <a:effectLst/>
                          <a:latin typeface="Calibri" panose="020F0502020204030204" pitchFamily="34" charset="0"/>
                        </a:rPr>
                        <a:t>               23.48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10.25 </a:t>
                      </a:r>
                    </a:p>
                  </a:txBody>
                  <a:tcPr marL="6350" marR="6350" marT="6350" marB="0" anchor="ctr"/>
                </a:tc>
                <a:tc>
                  <a:txBody>
                    <a:bodyPr/>
                    <a:lstStyle/>
                    <a:p>
                      <a:pPr algn="l" fontAlgn="b">
                        <a:buNone/>
                      </a:pPr>
                      <a:r>
                        <a:rPr lang="en-US" sz="700" b="0" i="0" u="none" strike="noStrike">
                          <a:effectLst/>
                          <a:latin typeface="Calibri" panose="020F0502020204030204" pitchFamily="34" charset="0"/>
                        </a:rPr>
                        <a:t>Quality Assurance</a:t>
                      </a:r>
                    </a:p>
                  </a:txBody>
                  <a:tcPr marL="6350" marR="6350" marT="6350" marB="0" anchor="ctr"/>
                </a:tc>
                <a:extLst>
                  <a:ext uri="{0D108BD9-81ED-4DB2-BD59-A6C34878D82A}">
                    <a16:rowId xmlns:a16="http://schemas.microsoft.com/office/drawing/2014/main" val="2721504780"/>
                  </a:ext>
                </a:extLst>
              </a:tr>
              <a:tr h="110654">
                <a:tc>
                  <a:txBody>
                    <a:bodyPr/>
                    <a:lstStyle/>
                    <a:p>
                      <a:pPr algn="r" fontAlgn="b">
                        <a:buNone/>
                      </a:pPr>
                      <a:r>
                        <a:rPr lang="en-US" sz="700" b="0" i="0" u="none" strike="noStrike">
                          <a:effectLst/>
                          <a:latin typeface="Calibri" panose="020F0502020204030204" pitchFamily="34" charset="0"/>
                        </a:rPr>
                        <a:t>41</a:t>
                      </a:r>
                    </a:p>
                  </a:txBody>
                  <a:tcPr marL="6350" marR="6350" marT="6350" marB="0" anchor="ctr"/>
                </a:tc>
                <a:tc>
                  <a:txBody>
                    <a:bodyPr/>
                    <a:lstStyle/>
                    <a:p>
                      <a:pPr algn="l" fontAlgn="b">
                        <a:buNone/>
                      </a:pPr>
                      <a:r>
                        <a:rPr lang="en-US" sz="700" b="0" i="0" u="none" strike="noStrike">
                          <a:effectLst/>
                          <a:latin typeface="Calibri" panose="020F0502020204030204" pitchFamily="34" charset="0"/>
                        </a:rPr>
                        <a:t>RACHIE DIAWAWANA</a:t>
                      </a:r>
                    </a:p>
                  </a:txBody>
                  <a:tcPr marL="6350" marR="6350" marT="6350" marB="0" anchor="ctr"/>
                </a:tc>
                <a:tc>
                  <a:txBody>
                    <a:bodyPr/>
                    <a:lstStyle/>
                    <a:p>
                      <a:pPr algn="r" fontAlgn="b">
                        <a:buNone/>
                      </a:pPr>
                      <a:r>
                        <a:rPr lang="en-US" sz="700" b="0" i="0" u="none" strike="noStrike">
                          <a:effectLst/>
                          <a:latin typeface="Calibri" panose="020F0502020204030204" pitchFamily="34" charset="0"/>
                        </a:rPr>
                        <a:t>8</a:t>
                      </a:r>
                    </a:p>
                  </a:txBody>
                  <a:tcPr marL="6350" marR="6350" marT="6350" marB="0" anchor="ctr"/>
                </a:tc>
                <a:tc>
                  <a:txBody>
                    <a:bodyPr/>
                    <a:lstStyle/>
                    <a:p>
                      <a:pPr algn="l" fontAlgn="b">
                        <a:buNone/>
                      </a:pPr>
                      <a:r>
                        <a:rPr lang="en-US" sz="700" b="0" i="0" u="none" strike="noStrike">
                          <a:effectLst/>
                          <a:latin typeface="Calibri" panose="020F0502020204030204" pitchFamily="34" charset="0"/>
                        </a:rPr>
                        <a:t>               38.00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9.17 </a:t>
                      </a:r>
                    </a:p>
                  </a:txBody>
                  <a:tcPr marL="6350" marR="6350" marT="6350" marB="0" anchor="ctr"/>
                </a:tc>
                <a:tc>
                  <a:txBody>
                    <a:bodyPr/>
                    <a:lstStyle/>
                    <a:p>
                      <a:pPr algn="l" fontAlgn="b">
                        <a:buNone/>
                      </a:pPr>
                      <a:r>
                        <a:rPr lang="en-US" sz="700" b="0" i="0" u="none" strike="noStrike">
                          <a:effectLst/>
                          <a:latin typeface="Calibri" panose="020F0502020204030204" pitchFamily="34" charset="0"/>
                        </a:rPr>
                        <a:t>Mining</a:t>
                      </a:r>
                    </a:p>
                  </a:txBody>
                  <a:tcPr marL="6350" marR="6350" marT="6350" marB="0" anchor="ctr"/>
                </a:tc>
                <a:extLst>
                  <a:ext uri="{0D108BD9-81ED-4DB2-BD59-A6C34878D82A}">
                    <a16:rowId xmlns:a16="http://schemas.microsoft.com/office/drawing/2014/main" val="3635779712"/>
                  </a:ext>
                </a:extLst>
              </a:tr>
              <a:tr h="110654">
                <a:tc>
                  <a:txBody>
                    <a:bodyPr/>
                    <a:lstStyle/>
                    <a:p>
                      <a:pPr algn="r" fontAlgn="b">
                        <a:buNone/>
                      </a:pPr>
                      <a:r>
                        <a:rPr lang="en-US" sz="700" b="0" i="0" u="none" strike="noStrike">
                          <a:effectLst/>
                          <a:latin typeface="Calibri" panose="020F0502020204030204" pitchFamily="34" charset="0"/>
                        </a:rPr>
                        <a:t>42</a:t>
                      </a:r>
                    </a:p>
                  </a:txBody>
                  <a:tcPr marL="6350" marR="6350" marT="6350" marB="0" anchor="ctr"/>
                </a:tc>
                <a:tc>
                  <a:txBody>
                    <a:bodyPr/>
                    <a:lstStyle/>
                    <a:p>
                      <a:pPr algn="l" fontAlgn="b">
                        <a:buNone/>
                      </a:pPr>
                      <a:r>
                        <a:rPr lang="en-US" sz="700" b="0" i="0" u="none" strike="noStrike">
                          <a:effectLst/>
                          <a:latin typeface="Calibri" panose="020F0502020204030204" pitchFamily="34" charset="0"/>
                        </a:rPr>
                        <a:t>Oxano Muntanda</a:t>
                      </a:r>
                    </a:p>
                  </a:txBody>
                  <a:tcPr marL="6350" marR="6350" marT="6350" marB="0" anchor="ctr"/>
                </a:tc>
                <a:tc>
                  <a:txBody>
                    <a:bodyPr/>
                    <a:lstStyle/>
                    <a:p>
                      <a:pPr algn="r" fontAlgn="b">
                        <a:buNone/>
                      </a:pPr>
                      <a:r>
                        <a:rPr lang="en-US" sz="700" b="0" i="0" u="none" strike="noStrike">
                          <a:effectLst/>
                          <a:latin typeface="Calibri" panose="020F0502020204030204" pitchFamily="34" charset="0"/>
                        </a:rPr>
                        <a:t>48.53</a:t>
                      </a:r>
                    </a:p>
                  </a:txBody>
                  <a:tcPr marL="6350" marR="6350" marT="6350" marB="0" anchor="ctr"/>
                </a:tc>
                <a:tc>
                  <a:txBody>
                    <a:bodyPr/>
                    <a:lstStyle/>
                    <a:p>
                      <a:pPr algn="l" fontAlgn="b">
                        <a:buNone/>
                      </a:pPr>
                      <a:r>
                        <a:rPr lang="en-US" sz="700" b="0" i="0" u="none" strike="noStrike">
                          <a:effectLst/>
                          <a:latin typeface="Calibri" panose="020F0502020204030204" pitchFamily="34" charset="0"/>
                        </a:rPr>
                        <a:t>             444.23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9.12 </a:t>
                      </a:r>
                    </a:p>
                  </a:txBody>
                  <a:tcPr marL="6350" marR="6350" marT="6350" marB="0" anchor="ctr"/>
                </a:tc>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tc>
                <a:extLst>
                  <a:ext uri="{0D108BD9-81ED-4DB2-BD59-A6C34878D82A}">
                    <a16:rowId xmlns:a16="http://schemas.microsoft.com/office/drawing/2014/main" val="896003020"/>
                  </a:ext>
                </a:extLst>
              </a:tr>
              <a:tr h="110654">
                <a:tc>
                  <a:txBody>
                    <a:bodyPr/>
                    <a:lstStyle/>
                    <a:p>
                      <a:pPr algn="r" fontAlgn="b">
                        <a:buNone/>
                      </a:pPr>
                      <a:r>
                        <a:rPr lang="en-US" sz="700" b="0" i="0" u="none" strike="noStrike">
                          <a:effectLst/>
                          <a:latin typeface="Calibri" panose="020F0502020204030204" pitchFamily="34" charset="0"/>
                        </a:rPr>
                        <a:t>43</a:t>
                      </a:r>
                    </a:p>
                  </a:txBody>
                  <a:tcPr marL="6350" marR="6350" marT="6350" marB="0" anchor="ctr"/>
                </a:tc>
                <a:tc>
                  <a:txBody>
                    <a:bodyPr/>
                    <a:lstStyle/>
                    <a:p>
                      <a:pPr algn="l" fontAlgn="b">
                        <a:buNone/>
                      </a:pPr>
                      <a:r>
                        <a:rPr lang="en-US" sz="700" b="0" i="0" u="none" strike="noStrike">
                          <a:effectLst/>
                          <a:latin typeface="Calibri" panose="020F0502020204030204" pitchFamily="34" charset="0"/>
                        </a:rPr>
                        <a:t>Edgard Finkidi</a:t>
                      </a:r>
                    </a:p>
                  </a:txBody>
                  <a:tcPr marL="6350" marR="6350" marT="6350" marB="0" anchor="ctr"/>
                </a:tc>
                <a:tc>
                  <a:txBody>
                    <a:bodyPr/>
                    <a:lstStyle/>
                    <a:p>
                      <a:pPr algn="r" fontAlgn="b">
                        <a:buNone/>
                      </a:pPr>
                      <a:r>
                        <a:rPr lang="en-US" sz="700" b="0" i="0" u="none" strike="noStrike">
                          <a:effectLst/>
                          <a:latin typeface="Calibri" panose="020F0502020204030204" pitchFamily="34" charset="0"/>
                        </a:rPr>
                        <a:t>7.64</a:t>
                      </a:r>
                    </a:p>
                  </a:txBody>
                  <a:tcPr marL="6350" marR="6350" marT="6350" marB="0" anchor="ctr"/>
                </a:tc>
                <a:tc>
                  <a:txBody>
                    <a:bodyPr/>
                    <a:lstStyle/>
                    <a:p>
                      <a:pPr algn="l" fontAlgn="b">
                        <a:buNone/>
                      </a:pPr>
                      <a:r>
                        <a:rPr lang="en-US" sz="700" b="0" i="0" u="none" strike="noStrike">
                          <a:effectLst/>
                          <a:latin typeface="Calibri" panose="020F0502020204030204" pitchFamily="34" charset="0"/>
                        </a:rPr>
                        <a:t>               34.62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9.00 </a:t>
                      </a:r>
                    </a:p>
                  </a:txBody>
                  <a:tcPr marL="6350" marR="6350" marT="6350" marB="0" anchor="ctr"/>
                </a:tc>
                <a:tc>
                  <a:txBody>
                    <a:bodyPr/>
                    <a:lstStyle/>
                    <a:p>
                      <a:pPr algn="l" fontAlgn="b">
                        <a:buNone/>
                      </a:pPr>
                      <a:r>
                        <a:rPr lang="en-US" sz="700" b="0" i="0" u="none" strike="noStrike">
                          <a:effectLst/>
                          <a:latin typeface="Calibri" panose="020F0502020204030204" pitchFamily="34" charset="0"/>
                        </a:rPr>
                        <a:t>Quality Assurance</a:t>
                      </a:r>
                    </a:p>
                  </a:txBody>
                  <a:tcPr marL="6350" marR="6350" marT="6350" marB="0" anchor="ctr"/>
                </a:tc>
                <a:extLst>
                  <a:ext uri="{0D108BD9-81ED-4DB2-BD59-A6C34878D82A}">
                    <a16:rowId xmlns:a16="http://schemas.microsoft.com/office/drawing/2014/main" val="2695371708"/>
                  </a:ext>
                </a:extLst>
              </a:tr>
              <a:tr h="200275">
                <a:tc>
                  <a:txBody>
                    <a:bodyPr/>
                    <a:lstStyle/>
                    <a:p>
                      <a:pPr algn="r" fontAlgn="b">
                        <a:buNone/>
                      </a:pPr>
                      <a:r>
                        <a:rPr lang="en-US" sz="700" b="0" i="0" u="none" strike="noStrike">
                          <a:effectLst/>
                          <a:latin typeface="Calibri" panose="020F0502020204030204" pitchFamily="34" charset="0"/>
                        </a:rPr>
                        <a:t>44</a:t>
                      </a:r>
                    </a:p>
                  </a:txBody>
                  <a:tcPr marL="6350" marR="6350" marT="6350" marB="0" anchor="ctr"/>
                </a:tc>
                <a:tc>
                  <a:txBody>
                    <a:bodyPr/>
                    <a:lstStyle/>
                    <a:p>
                      <a:pPr algn="l" fontAlgn="b">
                        <a:buNone/>
                      </a:pPr>
                      <a:r>
                        <a:rPr lang="en-US" sz="700" b="0" i="0" u="none" strike="noStrike">
                          <a:effectLst/>
                          <a:latin typeface="Calibri" panose="020F0502020204030204" pitchFamily="34" charset="0"/>
                        </a:rPr>
                        <a:t>Olivier Lutonadio</a:t>
                      </a:r>
                    </a:p>
                  </a:txBody>
                  <a:tcPr marL="6350" marR="6350" marT="6350" marB="0" anchor="ctr"/>
                </a:tc>
                <a:tc>
                  <a:txBody>
                    <a:bodyPr/>
                    <a:lstStyle/>
                    <a:p>
                      <a:pPr algn="r" fontAlgn="b">
                        <a:buNone/>
                      </a:pPr>
                      <a:r>
                        <a:rPr lang="en-US" sz="700" b="0" i="0" u="none" strike="noStrike">
                          <a:effectLst/>
                          <a:latin typeface="Calibri" panose="020F0502020204030204" pitchFamily="34" charset="0"/>
                        </a:rPr>
                        <a:t>8</a:t>
                      </a:r>
                    </a:p>
                  </a:txBody>
                  <a:tcPr marL="6350" marR="6350" marT="6350" marB="0" anchor="ctr"/>
                </a:tc>
                <a:tc>
                  <a:txBody>
                    <a:bodyPr/>
                    <a:lstStyle/>
                    <a:p>
                      <a:pPr algn="l" fontAlgn="b">
                        <a:buNone/>
                      </a:pPr>
                      <a:r>
                        <a:rPr lang="en-US" sz="700" b="0" i="0" u="none" strike="noStrike">
                          <a:effectLst/>
                          <a:latin typeface="Calibri" panose="020F0502020204030204" pitchFamily="34" charset="0"/>
                        </a:rPr>
                        <a:t>               77.26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6.83 </a:t>
                      </a:r>
                    </a:p>
                  </a:txBody>
                  <a:tcPr marL="6350" marR="6350" marT="6350" marB="0" anchor="ct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tc>
                <a:extLst>
                  <a:ext uri="{0D108BD9-81ED-4DB2-BD59-A6C34878D82A}">
                    <a16:rowId xmlns:a16="http://schemas.microsoft.com/office/drawing/2014/main" val="1081548045"/>
                  </a:ext>
                </a:extLst>
              </a:tr>
              <a:tr h="110654">
                <a:tc>
                  <a:txBody>
                    <a:bodyPr/>
                    <a:lstStyle/>
                    <a:p>
                      <a:pPr algn="r" fontAlgn="b">
                        <a:buNone/>
                      </a:pPr>
                      <a:r>
                        <a:rPr lang="en-US" sz="700" b="0" i="0" u="none" strike="noStrike">
                          <a:effectLst/>
                          <a:latin typeface="Calibri" panose="020F0502020204030204" pitchFamily="34" charset="0"/>
                        </a:rPr>
                        <a:t>45</a:t>
                      </a:r>
                    </a:p>
                  </a:txBody>
                  <a:tcPr marL="6350" marR="6350" marT="6350" marB="0" anchor="ctr"/>
                </a:tc>
                <a:tc>
                  <a:txBody>
                    <a:bodyPr/>
                    <a:lstStyle/>
                    <a:p>
                      <a:pPr algn="l" fontAlgn="b">
                        <a:buNone/>
                      </a:pPr>
                      <a:r>
                        <a:rPr lang="en-US" sz="700" b="0" i="0" u="none" strike="noStrike">
                          <a:effectLst/>
                          <a:latin typeface="Calibri" panose="020F0502020204030204" pitchFamily="34" charset="0"/>
                        </a:rPr>
                        <a:t>Andre Mbangi</a:t>
                      </a:r>
                    </a:p>
                  </a:txBody>
                  <a:tcPr marL="6350" marR="6350" marT="6350" marB="0" anchor="ctr"/>
                </a:tc>
                <a:tc>
                  <a:txBody>
                    <a:bodyPr/>
                    <a:lstStyle/>
                    <a:p>
                      <a:pPr algn="r" fontAlgn="b">
                        <a:buNone/>
                      </a:pPr>
                      <a:r>
                        <a:rPr lang="en-US" sz="700" b="0" i="0" u="none" strike="noStrike">
                          <a:effectLst/>
                          <a:latin typeface="Calibri" panose="020F0502020204030204" pitchFamily="34" charset="0"/>
                        </a:rPr>
                        <a:t>3.24</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13.18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6.75 </a:t>
                      </a:r>
                    </a:p>
                  </a:txBody>
                  <a:tcPr marL="6350" marR="6350" marT="6350" marB="0" anchor="ctr"/>
                </a:tc>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tc>
                <a:extLst>
                  <a:ext uri="{0D108BD9-81ED-4DB2-BD59-A6C34878D82A}">
                    <a16:rowId xmlns:a16="http://schemas.microsoft.com/office/drawing/2014/main" val="802353136"/>
                  </a:ext>
                </a:extLst>
              </a:tr>
              <a:tr h="110654">
                <a:tc>
                  <a:txBody>
                    <a:bodyPr/>
                    <a:lstStyle/>
                    <a:p>
                      <a:pPr algn="r" fontAlgn="b">
                        <a:buNone/>
                      </a:pPr>
                      <a:r>
                        <a:rPr lang="en-US" sz="700" b="0" i="0" u="none" strike="noStrike">
                          <a:effectLst/>
                          <a:latin typeface="Calibri" panose="020F0502020204030204" pitchFamily="34" charset="0"/>
                        </a:rPr>
                        <a:t>46</a:t>
                      </a:r>
                    </a:p>
                  </a:txBody>
                  <a:tcPr marL="6350" marR="6350" marT="6350" marB="0" anchor="ctr"/>
                </a:tc>
                <a:tc>
                  <a:txBody>
                    <a:bodyPr/>
                    <a:lstStyle/>
                    <a:p>
                      <a:pPr algn="l" fontAlgn="b">
                        <a:buNone/>
                      </a:pPr>
                      <a:r>
                        <a:rPr lang="en-US" sz="700" b="0" i="0" u="none" strike="noStrike">
                          <a:effectLst/>
                          <a:latin typeface="Calibri" panose="020F0502020204030204" pitchFamily="34" charset="0"/>
                        </a:rPr>
                        <a:t>Platini Dunga</a:t>
                      </a:r>
                    </a:p>
                  </a:txBody>
                  <a:tcPr marL="6350" marR="6350" marT="6350" marB="0" anchor="ctr"/>
                </a:tc>
                <a:tc>
                  <a:txBody>
                    <a:bodyPr/>
                    <a:lstStyle/>
                    <a:p>
                      <a:pPr algn="r" fontAlgn="b">
                        <a:buNone/>
                      </a:pPr>
                      <a:r>
                        <a:rPr lang="en-US" sz="700" b="0" i="0" u="none" strike="noStrike">
                          <a:effectLst/>
                          <a:latin typeface="Calibri" panose="020F0502020204030204" pitchFamily="34" charset="0"/>
                        </a:rPr>
                        <a:t>6.05</a:t>
                      </a:r>
                    </a:p>
                  </a:txBody>
                  <a:tcPr marL="6350" marR="6350" marT="6350" marB="0" anchor="ctr"/>
                </a:tc>
                <a:tc>
                  <a:txBody>
                    <a:bodyPr/>
                    <a:lstStyle/>
                    <a:p>
                      <a:pPr algn="l" fontAlgn="b">
                        <a:buNone/>
                      </a:pPr>
                      <a:r>
                        <a:rPr lang="en-US" sz="700" b="0" i="0" u="none" strike="noStrike">
                          <a:effectLst/>
                          <a:latin typeface="Calibri" panose="020F0502020204030204" pitchFamily="34" charset="0"/>
                        </a:rPr>
                        <a:t>               44.95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5.83 </a:t>
                      </a:r>
                    </a:p>
                  </a:txBody>
                  <a:tcPr marL="6350" marR="6350" marT="6350" marB="0" anchor="ctr"/>
                </a:tc>
                <a:tc>
                  <a:txBody>
                    <a:bodyPr/>
                    <a:lstStyle/>
                    <a:p>
                      <a:pPr algn="l" fontAlgn="b">
                        <a:buNone/>
                      </a:pPr>
                      <a:r>
                        <a:rPr lang="en-US" sz="700" b="0" i="0" u="none" strike="noStrike">
                          <a:effectLst/>
                          <a:latin typeface="Calibri" panose="020F0502020204030204" pitchFamily="34" charset="0"/>
                        </a:rPr>
                        <a:t>Production</a:t>
                      </a:r>
                    </a:p>
                  </a:txBody>
                  <a:tcPr marL="6350" marR="6350" marT="6350" marB="0" anchor="ctr"/>
                </a:tc>
                <a:extLst>
                  <a:ext uri="{0D108BD9-81ED-4DB2-BD59-A6C34878D82A}">
                    <a16:rowId xmlns:a16="http://schemas.microsoft.com/office/drawing/2014/main" val="1925400348"/>
                  </a:ext>
                </a:extLst>
              </a:tr>
              <a:tr h="110654">
                <a:tc>
                  <a:txBody>
                    <a:bodyPr/>
                    <a:lstStyle/>
                    <a:p>
                      <a:pPr algn="r" fontAlgn="b">
                        <a:buNone/>
                      </a:pPr>
                      <a:r>
                        <a:rPr lang="en-US" sz="700" b="0" i="0" u="none" strike="noStrike">
                          <a:effectLst/>
                          <a:latin typeface="Calibri" panose="020F0502020204030204" pitchFamily="34" charset="0"/>
                        </a:rPr>
                        <a:t>47</a:t>
                      </a:r>
                    </a:p>
                  </a:txBody>
                  <a:tcPr marL="6350" marR="6350" marT="6350" marB="0" anchor="ctr"/>
                </a:tc>
                <a:tc>
                  <a:txBody>
                    <a:bodyPr/>
                    <a:lstStyle/>
                    <a:p>
                      <a:pPr algn="l" fontAlgn="b">
                        <a:buNone/>
                      </a:pPr>
                      <a:r>
                        <a:rPr lang="en-US" sz="700" b="0" i="0" u="none" strike="noStrike">
                          <a:effectLst/>
                          <a:latin typeface="Calibri" panose="020F0502020204030204" pitchFamily="34" charset="0"/>
                        </a:rPr>
                        <a:t>Declairck Nsilulu Ngimbi</a:t>
                      </a:r>
                    </a:p>
                  </a:txBody>
                  <a:tcPr marL="6350" marR="6350" marT="6350" marB="0" anchor="ctr"/>
                </a:tc>
                <a:tc>
                  <a:txBody>
                    <a:bodyPr/>
                    <a:lstStyle/>
                    <a:p>
                      <a:pPr algn="r" fontAlgn="b">
                        <a:buNone/>
                      </a:pPr>
                      <a:r>
                        <a:rPr lang="en-US" sz="700" b="0" i="0" u="none" strike="noStrike">
                          <a:effectLst/>
                          <a:latin typeface="Calibri" panose="020F0502020204030204" pitchFamily="34" charset="0"/>
                        </a:rPr>
                        <a:t>69.66</a:t>
                      </a:r>
                    </a:p>
                  </a:txBody>
                  <a:tcPr marL="6350" marR="6350" marT="6350" marB="0" anchor="ctr"/>
                </a:tc>
                <a:tc>
                  <a:txBody>
                    <a:bodyPr/>
                    <a:lstStyle/>
                    <a:p>
                      <a:pPr algn="l" fontAlgn="b">
                        <a:buNone/>
                      </a:pPr>
                      <a:r>
                        <a:rPr lang="en-US" sz="700" b="0" i="0" u="none" strike="noStrike">
                          <a:effectLst/>
                          <a:latin typeface="Calibri" panose="020F0502020204030204" pitchFamily="34" charset="0"/>
                        </a:rPr>
                        <a:t>             245.73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5.38 </a:t>
                      </a:r>
                    </a:p>
                  </a:txBody>
                  <a:tcPr marL="6350" marR="6350" marT="6350" marB="0" anchor="ctr"/>
                </a:tc>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tc>
                <a:extLst>
                  <a:ext uri="{0D108BD9-81ED-4DB2-BD59-A6C34878D82A}">
                    <a16:rowId xmlns:a16="http://schemas.microsoft.com/office/drawing/2014/main" val="4249603164"/>
                  </a:ext>
                </a:extLst>
              </a:tr>
              <a:tr h="110654">
                <a:tc>
                  <a:txBody>
                    <a:bodyPr/>
                    <a:lstStyle/>
                    <a:p>
                      <a:pPr algn="r" fontAlgn="b">
                        <a:buNone/>
                      </a:pPr>
                      <a:r>
                        <a:rPr lang="en-US" sz="700" b="0" i="0" u="none" strike="noStrike">
                          <a:effectLst/>
                          <a:latin typeface="Calibri" panose="020F0502020204030204" pitchFamily="34" charset="0"/>
                        </a:rPr>
                        <a:t>48</a:t>
                      </a:r>
                    </a:p>
                  </a:txBody>
                  <a:tcPr marL="6350" marR="6350" marT="6350" marB="0" anchor="ctr"/>
                </a:tc>
                <a:tc>
                  <a:txBody>
                    <a:bodyPr/>
                    <a:lstStyle/>
                    <a:p>
                      <a:pPr algn="l" fontAlgn="b">
                        <a:buNone/>
                      </a:pPr>
                      <a:r>
                        <a:rPr lang="en-US" sz="700" b="0" i="0" u="none" strike="noStrike">
                          <a:effectLst/>
                          <a:latin typeface="Calibri" panose="020F0502020204030204" pitchFamily="34" charset="0"/>
                        </a:rPr>
                        <a:t>Blanchard Muzo</a:t>
                      </a:r>
                    </a:p>
                  </a:txBody>
                  <a:tcPr marL="6350" marR="6350" marT="6350" marB="0" anchor="ctr"/>
                </a:tc>
                <a:tc>
                  <a:txBody>
                    <a:bodyPr/>
                    <a:lstStyle/>
                    <a:p>
                      <a:pPr algn="r" fontAlgn="b">
                        <a:buNone/>
                      </a:pPr>
                      <a:r>
                        <a:rPr lang="en-US" sz="700" b="0" i="0" u="none" strike="noStrike">
                          <a:effectLst/>
                          <a:latin typeface="Calibri" panose="020F0502020204030204" pitchFamily="34" charset="0"/>
                        </a:rPr>
                        <a:t>42.9</a:t>
                      </a:r>
                    </a:p>
                  </a:txBody>
                  <a:tcPr marL="6350" marR="6350" marT="6350" marB="0" anchor="ctr"/>
                </a:tc>
                <a:tc>
                  <a:txBody>
                    <a:bodyPr/>
                    <a:lstStyle/>
                    <a:p>
                      <a:pPr algn="l" fontAlgn="b">
                        <a:buNone/>
                      </a:pPr>
                      <a:r>
                        <a:rPr lang="en-US" sz="700" b="0" i="0" u="none" strike="noStrike">
                          <a:effectLst/>
                          <a:latin typeface="Calibri" panose="020F0502020204030204" pitchFamily="34" charset="0"/>
                        </a:rPr>
                        <a:t>             486.67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3.49 </a:t>
                      </a:r>
                    </a:p>
                  </a:txBody>
                  <a:tcPr marL="6350" marR="6350" marT="6350" marB="0" anchor="ctr"/>
                </a:tc>
                <a:tc>
                  <a:txBody>
                    <a:bodyPr/>
                    <a:lstStyle/>
                    <a:p>
                      <a:pPr algn="l" fontAlgn="b">
                        <a:buNone/>
                      </a:pPr>
                      <a:r>
                        <a:rPr lang="en-US" sz="700" b="0" i="0" u="none" strike="noStrike">
                          <a:effectLst/>
                          <a:latin typeface="Calibri" panose="020F0502020204030204" pitchFamily="34" charset="0"/>
                        </a:rPr>
                        <a:t>Engineering</a:t>
                      </a:r>
                    </a:p>
                  </a:txBody>
                  <a:tcPr marL="6350" marR="6350" marT="6350" marB="0" anchor="ctr"/>
                </a:tc>
                <a:extLst>
                  <a:ext uri="{0D108BD9-81ED-4DB2-BD59-A6C34878D82A}">
                    <a16:rowId xmlns:a16="http://schemas.microsoft.com/office/drawing/2014/main" val="895291496"/>
                  </a:ext>
                </a:extLst>
              </a:tr>
              <a:tr h="110654">
                <a:tc>
                  <a:txBody>
                    <a:bodyPr/>
                    <a:lstStyle/>
                    <a:p>
                      <a:pPr algn="r" fontAlgn="b">
                        <a:buNone/>
                      </a:pPr>
                      <a:r>
                        <a:rPr lang="en-US" sz="700" b="0" i="0" u="none" strike="noStrike">
                          <a:effectLst/>
                          <a:latin typeface="Calibri" panose="020F0502020204030204" pitchFamily="34" charset="0"/>
                        </a:rPr>
                        <a:t>49</a:t>
                      </a:r>
                    </a:p>
                  </a:txBody>
                  <a:tcPr marL="6350" marR="6350" marT="6350" marB="0" anchor="ctr"/>
                </a:tc>
                <a:tc>
                  <a:txBody>
                    <a:bodyPr/>
                    <a:lstStyle/>
                    <a:p>
                      <a:pPr algn="l" fontAlgn="b">
                        <a:buNone/>
                      </a:pPr>
                      <a:r>
                        <a:rPr lang="en-US" sz="700" b="0" i="0" u="none" strike="noStrike">
                          <a:effectLst/>
                          <a:latin typeface="Calibri" panose="020F0502020204030204" pitchFamily="34" charset="0"/>
                        </a:rPr>
                        <a:t>Dieu-Merci Ntunga</a:t>
                      </a:r>
                    </a:p>
                  </a:txBody>
                  <a:tcPr marL="6350" marR="6350" marT="6350" marB="0" anchor="ctr"/>
                </a:tc>
                <a:tc>
                  <a:txBody>
                    <a:bodyPr/>
                    <a:lstStyle/>
                    <a:p>
                      <a:pPr algn="r" fontAlgn="b">
                        <a:buNone/>
                      </a:pPr>
                      <a:r>
                        <a:rPr lang="en-US" sz="700" b="0" i="0" u="none" strike="noStrike">
                          <a:effectLst/>
                          <a:latin typeface="Calibri" panose="020F0502020204030204" pitchFamily="34" charset="0"/>
                        </a:rPr>
                        <a:t>18.17</a:t>
                      </a:r>
                    </a:p>
                  </a:txBody>
                  <a:tcPr marL="6350" marR="6350" marT="6350" marB="0" anchor="ctr"/>
                </a:tc>
                <a:tc>
                  <a:txBody>
                    <a:bodyPr/>
                    <a:lstStyle/>
                    <a:p>
                      <a:pPr algn="l" fontAlgn="b">
                        <a:buNone/>
                      </a:pPr>
                      <a:r>
                        <a:rPr lang="en-US" sz="700" b="0" i="0" u="none" strike="noStrike">
                          <a:effectLst/>
                          <a:latin typeface="Calibri" panose="020F0502020204030204" pitchFamily="34" charset="0"/>
                        </a:rPr>
                        <a:t>             162.08 </a:t>
                      </a:r>
                    </a:p>
                  </a:txBody>
                  <a:tcPr marL="6350" marR="6350" marT="6350" marB="0" anchor="ctr"/>
                </a:tc>
                <a:tc>
                  <a:txBody>
                    <a:bodyPr/>
                    <a:lstStyle/>
                    <a:p>
                      <a:pPr algn="l" fontAlgn="b">
                        <a:buNone/>
                      </a:pPr>
                      <a:r>
                        <a:rPr lang="en-US" sz="700" b="0" i="0" u="none" strike="noStrike">
                          <a:effectLst/>
                          <a:latin typeface="Calibri" panose="020F0502020204030204" pitchFamily="34" charset="0"/>
                        </a:rPr>
                        <a:t>               2.59 </a:t>
                      </a:r>
                    </a:p>
                  </a:txBody>
                  <a:tcPr marL="6350" marR="6350" marT="6350" marB="0" anchor="ctr"/>
                </a:tc>
                <a:tc>
                  <a:txBody>
                    <a:bodyPr/>
                    <a:lstStyle/>
                    <a:p>
                      <a:pPr algn="l" fontAlgn="b">
                        <a:buNone/>
                      </a:pPr>
                      <a:r>
                        <a:rPr lang="en-US" sz="700" b="0" i="0" u="none" strike="noStrike" dirty="0">
                          <a:effectLst/>
                          <a:latin typeface="Calibri" panose="020F0502020204030204" pitchFamily="34" charset="0"/>
                        </a:rPr>
                        <a:t>Engineering</a:t>
                      </a:r>
                    </a:p>
                  </a:txBody>
                  <a:tcPr marL="6350" marR="6350" marT="6350" marB="0" anchor="ctr"/>
                </a:tc>
                <a:extLst>
                  <a:ext uri="{0D108BD9-81ED-4DB2-BD59-A6C34878D82A}">
                    <a16:rowId xmlns:a16="http://schemas.microsoft.com/office/drawing/2014/main" val="1500078341"/>
                  </a:ext>
                </a:extLst>
              </a:tr>
            </a:tbl>
          </a:graphicData>
        </a:graphic>
      </p:graphicFrame>
    </p:spTree>
    <p:extLst>
      <p:ext uri="{BB962C8B-B14F-4D97-AF65-F5344CB8AC3E}">
        <p14:creationId xmlns:p14="http://schemas.microsoft.com/office/powerpoint/2010/main" val="2495103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A1352F17-CB5A-187A-F86D-427835A87C8D}"/>
              </a:ext>
            </a:extLst>
          </p:cNvPr>
          <p:cNvGraphicFramePr>
            <a:graphicFrameLocks noGrp="1"/>
          </p:cNvGraphicFramePr>
          <p:nvPr>
            <p:extLst>
              <p:ext uri="{D42A27DB-BD31-4B8C-83A1-F6EECF244321}">
                <p14:modId xmlns:p14="http://schemas.microsoft.com/office/powerpoint/2010/main" val="669566646"/>
              </p:ext>
            </p:extLst>
          </p:nvPr>
        </p:nvGraphicFramePr>
        <p:xfrm>
          <a:off x="450007" y="616681"/>
          <a:ext cx="11592466" cy="2080895"/>
        </p:xfrm>
        <a:graphic>
          <a:graphicData uri="http://schemas.openxmlformats.org/drawingml/2006/table">
            <a:tbl>
              <a:tblPr firstRow="1" firstCol="1" bandRow="1"/>
              <a:tblGrid>
                <a:gridCol w="1054154">
                  <a:extLst>
                    <a:ext uri="{9D8B030D-6E8A-4147-A177-3AD203B41FA5}">
                      <a16:colId xmlns:a16="http://schemas.microsoft.com/office/drawing/2014/main" val="1139382827"/>
                    </a:ext>
                  </a:extLst>
                </a:gridCol>
                <a:gridCol w="650915">
                  <a:extLst>
                    <a:ext uri="{9D8B030D-6E8A-4147-A177-3AD203B41FA5}">
                      <a16:colId xmlns:a16="http://schemas.microsoft.com/office/drawing/2014/main" val="755313647"/>
                    </a:ext>
                  </a:extLst>
                </a:gridCol>
                <a:gridCol w="582705">
                  <a:extLst>
                    <a:ext uri="{9D8B030D-6E8A-4147-A177-3AD203B41FA5}">
                      <a16:colId xmlns:a16="http://schemas.microsoft.com/office/drawing/2014/main" val="1143850189"/>
                    </a:ext>
                  </a:extLst>
                </a:gridCol>
                <a:gridCol w="582705">
                  <a:extLst>
                    <a:ext uri="{9D8B030D-6E8A-4147-A177-3AD203B41FA5}">
                      <a16:colId xmlns:a16="http://schemas.microsoft.com/office/drawing/2014/main" val="3339244156"/>
                    </a:ext>
                  </a:extLst>
                </a:gridCol>
                <a:gridCol w="700091">
                  <a:extLst>
                    <a:ext uri="{9D8B030D-6E8A-4147-A177-3AD203B41FA5}">
                      <a16:colId xmlns:a16="http://schemas.microsoft.com/office/drawing/2014/main" val="2784203244"/>
                    </a:ext>
                  </a:extLst>
                </a:gridCol>
                <a:gridCol w="610991">
                  <a:extLst>
                    <a:ext uri="{9D8B030D-6E8A-4147-A177-3AD203B41FA5}">
                      <a16:colId xmlns:a16="http://schemas.microsoft.com/office/drawing/2014/main" val="187446532"/>
                    </a:ext>
                  </a:extLst>
                </a:gridCol>
                <a:gridCol w="582705">
                  <a:extLst>
                    <a:ext uri="{9D8B030D-6E8A-4147-A177-3AD203B41FA5}">
                      <a16:colId xmlns:a16="http://schemas.microsoft.com/office/drawing/2014/main" val="894957097"/>
                    </a:ext>
                  </a:extLst>
                </a:gridCol>
                <a:gridCol w="675473">
                  <a:extLst>
                    <a:ext uri="{9D8B030D-6E8A-4147-A177-3AD203B41FA5}">
                      <a16:colId xmlns:a16="http://schemas.microsoft.com/office/drawing/2014/main" val="362513042"/>
                    </a:ext>
                  </a:extLst>
                </a:gridCol>
                <a:gridCol w="664949">
                  <a:extLst>
                    <a:ext uri="{9D8B030D-6E8A-4147-A177-3AD203B41FA5}">
                      <a16:colId xmlns:a16="http://schemas.microsoft.com/office/drawing/2014/main" val="4288945845"/>
                    </a:ext>
                  </a:extLst>
                </a:gridCol>
                <a:gridCol w="664949">
                  <a:extLst>
                    <a:ext uri="{9D8B030D-6E8A-4147-A177-3AD203B41FA5}">
                      <a16:colId xmlns:a16="http://schemas.microsoft.com/office/drawing/2014/main" val="511038007"/>
                    </a:ext>
                  </a:extLst>
                </a:gridCol>
                <a:gridCol w="682332">
                  <a:extLst>
                    <a:ext uri="{9D8B030D-6E8A-4147-A177-3AD203B41FA5}">
                      <a16:colId xmlns:a16="http://schemas.microsoft.com/office/drawing/2014/main" val="1790287352"/>
                    </a:ext>
                  </a:extLst>
                </a:gridCol>
                <a:gridCol w="610991">
                  <a:extLst>
                    <a:ext uri="{9D8B030D-6E8A-4147-A177-3AD203B41FA5}">
                      <a16:colId xmlns:a16="http://schemas.microsoft.com/office/drawing/2014/main" val="813054166"/>
                    </a:ext>
                  </a:extLst>
                </a:gridCol>
                <a:gridCol w="679386">
                  <a:extLst>
                    <a:ext uri="{9D8B030D-6E8A-4147-A177-3AD203B41FA5}">
                      <a16:colId xmlns:a16="http://schemas.microsoft.com/office/drawing/2014/main" val="777913738"/>
                    </a:ext>
                  </a:extLst>
                </a:gridCol>
                <a:gridCol w="867028">
                  <a:extLst>
                    <a:ext uri="{9D8B030D-6E8A-4147-A177-3AD203B41FA5}">
                      <a16:colId xmlns:a16="http://schemas.microsoft.com/office/drawing/2014/main" val="1893624906"/>
                    </a:ext>
                  </a:extLst>
                </a:gridCol>
                <a:gridCol w="1983092">
                  <a:extLst>
                    <a:ext uri="{9D8B030D-6E8A-4147-A177-3AD203B41FA5}">
                      <a16:colId xmlns:a16="http://schemas.microsoft.com/office/drawing/2014/main" val="2780768768"/>
                    </a:ext>
                  </a:extLst>
                </a:gridCol>
              </a:tblGrid>
              <a:tr h="330295">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Times New Roman" panose="02020603050405020304" pitchFamily="18" charset="0"/>
                        </a:rPr>
                        <a:t>Overtime -  Costs  (USD)</a:t>
                      </a:r>
                      <a:endParaRPr lang="en-US" sz="1200" dirty="0">
                        <a:solidFill>
                          <a:srgbClr val="FFFFFF"/>
                        </a:solidFill>
                        <a:effectLst/>
                        <a:highlight>
                          <a:srgbClr val="943634"/>
                        </a:highlight>
                        <a:latin typeface="Times New Roman" panose="02020603050405020304" pitchFamily="18" charset="0"/>
                        <a:ea typeface="Calibri" panose="020F0502020204030204" pitchFamily="34" charset="0"/>
                      </a:endParaRPr>
                    </a:p>
                  </a:txBody>
                  <a:tcPr marL="68580" marR="68580" marT="0" marB="0" anchor="ctr">
                    <a:lnL>
                      <a:noFill/>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MAR 26</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rPr>
                        <a:t>APR</a:t>
                      </a:r>
                      <a:endParaRPr lang="en-US" sz="1200" dirty="0">
                        <a:solidFill>
                          <a:srgbClr val="FFFFFF"/>
                        </a:solidFill>
                        <a:effectLst/>
                        <a:highlight>
                          <a:srgbClr val="943634"/>
                        </a:highlight>
                        <a:latin typeface="Times New Roman" panose="02020603050405020304" pitchFamily="18" charset="0"/>
                        <a:ea typeface="Calibri" panose="020F0502020204030204" pitchFamily="34" charset="0"/>
                      </a:endParaRP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MAY</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JUN</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JUL</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AUG</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SEP</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OCT</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NOV</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DEC</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JAN</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FEB</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rPr>
                        <a:t>MAR</a:t>
                      </a:r>
                    </a:p>
                  </a:txBody>
                  <a:tcPr marL="68580" marR="6858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marL="0" marR="8890" algn="ctr">
                        <a:spcBef>
                          <a:spcPts val="200"/>
                        </a:spcBef>
                        <a:spcAft>
                          <a:spcPts val="200"/>
                        </a:spcAft>
                      </a:pPr>
                      <a:r>
                        <a:rPr lang="en-US" sz="1000" kern="1000" cap="all" dirty="0">
                          <a:solidFill>
                            <a:srgbClr val="FFFFFF"/>
                          </a:solidFill>
                          <a:effectLst/>
                          <a:highlight>
                            <a:srgbClr val="943634"/>
                          </a:highlight>
                          <a:latin typeface="Calibri" panose="020F0502020204030204" pitchFamily="34" charset="0"/>
                          <a:ea typeface="Times New Roman" panose="02020603050405020304" pitchFamily="18" charset="0"/>
                          <a:cs typeface="+mn-cs"/>
                        </a:rPr>
                        <a:t>FY26 YTD (</a:t>
                      </a:r>
                      <a:r>
                        <a:rPr lang="en-US" sz="1000" kern="1000" cap="all" dirty="0" err="1">
                          <a:solidFill>
                            <a:srgbClr val="FFFFFF"/>
                          </a:solidFill>
                          <a:effectLst/>
                          <a:highlight>
                            <a:srgbClr val="943634"/>
                          </a:highlight>
                          <a:latin typeface="Calibri" panose="020F0502020204030204" pitchFamily="34" charset="0"/>
                          <a:ea typeface="Times New Roman" panose="02020603050405020304" pitchFamily="18" charset="0"/>
                          <a:cs typeface="+mn-cs"/>
                        </a:rPr>
                        <a:t>usd</a:t>
                      </a:r>
                      <a:r>
                        <a:rPr lang="en-US" sz="1000" kern="1000" cap="all" dirty="0">
                          <a:solidFill>
                            <a:srgbClr val="FFFFFF"/>
                          </a:solidFill>
                          <a:effectLst/>
                          <a:highlight>
                            <a:srgbClr val="943634"/>
                          </a:highlight>
                          <a:latin typeface="Calibri" panose="020F0502020204030204" pitchFamily="34" charset="0"/>
                          <a:ea typeface="Times New Roman" panose="02020603050405020304" pitchFamily="18" charset="0"/>
                          <a:cs typeface="+mn-cs"/>
                        </a:rPr>
                        <a:t>)</a:t>
                      </a:r>
                      <a:endParaRPr lang="en-US" sz="1000" kern="1000" cap="all" dirty="0">
                        <a:solidFill>
                          <a:srgbClr val="FFFFFF"/>
                        </a:solidFill>
                        <a:effectLst/>
                        <a:highlight>
                          <a:srgbClr val="943634"/>
                        </a:highlight>
                        <a:latin typeface="Calibri" panose="020F0502020204030204" pitchFamily="34" charset="0"/>
                        <a:ea typeface="Calibri" panose="020F0502020204030204" pitchFamily="34" charset="0"/>
                        <a:cs typeface="+mn-cs"/>
                      </a:endParaRPr>
                    </a:p>
                  </a:txBody>
                  <a:tcPr marL="68580" marR="68580" marT="0" marB="0" anchor="ctr">
                    <a:lnL w="19050" cap="flat" cmpd="sng" algn="ctr">
                      <a:solidFill>
                        <a:srgbClr val="FFFFFF"/>
                      </a:solidFill>
                      <a:prstDash val="solid"/>
                      <a:round/>
                      <a:headEnd type="none" w="med" len="med"/>
                      <a:tailEnd type="none" w="med" len="med"/>
                    </a:lnL>
                    <a:lnR>
                      <a:noFill/>
                    </a:lnR>
                    <a:lnT>
                      <a:noFill/>
                    </a:lnT>
                    <a:lnB w="19050" cap="flat" cmpd="sng" algn="ctr">
                      <a:solidFill>
                        <a:srgbClr val="FFFFFF"/>
                      </a:solidFill>
                      <a:prstDash val="solid"/>
                      <a:round/>
                      <a:headEnd type="none" w="med" len="med"/>
                      <a:tailEnd type="none" w="med" len="med"/>
                    </a:lnB>
                    <a:solidFill>
                      <a:srgbClr val="943634"/>
                    </a:solidFill>
                  </a:tcPr>
                </a:tc>
                <a:extLst>
                  <a:ext uri="{0D108BD9-81ED-4DB2-BD59-A6C34878D82A}">
                    <a16:rowId xmlns:a16="http://schemas.microsoft.com/office/drawing/2014/main" val="1265344585"/>
                  </a:ext>
                </a:extLst>
              </a:tr>
              <a:tr h="225230">
                <a:tc>
                  <a:txBody>
                    <a:bodyPr/>
                    <a:lstStyle/>
                    <a:p>
                      <a:pPr algn="l" fontAlgn="b"/>
                      <a:r>
                        <a:rPr lang="en-US" sz="1100" b="1" i="0" u="none" strike="noStrike" dirty="0">
                          <a:effectLst/>
                          <a:latin typeface="Calibri" panose="020F0502020204030204" pitchFamily="34" charset="0"/>
                        </a:rPr>
                        <a:t>CEC</a:t>
                      </a:r>
                    </a:p>
                  </a:txBody>
                  <a:tcPr marL="6350" marR="6350" marT="6350" marB="0" anchor="b">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r>
                        <a:rPr lang="en-US" sz="1100" b="0" i="0" u="none" strike="noStrike" dirty="0">
                          <a:effectLst/>
                          <a:latin typeface="Calibri" panose="020F0502020204030204" pitchFamily="34" charset="0"/>
                        </a:rPr>
                        <a:t>240.39</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240.39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1366078748"/>
                  </a:ext>
                </a:extLst>
              </a:tr>
              <a:tr h="225230">
                <a:tc>
                  <a:txBody>
                    <a:bodyPr/>
                    <a:lstStyle/>
                    <a:p>
                      <a:pPr algn="l" fontAlgn="b"/>
                      <a:r>
                        <a:rPr lang="en-US" sz="1100" b="1" i="0" u="none" strike="noStrike" dirty="0">
                          <a:effectLst/>
                          <a:latin typeface="Calibri" panose="020F0502020204030204" pitchFamily="34" charset="0"/>
                        </a:rPr>
                        <a:t>ENG</a:t>
                      </a:r>
                    </a:p>
                  </a:txBody>
                  <a:tcPr marL="6350" marR="6350" marT="6350" marB="0" anchor="b">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3,832.88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3,807.70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r>
                        <a:rPr lang="en-US" sz="1100" b="0" i="0" u="none" strike="noStrike" dirty="0">
                          <a:effectLst/>
                          <a:latin typeface="Calibri" panose="020F0502020204030204" pitchFamily="34" charset="0"/>
                        </a:rPr>
                        <a:t>5,326.22</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a:effectLst/>
                          <a:latin typeface="Calibri" panose="020F0502020204030204" pitchFamily="34" charset="0"/>
                        </a:rPr>
                        <a:t>    8,020.62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17,154.54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12959278"/>
                  </a:ext>
                </a:extLst>
              </a:tr>
              <a:tr h="225230">
                <a:tc>
                  <a:txBody>
                    <a:bodyPr/>
                    <a:lstStyle/>
                    <a:p>
                      <a:pPr algn="l" fontAlgn="b"/>
                      <a:r>
                        <a:rPr lang="en-US" sz="1100" b="1" i="0" u="none" strike="noStrike" dirty="0">
                          <a:effectLst/>
                          <a:latin typeface="Calibri" panose="020F0502020204030204" pitchFamily="34" charset="0"/>
                        </a:rPr>
                        <a:t>Mining</a:t>
                      </a:r>
                    </a:p>
                  </a:txBody>
                  <a:tcPr marL="6350" marR="6350" marT="6350" marB="0" anchor="b">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a:effectLst/>
                          <a:latin typeface="Calibri" panose="020F0502020204030204" pitchFamily="34" charset="0"/>
                        </a:rPr>
                        <a:t>                -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513.25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r>
                        <a:rPr lang="en-US" sz="1100" b="0" i="0" u="none" strike="noStrike" dirty="0">
                          <a:effectLst/>
                          <a:latin typeface="Calibri" panose="020F0502020204030204" pitchFamily="34" charset="0"/>
                        </a:rPr>
                        <a:t>402.22</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a:effectLst/>
                          <a:latin typeface="Calibri" panose="020F0502020204030204" pitchFamily="34" charset="0"/>
                        </a:rPr>
                        <a:t>       586.04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1,501.52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566772076"/>
                  </a:ext>
                </a:extLst>
              </a:tr>
              <a:tr h="225230">
                <a:tc>
                  <a:txBody>
                    <a:bodyPr/>
                    <a:lstStyle/>
                    <a:p>
                      <a:pPr algn="l" fontAlgn="b"/>
                      <a:r>
                        <a:rPr lang="en-US" sz="1100" b="1" i="0" u="none" strike="noStrike" dirty="0" err="1">
                          <a:effectLst/>
                          <a:latin typeface="Calibri" panose="020F0502020204030204" pitchFamily="34" charset="0"/>
                        </a:rPr>
                        <a:t>Opt</a:t>
                      </a:r>
                      <a:endParaRPr lang="en-US" sz="1100" b="1" i="0" u="none" strike="noStrike" dirty="0">
                        <a:effectLst/>
                        <a:latin typeface="Calibri" panose="020F0502020204030204" pitchFamily="34" charset="0"/>
                      </a:endParaRPr>
                    </a:p>
                  </a:txBody>
                  <a:tcPr marL="6350" marR="6350" marT="6350" marB="0" anchor="b">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r>
                        <a:rPr lang="en-US" sz="1100" b="0" i="0" u="none" strike="noStrike" dirty="0">
                          <a:effectLst/>
                          <a:latin typeface="Calibri" panose="020F0502020204030204" pitchFamily="34" charset="0"/>
                        </a:rPr>
                        <a:t>45.85</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a:effectLst/>
                          <a:latin typeface="Calibri" panose="020F0502020204030204" pitchFamily="34" charset="0"/>
                        </a:rPr>
                        <a:t>                -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45.85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4127131971"/>
                  </a:ext>
                </a:extLst>
              </a:tr>
              <a:tr h="225230">
                <a:tc>
                  <a:txBody>
                    <a:bodyPr/>
                    <a:lstStyle/>
                    <a:p>
                      <a:pPr algn="l" fontAlgn="b"/>
                      <a:r>
                        <a:rPr lang="en-US" sz="1100" b="1" i="0" u="none" strike="noStrike" dirty="0">
                          <a:effectLst/>
                          <a:latin typeface="Calibri" panose="020F0502020204030204" pitchFamily="34" charset="0"/>
                        </a:rPr>
                        <a:t>Prod</a:t>
                      </a:r>
                    </a:p>
                  </a:txBody>
                  <a:tcPr marL="6350" marR="6350" marT="6350" marB="0" anchor="b">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624.13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620.03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r>
                        <a:rPr lang="en-US" sz="1100" b="0" i="0" u="none" strike="noStrike" dirty="0">
                          <a:effectLst/>
                          <a:latin typeface="Calibri" panose="020F0502020204030204" pitchFamily="34" charset="0"/>
                        </a:rPr>
                        <a:t>2,296.81</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1,749.33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4,666.16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813952595"/>
                  </a:ext>
                </a:extLst>
              </a:tr>
              <a:tr h="225230">
                <a:tc>
                  <a:txBody>
                    <a:bodyPr/>
                    <a:lstStyle/>
                    <a:p>
                      <a:pPr algn="l" fontAlgn="b"/>
                      <a:r>
                        <a:rPr lang="en-US" sz="1100" b="1" i="0" u="none" strike="noStrike" dirty="0">
                          <a:effectLst/>
                          <a:latin typeface="Calibri" panose="020F0502020204030204" pitchFamily="34" charset="0"/>
                        </a:rPr>
                        <a:t>Log</a:t>
                      </a:r>
                    </a:p>
                  </a:txBody>
                  <a:tcPr marL="6350" marR="6350" marT="6350" marB="0" anchor="b">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642.17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637.96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r>
                        <a:rPr lang="en-US" sz="1100" b="0" i="0" u="none" strike="noStrike" dirty="0">
                          <a:effectLst/>
                          <a:latin typeface="Calibri" panose="020F0502020204030204" pitchFamily="34" charset="0"/>
                        </a:rPr>
                        <a:t>1,084.99</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a:effectLst/>
                          <a:latin typeface="Calibri" panose="020F0502020204030204" pitchFamily="34" charset="0"/>
                        </a:rPr>
                        <a:t>       824.62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2,547.56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141323851"/>
                  </a:ext>
                </a:extLst>
              </a:tr>
              <a:tr h="225230">
                <a:tc>
                  <a:txBody>
                    <a:bodyPr/>
                    <a:lstStyle/>
                    <a:p>
                      <a:pPr algn="l" fontAlgn="b"/>
                      <a:r>
                        <a:rPr lang="en-US" sz="1100" b="1" i="0" u="none" strike="noStrike" dirty="0">
                          <a:effectLst/>
                          <a:latin typeface="Calibri" panose="020F0502020204030204" pitchFamily="34" charset="0"/>
                        </a:rPr>
                        <a:t>QA</a:t>
                      </a:r>
                    </a:p>
                  </a:txBody>
                  <a:tcPr marL="6350" marR="6350" marT="6350" marB="0" anchor="b">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549.05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545.44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r>
                        <a:rPr lang="en-US" sz="1100" b="0" i="0" u="none" strike="noStrike" dirty="0">
                          <a:effectLst/>
                          <a:latin typeface="Calibri" panose="020F0502020204030204" pitchFamily="34" charset="0"/>
                        </a:rPr>
                        <a:t>575.12</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a:effectLst/>
                          <a:latin typeface="Calibri" panose="020F0502020204030204" pitchFamily="34" charset="0"/>
                        </a:rPr>
                        <a:t>       774.63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fontAlgn="b">
                        <a:buNone/>
                      </a:pPr>
                      <a:r>
                        <a:rPr lang="en-US" sz="1100" b="0" i="0" u="none" strike="noStrike" dirty="0">
                          <a:effectLst/>
                          <a:latin typeface="Calibri" panose="020F0502020204030204" pitchFamily="34" charset="0"/>
                        </a:rPr>
                        <a:t>         1,895.19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483331710"/>
                  </a:ext>
                </a:extLst>
              </a:tr>
              <a:tr h="133350">
                <a:tc>
                  <a:txBody>
                    <a:bodyPr/>
                    <a:lstStyle/>
                    <a:p>
                      <a:pPr marL="0" marR="8890" algn="l">
                        <a:spcBef>
                          <a:spcPts val="200"/>
                        </a:spcBef>
                        <a:spcAft>
                          <a:spcPts val="200"/>
                        </a:spcAft>
                      </a:pPr>
                      <a:r>
                        <a:rPr lang="en-US" sz="1100" b="1" i="0" u="none" strike="noStrike" kern="1200" dirty="0">
                          <a:solidFill>
                            <a:srgbClr val="000000"/>
                          </a:solidFill>
                          <a:effectLst/>
                          <a:latin typeface="Calibri" panose="020F0502020204030204" pitchFamily="34" charset="0"/>
                          <a:ea typeface="+mn-ea"/>
                          <a:cs typeface="+mn-cs"/>
                        </a:rPr>
                        <a:t>Total</a:t>
                      </a:r>
                    </a:p>
                  </a:txBody>
                  <a:tcPr marL="68580" marR="68580" marT="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r>
                        <a:rPr lang="en-US" sz="1100" b="1" i="0" u="none" strike="noStrike" dirty="0">
                          <a:effectLst/>
                          <a:latin typeface="Calibri" panose="020F0502020204030204" pitchFamily="34" charset="0"/>
                        </a:rPr>
                        <a:t>    5,648.23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r>
                        <a:rPr lang="en-US" sz="1100" b="0" i="0" u="none" strike="noStrike" dirty="0">
                          <a:effectLst/>
                          <a:latin typeface="Calibri" panose="020F0502020204030204" pitchFamily="34" charset="0"/>
                        </a:rPr>
                        <a:t>  </a:t>
                      </a:r>
                      <a:r>
                        <a:rPr lang="en-US" sz="1100" b="1" i="0" u="none" strike="noStrike" dirty="0">
                          <a:effectLst/>
                          <a:latin typeface="Calibri" panose="020F0502020204030204" pitchFamily="34" charset="0"/>
                        </a:rPr>
                        <a:t>6,124.3</a:t>
                      </a:r>
                      <a:r>
                        <a:rPr lang="en-US" sz="1100" b="0" i="0" u="none" strike="noStrike" dirty="0">
                          <a:effectLst/>
                          <a:latin typeface="Calibri" panose="020F0502020204030204" pitchFamily="34" charset="0"/>
                        </a:rPr>
                        <a:t>8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r>
                        <a:rPr lang="en-US" sz="1100" b="1" i="0" u="none" strike="noStrike" dirty="0">
                          <a:effectLst/>
                          <a:latin typeface="Calibri" panose="020F0502020204030204" pitchFamily="34" charset="0"/>
                        </a:rPr>
                        <a:t>9,971.60</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r>
                        <a:rPr lang="en-US" sz="1100" b="0" i="0" u="none" strike="noStrike" dirty="0">
                          <a:effectLst/>
                          <a:latin typeface="Calibri" panose="020F0502020204030204" pitchFamily="34" charset="0"/>
                        </a:rPr>
                        <a:t>  </a:t>
                      </a:r>
                      <a:r>
                        <a:rPr lang="en-US" sz="1100" b="1" i="0" u="none" strike="noStrike" dirty="0">
                          <a:effectLst/>
                          <a:latin typeface="Calibri" panose="020F0502020204030204" pitchFamily="34" charset="0"/>
                        </a:rPr>
                        <a:t>11,955.24</a:t>
                      </a:r>
                      <a:r>
                        <a:rPr lang="en-US" sz="1100" b="0" i="0" u="none" strike="noStrike" dirty="0">
                          <a:effectLst/>
                          <a:latin typeface="Calibri" panose="020F0502020204030204" pitchFamily="34" charset="0"/>
                        </a:rPr>
                        <a:t> </a:t>
                      </a: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l"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endParaRPr lang="en-US" sz="1100" b="0"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endParaRPr lang="en-US" sz="1100" b="1" i="0" u="none" strike="noStrike" dirty="0">
                        <a:effectLst/>
                        <a:latin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endParaRPr lang="en-US" sz="1100" b="1" i="0" u="none" strike="noStrike">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endParaRPr lang="en-US" sz="1100" b="1"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l" fontAlgn="b">
                        <a:buNone/>
                      </a:pPr>
                      <a:endParaRPr lang="en-US" sz="1100" b="1"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l" fontAlgn="b">
                        <a:buNone/>
                      </a:pPr>
                      <a:endParaRPr lang="en-US" sz="1100" b="0"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endParaRPr lang="en-US" sz="1100" b="1" i="0" u="none" strike="noStrike" dirty="0">
                        <a:effectLst/>
                        <a:latin typeface="Calibri" panose="020F0502020204030204" pitchFamily="34" charset="0"/>
                      </a:endParaRPr>
                    </a:p>
                  </a:txBody>
                  <a:tcPr marL="6350" marR="6350" marT="635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E5EAEE"/>
                    </a:solidFill>
                  </a:tcPr>
                </a:tc>
                <a:tc>
                  <a:txBody>
                    <a:bodyPr/>
                    <a:lstStyle/>
                    <a:p>
                      <a:pPr algn="ctr" fontAlgn="b">
                        <a:buNone/>
                      </a:pPr>
                      <a:r>
                        <a:rPr lang="en-US" sz="1100" b="0" i="0" u="none" strike="noStrike" dirty="0">
                          <a:effectLst/>
                          <a:latin typeface="Calibri" panose="020F0502020204030204" pitchFamily="34" charset="0"/>
                        </a:rPr>
                        <a:t>       </a:t>
                      </a:r>
                      <a:r>
                        <a:rPr lang="en-US" sz="1100" b="1" i="0" u="none" strike="noStrike" dirty="0">
                          <a:effectLst/>
                          <a:latin typeface="Calibri" panose="020F0502020204030204" pitchFamily="34" charset="0"/>
                        </a:rPr>
                        <a:t>28,051.21 </a:t>
                      </a:r>
                    </a:p>
                  </a:txBody>
                  <a:tcPr marL="6350" marR="6350" marT="6350" marB="0" anchor="b">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a:noFill/>
                    </a:lnB>
                    <a:solidFill>
                      <a:srgbClr val="E5EAEE"/>
                    </a:solidFill>
                  </a:tcPr>
                </a:tc>
                <a:extLst>
                  <a:ext uri="{0D108BD9-81ED-4DB2-BD59-A6C34878D82A}">
                    <a16:rowId xmlns:a16="http://schemas.microsoft.com/office/drawing/2014/main" val="1940347217"/>
                  </a:ext>
                </a:extLst>
              </a:tr>
            </a:tbl>
          </a:graphicData>
        </a:graphic>
      </p:graphicFrame>
      <p:sp>
        <p:nvSpPr>
          <p:cNvPr id="2" name="Title 2">
            <a:extLst>
              <a:ext uri="{FF2B5EF4-FFF2-40B4-BE49-F238E27FC236}">
                <a16:creationId xmlns:a16="http://schemas.microsoft.com/office/drawing/2014/main" id="{0064C26C-FA08-1913-E9F0-18EBFB327AB2}"/>
              </a:ext>
            </a:extLst>
          </p:cNvPr>
          <p:cNvSpPr>
            <a:spLocks noGrp="1"/>
          </p:cNvSpPr>
          <p:nvPr>
            <p:ph type="title"/>
          </p:nvPr>
        </p:nvSpPr>
        <p:spPr>
          <a:xfrm>
            <a:off x="2785519" y="72331"/>
            <a:ext cx="3310481" cy="438764"/>
          </a:xfrm>
          <a:solidFill>
            <a:schemeClr val="accent3">
              <a:lumMod val="50000"/>
            </a:schemeClr>
          </a:solidFill>
        </p:spPr>
        <p:style>
          <a:lnRef idx="0">
            <a:schemeClr val="accent6"/>
          </a:lnRef>
          <a:fillRef idx="3">
            <a:schemeClr val="accent6"/>
          </a:fillRef>
          <a:effectRef idx="3">
            <a:schemeClr val="accent6"/>
          </a:effectRef>
          <a:fontRef idx="minor">
            <a:schemeClr val="lt1"/>
          </a:fontRef>
        </p:style>
        <p:txBody>
          <a:bodyPr/>
          <a:lstStyle/>
          <a:p>
            <a:r>
              <a:rPr lang="en-US" dirty="0">
                <a:solidFill>
                  <a:schemeClr val="bg1"/>
                </a:solidFill>
              </a:rPr>
              <a:t>OVERTIME - Cost</a:t>
            </a:r>
          </a:p>
        </p:txBody>
      </p:sp>
      <p:graphicFrame>
        <p:nvGraphicFramePr>
          <p:cNvPr id="3" name="Chart 2">
            <a:extLst>
              <a:ext uri="{FF2B5EF4-FFF2-40B4-BE49-F238E27FC236}">
                <a16:creationId xmlns:a16="http://schemas.microsoft.com/office/drawing/2014/main" id="{67A9CE95-03F1-8941-0D42-DF616E21C8E8}"/>
              </a:ext>
            </a:extLst>
          </p:cNvPr>
          <p:cNvGraphicFramePr>
            <a:graphicFrameLocks/>
          </p:cNvGraphicFramePr>
          <p:nvPr>
            <p:extLst>
              <p:ext uri="{D42A27DB-BD31-4B8C-83A1-F6EECF244321}">
                <p14:modId xmlns:p14="http://schemas.microsoft.com/office/powerpoint/2010/main" val="215182625"/>
              </p:ext>
            </p:extLst>
          </p:nvPr>
        </p:nvGraphicFramePr>
        <p:xfrm>
          <a:off x="450006" y="2852846"/>
          <a:ext cx="5286559" cy="364532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16E6F636-1867-52BE-F5BF-2488D3C79C27}"/>
              </a:ext>
            </a:extLst>
          </p:cNvPr>
          <p:cNvGraphicFramePr>
            <a:graphicFrameLocks/>
          </p:cNvGraphicFramePr>
          <p:nvPr>
            <p:extLst>
              <p:ext uri="{D42A27DB-BD31-4B8C-83A1-F6EECF244321}">
                <p14:modId xmlns:p14="http://schemas.microsoft.com/office/powerpoint/2010/main" val="2486417301"/>
              </p:ext>
            </p:extLst>
          </p:nvPr>
        </p:nvGraphicFramePr>
        <p:xfrm>
          <a:off x="5918740" y="2852846"/>
          <a:ext cx="6123733" cy="364532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36159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91F3FDED-AE9D-D39C-0372-3947460825D9}"/>
              </a:ext>
              <a:ext uri="{C183D7F6-B498-43B3-948B-1728B52AA6E4}">
                <adec:decorative xmlns:adec="http://schemas.microsoft.com/office/drawing/2017/decorative" val="1"/>
              </a:ext>
            </a:extLst>
          </p:cNvPr>
          <p:cNvGrpSpPr/>
          <p:nvPr/>
        </p:nvGrpSpPr>
        <p:grpSpPr>
          <a:xfrm>
            <a:off x="4079032" y="590410"/>
            <a:ext cx="3419021" cy="2214588"/>
            <a:chOff x="304800" y="1577182"/>
            <a:chExt cx="3419021" cy="2214588"/>
          </a:xfrm>
          <a:effectLst>
            <a:outerShdw blurRad="50800" dist="38100" dir="5400000" algn="t" rotWithShape="0">
              <a:prstClr val="black">
                <a:alpha val="20000"/>
              </a:prstClr>
            </a:outerShdw>
          </a:effectLst>
        </p:grpSpPr>
        <p:sp>
          <p:nvSpPr>
            <p:cNvPr id="13" name="Rectangle 12">
              <a:extLst>
                <a:ext uri="{FF2B5EF4-FFF2-40B4-BE49-F238E27FC236}">
                  <a16:creationId xmlns:a16="http://schemas.microsoft.com/office/drawing/2014/main" id="{F30CDEA1-D983-EEFD-19C0-8D7DDAA4B04D}"/>
                </a:ext>
              </a:extLst>
            </p:cNvPr>
            <p:cNvSpPr/>
            <p:nvPr/>
          </p:nvSpPr>
          <p:spPr>
            <a:xfrm>
              <a:off x="304800" y="1577182"/>
              <a:ext cx="3419021" cy="1795488"/>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2400" b="1" dirty="0">
                  <a:latin typeface="+mj-lt"/>
                </a:rPr>
                <a:t>1,728 Hours YTD </a:t>
              </a:r>
            </a:p>
          </p:txBody>
        </p:sp>
        <p:sp>
          <p:nvSpPr>
            <p:cNvPr id="14" name="Rectangle 13">
              <a:extLst>
                <a:ext uri="{FF2B5EF4-FFF2-40B4-BE49-F238E27FC236}">
                  <a16:creationId xmlns:a16="http://schemas.microsoft.com/office/drawing/2014/main" id="{D25D7A0C-EAA0-A881-0C3E-1FC69AFD58ED}"/>
                </a:ext>
              </a:extLst>
            </p:cNvPr>
            <p:cNvSpPr/>
            <p:nvPr/>
          </p:nvSpPr>
          <p:spPr>
            <a:xfrm>
              <a:off x="304801" y="3372670"/>
              <a:ext cx="3419020"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lumMod val="75000"/>
                      <a:lumOff val="25000"/>
                    </a:schemeClr>
                  </a:solidFill>
                </a:rPr>
                <a:t>Average per Employee: 10 Hours</a:t>
              </a:r>
            </a:p>
          </p:txBody>
        </p:sp>
      </p:grpSp>
      <p:sp>
        <p:nvSpPr>
          <p:cNvPr id="15" name="Oval 14">
            <a:extLst>
              <a:ext uri="{FF2B5EF4-FFF2-40B4-BE49-F238E27FC236}">
                <a16:creationId xmlns:a16="http://schemas.microsoft.com/office/drawing/2014/main" id="{24ADDF99-C93D-B746-E1B4-25661C0BF1E3}"/>
              </a:ext>
              <a:ext uri="{C183D7F6-B498-43B3-948B-1728B52AA6E4}">
                <adec:decorative xmlns:adec="http://schemas.microsoft.com/office/drawing/2017/decorative" val="1"/>
              </a:ext>
            </a:extLst>
          </p:cNvPr>
          <p:cNvSpPr/>
          <p:nvPr/>
        </p:nvSpPr>
        <p:spPr>
          <a:xfrm>
            <a:off x="5433201" y="255473"/>
            <a:ext cx="657225" cy="657225"/>
          </a:xfrm>
          <a:prstGeom prst="ellipse">
            <a:avLst/>
          </a:prstGeom>
          <a:solidFill>
            <a:schemeClr val="bg1"/>
          </a:solidFill>
          <a:ln w="28575">
            <a:solidFill>
              <a:schemeClr val="accent3">
                <a:lumMod val="50000"/>
              </a:scheme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D7AA0982-52C7-EA49-AAC5-22819AAB584F}"/>
              </a:ext>
              <a:ext uri="{C183D7F6-B498-43B3-948B-1728B52AA6E4}">
                <adec:decorative xmlns:adec="http://schemas.microsoft.com/office/drawing/2017/decorative" val="1"/>
              </a:ext>
            </a:extLst>
          </p:cNvPr>
          <p:cNvGrpSpPr/>
          <p:nvPr/>
        </p:nvGrpSpPr>
        <p:grpSpPr>
          <a:xfrm>
            <a:off x="189015" y="572423"/>
            <a:ext cx="3419021" cy="2214588"/>
            <a:chOff x="304800" y="1577182"/>
            <a:chExt cx="3419021" cy="2214588"/>
          </a:xfrm>
          <a:effectLst>
            <a:outerShdw blurRad="50800" dist="38100" dir="5400000" algn="t" rotWithShape="0">
              <a:prstClr val="black">
                <a:alpha val="20000"/>
              </a:prstClr>
            </a:outerShdw>
          </a:effectLst>
        </p:grpSpPr>
        <p:sp>
          <p:nvSpPr>
            <p:cNvPr id="17" name="Rectangle 16">
              <a:extLst>
                <a:ext uri="{FF2B5EF4-FFF2-40B4-BE49-F238E27FC236}">
                  <a16:creationId xmlns:a16="http://schemas.microsoft.com/office/drawing/2014/main" id="{A1B46DF1-DACE-431B-58AD-3BD7B6D61257}"/>
                </a:ext>
              </a:extLst>
            </p:cNvPr>
            <p:cNvSpPr/>
            <p:nvPr/>
          </p:nvSpPr>
          <p:spPr>
            <a:xfrm>
              <a:off x="304800" y="1577182"/>
              <a:ext cx="3419021" cy="17954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600" b="1" dirty="0">
                  <a:latin typeface="+mj-lt"/>
                </a:rPr>
                <a:t>$ 507,500</a:t>
              </a:r>
            </a:p>
          </p:txBody>
        </p:sp>
        <p:sp>
          <p:nvSpPr>
            <p:cNvPr id="18" name="Rectangle 17">
              <a:extLst>
                <a:ext uri="{FF2B5EF4-FFF2-40B4-BE49-F238E27FC236}">
                  <a16:creationId xmlns:a16="http://schemas.microsoft.com/office/drawing/2014/main" id="{50F1303E-15E3-7F72-31F0-ACE1A958C904}"/>
                </a:ext>
              </a:extLst>
            </p:cNvPr>
            <p:cNvSpPr/>
            <p:nvPr/>
          </p:nvSpPr>
          <p:spPr>
            <a:xfrm>
              <a:off x="322053" y="3372670"/>
              <a:ext cx="3401768"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75000"/>
                      <a:lumOff val="25000"/>
                    </a:schemeClr>
                  </a:solidFill>
                </a:rPr>
                <a:t>Actual: </a:t>
              </a:r>
              <a:r>
                <a:rPr lang="en-US" b="1" dirty="0">
                  <a:solidFill>
                    <a:schemeClr val="accent1"/>
                  </a:solidFill>
                </a:rPr>
                <a:t>35,462.00 $</a:t>
              </a:r>
            </a:p>
          </p:txBody>
        </p:sp>
      </p:grpSp>
      <p:sp>
        <p:nvSpPr>
          <p:cNvPr id="19" name="Oval 18">
            <a:extLst>
              <a:ext uri="{FF2B5EF4-FFF2-40B4-BE49-F238E27FC236}">
                <a16:creationId xmlns:a16="http://schemas.microsoft.com/office/drawing/2014/main" id="{AAD7C834-04ED-602B-346C-5EC90EF40EA2}"/>
              </a:ext>
              <a:ext uri="{C183D7F6-B498-43B3-948B-1728B52AA6E4}">
                <adec:decorative xmlns:adec="http://schemas.microsoft.com/office/drawing/2017/decorative" val="1"/>
              </a:ext>
            </a:extLst>
          </p:cNvPr>
          <p:cNvSpPr/>
          <p:nvPr/>
        </p:nvSpPr>
        <p:spPr>
          <a:xfrm>
            <a:off x="1569913" y="237486"/>
            <a:ext cx="657225" cy="657225"/>
          </a:xfrm>
          <a:prstGeom prst="ellipse">
            <a:avLst/>
          </a:prstGeom>
          <a:solidFill>
            <a:schemeClr val="bg1"/>
          </a:solidFill>
          <a:ln w="28575">
            <a:solidFill>
              <a:schemeClr val="tx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88CF1C22-DBBD-3E9C-920F-BBC3DCFB74F7}"/>
              </a:ext>
            </a:extLst>
          </p:cNvPr>
          <p:cNvSpPr/>
          <p:nvPr/>
        </p:nvSpPr>
        <p:spPr>
          <a:xfrm>
            <a:off x="5091705" y="934898"/>
            <a:ext cx="1265603" cy="307777"/>
          </a:xfrm>
          <a:prstGeom prst="rect">
            <a:avLst/>
          </a:prstGeom>
        </p:spPr>
        <p:txBody>
          <a:bodyPr wrap="none">
            <a:spAutoFit/>
          </a:bodyPr>
          <a:lstStyle/>
          <a:p>
            <a:pPr algn="ctr">
              <a:spcBef>
                <a:spcPts val="600"/>
              </a:spcBef>
            </a:pPr>
            <a:r>
              <a:rPr lang="en-US" sz="1400" dirty="0">
                <a:solidFill>
                  <a:schemeClr val="bg1"/>
                </a:solidFill>
              </a:rPr>
              <a:t>Training Hours</a:t>
            </a:r>
          </a:p>
        </p:txBody>
      </p:sp>
      <p:sp>
        <p:nvSpPr>
          <p:cNvPr id="42" name="Rectangle 41">
            <a:extLst>
              <a:ext uri="{FF2B5EF4-FFF2-40B4-BE49-F238E27FC236}">
                <a16:creationId xmlns:a16="http://schemas.microsoft.com/office/drawing/2014/main" id="{198FE7CA-2D9E-50D8-9C57-C210B1F49D7C}"/>
              </a:ext>
            </a:extLst>
          </p:cNvPr>
          <p:cNvSpPr/>
          <p:nvPr/>
        </p:nvSpPr>
        <p:spPr>
          <a:xfrm>
            <a:off x="1121040" y="897117"/>
            <a:ext cx="1324786" cy="307777"/>
          </a:xfrm>
          <a:prstGeom prst="rect">
            <a:avLst/>
          </a:prstGeom>
        </p:spPr>
        <p:txBody>
          <a:bodyPr wrap="none">
            <a:spAutoFit/>
          </a:bodyPr>
          <a:lstStyle/>
          <a:p>
            <a:pPr algn="ctr">
              <a:spcBef>
                <a:spcPts val="600"/>
              </a:spcBef>
            </a:pPr>
            <a:r>
              <a:rPr lang="en-US" sz="1400" dirty="0">
                <a:solidFill>
                  <a:schemeClr val="bg1"/>
                </a:solidFill>
              </a:rPr>
              <a:t>Training Budget</a:t>
            </a:r>
          </a:p>
        </p:txBody>
      </p:sp>
      <p:pic>
        <p:nvPicPr>
          <p:cNvPr id="46" name="Picture 45">
            <a:extLst>
              <a:ext uri="{FF2B5EF4-FFF2-40B4-BE49-F238E27FC236}">
                <a16:creationId xmlns:a16="http://schemas.microsoft.com/office/drawing/2014/main" id="{F1C4BB3D-D0FA-5669-795B-C3E0A70DC5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41180" y="376576"/>
            <a:ext cx="421627" cy="421627"/>
          </a:xfrm>
          <a:prstGeom prst="rect">
            <a:avLst/>
          </a:prstGeom>
        </p:spPr>
      </p:pic>
      <p:pic>
        <p:nvPicPr>
          <p:cNvPr id="47" name="Picture 46" descr="Icon&#10;&#10;Description automatically generated">
            <a:extLst>
              <a:ext uri="{FF2B5EF4-FFF2-40B4-BE49-F238E27FC236}">
                <a16:creationId xmlns:a16="http://schemas.microsoft.com/office/drawing/2014/main" id="{547626AD-9AC0-7840-96D7-0BA4DF4689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67379" y="431657"/>
            <a:ext cx="462294" cy="316508"/>
          </a:xfrm>
          <a:prstGeom prst="rect">
            <a:avLst/>
          </a:prstGeom>
        </p:spPr>
      </p:pic>
      <p:sp>
        <p:nvSpPr>
          <p:cNvPr id="50" name="Title 1">
            <a:extLst>
              <a:ext uri="{FF2B5EF4-FFF2-40B4-BE49-F238E27FC236}">
                <a16:creationId xmlns:a16="http://schemas.microsoft.com/office/drawing/2014/main" id="{F9066588-29E2-C3FB-E4AC-D7395BAFA35E}"/>
              </a:ext>
            </a:extLst>
          </p:cNvPr>
          <p:cNvSpPr>
            <a:spLocks noGrp="1"/>
          </p:cNvSpPr>
          <p:nvPr>
            <p:ph type="title"/>
          </p:nvPr>
        </p:nvSpPr>
        <p:spPr>
          <a:xfrm>
            <a:off x="2676011" y="24876"/>
            <a:ext cx="3419021" cy="508360"/>
          </a:xfrm>
        </p:spPr>
        <p:txBody>
          <a:bodyPr>
            <a:normAutofit/>
          </a:bodyPr>
          <a:lstStyle/>
          <a:p>
            <a:r>
              <a:rPr lang="en-US" sz="2000" dirty="0"/>
              <a:t>Training Dashboard</a:t>
            </a:r>
          </a:p>
        </p:txBody>
      </p:sp>
      <p:sp>
        <p:nvSpPr>
          <p:cNvPr id="5" name="Rectangle 4">
            <a:extLst>
              <a:ext uri="{FF2B5EF4-FFF2-40B4-BE49-F238E27FC236}">
                <a16:creationId xmlns:a16="http://schemas.microsoft.com/office/drawing/2014/main" id="{D15C8A52-A62D-9F81-DF44-709A8424E54C}"/>
              </a:ext>
            </a:extLst>
          </p:cNvPr>
          <p:cNvSpPr/>
          <p:nvPr/>
        </p:nvSpPr>
        <p:spPr>
          <a:xfrm>
            <a:off x="4139680" y="1707355"/>
            <a:ext cx="2819400" cy="600164"/>
          </a:xfrm>
          <a:prstGeom prst="rect">
            <a:avLst/>
          </a:prstGeom>
        </p:spPr>
        <p:txBody>
          <a:bodyPr wrap="square">
            <a:spAutoFit/>
          </a:bodyPr>
          <a:lstStyle/>
          <a:p>
            <a:pPr marL="174625" indent="-174625">
              <a:spcBef>
                <a:spcPts val="600"/>
              </a:spcBef>
              <a:buFont typeface="Segoe UI Light" panose="020B0502040204020203" pitchFamily="34" charset="0"/>
              <a:buChar char="›"/>
            </a:pPr>
            <a:r>
              <a:rPr lang="en-US" sz="1400" dirty="0">
                <a:solidFill>
                  <a:schemeClr val="bg1"/>
                </a:solidFill>
              </a:rPr>
              <a:t>50% % Plant</a:t>
            </a:r>
          </a:p>
          <a:p>
            <a:pPr marL="174625" indent="-174625">
              <a:spcBef>
                <a:spcPts val="600"/>
              </a:spcBef>
              <a:buFont typeface="Segoe UI Light" panose="020B0502040204020203" pitchFamily="34" charset="0"/>
              <a:buChar char="›"/>
            </a:pPr>
            <a:r>
              <a:rPr lang="en-US" sz="1400" dirty="0">
                <a:solidFill>
                  <a:schemeClr val="bg1"/>
                </a:solidFill>
              </a:rPr>
              <a:t>50% HQ </a:t>
            </a:r>
          </a:p>
        </p:txBody>
      </p:sp>
      <p:sp>
        <p:nvSpPr>
          <p:cNvPr id="22" name="Rectangle 21">
            <a:extLst>
              <a:ext uri="{FF2B5EF4-FFF2-40B4-BE49-F238E27FC236}">
                <a16:creationId xmlns:a16="http://schemas.microsoft.com/office/drawing/2014/main" id="{30A29919-9D1E-49BD-D86B-89308C0526E8}"/>
              </a:ext>
            </a:extLst>
          </p:cNvPr>
          <p:cNvSpPr/>
          <p:nvPr/>
        </p:nvSpPr>
        <p:spPr>
          <a:xfrm>
            <a:off x="7896966" y="609866"/>
            <a:ext cx="3419021" cy="302554"/>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en-US" sz="2400" dirty="0">
                <a:solidFill>
                  <a:schemeClr val="bg1"/>
                </a:solidFill>
              </a:rPr>
              <a:t>Topics </a:t>
            </a:r>
            <a:r>
              <a:rPr lang="en-US" dirty="0">
                <a:solidFill>
                  <a:schemeClr val="bg1"/>
                </a:solidFill>
              </a:rPr>
              <a:t>Covered</a:t>
            </a:r>
          </a:p>
        </p:txBody>
      </p:sp>
      <p:sp>
        <p:nvSpPr>
          <p:cNvPr id="24" name="Rectangle 23">
            <a:extLst>
              <a:ext uri="{FF2B5EF4-FFF2-40B4-BE49-F238E27FC236}">
                <a16:creationId xmlns:a16="http://schemas.microsoft.com/office/drawing/2014/main" id="{A6626709-F9E7-5149-3F17-A4BC6DC3FEFC}"/>
              </a:ext>
            </a:extLst>
          </p:cNvPr>
          <p:cNvSpPr/>
          <p:nvPr/>
        </p:nvSpPr>
        <p:spPr>
          <a:xfrm>
            <a:off x="7896966" y="1196764"/>
            <a:ext cx="3419021" cy="26116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Soft Skills  (Hours) </a:t>
            </a:r>
          </a:p>
        </p:txBody>
      </p:sp>
      <p:sp>
        <p:nvSpPr>
          <p:cNvPr id="25" name="Rectangle 24">
            <a:extLst>
              <a:ext uri="{FF2B5EF4-FFF2-40B4-BE49-F238E27FC236}">
                <a16:creationId xmlns:a16="http://schemas.microsoft.com/office/drawing/2014/main" id="{DC769E91-B1B0-7DAF-B6F7-4A810A4BF300}"/>
              </a:ext>
            </a:extLst>
          </p:cNvPr>
          <p:cNvSpPr/>
          <p:nvPr/>
        </p:nvSpPr>
        <p:spPr>
          <a:xfrm>
            <a:off x="7896966" y="935960"/>
            <a:ext cx="3419021" cy="245231"/>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Technical Skills (Hours) </a:t>
            </a:r>
          </a:p>
        </p:txBody>
      </p:sp>
      <p:sp>
        <p:nvSpPr>
          <p:cNvPr id="26" name="Oval 25">
            <a:extLst>
              <a:ext uri="{FF2B5EF4-FFF2-40B4-BE49-F238E27FC236}">
                <a16:creationId xmlns:a16="http://schemas.microsoft.com/office/drawing/2014/main" id="{FDE95E64-F698-E37F-B5EF-E4C2E8E38947}"/>
              </a:ext>
              <a:ext uri="{C183D7F6-B498-43B3-948B-1728B52AA6E4}">
                <adec:decorative xmlns:adec="http://schemas.microsoft.com/office/drawing/2017/decorative" val="1"/>
              </a:ext>
            </a:extLst>
          </p:cNvPr>
          <p:cNvSpPr/>
          <p:nvPr/>
        </p:nvSpPr>
        <p:spPr>
          <a:xfrm>
            <a:off x="9545270" y="283196"/>
            <a:ext cx="545277" cy="551869"/>
          </a:xfrm>
          <a:prstGeom prst="ellipse">
            <a:avLst/>
          </a:prstGeom>
          <a:solidFill>
            <a:schemeClr val="tx1"/>
          </a:solidFill>
          <a:ln w="28575">
            <a:solidFill>
              <a:schemeClr val="tx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7" name="Rectangle 26">
            <a:extLst>
              <a:ext uri="{FF2B5EF4-FFF2-40B4-BE49-F238E27FC236}">
                <a16:creationId xmlns:a16="http://schemas.microsoft.com/office/drawing/2014/main" id="{BAE7D445-9350-A595-9880-47CCE6C1BBF9}"/>
              </a:ext>
            </a:extLst>
          </p:cNvPr>
          <p:cNvSpPr/>
          <p:nvPr/>
        </p:nvSpPr>
        <p:spPr>
          <a:xfrm>
            <a:off x="10760324" y="579909"/>
            <a:ext cx="495650" cy="307777"/>
          </a:xfrm>
          <a:prstGeom prst="rect">
            <a:avLst/>
          </a:prstGeom>
        </p:spPr>
        <p:txBody>
          <a:bodyPr wrap="square" anchor="ctr">
            <a:spAutoFit/>
          </a:bodyPr>
          <a:lstStyle/>
          <a:p>
            <a:pPr algn="r">
              <a:spcBef>
                <a:spcPts val="600"/>
              </a:spcBef>
            </a:pPr>
            <a:r>
              <a:rPr lang="en-US" sz="1400" dirty="0">
                <a:solidFill>
                  <a:schemeClr val="bg1"/>
                </a:solidFill>
              </a:rPr>
              <a:t>6</a:t>
            </a:r>
          </a:p>
        </p:txBody>
      </p:sp>
      <p:sp>
        <p:nvSpPr>
          <p:cNvPr id="28" name="Rectangle 27">
            <a:extLst>
              <a:ext uri="{FF2B5EF4-FFF2-40B4-BE49-F238E27FC236}">
                <a16:creationId xmlns:a16="http://schemas.microsoft.com/office/drawing/2014/main" id="{EAEE87B7-78E9-D68F-FD5E-C82045B56E0C}"/>
              </a:ext>
            </a:extLst>
          </p:cNvPr>
          <p:cNvSpPr/>
          <p:nvPr/>
        </p:nvSpPr>
        <p:spPr>
          <a:xfrm>
            <a:off x="10315004" y="885442"/>
            <a:ext cx="914400" cy="338554"/>
          </a:xfrm>
          <a:prstGeom prst="rect">
            <a:avLst/>
          </a:prstGeom>
        </p:spPr>
        <p:txBody>
          <a:bodyPr wrap="none" anchor="ctr">
            <a:normAutofit/>
          </a:bodyPr>
          <a:lstStyle/>
          <a:p>
            <a:pPr algn="r">
              <a:spcBef>
                <a:spcPts val="600"/>
              </a:spcBef>
            </a:pPr>
            <a:r>
              <a:rPr lang="en-US" sz="1200" dirty="0">
                <a:solidFill>
                  <a:schemeClr val="bg1"/>
                </a:solidFill>
              </a:rPr>
              <a:t>0%</a:t>
            </a:r>
          </a:p>
        </p:txBody>
      </p:sp>
      <p:sp>
        <p:nvSpPr>
          <p:cNvPr id="29" name="Rectangle 28">
            <a:extLst>
              <a:ext uri="{FF2B5EF4-FFF2-40B4-BE49-F238E27FC236}">
                <a16:creationId xmlns:a16="http://schemas.microsoft.com/office/drawing/2014/main" id="{EA8CD8B5-3E1F-346F-4BE4-4AF21C41B3B3}"/>
              </a:ext>
            </a:extLst>
          </p:cNvPr>
          <p:cNvSpPr/>
          <p:nvPr/>
        </p:nvSpPr>
        <p:spPr>
          <a:xfrm>
            <a:off x="10315004" y="1169896"/>
            <a:ext cx="914400" cy="338554"/>
          </a:xfrm>
          <a:prstGeom prst="rect">
            <a:avLst/>
          </a:prstGeom>
        </p:spPr>
        <p:txBody>
          <a:bodyPr wrap="none" anchor="ctr">
            <a:normAutofit/>
          </a:bodyPr>
          <a:lstStyle/>
          <a:p>
            <a:pPr algn="r">
              <a:spcBef>
                <a:spcPts val="600"/>
              </a:spcBef>
            </a:pPr>
            <a:r>
              <a:rPr lang="en-US" sz="1200" dirty="0">
                <a:solidFill>
                  <a:schemeClr val="bg1"/>
                </a:solidFill>
              </a:rPr>
              <a:t>67%</a:t>
            </a:r>
          </a:p>
        </p:txBody>
      </p:sp>
      <p:pic>
        <p:nvPicPr>
          <p:cNvPr id="48" name="Picture 47" descr="Icon&#10;&#10;Description automatically generated">
            <a:extLst>
              <a:ext uri="{FF2B5EF4-FFF2-40B4-BE49-F238E27FC236}">
                <a16:creationId xmlns:a16="http://schemas.microsoft.com/office/drawing/2014/main" id="{DD1C9F32-9703-D418-8024-2F0FAB1DC4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27395" y="341095"/>
            <a:ext cx="385516" cy="385516"/>
          </a:xfrm>
          <a:prstGeom prst="rect">
            <a:avLst/>
          </a:prstGeom>
        </p:spPr>
      </p:pic>
      <p:sp>
        <p:nvSpPr>
          <p:cNvPr id="3" name="Rectangle 2">
            <a:extLst>
              <a:ext uri="{FF2B5EF4-FFF2-40B4-BE49-F238E27FC236}">
                <a16:creationId xmlns:a16="http://schemas.microsoft.com/office/drawing/2014/main" id="{B976EBB5-190C-0BB0-D220-8296F54C558D}"/>
              </a:ext>
            </a:extLst>
          </p:cNvPr>
          <p:cNvSpPr/>
          <p:nvPr/>
        </p:nvSpPr>
        <p:spPr>
          <a:xfrm>
            <a:off x="876013" y="1728560"/>
            <a:ext cx="2819400" cy="600164"/>
          </a:xfrm>
          <a:prstGeom prst="rect">
            <a:avLst/>
          </a:prstGeom>
        </p:spPr>
        <p:txBody>
          <a:bodyPr wrap="square">
            <a:spAutoFit/>
          </a:bodyPr>
          <a:lstStyle/>
          <a:p>
            <a:pPr marL="174625" indent="-174625">
              <a:spcBef>
                <a:spcPts val="600"/>
              </a:spcBef>
              <a:buFont typeface="Segoe UI Light" panose="020B0502040204020203" pitchFamily="34" charset="0"/>
              <a:buChar char="›"/>
            </a:pPr>
            <a:r>
              <a:rPr lang="en-US" sz="1400" dirty="0">
                <a:solidFill>
                  <a:schemeClr val="bg1"/>
                </a:solidFill>
              </a:rPr>
              <a:t>65 % Plant</a:t>
            </a:r>
          </a:p>
          <a:p>
            <a:pPr marL="174625" indent="-174625">
              <a:spcBef>
                <a:spcPts val="600"/>
              </a:spcBef>
              <a:buFont typeface="Segoe UI Light" panose="020B0502040204020203" pitchFamily="34" charset="0"/>
              <a:buChar char="›"/>
            </a:pPr>
            <a:r>
              <a:rPr lang="en-US" sz="1400" dirty="0">
                <a:solidFill>
                  <a:schemeClr val="bg1"/>
                </a:solidFill>
              </a:rPr>
              <a:t>35 % HQ </a:t>
            </a:r>
          </a:p>
        </p:txBody>
      </p:sp>
      <p:graphicFrame>
        <p:nvGraphicFramePr>
          <p:cNvPr id="8" name="Table 7">
            <a:extLst>
              <a:ext uri="{FF2B5EF4-FFF2-40B4-BE49-F238E27FC236}">
                <a16:creationId xmlns:a16="http://schemas.microsoft.com/office/drawing/2014/main" id="{B2F07383-9FD8-AAFE-CD45-DBAC54EF33F9}"/>
              </a:ext>
            </a:extLst>
          </p:cNvPr>
          <p:cNvGraphicFramePr>
            <a:graphicFrameLocks noGrp="1"/>
          </p:cNvGraphicFramePr>
          <p:nvPr>
            <p:extLst>
              <p:ext uri="{D42A27DB-BD31-4B8C-83A1-F6EECF244321}">
                <p14:modId xmlns:p14="http://schemas.microsoft.com/office/powerpoint/2010/main" val="362579095"/>
              </p:ext>
            </p:extLst>
          </p:nvPr>
        </p:nvGraphicFramePr>
        <p:xfrm>
          <a:off x="7881672" y="1839876"/>
          <a:ext cx="3419021" cy="5006856"/>
        </p:xfrm>
        <a:graphic>
          <a:graphicData uri="http://schemas.openxmlformats.org/drawingml/2006/table">
            <a:tbl>
              <a:tblPr>
                <a:tableStyleId>{5C22544A-7EE6-4342-B048-85BDC9FD1C3A}</a:tableStyleId>
              </a:tblPr>
              <a:tblGrid>
                <a:gridCol w="353655">
                  <a:extLst>
                    <a:ext uri="{9D8B030D-6E8A-4147-A177-3AD203B41FA5}">
                      <a16:colId xmlns:a16="http://schemas.microsoft.com/office/drawing/2014/main" val="1929200906"/>
                    </a:ext>
                  </a:extLst>
                </a:gridCol>
                <a:gridCol w="3065366">
                  <a:extLst>
                    <a:ext uri="{9D8B030D-6E8A-4147-A177-3AD203B41FA5}">
                      <a16:colId xmlns:a16="http://schemas.microsoft.com/office/drawing/2014/main" val="317043201"/>
                    </a:ext>
                  </a:extLst>
                </a:gridCol>
              </a:tblGrid>
              <a:tr h="244356">
                <a:tc gridSpan="2">
                  <a:txBody>
                    <a:bodyPr/>
                    <a:lstStyle/>
                    <a:p>
                      <a:pPr algn="ctr" fontAlgn="b"/>
                      <a:r>
                        <a:rPr lang="en-US" sz="700" b="1" kern="1200" dirty="0">
                          <a:solidFill>
                            <a:schemeClr val="bg1"/>
                          </a:solidFill>
                          <a:latin typeface="+mn-lt"/>
                          <a:ea typeface="+mn-ea"/>
                          <a:cs typeface="+mn-cs"/>
                        </a:rPr>
                        <a:t>List of Training Covered</a:t>
                      </a:r>
                    </a:p>
                  </a:txBody>
                  <a:tcPr marL="3086" marR="3086" marT="3086" marB="0" anchor="ctr">
                    <a:solidFill>
                      <a:schemeClr val="accent1">
                        <a:lumMod val="50000"/>
                      </a:schemeClr>
                    </a:solidFill>
                  </a:tcPr>
                </a:tc>
                <a:tc hMerge="1">
                  <a:txBody>
                    <a:bodyPr/>
                    <a:lstStyle/>
                    <a:p>
                      <a:pPr algn="l" fontAlgn="b"/>
                      <a:endParaRPr lang="en-US" sz="1200" kern="1200" dirty="0">
                        <a:solidFill>
                          <a:schemeClr val="bg1"/>
                        </a:solidFill>
                        <a:latin typeface="+mn-lt"/>
                        <a:ea typeface="+mn-ea"/>
                        <a:cs typeface="+mn-cs"/>
                      </a:endParaRPr>
                    </a:p>
                  </a:txBody>
                  <a:tcPr marL="3086" marR="3086" marT="3086" marB="0" anchor="b">
                    <a:solidFill>
                      <a:schemeClr val="accent6">
                        <a:lumMod val="20000"/>
                        <a:lumOff val="80000"/>
                      </a:schemeClr>
                    </a:solidFill>
                  </a:tcPr>
                </a:tc>
                <a:extLst>
                  <a:ext uri="{0D108BD9-81ED-4DB2-BD59-A6C34878D82A}">
                    <a16:rowId xmlns:a16="http://schemas.microsoft.com/office/drawing/2014/main" val="11705445"/>
                  </a:ext>
                </a:extLst>
              </a:tr>
              <a:tr h="104648">
                <a:tc>
                  <a:txBody>
                    <a:bodyPr/>
                    <a:lstStyle/>
                    <a:p>
                      <a:pPr algn="r" fontAlgn="b"/>
                      <a:r>
                        <a:rPr lang="en-US" sz="700" kern="1200" dirty="0">
                          <a:solidFill>
                            <a:schemeClr val="tx1"/>
                          </a:solidFill>
                          <a:latin typeface="+mn-lt"/>
                          <a:ea typeface="+mn-ea"/>
                          <a:cs typeface="+mn-cs"/>
                        </a:rPr>
                        <a:t>1</a:t>
                      </a:r>
                    </a:p>
                  </a:txBody>
                  <a:tcPr marL="3086" marR="3086" marT="3086" marB="0" anchor="ctr">
                    <a:solidFill>
                      <a:schemeClr val="accent6">
                        <a:lumMod val="20000"/>
                        <a:lumOff val="80000"/>
                      </a:schemeClr>
                    </a:solidFill>
                  </a:tcPr>
                </a:tc>
                <a:tc>
                  <a:txBody>
                    <a:bodyPr/>
                    <a:lstStyle/>
                    <a:p>
                      <a:pPr algn="l" fontAlgn="t">
                        <a:buNone/>
                      </a:pPr>
                      <a:r>
                        <a:rPr lang="en-US" sz="700" b="0" i="0" u="none" strike="noStrike" dirty="0">
                          <a:solidFill>
                            <a:srgbClr val="000000"/>
                          </a:solidFill>
                          <a:effectLst/>
                          <a:latin typeface="Aptos Narrow" panose="020B0004020202020204" pitchFamily="34" charset="0"/>
                        </a:rPr>
                        <a:t>Safet Standards</a:t>
                      </a:r>
                    </a:p>
                  </a:txBody>
                  <a:tcPr marL="6350" marR="6350" marT="6350" marB="0">
                    <a:solidFill>
                      <a:schemeClr val="accent6">
                        <a:lumMod val="20000"/>
                        <a:lumOff val="80000"/>
                      </a:schemeClr>
                    </a:solidFill>
                  </a:tcPr>
                </a:tc>
                <a:extLst>
                  <a:ext uri="{0D108BD9-81ED-4DB2-BD59-A6C34878D82A}">
                    <a16:rowId xmlns:a16="http://schemas.microsoft.com/office/drawing/2014/main" val="1620361082"/>
                  </a:ext>
                </a:extLst>
              </a:tr>
              <a:tr h="104648">
                <a:tc>
                  <a:txBody>
                    <a:bodyPr/>
                    <a:lstStyle/>
                    <a:p>
                      <a:pPr algn="r" fontAlgn="b"/>
                      <a:r>
                        <a:rPr lang="en-US" sz="700" kern="1200" dirty="0">
                          <a:solidFill>
                            <a:schemeClr val="tx1"/>
                          </a:solidFill>
                          <a:latin typeface="+mn-lt"/>
                          <a:ea typeface="+mn-ea"/>
                          <a:cs typeface="+mn-cs"/>
                        </a:rPr>
                        <a:t>2</a:t>
                      </a:r>
                    </a:p>
                  </a:txBody>
                  <a:tcPr marL="3086" marR="3086" marT="3086" marB="0" anchor="ctr">
                    <a:solidFill>
                      <a:schemeClr val="accent6">
                        <a:lumMod val="20000"/>
                        <a:lumOff val="80000"/>
                      </a:schemeClr>
                    </a:solidFill>
                  </a:tcPr>
                </a:tc>
                <a:tc>
                  <a:txBody>
                    <a:bodyPr/>
                    <a:lstStyle/>
                    <a:p>
                      <a:pPr algn="l" fontAlgn="t">
                        <a:buNone/>
                      </a:pPr>
                      <a:r>
                        <a:rPr lang="en-US" sz="700" b="0" i="0" u="none" strike="noStrike" dirty="0">
                          <a:solidFill>
                            <a:srgbClr val="000000"/>
                          </a:solidFill>
                          <a:effectLst/>
                          <a:latin typeface="Aptos Narrow" panose="020B0004020202020204" pitchFamily="34" charset="0"/>
                        </a:rPr>
                        <a:t>Short fire  </a:t>
                      </a:r>
                      <a:r>
                        <a:rPr lang="en-US" sz="700" b="0" i="0" u="none" strike="noStrike" dirty="0" err="1">
                          <a:solidFill>
                            <a:srgbClr val="000000"/>
                          </a:solidFill>
                          <a:effectLst/>
                          <a:latin typeface="Aptos Narrow" panose="020B0004020202020204" pitchFamily="34" charset="0"/>
                        </a:rPr>
                        <a:t>Afridex</a:t>
                      </a: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3131021310"/>
                  </a:ext>
                </a:extLst>
              </a:tr>
              <a:tr h="104648">
                <a:tc>
                  <a:txBody>
                    <a:bodyPr/>
                    <a:lstStyle/>
                    <a:p>
                      <a:pPr algn="r" fontAlgn="b"/>
                      <a:r>
                        <a:rPr lang="en-US" sz="700" kern="1200" dirty="0">
                          <a:solidFill>
                            <a:schemeClr val="tx1"/>
                          </a:solidFill>
                          <a:latin typeface="+mn-lt"/>
                          <a:ea typeface="+mn-ea"/>
                          <a:cs typeface="+mn-cs"/>
                        </a:rPr>
                        <a:t>3</a:t>
                      </a:r>
                    </a:p>
                  </a:txBody>
                  <a:tcPr marL="3086" marR="3086" marT="3086" marB="0" anchor="ctr">
                    <a:solidFill>
                      <a:schemeClr val="accent6">
                        <a:lumMod val="20000"/>
                        <a:lumOff val="80000"/>
                      </a:schemeClr>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800" dirty="0">
                          <a:solidFill>
                            <a:schemeClr val="tx1"/>
                          </a:solidFill>
                        </a:rPr>
                        <a:t>Performance Review and Feedback – Refresh session</a:t>
                      </a: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3811974123"/>
                  </a:ext>
                </a:extLst>
              </a:tr>
              <a:tr h="104648">
                <a:tc>
                  <a:txBody>
                    <a:bodyPr/>
                    <a:lstStyle/>
                    <a:p>
                      <a:pPr algn="r" fontAlgn="b"/>
                      <a:r>
                        <a:rPr lang="en-US" sz="700" kern="1200" dirty="0">
                          <a:solidFill>
                            <a:schemeClr val="tx1"/>
                          </a:solidFill>
                          <a:latin typeface="+mn-lt"/>
                          <a:ea typeface="+mn-ea"/>
                          <a:cs typeface="+mn-cs"/>
                        </a:rPr>
                        <a:t>4</a:t>
                      </a:r>
                    </a:p>
                  </a:txBody>
                  <a:tcPr marL="3086" marR="3086" marT="3086" marB="0" anchor="ctr">
                    <a:solidFill>
                      <a:schemeClr val="accent6">
                        <a:lumMod val="20000"/>
                        <a:lumOff val="80000"/>
                      </a:schemeClr>
                    </a:solidFill>
                  </a:tcPr>
                </a:tc>
                <a:tc>
                  <a:txBody>
                    <a:bodyPr/>
                    <a:lstStyle/>
                    <a:p>
                      <a:pPr algn="l" fontAlgn="t">
                        <a:buNone/>
                      </a:pPr>
                      <a:r>
                        <a:rPr lang="en-US" sz="700" b="0" i="0" u="none" strike="noStrike" dirty="0" err="1">
                          <a:solidFill>
                            <a:srgbClr val="000000"/>
                          </a:solidFill>
                          <a:effectLst/>
                          <a:latin typeface="Aptos Narrow" panose="020B0004020202020204" pitchFamily="34" charset="0"/>
                        </a:rPr>
                        <a:t>Invocom</a:t>
                      </a:r>
                      <a:r>
                        <a:rPr lang="en-US" sz="700" b="0" i="0" u="none" strike="noStrike" dirty="0">
                          <a:solidFill>
                            <a:srgbClr val="000000"/>
                          </a:solidFill>
                          <a:effectLst/>
                          <a:latin typeface="Aptos Narrow" panose="020B0004020202020204" pitchFamily="34" charset="0"/>
                        </a:rPr>
                        <a:t> Refresh session</a:t>
                      </a:r>
                    </a:p>
                  </a:txBody>
                  <a:tcPr marL="6350" marR="6350" marT="6350" marB="0">
                    <a:solidFill>
                      <a:schemeClr val="accent6">
                        <a:lumMod val="20000"/>
                        <a:lumOff val="80000"/>
                      </a:schemeClr>
                    </a:solidFill>
                  </a:tcPr>
                </a:tc>
                <a:extLst>
                  <a:ext uri="{0D108BD9-81ED-4DB2-BD59-A6C34878D82A}">
                    <a16:rowId xmlns:a16="http://schemas.microsoft.com/office/drawing/2014/main" val="728045861"/>
                  </a:ext>
                </a:extLst>
              </a:tr>
              <a:tr h="104648">
                <a:tc>
                  <a:txBody>
                    <a:bodyPr/>
                    <a:lstStyle/>
                    <a:p>
                      <a:pPr algn="r" fontAlgn="b"/>
                      <a:r>
                        <a:rPr lang="en-US" sz="700" kern="1200" dirty="0">
                          <a:solidFill>
                            <a:schemeClr val="tx1"/>
                          </a:solidFill>
                          <a:latin typeface="+mn-lt"/>
                          <a:ea typeface="+mn-ea"/>
                          <a:cs typeface="+mn-cs"/>
                        </a:rPr>
                        <a:t>5</a:t>
                      </a:r>
                    </a:p>
                  </a:txBody>
                  <a:tcPr marL="3086" marR="3086" marT="3086" marB="0" anchor="ctr">
                    <a:solidFill>
                      <a:schemeClr val="accent6">
                        <a:lumMod val="20000"/>
                        <a:lumOff val="80000"/>
                      </a:schemeClr>
                    </a:solidFill>
                  </a:tcPr>
                </a:tc>
                <a:tc>
                  <a:txBody>
                    <a:bodyPr/>
                    <a:lstStyle/>
                    <a:p>
                      <a:pPr algn="l" fontAlgn="t">
                        <a:buNone/>
                      </a:pPr>
                      <a:r>
                        <a:rPr lang="en-US" sz="700" b="0" i="0" u="none" strike="noStrike" dirty="0">
                          <a:solidFill>
                            <a:srgbClr val="000000"/>
                          </a:solidFill>
                          <a:effectLst/>
                          <a:latin typeface="Aptos Narrow" panose="020B0004020202020204" pitchFamily="34" charset="0"/>
                        </a:rPr>
                        <a:t>Competency Management </a:t>
                      </a:r>
                      <a:r>
                        <a:rPr lang="en-US" sz="700" b="0" i="0" u="none" strike="noStrike" dirty="0" err="1">
                          <a:solidFill>
                            <a:srgbClr val="000000"/>
                          </a:solidFill>
                          <a:effectLst/>
                          <a:latin typeface="Aptos Narrow" panose="020B0004020202020204" pitchFamily="34" charset="0"/>
                        </a:rPr>
                        <a:t>awarness</a:t>
                      </a:r>
                      <a:r>
                        <a:rPr lang="en-US" sz="700" b="0" i="0" u="none" strike="noStrike" dirty="0">
                          <a:solidFill>
                            <a:srgbClr val="000000"/>
                          </a:solidFill>
                          <a:effectLst/>
                          <a:latin typeface="Aptos Narrow" panose="020B0004020202020204" pitchFamily="34" charset="0"/>
                        </a:rPr>
                        <a:t> session</a:t>
                      </a:r>
                    </a:p>
                  </a:txBody>
                  <a:tcPr marL="6350" marR="6350" marT="6350" marB="0">
                    <a:solidFill>
                      <a:schemeClr val="accent6">
                        <a:lumMod val="20000"/>
                        <a:lumOff val="80000"/>
                      </a:schemeClr>
                    </a:solidFill>
                  </a:tcPr>
                </a:tc>
                <a:extLst>
                  <a:ext uri="{0D108BD9-81ED-4DB2-BD59-A6C34878D82A}">
                    <a16:rowId xmlns:a16="http://schemas.microsoft.com/office/drawing/2014/main" val="1997581017"/>
                  </a:ext>
                </a:extLst>
              </a:tr>
              <a:tr h="104648">
                <a:tc>
                  <a:txBody>
                    <a:bodyPr/>
                    <a:lstStyle/>
                    <a:p>
                      <a:pPr algn="r" fontAlgn="b"/>
                      <a:r>
                        <a:rPr lang="en-US" sz="700" kern="1200" dirty="0">
                          <a:solidFill>
                            <a:schemeClr val="tx1"/>
                          </a:solidFill>
                          <a:latin typeface="+mn-lt"/>
                          <a:ea typeface="+mn-ea"/>
                          <a:cs typeface="+mn-cs"/>
                        </a:rPr>
                        <a:t>6</a:t>
                      </a:r>
                    </a:p>
                  </a:txBody>
                  <a:tcPr marL="3086" marR="3086" marT="3086" marB="0" anchor="ctr">
                    <a:solidFill>
                      <a:schemeClr val="accent6">
                        <a:lumMod val="20000"/>
                        <a:lumOff val="80000"/>
                      </a:schemeClr>
                    </a:solidFill>
                  </a:tcPr>
                </a:tc>
                <a:tc>
                  <a:txBody>
                    <a:bodyPr/>
                    <a:lstStyle/>
                    <a:p>
                      <a:pPr algn="l" fontAlgn="t">
                        <a:buNone/>
                      </a:pPr>
                      <a:r>
                        <a:rPr lang="en-US" sz="700" b="0" i="0" u="none" strike="noStrike" dirty="0">
                          <a:solidFill>
                            <a:srgbClr val="000000"/>
                          </a:solidFill>
                          <a:effectLst/>
                          <a:latin typeface="Aptos Narrow" panose="020B0004020202020204" pitchFamily="34" charset="0"/>
                        </a:rPr>
                        <a:t>Succession Planning awareness session</a:t>
                      </a:r>
                    </a:p>
                  </a:txBody>
                  <a:tcPr marL="6350" marR="6350" marT="6350" marB="0">
                    <a:solidFill>
                      <a:schemeClr val="accent6">
                        <a:lumMod val="20000"/>
                        <a:lumOff val="80000"/>
                      </a:schemeClr>
                    </a:solidFill>
                  </a:tcPr>
                </a:tc>
                <a:extLst>
                  <a:ext uri="{0D108BD9-81ED-4DB2-BD59-A6C34878D82A}">
                    <a16:rowId xmlns:a16="http://schemas.microsoft.com/office/drawing/2014/main" val="1730723811"/>
                  </a:ext>
                </a:extLst>
              </a:tr>
              <a:tr h="104648">
                <a:tc>
                  <a:txBody>
                    <a:bodyPr/>
                    <a:lstStyle/>
                    <a:p>
                      <a:pPr algn="r" fontAlgn="b"/>
                      <a:r>
                        <a:rPr lang="en-US" sz="700" kern="1200" dirty="0">
                          <a:solidFill>
                            <a:schemeClr val="tx1"/>
                          </a:solidFill>
                          <a:latin typeface="+mn-lt"/>
                          <a:ea typeface="+mn-ea"/>
                          <a:cs typeface="+mn-cs"/>
                        </a:rPr>
                        <a:t>7</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3623766872"/>
                  </a:ext>
                </a:extLst>
              </a:tr>
              <a:tr h="104648">
                <a:tc>
                  <a:txBody>
                    <a:bodyPr/>
                    <a:lstStyle/>
                    <a:p>
                      <a:pPr algn="r" fontAlgn="b"/>
                      <a:r>
                        <a:rPr lang="en-US" sz="700" kern="1200" dirty="0">
                          <a:solidFill>
                            <a:schemeClr val="tx1"/>
                          </a:solidFill>
                          <a:latin typeface="+mn-lt"/>
                          <a:ea typeface="+mn-ea"/>
                          <a:cs typeface="+mn-cs"/>
                        </a:rPr>
                        <a:t>8</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3375889626"/>
                  </a:ext>
                </a:extLst>
              </a:tr>
              <a:tr h="104648">
                <a:tc>
                  <a:txBody>
                    <a:bodyPr/>
                    <a:lstStyle/>
                    <a:p>
                      <a:pPr algn="r" fontAlgn="b"/>
                      <a:r>
                        <a:rPr lang="en-US" sz="700" kern="1200" dirty="0">
                          <a:solidFill>
                            <a:schemeClr val="tx1"/>
                          </a:solidFill>
                          <a:latin typeface="+mn-lt"/>
                          <a:ea typeface="+mn-ea"/>
                          <a:cs typeface="+mn-cs"/>
                        </a:rPr>
                        <a:t>9</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2769560203"/>
                  </a:ext>
                </a:extLst>
              </a:tr>
              <a:tr h="104648">
                <a:tc>
                  <a:txBody>
                    <a:bodyPr/>
                    <a:lstStyle/>
                    <a:p>
                      <a:pPr algn="r" fontAlgn="b"/>
                      <a:r>
                        <a:rPr lang="en-US" sz="700" kern="1200">
                          <a:solidFill>
                            <a:schemeClr val="tx1"/>
                          </a:solidFill>
                          <a:latin typeface="+mn-lt"/>
                          <a:ea typeface="+mn-ea"/>
                          <a:cs typeface="+mn-cs"/>
                        </a:rPr>
                        <a:t>10</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4007882726"/>
                  </a:ext>
                </a:extLst>
              </a:tr>
              <a:tr h="111659">
                <a:tc>
                  <a:txBody>
                    <a:bodyPr/>
                    <a:lstStyle/>
                    <a:p>
                      <a:pPr algn="r" fontAlgn="b"/>
                      <a:r>
                        <a:rPr lang="en-US" sz="700" kern="1200" dirty="0">
                          <a:solidFill>
                            <a:schemeClr val="tx1"/>
                          </a:solidFill>
                          <a:latin typeface="+mn-lt"/>
                          <a:ea typeface="+mn-ea"/>
                          <a:cs typeface="+mn-cs"/>
                        </a:rPr>
                        <a:t>11</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3581465464"/>
                  </a:ext>
                </a:extLst>
              </a:tr>
              <a:tr h="104648">
                <a:tc>
                  <a:txBody>
                    <a:bodyPr/>
                    <a:lstStyle/>
                    <a:p>
                      <a:pPr algn="r" fontAlgn="b"/>
                      <a:r>
                        <a:rPr lang="en-US" sz="700" kern="1200" dirty="0">
                          <a:solidFill>
                            <a:schemeClr val="tx1"/>
                          </a:solidFill>
                          <a:latin typeface="+mn-lt"/>
                          <a:ea typeface="+mn-ea"/>
                          <a:cs typeface="+mn-cs"/>
                        </a:rPr>
                        <a:t>12</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1920312465"/>
                  </a:ext>
                </a:extLst>
              </a:tr>
              <a:tr h="104648">
                <a:tc>
                  <a:txBody>
                    <a:bodyPr/>
                    <a:lstStyle/>
                    <a:p>
                      <a:pPr algn="r" fontAlgn="b"/>
                      <a:r>
                        <a:rPr lang="en-US" sz="700" kern="1200" dirty="0">
                          <a:solidFill>
                            <a:schemeClr val="tx1"/>
                          </a:solidFill>
                          <a:latin typeface="+mn-lt"/>
                          <a:ea typeface="+mn-ea"/>
                          <a:cs typeface="+mn-cs"/>
                        </a:rPr>
                        <a:t>13</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3002917813"/>
                  </a:ext>
                </a:extLst>
              </a:tr>
              <a:tr h="104648">
                <a:tc>
                  <a:txBody>
                    <a:bodyPr/>
                    <a:lstStyle/>
                    <a:p>
                      <a:pPr algn="r" fontAlgn="b"/>
                      <a:r>
                        <a:rPr lang="en-US" sz="700" kern="1200" dirty="0">
                          <a:solidFill>
                            <a:schemeClr val="tx1"/>
                          </a:solidFill>
                          <a:latin typeface="+mn-lt"/>
                          <a:ea typeface="+mn-ea"/>
                          <a:cs typeface="+mn-cs"/>
                        </a:rPr>
                        <a:t>14</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1919799814"/>
                  </a:ext>
                </a:extLst>
              </a:tr>
              <a:tr h="104648">
                <a:tc>
                  <a:txBody>
                    <a:bodyPr/>
                    <a:lstStyle/>
                    <a:p>
                      <a:pPr algn="r" fontAlgn="b"/>
                      <a:r>
                        <a:rPr lang="en-US" sz="700" kern="1200" dirty="0">
                          <a:solidFill>
                            <a:schemeClr val="tx1"/>
                          </a:solidFill>
                          <a:latin typeface="+mn-lt"/>
                          <a:ea typeface="+mn-ea"/>
                          <a:cs typeface="+mn-cs"/>
                        </a:rPr>
                        <a:t>15</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2353056371"/>
                  </a:ext>
                </a:extLst>
              </a:tr>
              <a:tr h="104648">
                <a:tc>
                  <a:txBody>
                    <a:bodyPr/>
                    <a:lstStyle/>
                    <a:p>
                      <a:pPr algn="r" fontAlgn="b"/>
                      <a:r>
                        <a:rPr lang="en-US" sz="700" kern="1200" dirty="0">
                          <a:solidFill>
                            <a:schemeClr val="tx1"/>
                          </a:solidFill>
                          <a:latin typeface="+mn-lt"/>
                          <a:ea typeface="+mn-ea"/>
                          <a:cs typeface="+mn-cs"/>
                        </a:rPr>
                        <a:t>16</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2896219603"/>
                  </a:ext>
                </a:extLst>
              </a:tr>
              <a:tr h="104648">
                <a:tc>
                  <a:txBody>
                    <a:bodyPr/>
                    <a:lstStyle/>
                    <a:p>
                      <a:pPr algn="r" fontAlgn="b"/>
                      <a:r>
                        <a:rPr lang="en-US" sz="700" kern="1200" dirty="0">
                          <a:solidFill>
                            <a:schemeClr val="tx1"/>
                          </a:solidFill>
                          <a:latin typeface="+mn-lt"/>
                          <a:ea typeface="+mn-ea"/>
                          <a:cs typeface="+mn-cs"/>
                        </a:rPr>
                        <a:t>17</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1351240901"/>
                  </a:ext>
                </a:extLst>
              </a:tr>
              <a:tr h="104648">
                <a:tc>
                  <a:txBody>
                    <a:bodyPr/>
                    <a:lstStyle/>
                    <a:p>
                      <a:pPr algn="r" fontAlgn="b"/>
                      <a:r>
                        <a:rPr lang="en-US" sz="700" kern="1200" dirty="0">
                          <a:solidFill>
                            <a:schemeClr val="tx1"/>
                          </a:solidFill>
                          <a:latin typeface="+mn-lt"/>
                          <a:ea typeface="+mn-ea"/>
                          <a:cs typeface="+mn-cs"/>
                        </a:rPr>
                        <a:t>18</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2554861482"/>
                  </a:ext>
                </a:extLst>
              </a:tr>
              <a:tr h="104648">
                <a:tc>
                  <a:txBody>
                    <a:bodyPr/>
                    <a:lstStyle/>
                    <a:p>
                      <a:pPr algn="r" fontAlgn="b"/>
                      <a:r>
                        <a:rPr lang="en-US" sz="700" kern="1200" dirty="0">
                          <a:solidFill>
                            <a:schemeClr val="tx1"/>
                          </a:solidFill>
                          <a:latin typeface="+mn-lt"/>
                          <a:ea typeface="+mn-ea"/>
                          <a:cs typeface="+mn-cs"/>
                        </a:rPr>
                        <a:t>19</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3894573791"/>
                  </a:ext>
                </a:extLst>
              </a:tr>
              <a:tr h="104648">
                <a:tc>
                  <a:txBody>
                    <a:bodyPr/>
                    <a:lstStyle/>
                    <a:p>
                      <a:pPr algn="r" fontAlgn="b"/>
                      <a:r>
                        <a:rPr lang="en-US" sz="700" kern="1200" dirty="0">
                          <a:solidFill>
                            <a:schemeClr val="tx1"/>
                          </a:solidFill>
                          <a:latin typeface="+mn-lt"/>
                          <a:ea typeface="+mn-ea"/>
                          <a:cs typeface="+mn-cs"/>
                        </a:rPr>
                        <a:t>20</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927451620"/>
                  </a:ext>
                </a:extLst>
              </a:tr>
              <a:tr h="107558">
                <a:tc>
                  <a:txBody>
                    <a:bodyPr/>
                    <a:lstStyle/>
                    <a:p>
                      <a:pPr algn="r" fontAlgn="b"/>
                      <a:r>
                        <a:rPr lang="en-US" sz="700" kern="1200" dirty="0">
                          <a:solidFill>
                            <a:schemeClr val="tx1"/>
                          </a:solidFill>
                          <a:latin typeface="+mn-lt"/>
                          <a:ea typeface="+mn-ea"/>
                          <a:cs typeface="+mn-cs"/>
                        </a:rPr>
                        <a:t>21</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3849850102"/>
                  </a:ext>
                </a:extLst>
              </a:tr>
              <a:tr h="107558">
                <a:tc>
                  <a:txBody>
                    <a:bodyPr/>
                    <a:lstStyle/>
                    <a:p>
                      <a:pPr algn="r" fontAlgn="b"/>
                      <a:r>
                        <a:rPr lang="en-US" sz="700" kern="1200" dirty="0">
                          <a:solidFill>
                            <a:schemeClr val="tx1"/>
                          </a:solidFill>
                          <a:latin typeface="+mn-lt"/>
                          <a:ea typeface="+mn-ea"/>
                          <a:cs typeface="+mn-cs"/>
                        </a:rPr>
                        <a:t>22</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3662660596"/>
                  </a:ext>
                </a:extLst>
              </a:tr>
              <a:tr h="107558">
                <a:tc>
                  <a:txBody>
                    <a:bodyPr/>
                    <a:lstStyle/>
                    <a:p>
                      <a:pPr algn="r" fontAlgn="b"/>
                      <a:r>
                        <a:rPr lang="en-US" sz="700" kern="1200" dirty="0">
                          <a:solidFill>
                            <a:schemeClr val="tx1"/>
                          </a:solidFill>
                          <a:latin typeface="+mn-lt"/>
                          <a:ea typeface="+mn-ea"/>
                          <a:cs typeface="+mn-cs"/>
                        </a:rPr>
                        <a:t>23</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2461806980"/>
                  </a:ext>
                </a:extLst>
              </a:tr>
              <a:tr h="107558">
                <a:tc>
                  <a:txBody>
                    <a:bodyPr/>
                    <a:lstStyle/>
                    <a:p>
                      <a:pPr algn="r" fontAlgn="b"/>
                      <a:r>
                        <a:rPr lang="en-US" sz="700" kern="1200" dirty="0">
                          <a:solidFill>
                            <a:schemeClr val="tx1"/>
                          </a:solidFill>
                          <a:latin typeface="+mn-lt"/>
                          <a:ea typeface="+mn-ea"/>
                          <a:cs typeface="+mn-cs"/>
                        </a:rPr>
                        <a:t>24</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1296259761"/>
                  </a:ext>
                </a:extLst>
              </a:tr>
              <a:tr h="107558">
                <a:tc>
                  <a:txBody>
                    <a:bodyPr/>
                    <a:lstStyle/>
                    <a:p>
                      <a:pPr algn="r" fontAlgn="b"/>
                      <a:r>
                        <a:rPr lang="en-US" sz="700" kern="1200" dirty="0">
                          <a:solidFill>
                            <a:schemeClr val="tx1"/>
                          </a:solidFill>
                          <a:latin typeface="+mn-lt"/>
                          <a:ea typeface="+mn-ea"/>
                          <a:cs typeface="+mn-cs"/>
                        </a:rPr>
                        <a:t>25</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2662035378"/>
                  </a:ext>
                </a:extLst>
              </a:tr>
              <a:tr h="107558">
                <a:tc>
                  <a:txBody>
                    <a:bodyPr/>
                    <a:lstStyle/>
                    <a:p>
                      <a:pPr algn="r" fontAlgn="b"/>
                      <a:r>
                        <a:rPr lang="en-US" sz="700" kern="1200" dirty="0">
                          <a:solidFill>
                            <a:schemeClr val="tx1"/>
                          </a:solidFill>
                          <a:latin typeface="+mn-lt"/>
                          <a:ea typeface="+mn-ea"/>
                          <a:cs typeface="+mn-cs"/>
                        </a:rPr>
                        <a:t>26</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1060714618"/>
                  </a:ext>
                </a:extLst>
              </a:tr>
              <a:tr h="107558">
                <a:tc>
                  <a:txBody>
                    <a:bodyPr/>
                    <a:lstStyle/>
                    <a:p>
                      <a:pPr algn="r" fontAlgn="b"/>
                      <a:r>
                        <a:rPr lang="en-US" sz="700" kern="1200" dirty="0">
                          <a:solidFill>
                            <a:schemeClr val="tx1"/>
                          </a:solidFill>
                          <a:latin typeface="+mn-lt"/>
                          <a:ea typeface="+mn-ea"/>
                          <a:cs typeface="+mn-cs"/>
                        </a:rPr>
                        <a:t>27</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2010054561"/>
                  </a:ext>
                </a:extLst>
              </a:tr>
              <a:tr h="112843">
                <a:tc>
                  <a:txBody>
                    <a:bodyPr/>
                    <a:lstStyle/>
                    <a:p>
                      <a:pPr algn="r" fontAlgn="b"/>
                      <a:r>
                        <a:rPr lang="en-US" sz="700" kern="1200" dirty="0">
                          <a:solidFill>
                            <a:schemeClr val="tx1"/>
                          </a:solidFill>
                          <a:latin typeface="+mn-lt"/>
                          <a:ea typeface="+mn-ea"/>
                          <a:cs typeface="+mn-cs"/>
                        </a:rPr>
                        <a:t>28</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4071404154"/>
                  </a:ext>
                </a:extLst>
              </a:tr>
              <a:tr h="112843">
                <a:tc>
                  <a:txBody>
                    <a:bodyPr/>
                    <a:lstStyle/>
                    <a:p>
                      <a:pPr algn="r" fontAlgn="b"/>
                      <a:r>
                        <a:rPr lang="en-US" sz="700" kern="1200" dirty="0">
                          <a:solidFill>
                            <a:schemeClr val="tx1"/>
                          </a:solidFill>
                          <a:latin typeface="+mn-lt"/>
                          <a:ea typeface="+mn-ea"/>
                          <a:cs typeface="+mn-cs"/>
                        </a:rPr>
                        <a:t>29</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560430791"/>
                  </a:ext>
                </a:extLst>
              </a:tr>
              <a:tr h="112843">
                <a:tc>
                  <a:txBody>
                    <a:bodyPr/>
                    <a:lstStyle/>
                    <a:p>
                      <a:pPr algn="r" fontAlgn="b"/>
                      <a:r>
                        <a:rPr lang="en-US" sz="700" kern="1200" dirty="0">
                          <a:solidFill>
                            <a:schemeClr val="tx1"/>
                          </a:solidFill>
                          <a:latin typeface="+mn-lt"/>
                          <a:ea typeface="+mn-ea"/>
                          <a:cs typeface="+mn-cs"/>
                        </a:rPr>
                        <a:t>30</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3606810428"/>
                  </a:ext>
                </a:extLst>
              </a:tr>
              <a:tr h="112843">
                <a:tc>
                  <a:txBody>
                    <a:bodyPr/>
                    <a:lstStyle/>
                    <a:p>
                      <a:pPr algn="r" fontAlgn="b"/>
                      <a:r>
                        <a:rPr lang="en-US" sz="700" kern="1200" dirty="0">
                          <a:solidFill>
                            <a:schemeClr val="tx1"/>
                          </a:solidFill>
                          <a:latin typeface="+mn-lt"/>
                          <a:ea typeface="+mn-ea"/>
                          <a:cs typeface="+mn-cs"/>
                        </a:rPr>
                        <a:t>31</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3314761331"/>
                  </a:ext>
                </a:extLst>
              </a:tr>
              <a:tr h="112843">
                <a:tc>
                  <a:txBody>
                    <a:bodyPr/>
                    <a:lstStyle/>
                    <a:p>
                      <a:pPr algn="r" fontAlgn="b"/>
                      <a:r>
                        <a:rPr lang="en-US" sz="700" kern="1200" dirty="0">
                          <a:solidFill>
                            <a:schemeClr val="tx1"/>
                          </a:solidFill>
                          <a:latin typeface="+mn-lt"/>
                          <a:ea typeface="+mn-ea"/>
                          <a:cs typeface="+mn-cs"/>
                        </a:rPr>
                        <a:t>32</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3830797932"/>
                  </a:ext>
                </a:extLst>
              </a:tr>
              <a:tr h="112843">
                <a:tc>
                  <a:txBody>
                    <a:bodyPr/>
                    <a:lstStyle/>
                    <a:p>
                      <a:pPr algn="r" fontAlgn="b"/>
                      <a:r>
                        <a:rPr lang="en-US" sz="700" kern="1200" dirty="0">
                          <a:solidFill>
                            <a:schemeClr val="tx1"/>
                          </a:solidFill>
                          <a:latin typeface="+mn-lt"/>
                          <a:ea typeface="+mn-ea"/>
                          <a:cs typeface="+mn-cs"/>
                        </a:rPr>
                        <a:t>33</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4057088842"/>
                  </a:ext>
                </a:extLst>
              </a:tr>
              <a:tr h="112843">
                <a:tc>
                  <a:txBody>
                    <a:bodyPr/>
                    <a:lstStyle/>
                    <a:p>
                      <a:pPr algn="r" fontAlgn="b"/>
                      <a:r>
                        <a:rPr lang="en-US" sz="700" kern="1200" dirty="0">
                          <a:solidFill>
                            <a:schemeClr val="tx1"/>
                          </a:solidFill>
                          <a:latin typeface="+mn-lt"/>
                          <a:ea typeface="+mn-ea"/>
                          <a:cs typeface="+mn-cs"/>
                        </a:rPr>
                        <a:t>34</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3653881849"/>
                  </a:ext>
                </a:extLst>
              </a:tr>
              <a:tr h="112843">
                <a:tc>
                  <a:txBody>
                    <a:bodyPr/>
                    <a:lstStyle/>
                    <a:p>
                      <a:pPr algn="r" fontAlgn="b"/>
                      <a:r>
                        <a:rPr lang="en-US" sz="700" kern="1200" dirty="0">
                          <a:solidFill>
                            <a:schemeClr val="tx1"/>
                          </a:solidFill>
                          <a:latin typeface="+mn-lt"/>
                          <a:ea typeface="+mn-ea"/>
                          <a:cs typeface="+mn-cs"/>
                        </a:rPr>
                        <a:t>35</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1923942916"/>
                  </a:ext>
                </a:extLst>
              </a:tr>
              <a:tr h="112843">
                <a:tc>
                  <a:txBody>
                    <a:bodyPr/>
                    <a:lstStyle/>
                    <a:p>
                      <a:pPr algn="r" fontAlgn="b"/>
                      <a:r>
                        <a:rPr lang="en-US" sz="700" kern="1200" dirty="0">
                          <a:solidFill>
                            <a:schemeClr val="tx1"/>
                          </a:solidFill>
                          <a:latin typeface="+mn-lt"/>
                          <a:ea typeface="+mn-ea"/>
                          <a:cs typeface="+mn-cs"/>
                        </a:rPr>
                        <a:t>36</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4233503899"/>
                  </a:ext>
                </a:extLst>
              </a:tr>
              <a:tr h="112843">
                <a:tc>
                  <a:txBody>
                    <a:bodyPr/>
                    <a:lstStyle/>
                    <a:p>
                      <a:pPr algn="r" fontAlgn="b"/>
                      <a:r>
                        <a:rPr lang="en-US" sz="700" kern="1200" dirty="0">
                          <a:solidFill>
                            <a:schemeClr val="tx1"/>
                          </a:solidFill>
                          <a:latin typeface="+mn-lt"/>
                          <a:ea typeface="+mn-ea"/>
                          <a:cs typeface="+mn-cs"/>
                        </a:rPr>
                        <a:t>37</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2783665127"/>
                  </a:ext>
                </a:extLst>
              </a:tr>
              <a:tr h="112843">
                <a:tc>
                  <a:txBody>
                    <a:bodyPr/>
                    <a:lstStyle/>
                    <a:p>
                      <a:pPr algn="r" fontAlgn="b"/>
                      <a:r>
                        <a:rPr lang="en-US" sz="700" kern="1200" dirty="0">
                          <a:solidFill>
                            <a:schemeClr val="tx1"/>
                          </a:solidFill>
                          <a:latin typeface="+mn-lt"/>
                          <a:ea typeface="+mn-ea"/>
                          <a:cs typeface="+mn-cs"/>
                        </a:rPr>
                        <a:t>38</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3366309787"/>
                  </a:ext>
                </a:extLst>
              </a:tr>
              <a:tr h="112843">
                <a:tc>
                  <a:txBody>
                    <a:bodyPr/>
                    <a:lstStyle/>
                    <a:p>
                      <a:pPr algn="r" fontAlgn="b"/>
                      <a:r>
                        <a:rPr lang="en-US" sz="700" kern="1200" dirty="0">
                          <a:solidFill>
                            <a:schemeClr val="tx1"/>
                          </a:solidFill>
                          <a:latin typeface="+mn-lt"/>
                          <a:ea typeface="+mn-ea"/>
                          <a:cs typeface="+mn-cs"/>
                        </a:rPr>
                        <a:t>39</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3192884147"/>
                  </a:ext>
                </a:extLst>
              </a:tr>
              <a:tr h="112843">
                <a:tc>
                  <a:txBody>
                    <a:bodyPr/>
                    <a:lstStyle/>
                    <a:p>
                      <a:pPr algn="r" fontAlgn="b"/>
                      <a:r>
                        <a:rPr lang="en-US" sz="700" kern="1200" dirty="0">
                          <a:solidFill>
                            <a:schemeClr val="tx1"/>
                          </a:solidFill>
                          <a:latin typeface="+mn-lt"/>
                          <a:ea typeface="+mn-ea"/>
                          <a:cs typeface="+mn-cs"/>
                        </a:rPr>
                        <a:t>40</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1726681830"/>
                  </a:ext>
                </a:extLst>
              </a:tr>
              <a:tr h="112843">
                <a:tc>
                  <a:txBody>
                    <a:bodyPr/>
                    <a:lstStyle/>
                    <a:p>
                      <a:pPr algn="r" fontAlgn="b"/>
                      <a:r>
                        <a:rPr lang="en-US" sz="700" kern="1200" dirty="0">
                          <a:solidFill>
                            <a:schemeClr val="tx1"/>
                          </a:solidFill>
                          <a:latin typeface="+mn-lt"/>
                          <a:ea typeface="+mn-ea"/>
                          <a:cs typeface="+mn-cs"/>
                        </a:rPr>
                        <a:t>41</a:t>
                      </a:r>
                    </a:p>
                  </a:txBody>
                  <a:tcPr marL="3086" marR="3086" marT="3086" marB="0" anchor="ctr">
                    <a:solidFill>
                      <a:schemeClr val="accent6">
                        <a:lumMod val="20000"/>
                        <a:lumOff val="80000"/>
                      </a:schemeClr>
                    </a:solidFill>
                  </a:tcPr>
                </a:tc>
                <a:tc>
                  <a:txBody>
                    <a:bodyPr/>
                    <a:lstStyle/>
                    <a:p>
                      <a:pPr algn="l" fontAlgn="t">
                        <a:buNone/>
                      </a:pPr>
                      <a:endParaRPr lang="en-US" sz="700" b="0" i="0" u="none" strike="noStrike" dirty="0">
                        <a:solidFill>
                          <a:srgbClr val="000000"/>
                        </a:solidFill>
                        <a:effectLst/>
                        <a:latin typeface="Aptos Narrow" panose="020B0004020202020204" pitchFamily="34" charset="0"/>
                      </a:endParaRPr>
                    </a:p>
                  </a:txBody>
                  <a:tcPr marL="6350" marR="6350" marT="6350" marB="0">
                    <a:solidFill>
                      <a:schemeClr val="accent6">
                        <a:lumMod val="20000"/>
                        <a:lumOff val="80000"/>
                      </a:schemeClr>
                    </a:solidFill>
                  </a:tcPr>
                </a:tc>
                <a:extLst>
                  <a:ext uri="{0D108BD9-81ED-4DB2-BD59-A6C34878D82A}">
                    <a16:rowId xmlns:a16="http://schemas.microsoft.com/office/drawing/2014/main" val="1253066667"/>
                  </a:ext>
                </a:extLst>
              </a:tr>
              <a:tr h="112843">
                <a:tc>
                  <a:txBody>
                    <a:bodyPr/>
                    <a:lstStyle/>
                    <a:p>
                      <a:pPr algn="r" fontAlgn="b"/>
                      <a:r>
                        <a:rPr lang="en-US" sz="700" kern="1200" dirty="0">
                          <a:solidFill>
                            <a:schemeClr val="tx1"/>
                          </a:solidFill>
                          <a:latin typeface="+mn-lt"/>
                          <a:ea typeface="+mn-ea"/>
                          <a:cs typeface="+mn-cs"/>
                        </a:rPr>
                        <a:t>42</a:t>
                      </a:r>
                    </a:p>
                  </a:txBody>
                  <a:tcPr marL="3086" marR="3086" marT="3086" marB="0" anchor="ctr">
                    <a:solidFill>
                      <a:schemeClr val="accent6">
                        <a:lumMod val="20000"/>
                        <a:lumOff val="80000"/>
                      </a:schemeClr>
                    </a:solidFill>
                  </a:tcPr>
                </a:tc>
                <a:tc>
                  <a:txBody>
                    <a:bodyPr/>
                    <a:lstStyle/>
                    <a:p>
                      <a:pPr algn="l" fontAlgn="b">
                        <a:buNone/>
                      </a:pPr>
                      <a:endParaRPr lang="en-US" sz="7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extLst>
                  <a:ext uri="{0D108BD9-81ED-4DB2-BD59-A6C34878D82A}">
                    <a16:rowId xmlns:a16="http://schemas.microsoft.com/office/drawing/2014/main" val="727550103"/>
                  </a:ext>
                </a:extLst>
              </a:tr>
            </a:tbl>
          </a:graphicData>
        </a:graphic>
      </p:graphicFrame>
      <p:sp>
        <p:nvSpPr>
          <p:cNvPr id="10" name="TextBox 9">
            <a:extLst>
              <a:ext uri="{FF2B5EF4-FFF2-40B4-BE49-F238E27FC236}">
                <a16:creationId xmlns:a16="http://schemas.microsoft.com/office/drawing/2014/main" id="{04EE1468-8FEE-2A9C-3D10-DEF6236AEA3C}"/>
              </a:ext>
            </a:extLst>
          </p:cNvPr>
          <p:cNvSpPr txBox="1"/>
          <p:nvPr/>
        </p:nvSpPr>
        <p:spPr>
          <a:xfrm>
            <a:off x="270372" y="5436244"/>
            <a:ext cx="7208578" cy="369332"/>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a:spAutoFit/>
          </a:bodyPr>
          <a:lstStyle/>
          <a:p>
            <a:pPr fontAlgn="b"/>
            <a:r>
              <a:rPr lang="en-US" b="1" dirty="0">
                <a:solidFill>
                  <a:schemeClr val="bg1"/>
                </a:solidFill>
              </a:rPr>
              <a:t>Upcoming Training Sessions</a:t>
            </a:r>
            <a:endParaRPr lang="en-US" sz="1800" b="1" kern="1200" dirty="0">
              <a:solidFill>
                <a:schemeClr val="bg1"/>
              </a:solidFill>
              <a:latin typeface="+mn-lt"/>
              <a:ea typeface="+mn-ea"/>
              <a:cs typeface="+mn-cs"/>
            </a:endParaRPr>
          </a:p>
        </p:txBody>
      </p:sp>
      <p:sp>
        <p:nvSpPr>
          <p:cNvPr id="11" name="Rectangle 10">
            <a:extLst>
              <a:ext uri="{FF2B5EF4-FFF2-40B4-BE49-F238E27FC236}">
                <a16:creationId xmlns:a16="http://schemas.microsoft.com/office/drawing/2014/main" id="{9EC4BD00-7BE2-B5AF-56D2-6A3FC7495AFF}"/>
              </a:ext>
            </a:extLst>
          </p:cNvPr>
          <p:cNvSpPr/>
          <p:nvPr/>
        </p:nvSpPr>
        <p:spPr>
          <a:xfrm>
            <a:off x="267766" y="5805576"/>
            <a:ext cx="7194932" cy="796951"/>
          </a:xfrm>
          <a:prstGeom prst="rect">
            <a:avLst/>
          </a:prstGeom>
          <a:solidFill>
            <a:schemeClr val="bg1">
              <a:lumMod val="95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marL="285750" indent="-285750">
              <a:buFontTx/>
              <a:buChar char="-"/>
            </a:pPr>
            <a:endParaRPr lang="en-US" sz="1400" dirty="0">
              <a:solidFill>
                <a:schemeClr val="tx1"/>
              </a:solidFill>
            </a:endParaRPr>
          </a:p>
          <a:p>
            <a:pPr marL="285750" indent="-285750">
              <a:buFontTx/>
              <a:buChar char="-"/>
            </a:pPr>
            <a:endParaRPr lang="en-US" sz="1000" dirty="0">
              <a:solidFill>
                <a:schemeClr val="tx1"/>
              </a:solidFill>
            </a:endParaRPr>
          </a:p>
          <a:p>
            <a:pPr marL="285750" indent="-285750">
              <a:buFontTx/>
              <a:buChar char="-"/>
            </a:pPr>
            <a:r>
              <a:rPr lang="en-US" sz="1000" dirty="0">
                <a:solidFill>
                  <a:schemeClr val="tx1"/>
                </a:solidFill>
              </a:rPr>
              <a:t>Emotional Intelligence</a:t>
            </a:r>
          </a:p>
          <a:p>
            <a:pPr marL="285750" indent="-285750">
              <a:buFontTx/>
              <a:buChar char="-"/>
            </a:pPr>
            <a:r>
              <a:rPr lang="en-US" sz="1000" dirty="0">
                <a:solidFill>
                  <a:schemeClr val="tx1"/>
                </a:solidFill>
              </a:rPr>
              <a:t>AI</a:t>
            </a:r>
          </a:p>
          <a:p>
            <a:pPr marL="285750" indent="-285750">
              <a:buFontTx/>
              <a:buChar char="-"/>
            </a:pPr>
            <a:r>
              <a:rPr lang="en-US" sz="1000" dirty="0">
                <a:solidFill>
                  <a:schemeClr val="tx1"/>
                </a:solidFill>
              </a:rPr>
              <a:t>Cyber security</a:t>
            </a:r>
          </a:p>
          <a:p>
            <a:pPr marL="285750" indent="-285750">
              <a:buFontTx/>
              <a:buChar char="-"/>
            </a:pPr>
            <a:endParaRPr lang="en-US" sz="1600" dirty="0">
              <a:solidFill>
                <a:schemeClr val="bg1"/>
              </a:solidFill>
            </a:endParaRPr>
          </a:p>
        </p:txBody>
      </p:sp>
      <p:sp>
        <p:nvSpPr>
          <p:cNvPr id="2" name="Rectangle 1">
            <a:extLst>
              <a:ext uri="{FF2B5EF4-FFF2-40B4-BE49-F238E27FC236}">
                <a16:creationId xmlns:a16="http://schemas.microsoft.com/office/drawing/2014/main" id="{1605C597-97A1-7732-D2D7-0A2BC3703244}"/>
              </a:ext>
            </a:extLst>
          </p:cNvPr>
          <p:cNvSpPr/>
          <p:nvPr/>
        </p:nvSpPr>
        <p:spPr>
          <a:xfrm>
            <a:off x="7902621" y="1479993"/>
            <a:ext cx="3419021" cy="302554"/>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Safety Topics (Hours) </a:t>
            </a:r>
          </a:p>
        </p:txBody>
      </p:sp>
      <p:sp>
        <p:nvSpPr>
          <p:cNvPr id="6" name="Rectangle 5">
            <a:extLst>
              <a:ext uri="{FF2B5EF4-FFF2-40B4-BE49-F238E27FC236}">
                <a16:creationId xmlns:a16="http://schemas.microsoft.com/office/drawing/2014/main" id="{327C2B8F-5DBB-AEEB-1ECB-C723A7229924}"/>
              </a:ext>
            </a:extLst>
          </p:cNvPr>
          <p:cNvSpPr/>
          <p:nvPr/>
        </p:nvSpPr>
        <p:spPr>
          <a:xfrm>
            <a:off x="10341574" y="1466673"/>
            <a:ext cx="914400" cy="338554"/>
          </a:xfrm>
          <a:prstGeom prst="rect">
            <a:avLst/>
          </a:prstGeom>
        </p:spPr>
        <p:txBody>
          <a:bodyPr wrap="none" anchor="ctr">
            <a:normAutofit/>
          </a:bodyPr>
          <a:lstStyle/>
          <a:p>
            <a:pPr algn="r">
              <a:spcBef>
                <a:spcPts val="600"/>
              </a:spcBef>
            </a:pPr>
            <a:r>
              <a:rPr lang="en-US" sz="1200" dirty="0">
                <a:solidFill>
                  <a:schemeClr val="bg1"/>
                </a:solidFill>
              </a:rPr>
              <a:t>33 %</a:t>
            </a:r>
          </a:p>
        </p:txBody>
      </p:sp>
      <p:graphicFrame>
        <p:nvGraphicFramePr>
          <p:cNvPr id="4" name="Chart 3">
            <a:extLst>
              <a:ext uri="{FF2B5EF4-FFF2-40B4-BE49-F238E27FC236}">
                <a16:creationId xmlns:a16="http://schemas.microsoft.com/office/drawing/2014/main" id="{7CF55117-0818-F678-1624-06435D753E5F}"/>
              </a:ext>
            </a:extLst>
          </p:cNvPr>
          <p:cNvGraphicFramePr>
            <a:graphicFrameLocks/>
          </p:cNvGraphicFramePr>
          <p:nvPr>
            <p:extLst>
              <p:ext uri="{D42A27DB-BD31-4B8C-83A1-F6EECF244321}">
                <p14:modId xmlns:p14="http://schemas.microsoft.com/office/powerpoint/2010/main" val="1154612255"/>
              </p:ext>
            </p:extLst>
          </p:nvPr>
        </p:nvGraphicFramePr>
        <p:xfrm>
          <a:off x="217565" y="2904278"/>
          <a:ext cx="7309038" cy="242180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391672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289D32E-24E7-BF52-0930-1285FC4A04EB}"/>
              </a:ext>
            </a:extLst>
          </p:cNvPr>
          <p:cNvGraphicFramePr>
            <a:graphicFrameLocks noGrp="1"/>
          </p:cNvGraphicFramePr>
          <p:nvPr>
            <p:extLst>
              <p:ext uri="{D42A27DB-BD31-4B8C-83A1-F6EECF244321}">
                <p14:modId xmlns:p14="http://schemas.microsoft.com/office/powerpoint/2010/main" val="3314504004"/>
              </p:ext>
            </p:extLst>
          </p:nvPr>
        </p:nvGraphicFramePr>
        <p:xfrm>
          <a:off x="294356" y="618810"/>
          <a:ext cx="5447734" cy="5804850"/>
        </p:xfrm>
        <a:graphic>
          <a:graphicData uri="http://schemas.openxmlformats.org/drawingml/2006/table">
            <a:tbl>
              <a:tblPr firstRow="1" firstCol="1" bandRow="1">
                <a:tableStyleId>{5C22544A-7EE6-4342-B048-85BDC9FD1C3A}</a:tableStyleId>
              </a:tblPr>
              <a:tblGrid>
                <a:gridCol w="973527">
                  <a:extLst>
                    <a:ext uri="{9D8B030D-6E8A-4147-A177-3AD203B41FA5}">
                      <a16:colId xmlns:a16="http://schemas.microsoft.com/office/drawing/2014/main" val="367143554"/>
                    </a:ext>
                  </a:extLst>
                </a:gridCol>
                <a:gridCol w="1011601">
                  <a:extLst>
                    <a:ext uri="{9D8B030D-6E8A-4147-A177-3AD203B41FA5}">
                      <a16:colId xmlns:a16="http://schemas.microsoft.com/office/drawing/2014/main" val="3587789303"/>
                    </a:ext>
                  </a:extLst>
                </a:gridCol>
                <a:gridCol w="1204615">
                  <a:extLst>
                    <a:ext uri="{9D8B030D-6E8A-4147-A177-3AD203B41FA5}">
                      <a16:colId xmlns:a16="http://schemas.microsoft.com/office/drawing/2014/main" val="2006659127"/>
                    </a:ext>
                  </a:extLst>
                </a:gridCol>
                <a:gridCol w="1175531">
                  <a:extLst>
                    <a:ext uri="{9D8B030D-6E8A-4147-A177-3AD203B41FA5}">
                      <a16:colId xmlns:a16="http://schemas.microsoft.com/office/drawing/2014/main" val="1069317575"/>
                    </a:ext>
                  </a:extLst>
                </a:gridCol>
                <a:gridCol w="1082460">
                  <a:extLst>
                    <a:ext uri="{9D8B030D-6E8A-4147-A177-3AD203B41FA5}">
                      <a16:colId xmlns:a16="http://schemas.microsoft.com/office/drawing/2014/main" val="184044083"/>
                    </a:ext>
                  </a:extLst>
                </a:gridCol>
              </a:tblGrid>
              <a:tr h="164364">
                <a:tc>
                  <a:txBody>
                    <a:bodyPr/>
                    <a:lstStyle/>
                    <a:p>
                      <a:pPr marL="0" marR="0" algn="ctr">
                        <a:lnSpc>
                          <a:spcPct val="107000"/>
                        </a:lnSpc>
                        <a:spcAft>
                          <a:spcPts val="500"/>
                        </a:spcAft>
                        <a:buNone/>
                      </a:pPr>
                      <a:r>
                        <a:rPr lang="en-US" sz="500" b="1" dirty="0">
                          <a:solidFill>
                            <a:srgbClr val="FFFFFF"/>
                          </a:solidFill>
                          <a:effectLst/>
                        </a:rPr>
                        <a:t>Project / Initiative</a:t>
                      </a:r>
                      <a:endParaRPr lang="en-US" sz="500" b="1" dirty="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solidFill>
                      <a:schemeClr val="accent1">
                        <a:lumMod val="50000"/>
                      </a:schemeClr>
                    </a:solidFill>
                  </a:tcPr>
                </a:tc>
                <a:tc>
                  <a:txBody>
                    <a:bodyPr/>
                    <a:lstStyle/>
                    <a:p>
                      <a:pPr marL="0" marR="0" algn="ctr">
                        <a:lnSpc>
                          <a:spcPct val="107000"/>
                        </a:lnSpc>
                        <a:spcAft>
                          <a:spcPts val="500"/>
                        </a:spcAft>
                        <a:buNone/>
                      </a:pPr>
                      <a:r>
                        <a:rPr lang="en-US" sz="500" b="1" dirty="0">
                          <a:solidFill>
                            <a:srgbClr val="FFFFFF"/>
                          </a:solidFill>
                          <a:effectLst/>
                        </a:rPr>
                        <a:t>Purpose / Objective</a:t>
                      </a:r>
                      <a:endParaRPr lang="en-US" sz="500" b="1" dirty="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solidFill>
                      <a:schemeClr val="accent1">
                        <a:lumMod val="50000"/>
                      </a:schemeClr>
                    </a:solidFill>
                  </a:tcPr>
                </a:tc>
                <a:tc>
                  <a:txBody>
                    <a:bodyPr/>
                    <a:lstStyle/>
                    <a:p>
                      <a:pPr marL="0" marR="0" algn="ctr">
                        <a:lnSpc>
                          <a:spcPct val="107000"/>
                        </a:lnSpc>
                        <a:spcAft>
                          <a:spcPts val="500"/>
                        </a:spcAft>
                        <a:buNone/>
                      </a:pPr>
                      <a:r>
                        <a:rPr lang="en-US" sz="500" b="1" dirty="0">
                          <a:solidFill>
                            <a:srgbClr val="FFFFFF"/>
                          </a:solidFill>
                          <a:effectLst/>
                        </a:rPr>
                        <a:t>Current Status</a:t>
                      </a:r>
                      <a:endParaRPr lang="en-US" sz="500" b="1" dirty="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solidFill>
                      <a:schemeClr val="accent1">
                        <a:lumMod val="50000"/>
                      </a:schemeClr>
                    </a:solidFill>
                  </a:tcPr>
                </a:tc>
                <a:tc>
                  <a:txBody>
                    <a:bodyPr/>
                    <a:lstStyle/>
                    <a:p>
                      <a:pPr marL="0" marR="0" algn="ctr">
                        <a:lnSpc>
                          <a:spcPct val="107000"/>
                        </a:lnSpc>
                        <a:spcAft>
                          <a:spcPts val="500"/>
                        </a:spcAft>
                        <a:buNone/>
                      </a:pPr>
                      <a:r>
                        <a:rPr lang="en-US" sz="500" b="1" dirty="0">
                          <a:solidFill>
                            <a:srgbClr val="FFFFFF"/>
                          </a:solidFill>
                          <a:effectLst/>
                        </a:rPr>
                        <a:t>Key Issues / Risks</a:t>
                      </a:r>
                      <a:endParaRPr lang="en-US" sz="500" b="1" dirty="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solidFill>
                      <a:schemeClr val="accent1">
                        <a:lumMod val="50000"/>
                      </a:schemeClr>
                    </a:solidFill>
                  </a:tcPr>
                </a:tc>
                <a:tc>
                  <a:txBody>
                    <a:bodyPr/>
                    <a:lstStyle/>
                    <a:p>
                      <a:pPr marL="0" marR="0" algn="ctr">
                        <a:lnSpc>
                          <a:spcPct val="107000"/>
                        </a:lnSpc>
                        <a:spcAft>
                          <a:spcPts val="500"/>
                        </a:spcAft>
                        <a:buNone/>
                      </a:pPr>
                      <a:r>
                        <a:rPr lang="en-US" sz="500" b="1" dirty="0">
                          <a:solidFill>
                            <a:srgbClr val="FFFFFF"/>
                          </a:solidFill>
                          <a:effectLst/>
                        </a:rPr>
                        <a:t>Next Steps</a:t>
                      </a:r>
                      <a:endParaRPr lang="en-US" sz="500" b="1" dirty="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solidFill>
                      <a:schemeClr val="accent1">
                        <a:lumMod val="50000"/>
                      </a:schemeClr>
                    </a:solidFill>
                  </a:tcPr>
                </a:tc>
                <a:extLst>
                  <a:ext uri="{0D108BD9-81ED-4DB2-BD59-A6C34878D82A}">
                    <a16:rowId xmlns:a16="http://schemas.microsoft.com/office/drawing/2014/main" val="914255326"/>
                  </a:ext>
                </a:extLst>
              </a:tr>
              <a:tr h="414514">
                <a:tc>
                  <a:txBody>
                    <a:bodyPr/>
                    <a:lstStyle/>
                    <a:p>
                      <a:pPr marL="0" marR="0" algn="l">
                        <a:lnSpc>
                          <a:spcPct val="107000"/>
                        </a:lnSpc>
                        <a:spcAft>
                          <a:spcPts val="500"/>
                        </a:spcAft>
                        <a:buNone/>
                      </a:pPr>
                      <a:r>
                        <a:rPr lang="en-US" sz="500" b="1" dirty="0">
                          <a:solidFill>
                            <a:schemeClr val="bg1"/>
                          </a:solidFill>
                          <a:effectLst/>
                        </a:rPr>
                        <a:t>Scholarship </a:t>
                      </a:r>
                      <a:r>
                        <a:rPr lang="en-US" sz="500" b="1" dirty="0" err="1">
                          <a:solidFill>
                            <a:schemeClr val="bg1"/>
                          </a:solidFill>
                          <a:effectLst/>
                        </a:rPr>
                        <a:t>Programme</a:t>
                      </a:r>
                      <a:endParaRPr lang="en-US" sz="5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solidFill>
                      <a:schemeClr val="accent3">
                        <a:lumMod val="60000"/>
                        <a:lumOff val="40000"/>
                      </a:schemeClr>
                    </a:solidFill>
                  </a:tcPr>
                </a:tc>
                <a:tc>
                  <a:txBody>
                    <a:bodyPr/>
                    <a:lstStyle/>
                    <a:p>
                      <a:pPr marL="0" marR="0" algn="l">
                        <a:lnSpc>
                          <a:spcPct val="107000"/>
                        </a:lnSpc>
                        <a:spcAft>
                          <a:spcPts val="500"/>
                        </a:spcAft>
                        <a:buNone/>
                      </a:pPr>
                      <a:r>
                        <a:rPr lang="en-US" sz="500">
                          <a:solidFill>
                            <a:srgbClr val="000000"/>
                          </a:solidFill>
                          <a:effectLst/>
                        </a:rPr>
                        <a:t>Provide educational support to students from host communities.</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The programme is fully operational and continues to support beneficiaries in accordance with the approved framework.</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No significant issues reported.</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Continue monitoring academic performance and programme compliance.</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extLst>
                  <a:ext uri="{0D108BD9-81ED-4DB2-BD59-A6C34878D82A}">
                    <a16:rowId xmlns:a16="http://schemas.microsoft.com/office/drawing/2014/main" val="1421387238"/>
                  </a:ext>
                </a:extLst>
              </a:tr>
              <a:tr h="414514">
                <a:tc>
                  <a:txBody>
                    <a:bodyPr/>
                    <a:lstStyle/>
                    <a:p>
                      <a:pPr marL="0" marR="0" algn="l">
                        <a:lnSpc>
                          <a:spcPct val="107000"/>
                        </a:lnSpc>
                        <a:spcAft>
                          <a:spcPts val="500"/>
                        </a:spcAft>
                        <a:buNone/>
                      </a:pPr>
                      <a:r>
                        <a:rPr lang="en-US" sz="500" b="1">
                          <a:solidFill>
                            <a:schemeClr val="bg1"/>
                          </a:solidFill>
                          <a:effectLst/>
                        </a:rPr>
                        <a:t>Zamba Water Tank Replacement</a:t>
                      </a:r>
                      <a:endParaRPr lang="en-US" sz="5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solidFill>
                      <a:schemeClr val="accent3">
                        <a:lumMod val="60000"/>
                        <a:lumOff val="40000"/>
                      </a:schemeClr>
                    </a:solidFill>
                  </a:tcPr>
                </a:tc>
                <a:tc>
                  <a:txBody>
                    <a:bodyPr/>
                    <a:lstStyle/>
                    <a:p>
                      <a:pPr marL="0" marR="0" algn="l">
                        <a:lnSpc>
                          <a:spcPct val="107000"/>
                        </a:lnSpc>
                        <a:spcAft>
                          <a:spcPts val="500"/>
                        </a:spcAft>
                        <a:buNone/>
                      </a:pPr>
                      <a:r>
                        <a:rPr lang="en-US" sz="500">
                          <a:solidFill>
                            <a:srgbClr val="000000"/>
                          </a:solidFill>
                          <a:effectLst/>
                        </a:rPr>
                        <a:t>Replace the damaged and perforated community water tank.</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A replacement tank is already available. The community has agreed on the new installation site.</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Implementation is awaiting the final Scope of Work (SOW).</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Finalise the Scope of Work and commence installation.</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extLst>
                  <a:ext uri="{0D108BD9-81ED-4DB2-BD59-A6C34878D82A}">
                    <a16:rowId xmlns:a16="http://schemas.microsoft.com/office/drawing/2014/main" val="898870767"/>
                  </a:ext>
                </a:extLst>
              </a:tr>
              <a:tr h="539588">
                <a:tc>
                  <a:txBody>
                    <a:bodyPr/>
                    <a:lstStyle/>
                    <a:p>
                      <a:pPr marL="0" marR="0" algn="l">
                        <a:lnSpc>
                          <a:spcPct val="107000"/>
                        </a:lnSpc>
                        <a:spcAft>
                          <a:spcPts val="500"/>
                        </a:spcAft>
                        <a:buNone/>
                      </a:pPr>
                      <a:r>
                        <a:rPr lang="en-US" sz="500" b="1" dirty="0" err="1">
                          <a:solidFill>
                            <a:schemeClr val="bg1"/>
                          </a:solidFill>
                          <a:effectLst/>
                        </a:rPr>
                        <a:t>Mwinda</a:t>
                      </a:r>
                      <a:r>
                        <a:rPr lang="en-US" sz="500" b="1" dirty="0">
                          <a:solidFill>
                            <a:schemeClr val="bg1"/>
                          </a:solidFill>
                          <a:effectLst/>
                        </a:rPr>
                        <a:t> Partnership – Local PPE Manufacturing</a:t>
                      </a:r>
                      <a:endParaRPr lang="en-US" sz="5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solidFill>
                      <a:schemeClr val="accent3">
                        <a:lumMod val="60000"/>
                        <a:lumOff val="40000"/>
                      </a:schemeClr>
                    </a:solidFill>
                  </a:tcPr>
                </a:tc>
                <a:tc>
                  <a:txBody>
                    <a:bodyPr/>
                    <a:lstStyle/>
                    <a:p>
                      <a:pPr marL="0" marR="0" algn="l">
                        <a:lnSpc>
                          <a:spcPct val="107000"/>
                        </a:lnSpc>
                        <a:spcAft>
                          <a:spcPts val="500"/>
                        </a:spcAft>
                        <a:buNone/>
                      </a:pPr>
                      <a:r>
                        <a:rPr lang="en-US" sz="500" dirty="0">
                          <a:solidFill>
                            <a:srgbClr val="000000"/>
                          </a:solidFill>
                          <a:effectLst/>
                        </a:rPr>
                        <a:t>Empower local women through vocational training while developing local PPE production capacity.</a:t>
                      </a:r>
                      <a:endParaRPr lang="en-US" sz="500" dirty="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dirty="0">
                          <a:solidFill>
                            <a:srgbClr val="000000"/>
                          </a:solidFill>
                          <a:effectLst/>
                        </a:rPr>
                        <a:t>Procurement review concluded that </a:t>
                      </a:r>
                      <a:r>
                        <a:rPr lang="en-US" sz="500" dirty="0" err="1">
                          <a:solidFill>
                            <a:srgbClr val="000000"/>
                          </a:solidFill>
                          <a:effectLst/>
                        </a:rPr>
                        <a:t>Mwinda</a:t>
                      </a:r>
                      <a:r>
                        <a:rPr lang="en-US" sz="500" dirty="0">
                          <a:solidFill>
                            <a:srgbClr val="000000"/>
                          </a:solidFill>
                          <a:effectLst/>
                        </a:rPr>
                        <a:t> is the only qualified supplier. A Sole Supplier Justification has been prepared and submitted for approval.</a:t>
                      </a:r>
                      <a:endParaRPr lang="en-US" sz="500" dirty="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Procurement approval pending.</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Complete the approval process and initiate implementation of the partnership.</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extLst>
                  <a:ext uri="{0D108BD9-81ED-4DB2-BD59-A6C34878D82A}">
                    <a16:rowId xmlns:a16="http://schemas.microsoft.com/office/drawing/2014/main" val="3719773237"/>
                  </a:ext>
                </a:extLst>
              </a:tr>
              <a:tr h="414514">
                <a:tc>
                  <a:txBody>
                    <a:bodyPr/>
                    <a:lstStyle/>
                    <a:p>
                      <a:pPr marL="0" marR="0" algn="l">
                        <a:lnSpc>
                          <a:spcPct val="107000"/>
                        </a:lnSpc>
                        <a:spcAft>
                          <a:spcPts val="500"/>
                        </a:spcAft>
                        <a:buNone/>
                      </a:pPr>
                      <a:r>
                        <a:rPr lang="en-US" sz="500" b="1">
                          <a:solidFill>
                            <a:schemeClr val="bg1"/>
                          </a:solidFill>
                          <a:effectLst/>
                        </a:rPr>
                        <a:t>PPC School</a:t>
                      </a:r>
                      <a:endParaRPr lang="en-US" sz="5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solidFill>
                      <a:schemeClr val="accent3">
                        <a:lumMod val="60000"/>
                        <a:lumOff val="40000"/>
                      </a:schemeClr>
                    </a:solidFill>
                  </a:tcPr>
                </a:tc>
                <a:tc>
                  <a:txBody>
                    <a:bodyPr/>
                    <a:lstStyle/>
                    <a:p>
                      <a:pPr marL="0" marR="0" algn="l">
                        <a:lnSpc>
                          <a:spcPct val="107000"/>
                        </a:lnSpc>
                        <a:spcAft>
                          <a:spcPts val="500"/>
                        </a:spcAft>
                        <a:buNone/>
                      </a:pPr>
                      <a:r>
                        <a:rPr lang="en-US" sz="500">
                          <a:solidFill>
                            <a:srgbClr val="000000"/>
                          </a:solidFill>
                          <a:effectLst/>
                        </a:rPr>
                        <a:t>Improve community education infrastructure and strengthen the school's institutional framework.</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The potable water project has been completed successfully. The school's legal documentation has been prepared.</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Awaiting the Managing Director's signature to complete the legal formalisation process.</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Finalise legal registration and continue supporting the school.</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extLst>
                  <a:ext uri="{0D108BD9-81ED-4DB2-BD59-A6C34878D82A}">
                    <a16:rowId xmlns:a16="http://schemas.microsoft.com/office/drawing/2014/main" val="3326993414"/>
                  </a:ext>
                </a:extLst>
              </a:tr>
              <a:tr h="414514">
                <a:tc>
                  <a:txBody>
                    <a:bodyPr/>
                    <a:lstStyle/>
                    <a:p>
                      <a:pPr marL="0" marR="0" algn="l">
                        <a:lnSpc>
                          <a:spcPct val="107000"/>
                        </a:lnSpc>
                        <a:spcAft>
                          <a:spcPts val="500"/>
                        </a:spcAft>
                        <a:buNone/>
                      </a:pPr>
                      <a:r>
                        <a:rPr lang="en-US" sz="500" b="1" dirty="0">
                          <a:solidFill>
                            <a:schemeClr val="bg1"/>
                          </a:solidFill>
                          <a:effectLst/>
                        </a:rPr>
                        <a:t>Sewing Workshop</a:t>
                      </a:r>
                      <a:endParaRPr lang="en-US" sz="5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solidFill>
                      <a:schemeClr val="accent3">
                        <a:lumMod val="60000"/>
                        <a:lumOff val="40000"/>
                      </a:schemeClr>
                    </a:solidFill>
                  </a:tcPr>
                </a:tc>
                <a:tc>
                  <a:txBody>
                    <a:bodyPr/>
                    <a:lstStyle/>
                    <a:p>
                      <a:pPr marL="0" marR="0" algn="l">
                        <a:lnSpc>
                          <a:spcPct val="107000"/>
                        </a:lnSpc>
                        <a:spcAft>
                          <a:spcPts val="500"/>
                        </a:spcAft>
                        <a:buNone/>
                      </a:pPr>
                      <a:r>
                        <a:rPr lang="en-US" sz="500">
                          <a:solidFill>
                            <a:srgbClr val="000000"/>
                          </a:solidFill>
                          <a:effectLst/>
                        </a:rPr>
                        <a:t>Develop vocational skills and improve employability of local women.</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dirty="0">
                          <a:solidFill>
                            <a:srgbClr val="000000"/>
                          </a:solidFill>
                          <a:effectLst/>
                        </a:rPr>
                        <a:t>The training </a:t>
                      </a:r>
                      <a:r>
                        <a:rPr lang="en-US" sz="500" dirty="0" err="1">
                          <a:solidFill>
                            <a:srgbClr val="000000"/>
                          </a:solidFill>
                          <a:effectLst/>
                        </a:rPr>
                        <a:t>programme</a:t>
                      </a:r>
                      <a:r>
                        <a:rPr lang="en-US" sz="500" dirty="0">
                          <a:solidFill>
                            <a:srgbClr val="000000"/>
                          </a:solidFill>
                          <a:effectLst/>
                        </a:rPr>
                        <a:t> has been successfully completed, and certificates were awarded on 27 June 2026.</a:t>
                      </a:r>
                      <a:endParaRPr lang="en-US" sz="500" dirty="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None.</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dirty="0">
                          <a:solidFill>
                            <a:srgbClr val="000000"/>
                          </a:solidFill>
                          <a:effectLst/>
                        </a:rPr>
                        <a:t>Integrate graduates into the </a:t>
                      </a:r>
                      <a:r>
                        <a:rPr lang="en-US" sz="500" dirty="0" err="1">
                          <a:solidFill>
                            <a:srgbClr val="000000"/>
                          </a:solidFill>
                          <a:effectLst/>
                        </a:rPr>
                        <a:t>Mwinda</a:t>
                      </a:r>
                      <a:r>
                        <a:rPr lang="en-US" sz="500" dirty="0">
                          <a:solidFill>
                            <a:srgbClr val="000000"/>
                          </a:solidFill>
                          <a:effectLst/>
                        </a:rPr>
                        <a:t> PPE project to apply the skills acquired.</a:t>
                      </a:r>
                      <a:endParaRPr lang="en-US" sz="500" dirty="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extLst>
                  <a:ext uri="{0D108BD9-81ED-4DB2-BD59-A6C34878D82A}">
                    <a16:rowId xmlns:a16="http://schemas.microsoft.com/office/drawing/2014/main" val="227944784"/>
                  </a:ext>
                </a:extLst>
              </a:tr>
              <a:tr h="789738">
                <a:tc>
                  <a:txBody>
                    <a:bodyPr/>
                    <a:lstStyle/>
                    <a:p>
                      <a:pPr marL="0" marR="0" algn="l">
                        <a:lnSpc>
                          <a:spcPct val="107000"/>
                        </a:lnSpc>
                        <a:spcAft>
                          <a:spcPts val="500"/>
                        </a:spcAft>
                        <a:buNone/>
                      </a:pPr>
                      <a:r>
                        <a:rPr lang="en-US" sz="500" b="1" dirty="0">
                          <a:solidFill>
                            <a:schemeClr val="bg1"/>
                          </a:solidFill>
                          <a:effectLst/>
                        </a:rPr>
                        <a:t>Infrastructure </a:t>
                      </a:r>
                      <a:r>
                        <a:rPr lang="en-US" sz="500" b="1" dirty="0" err="1">
                          <a:solidFill>
                            <a:schemeClr val="bg1"/>
                          </a:solidFill>
                          <a:effectLst/>
                        </a:rPr>
                        <a:t>Programme</a:t>
                      </a:r>
                      <a:endParaRPr lang="en-US" sz="5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solidFill>
                      <a:schemeClr val="accent3">
                        <a:lumMod val="60000"/>
                        <a:lumOff val="40000"/>
                      </a:schemeClr>
                    </a:solidFill>
                  </a:tcPr>
                </a:tc>
                <a:tc>
                  <a:txBody>
                    <a:bodyPr/>
                    <a:lstStyle/>
                    <a:p>
                      <a:pPr marL="0" marR="0" algn="l">
                        <a:lnSpc>
                          <a:spcPct val="107000"/>
                        </a:lnSpc>
                        <a:spcAft>
                          <a:spcPts val="500"/>
                        </a:spcAft>
                        <a:buNone/>
                      </a:pPr>
                      <a:r>
                        <a:rPr lang="en-US" sz="500">
                          <a:solidFill>
                            <a:srgbClr val="000000"/>
                          </a:solidFill>
                          <a:effectLst/>
                        </a:rPr>
                        <a:t>Deliver community infrastructure projects under the Cahier des Charges.</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Construction of two bridges linking Malanga Cité and Malanga Gare is progressing, with approximately </a:t>
                      </a:r>
                      <a:r>
                        <a:rPr lang="en-US" sz="500" b="1">
                          <a:solidFill>
                            <a:srgbClr val="000000"/>
                          </a:solidFill>
                          <a:effectLst/>
                        </a:rPr>
                        <a:t>25%</a:t>
                      </a:r>
                      <a:r>
                        <a:rPr lang="en-US" sz="500">
                          <a:solidFill>
                            <a:srgbClr val="000000"/>
                          </a:solidFill>
                          <a:effectLst/>
                        </a:rPr>
                        <a:t> of clearing and stump removal completed. A third bridge has been added to facilitate access and transportation through the Malanga Gare railway corridor.</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Land-related disputes may delay implementation of some infrastructure works.</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dirty="0">
                          <a:solidFill>
                            <a:srgbClr val="000000"/>
                          </a:solidFill>
                          <a:effectLst/>
                        </a:rPr>
                        <a:t>Continue civil works while resolving outstanding community issues affecting project implementation.</a:t>
                      </a:r>
                      <a:endParaRPr lang="en-US" sz="500" dirty="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extLst>
                  <a:ext uri="{0D108BD9-81ED-4DB2-BD59-A6C34878D82A}">
                    <a16:rowId xmlns:a16="http://schemas.microsoft.com/office/drawing/2014/main" val="2667600862"/>
                  </a:ext>
                </a:extLst>
              </a:tr>
              <a:tr h="1039886">
                <a:tc>
                  <a:txBody>
                    <a:bodyPr/>
                    <a:lstStyle/>
                    <a:p>
                      <a:pPr marL="0" marR="0" algn="l">
                        <a:lnSpc>
                          <a:spcPct val="107000"/>
                        </a:lnSpc>
                        <a:spcAft>
                          <a:spcPts val="500"/>
                        </a:spcAft>
                        <a:buNone/>
                      </a:pPr>
                      <a:r>
                        <a:rPr lang="en-US" sz="500" b="1" dirty="0">
                          <a:solidFill>
                            <a:schemeClr val="bg1"/>
                          </a:solidFill>
                          <a:effectLst/>
                        </a:rPr>
                        <a:t>Agriculture </a:t>
                      </a:r>
                      <a:r>
                        <a:rPr lang="en-US" sz="500" b="1" dirty="0" err="1">
                          <a:solidFill>
                            <a:schemeClr val="bg1"/>
                          </a:solidFill>
                          <a:effectLst/>
                        </a:rPr>
                        <a:t>Programme</a:t>
                      </a:r>
                      <a:endParaRPr lang="en-US" sz="5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solidFill>
                      <a:schemeClr val="accent3">
                        <a:lumMod val="60000"/>
                        <a:lumOff val="40000"/>
                      </a:schemeClr>
                    </a:solidFill>
                  </a:tcPr>
                </a:tc>
                <a:tc>
                  <a:txBody>
                    <a:bodyPr/>
                    <a:lstStyle/>
                    <a:p>
                      <a:pPr marL="0" marR="0" algn="l">
                        <a:lnSpc>
                          <a:spcPct val="107000"/>
                        </a:lnSpc>
                        <a:spcAft>
                          <a:spcPts val="500"/>
                        </a:spcAft>
                        <a:buNone/>
                      </a:pPr>
                      <a:r>
                        <a:rPr lang="en-US" sz="500">
                          <a:solidFill>
                            <a:srgbClr val="000000"/>
                          </a:solidFill>
                          <a:effectLst/>
                        </a:rPr>
                        <a:t>Promote sustainable livelihoods through community agriculture initiatives.</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Progress has been slower than anticipated due to unresolved land disputes affecting the Malanga Gare project. Discussions with Manalola confirmed that alternative implementation approaches are being explored. A possible restart of agricultural activities at Nkumba is envisaged for September.</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dirty="0">
                          <a:solidFill>
                            <a:srgbClr val="000000"/>
                          </a:solidFill>
                          <a:effectLst/>
                        </a:rPr>
                        <a:t>Land ownership disputes remain the principal obstacle to implementation.</a:t>
                      </a:r>
                      <a:endParaRPr lang="en-US" sz="500" dirty="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dirty="0" err="1">
                          <a:solidFill>
                            <a:srgbClr val="000000"/>
                          </a:solidFill>
                          <a:effectLst/>
                        </a:rPr>
                        <a:t>Finalise</a:t>
                      </a:r>
                      <a:r>
                        <a:rPr lang="en-US" sz="500" dirty="0">
                          <a:solidFill>
                            <a:srgbClr val="000000"/>
                          </a:solidFill>
                          <a:effectLst/>
                        </a:rPr>
                        <a:t> stakeholder discussions and resume agricultural activities once community consensus has been reached.</a:t>
                      </a:r>
                      <a:endParaRPr lang="en-US" sz="500" dirty="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extLst>
                  <a:ext uri="{0D108BD9-81ED-4DB2-BD59-A6C34878D82A}">
                    <a16:rowId xmlns:a16="http://schemas.microsoft.com/office/drawing/2014/main" val="1230842512"/>
                  </a:ext>
                </a:extLst>
              </a:tr>
              <a:tr h="448257">
                <a:tc>
                  <a:txBody>
                    <a:bodyPr/>
                    <a:lstStyle/>
                    <a:p>
                      <a:pPr marL="0" marR="0" algn="l">
                        <a:lnSpc>
                          <a:spcPct val="107000"/>
                        </a:lnSpc>
                        <a:spcAft>
                          <a:spcPts val="500"/>
                        </a:spcAft>
                        <a:buNone/>
                      </a:pPr>
                      <a:r>
                        <a:rPr lang="en-US" sz="500" b="1" dirty="0">
                          <a:solidFill>
                            <a:schemeClr val="bg1"/>
                          </a:solidFill>
                          <a:effectLst/>
                        </a:rPr>
                        <a:t>Sports &amp; Leisure Facilities</a:t>
                      </a:r>
                      <a:endParaRPr lang="en-US" sz="5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solidFill>
                      <a:schemeClr val="accent3">
                        <a:lumMod val="60000"/>
                        <a:lumOff val="40000"/>
                      </a:schemeClr>
                    </a:solidFill>
                  </a:tcPr>
                </a:tc>
                <a:tc>
                  <a:txBody>
                    <a:bodyPr/>
                    <a:lstStyle/>
                    <a:p>
                      <a:pPr marL="0" marR="0" algn="l">
                        <a:lnSpc>
                          <a:spcPct val="107000"/>
                        </a:lnSpc>
                        <a:spcAft>
                          <a:spcPts val="500"/>
                        </a:spcAft>
                        <a:buNone/>
                      </a:pPr>
                      <a:r>
                        <a:rPr lang="en-US" sz="500">
                          <a:solidFill>
                            <a:srgbClr val="000000"/>
                          </a:solidFill>
                          <a:effectLst/>
                        </a:rPr>
                        <a:t>Promote youth development and community wellbeing through sports infrastructure.</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dirty="0">
                          <a:solidFill>
                            <a:srgbClr val="000000"/>
                          </a:solidFill>
                          <a:effectLst/>
                        </a:rPr>
                        <a:t>The location for the football field at Malanga Gare has been identified and preliminary administrative procedures are underway.</a:t>
                      </a:r>
                      <a:endParaRPr lang="en-US" sz="500" dirty="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dirty="0">
                          <a:solidFill>
                            <a:srgbClr val="000000"/>
                          </a:solidFill>
                          <a:effectLst/>
                        </a:rPr>
                        <a:t>No major risks identified at this stage.</a:t>
                      </a:r>
                      <a:endParaRPr lang="en-US" sz="500" dirty="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Complete administrative approvals and commence implementation.</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extLst>
                  <a:ext uri="{0D108BD9-81ED-4DB2-BD59-A6C34878D82A}">
                    <a16:rowId xmlns:a16="http://schemas.microsoft.com/office/drawing/2014/main" val="1338703783"/>
                  </a:ext>
                </a:extLst>
              </a:tr>
              <a:tr h="1164961">
                <a:tc>
                  <a:txBody>
                    <a:bodyPr/>
                    <a:lstStyle/>
                    <a:p>
                      <a:pPr marL="0" marR="0" algn="l">
                        <a:lnSpc>
                          <a:spcPct val="107000"/>
                        </a:lnSpc>
                        <a:spcAft>
                          <a:spcPts val="500"/>
                        </a:spcAft>
                        <a:buNone/>
                      </a:pPr>
                      <a:r>
                        <a:rPr lang="en-US" sz="500" b="1" dirty="0">
                          <a:solidFill>
                            <a:schemeClr val="bg1"/>
                          </a:solidFill>
                          <a:effectLst/>
                        </a:rPr>
                        <a:t>Zamba &amp; Malanga Cité Electrification Project</a:t>
                      </a:r>
                      <a:endParaRPr lang="en-US" sz="5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solidFill>
                      <a:schemeClr val="accent3">
                        <a:lumMod val="60000"/>
                        <a:lumOff val="40000"/>
                      </a:schemeClr>
                    </a:solidFill>
                  </a:tcPr>
                </a:tc>
                <a:tc>
                  <a:txBody>
                    <a:bodyPr/>
                    <a:lstStyle/>
                    <a:p>
                      <a:pPr marL="0" marR="0" algn="l">
                        <a:lnSpc>
                          <a:spcPct val="107000"/>
                        </a:lnSpc>
                        <a:spcAft>
                          <a:spcPts val="500"/>
                        </a:spcAft>
                        <a:buNone/>
                      </a:pPr>
                      <a:r>
                        <a:rPr lang="en-US" sz="500">
                          <a:solidFill>
                            <a:srgbClr val="000000"/>
                          </a:solidFill>
                          <a:effectLst/>
                        </a:rPr>
                        <a:t>Improve access to electricity for surrounding communities and strengthen local infrastructure.</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Overall project completion is estimated at </a:t>
                      </a:r>
                      <a:r>
                        <a:rPr lang="en-US" sz="500" b="1">
                          <a:solidFill>
                            <a:srgbClr val="000000"/>
                          </a:solidFill>
                          <a:effectLst/>
                        </a:rPr>
                        <a:t>68%</a:t>
                      </a:r>
                      <a:r>
                        <a:rPr lang="en-US" sz="500">
                          <a:solidFill>
                            <a:srgbClr val="000000"/>
                          </a:solidFill>
                          <a:effectLst/>
                        </a:rPr>
                        <a:t>. Progress has reached approximately </a:t>
                      </a:r>
                      <a:r>
                        <a:rPr lang="en-US" sz="500" b="1">
                          <a:solidFill>
                            <a:srgbClr val="000000"/>
                          </a:solidFill>
                          <a:effectLst/>
                        </a:rPr>
                        <a:t>85%</a:t>
                      </a:r>
                      <a:r>
                        <a:rPr lang="en-US" sz="500">
                          <a:solidFill>
                            <a:srgbClr val="000000"/>
                          </a:solidFill>
                          <a:effectLst/>
                        </a:rPr>
                        <a:t> in Zamba Phase 1 and </a:t>
                      </a:r>
                      <a:r>
                        <a:rPr lang="en-US" sz="500" b="1">
                          <a:solidFill>
                            <a:srgbClr val="000000"/>
                          </a:solidFill>
                          <a:effectLst/>
                        </a:rPr>
                        <a:t>60%</a:t>
                      </a:r>
                      <a:r>
                        <a:rPr lang="en-US" sz="500">
                          <a:solidFill>
                            <a:srgbClr val="000000"/>
                          </a:solidFill>
                          <a:effectLst/>
                        </a:rPr>
                        <a:t> in Malanga Cité. A total of </a:t>
                      </a:r>
                      <a:r>
                        <a:rPr lang="en-US" sz="500" b="1">
                          <a:solidFill>
                            <a:srgbClr val="000000"/>
                          </a:solidFill>
                          <a:effectLst/>
                        </a:rPr>
                        <a:t>171 houses</a:t>
                      </a:r>
                      <a:r>
                        <a:rPr lang="en-US" sz="500">
                          <a:solidFill>
                            <a:srgbClr val="000000"/>
                          </a:solidFill>
                          <a:effectLst/>
                        </a:rPr>
                        <a:t> are technically ready for connection, exceeding the initial target of 120 households. Major construction activities, including conductor delivery, transformer foundations, electrical cabins and line staking, have been completed.</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a:solidFill>
                            <a:srgbClr val="000000"/>
                          </a:solidFill>
                          <a:effectLst/>
                        </a:rPr>
                        <a:t>Commissioning remains dependent on the submission and approval of detailed engineering studies, validation of the 5 MVA transformer installation, grounding compliance, control building modifications and final approval of the revised implementation schedule.</a:t>
                      </a:r>
                      <a:endParaRPr lang="en-US" sz="50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tc>
                  <a:txBody>
                    <a:bodyPr/>
                    <a:lstStyle/>
                    <a:p>
                      <a:pPr marL="0" marR="0" algn="l">
                        <a:lnSpc>
                          <a:spcPct val="107000"/>
                        </a:lnSpc>
                        <a:spcAft>
                          <a:spcPts val="500"/>
                        </a:spcAft>
                        <a:buNone/>
                      </a:pPr>
                      <a:r>
                        <a:rPr lang="en-US" sz="500" dirty="0" err="1">
                          <a:solidFill>
                            <a:srgbClr val="000000"/>
                          </a:solidFill>
                          <a:effectLst/>
                        </a:rPr>
                        <a:t>Finalise</a:t>
                      </a:r>
                      <a:r>
                        <a:rPr lang="en-US" sz="500" dirty="0">
                          <a:solidFill>
                            <a:srgbClr val="000000"/>
                          </a:solidFill>
                          <a:effectLst/>
                        </a:rPr>
                        <a:t> engineering approvals with SNEL and PPC, complete corrective technical works, validate the revised project schedule and proceed towards commissioning.</a:t>
                      </a:r>
                      <a:endParaRPr lang="en-US" sz="500" dirty="0">
                        <a:effectLst/>
                        <a:latin typeface="Aptos" panose="020B0004020202020204" pitchFamily="34" charset="0"/>
                        <a:ea typeface="Aptos" panose="020B0004020202020204" pitchFamily="34" charset="0"/>
                        <a:cs typeface="Times New Roman" panose="02020603050405020304" pitchFamily="18" charset="0"/>
                      </a:endParaRPr>
                    </a:p>
                  </a:txBody>
                  <a:tcPr marL="16680" marR="16680" marT="14298" marB="14298" anchor="ctr"/>
                </a:tc>
                <a:extLst>
                  <a:ext uri="{0D108BD9-81ED-4DB2-BD59-A6C34878D82A}">
                    <a16:rowId xmlns:a16="http://schemas.microsoft.com/office/drawing/2014/main" val="3339408195"/>
                  </a:ext>
                </a:extLst>
              </a:tr>
            </a:tbl>
          </a:graphicData>
        </a:graphic>
      </p:graphicFrame>
      <p:grpSp>
        <p:nvGrpSpPr>
          <p:cNvPr id="4" name="Group 3">
            <a:extLst>
              <a:ext uri="{FF2B5EF4-FFF2-40B4-BE49-F238E27FC236}">
                <a16:creationId xmlns:a16="http://schemas.microsoft.com/office/drawing/2014/main" id="{B9D46633-F249-9F7A-64C2-BF9909021166}"/>
              </a:ext>
            </a:extLst>
          </p:cNvPr>
          <p:cNvGrpSpPr/>
          <p:nvPr/>
        </p:nvGrpSpPr>
        <p:grpSpPr>
          <a:xfrm>
            <a:off x="7287964" y="1724890"/>
            <a:ext cx="4319040" cy="1587284"/>
            <a:chOff x="7422959" y="2331936"/>
            <a:chExt cx="3457576" cy="1127027"/>
          </a:xfrm>
        </p:grpSpPr>
        <p:sp>
          <p:nvSpPr>
            <p:cNvPr id="10" name="TextBox 9">
              <a:extLst>
                <a:ext uri="{FF2B5EF4-FFF2-40B4-BE49-F238E27FC236}">
                  <a16:creationId xmlns:a16="http://schemas.microsoft.com/office/drawing/2014/main" id="{C2309DBC-55CC-859C-F1A1-37BA23E15FAD}"/>
                </a:ext>
              </a:extLst>
            </p:cNvPr>
            <p:cNvSpPr txBox="1"/>
            <p:nvPr/>
          </p:nvSpPr>
          <p:spPr>
            <a:xfrm>
              <a:off x="7422959" y="2497422"/>
              <a:ext cx="3426157" cy="961541"/>
            </a:xfrm>
            <a:prstGeom prst="rect">
              <a:avLst/>
            </a:prstGeom>
            <a:noFill/>
            <a:ln w="6350">
              <a:noFill/>
              <a:prstDash val="dash"/>
            </a:ln>
          </p:spPr>
          <p:txBody>
            <a:bodyPr wrap="square" lIns="0" tIns="0" rIns="0" bIns="0" rtlCol="0">
              <a:spAutoFit/>
            </a:bodyPr>
            <a:lstStyle>
              <a:defPPr>
                <a:defRPr lang="en-US"/>
              </a:defPPr>
              <a:lvl1pPr algn="just">
                <a:defRPr sz="1400"/>
              </a:lvl1pPr>
            </a:lstStyle>
            <a:p>
              <a:pPr marL="171450" indent="-171450">
                <a:buFont typeface="Arial" panose="020B0604020202020204" pitchFamily="34" charset="0"/>
                <a:buChar char="•"/>
                <a:defRPr sz="1100"/>
              </a:pPr>
              <a:r>
                <a:rPr lang="en-US" sz="1100" dirty="0"/>
                <a:t>the construction of two bridges connecting Malanga Cité and Malanga Gare. 25% </a:t>
              </a:r>
              <a:r>
                <a:rPr lang="en-US" sz="800" dirty="0"/>
                <a:t>of</a:t>
              </a:r>
              <a:r>
                <a:rPr lang="en-US" sz="1100" dirty="0"/>
                <a:t> the work, in terms of clearing and stump removal, is completed. A second project has been added to this. It involves the construction of a third bridge to facilitate both the evacuation and the transport of our products via the Malanga Gare railway. Negotiations with the residents of </a:t>
              </a:r>
              <a:r>
                <a:rPr lang="en-US" sz="1100" dirty="0" err="1"/>
                <a:t>Kuzi</a:t>
              </a:r>
              <a:r>
                <a:rPr lang="en-US" sz="1100" dirty="0"/>
                <a:t> were ongoing, but after a meeting held on this issue on Saturday, July 4th at Malanga Gare, we were informed that there is a land dispute between the lineages.</a:t>
              </a:r>
            </a:p>
          </p:txBody>
        </p:sp>
        <p:sp>
          <p:nvSpPr>
            <p:cNvPr id="11" name="TextBox 10">
              <a:extLst>
                <a:ext uri="{FF2B5EF4-FFF2-40B4-BE49-F238E27FC236}">
                  <a16:creationId xmlns:a16="http://schemas.microsoft.com/office/drawing/2014/main" id="{2B073B5F-FBC5-4E28-CD00-5F8A1A0A79A4}"/>
                </a:ext>
              </a:extLst>
            </p:cNvPr>
            <p:cNvSpPr txBox="1"/>
            <p:nvPr/>
          </p:nvSpPr>
          <p:spPr>
            <a:xfrm>
              <a:off x="7454379" y="2331936"/>
              <a:ext cx="3426156" cy="174825"/>
            </a:xfrm>
            <a:prstGeom prst="rect">
              <a:avLst/>
            </a:prstGeom>
            <a:noFill/>
            <a:ln w="6350">
              <a:noFill/>
              <a:prstDash val="dash"/>
            </a:ln>
          </p:spPr>
          <p:txBody>
            <a:bodyPr wrap="square" lIns="0" tIns="0" rIns="0" bIns="0" rtlCol="0">
              <a:spAutoFit/>
            </a:bodyPr>
            <a:lstStyle/>
            <a:p>
              <a:r>
                <a:rPr lang="en-US" sz="1600" b="1" dirty="0">
                  <a:solidFill>
                    <a:schemeClr val="accent1">
                      <a:lumMod val="50000"/>
                    </a:schemeClr>
                  </a:solidFill>
                </a:rPr>
                <a:t>Infrastructure </a:t>
              </a:r>
            </a:p>
          </p:txBody>
        </p:sp>
      </p:grpSp>
      <p:graphicFrame>
        <p:nvGraphicFramePr>
          <p:cNvPr id="46" name="Chart 45">
            <a:extLst>
              <a:ext uri="{FF2B5EF4-FFF2-40B4-BE49-F238E27FC236}">
                <a16:creationId xmlns:a16="http://schemas.microsoft.com/office/drawing/2014/main" id="{366805C4-5FA7-5EE4-6A10-6F8A0B923F66}"/>
              </a:ext>
            </a:extLst>
          </p:cNvPr>
          <p:cNvGraphicFramePr/>
          <p:nvPr>
            <p:extLst>
              <p:ext uri="{D42A27DB-BD31-4B8C-83A1-F6EECF244321}">
                <p14:modId xmlns:p14="http://schemas.microsoft.com/office/powerpoint/2010/main" val="2389775235"/>
              </p:ext>
            </p:extLst>
          </p:nvPr>
        </p:nvGraphicFramePr>
        <p:xfrm>
          <a:off x="5867001" y="1659662"/>
          <a:ext cx="1664752" cy="1388100"/>
        </p:xfrm>
        <a:graphic>
          <a:graphicData uri="http://schemas.openxmlformats.org/drawingml/2006/chart">
            <c:chart xmlns:c="http://schemas.openxmlformats.org/drawingml/2006/chart" xmlns:r="http://schemas.openxmlformats.org/officeDocument/2006/relationships" r:id="rId2"/>
          </a:graphicData>
        </a:graphic>
      </p:graphicFrame>
      <p:sp>
        <p:nvSpPr>
          <p:cNvPr id="47" name="Oval 46">
            <a:extLst>
              <a:ext uri="{FF2B5EF4-FFF2-40B4-BE49-F238E27FC236}">
                <a16:creationId xmlns:a16="http://schemas.microsoft.com/office/drawing/2014/main" id="{CFECE2D3-2489-0A06-3D2B-A5149F6371F1}"/>
              </a:ext>
            </a:extLst>
          </p:cNvPr>
          <p:cNvSpPr/>
          <p:nvPr/>
        </p:nvSpPr>
        <p:spPr>
          <a:xfrm>
            <a:off x="6268571" y="1922905"/>
            <a:ext cx="861613" cy="86161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FF0BA773-BE09-250E-724F-ACE8F4867CA8}"/>
              </a:ext>
            </a:extLst>
          </p:cNvPr>
          <p:cNvSpPr txBox="1"/>
          <p:nvPr/>
        </p:nvSpPr>
        <p:spPr>
          <a:xfrm>
            <a:off x="7377944" y="3701267"/>
            <a:ext cx="3757837" cy="246221"/>
          </a:xfrm>
          <a:prstGeom prst="rect">
            <a:avLst/>
          </a:prstGeom>
          <a:noFill/>
          <a:ln w="6350">
            <a:noFill/>
            <a:prstDash val="dash"/>
          </a:ln>
        </p:spPr>
        <p:txBody>
          <a:bodyPr wrap="square" lIns="0" tIns="0" rIns="0" bIns="0" rtlCol="0">
            <a:spAutoFit/>
          </a:bodyPr>
          <a:lstStyle/>
          <a:p>
            <a:r>
              <a:rPr lang="en-US" sz="1600" b="1" dirty="0">
                <a:solidFill>
                  <a:schemeClr val="accent1">
                    <a:lumMod val="50000"/>
                  </a:schemeClr>
                </a:solidFill>
              </a:rPr>
              <a:t>Agriculture -</a:t>
            </a:r>
          </a:p>
        </p:txBody>
      </p:sp>
      <p:graphicFrame>
        <p:nvGraphicFramePr>
          <p:cNvPr id="49" name="Chart 48">
            <a:extLst>
              <a:ext uri="{FF2B5EF4-FFF2-40B4-BE49-F238E27FC236}">
                <a16:creationId xmlns:a16="http://schemas.microsoft.com/office/drawing/2014/main" id="{FD21264E-C135-7834-D1AE-71359D1DAD30}"/>
              </a:ext>
            </a:extLst>
          </p:cNvPr>
          <p:cNvGraphicFramePr/>
          <p:nvPr>
            <p:extLst>
              <p:ext uri="{D42A27DB-BD31-4B8C-83A1-F6EECF244321}">
                <p14:modId xmlns:p14="http://schemas.microsoft.com/office/powerpoint/2010/main" val="3625199003"/>
              </p:ext>
            </p:extLst>
          </p:nvPr>
        </p:nvGraphicFramePr>
        <p:xfrm>
          <a:off x="5888701" y="3679126"/>
          <a:ext cx="1664752" cy="1388100"/>
        </p:xfrm>
        <a:graphic>
          <a:graphicData uri="http://schemas.openxmlformats.org/drawingml/2006/chart">
            <c:chart xmlns:c="http://schemas.openxmlformats.org/drawingml/2006/chart" xmlns:r="http://schemas.openxmlformats.org/officeDocument/2006/relationships" r:id="rId3"/>
          </a:graphicData>
        </a:graphic>
      </p:graphicFrame>
      <p:sp>
        <p:nvSpPr>
          <p:cNvPr id="50" name="Oval 49">
            <a:extLst>
              <a:ext uri="{FF2B5EF4-FFF2-40B4-BE49-F238E27FC236}">
                <a16:creationId xmlns:a16="http://schemas.microsoft.com/office/drawing/2014/main" id="{99DAB018-4B4D-30C6-FCD0-F25BB0F96527}"/>
              </a:ext>
            </a:extLst>
          </p:cNvPr>
          <p:cNvSpPr/>
          <p:nvPr/>
        </p:nvSpPr>
        <p:spPr>
          <a:xfrm>
            <a:off x="6268571" y="3942371"/>
            <a:ext cx="861613" cy="86161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D9239BAA-1DC6-3FC0-E459-BC157A13D864}"/>
              </a:ext>
            </a:extLst>
          </p:cNvPr>
          <p:cNvGrpSpPr/>
          <p:nvPr/>
        </p:nvGrpSpPr>
        <p:grpSpPr>
          <a:xfrm>
            <a:off x="7366461" y="5364456"/>
            <a:ext cx="4469575" cy="641144"/>
            <a:chOff x="7456443" y="5306550"/>
            <a:chExt cx="5037249" cy="641144"/>
          </a:xfrm>
        </p:grpSpPr>
        <p:sp>
          <p:nvSpPr>
            <p:cNvPr id="52" name="TextBox 51">
              <a:extLst>
                <a:ext uri="{FF2B5EF4-FFF2-40B4-BE49-F238E27FC236}">
                  <a16:creationId xmlns:a16="http://schemas.microsoft.com/office/drawing/2014/main" id="{555D6647-AC81-1FFA-D9E9-AB10478FA58D}"/>
                </a:ext>
              </a:extLst>
            </p:cNvPr>
            <p:cNvSpPr txBox="1"/>
            <p:nvPr/>
          </p:nvSpPr>
          <p:spPr>
            <a:xfrm>
              <a:off x="7456443" y="5609140"/>
              <a:ext cx="4734894" cy="338554"/>
            </a:xfrm>
            <a:prstGeom prst="rect">
              <a:avLst/>
            </a:prstGeom>
            <a:noFill/>
            <a:ln w="6350">
              <a:noFill/>
              <a:prstDash val="dash"/>
            </a:ln>
          </p:spPr>
          <p:txBody>
            <a:bodyPr wrap="square" lIns="0" tIns="0" rIns="0" bIns="0" rtlCol="0">
              <a:spAutoFit/>
            </a:bodyPr>
            <a:lstStyle>
              <a:defPPr>
                <a:defRPr lang="en-US"/>
              </a:defPPr>
              <a:lvl1pPr algn="just">
                <a:defRPr sz="1400"/>
              </a:lvl1pPr>
            </a:lstStyle>
            <a:p>
              <a:pPr marL="171450" indent="-171450">
                <a:buFont typeface="Arial" panose="020B0604020202020204" pitchFamily="34" charset="0"/>
                <a:buChar char="•"/>
                <a:defRPr sz="1100"/>
              </a:pPr>
              <a:r>
                <a:rPr lang="en-US" dirty="0"/>
                <a:t>Malanga Gare, the place has been indicated to set up a football field. The procedures are underway</a:t>
              </a:r>
            </a:p>
          </p:txBody>
        </p:sp>
        <p:sp>
          <p:nvSpPr>
            <p:cNvPr id="53" name="TextBox 52">
              <a:extLst>
                <a:ext uri="{FF2B5EF4-FFF2-40B4-BE49-F238E27FC236}">
                  <a16:creationId xmlns:a16="http://schemas.microsoft.com/office/drawing/2014/main" id="{E9B885C3-82DB-02BD-ECBE-57BC9F9EC5E6}"/>
                </a:ext>
              </a:extLst>
            </p:cNvPr>
            <p:cNvSpPr txBox="1"/>
            <p:nvPr/>
          </p:nvSpPr>
          <p:spPr>
            <a:xfrm>
              <a:off x="7456444" y="5306550"/>
              <a:ext cx="5037248" cy="246221"/>
            </a:xfrm>
            <a:prstGeom prst="rect">
              <a:avLst/>
            </a:prstGeom>
            <a:noFill/>
            <a:ln w="6350">
              <a:noFill/>
              <a:prstDash val="dash"/>
            </a:ln>
          </p:spPr>
          <p:txBody>
            <a:bodyPr wrap="square" lIns="0" tIns="0" rIns="0" bIns="0" rtlCol="0">
              <a:spAutoFit/>
            </a:bodyPr>
            <a:lstStyle/>
            <a:p>
              <a:r>
                <a:rPr lang="en-US" sz="1600" b="1" dirty="0">
                  <a:solidFill>
                    <a:schemeClr val="accent1">
                      <a:lumMod val="50000"/>
                    </a:schemeClr>
                  </a:solidFill>
                </a:rPr>
                <a:t>Leisure</a:t>
              </a:r>
            </a:p>
          </p:txBody>
        </p:sp>
      </p:grpSp>
      <p:graphicFrame>
        <p:nvGraphicFramePr>
          <p:cNvPr id="54" name="Chart 53">
            <a:extLst>
              <a:ext uri="{FF2B5EF4-FFF2-40B4-BE49-F238E27FC236}">
                <a16:creationId xmlns:a16="http://schemas.microsoft.com/office/drawing/2014/main" id="{1CD90E89-9A69-E89D-A1F0-C61B00940BE9}"/>
              </a:ext>
            </a:extLst>
          </p:cNvPr>
          <p:cNvGraphicFramePr/>
          <p:nvPr>
            <p:extLst>
              <p:ext uri="{D42A27DB-BD31-4B8C-83A1-F6EECF244321}">
                <p14:modId xmlns:p14="http://schemas.microsoft.com/office/powerpoint/2010/main" val="1530762179"/>
              </p:ext>
            </p:extLst>
          </p:nvPr>
        </p:nvGraphicFramePr>
        <p:xfrm>
          <a:off x="5867001" y="4973936"/>
          <a:ext cx="1664752" cy="1388100"/>
        </p:xfrm>
        <a:graphic>
          <a:graphicData uri="http://schemas.openxmlformats.org/drawingml/2006/chart">
            <c:chart xmlns:c="http://schemas.openxmlformats.org/drawingml/2006/chart" xmlns:r="http://schemas.openxmlformats.org/officeDocument/2006/relationships" r:id="rId4"/>
          </a:graphicData>
        </a:graphic>
      </p:graphicFrame>
      <p:sp>
        <p:nvSpPr>
          <p:cNvPr id="55" name="Oval 54">
            <a:extLst>
              <a:ext uri="{FF2B5EF4-FFF2-40B4-BE49-F238E27FC236}">
                <a16:creationId xmlns:a16="http://schemas.microsoft.com/office/drawing/2014/main" id="{54CF6BBB-0950-9E59-E92D-26D9A8F74424}"/>
              </a:ext>
            </a:extLst>
          </p:cNvPr>
          <p:cNvSpPr/>
          <p:nvPr/>
        </p:nvSpPr>
        <p:spPr>
          <a:xfrm>
            <a:off x="6268571" y="5237179"/>
            <a:ext cx="861613" cy="86161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8401FC16-8B3D-3494-FBB8-414A1A08B823}"/>
              </a:ext>
            </a:extLst>
          </p:cNvPr>
          <p:cNvCxnSpPr/>
          <p:nvPr/>
        </p:nvCxnSpPr>
        <p:spPr>
          <a:xfrm>
            <a:off x="6268571" y="3014313"/>
            <a:ext cx="4912459"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9A4AFF9-4BDB-0707-C480-465956D07208}"/>
              </a:ext>
            </a:extLst>
          </p:cNvPr>
          <p:cNvCxnSpPr/>
          <p:nvPr/>
        </p:nvCxnSpPr>
        <p:spPr>
          <a:xfrm>
            <a:off x="6268571" y="4739811"/>
            <a:ext cx="4912459"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58" name="Group 57">
            <a:extLst>
              <a:ext uri="{FF2B5EF4-FFF2-40B4-BE49-F238E27FC236}">
                <a16:creationId xmlns:a16="http://schemas.microsoft.com/office/drawing/2014/main" id="{871A0F33-58B3-B452-394C-7C3AC1E5B96B}"/>
              </a:ext>
            </a:extLst>
          </p:cNvPr>
          <p:cNvGrpSpPr/>
          <p:nvPr/>
        </p:nvGrpSpPr>
        <p:grpSpPr>
          <a:xfrm>
            <a:off x="7377944" y="840334"/>
            <a:ext cx="4215812" cy="430879"/>
            <a:chOff x="7469384" y="951506"/>
            <a:chExt cx="3426157" cy="430879"/>
          </a:xfrm>
        </p:grpSpPr>
        <p:sp>
          <p:nvSpPr>
            <p:cNvPr id="59" name="TextBox 58">
              <a:extLst>
                <a:ext uri="{FF2B5EF4-FFF2-40B4-BE49-F238E27FC236}">
                  <a16:creationId xmlns:a16="http://schemas.microsoft.com/office/drawing/2014/main" id="{B260CE0A-F539-D907-A5F7-777DF9EE8CC2}"/>
                </a:ext>
              </a:extLst>
            </p:cNvPr>
            <p:cNvSpPr txBox="1"/>
            <p:nvPr/>
          </p:nvSpPr>
          <p:spPr>
            <a:xfrm>
              <a:off x="7469384" y="1197719"/>
              <a:ext cx="3426157" cy="184666"/>
            </a:xfrm>
            <a:prstGeom prst="rect">
              <a:avLst/>
            </a:prstGeom>
            <a:noFill/>
            <a:ln w="6350">
              <a:noFill/>
              <a:prstDash val="dash"/>
            </a:ln>
          </p:spPr>
          <p:txBody>
            <a:bodyPr wrap="square" lIns="0" tIns="0" rIns="0" bIns="0" rtlCol="0">
              <a:spAutoFit/>
            </a:bodyPr>
            <a:lstStyle/>
            <a:p>
              <a:pPr marL="285750" indent="-285750">
                <a:buFont typeface="Arial" panose="020B0604020202020204" pitchFamily="34" charset="0"/>
                <a:buChar char="•"/>
              </a:pPr>
              <a:r>
                <a:rPr lang="en-US" sz="1200" b="1" dirty="0"/>
                <a:t>100% in place</a:t>
              </a:r>
              <a:endParaRPr lang="en-US" sz="1200" dirty="0"/>
            </a:p>
          </p:txBody>
        </p:sp>
        <p:sp>
          <p:nvSpPr>
            <p:cNvPr id="60" name="TextBox 59">
              <a:extLst>
                <a:ext uri="{FF2B5EF4-FFF2-40B4-BE49-F238E27FC236}">
                  <a16:creationId xmlns:a16="http://schemas.microsoft.com/office/drawing/2014/main" id="{F8D2F382-3A5F-0EBA-E92F-82089CE87634}"/>
                </a:ext>
              </a:extLst>
            </p:cNvPr>
            <p:cNvSpPr txBox="1"/>
            <p:nvPr/>
          </p:nvSpPr>
          <p:spPr>
            <a:xfrm>
              <a:off x="7469384" y="951506"/>
              <a:ext cx="3047950" cy="246221"/>
            </a:xfrm>
            <a:prstGeom prst="rect">
              <a:avLst/>
            </a:prstGeom>
            <a:noFill/>
            <a:ln w="6350">
              <a:noFill/>
              <a:prstDash val="dash"/>
            </a:ln>
          </p:spPr>
          <p:txBody>
            <a:bodyPr wrap="square" lIns="0" tIns="0" rIns="0" bIns="0" rtlCol="0">
              <a:spAutoFit/>
            </a:bodyPr>
            <a:lstStyle/>
            <a:p>
              <a:r>
                <a:rPr lang="en-US" sz="1600" b="1" dirty="0">
                  <a:solidFill>
                    <a:schemeClr val="accent1">
                      <a:lumMod val="50000"/>
                    </a:schemeClr>
                  </a:solidFill>
                </a:rPr>
                <a:t>Scholarship - Project fully in place</a:t>
              </a:r>
            </a:p>
          </p:txBody>
        </p:sp>
      </p:grpSp>
      <p:graphicFrame>
        <p:nvGraphicFramePr>
          <p:cNvPr id="61" name="Chart 60">
            <a:extLst>
              <a:ext uri="{FF2B5EF4-FFF2-40B4-BE49-F238E27FC236}">
                <a16:creationId xmlns:a16="http://schemas.microsoft.com/office/drawing/2014/main" id="{DB13E969-7E7C-9C6A-81A2-F54B5A2A703D}"/>
              </a:ext>
            </a:extLst>
          </p:cNvPr>
          <p:cNvGraphicFramePr/>
          <p:nvPr>
            <p:extLst>
              <p:ext uri="{D42A27DB-BD31-4B8C-83A1-F6EECF244321}">
                <p14:modId xmlns:p14="http://schemas.microsoft.com/office/powerpoint/2010/main" val="2138668598"/>
              </p:ext>
            </p:extLst>
          </p:nvPr>
        </p:nvGraphicFramePr>
        <p:xfrm>
          <a:off x="5867001" y="419951"/>
          <a:ext cx="1664752" cy="1388100"/>
        </p:xfrm>
        <a:graphic>
          <a:graphicData uri="http://schemas.openxmlformats.org/drawingml/2006/chart">
            <c:chart xmlns:c="http://schemas.openxmlformats.org/drawingml/2006/chart" xmlns:r="http://schemas.openxmlformats.org/officeDocument/2006/relationships" r:id="rId5"/>
          </a:graphicData>
        </a:graphic>
      </p:graphicFrame>
      <p:sp>
        <p:nvSpPr>
          <p:cNvPr id="62" name="Oval 61">
            <a:extLst>
              <a:ext uri="{FF2B5EF4-FFF2-40B4-BE49-F238E27FC236}">
                <a16:creationId xmlns:a16="http://schemas.microsoft.com/office/drawing/2014/main" id="{5A01C93A-2A18-0074-91C6-525A751556F4}"/>
              </a:ext>
            </a:extLst>
          </p:cNvPr>
          <p:cNvSpPr/>
          <p:nvPr/>
        </p:nvSpPr>
        <p:spPr>
          <a:xfrm>
            <a:off x="6278280" y="673585"/>
            <a:ext cx="861613" cy="86161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CED32657-62CF-3A82-63B8-BB7384669ED7}"/>
              </a:ext>
            </a:extLst>
          </p:cNvPr>
          <p:cNvCxnSpPr/>
          <p:nvPr/>
        </p:nvCxnSpPr>
        <p:spPr>
          <a:xfrm>
            <a:off x="6268571" y="1733062"/>
            <a:ext cx="4912459"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EF572151-6687-5F69-17BB-D352C0EB7ABA}"/>
              </a:ext>
            </a:extLst>
          </p:cNvPr>
          <p:cNvGrpSpPr/>
          <p:nvPr/>
        </p:nvGrpSpPr>
        <p:grpSpPr>
          <a:xfrm>
            <a:off x="6483377" y="2137712"/>
            <a:ext cx="432000" cy="432000"/>
            <a:chOff x="9161463" y="1393825"/>
            <a:chExt cx="346075" cy="360363"/>
          </a:xfrm>
          <a:solidFill>
            <a:srgbClr val="72BFC5"/>
          </a:solidFill>
        </p:grpSpPr>
        <p:sp>
          <p:nvSpPr>
            <p:cNvPr id="65" name="Freeform 120">
              <a:extLst>
                <a:ext uri="{FF2B5EF4-FFF2-40B4-BE49-F238E27FC236}">
                  <a16:creationId xmlns:a16="http://schemas.microsoft.com/office/drawing/2014/main" id="{B1400DE2-FA8C-9E01-5BBA-16FAAD7331B2}"/>
                </a:ext>
              </a:extLst>
            </p:cNvPr>
            <p:cNvSpPr>
              <a:spLocks noEditPoints="1"/>
            </p:cNvSpPr>
            <p:nvPr/>
          </p:nvSpPr>
          <p:spPr bwMode="auto">
            <a:xfrm>
              <a:off x="9161463" y="1393825"/>
              <a:ext cx="346075" cy="360363"/>
            </a:xfrm>
            <a:custGeom>
              <a:avLst/>
              <a:gdLst>
                <a:gd name="T0" fmla="*/ 92 w 92"/>
                <a:gd name="T1" fmla="*/ 93 h 96"/>
                <a:gd name="T2" fmla="*/ 80 w 92"/>
                <a:gd name="T3" fmla="*/ 53 h 96"/>
                <a:gd name="T4" fmla="*/ 67 w 92"/>
                <a:gd name="T5" fmla="*/ 70 h 96"/>
                <a:gd name="T6" fmla="*/ 62 w 92"/>
                <a:gd name="T7" fmla="*/ 72 h 96"/>
                <a:gd name="T8" fmla="*/ 58 w 92"/>
                <a:gd name="T9" fmla="*/ 70 h 96"/>
                <a:gd name="T10" fmla="*/ 36 w 92"/>
                <a:gd name="T11" fmla="*/ 30 h 96"/>
                <a:gd name="T12" fmla="*/ 62 w 92"/>
                <a:gd name="T13" fmla="*/ 4 h 96"/>
                <a:gd name="T14" fmla="*/ 65 w 92"/>
                <a:gd name="T15" fmla="*/ 4 h 96"/>
                <a:gd name="T16" fmla="*/ 64 w 92"/>
                <a:gd name="T17" fmla="*/ 1 h 96"/>
                <a:gd name="T18" fmla="*/ 62 w 92"/>
                <a:gd name="T19" fmla="*/ 0 h 96"/>
                <a:gd name="T20" fmla="*/ 48 w 92"/>
                <a:gd name="T21" fmla="*/ 0 h 96"/>
                <a:gd name="T22" fmla="*/ 48 w 92"/>
                <a:gd name="T23" fmla="*/ 4 h 96"/>
                <a:gd name="T24" fmla="*/ 46 w 92"/>
                <a:gd name="T25" fmla="*/ 6 h 96"/>
                <a:gd name="T26" fmla="*/ 44 w 92"/>
                <a:gd name="T27" fmla="*/ 4 h 96"/>
                <a:gd name="T28" fmla="*/ 44 w 92"/>
                <a:gd name="T29" fmla="*/ 0 h 96"/>
                <a:gd name="T30" fmla="*/ 30 w 92"/>
                <a:gd name="T31" fmla="*/ 0 h 96"/>
                <a:gd name="T32" fmla="*/ 28 w 92"/>
                <a:gd name="T33" fmla="*/ 1 h 96"/>
                <a:gd name="T34" fmla="*/ 0 w 92"/>
                <a:gd name="T35" fmla="*/ 93 h 96"/>
                <a:gd name="T36" fmla="*/ 0 w 92"/>
                <a:gd name="T37" fmla="*/ 95 h 96"/>
                <a:gd name="T38" fmla="*/ 2 w 92"/>
                <a:gd name="T39" fmla="*/ 96 h 96"/>
                <a:gd name="T40" fmla="*/ 44 w 92"/>
                <a:gd name="T41" fmla="*/ 96 h 96"/>
                <a:gd name="T42" fmla="*/ 44 w 92"/>
                <a:gd name="T43" fmla="*/ 84 h 96"/>
                <a:gd name="T44" fmla="*/ 46 w 92"/>
                <a:gd name="T45" fmla="*/ 82 h 96"/>
                <a:gd name="T46" fmla="*/ 48 w 92"/>
                <a:gd name="T47" fmla="*/ 84 h 96"/>
                <a:gd name="T48" fmla="*/ 48 w 92"/>
                <a:gd name="T49" fmla="*/ 96 h 96"/>
                <a:gd name="T50" fmla="*/ 90 w 92"/>
                <a:gd name="T51" fmla="*/ 96 h 96"/>
                <a:gd name="T52" fmla="*/ 92 w 92"/>
                <a:gd name="T53" fmla="*/ 95 h 96"/>
                <a:gd name="T54" fmla="*/ 92 w 92"/>
                <a:gd name="T55" fmla="*/ 93 h 96"/>
                <a:gd name="T56" fmla="*/ 48 w 92"/>
                <a:gd name="T57" fmla="*/ 72 h 96"/>
                <a:gd name="T58" fmla="*/ 46 w 92"/>
                <a:gd name="T59" fmla="*/ 74 h 96"/>
                <a:gd name="T60" fmla="*/ 44 w 92"/>
                <a:gd name="T61" fmla="*/ 72 h 96"/>
                <a:gd name="T62" fmla="*/ 44 w 92"/>
                <a:gd name="T63" fmla="*/ 64 h 96"/>
                <a:gd name="T64" fmla="*/ 46 w 92"/>
                <a:gd name="T65" fmla="*/ 62 h 96"/>
                <a:gd name="T66" fmla="*/ 48 w 92"/>
                <a:gd name="T67" fmla="*/ 64 h 96"/>
                <a:gd name="T68" fmla="*/ 48 w 92"/>
                <a:gd name="T69" fmla="*/ 7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2" h="96">
                  <a:moveTo>
                    <a:pt x="92" y="93"/>
                  </a:moveTo>
                  <a:cubicBezTo>
                    <a:pt x="80" y="53"/>
                    <a:pt x="80" y="53"/>
                    <a:pt x="80" y="53"/>
                  </a:cubicBezTo>
                  <a:cubicBezTo>
                    <a:pt x="74" y="61"/>
                    <a:pt x="69" y="68"/>
                    <a:pt x="67" y="70"/>
                  </a:cubicBezTo>
                  <a:cubicBezTo>
                    <a:pt x="66" y="71"/>
                    <a:pt x="64" y="72"/>
                    <a:pt x="62" y="72"/>
                  </a:cubicBezTo>
                  <a:cubicBezTo>
                    <a:pt x="61" y="72"/>
                    <a:pt x="59" y="71"/>
                    <a:pt x="58" y="70"/>
                  </a:cubicBezTo>
                  <a:cubicBezTo>
                    <a:pt x="54" y="66"/>
                    <a:pt x="36" y="43"/>
                    <a:pt x="36" y="30"/>
                  </a:cubicBezTo>
                  <a:cubicBezTo>
                    <a:pt x="36" y="16"/>
                    <a:pt x="48" y="4"/>
                    <a:pt x="62" y="4"/>
                  </a:cubicBezTo>
                  <a:cubicBezTo>
                    <a:pt x="63" y="4"/>
                    <a:pt x="64" y="4"/>
                    <a:pt x="65" y="4"/>
                  </a:cubicBezTo>
                  <a:cubicBezTo>
                    <a:pt x="64" y="1"/>
                    <a:pt x="64" y="1"/>
                    <a:pt x="64" y="1"/>
                  </a:cubicBezTo>
                  <a:cubicBezTo>
                    <a:pt x="64" y="1"/>
                    <a:pt x="63" y="0"/>
                    <a:pt x="62" y="0"/>
                  </a:cubicBezTo>
                  <a:cubicBezTo>
                    <a:pt x="48" y="0"/>
                    <a:pt x="48" y="0"/>
                    <a:pt x="48" y="0"/>
                  </a:cubicBezTo>
                  <a:cubicBezTo>
                    <a:pt x="48" y="4"/>
                    <a:pt x="48" y="4"/>
                    <a:pt x="48" y="4"/>
                  </a:cubicBezTo>
                  <a:cubicBezTo>
                    <a:pt x="48" y="5"/>
                    <a:pt x="47" y="6"/>
                    <a:pt x="46" y="6"/>
                  </a:cubicBezTo>
                  <a:cubicBezTo>
                    <a:pt x="45" y="6"/>
                    <a:pt x="44" y="5"/>
                    <a:pt x="44" y="4"/>
                  </a:cubicBezTo>
                  <a:cubicBezTo>
                    <a:pt x="44" y="0"/>
                    <a:pt x="44" y="0"/>
                    <a:pt x="44" y="0"/>
                  </a:cubicBezTo>
                  <a:cubicBezTo>
                    <a:pt x="30" y="0"/>
                    <a:pt x="30" y="0"/>
                    <a:pt x="30" y="0"/>
                  </a:cubicBezTo>
                  <a:cubicBezTo>
                    <a:pt x="29" y="0"/>
                    <a:pt x="28" y="1"/>
                    <a:pt x="28" y="1"/>
                  </a:cubicBezTo>
                  <a:cubicBezTo>
                    <a:pt x="0" y="93"/>
                    <a:pt x="0" y="93"/>
                    <a:pt x="0" y="93"/>
                  </a:cubicBezTo>
                  <a:cubicBezTo>
                    <a:pt x="0" y="94"/>
                    <a:pt x="0" y="95"/>
                    <a:pt x="0" y="95"/>
                  </a:cubicBezTo>
                  <a:cubicBezTo>
                    <a:pt x="1" y="96"/>
                    <a:pt x="1" y="96"/>
                    <a:pt x="2" y="96"/>
                  </a:cubicBezTo>
                  <a:cubicBezTo>
                    <a:pt x="44" y="96"/>
                    <a:pt x="44" y="96"/>
                    <a:pt x="44" y="96"/>
                  </a:cubicBezTo>
                  <a:cubicBezTo>
                    <a:pt x="44" y="84"/>
                    <a:pt x="44" y="84"/>
                    <a:pt x="44" y="84"/>
                  </a:cubicBezTo>
                  <a:cubicBezTo>
                    <a:pt x="44" y="83"/>
                    <a:pt x="45" y="82"/>
                    <a:pt x="46" y="82"/>
                  </a:cubicBezTo>
                  <a:cubicBezTo>
                    <a:pt x="47" y="82"/>
                    <a:pt x="48" y="83"/>
                    <a:pt x="48" y="84"/>
                  </a:cubicBezTo>
                  <a:cubicBezTo>
                    <a:pt x="48" y="96"/>
                    <a:pt x="48" y="96"/>
                    <a:pt x="48" y="96"/>
                  </a:cubicBezTo>
                  <a:cubicBezTo>
                    <a:pt x="90" y="96"/>
                    <a:pt x="90" y="96"/>
                    <a:pt x="90" y="96"/>
                  </a:cubicBezTo>
                  <a:cubicBezTo>
                    <a:pt x="91" y="96"/>
                    <a:pt x="91" y="96"/>
                    <a:pt x="92" y="95"/>
                  </a:cubicBezTo>
                  <a:cubicBezTo>
                    <a:pt x="92" y="95"/>
                    <a:pt x="92" y="94"/>
                    <a:pt x="92" y="93"/>
                  </a:cubicBezTo>
                  <a:close/>
                  <a:moveTo>
                    <a:pt x="48" y="72"/>
                  </a:moveTo>
                  <a:cubicBezTo>
                    <a:pt x="48" y="73"/>
                    <a:pt x="47" y="74"/>
                    <a:pt x="46" y="74"/>
                  </a:cubicBezTo>
                  <a:cubicBezTo>
                    <a:pt x="45" y="74"/>
                    <a:pt x="44" y="73"/>
                    <a:pt x="44" y="72"/>
                  </a:cubicBezTo>
                  <a:cubicBezTo>
                    <a:pt x="44" y="64"/>
                    <a:pt x="44" y="64"/>
                    <a:pt x="44" y="64"/>
                  </a:cubicBezTo>
                  <a:cubicBezTo>
                    <a:pt x="44" y="63"/>
                    <a:pt x="45" y="62"/>
                    <a:pt x="46" y="62"/>
                  </a:cubicBezTo>
                  <a:cubicBezTo>
                    <a:pt x="47" y="62"/>
                    <a:pt x="48" y="63"/>
                    <a:pt x="48" y="64"/>
                  </a:cubicBezTo>
                  <a:lnTo>
                    <a:pt x="48"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6" name="Freeform 250">
              <a:extLst>
                <a:ext uri="{FF2B5EF4-FFF2-40B4-BE49-F238E27FC236}">
                  <a16:creationId xmlns:a16="http://schemas.microsoft.com/office/drawing/2014/main" id="{68CF9B6D-D01C-A3F4-EE27-95C4A6D6334B}"/>
                </a:ext>
              </a:extLst>
            </p:cNvPr>
            <p:cNvSpPr>
              <a:spLocks noEditPoints="1"/>
            </p:cNvSpPr>
            <p:nvPr/>
          </p:nvSpPr>
          <p:spPr bwMode="auto">
            <a:xfrm>
              <a:off x="9312275" y="1423988"/>
              <a:ext cx="168275" cy="225425"/>
            </a:xfrm>
            <a:custGeom>
              <a:avLst/>
              <a:gdLst>
                <a:gd name="T0" fmla="*/ 22 w 45"/>
                <a:gd name="T1" fmla="*/ 0 h 60"/>
                <a:gd name="T2" fmla="*/ 0 w 45"/>
                <a:gd name="T3" fmla="*/ 22 h 60"/>
                <a:gd name="T4" fmla="*/ 21 w 45"/>
                <a:gd name="T5" fmla="*/ 59 h 60"/>
                <a:gd name="T6" fmla="*/ 22 w 45"/>
                <a:gd name="T7" fmla="*/ 60 h 60"/>
                <a:gd name="T8" fmla="*/ 24 w 45"/>
                <a:gd name="T9" fmla="*/ 59 h 60"/>
                <a:gd name="T10" fmla="*/ 45 w 45"/>
                <a:gd name="T11" fmla="*/ 22 h 60"/>
                <a:gd name="T12" fmla="*/ 22 w 45"/>
                <a:gd name="T13" fmla="*/ 0 h 60"/>
                <a:gd name="T14" fmla="*/ 22 w 45"/>
                <a:gd name="T15" fmla="*/ 32 h 60"/>
                <a:gd name="T16" fmla="*/ 13 w 45"/>
                <a:gd name="T17" fmla="*/ 22 h 60"/>
                <a:gd name="T18" fmla="*/ 22 w 45"/>
                <a:gd name="T19" fmla="*/ 13 h 60"/>
                <a:gd name="T20" fmla="*/ 32 w 45"/>
                <a:gd name="T21" fmla="*/ 22 h 60"/>
                <a:gd name="T22" fmla="*/ 22 w 45"/>
                <a:gd name="T23" fmla="*/ 3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 h="60">
                  <a:moveTo>
                    <a:pt x="22" y="0"/>
                  </a:moveTo>
                  <a:cubicBezTo>
                    <a:pt x="10" y="0"/>
                    <a:pt x="0" y="10"/>
                    <a:pt x="0" y="22"/>
                  </a:cubicBezTo>
                  <a:cubicBezTo>
                    <a:pt x="0" y="34"/>
                    <a:pt x="20" y="58"/>
                    <a:pt x="21" y="59"/>
                  </a:cubicBezTo>
                  <a:cubicBezTo>
                    <a:pt x="21" y="60"/>
                    <a:pt x="22" y="60"/>
                    <a:pt x="22" y="60"/>
                  </a:cubicBezTo>
                  <a:cubicBezTo>
                    <a:pt x="23" y="60"/>
                    <a:pt x="24" y="60"/>
                    <a:pt x="24" y="59"/>
                  </a:cubicBezTo>
                  <a:cubicBezTo>
                    <a:pt x="25" y="58"/>
                    <a:pt x="45" y="34"/>
                    <a:pt x="45" y="22"/>
                  </a:cubicBezTo>
                  <a:cubicBezTo>
                    <a:pt x="45" y="10"/>
                    <a:pt x="35" y="0"/>
                    <a:pt x="22" y="0"/>
                  </a:cubicBezTo>
                  <a:close/>
                  <a:moveTo>
                    <a:pt x="22" y="32"/>
                  </a:moveTo>
                  <a:cubicBezTo>
                    <a:pt x="17" y="32"/>
                    <a:pt x="13" y="28"/>
                    <a:pt x="13" y="22"/>
                  </a:cubicBezTo>
                  <a:cubicBezTo>
                    <a:pt x="13" y="17"/>
                    <a:pt x="17" y="13"/>
                    <a:pt x="22" y="13"/>
                  </a:cubicBezTo>
                  <a:cubicBezTo>
                    <a:pt x="28" y="13"/>
                    <a:pt x="32" y="17"/>
                    <a:pt x="32" y="22"/>
                  </a:cubicBezTo>
                  <a:cubicBezTo>
                    <a:pt x="32" y="28"/>
                    <a:pt x="28" y="32"/>
                    <a:pt x="22"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67" name="TextBox 66">
            <a:extLst>
              <a:ext uri="{FF2B5EF4-FFF2-40B4-BE49-F238E27FC236}">
                <a16:creationId xmlns:a16="http://schemas.microsoft.com/office/drawing/2014/main" id="{14472B92-2B82-FABF-CD56-5B8DEE4882E2}"/>
              </a:ext>
            </a:extLst>
          </p:cNvPr>
          <p:cNvSpPr txBox="1"/>
          <p:nvPr/>
        </p:nvSpPr>
        <p:spPr>
          <a:xfrm>
            <a:off x="10100125" y="547545"/>
            <a:ext cx="2000435" cy="276999"/>
          </a:xfrm>
          <a:prstGeom prst="rect">
            <a:avLst/>
          </a:prstGeom>
          <a:solidFill>
            <a:srgbClr val="C00000"/>
          </a:solidFill>
        </p:spPr>
        <p:txBody>
          <a:bodyPr wrap="square" lIns="0" tIns="0" rIns="0" bIns="0" rtlCol="0" anchor="t">
            <a:spAutoFit/>
          </a:bodyPr>
          <a:lstStyle/>
          <a:p>
            <a:r>
              <a:rPr lang="en-US" dirty="0">
                <a:solidFill>
                  <a:schemeClr val="bg1"/>
                </a:solidFill>
                <a:latin typeface="+mj-lt"/>
              </a:rPr>
              <a:t>Cahier des Charges</a:t>
            </a:r>
          </a:p>
        </p:txBody>
      </p:sp>
      <p:pic>
        <p:nvPicPr>
          <p:cNvPr id="68" name="Picture 67" descr="A logo of wheat fields and leaves&#10;&#10;AI-generated content may be incorrect.">
            <a:extLst>
              <a:ext uri="{FF2B5EF4-FFF2-40B4-BE49-F238E27FC236}">
                <a16:creationId xmlns:a16="http://schemas.microsoft.com/office/drawing/2014/main" id="{2897E5FE-11BB-96C3-5B6A-AFB19A60FC5D}"/>
              </a:ext>
            </a:extLst>
          </p:cNvPr>
          <p:cNvPicPr>
            <a:picLocks noChangeAspect="1"/>
          </p:cNvPicPr>
          <p:nvPr/>
        </p:nvPicPr>
        <p:blipFill>
          <a:blip r:embed="rId6">
            <a:extLst>
              <a:ext uri="{28A0092B-C50C-407E-A947-70E740481C1C}">
                <a14:useLocalDpi xmlns:a14="http://schemas.microsoft.com/office/drawing/2010/main" val="0"/>
              </a:ext>
            </a:extLst>
          </a:blip>
          <a:srcRect l="14819" t="9743" r="14948" b="23339"/>
          <a:stretch/>
        </p:blipFill>
        <p:spPr>
          <a:xfrm>
            <a:off x="6440584" y="4117620"/>
            <a:ext cx="517585" cy="527240"/>
          </a:xfrm>
          <a:prstGeom prst="rect">
            <a:avLst/>
          </a:prstGeom>
        </p:spPr>
      </p:pic>
      <p:pic>
        <p:nvPicPr>
          <p:cNvPr id="69" name="Picture 68" descr="A logo of a football ball&#10;&#10;AI-generated content may be incorrect.">
            <a:extLst>
              <a:ext uri="{FF2B5EF4-FFF2-40B4-BE49-F238E27FC236}">
                <a16:creationId xmlns:a16="http://schemas.microsoft.com/office/drawing/2014/main" id="{ECA78BF2-2972-A185-7B0C-0C1869C7DAFC}"/>
              </a:ext>
            </a:extLst>
          </p:cNvPr>
          <p:cNvPicPr>
            <a:picLocks noChangeAspect="1"/>
          </p:cNvPicPr>
          <p:nvPr/>
        </p:nvPicPr>
        <p:blipFill>
          <a:blip r:embed="rId7">
            <a:extLst>
              <a:ext uri="{28A0092B-C50C-407E-A947-70E740481C1C}">
                <a14:useLocalDpi xmlns:a14="http://schemas.microsoft.com/office/drawing/2010/main" val="0"/>
              </a:ext>
            </a:extLst>
          </a:blip>
          <a:srcRect l="13505" t="6790" r="13237" b="19073"/>
          <a:stretch/>
        </p:blipFill>
        <p:spPr>
          <a:xfrm>
            <a:off x="6440584" y="5403257"/>
            <a:ext cx="517585" cy="523797"/>
          </a:xfrm>
          <a:prstGeom prst="rect">
            <a:avLst/>
          </a:prstGeom>
        </p:spPr>
      </p:pic>
      <p:cxnSp>
        <p:nvCxnSpPr>
          <p:cNvPr id="70" name="Straight Connector 69">
            <a:extLst>
              <a:ext uri="{FF2B5EF4-FFF2-40B4-BE49-F238E27FC236}">
                <a16:creationId xmlns:a16="http://schemas.microsoft.com/office/drawing/2014/main" id="{E8CB314B-02CD-DFEE-4C22-1BCAC9C76357}"/>
              </a:ext>
            </a:extLst>
          </p:cNvPr>
          <p:cNvCxnSpPr/>
          <p:nvPr/>
        </p:nvCxnSpPr>
        <p:spPr>
          <a:xfrm>
            <a:off x="6004560" y="51670"/>
            <a:ext cx="0" cy="6583704"/>
          </a:xfrm>
          <a:prstGeom prst="line">
            <a:avLst/>
          </a:prstGeom>
        </p:spPr>
        <p:style>
          <a:lnRef idx="3">
            <a:schemeClr val="dk1"/>
          </a:lnRef>
          <a:fillRef idx="0">
            <a:schemeClr val="dk1"/>
          </a:fillRef>
          <a:effectRef idx="2">
            <a:schemeClr val="dk1"/>
          </a:effectRef>
          <a:fontRef idx="minor">
            <a:schemeClr val="tx1"/>
          </a:fontRef>
        </p:style>
      </p:cxnSp>
      <p:pic>
        <p:nvPicPr>
          <p:cNvPr id="71" name="Picture 2" descr="Scholarship - Free user icons">
            <a:extLst>
              <a:ext uri="{FF2B5EF4-FFF2-40B4-BE49-F238E27FC236}">
                <a16:creationId xmlns:a16="http://schemas.microsoft.com/office/drawing/2014/main" id="{E9AC5A8F-E2D2-3C1F-BF01-EDFC430B0C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89287" y="859752"/>
            <a:ext cx="463580" cy="463580"/>
          </a:xfrm>
          <a:prstGeom prst="rect">
            <a:avLst/>
          </a:prstGeom>
          <a:noFill/>
          <a:extLst>
            <a:ext uri="{909E8E84-426E-40DD-AFC4-6F175D3DCCD1}">
              <a14:hiddenFill xmlns:a14="http://schemas.microsoft.com/office/drawing/2010/main">
                <a:solidFill>
                  <a:srgbClr val="FFFFFF"/>
                </a:solidFill>
              </a14:hiddenFill>
            </a:ext>
          </a:extLst>
        </p:spPr>
      </p:pic>
      <p:sp>
        <p:nvSpPr>
          <p:cNvPr id="72" name="TextBox 71">
            <a:extLst>
              <a:ext uri="{FF2B5EF4-FFF2-40B4-BE49-F238E27FC236}">
                <a16:creationId xmlns:a16="http://schemas.microsoft.com/office/drawing/2014/main" id="{426FD1C1-A2D8-9C36-FF08-F7C138442F26}"/>
              </a:ext>
            </a:extLst>
          </p:cNvPr>
          <p:cNvSpPr txBox="1"/>
          <p:nvPr/>
        </p:nvSpPr>
        <p:spPr>
          <a:xfrm>
            <a:off x="7287964" y="3956852"/>
            <a:ext cx="4590639" cy="1107996"/>
          </a:xfrm>
          <a:prstGeom prst="rect">
            <a:avLst/>
          </a:prstGeom>
          <a:noFill/>
        </p:spPr>
        <p:txBody>
          <a:bodyPr wrap="square" rtlCol="0">
            <a:spAutoFit/>
          </a:bodyPr>
          <a:lstStyle/>
          <a:p>
            <a:pPr algn="just"/>
            <a:r>
              <a:rPr lang="en-US" sz="1100" dirty="0"/>
              <a:t>An online meeting was held with the </a:t>
            </a:r>
            <a:r>
              <a:rPr lang="en-US" sz="1100" dirty="0" err="1"/>
              <a:t>Manalola</a:t>
            </a:r>
            <a:r>
              <a:rPr lang="en-US" sz="1100" dirty="0"/>
              <a:t> organization, from which the lack of progress in the agricultural project was noted following land conflicts. A discussion about another methodology is underway to successfully carry the project through. However, we hope that a possible resumption of agricultural activities planned in </a:t>
            </a:r>
            <a:r>
              <a:rPr lang="en-US" sz="1100" dirty="0" err="1"/>
              <a:t>Nkumba</a:t>
            </a:r>
            <a:r>
              <a:rPr lang="en-US" sz="1100" dirty="0"/>
              <a:t> will take place in September as planned.</a:t>
            </a:r>
          </a:p>
        </p:txBody>
      </p:sp>
      <p:sp>
        <p:nvSpPr>
          <p:cNvPr id="74" name="TextBox 73">
            <a:extLst>
              <a:ext uri="{FF2B5EF4-FFF2-40B4-BE49-F238E27FC236}">
                <a16:creationId xmlns:a16="http://schemas.microsoft.com/office/drawing/2014/main" id="{1C2E9BCB-B885-2693-731B-DDE5AB64D625}"/>
              </a:ext>
            </a:extLst>
          </p:cNvPr>
          <p:cNvSpPr txBox="1"/>
          <p:nvPr/>
        </p:nvSpPr>
        <p:spPr>
          <a:xfrm>
            <a:off x="2969987" y="142952"/>
            <a:ext cx="2111053" cy="276999"/>
          </a:xfrm>
          <a:prstGeom prst="rect">
            <a:avLst/>
          </a:prstGeom>
          <a:solidFill>
            <a:srgbClr val="C00000"/>
          </a:solidFill>
        </p:spPr>
        <p:txBody>
          <a:bodyPr wrap="square" lIns="0" tIns="0" rIns="0" bIns="0" rtlCol="0" anchor="t">
            <a:spAutoFit/>
          </a:bodyPr>
          <a:lstStyle/>
          <a:p>
            <a:r>
              <a:rPr lang="en-US" b="1" dirty="0">
                <a:solidFill>
                  <a:schemeClr val="bg1"/>
                </a:solidFill>
                <a:latin typeface="+mj-lt"/>
              </a:rPr>
              <a:t>CSR – FY27</a:t>
            </a:r>
          </a:p>
        </p:txBody>
      </p:sp>
    </p:spTree>
    <p:extLst>
      <p:ext uri="{BB962C8B-B14F-4D97-AF65-F5344CB8AC3E}">
        <p14:creationId xmlns:p14="http://schemas.microsoft.com/office/powerpoint/2010/main" val="3208364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AC8F75C9-23BA-F6D9-F7F8-A5BBA4BA0FEF}"/>
              </a:ext>
            </a:extLst>
          </p:cNvPr>
          <p:cNvGraphicFramePr>
            <a:graphicFrameLocks noGrp="1"/>
          </p:cNvGraphicFramePr>
          <p:nvPr/>
        </p:nvGraphicFramePr>
        <p:xfrm>
          <a:off x="570781" y="617037"/>
          <a:ext cx="11419935" cy="345219"/>
        </p:xfrm>
        <a:graphic>
          <a:graphicData uri="http://schemas.openxmlformats.org/drawingml/2006/table">
            <a:tbl>
              <a:tblPr firstRow="1" firstCol="1" bandRow="1"/>
              <a:tblGrid>
                <a:gridCol w="11419935">
                  <a:extLst>
                    <a:ext uri="{9D8B030D-6E8A-4147-A177-3AD203B41FA5}">
                      <a16:colId xmlns:a16="http://schemas.microsoft.com/office/drawing/2014/main" val="943269612"/>
                    </a:ext>
                  </a:extLst>
                </a:gridCol>
              </a:tblGrid>
              <a:tr h="192819">
                <a:tc>
                  <a:txBody>
                    <a:bodyPr/>
                    <a:lstStyle/>
                    <a:p>
                      <a:pPr marL="457200" marR="0" lvl="1" indent="0">
                        <a:spcBef>
                          <a:spcPts val="200"/>
                        </a:spcBef>
                        <a:spcAft>
                          <a:spcPts val="0"/>
                        </a:spcAft>
                        <a:buFont typeface="+mj-lt"/>
                        <a:buNone/>
                      </a:pPr>
                      <a:r>
                        <a:rPr lang="en-US" sz="1000" b="1" dirty="0">
                          <a:solidFill>
                            <a:srgbClr val="595959"/>
                          </a:solidFill>
                          <a:effectLst/>
                          <a:latin typeface="Franklin Gothic Book" panose="020B0503020102020204" pitchFamily="34" charset="0"/>
                          <a:ea typeface="Times New Roman" panose="02020603050405020304" pitchFamily="18" charset="0"/>
                          <a:cs typeface="Times New Roman" panose="02020603050405020304" pitchFamily="18" charset="0"/>
                        </a:rPr>
                        <a:t>1. REPLACEMENTS</a:t>
                      </a:r>
                      <a:endParaRPr lang="en-US" sz="1000" b="1" dirty="0">
                        <a:solidFill>
                          <a:srgbClr val="595959"/>
                        </a:solidFill>
                        <a:effectLst/>
                        <a:latin typeface="Franklin Gothic Book" panose="020B0503020102020204" pitchFamily="34" charset="0"/>
                        <a:ea typeface="Franklin Gothic Book" panose="020B0503020102020204" pitchFamily="34" charset="0"/>
                        <a:cs typeface="Times New Roman" panose="02020603050405020304" pitchFamily="18" charset="0"/>
                      </a:endParaRPr>
                    </a:p>
                  </a:txBody>
                  <a:tcPr marL="0" marR="0" marT="0" marB="0" anchor="b">
                    <a:lnL>
                      <a:noFill/>
                    </a:lnL>
                    <a:lnR>
                      <a:noFill/>
                    </a:lnR>
                    <a:lnT>
                      <a:noFill/>
                    </a:lnT>
                    <a:lnB w="28575" cap="flat" cmpd="sng" algn="ctr">
                      <a:solidFill>
                        <a:srgbClr val="FEDE00"/>
                      </a:solidFill>
                      <a:prstDash val="solid"/>
                      <a:round/>
                      <a:headEnd type="none" w="med" len="med"/>
                      <a:tailEnd type="none" w="med" len="med"/>
                    </a:lnB>
                    <a:noFill/>
                  </a:tcPr>
                </a:tc>
                <a:extLst>
                  <a:ext uri="{0D108BD9-81ED-4DB2-BD59-A6C34878D82A}">
                    <a16:rowId xmlns:a16="http://schemas.microsoft.com/office/drawing/2014/main" val="3350934439"/>
                  </a:ext>
                </a:extLst>
              </a:tr>
              <a:tr h="129693">
                <a:tc>
                  <a:txBody>
                    <a:bodyPr/>
                    <a:lstStyle/>
                    <a:p>
                      <a:pPr marL="0" marR="0">
                        <a:spcBef>
                          <a:spcPts val="200"/>
                        </a:spcBef>
                        <a:spcAft>
                          <a:spcPts val="0"/>
                        </a:spcAft>
                      </a:pPr>
                      <a:r>
                        <a:rPr lang="en-US" sz="1000" kern="1000" dirty="0">
                          <a:solidFill>
                            <a:srgbClr val="595959"/>
                          </a:solidFill>
                          <a:effectLst/>
                          <a:latin typeface="Calibri" panose="020F0502020204030204" pitchFamily="34" charset="0"/>
                          <a:ea typeface="Franklin Gothic Book" panose="020B0503020102020204" pitchFamily="34" charset="0"/>
                        </a:rPr>
                        <a:t> </a:t>
                      </a:r>
                      <a:endParaRPr lang="en-US" sz="1200" dirty="0">
                        <a:solidFill>
                          <a:srgbClr val="595959"/>
                        </a:solidFill>
                        <a:effectLst/>
                        <a:latin typeface="Times New Roman" panose="02020603050405020304" pitchFamily="18" charset="0"/>
                        <a:ea typeface="Calibri" panose="020F0502020204030204" pitchFamily="34" charset="0"/>
                      </a:endParaRPr>
                    </a:p>
                  </a:txBody>
                  <a:tcPr marL="0" marR="0" marT="0" marB="0" anchor="ctr">
                    <a:lnL>
                      <a:noFill/>
                    </a:lnL>
                    <a:lnR>
                      <a:noFill/>
                    </a:lnR>
                    <a:lnT w="28575" cap="flat" cmpd="sng" algn="ctr">
                      <a:solidFill>
                        <a:srgbClr val="FEDE00"/>
                      </a:solidFill>
                      <a:prstDash val="solid"/>
                      <a:round/>
                      <a:headEnd type="none" w="med" len="med"/>
                      <a:tailEnd type="none" w="med" len="med"/>
                    </a:lnT>
                    <a:lnB>
                      <a:noFill/>
                    </a:lnB>
                    <a:noFill/>
                  </a:tcPr>
                </a:tc>
                <a:extLst>
                  <a:ext uri="{0D108BD9-81ED-4DB2-BD59-A6C34878D82A}">
                    <a16:rowId xmlns:a16="http://schemas.microsoft.com/office/drawing/2014/main" val="4154373107"/>
                  </a:ext>
                </a:extLst>
              </a:tr>
            </a:tbl>
          </a:graphicData>
        </a:graphic>
      </p:graphicFrame>
      <p:sp>
        <p:nvSpPr>
          <p:cNvPr id="11" name="Title 1">
            <a:extLst>
              <a:ext uri="{FF2B5EF4-FFF2-40B4-BE49-F238E27FC236}">
                <a16:creationId xmlns:a16="http://schemas.microsoft.com/office/drawing/2014/main" id="{ABBA347A-24D2-7246-0D63-488642696F3A}"/>
              </a:ext>
            </a:extLst>
          </p:cNvPr>
          <p:cNvSpPr txBox="1">
            <a:spLocks/>
          </p:cNvSpPr>
          <p:nvPr/>
        </p:nvSpPr>
        <p:spPr>
          <a:xfrm>
            <a:off x="3274359" y="195064"/>
            <a:ext cx="2319617" cy="345219"/>
          </a:xfrm>
          <a:prstGeom prst="rect">
            <a:avLst/>
          </a:prstGeom>
          <a:solidFill>
            <a:schemeClr val="accent3">
              <a:lumMod val="50000"/>
            </a:schemeClr>
          </a:solidFill>
        </p:spPr>
        <p:txBody>
          <a:bodyPr vert="horz" lIns="0" tIns="0" rIns="0" bIns="0" rtlCol="0" anchor="b" anchorCtr="0">
            <a:noAutofit/>
          </a:bodyPr>
          <a:lst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r"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100" normalizeH="0" baseline="0" noProof="0" dirty="0">
                <a:ln>
                  <a:noFill/>
                </a:ln>
                <a:effectLst/>
                <a:uLnTx/>
                <a:uFillTx/>
                <a:latin typeface="Franklin Gothic Demi"/>
                <a:ea typeface="+mj-ea"/>
                <a:cs typeface="+mj-cs"/>
              </a:rPr>
              <a:t>Recruitment – FY27 </a:t>
            </a:r>
          </a:p>
        </p:txBody>
      </p:sp>
      <p:graphicFrame>
        <p:nvGraphicFramePr>
          <p:cNvPr id="14" name="Table 13">
            <a:extLst>
              <a:ext uri="{FF2B5EF4-FFF2-40B4-BE49-F238E27FC236}">
                <a16:creationId xmlns:a16="http://schemas.microsoft.com/office/drawing/2014/main" id="{F681D863-D43C-9173-26A8-0E0CE0EAD701}"/>
              </a:ext>
            </a:extLst>
          </p:cNvPr>
          <p:cNvGraphicFramePr>
            <a:graphicFrameLocks noGrp="1"/>
          </p:cNvGraphicFramePr>
          <p:nvPr/>
        </p:nvGraphicFramePr>
        <p:xfrm>
          <a:off x="570782" y="2808980"/>
          <a:ext cx="11419934" cy="378979"/>
        </p:xfrm>
        <a:graphic>
          <a:graphicData uri="http://schemas.openxmlformats.org/drawingml/2006/table">
            <a:tbl>
              <a:tblPr firstRow="1" firstCol="1" bandRow="1"/>
              <a:tblGrid>
                <a:gridCol w="11419934">
                  <a:extLst>
                    <a:ext uri="{9D8B030D-6E8A-4147-A177-3AD203B41FA5}">
                      <a16:colId xmlns:a16="http://schemas.microsoft.com/office/drawing/2014/main" val="943269612"/>
                    </a:ext>
                  </a:extLst>
                </a:gridCol>
              </a:tblGrid>
              <a:tr h="226579">
                <a:tc>
                  <a:txBody>
                    <a:bodyPr/>
                    <a:lstStyle/>
                    <a:p>
                      <a:pPr marL="457200" marR="0" lvl="1" indent="0">
                        <a:spcBef>
                          <a:spcPts val="200"/>
                        </a:spcBef>
                        <a:spcAft>
                          <a:spcPts val="0"/>
                        </a:spcAft>
                        <a:buFont typeface="+mj-lt"/>
                        <a:buNone/>
                      </a:pPr>
                      <a:r>
                        <a:rPr lang="en-US" sz="1000" b="1" dirty="0">
                          <a:solidFill>
                            <a:srgbClr val="595959"/>
                          </a:solidFill>
                          <a:effectLst/>
                          <a:latin typeface="Franklin Gothic Book" panose="020B0503020102020204" pitchFamily="34" charset="0"/>
                          <a:ea typeface="Times New Roman" panose="02020603050405020304" pitchFamily="18" charset="0"/>
                          <a:cs typeface="Times New Roman" panose="02020603050405020304" pitchFamily="18" charset="0"/>
                        </a:rPr>
                        <a:t>2. NEW POSITIONS </a:t>
                      </a:r>
                      <a:endParaRPr lang="en-US" sz="1000" b="1" dirty="0">
                        <a:solidFill>
                          <a:srgbClr val="595959"/>
                        </a:solidFill>
                        <a:effectLst/>
                        <a:latin typeface="Franklin Gothic Book" panose="020B0503020102020204" pitchFamily="34" charset="0"/>
                        <a:ea typeface="Franklin Gothic Book" panose="020B0503020102020204" pitchFamily="34" charset="0"/>
                        <a:cs typeface="Times New Roman" panose="02020603050405020304" pitchFamily="18" charset="0"/>
                      </a:endParaRPr>
                    </a:p>
                  </a:txBody>
                  <a:tcPr marL="0" marR="0" marT="0" marB="0" anchor="b">
                    <a:lnL>
                      <a:noFill/>
                    </a:lnL>
                    <a:lnR>
                      <a:noFill/>
                    </a:lnR>
                    <a:lnT>
                      <a:noFill/>
                    </a:lnT>
                    <a:lnB w="28575" cap="flat" cmpd="sng" algn="ctr">
                      <a:solidFill>
                        <a:srgbClr val="FEDE00"/>
                      </a:solidFill>
                      <a:prstDash val="solid"/>
                      <a:round/>
                      <a:headEnd type="none" w="med" len="med"/>
                      <a:tailEnd type="none" w="med" len="med"/>
                    </a:lnB>
                    <a:noFill/>
                  </a:tcPr>
                </a:tc>
                <a:extLst>
                  <a:ext uri="{0D108BD9-81ED-4DB2-BD59-A6C34878D82A}">
                    <a16:rowId xmlns:a16="http://schemas.microsoft.com/office/drawing/2014/main" val="3350934439"/>
                  </a:ext>
                </a:extLst>
              </a:tr>
              <a:tr h="113946">
                <a:tc>
                  <a:txBody>
                    <a:bodyPr/>
                    <a:lstStyle/>
                    <a:p>
                      <a:pPr marL="0" marR="0">
                        <a:spcBef>
                          <a:spcPts val="200"/>
                        </a:spcBef>
                        <a:spcAft>
                          <a:spcPts val="0"/>
                        </a:spcAft>
                      </a:pPr>
                      <a:r>
                        <a:rPr lang="en-US" sz="1000" kern="1000" dirty="0">
                          <a:solidFill>
                            <a:srgbClr val="595959"/>
                          </a:solidFill>
                          <a:effectLst/>
                          <a:latin typeface="Calibri" panose="020F0502020204030204" pitchFamily="34" charset="0"/>
                          <a:ea typeface="Franklin Gothic Book" panose="020B0503020102020204" pitchFamily="34" charset="0"/>
                        </a:rPr>
                        <a:t> </a:t>
                      </a:r>
                      <a:endParaRPr lang="en-US" sz="1200" dirty="0">
                        <a:solidFill>
                          <a:srgbClr val="595959"/>
                        </a:solidFill>
                        <a:effectLst/>
                        <a:latin typeface="Times New Roman" panose="02020603050405020304" pitchFamily="18" charset="0"/>
                        <a:ea typeface="Calibri" panose="020F0502020204030204" pitchFamily="34" charset="0"/>
                      </a:endParaRPr>
                    </a:p>
                  </a:txBody>
                  <a:tcPr marL="0" marR="0" marT="0" marB="0" anchor="ctr">
                    <a:lnL>
                      <a:noFill/>
                    </a:lnL>
                    <a:lnR>
                      <a:noFill/>
                    </a:lnR>
                    <a:lnT w="28575" cap="flat" cmpd="sng" algn="ctr">
                      <a:solidFill>
                        <a:srgbClr val="FEDE00"/>
                      </a:solidFill>
                      <a:prstDash val="solid"/>
                      <a:round/>
                      <a:headEnd type="none" w="med" len="med"/>
                      <a:tailEnd type="none" w="med" len="med"/>
                    </a:lnT>
                    <a:lnB>
                      <a:noFill/>
                    </a:lnB>
                    <a:noFill/>
                  </a:tcPr>
                </a:tc>
                <a:extLst>
                  <a:ext uri="{0D108BD9-81ED-4DB2-BD59-A6C34878D82A}">
                    <a16:rowId xmlns:a16="http://schemas.microsoft.com/office/drawing/2014/main" val="4154373107"/>
                  </a:ext>
                </a:extLst>
              </a:tr>
            </a:tbl>
          </a:graphicData>
        </a:graphic>
      </p:graphicFrame>
      <p:graphicFrame>
        <p:nvGraphicFramePr>
          <p:cNvPr id="3" name="Table 2">
            <a:extLst>
              <a:ext uri="{FF2B5EF4-FFF2-40B4-BE49-F238E27FC236}">
                <a16:creationId xmlns:a16="http://schemas.microsoft.com/office/drawing/2014/main" id="{01C9E0E9-02CC-2B3A-EC07-8D33BAB0303D}"/>
              </a:ext>
            </a:extLst>
          </p:cNvPr>
          <p:cNvGraphicFramePr>
            <a:graphicFrameLocks noGrp="1"/>
          </p:cNvGraphicFramePr>
          <p:nvPr/>
        </p:nvGraphicFramePr>
        <p:xfrm>
          <a:off x="570781" y="878639"/>
          <a:ext cx="10469460" cy="1898544"/>
        </p:xfrm>
        <a:graphic>
          <a:graphicData uri="http://schemas.openxmlformats.org/drawingml/2006/table">
            <a:tbl>
              <a:tblPr/>
              <a:tblGrid>
                <a:gridCol w="1816353">
                  <a:extLst>
                    <a:ext uri="{9D8B030D-6E8A-4147-A177-3AD203B41FA5}">
                      <a16:colId xmlns:a16="http://schemas.microsoft.com/office/drawing/2014/main" val="2552368600"/>
                    </a:ext>
                  </a:extLst>
                </a:gridCol>
                <a:gridCol w="670138">
                  <a:extLst>
                    <a:ext uri="{9D8B030D-6E8A-4147-A177-3AD203B41FA5}">
                      <a16:colId xmlns:a16="http://schemas.microsoft.com/office/drawing/2014/main" val="357734879"/>
                    </a:ext>
                  </a:extLst>
                </a:gridCol>
                <a:gridCol w="890332">
                  <a:extLst>
                    <a:ext uri="{9D8B030D-6E8A-4147-A177-3AD203B41FA5}">
                      <a16:colId xmlns:a16="http://schemas.microsoft.com/office/drawing/2014/main" val="1145272390"/>
                    </a:ext>
                  </a:extLst>
                </a:gridCol>
                <a:gridCol w="2746129">
                  <a:extLst>
                    <a:ext uri="{9D8B030D-6E8A-4147-A177-3AD203B41FA5}">
                      <a16:colId xmlns:a16="http://schemas.microsoft.com/office/drawing/2014/main" val="3090573090"/>
                    </a:ext>
                  </a:extLst>
                </a:gridCol>
                <a:gridCol w="895709">
                  <a:extLst>
                    <a:ext uri="{9D8B030D-6E8A-4147-A177-3AD203B41FA5}">
                      <a16:colId xmlns:a16="http://schemas.microsoft.com/office/drawing/2014/main" val="3468887474"/>
                    </a:ext>
                  </a:extLst>
                </a:gridCol>
                <a:gridCol w="1459469">
                  <a:extLst>
                    <a:ext uri="{9D8B030D-6E8A-4147-A177-3AD203B41FA5}">
                      <a16:colId xmlns:a16="http://schemas.microsoft.com/office/drawing/2014/main" val="8542017"/>
                    </a:ext>
                  </a:extLst>
                </a:gridCol>
                <a:gridCol w="816818">
                  <a:extLst>
                    <a:ext uri="{9D8B030D-6E8A-4147-A177-3AD203B41FA5}">
                      <a16:colId xmlns:a16="http://schemas.microsoft.com/office/drawing/2014/main" val="3854450501"/>
                    </a:ext>
                  </a:extLst>
                </a:gridCol>
                <a:gridCol w="1174512">
                  <a:extLst>
                    <a:ext uri="{9D8B030D-6E8A-4147-A177-3AD203B41FA5}">
                      <a16:colId xmlns:a16="http://schemas.microsoft.com/office/drawing/2014/main" val="4188137364"/>
                    </a:ext>
                  </a:extLst>
                </a:gridCol>
              </a:tblGrid>
              <a:tr h="249627">
                <a:tc>
                  <a:txBody>
                    <a:bodyPr/>
                    <a:lstStyle/>
                    <a:p>
                      <a:pPr algn="ctr" rtl="0" fontAlgn="b"/>
                      <a:r>
                        <a:rPr lang="en-US" sz="1000" b="1" i="0" u="none" strike="noStrike" dirty="0">
                          <a:solidFill>
                            <a:srgbClr val="FFFFFF"/>
                          </a:solidFill>
                          <a:effectLst/>
                          <a:latin typeface="Arial" panose="020B0604020202020204" pitchFamily="34" charset="0"/>
                        </a:rPr>
                        <a:t>Position</a:t>
                      </a:r>
                    </a:p>
                  </a:txBody>
                  <a:tcPr marL="5447" marR="5447" marT="5447" marB="0" anchor="ctr">
                    <a:lnL>
                      <a:noFill/>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algn="ctr" rtl="0" fontAlgn="b"/>
                      <a:r>
                        <a:rPr lang="en-US" sz="1000" b="1" i="0" u="none" strike="noStrike" dirty="0">
                          <a:solidFill>
                            <a:srgbClr val="FFFFFF"/>
                          </a:solidFill>
                          <a:effectLst/>
                          <a:latin typeface="Arial" panose="020B0604020202020204" pitchFamily="34" charset="0"/>
                        </a:rPr>
                        <a:t>Grades</a:t>
                      </a:r>
                    </a:p>
                  </a:txBody>
                  <a:tcPr marL="5447" marR="5447" marT="5447"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algn="ctr" rtl="0" fontAlgn="b"/>
                      <a:r>
                        <a:rPr lang="en-US" sz="1000" b="1" i="0" u="none" strike="noStrike" dirty="0">
                          <a:solidFill>
                            <a:srgbClr val="FFFFFF"/>
                          </a:solidFill>
                          <a:effectLst/>
                          <a:latin typeface="Arial" panose="020B0604020202020204" pitchFamily="34" charset="0"/>
                        </a:rPr>
                        <a:t>Status</a:t>
                      </a:r>
                    </a:p>
                  </a:txBody>
                  <a:tcPr marL="5447" marR="5447" marT="5447"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algn="ctr" rtl="0" fontAlgn="b"/>
                      <a:r>
                        <a:rPr lang="en-US" sz="1000" b="1" i="0" u="none" strike="noStrike" dirty="0">
                          <a:solidFill>
                            <a:srgbClr val="FFFFFF"/>
                          </a:solidFill>
                          <a:effectLst/>
                          <a:latin typeface="Arial" panose="020B0604020202020204" pitchFamily="34" charset="0"/>
                        </a:rPr>
                        <a:t>Comments</a:t>
                      </a:r>
                    </a:p>
                  </a:txBody>
                  <a:tcPr marL="5447" marR="5447" marT="5447"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algn="ctr" rtl="0" fontAlgn="b"/>
                      <a:r>
                        <a:rPr lang="en-US" sz="1000" b="1" i="0" u="none" strike="noStrike" dirty="0">
                          <a:solidFill>
                            <a:srgbClr val="FFFFFF"/>
                          </a:solidFill>
                          <a:effectLst/>
                          <a:latin typeface="Arial" panose="020B0604020202020204" pitchFamily="34" charset="0"/>
                        </a:rPr>
                        <a:t>Budgeted</a:t>
                      </a:r>
                    </a:p>
                  </a:txBody>
                  <a:tcPr marL="5447" marR="5447" marT="5447"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algn="ctr" rtl="0" fontAlgn="b"/>
                      <a:r>
                        <a:rPr lang="en-US" sz="1000" b="1" i="0" u="none" strike="noStrike" dirty="0">
                          <a:solidFill>
                            <a:srgbClr val="FFFFFF"/>
                          </a:solidFill>
                          <a:effectLst/>
                          <a:latin typeface="Arial" panose="020B0604020202020204" pitchFamily="34" charset="0"/>
                        </a:rPr>
                        <a:t>Department</a:t>
                      </a:r>
                    </a:p>
                  </a:txBody>
                  <a:tcPr marL="5447" marR="5447" marT="5447"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algn="ctr" rtl="0" fontAlgn="b"/>
                      <a:r>
                        <a:rPr lang="en-US" sz="1000" b="1" i="0" u="none" strike="noStrike" dirty="0">
                          <a:solidFill>
                            <a:srgbClr val="FFFFFF"/>
                          </a:solidFill>
                          <a:effectLst/>
                          <a:latin typeface="Arial" panose="020B0604020202020204" pitchFamily="34" charset="0"/>
                        </a:rPr>
                        <a:t>Location</a:t>
                      </a:r>
                    </a:p>
                  </a:txBody>
                  <a:tcPr marL="5447" marR="5447" marT="5447"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943634"/>
                    </a:solidFill>
                  </a:tcPr>
                </a:tc>
                <a:tc>
                  <a:txBody>
                    <a:bodyPr/>
                    <a:lstStyle/>
                    <a:p>
                      <a:pPr algn="ctr" rtl="0" fontAlgn="b"/>
                      <a:r>
                        <a:rPr lang="en-US" sz="1000" b="1" i="0" u="none" strike="noStrike" dirty="0">
                          <a:solidFill>
                            <a:srgbClr val="FFFFFF"/>
                          </a:solidFill>
                          <a:effectLst/>
                          <a:latin typeface="Arial" panose="020B0604020202020204" pitchFamily="34" charset="0"/>
                        </a:rPr>
                        <a:t>Contract type</a:t>
                      </a:r>
                    </a:p>
                  </a:txBody>
                  <a:tcPr marL="5447" marR="5447" marT="5447" marB="0" anchor="ctr">
                    <a:lnL w="19050" cap="flat" cmpd="sng" algn="ctr">
                      <a:solidFill>
                        <a:srgbClr val="FFFFFF"/>
                      </a:solidFill>
                      <a:prstDash val="solid"/>
                      <a:round/>
                      <a:headEnd type="none" w="med" len="med"/>
                      <a:tailEnd type="none" w="med" len="med"/>
                    </a:lnL>
                    <a:lnR>
                      <a:noFill/>
                    </a:lnR>
                    <a:lnT>
                      <a:noFill/>
                    </a:lnT>
                    <a:lnB w="19050" cap="flat" cmpd="sng" algn="ctr">
                      <a:solidFill>
                        <a:srgbClr val="FFFFFF"/>
                      </a:solidFill>
                      <a:prstDash val="solid"/>
                      <a:round/>
                      <a:headEnd type="none" w="med" len="med"/>
                      <a:tailEnd type="none" w="med" len="med"/>
                    </a:lnB>
                    <a:solidFill>
                      <a:srgbClr val="943634"/>
                    </a:solidFill>
                  </a:tcPr>
                </a:tc>
                <a:extLst>
                  <a:ext uri="{0D108BD9-81ED-4DB2-BD59-A6C34878D82A}">
                    <a16:rowId xmlns:a16="http://schemas.microsoft.com/office/drawing/2014/main" val="1912436162"/>
                  </a:ext>
                </a:extLst>
              </a:tr>
              <a:tr h="176596">
                <a:tc>
                  <a:txBody>
                    <a:bodyPr/>
                    <a:lstStyle/>
                    <a:p>
                      <a:pPr algn="l" rtl="0" fontAlgn="b">
                        <a:buNone/>
                      </a:pPr>
                      <a:r>
                        <a:rPr lang="en-US" sz="1000" b="0" i="0" u="none" strike="noStrike" dirty="0">
                          <a:solidFill>
                            <a:srgbClr val="000000"/>
                          </a:solidFill>
                          <a:effectLst/>
                          <a:latin typeface="Arial" panose="020B0604020202020204" pitchFamily="34" charset="0"/>
                        </a:rPr>
                        <a:t>Fitter (Plumber)</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b">
                        <a:buNone/>
                      </a:pPr>
                      <a:r>
                        <a:rPr lang="en-US" sz="1000" b="0" i="0" u="none" strike="noStrike" dirty="0">
                          <a:solidFill>
                            <a:srgbClr val="000000"/>
                          </a:solidFill>
                          <a:effectLst/>
                          <a:latin typeface="Arial" panose="020B0604020202020204" pitchFamily="34" charset="0"/>
                        </a:rPr>
                        <a:t>C2</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Started</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a:buNone/>
                        <a:tabLst>
                          <a:tab pos="2865755" algn="ctr"/>
                          <a:tab pos="5731510" algn="r"/>
                        </a:tabLst>
                      </a:pPr>
                      <a:r>
                        <a:rPr lang="en-US" sz="1000" dirty="0">
                          <a:solidFill>
                            <a:srgbClr val="000000"/>
                          </a:solidFill>
                          <a:effectLst/>
                          <a:latin typeface="Calibri" panose="020F0502020204030204" pitchFamily="34" charset="0"/>
                          <a:ea typeface="MS Mincho" panose="02020609040205080304" pitchFamily="49" charset="-128"/>
                        </a:rPr>
                        <a:t>Vacancy advertised </a:t>
                      </a:r>
                      <a:endParaRPr lang="en-US" sz="1000" dirty="0">
                        <a:effectLst/>
                        <a:latin typeface="Times New Roman" panose="02020603050405020304" pitchFamily="18" charset="0"/>
                        <a:ea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Yes</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Engineering</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Plant</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Permanent</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1363599158"/>
                  </a:ext>
                </a:extLst>
              </a:tr>
              <a:tr h="176596">
                <a:tc>
                  <a:txBody>
                    <a:bodyPr/>
                    <a:lstStyle/>
                    <a:p>
                      <a:pPr algn="l" rtl="0" fontAlgn="b">
                        <a:buNone/>
                      </a:pPr>
                      <a:r>
                        <a:rPr lang="en-US" sz="1000" b="0" i="0" u="none" strike="noStrike" dirty="0">
                          <a:solidFill>
                            <a:srgbClr val="000000"/>
                          </a:solidFill>
                          <a:effectLst/>
                          <a:latin typeface="Arial" panose="020B0604020202020204" pitchFamily="34" charset="0"/>
                        </a:rPr>
                        <a:t>Process Operator (2)</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b">
                        <a:buNone/>
                      </a:pPr>
                      <a:r>
                        <a:rPr lang="en-US" sz="1000" b="0" i="0" u="none" strike="noStrike" dirty="0">
                          <a:solidFill>
                            <a:srgbClr val="000000"/>
                          </a:solidFill>
                          <a:effectLst/>
                          <a:latin typeface="Arial" panose="020B0604020202020204" pitchFamily="34" charset="0"/>
                        </a:rPr>
                        <a:t>C1</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Started</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a:buNone/>
                        <a:tabLst>
                          <a:tab pos="2865755" algn="ctr"/>
                          <a:tab pos="5731510" algn="r"/>
                        </a:tabLst>
                      </a:pPr>
                      <a:r>
                        <a:rPr lang="en-US" sz="1000" dirty="0">
                          <a:solidFill>
                            <a:srgbClr val="000000"/>
                          </a:solidFill>
                          <a:effectLst/>
                          <a:latin typeface="Calibri" panose="020F0502020204030204" pitchFamily="34" charset="0"/>
                          <a:ea typeface="MS Mincho" panose="02020609040205080304" pitchFamily="49" charset="-128"/>
                        </a:rPr>
                        <a:t>Vacancy advertised </a:t>
                      </a:r>
                      <a:endParaRPr lang="en-US" sz="1000" dirty="0">
                        <a:effectLst/>
                        <a:latin typeface="Times New Roman" panose="02020603050405020304" pitchFamily="18" charset="0"/>
                        <a:ea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Yes</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Production</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Plant</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Permanent</a:t>
                      </a: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1558129774"/>
                  </a:ext>
                </a:extLst>
              </a:tr>
              <a:tr h="176596">
                <a:tc>
                  <a:txBody>
                    <a:bodyPr/>
                    <a:lstStyle/>
                    <a:p>
                      <a:pPr algn="l" rtl="0" fontAlgn="b">
                        <a:buNone/>
                      </a:pPr>
                      <a:r>
                        <a:rPr lang="en-US" sz="1000" b="0" i="0" u="none" strike="noStrike" dirty="0">
                          <a:solidFill>
                            <a:srgbClr val="000000"/>
                          </a:solidFill>
                          <a:effectLst/>
                          <a:latin typeface="Arial" panose="020B0604020202020204" pitchFamily="34" charset="0"/>
                        </a:rPr>
                        <a:t>Shift Supervisor</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b">
                        <a:buNone/>
                      </a:pPr>
                      <a:r>
                        <a:rPr lang="en-US" sz="1000" b="0" i="0" u="none" strike="noStrike" dirty="0">
                          <a:solidFill>
                            <a:srgbClr val="000000"/>
                          </a:solidFill>
                          <a:effectLst/>
                          <a:latin typeface="Arial" panose="020B0604020202020204" pitchFamily="34" charset="0"/>
                        </a:rPr>
                        <a:t>C3</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Ongoing</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a:buNone/>
                        <a:tabLst>
                          <a:tab pos="2865755" algn="ctr"/>
                          <a:tab pos="5731510" algn="r"/>
                        </a:tabLst>
                      </a:pPr>
                      <a:r>
                        <a:rPr lang="en-US" sz="1000" dirty="0">
                          <a:solidFill>
                            <a:srgbClr val="000000"/>
                          </a:solidFill>
                          <a:effectLst/>
                          <a:latin typeface="Calibri" panose="020F0502020204030204" pitchFamily="34" charset="0"/>
                          <a:ea typeface="MS Mincho" panose="02020609040205080304" pitchFamily="49" charset="-128"/>
                        </a:rPr>
                        <a:t>Vacancy advertised </a:t>
                      </a:r>
                      <a:endParaRPr lang="en-US" sz="1000" dirty="0">
                        <a:effectLst/>
                        <a:latin typeface="Times New Roman" panose="02020603050405020304" pitchFamily="18" charset="0"/>
                        <a:ea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Yes</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Production</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Plant</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Permanent</a:t>
                      </a: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97971023"/>
                  </a:ext>
                </a:extLst>
              </a:tr>
              <a:tr h="204719">
                <a:tc>
                  <a:txBody>
                    <a:bodyPr/>
                    <a:lstStyle/>
                    <a:p>
                      <a:pPr algn="l" rtl="0" fontAlgn="b">
                        <a:buNone/>
                      </a:pPr>
                      <a:r>
                        <a:rPr lang="en-US" sz="1000" b="0" i="0" u="none" strike="noStrike" dirty="0">
                          <a:solidFill>
                            <a:srgbClr val="000000"/>
                          </a:solidFill>
                          <a:effectLst/>
                          <a:latin typeface="Arial" panose="020B0604020202020204" pitchFamily="34" charset="0"/>
                        </a:rPr>
                        <a:t>Sales and Marketing Head</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b">
                        <a:buNone/>
                      </a:pPr>
                      <a:r>
                        <a:rPr lang="en-US" sz="1000" b="0" i="0" u="none" strike="noStrike" dirty="0">
                          <a:solidFill>
                            <a:srgbClr val="000000"/>
                          </a:solidFill>
                          <a:effectLst/>
                          <a:latin typeface="Arial" panose="020B0604020202020204" pitchFamily="34" charset="0"/>
                        </a:rPr>
                        <a:t>D5</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Ongoing</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lang="en-US" sz="1000" dirty="0">
                          <a:effectLst/>
                          <a:latin typeface="Times New Roman" panose="02020603050405020304" pitchFamily="18" charset="0"/>
                          <a:ea typeface="Calibri" panose="020F0502020204030204" pitchFamily="34" charset="0"/>
                        </a:rPr>
                        <a:t>Interviews done</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Yes</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Sales and Marketing </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HQ</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Permanent</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1195479931"/>
                  </a:ext>
                </a:extLst>
              </a:tr>
              <a:tr h="293822">
                <a:tc>
                  <a:txBody>
                    <a:bodyPr/>
                    <a:lstStyle/>
                    <a:p>
                      <a:pPr algn="l" rtl="0" fontAlgn="b">
                        <a:buNone/>
                      </a:pPr>
                      <a:r>
                        <a:rPr lang="en-US" sz="1000" b="0" i="0" u="none" strike="noStrike" dirty="0">
                          <a:solidFill>
                            <a:srgbClr val="000000"/>
                          </a:solidFill>
                          <a:effectLst/>
                          <a:latin typeface="Arial" panose="020B0604020202020204" pitchFamily="34" charset="0"/>
                        </a:rPr>
                        <a:t>Logistic superintendent</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b">
                        <a:buNone/>
                      </a:pPr>
                      <a:r>
                        <a:rPr lang="en-US" sz="1000" b="0" i="0" u="none" strike="noStrike" dirty="0">
                          <a:solidFill>
                            <a:srgbClr val="000000"/>
                          </a:solidFill>
                          <a:effectLst/>
                          <a:latin typeface="Arial" panose="020B0604020202020204" pitchFamily="34" charset="0"/>
                        </a:rPr>
                        <a:t>D1</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Ongoing</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lang="en-US" sz="1000" dirty="0">
                          <a:effectLst/>
                          <a:latin typeface="Times New Roman" panose="02020603050405020304" pitchFamily="18" charset="0"/>
                          <a:ea typeface="Calibri" panose="020F0502020204030204" pitchFamily="34" charset="0"/>
                        </a:rPr>
                        <a:t>Shortlisting process</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Yes</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Supply Chain</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HQ</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Permanent</a:t>
                      </a: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446572600"/>
                  </a:ext>
                </a:extLst>
              </a:tr>
              <a:tr h="242656">
                <a:tc>
                  <a:txBody>
                    <a:bodyPr/>
                    <a:lstStyle/>
                    <a:p>
                      <a:pPr algn="l" rtl="0" fontAlgn="b">
                        <a:buNone/>
                      </a:pPr>
                      <a:r>
                        <a:rPr lang="en-US" sz="1000" b="0" i="0" u="none" strike="noStrike" kern="1200" dirty="0">
                          <a:solidFill>
                            <a:srgbClr val="000000"/>
                          </a:solidFill>
                          <a:effectLst/>
                          <a:latin typeface="Arial" panose="020B0604020202020204" pitchFamily="34" charset="0"/>
                          <a:ea typeface="+mn-ea"/>
                          <a:cs typeface="+mn-cs"/>
                        </a:rPr>
                        <a:t>Instrumentation Foreman</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b">
                        <a:buNone/>
                      </a:pPr>
                      <a:r>
                        <a:rPr lang="en-US" sz="1000" b="0" i="0" u="none" strike="noStrike" dirty="0">
                          <a:solidFill>
                            <a:srgbClr val="000000"/>
                          </a:solidFill>
                          <a:effectLst/>
                          <a:latin typeface="Arial" panose="020B0604020202020204" pitchFamily="34" charset="0"/>
                        </a:rPr>
                        <a:t>C4</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Started</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lang="en-US" sz="1000" dirty="0">
                          <a:solidFill>
                            <a:srgbClr val="000000"/>
                          </a:solidFill>
                          <a:effectLst/>
                          <a:latin typeface="Calibri" panose="020F0502020204030204" pitchFamily="34" charset="0"/>
                          <a:ea typeface="MS Mincho" panose="02020609040205080304" pitchFamily="49" charset="-128"/>
                        </a:rPr>
                        <a:t>Vacancy advertised</a:t>
                      </a:r>
                      <a:endParaRPr lang="en-US" sz="1000" dirty="0">
                        <a:effectLst/>
                        <a:latin typeface="Times New Roman" panose="02020603050405020304" pitchFamily="18" charset="0"/>
                        <a:ea typeface="Calibri" panose="020F050202020403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yes</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Engineering</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Plant</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Permanent</a:t>
                      </a: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750355334"/>
                  </a:ext>
                </a:extLst>
              </a:tr>
              <a:tr h="201336">
                <a:tc>
                  <a:txBody>
                    <a:bodyPr/>
                    <a:lstStyle/>
                    <a:p>
                      <a:pPr algn="l" rtl="0" fontAlgn="b">
                        <a:buNone/>
                      </a:pPr>
                      <a:r>
                        <a:rPr lang="en-US" sz="1000" b="0" i="0" u="none" strike="noStrike" dirty="0">
                          <a:solidFill>
                            <a:srgbClr val="000000"/>
                          </a:solidFill>
                          <a:effectLst/>
                          <a:latin typeface="Arial" panose="020B0604020202020204" pitchFamily="34" charset="0"/>
                        </a:rPr>
                        <a:t>Lab Analyst</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b">
                        <a:buNone/>
                      </a:pPr>
                      <a:r>
                        <a:rPr lang="en-US" sz="1000" b="0" i="0" u="none" strike="noStrike" dirty="0">
                          <a:solidFill>
                            <a:srgbClr val="000000"/>
                          </a:solidFill>
                          <a:effectLst/>
                          <a:latin typeface="Arial" panose="020B0604020202020204" pitchFamily="34" charset="0"/>
                        </a:rPr>
                        <a:t>B5</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Started</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lang="en-US" sz="1000" dirty="0">
                          <a:effectLst/>
                          <a:latin typeface="Times New Roman" panose="02020603050405020304" pitchFamily="18" charset="0"/>
                          <a:ea typeface="Calibri" panose="020F0502020204030204" pitchFamily="34" charset="0"/>
                        </a:rPr>
                        <a:t>Offer to be sent</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yes</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QA</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Plant</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Permanent</a:t>
                      </a: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985739593"/>
                  </a:ext>
                </a:extLst>
              </a:tr>
              <a:tr h="176596">
                <a:tc>
                  <a:txBody>
                    <a:bodyPr/>
                    <a:lstStyle/>
                    <a:p>
                      <a:pPr algn="l" rtl="0" fontAlgn="b">
                        <a:buNone/>
                      </a:pPr>
                      <a:r>
                        <a:rPr lang="en-US" sz="1000" b="0" i="0" u="none" strike="noStrike" dirty="0">
                          <a:solidFill>
                            <a:srgbClr val="000000"/>
                          </a:solidFill>
                          <a:effectLst/>
                          <a:latin typeface="Arial" panose="020B0604020202020204" pitchFamily="34" charset="0"/>
                        </a:rPr>
                        <a:t>Warehouse Officer </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b">
                        <a:buNone/>
                      </a:pPr>
                      <a:r>
                        <a:rPr lang="en-US" sz="1000" b="0" i="0" u="none" strike="noStrike" dirty="0">
                          <a:solidFill>
                            <a:srgbClr val="000000"/>
                          </a:solidFill>
                          <a:effectLst/>
                          <a:latin typeface="Arial" panose="020B0604020202020204" pitchFamily="34" charset="0"/>
                        </a:rPr>
                        <a:t>C2</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Started</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lang="en-US" sz="1000" dirty="0">
                          <a:effectLst/>
                          <a:latin typeface="Times New Roman" panose="02020603050405020304" pitchFamily="18" charset="0"/>
                          <a:ea typeface="Calibri" panose="020F0502020204030204" pitchFamily="34" charset="0"/>
                        </a:rPr>
                        <a:t>Notification letter under preparation</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yes</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Supply Chain</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Kisangani</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buNone/>
                      </a:pPr>
                      <a:r>
                        <a:rPr lang="en-US" sz="1000" b="0" i="0" u="none" strike="noStrike" dirty="0">
                          <a:solidFill>
                            <a:srgbClr val="000000"/>
                          </a:solidFill>
                          <a:effectLst/>
                          <a:latin typeface="Arial" panose="020B0604020202020204" pitchFamily="34" charset="0"/>
                        </a:rPr>
                        <a:t>Outsourced</a:t>
                      </a: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4155547593"/>
                  </a:ext>
                </a:extLst>
              </a:tr>
            </a:tbl>
          </a:graphicData>
        </a:graphic>
      </p:graphicFrame>
      <p:graphicFrame>
        <p:nvGraphicFramePr>
          <p:cNvPr id="9" name="Table 8">
            <a:extLst>
              <a:ext uri="{FF2B5EF4-FFF2-40B4-BE49-F238E27FC236}">
                <a16:creationId xmlns:a16="http://schemas.microsoft.com/office/drawing/2014/main" id="{74DEEC10-CF5B-EA87-68CC-622568985163}"/>
              </a:ext>
            </a:extLst>
          </p:cNvPr>
          <p:cNvGraphicFramePr>
            <a:graphicFrameLocks noGrp="1"/>
          </p:cNvGraphicFramePr>
          <p:nvPr/>
        </p:nvGraphicFramePr>
        <p:xfrm>
          <a:off x="570781" y="3275910"/>
          <a:ext cx="11275606" cy="3339281"/>
        </p:xfrm>
        <a:graphic>
          <a:graphicData uri="http://schemas.openxmlformats.org/drawingml/2006/table">
            <a:tbl>
              <a:tblPr/>
              <a:tblGrid>
                <a:gridCol w="1652302">
                  <a:extLst>
                    <a:ext uri="{9D8B030D-6E8A-4147-A177-3AD203B41FA5}">
                      <a16:colId xmlns:a16="http://schemas.microsoft.com/office/drawing/2014/main" val="3519322498"/>
                    </a:ext>
                  </a:extLst>
                </a:gridCol>
                <a:gridCol w="522677">
                  <a:extLst>
                    <a:ext uri="{9D8B030D-6E8A-4147-A177-3AD203B41FA5}">
                      <a16:colId xmlns:a16="http://schemas.microsoft.com/office/drawing/2014/main" val="2751783964"/>
                    </a:ext>
                  </a:extLst>
                </a:gridCol>
                <a:gridCol w="1454282">
                  <a:extLst>
                    <a:ext uri="{9D8B030D-6E8A-4147-A177-3AD203B41FA5}">
                      <a16:colId xmlns:a16="http://schemas.microsoft.com/office/drawing/2014/main" val="3215197180"/>
                    </a:ext>
                  </a:extLst>
                </a:gridCol>
                <a:gridCol w="2172313">
                  <a:extLst>
                    <a:ext uri="{9D8B030D-6E8A-4147-A177-3AD203B41FA5}">
                      <a16:colId xmlns:a16="http://schemas.microsoft.com/office/drawing/2014/main" val="4287586611"/>
                    </a:ext>
                  </a:extLst>
                </a:gridCol>
                <a:gridCol w="1093847">
                  <a:extLst>
                    <a:ext uri="{9D8B030D-6E8A-4147-A177-3AD203B41FA5}">
                      <a16:colId xmlns:a16="http://schemas.microsoft.com/office/drawing/2014/main" val="211176161"/>
                    </a:ext>
                  </a:extLst>
                </a:gridCol>
                <a:gridCol w="1814717">
                  <a:extLst>
                    <a:ext uri="{9D8B030D-6E8A-4147-A177-3AD203B41FA5}">
                      <a16:colId xmlns:a16="http://schemas.microsoft.com/office/drawing/2014/main" val="2870516053"/>
                    </a:ext>
                  </a:extLst>
                </a:gridCol>
                <a:gridCol w="1454282">
                  <a:extLst>
                    <a:ext uri="{9D8B030D-6E8A-4147-A177-3AD203B41FA5}">
                      <a16:colId xmlns:a16="http://schemas.microsoft.com/office/drawing/2014/main" val="1207891718"/>
                    </a:ext>
                  </a:extLst>
                </a:gridCol>
                <a:gridCol w="1111186">
                  <a:extLst>
                    <a:ext uri="{9D8B030D-6E8A-4147-A177-3AD203B41FA5}">
                      <a16:colId xmlns:a16="http://schemas.microsoft.com/office/drawing/2014/main" val="2063175186"/>
                    </a:ext>
                  </a:extLst>
                </a:gridCol>
              </a:tblGrid>
              <a:tr h="185243">
                <a:tc>
                  <a:txBody>
                    <a:bodyPr/>
                    <a:lstStyle/>
                    <a:p>
                      <a:pPr algn="ctr" rtl="0" fontAlgn="b"/>
                      <a:r>
                        <a:rPr lang="en-US" sz="1000" b="1" i="0" u="none" strike="noStrike" dirty="0">
                          <a:solidFill>
                            <a:srgbClr val="FFFFFF"/>
                          </a:solidFill>
                          <a:effectLst/>
                          <a:latin typeface="Arial" panose="020B0604020202020204" pitchFamily="34" charset="0"/>
                        </a:rPr>
                        <a:t>Position</a:t>
                      </a:r>
                    </a:p>
                  </a:txBody>
                  <a:tcPr marL="5447" marR="5447" marT="5447"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algn="ctr" rtl="0" fontAlgn="b"/>
                      <a:r>
                        <a:rPr lang="en-US" sz="1000" b="1" i="0" u="none" strike="noStrike" dirty="0">
                          <a:solidFill>
                            <a:srgbClr val="FFFFFF"/>
                          </a:solidFill>
                          <a:effectLst/>
                          <a:latin typeface="Arial" panose="020B0604020202020204" pitchFamily="34" charset="0"/>
                        </a:rPr>
                        <a:t>Grades</a:t>
                      </a:r>
                    </a:p>
                  </a:txBody>
                  <a:tcPr marL="5447" marR="5447" marT="5447"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algn="ctr" rtl="0" fontAlgn="b"/>
                      <a:r>
                        <a:rPr lang="en-US" sz="1000" b="1" i="0" u="none" strike="noStrike" dirty="0">
                          <a:solidFill>
                            <a:srgbClr val="FFFFFF"/>
                          </a:solidFill>
                          <a:effectLst/>
                          <a:latin typeface="Arial" panose="020B0604020202020204" pitchFamily="34" charset="0"/>
                        </a:rPr>
                        <a:t>Status</a:t>
                      </a:r>
                    </a:p>
                  </a:txBody>
                  <a:tcPr marL="5447" marR="5447" marT="5447"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algn="ctr" rtl="0" fontAlgn="b"/>
                      <a:r>
                        <a:rPr lang="en-US" sz="1000" b="1" i="0" u="none" strike="noStrike" dirty="0">
                          <a:solidFill>
                            <a:srgbClr val="FFFFFF"/>
                          </a:solidFill>
                          <a:effectLst/>
                          <a:latin typeface="Arial" panose="020B0604020202020204" pitchFamily="34" charset="0"/>
                        </a:rPr>
                        <a:t>Comments</a:t>
                      </a:r>
                    </a:p>
                  </a:txBody>
                  <a:tcPr marL="5447" marR="5447" marT="5447"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algn="ctr" rtl="0" fontAlgn="b"/>
                      <a:r>
                        <a:rPr lang="en-US" sz="1000" b="1" i="0" u="none" strike="noStrike" dirty="0">
                          <a:solidFill>
                            <a:srgbClr val="FFFFFF"/>
                          </a:solidFill>
                          <a:effectLst/>
                          <a:latin typeface="Arial" panose="020B0604020202020204" pitchFamily="34" charset="0"/>
                        </a:rPr>
                        <a:t>Budgeted</a:t>
                      </a:r>
                    </a:p>
                  </a:txBody>
                  <a:tcPr marL="5447" marR="5447" marT="5447"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algn="ctr" rtl="0" fontAlgn="b"/>
                      <a:r>
                        <a:rPr lang="en-US" sz="1000" b="1" i="0" u="none" strike="noStrike" dirty="0">
                          <a:solidFill>
                            <a:srgbClr val="FFFFFF"/>
                          </a:solidFill>
                          <a:effectLst/>
                          <a:latin typeface="Arial" panose="020B0604020202020204" pitchFamily="34" charset="0"/>
                        </a:rPr>
                        <a:t>Department</a:t>
                      </a:r>
                    </a:p>
                  </a:txBody>
                  <a:tcPr marL="5447" marR="5447" marT="5447"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algn="ctr" rtl="0" fontAlgn="b"/>
                      <a:r>
                        <a:rPr lang="en-US" sz="1000" b="1" i="0" u="none" strike="noStrike" dirty="0">
                          <a:solidFill>
                            <a:srgbClr val="FFFFFF"/>
                          </a:solidFill>
                          <a:effectLst/>
                          <a:latin typeface="Arial" panose="020B0604020202020204" pitchFamily="34" charset="0"/>
                        </a:rPr>
                        <a:t>Location</a:t>
                      </a:r>
                    </a:p>
                  </a:txBody>
                  <a:tcPr marL="5447" marR="5447" marT="5447"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tc>
                  <a:txBody>
                    <a:bodyPr/>
                    <a:lstStyle/>
                    <a:p>
                      <a:pPr algn="ctr" rtl="0" fontAlgn="b"/>
                      <a:r>
                        <a:rPr lang="en-US" sz="1000" b="1" i="0" u="none" strike="noStrike" dirty="0">
                          <a:solidFill>
                            <a:srgbClr val="FFFFFF"/>
                          </a:solidFill>
                          <a:effectLst/>
                          <a:latin typeface="Arial" panose="020B0604020202020204" pitchFamily="34" charset="0"/>
                        </a:rPr>
                        <a:t>Contract type</a:t>
                      </a:r>
                    </a:p>
                  </a:txBody>
                  <a:tcPr marL="5447" marR="5447" marT="5447"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58253266"/>
                  </a:ext>
                </a:extLst>
              </a:tr>
              <a:tr h="238913">
                <a:tc>
                  <a:txBody>
                    <a:bodyPr/>
                    <a:lstStyle/>
                    <a:p>
                      <a:pPr algn="l" rtl="0" fontAlgn="ctr"/>
                      <a:r>
                        <a:rPr lang="en-US" sz="1000" b="0" i="0" u="none" strike="noStrike" kern="1200" dirty="0">
                          <a:solidFill>
                            <a:srgbClr val="000000"/>
                          </a:solidFill>
                          <a:effectLst/>
                          <a:latin typeface="Arial" panose="020B0604020202020204" pitchFamily="34" charset="0"/>
                          <a:ea typeface="+mn-ea"/>
                          <a:cs typeface="+mn-cs"/>
                        </a:rPr>
                        <a:t>Maintenance Planner</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r>
                        <a:rPr lang="en-US" sz="1000" b="0" i="0" u="none" strike="noStrike" dirty="0">
                          <a:solidFill>
                            <a:srgbClr val="000000"/>
                          </a:solidFill>
                          <a:effectLst/>
                          <a:latin typeface="Arial" panose="020B0604020202020204" pitchFamily="34" charset="0"/>
                        </a:rPr>
                        <a:t>C2</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Ongoing</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fontAlgn="b"/>
                      <a:r>
                        <a:rPr lang="en-US" sz="1000" kern="1200" dirty="0">
                          <a:solidFill>
                            <a:srgbClr val="000000"/>
                          </a:solidFill>
                          <a:effectLst/>
                          <a:latin typeface="Calibri" panose="020F0502020204030204" pitchFamily="34" charset="0"/>
                          <a:ea typeface="MS Mincho" panose="02020609040205080304" pitchFamily="49" charset="-128"/>
                          <a:cs typeface="+mn-cs"/>
                        </a:rPr>
                        <a:t>Second interviews are to be scheduled.</a:t>
                      </a:r>
                    </a:p>
                  </a:txBody>
                  <a:tcPr marL="0" marR="0" marT="0"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Yes</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Engineering</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Plant</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Permanent</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915214786"/>
                  </a:ext>
                </a:extLst>
              </a:tr>
              <a:tr h="185243">
                <a:tc>
                  <a:txBody>
                    <a:bodyPr/>
                    <a:lstStyle/>
                    <a:p>
                      <a:pPr algn="l" rtl="0" fontAlgn="ctr"/>
                      <a:r>
                        <a:rPr lang="en-US" sz="1000" b="0" i="0" u="none" strike="noStrike" kern="1200" dirty="0">
                          <a:solidFill>
                            <a:srgbClr val="000000"/>
                          </a:solidFill>
                          <a:effectLst/>
                          <a:latin typeface="Arial" panose="020B0604020202020204" pitchFamily="34" charset="0"/>
                          <a:ea typeface="+mn-ea"/>
                          <a:cs typeface="+mn-cs"/>
                        </a:rPr>
                        <a:t>CPME Manager</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r>
                        <a:rPr lang="en-US" sz="1000" b="0" i="0" u="none" strike="noStrike" dirty="0">
                          <a:solidFill>
                            <a:srgbClr val="000000"/>
                          </a:solidFill>
                          <a:effectLst/>
                          <a:latin typeface="Arial" panose="020B0604020202020204" pitchFamily="34" charset="0"/>
                        </a:rPr>
                        <a:t>D4</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completed</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a:buNone/>
                        <a:tabLst>
                          <a:tab pos="2865755" algn="ctr"/>
                          <a:tab pos="5731510" algn="r"/>
                        </a:tabLst>
                      </a:pPr>
                      <a:r>
                        <a:rPr lang="en-US" sz="1000" dirty="0">
                          <a:solidFill>
                            <a:srgbClr val="000000"/>
                          </a:solidFill>
                          <a:effectLst/>
                          <a:latin typeface="Calibri" panose="020F0502020204030204" pitchFamily="34" charset="0"/>
                          <a:ea typeface="MS Mincho" panose="02020609040205080304" pitchFamily="49" charset="-128"/>
                        </a:rPr>
                        <a:t>Position filled internally – Benny Zakuani</a:t>
                      </a:r>
                      <a:endParaRPr lang="en-US" sz="1000" dirty="0">
                        <a:effectLst/>
                        <a:latin typeface="Times New Roman" panose="02020603050405020304" pitchFamily="18" charset="0"/>
                        <a:ea typeface="Calibri" panose="020F0502020204030204" pitchFamily="34" charset="0"/>
                      </a:endParaRPr>
                    </a:p>
                  </a:txBody>
                  <a:tcPr marL="6350" marR="6350" marT="635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Yes</a:t>
                      </a:r>
                      <a:endPar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lang="en-US" sz="1000" b="0" i="0" u="none" strike="noStrike" dirty="0">
                          <a:solidFill>
                            <a:srgbClr val="000000"/>
                          </a:solidFill>
                          <a:effectLst/>
                          <a:latin typeface="Arial" panose="020B0604020202020204" pitchFamily="34" charset="0"/>
                        </a:rPr>
                        <a:t>CPME</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HQ</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Permanent</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57129026"/>
                  </a:ext>
                </a:extLst>
              </a:tr>
              <a:tr h="185243">
                <a:tc>
                  <a:txBody>
                    <a:bodyPr/>
                    <a:lstStyle/>
                    <a:p>
                      <a:pPr algn="l" rtl="0" fontAlgn="ctr"/>
                      <a:r>
                        <a:rPr lang="en-US" sz="1000" b="0" i="0" u="none" strike="noStrike" kern="1200" dirty="0">
                          <a:solidFill>
                            <a:srgbClr val="000000"/>
                          </a:solidFill>
                          <a:effectLst/>
                          <a:latin typeface="Arial" panose="020B0604020202020204" pitchFamily="34" charset="0"/>
                          <a:ea typeface="+mn-ea"/>
                          <a:cs typeface="+mn-cs"/>
                        </a:rPr>
                        <a:t>CPME Officer</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r>
                        <a:rPr lang="en-US" sz="1000" b="0" i="0" u="none" strike="noStrike" dirty="0">
                          <a:solidFill>
                            <a:srgbClr val="000000"/>
                          </a:solidFill>
                          <a:effectLst/>
                          <a:latin typeface="Arial" panose="020B0604020202020204" pitchFamily="34" charset="0"/>
                        </a:rPr>
                        <a:t>C4</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Ongoing</a:t>
                      </a:r>
                      <a:endPar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lang="en-US" sz="1000" dirty="0">
                          <a:solidFill>
                            <a:srgbClr val="000000"/>
                          </a:solidFill>
                          <a:effectLst/>
                          <a:latin typeface="Calibri" panose="020F0502020204030204" pitchFamily="34" charset="0"/>
                          <a:ea typeface="MS Mincho" panose="02020609040205080304" pitchFamily="49" charset="-128"/>
                        </a:rPr>
                        <a:t>Vacancy to be advertised </a:t>
                      </a:r>
                      <a:endParaRPr lang="en-US" sz="1000" dirty="0">
                        <a:effectLst/>
                        <a:latin typeface="Times New Roman" panose="02020603050405020304" pitchFamily="18" charset="0"/>
                        <a:ea typeface="Calibri" panose="020F0502020204030204" pitchFamily="34" charset="0"/>
                      </a:endParaRPr>
                    </a:p>
                  </a:txBody>
                  <a:tcPr marL="6350" marR="6350" marT="635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Yes</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lang="en-US" sz="1000" b="0" i="0" u="none" strike="noStrike" dirty="0">
                          <a:solidFill>
                            <a:srgbClr val="000000"/>
                          </a:solidFill>
                          <a:effectLst/>
                          <a:latin typeface="Arial" panose="020B0604020202020204" pitchFamily="34" charset="0"/>
                        </a:rPr>
                        <a:t>CPME</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Plant</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Permanent</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1371044579"/>
                  </a:ext>
                </a:extLst>
              </a:tr>
              <a:tr h="145937">
                <a:tc>
                  <a:txBody>
                    <a:bodyPr/>
                    <a:lstStyle/>
                    <a:p>
                      <a:pPr algn="l" rtl="0" fontAlgn="ctr"/>
                      <a:r>
                        <a:rPr lang="en-US" sz="1000" b="0" i="0" u="none" strike="noStrike" kern="1200" dirty="0">
                          <a:solidFill>
                            <a:srgbClr val="000000"/>
                          </a:solidFill>
                          <a:effectLst/>
                          <a:latin typeface="Arial" panose="020B0604020202020204" pitchFamily="34" charset="0"/>
                          <a:ea typeface="+mn-ea"/>
                          <a:cs typeface="+mn-cs"/>
                        </a:rPr>
                        <a:t>Buyer</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r>
                        <a:rPr lang="en-US" sz="1000" b="0" i="0" u="none" strike="noStrike" dirty="0">
                          <a:solidFill>
                            <a:srgbClr val="000000"/>
                          </a:solidFill>
                          <a:effectLst/>
                          <a:latin typeface="Arial" panose="020B0604020202020204" pitchFamily="34" charset="0"/>
                        </a:rPr>
                        <a:t>C2</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Ongoing</a:t>
                      </a:r>
                      <a:endPar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lang="en-US" sz="1000" dirty="0">
                          <a:effectLst/>
                          <a:latin typeface="Times New Roman" panose="02020603050405020304" pitchFamily="18" charset="0"/>
                          <a:ea typeface="Calibri" panose="020F0502020204030204" pitchFamily="34" charset="0"/>
                        </a:rPr>
                        <a:t>Shortlisting process</a:t>
                      </a:r>
                    </a:p>
                  </a:txBody>
                  <a:tcPr marL="6350" marR="6350" marT="635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No</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Arial" panose="020B0604020202020204" pitchFamily="34" charset="0"/>
                        </a:rPr>
                        <a:t>Supply chain</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HQ</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Permanent</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37223937"/>
                  </a:ext>
                </a:extLst>
              </a:tr>
              <a:tr h="145937">
                <a:tc>
                  <a:txBody>
                    <a:bodyPr/>
                    <a:lstStyle/>
                    <a:p>
                      <a:pPr algn="l" rtl="0" fontAlgn="ctr"/>
                      <a:r>
                        <a:rPr lang="en-US" sz="1000" b="0" i="0" u="none" strike="noStrike" kern="1200" dirty="0">
                          <a:solidFill>
                            <a:srgbClr val="000000"/>
                          </a:solidFill>
                          <a:effectLst/>
                          <a:latin typeface="Arial" panose="020B0604020202020204" pitchFamily="34" charset="0"/>
                          <a:ea typeface="+mn-ea"/>
                          <a:cs typeface="+mn-cs"/>
                        </a:rPr>
                        <a:t>CRO (2) </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r>
                        <a:rPr lang="en-US" sz="1000" b="0" i="0" u="none" strike="noStrike" dirty="0">
                          <a:solidFill>
                            <a:srgbClr val="000000"/>
                          </a:solidFill>
                          <a:effectLst/>
                          <a:latin typeface="Arial" panose="020B0604020202020204" pitchFamily="34" charset="0"/>
                        </a:rPr>
                        <a:t>C2</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Ongoing</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lang="en-US" sz="1000" dirty="0">
                          <a:effectLst/>
                          <a:latin typeface="Times New Roman" panose="02020603050405020304" pitchFamily="18" charset="0"/>
                          <a:ea typeface="Calibri" panose="020F0502020204030204" pitchFamily="34" charset="0"/>
                        </a:rPr>
                        <a:t>Interviews to be planned</a:t>
                      </a:r>
                    </a:p>
                  </a:txBody>
                  <a:tcPr marL="6350" marR="6350" marT="635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yes</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Arial" panose="020B0604020202020204" pitchFamily="34" charset="0"/>
                        </a:rPr>
                        <a:t>Sales and Marketing</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4047567714"/>
                  </a:ext>
                </a:extLst>
              </a:tr>
              <a:tr h="301788">
                <a:tc>
                  <a:txBody>
                    <a:bodyPr/>
                    <a:lstStyle/>
                    <a:p>
                      <a:pPr algn="l" rtl="0" fontAlgn="ctr"/>
                      <a:r>
                        <a:rPr lang="en-US" sz="1000" b="0" i="0" u="none" strike="noStrike" dirty="0">
                          <a:solidFill>
                            <a:srgbClr val="000000"/>
                          </a:solidFill>
                          <a:effectLst/>
                          <a:latin typeface="Arial" panose="020B0604020202020204" pitchFamily="34" charset="0"/>
                        </a:rPr>
                        <a:t>Sales Consultant </a:t>
                      </a:r>
                      <a:endParaRPr lang="en-US" sz="1000" b="0" i="0" u="none" strike="noStrike" kern="1200" dirty="0">
                        <a:solidFill>
                          <a:srgbClr val="000000"/>
                        </a:solidFill>
                        <a:effectLst/>
                        <a:latin typeface="Arial" panose="020B0604020202020204" pitchFamily="34" charset="0"/>
                        <a:ea typeface="+mn-ea"/>
                        <a:cs typeface="+mn-cs"/>
                      </a:endParaRP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r>
                        <a:rPr lang="en-US" sz="1000" b="0" i="0" u="none" strike="noStrike" dirty="0">
                          <a:solidFill>
                            <a:srgbClr val="000000"/>
                          </a:solidFill>
                          <a:effectLst/>
                          <a:latin typeface="Arial" panose="020B0604020202020204" pitchFamily="34" charset="0"/>
                        </a:rPr>
                        <a:t>C2</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Ongoing</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lang="en-US" sz="1000" dirty="0"/>
                        <a:t>Final interviews pending MD's availability</a:t>
                      </a:r>
                      <a:endPar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endParaRPr>
                    </a:p>
                  </a:txBody>
                  <a:tcPr marL="6350" marR="6350" marT="635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No</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Arial" panose="020B0604020202020204" pitchFamily="34" charset="0"/>
                        </a:rPr>
                        <a:t>Sales and Marketing </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Kindu</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Permanent</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778833545"/>
                  </a:ext>
                </a:extLst>
              </a:tr>
              <a:tr h="145937">
                <a:tc>
                  <a:txBody>
                    <a:bodyPr/>
                    <a:lstStyle/>
                    <a:p>
                      <a:pPr algn="l" rtl="0" fontAlgn="ctr"/>
                      <a:r>
                        <a:rPr lang="en-US" sz="1000" b="0" i="0" u="none" strike="noStrike" kern="1200" dirty="0">
                          <a:solidFill>
                            <a:srgbClr val="000000"/>
                          </a:solidFill>
                          <a:effectLst/>
                          <a:latin typeface="Arial" panose="020B0604020202020204" pitchFamily="34" charset="0"/>
                          <a:ea typeface="+mn-ea"/>
                          <a:cs typeface="+mn-cs"/>
                        </a:rPr>
                        <a:t>Warehouse operator</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r>
                        <a:rPr lang="en-US" sz="1000" b="0" i="0" u="none" strike="noStrike" dirty="0">
                          <a:solidFill>
                            <a:srgbClr val="000000"/>
                          </a:solidFill>
                          <a:effectLst/>
                          <a:latin typeface="Arial" panose="020B0604020202020204" pitchFamily="34" charset="0"/>
                        </a:rPr>
                        <a:t>C2</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Ongoing</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Offer to be sent</a:t>
                      </a:r>
                    </a:p>
                  </a:txBody>
                  <a:tcPr marL="6350" marR="6350" marT="635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No</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Arial" panose="020B0604020202020204" pitchFamily="34" charset="0"/>
                        </a:rPr>
                        <a:t>Supply chain</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Kindu</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Permanent</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1417891677"/>
                  </a:ext>
                </a:extLst>
              </a:tr>
              <a:tr h="145937">
                <a:tc>
                  <a:txBody>
                    <a:bodyPr/>
                    <a:lstStyle/>
                    <a:p>
                      <a:pPr algn="l" rtl="0" fontAlgn="ctr"/>
                      <a:r>
                        <a:rPr lang="en-US" sz="1000" b="0" i="0" u="none" strike="noStrike" kern="1200" dirty="0">
                          <a:solidFill>
                            <a:srgbClr val="000000"/>
                          </a:solidFill>
                          <a:effectLst/>
                          <a:latin typeface="Arial" panose="020B0604020202020204" pitchFamily="34" charset="0"/>
                          <a:ea typeface="+mn-ea"/>
                          <a:cs typeface="+mn-cs"/>
                        </a:rPr>
                        <a:t>Lab Analyst</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r>
                        <a:rPr lang="en-US" sz="1000" b="0" i="0" u="none" strike="noStrike" dirty="0">
                          <a:solidFill>
                            <a:srgbClr val="000000"/>
                          </a:solidFill>
                          <a:effectLst/>
                          <a:latin typeface="Arial" panose="020B0604020202020204" pitchFamily="34" charset="0"/>
                        </a:rPr>
                        <a:t>B5</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Ongoing</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Offer to be sent</a:t>
                      </a:r>
                    </a:p>
                  </a:txBody>
                  <a:tcPr marL="6350" marR="6350" marT="635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yes</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Arial" panose="020B0604020202020204" pitchFamily="34" charset="0"/>
                        </a:rPr>
                        <a:t>QA</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Zamba</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lang="en-US" sz="1000" b="0" i="0" u="none" strike="noStrike" dirty="0">
                          <a:solidFill>
                            <a:srgbClr val="000000"/>
                          </a:solidFill>
                          <a:effectLst/>
                          <a:latin typeface="Arial" panose="020B0604020202020204" pitchFamily="34" charset="0"/>
                        </a:rPr>
                        <a:t>Permanent</a:t>
                      </a: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498640566"/>
                  </a:ext>
                </a:extLst>
              </a:tr>
              <a:tr h="185243">
                <a:tc>
                  <a:txBody>
                    <a:bodyPr/>
                    <a:lstStyle/>
                    <a:p>
                      <a:pPr algn="l" rtl="0" fontAlgn="ctr"/>
                      <a:r>
                        <a:rPr lang="en-US" sz="1000" b="0" i="0" u="none" strike="noStrike" kern="1200" dirty="0">
                          <a:solidFill>
                            <a:srgbClr val="000000"/>
                          </a:solidFill>
                          <a:effectLst/>
                          <a:latin typeface="Arial" panose="020B0604020202020204" pitchFamily="34" charset="0"/>
                          <a:ea typeface="+mn-ea"/>
                          <a:cs typeface="+mn-cs"/>
                        </a:rPr>
                        <a:t>Lab Analyst</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Arial" panose="020B0604020202020204" pitchFamily="34" charset="0"/>
                        </a:rPr>
                        <a:t>Not Started</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Through MD Service</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No</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Albatros</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err="1">
                          <a:ln>
                            <a:noFill/>
                          </a:ln>
                          <a:solidFill>
                            <a:srgbClr val="000000"/>
                          </a:solidFill>
                          <a:effectLst/>
                          <a:uLnTx/>
                          <a:uFillTx/>
                          <a:latin typeface="Arial" panose="020B0604020202020204" pitchFamily="34" charset="0"/>
                          <a:ea typeface="+mn-ea"/>
                          <a:cs typeface="+mn-cs"/>
                        </a:rPr>
                        <a:t>Lubudi</a:t>
                      </a: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 Grand Katanga</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lang="en-US" sz="1000" b="0" i="0" u="none" strike="noStrike" dirty="0">
                          <a:solidFill>
                            <a:srgbClr val="000000"/>
                          </a:solidFill>
                          <a:effectLst/>
                          <a:latin typeface="Arial" panose="020B0604020202020204" pitchFamily="34" charset="0"/>
                        </a:rPr>
                        <a:t>Outsourced</a:t>
                      </a: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1713316"/>
                  </a:ext>
                </a:extLst>
              </a:tr>
              <a:tr h="185243">
                <a:tc>
                  <a:txBody>
                    <a:bodyPr/>
                    <a:lstStyle/>
                    <a:p>
                      <a:pPr algn="l" rtl="0" fontAlgn="ctr"/>
                      <a:r>
                        <a:rPr lang="en-US" sz="1000" b="0" i="0" u="none" strike="noStrike" kern="1200" dirty="0">
                          <a:solidFill>
                            <a:srgbClr val="000000"/>
                          </a:solidFill>
                          <a:effectLst/>
                          <a:latin typeface="Arial" panose="020B0604020202020204" pitchFamily="34" charset="0"/>
                          <a:ea typeface="+mn-ea"/>
                          <a:cs typeface="+mn-cs"/>
                        </a:rPr>
                        <a:t>Community Liaison Assistant</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Arial" panose="020B0604020202020204" pitchFamily="34" charset="0"/>
                        </a:rPr>
                        <a:t>Not Started</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Through MD Service</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No</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Albatros</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Lubudi – Grand Katanga</a:t>
                      </a:r>
                      <a:endPar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Outsourced</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623806229"/>
                  </a:ext>
                </a:extLst>
              </a:tr>
              <a:tr h="185243">
                <a:tc>
                  <a:txBody>
                    <a:bodyPr/>
                    <a:lstStyle/>
                    <a:p>
                      <a:pPr algn="l" rtl="0" fontAlgn="ctr"/>
                      <a:r>
                        <a:rPr lang="en-US" sz="1000" b="0" i="0" u="none" strike="noStrike" kern="1200" dirty="0">
                          <a:solidFill>
                            <a:srgbClr val="000000"/>
                          </a:solidFill>
                          <a:effectLst/>
                          <a:latin typeface="Arial" panose="020B0604020202020204" pitchFamily="34" charset="0"/>
                          <a:ea typeface="+mn-ea"/>
                          <a:cs typeface="+mn-cs"/>
                        </a:rPr>
                        <a:t>Accountant – </a:t>
                      </a:r>
                      <a:r>
                        <a:rPr lang="en-US" sz="1000" b="0" i="0" u="none" strike="noStrike" kern="1200" dirty="0" err="1">
                          <a:solidFill>
                            <a:srgbClr val="000000"/>
                          </a:solidFill>
                          <a:effectLst/>
                          <a:latin typeface="Arial" panose="020B0604020202020204" pitchFamily="34" charset="0"/>
                          <a:ea typeface="+mn-ea"/>
                          <a:cs typeface="+mn-cs"/>
                        </a:rPr>
                        <a:t>pettycash</a:t>
                      </a:r>
                      <a:endParaRPr lang="en-US" sz="1000" b="0" i="0" u="none" strike="noStrike" kern="1200" dirty="0">
                        <a:solidFill>
                          <a:srgbClr val="000000"/>
                        </a:solidFill>
                        <a:effectLst/>
                        <a:latin typeface="Arial" panose="020B0604020202020204" pitchFamily="34" charset="0"/>
                        <a:ea typeface="+mn-ea"/>
                        <a:cs typeface="+mn-cs"/>
                      </a:endParaRP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Arial" panose="020B0604020202020204" pitchFamily="34" charset="0"/>
                        </a:rPr>
                        <a:t>Not Started</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Through MD Service</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No</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Albatros</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Lubudi – Grand Katanga</a:t>
                      </a:r>
                      <a:endPar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Outsourced</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791532169"/>
                  </a:ext>
                </a:extLst>
              </a:tr>
              <a:tr h="185243">
                <a:tc>
                  <a:txBody>
                    <a:bodyPr/>
                    <a:lstStyle/>
                    <a:p>
                      <a:pPr algn="l" rtl="0" fontAlgn="ctr"/>
                      <a:r>
                        <a:rPr lang="en-US" sz="1000" b="0" i="0" u="none" strike="noStrike" kern="1200" dirty="0">
                          <a:solidFill>
                            <a:srgbClr val="000000"/>
                          </a:solidFill>
                          <a:effectLst/>
                          <a:latin typeface="Arial" panose="020B0604020202020204" pitchFamily="34" charset="0"/>
                          <a:ea typeface="+mn-ea"/>
                          <a:cs typeface="+mn-cs"/>
                        </a:rPr>
                        <a:t>Warehouse Officer</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Done</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Through MD Service</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No</a:t>
                      </a:r>
                      <a:endPar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lang="en-US" sz="1000" b="0" i="0" u="none" strike="noStrike" dirty="0">
                          <a:solidFill>
                            <a:srgbClr val="000000"/>
                          </a:solidFill>
                          <a:effectLst/>
                          <a:latin typeface="Arial" panose="020B0604020202020204" pitchFamily="34" charset="0"/>
                        </a:rPr>
                        <a:t>Supply Chain</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err="1">
                          <a:ln>
                            <a:noFill/>
                          </a:ln>
                          <a:solidFill>
                            <a:srgbClr val="000000"/>
                          </a:solidFill>
                          <a:effectLst/>
                          <a:uLnTx/>
                          <a:uFillTx/>
                          <a:latin typeface="Arial" panose="020B0604020202020204" pitchFamily="34" charset="0"/>
                          <a:ea typeface="+mn-ea"/>
                          <a:cs typeface="+mn-cs"/>
                        </a:rPr>
                        <a:t>Mbandaka</a:t>
                      </a:r>
                      <a:endPar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Outsourced</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184588574"/>
                  </a:ext>
                </a:extLst>
              </a:tr>
              <a:tr h="185243">
                <a:tc>
                  <a:txBody>
                    <a:bodyPr/>
                    <a:lstStyle/>
                    <a:p>
                      <a:pPr algn="l" rtl="0" fontAlgn="ctr"/>
                      <a:r>
                        <a:rPr lang="en-US" sz="1000" b="0" i="0" u="none" strike="noStrike" kern="1200" dirty="0">
                          <a:solidFill>
                            <a:srgbClr val="000000"/>
                          </a:solidFill>
                          <a:effectLst/>
                          <a:latin typeface="Arial" panose="020B0604020202020204" pitchFamily="34" charset="0"/>
                          <a:ea typeface="+mn-ea"/>
                          <a:cs typeface="+mn-cs"/>
                        </a:rPr>
                        <a:t>Mobile equipment operator</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Done</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Through MD Service</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No</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Supply Chain</a:t>
                      </a:r>
                      <a:endPar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Kisangani</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Outsourced</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391042723"/>
                  </a:ext>
                </a:extLst>
              </a:tr>
              <a:tr h="286037">
                <a:tc>
                  <a:txBody>
                    <a:bodyPr/>
                    <a:lstStyle/>
                    <a:p>
                      <a:pPr algn="l" rtl="0" fontAlgn="ctr"/>
                      <a:r>
                        <a:rPr lang="en-US" sz="1000" b="0" i="0" u="none" strike="noStrike" kern="1200" dirty="0">
                          <a:solidFill>
                            <a:srgbClr val="000000"/>
                          </a:solidFill>
                          <a:effectLst/>
                          <a:latin typeface="Arial" panose="020B0604020202020204" pitchFamily="34" charset="0"/>
                          <a:ea typeface="+mn-ea"/>
                          <a:cs typeface="+mn-cs"/>
                        </a:rPr>
                        <a:t>Port operator</a:t>
                      </a:r>
                    </a:p>
                    <a:p>
                      <a:pPr algn="l" rtl="0" fontAlgn="ctr"/>
                      <a:endParaRPr lang="en-US" sz="1000" b="0" i="0" u="none" strike="noStrike" kern="1200" dirty="0">
                        <a:solidFill>
                          <a:srgbClr val="000000"/>
                        </a:solidFill>
                        <a:effectLst/>
                        <a:latin typeface="Arial" panose="020B0604020202020204" pitchFamily="34" charset="0"/>
                        <a:ea typeface="+mn-ea"/>
                        <a:cs typeface="+mn-cs"/>
                      </a:endParaRP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Done</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Through MD Service</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No</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Supply Chain</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Kisangani</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Outsourced</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3793320417"/>
                  </a:ext>
                </a:extLst>
              </a:tr>
              <a:tr h="185243">
                <a:tc>
                  <a:txBody>
                    <a:bodyPr/>
                    <a:lstStyle/>
                    <a:p>
                      <a:pPr algn="l" rtl="0" fontAlgn="ctr"/>
                      <a:r>
                        <a:rPr lang="en-US" sz="1000" b="0" i="0" u="none" strike="noStrike" kern="1200" dirty="0">
                          <a:solidFill>
                            <a:srgbClr val="000000"/>
                          </a:solidFill>
                          <a:effectLst/>
                          <a:latin typeface="Arial" panose="020B0604020202020204" pitchFamily="34" charset="0"/>
                          <a:ea typeface="+mn-ea"/>
                          <a:cs typeface="+mn-cs"/>
                        </a:rPr>
                        <a:t>Logistics and Customs</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Started</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Through MD Service</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No</a:t>
                      </a:r>
                      <a:endPar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Supply Chain</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HQ</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Outsourced</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1587295947"/>
                  </a:ext>
                </a:extLst>
              </a:tr>
              <a:tr h="185243">
                <a:tc>
                  <a:txBody>
                    <a:bodyPr/>
                    <a:lstStyle/>
                    <a:p>
                      <a:pPr algn="l" rtl="0" fontAlgn="ctr"/>
                      <a:r>
                        <a:rPr lang="en-US" sz="1000" b="0" i="0" u="none" strike="noStrike" kern="1200" dirty="0">
                          <a:solidFill>
                            <a:srgbClr val="000000"/>
                          </a:solidFill>
                          <a:effectLst/>
                          <a:latin typeface="Arial" panose="020B0604020202020204" pitchFamily="34" charset="0"/>
                          <a:ea typeface="+mn-ea"/>
                          <a:cs typeface="+mn-cs"/>
                        </a:rPr>
                        <a:t>Warehouse Assistant</a:t>
                      </a:r>
                    </a:p>
                  </a:txBody>
                  <a:tcPr marL="6350" marR="6350" marT="6350" marB="0" anchor="ctr">
                    <a:lnL>
                      <a:noFill/>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ctr" rtl="0" fontAlgn="ct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Arial" panose="020B0604020202020204" pitchFamily="34" charset="0"/>
                        </a:rPr>
                        <a:t>Not Started</a:t>
                      </a:r>
                      <a:endPar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65755" algn="ctr"/>
                          <a:tab pos="5731510" algn="r"/>
                        </a:tabLst>
                        <a:defRPr/>
                      </a:pPr>
                      <a:r>
                        <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Through MD Service</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No</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Albatros</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err="1">
                          <a:ln>
                            <a:noFill/>
                          </a:ln>
                          <a:solidFill>
                            <a:srgbClr val="000000"/>
                          </a:solidFill>
                          <a:effectLst/>
                          <a:uLnTx/>
                          <a:uFillTx/>
                          <a:latin typeface="Arial" panose="020B0604020202020204" pitchFamily="34" charset="0"/>
                          <a:ea typeface="+mn-ea"/>
                          <a:cs typeface="+mn-cs"/>
                        </a:rPr>
                        <a:t>Lubudi</a:t>
                      </a: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 Grand Katanga</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tc>
                  <a:txBody>
                    <a:bodyPr/>
                    <a:lstStyle/>
                    <a:p>
                      <a:pPr algn="l" rtl="0" fontAlgn="b"/>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Outsourced</a:t>
                      </a:r>
                      <a:endParaRPr lang="en-US" sz="1000" b="0" i="0" u="none" strike="noStrike" dirty="0">
                        <a:solidFill>
                          <a:srgbClr val="000000"/>
                        </a:solidFill>
                        <a:effectLst/>
                        <a:latin typeface="Arial" panose="020B0604020202020204" pitchFamily="34" charset="0"/>
                      </a:endParaRPr>
                    </a:p>
                  </a:txBody>
                  <a:tcPr marL="6350" marR="6350" marT="6350" marB="0" anchor="ctr">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5EAEE"/>
                    </a:solidFill>
                  </a:tcPr>
                </a:tc>
                <a:extLst>
                  <a:ext uri="{0D108BD9-81ED-4DB2-BD59-A6C34878D82A}">
                    <a16:rowId xmlns:a16="http://schemas.microsoft.com/office/drawing/2014/main" val="2855434727"/>
                  </a:ext>
                </a:extLst>
              </a:tr>
            </a:tbl>
          </a:graphicData>
        </a:graphic>
      </p:graphicFrame>
    </p:spTree>
    <p:extLst>
      <p:ext uri="{BB962C8B-B14F-4D97-AF65-F5344CB8AC3E}">
        <p14:creationId xmlns:p14="http://schemas.microsoft.com/office/powerpoint/2010/main" val="3802024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FC2D65-432A-5716-5AA0-5075D17A4E08}"/>
              </a:ext>
            </a:extLst>
          </p:cNvPr>
          <p:cNvSpPr>
            <a:spLocks noGrp="1"/>
          </p:cNvSpPr>
          <p:nvPr>
            <p:ph type="title"/>
          </p:nvPr>
        </p:nvSpPr>
        <p:spPr>
          <a:xfrm>
            <a:off x="2870738" y="111345"/>
            <a:ext cx="7803963" cy="442837"/>
          </a:xfrm>
        </p:spPr>
        <p:txBody>
          <a:bodyPr/>
          <a:lstStyle/>
          <a:p>
            <a:r>
              <a:rPr lang="en-US" dirty="0"/>
              <a:t>GOVERNANCE</a:t>
            </a:r>
          </a:p>
        </p:txBody>
      </p:sp>
      <p:sp>
        <p:nvSpPr>
          <p:cNvPr id="4" name="Slide Number Placeholder 3">
            <a:extLst>
              <a:ext uri="{FF2B5EF4-FFF2-40B4-BE49-F238E27FC236}">
                <a16:creationId xmlns:a16="http://schemas.microsoft.com/office/drawing/2014/main" id="{B7E28657-7714-BEB1-51A2-24F6DA14DAEC}"/>
              </a:ext>
            </a:extLst>
          </p:cNvPr>
          <p:cNvSpPr>
            <a:spLocks noGrp="1"/>
          </p:cNvSpPr>
          <p:nvPr>
            <p:ph type="sldNum" sz="quarter" idx="4"/>
          </p:nvPr>
        </p:nvSpPr>
        <p:spPr>
          <a:xfrm>
            <a:off x="8739667" y="5958838"/>
            <a:ext cx="2743200" cy="365125"/>
          </a:xfrm>
        </p:spPr>
        <p:txBody>
          <a:bodyPr/>
          <a:lstStyle/>
          <a:p>
            <a:fld id="{DDAFD0C9-8BC0-5147-B74C-78C6A0363883}" type="slidenum">
              <a:rPr lang="en-ZA" smtClean="0"/>
              <a:pPr/>
              <a:t>12</a:t>
            </a:fld>
            <a:endParaRPr lang="en-ZA"/>
          </a:p>
        </p:txBody>
      </p:sp>
      <p:graphicFrame>
        <p:nvGraphicFramePr>
          <p:cNvPr id="6" name="Table 5">
            <a:extLst>
              <a:ext uri="{FF2B5EF4-FFF2-40B4-BE49-F238E27FC236}">
                <a16:creationId xmlns:a16="http://schemas.microsoft.com/office/drawing/2014/main" id="{C507F444-7668-AD58-7A0E-D32D1AB53E94}"/>
              </a:ext>
            </a:extLst>
          </p:cNvPr>
          <p:cNvGraphicFramePr>
            <a:graphicFrameLocks noGrp="1"/>
          </p:cNvGraphicFramePr>
          <p:nvPr>
            <p:extLst>
              <p:ext uri="{D42A27DB-BD31-4B8C-83A1-F6EECF244321}">
                <p14:modId xmlns:p14="http://schemas.microsoft.com/office/powerpoint/2010/main" val="1629191072"/>
              </p:ext>
            </p:extLst>
          </p:nvPr>
        </p:nvGraphicFramePr>
        <p:xfrm>
          <a:off x="101420" y="809652"/>
          <a:ext cx="11870086" cy="5695150"/>
        </p:xfrm>
        <a:graphic>
          <a:graphicData uri="http://schemas.openxmlformats.org/drawingml/2006/table">
            <a:tbl>
              <a:tblPr firstRow="1" bandRow="1">
                <a:tableStyleId>{91EBBBCC-DAD2-459C-BE2E-F6DE35CF9A28}</a:tableStyleId>
              </a:tblPr>
              <a:tblGrid>
                <a:gridCol w="166964">
                  <a:extLst>
                    <a:ext uri="{9D8B030D-6E8A-4147-A177-3AD203B41FA5}">
                      <a16:colId xmlns:a16="http://schemas.microsoft.com/office/drawing/2014/main" val="590620944"/>
                    </a:ext>
                  </a:extLst>
                </a:gridCol>
                <a:gridCol w="5769250">
                  <a:extLst>
                    <a:ext uri="{9D8B030D-6E8A-4147-A177-3AD203B41FA5}">
                      <a16:colId xmlns:a16="http://schemas.microsoft.com/office/drawing/2014/main" val="2267533398"/>
                    </a:ext>
                  </a:extLst>
                </a:gridCol>
                <a:gridCol w="1154349">
                  <a:extLst>
                    <a:ext uri="{9D8B030D-6E8A-4147-A177-3AD203B41FA5}">
                      <a16:colId xmlns:a16="http://schemas.microsoft.com/office/drawing/2014/main" val="1593955756"/>
                    </a:ext>
                  </a:extLst>
                </a:gridCol>
                <a:gridCol w="1251626">
                  <a:extLst>
                    <a:ext uri="{9D8B030D-6E8A-4147-A177-3AD203B41FA5}">
                      <a16:colId xmlns:a16="http://schemas.microsoft.com/office/drawing/2014/main" val="3971872264"/>
                    </a:ext>
                  </a:extLst>
                </a:gridCol>
                <a:gridCol w="2399489">
                  <a:extLst>
                    <a:ext uri="{9D8B030D-6E8A-4147-A177-3AD203B41FA5}">
                      <a16:colId xmlns:a16="http://schemas.microsoft.com/office/drawing/2014/main" val="301711186"/>
                    </a:ext>
                  </a:extLst>
                </a:gridCol>
                <a:gridCol w="1128408">
                  <a:extLst>
                    <a:ext uri="{9D8B030D-6E8A-4147-A177-3AD203B41FA5}">
                      <a16:colId xmlns:a16="http://schemas.microsoft.com/office/drawing/2014/main" val="816750361"/>
                    </a:ext>
                  </a:extLst>
                </a:gridCol>
              </a:tblGrid>
              <a:tr h="99408">
                <a:tc>
                  <a:txBody>
                    <a:bodyPr/>
                    <a:lstStyle/>
                    <a:p>
                      <a:pPr algn="l" fontAlgn="b">
                        <a:buNone/>
                      </a:pPr>
                      <a:endParaRPr lang="en-US" sz="1100" b="1" i="0" u="none" strike="noStrike" dirty="0">
                        <a:solidFill>
                          <a:schemeClr val="tx1"/>
                        </a:solidFill>
                        <a:effectLst/>
                        <a:latin typeface="+mj-lt"/>
                      </a:endParaRPr>
                    </a:p>
                  </a:txBody>
                  <a:tcPr marL="3980" marR="3980" marT="3980" marB="0" anchor="ctr">
                    <a:solidFill>
                      <a:schemeClr val="accent3">
                        <a:lumMod val="50000"/>
                      </a:schemeClr>
                    </a:solidFill>
                  </a:tcPr>
                </a:tc>
                <a:tc>
                  <a:txBody>
                    <a:bodyPr/>
                    <a:lstStyle/>
                    <a:p>
                      <a:pPr algn="ctr" fontAlgn="b">
                        <a:buNone/>
                      </a:pPr>
                      <a:r>
                        <a:rPr lang="en-US" sz="1100" u="none" strike="noStrike" dirty="0">
                          <a:solidFill>
                            <a:schemeClr val="bg1"/>
                          </a:solidFill>
                          <a:effectLst/>
                        </a:rPr>
                        <a:t>Findings </a:t>
                      </a:r>
                      <a:endParaRPr lang="en-US" sz="1100" b="1" i="0" u="none" strike="noStrike" dirty="0">
                        <a:solidFill>
                          <a:schemeClr val="bg1"/>
                        </a:solidFill>
                        <a:effectLst/>
                        <a:latin typeface="+mj-lt"/>
                      </a:endParaRPr>
                    </a:p>
                  </a:txBody>
                  <a:tcPr marL="3980" marR="3980" marT="3980" marB="0" anchor="ctr">
                    <a:solidFill>
                      <a:schemeClr val="accent3">
                        <a:lumMod val="50000"/>
                      </a:schemeClr>
                    </a:solidFill>
                  </a:tcPr>
                </a:tc>
                <a:tc>
                  <a:txBody>
                    <a:bodyPr/>
                    <a:lstStyle/>
                    <a:p>
                      <a:pPr algn="ctr" fontAlgn="b">
                        <a:buNone/>
                      </a:pPr>
                      <a:r>
                        <a:rPr lang="en-US" sz="1100" u="none" strike="noStrike" dirty="0">
                          <a:solidFill>
                            <a:schemeClr val="bg1"/>
                          </a:solidFill>
                          <a:effectLst/>
                        </a:rPr>
                        <a:t>Severity</a:t>
                      </a:r>
                      <a:endParaRPr lang="en-US" sz="1100" b="1" i="0" u="none" strike="noStrike" dirty="0">
                        <a:solidFill>
                          <a:schemeClr val="bg1"/>
                        </a:solidFill>
                        <a:effectLst/>
                        <a:latin typeface="+mj-lt"/>
                      </a:endParaRPr>
                    </a:p>
                  </a:txBody>
                  <a:tcPr marL="3980" marR="3980" marT="3980" marB="0" anchor="ctr">
                    <a:solidFill>
                      <a:schemeClr val="accent3">
                        <a:lumMod val="50000"/>
                      </a:schemeClr>
                    </a:solidFill>
                  </a:tcPr>
                </a:tc>
                <a:tc>
                  <a:txBody>
                    <a:bodyPr/>
                    <a:lstStyle/>
                    <a:p>
                      <a:pPr algn="ctr" fontAlgn="b">
                        <a:buNone/>
                      </a:pPr>
                      <a:r>
                        <a:rPr lang="fr-FR" sz="1100" b="1" u="none" strike="noStrike" dirty="0">
                          <a:solidFill>
                            <a:schemeClr val="bg1"/>
                          </a:solidFill>
                          <a:effectLst/>
                        </a:rPr>
                        <a:t>Status</a:t>
                      </a:r>
                      <a:endParaRPr lang="en-US" sz="1100" b="1" i="0" u="none" strike="noStrike" dirty="0">
                        <a:solidFill>
                          <a:schemeClr val="bg1"/>
                        </a:solidFill>
                        <a:effectLst/>
                        <a:latin typeface="+mj-lt"/>
                      </a:endParaRPr>
                    </a:p>
                  </a:txBody>
                  <a:tcPr marL="3980" marR="3980" marT="3980" marB="0" anchor="ctr">
                    <a:solidFill>
                      <a:schemeClr val="accent3">
                        <a:lumMod val="50000"/>
                      </a:schemeClr>
                    </a:solidFill>
                  </a:tcPr>
                </a:tc>
                <a:tc>
                  <a:txBody>
                    <a:bodyPr/>
                    <a:lstStyle/>
                    <a:p>
                      <a:pPr algn="ctr" fontAlgn="b">
                        <a:buNone/>
                      </a:pPr>
                      <a:r>
                        <a:rPr lang="fr-FR" sz="1100" b="1" u="none" strike="noStrike" dirty="0">
                          <a:solidFill>
                            <a:schemeClr val="bg1"/>
                          </a:solidFill>
                          <a:effectLst/>
                        </a:rPr>
                        <a:t>Comments</a:t>
                      </a:r>
                      <a:endParaRPr lang="en-US" sz="1100" b="1" i="0" u="none" strike="noStrike" dirty="0">
                        <a:solidFill>
                          <a:schemeClr val="bg1"/>
                        </a:solidFill>
                        <a:effectLst/>
                        <a:latin typeface="+mj-lt"/>
                      </a:endParaRPr>
                    </a:p>
                  </a:txBody>
                  <a:tcPr marL="3980" marR="3980" marT="3980" marB="0" anchor="ctr">
                    <a:solidFill>
                      <a:schemeClr val="accent3">
                        <a:lumMod val="50000"/>
                      </a:schemeClr>
                    </a:solidFill>
                  </a:tcPr>
                </a:tc>
                <a:tc>
                  <a:txBody>
                    <a:bodyPr/>
                    <a:lstStyle/>
                    <a:p>
                      <a:pPr algn="ctr" fontAlgn="b">
                        <a:buNone/>
                      </a:pPr>
                      <a:r>
                        <a:rPr lang="en-US" sz="1100" b="1" u="none" strike="noStrike" dirty="0">
                          <a:solidFill>
                            <a:schemeClr val="bg1"/>
                          </a:solidFill>
                          <a:effectLst/>
                        </a:rPr>
                        <a:t>Due Date</a:t>
                      </a:r>
                      <a:endParaRPr lang="en-US" sz="1100" b="1" i="0" u="none" strike="noStrike" dirty="0">
                        <a:solidFill>
                          <a:schemeClr val="bg1"/>
                        </a:solidFill>
                        <a:effectLst/>
                        <a:latin typeface="+mj-lt"/>
                      </a:endParaRPr>
                    </a:p>
                  </a:txBody>
                  <a:tcPr marL="3980" marR="3980" marT="3980" marB="0" anchor="ctr">
                    <a:solidFill>
                      <a:schemeClr val="accent3">
                        <a:lumMod val="50000"/>
                      </a:schemeClr>
                    </a:solidFill>
                  </a:tcPr>
                </a:tc>
                <a:extLst>
                  <a:ext uri="{0D108BD9-81ED-4DB2-BD59-A6C34878D82A}">
                    <a16:rowId xmlns:a16="http://schemas.microsoft.com/office/drawing/2014/main" val="3926496163"/>
                  </a:ext>
                </a:extLst>
              </a:tr>
              <a:tr h="111811">
                <a:tc>
                  <a:txBody>
                    <a:bodyPr/>
                    <a:lstStyle/>
                    <a:p>
                      <a:pPr algn="l" fontAlgn="ctr">
                        <a:buNone/>
                      </a:pPr>
                      <a:r>
                        <a:rPr lang="en-US" sz="1100" u="none" strike="noStrike" dirty="0">
                          <a:effectLst/>
                        </a:rPr>
                        <a:t>01</a:t>
                      </a:r>
                      <a:endParaRPr lang="en-US" sz="1100" b="0" i="0" u="none" strike="noStrike" dirty="0">
                        <a:solidFill>
                          <a:srgbClr val="FF0000"/>
                        </a:solidFill>
                        <a:effectLst/>
                        <a:latin typeface="+mj-lt"/>
                      </a:endParaRPr>
                    </a:p>
                  </a:txBody>
                  <a:tcPr marL="3980" marR="3980" marT="3980" marB="0" anchor="ctr"/>
                </a:tc>
                <a:tc>
                  <a:txBody>
                    <a:bodyPr/>
                    <a:lstStyle/>
                    <a:p>
                      <a:pPr algn="l" fontAlgn="ctr">
                        <a:buNone/>
                      </a:pPr>
                      <a:r>
                        <a:rPr lang="en-US" sz="1100" b="0" i="0" u="none" strike="noStrike" dirty="0">
                          <a:solidFill>
                            <a:srgbClr val="000000"/>
                          </a:solidFill>
                          <a:effectLst/>
                          <a:latin typeface="Aptos Narrow" panose="020B0004020202020204" pitchFamily="34" charset="0"/>
                        </a:rPr>
                        <a:t> Complete all missing documents in employee files</a:t>
                      </a:r>
                    </a:p>
                  </a:txBody>
                  <a:tcPr marL="6350" marR="6350" marT="6350" marB="0" anchor="ctr"/>
                </a:tc>
                <a:tc>
                  <a:txBody>
                    <a:bodyPr/>
                    <a:lstStyle/>
                    <a:p>
                      <a:pPr algn="l" fontAlgn="ctr">
                        <a:buNone/>
                      </a:pPr>
                      <a:r>
                        <a:rPr lang="en-US" sz="1100" b="0" i="0" u="none" strike="noStrike" dirty="0">
                          <a:solidFill>
                            <a:srgbClr val="FFC000"/>
                          </a:solidFill>
                          <a:effectLst/>
                          <a:latin typeface="Aptos Narrow" panose="020B0004020202020204" pitchFamily="34" charset="0"/>
                        </a:rPr>
                        <a:t>Medium</a:t>
                      </a:r>
                    </a:p>
                  </a:txBody>
                  <a:tcPr marL="6350" marR="6350" marT="6350" marB="0" anchor="ctr"/>
                </a:tc>
                <a:tc>
                  <a:txBody>
                    <a:bodyPr/>
                    <a:lstStyle/>
                    <a:p>
                      <a:pPr algn="l" fontAlgn="ctr">
                        <a:buNone/>
                      </a:pPr>
                      <a:r>
                        <a:rPr lang="en-US" sz="1100" b="0" i="0" u="none" strike="noStrike" dirty="0">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dirty="0">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4241055818"/>
                  </a:ext>
                </a:extLst>
              </a:tr>
              <a:tr h="111811">
                <a:tc>
                  <a:txBody>
                    <a:bodyPr/>
                    <a:lstStyle/>
                    <a:p>
                      <a:pPr algn="l" fontAlgn="ctr">
                        <a:buNone/>
                      </a:pPr>
                      <a:r>
                        <a:rPr lang="en-US" sz="1100" b="0" i="0" u="none" strike="noStrike" dirty="0">
                          <a:solidFill>
                            <a:srgbClr val="FF0000"/>
                          </a:solidFill>
                          <a:effectLst/>
                          <a:latin typeface="+mj-lt"/>
                        </a:rPr>
                        <a:t>02</a:t>
                      </a:r>
                    </a:p>
                  </a:txBody>
                  <a:tcPr marL="3980" marR="3980" marT="3980" marB="0" anchor="ctr"/>
                </a:tc>
                <a:tc>
                  <a:txBody>
                    <a:bodyPr/>
                    <a:lstStyle/>
                    <a:p>
                      <a:pPr algn="l" fontAlgn="ctr">
                        <a:buNone/>
                      </a:pPr>
                      <a:r>
                        <a:rPr lang="en-US" sz="1100" b="0" i="0" u="none" strike="noStrike" dirty="0">
                          <a:solidFill>
                            <a:srgbClr val="000000"/>
                          </a:solidFill>
                          <a:effectLst/>
                          <a:latin typeface="Aptos Narrow" panose="020B0004020202020204" pitchFamily="34" charset="0"/>
                        </a:rPr>
                        <a:t> Ensure all induction plan are properly documented</a:t>
                      </a:r>
                    </a:p>
                  </a:txBody>
                  <a:tcPr marL="6350" marR="6350" marT="6350" marB="0" anchor="ctr"/>
                </a:tc>
                <a:tc>
                  <a:txBody>
                    <a:bodyPr/>
                    <a:lstStyle/>
                    <a:p>
                      <a:pPr algn="l" fontAlgn="ctr">
                        <a:buNone/>
                      </a:pPr>
                      <a:r>
                        <a:rPr lang="en-US" sz="1100" b="0" i="0" u="none" strike="noStrike">
                          <a:solidFill>
                            <a:srgbClr val="FFC000"/>
                          </a:solidFill>
                          <a:effectLst/>
                          <a:latin typeface="Aptos Narrow" panose="020B0004020202020204" pitchFamily="34" charset="0"/>
                        </a:rPr>
                        <a:t>Medium</a:t>
                      </a:r>
                    </a:p>
                  </a:txBody>
                  <a:tcPr marL="6350" marR="6350" marT="6350" marB="0" anchor="ctr"/>
                </a:tc>
                <a:tc>
                  <a:txBody>
                    <a:bodyPr/>
                    <a:lstStyle/>
                    <a:p>
                      <a:pPr algn="l" fontAlgn="ctr">
                        <a:buNone/>
                      </a:pPr>
                      <a:r>
                        <a:rPr lang="en-US" sz="1100" b="0" i="0" u="none" strike="noStrike" dirty="0">
                          <a:solidFill>
                            <a:srgbClr val="000000"/>
                          </a:solidFill>
                          <a:effectLst/>
                          <a:latin typeface="Aptos Narrow" panose="020B0004020202020204" pitchFamily="34" charset="0"/>
                        </a:rPr>
                        <a:t>Closed</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4273445943"/>
                  </a:ext>
                </a:extLst>
              </a:tr>
              <a:tr h="219150">
                <a:tc>
                  <a:txBody>
                    <a:bodyPr/>
                    <a:lstStyle/>
                    <a:p>
                      <a:pPr algn="l" fontAlgn="ctr">
                        <a:buNone/>
                      </a:pPr>
                      <a:r>
                        <a:rPr lang="en-US" sz="1100" b="0" i="0" u="none" strike="noStrike" dirty="0">
                          <a:solidFill>
                            <a:srgbClr val="FF0000"/>
                          </a:solidFill>
                          <a:effectLst/>
                          <a:latin typeface="+mj-lt"/>
                        </a:rPr>
                        <a:t>03</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 Introduce a KPI related to proper documentation filing within the  recruitment process in the Recruitment Officer scorecard</a:t>
                      </a:r>
                    </a:p>
                  </a:txBody>
                  <a:tcPr marL="6350" marR="6350" marT="6350" marB="0" anchor="ctr"/>
                </a:tc>
                <a:tc>
                  <a:txBody>
                    <a:bodyPr/>
                    <a:lstStyle/>
                    <a:p>
                      <a:pPr algn="l" fontAlgn="ctr">
                        <a:buNone/>
                      </a:pPr>
                      <a:r>
                        <a:rPr lang="en-US" sz="1100" b="0" i="0" u="none" strike="noStrike">
                          <a:solidFill>
                            <a:srgbClr val="FFC000"/>
                          </a:solidFill>
                          <a:effectLst/>
                          <a:latin typeface="Aptos Narrow" panose="020B0004020202020204" pitchFamily="34" charset="0"/>
                        </a:rPr>
                        <a:t>Medium</a:t>
                      </a:r>
                    </a:p>
                  </a:txBody>
                  <a:tcPr marL="6350" marR="6350" marT="635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dirty="0">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3219689508"/>
                  </a:ext>
                </a:extLst>
              </a:tr>
              <a:tr h="326489">
                <a:tc>
                  <a:txBody>
                    <a:bodyPr/>
                    <a:lstStyle/>
                    <a:p>
                      <a:pPr algn="l" fontAlgn="ctr">
                        <a:buNone/>
                      </a:pPr>
                      <a:r>
                        <a:rPr lang="en-US" sz="1100" b="0" i="0" u="none" strike="noStrike" dirty="0">
                          <a:solidFill>
                            <a:srgbClr val="FF0000"/>
                          </a:solidFill>
                          <a:effectLst/>
                          <a:latin typeface="+mj-lt"/>
                        </a:rPr>
                        <a:t>04</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Conduct an annual internal audit of employee files to ensure  compliance and completeness and close the Gap (85%  compliance rate)</a:t>
                      </a:r>
                    </a:p>
                  </a:txBody>
                  <a:tcPr marL="6350" marR="6350" marT="6350" marB="0" anchor="ctr"/>
                </a:tc>
                <a:tc>
                  <a:txBody>
                    <a:bodyPr/>
                    <a:lstStyle/>
                    <a:p>
                      <a:pPr algn="l" fontAlgn="ctr">
                        <a:buNone/>
                      </a:pPr>
                      <a:r>
                        <a:rPr lang="en-US" sz="1100" b="0" i="0" u="none" strike="noStrike">
                          <a:solidFill>
                            <a:srgbClr val="FFC000"/>
                          </a:solidFill>
                          <a:effectLst/>
                          <a:latin typeface="Aptos Narrow" panose="020B0004020202020204" pitchFamily="34" charset="0"/>
                        </a:rPr>
                        <a:t>Medium</a:t>
                      </a:r>
                    </a:p>
                  </a:txBody>
                  <a:tcPr marL="6350" marR="6350" marT="635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3420615647"/>
                  </a:ext>
                </a:extLst>
              </a:tr>
              <a:tr h="219150">
                <a:tc>
                  <a:txBody>
                    <a:bodyPr/>
                    <a:lstStyle/>
                    <a:p>
                      <a:pPr algn="l" fontAlgn="ctr">
                        <a:buNone/>
                      </a:pPr>
                      <a:r>
                        <a:rPr lang="en-US" sz="1100" b="0" i="0" u="none" strike="noStrike" dirty="0">
                          <a:solidFill>
                            <a:srgbClr val="FF0000"/>
                          </a:solidFill>
                          <a:effectLst/>
                          <a:latin typeface="+mj-lt"/>
                        </a:rPr>
                        <a:t>05</a:t>
                      </a:r>
                    </a:p>
                  </a:txBody>
                  <a:tcPr marL="3980" marR="3980" marT="3980" marB="0" anchor="ctr"/>
                </a:tc>
                <a:tc>
                  <a:txBody>
                    <a:bodyPr/>
                    <a:lstStyle/>
                    <a:p>
                      <a:pPr algn="l" fontAlgn="ctr">
                        <a:buNone/>
                      </a:pPr>
                      <a:r>
                        <a:rPr lang="en-US" sz="1100" b="0" i="0" u="none" strike="noStrike" dirty="0">
                          <a:solidFill>
                            <a:srgbClr val="000000"/>
                          </a:solidFill>
                          <a:effectLst/>
                          <a:latin typeface="Aptos Narrow" panose="020B0004020202020204" pitchFamily="34" charset="0"/>
                        </a:rPr>
                        <a:t>Define and streamline the approval workflow to  reduce delays (Everything should be signed the last  day)</a:t>
                      </a:r>
                    </a:p>
                  </a:txBody>
                  <a:tcPr marL="6350" marR="6350" marT="6350" marB="0" anchor="ctr"/>
                </a:tc>
                <a:tc>
                  <a:txBody>
                    <a:bodyPr/>
                    <a:lstStyle/>
                    <a:p>
                      <a:pPr algn="l" fontAlgn="ctr">
                        <a:buNone/>
                      </a:pPr>
                      <a:r>
                        <a:rPr lang="en-US" sz="1100" b="0" i="0" u="none" strike="noStrike" dirty="0">
                          <a:solidFill>
                            <a:srgbClr val="FFC000"/>
                          </a:solidFill>
                          <a:effectLst/>
                          <a:latin typeface="Aptos Narrow" panose="020B0004020202020204" pitchFamily="34" charset="0"/>
                        </a:rPr>
                        <a:t>Medium</a:t>
                      </a:r>
                    </a:p>
                  </a:txBody>
                  <a:tcPr marL="6350" marR="6350" marT="635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269476468"/>
                  </a:ext>
                </a:extLst>
              </a:tr>
              <a:tr h="111811">
                <a:tc>
                  <a:txBody>
                    <a:bodyPr/>
                    <a:lstStyle/>
                    <a:p>
                      <a:pPr algn="l" fontAlgn="ctr">
                        <a:buNone/>
                      </a:pPr>
                      <a:r>
                        <a:rPr lang="en-US" sz="1100" b="0" i="0" u="none" strike="noStrike" dirty="0">
                          <a:solidFill>
                            <a:srgbClr val="FF0000"/>
                          </a:solidFill>
                          <a:effectLst/>
                          <a:latin typeface="+mj-lt"/>
                        </a:rPr>
                        <a:t>06</a:t>
                      </a:r>
                    </a:p>
                  </a:txBody>
                  <a:tcPr marL="3980" marR="3980" marT="3980" marB="0" anchor="ctr"/>
                </a:tc>
                <a:tc>
                  <a:txBody>
                    <a:bodyPr/>
                    <a:lstStyle/>
                    <a:p>
                      <a:pPr algn="l" fontAlgn="ctr">
                        <a:buNone/>
                      </a:pPr>
                      <a:r>
                        <a:rPr lang="en-US" sz="1100" b="1" i="0" u="none" strike="noStrike">
                          <a:solidFill>
                            <a:srgbClr val="000000"/>
                          </a:solidFill>
                          <a:effectLst/>
                          <a:latin typeface="Aptos Narrow" panose="020B0004020202020204" pitchFamily="34" charset="0"/>
                        </a:rPr>
                        <a:t>Employee files update</a:t>
                      </a:r>
                    </a:p>
                  </a:txBody>
                  <a:tcPr marL="6350" marR="6350" marT="6350" marB="0" anchor="ctr"/>
                </a:tc>
                <a:tc>
                  <a:txBody>
                    <a:bodyPr/>
                    <a:lstStyle/>
                    <a:p>
                      <a:pPr algn="l" fontAlgn="ctr">
                        <a:buNone/>
                      </a:pPr>
                      <a:r>
                        <a:rPr lang="en-US" sz="1100" b="1" i="0" u="none" strike="noStrike">
                          <a:solidFill>
                            <a:srgbClr val="FF0000"/>
                          </a:solidFill>
                          <a:effectLst/>
                          <a:latin typeface="Aptos Narrow" panose="020B0004020202020204" pitchFamily="34" charset="0"/>
                        </a:rPr>
                        <a:t>High</a:t>
                      </a:r>
                    </a:p>
                  </a:txBody>
                  <a:tcPr marL="6350" marR="6350" marT="6350" marB="0" anchor="ctr"/>
                </a:tc>
                <a:tc>
                  <a:txBody>
                    <a:bodyPr/>
                    <a:lstStyle/>
                    <a:p>
                      <a:pPr algn="l" fontAlgn="ctr">
                        <a:buNone/>
                      </a:pPr>
                      <a:r>
                        <a:rPr lang="en-US" sz="1100" b="1" i="0" u="none" strike="noStrike" dirty="0">
                          <a:solidFill>
                            <a:srgbClr val="000000"/>
                          </a:solidFill>
                          <a:effectLst/>
                          <a:latin typeface="Aptos Narrow" panose="020B0004020202020204" pitchFamily="34" charset="0"/>
                        </a:rPr>
                        <a:t>Closed</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1" i="0" u="none" strike="noStrike">
                          <a:solidFill>
                            <a:srgbClr val="000000"/>
                          </a:solidFill>
                          <a:effectLst/>
                          <a:latin typeface="Aptos Narrow" panose="020B0004020202020204" pitchFamily="34" charset="0"/>
                        </a:rPr>
                        <a:t>9/30/2025</a:t>
                      </a:r>
                    </a:p>
                  </a:txBody>
                  <a:tcPr marL="6350" marR="6350" marT="6350" marB="0" anchor="ctr"/>
                </a:tc>
                <a:extLst>
                  <a:ext uri="{0D108BD9-81ED-4DB2-BD59-A6C34878D82A}">
                    <a16:rowId xmlns:a16="http://schemas.microsoft.com/office/drawing/2014/main" val="4060583513"/>
                  </a:ext>
                </a:extLst>
              </a:tr>
              <a:tr h="111811">
                <a:tc>
                  <a:txBody>
                    <a:bodyPr/>
                    <a:lstStyle/>
                    <a:p>
                      <a:pPr algn="l" fontAlgn="ctr">
                        <a:buNone/>
                      </a:pPr>
                      <a:r>
                        <a:rPr lang="en-US" sz="1100" b="0" i="0" u="none" strike="noStrike" dirty="0">
                          <a:solidFill>
                            <a:srgbClr val="FF0000"/>
                          </a:solidFill>
                          <a:effectLst/>
                          <a:latin typeface="+mj-lt"/>
                        </a:rPr>
                        <a:t>07</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Ensure all FY26 training records are properly  documented and closed</a:t>
                      </a:r>
                    </a:p>
                  </a:txBody>
                  <a:tcPr marL="6350" marR="6350" marT="6350" marB="0" anchor="ctr"/>
                </a:tc>
                <a:tc>
                  <a:txBody>
                    <a:bodyPr/>
                    <a:lstStyle/>
                    <a:p>
                      <a:pPr algn="l" fontAlgn="ctr">
                        <a:buNone/>
                      </a:pPr>
                      <a:r>
                        <a:rPr lang="en-US" sz="1100" b="0" i="0" u="none" strike="noStrike">
                          <a:solidFill>
                            <a:srgbClr val="FF0000"/>
                          </a:solidFill>
                          <a:effectLst/>
                          <a:latin typeface="Aptos Narrow" panose="020B0004020202020204" pitchFamily="34" charset="0"/>
                        </a:rPr>
                        <a:t>High</a:t>
                      </a:r>
                    </a:p>
                  </a:txBody>
                  <a:tcPr marL="6350" marR="6350" marT="635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3876401013"/>
                  </a:ext>
                </a:extLst>
              </a:tr>
              <a:tr h="219150">
                <a:tc>
                  <a:txBody>
                    <a:bodyPr/>
                    <a:lstStyle/>
                    <a:p>
                      <a:pPr algn="l" fontAlgn="ctr">
                        <a:buNone/>
                      </a:pPr>
                      <a:r>
                        <a:rPr lang="en-US" sz="1100" b="0" i="0" u="none" strike="noStrike" dirty="0">
                          <a:solidFill>
                            <a:srgbClr val="FF0000"/>
                          </a:solidFill>
                          <a:effectLst/>
                          <a:latin typeface="+mj-lt"/>
                        </a:rPr>
                        <a:t>08</a:t>
                      </a:r>
                    </a:p>
                  </a:txBody>
                  <a:tcPr marL="3980" marR="3980" marT="3980" marB="0" anchor="ctr"/>
                </a:tc>
                <a:tc>
                  <a:txBody>
                    <a:bodyPr/>
                    <a:lstStyle/>
                    <a:p>
                      <a:pPr algn="l" fontAlgn="ctr">
                        <a:buNone/>
                      </a:pPr>
                      <a:r>
                        <a:rPr lang="en-US" sz="1100" b="0" i="0" u="none" strike="noStrike" dirty="0">
                          <a:solidFill>
                            <a:srgbClr val="000000"/>
                          </a:solidFill>
                          <a:effectLst/>
                          <a:latin typeface="Aptos Narrow" panose="020B0004020202020204" pitchFamily="34" charset="0"/>
                        </a:rPr>
                        <a:t>Ensure that all required employee data is  systematically shared with Finance on an annual  basis, no later than end of </a:t>
                      </a:r>
                      <a:r>
                        <a:rPr lang="en-US" sz="1100" b="0" i="0" u="none" strike="noStrike" dirty="0" err="1">
                          <a:solidFill>
                            <a:srgbClr val="000000"/>
                          </a:solidFill>
                          <a:effectLst/>
                          <a:latin typeface="Aptos Narrow" panose="020B0004020202020204" pitchFamily="34" charset="0"/>
                        </a:rPr>
                        <a:t>april</a:t>
                      </a:r>
                      <a:endParaRPr lang="en-US" sz="11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US" sz="1100" b="0" i="0" u="none" strike="noStrike">
                          <a:solidFill>
                            <a:srgbClr val="00B050"/>
                          </a:solidFill>
                          <a:effectLst/>
                          <a:latin typeface="Aptos Narrow" panose="020B0004020202020204" pitchFamily="34" charset="0"/>
                        </a:rPr>
                        <a:t>Low</a:t>
                      </a:r>
                    </a:p>
                  </a:txBody>
                  <a:tcPr marL="6350" marR="6350" marT="635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3572385648"/>
                  </a:ext>
                </a:extLst>
              </a:tr>
              <a:tr h="219150">
                <a:tc>
                  <a:txBody>
                    <a:bodyPr/>
                    <a:lstStyle/>
                    <a:p>
                      <a:pPr algn="l" fontAlgn="ctr">
                        <a:buNone/>
                      </a:pPr>
                      <a:r>
                        <a:rPr lang="en-US" sz="1100" b="0" i="0" u="none" strike="noStrike" dirty="0">
                          <a:solidFill>
                            <a:srgbClr val="FF0000"/>
                          </a:solidFill>
                          <a:effectLst/>
                          <a:latin typeface="+mj-lt"/>
                        </a:rPr>
                        <a:t>09</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Establish a formal procedure defining roles and  responsibilities between HR and Finance, including  timelines and data requirements</a:t>
                      </a:r>
                    </a:p>
                  </a:txBody>
                  <a:tcPr marL="6350" marR="6350" marT="6350" marB="0" anchor="ctr"/>
                </a:tc>
                <a:tc>
                  <a:txBody>
                    <a:bodyPr/>
                    <a:lstStyle/>
                    <a:p>
                      <a:pPr algn="l" fontAlgn="ctr">
                        <a:buNone/>
                      </a:pPr>
                      <a:r>
                        <a:rPr lang="en-US" sz="1100" b="0" i="0" u="none" strike="noStrike">
                          <a:solidFill>
                            <a:srgbClr val="00B050"/>
                          </a:solidFill>
                          <a:effectLst/>
                          <a:latin typeface="Aptos Narrow" panose="020B0004020202020204" pitchFamily="34" charset="0"/>
                        </a:rPr>
                        <a:t>Low</a:t>
                      </a:r>
                    </a:p>
                  </a:txBody>
                  <a:tcPr marL="6350" marR="6350" marT="635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879220957"/>
                  </a:ext>
                </a:extLst>
              </a:tr>
              <a:tr h="219150">
                <a:tc>
                  <a:txBody>
                    <a:bodyPr/>
                    <a:lstStyle/>
                    <a:p>
                      <a:pPr algn="l" fontAlgn="ctr">
                        <a:buNone/>
                      </a:pPr>
                      <a:r>
                        <a:rPr lang="en-US" sz="1100" b="0" i="0" u="none" strike="noStrike" dirty="0">
                          <a:solidFill>
                            <a:srgbClr val="FF0000"/>
                          </a:solidFill>
                          <a:effectLst/>
                          <a:latin typeface="+mj-lt"/>
                        </a:rPr>
                        <a:t>10</a:t>
                      </a:r>
                    </a:p>
                  </a:txBody>
                  <a:tcPr marL="3980" marR="3980" marT="3980" marB="0" anchor="ctr"/>
                </a:tc>
                <a:tc>
                  <a:txBody>
                    <a:bodyPr/>
                    <a:lstStyle/>
                    <a:p>
                      <a:pPr algn="l" fontAlgn="ctr">
                        <a:buNone/>
                      </a:pPr>
                      <a:r>
                        <a:rPr lang="en-US" sz="1100" b="0" i="0" u="none" strike="noStrike" dirty="0">
                          <a:solidFill>
                            <a:srgbClr val="000000"/>
                          </a:solidFill>
                          <a:effectLst/>
                          <a:latin typeface="Aptos Narrow" panose="020B0004020202020204" pitchFamily="34" charset="0"/>
                        </a:rPr>
                        <a:t>Establish a formal procedure for conducting surveys, including confidentiality requirements and formal  agreements with providers</a:t>
                      </a:r>
                    </a:p>
                  </a:txBody>
                  <a:tcPr marL="6350" marR="6350" marT="6350" marB="0" anchor="ctr"/>
                </a:tc>
                <a:tc>
                  <a:txBody>
                    <a:bodyPr/>
                    <a:lstStyle/>
                    <a:p>
                      <a:pPr algn="l" fontAlgn="ctr">
                        <a:buNone/>
                      </a:pPr>
                      <a:r>
                        <a:rPr lang="en-US" sz="1100" b="0" i="0" u="none" strike="noStrike">
                          <a:solidFill>
                            <a:srgbClr val="FF0000"/>
                          </a:solidFill>
                          <a:effectLst/>
                          <a:latin typeface="Aptos Narrow" panose="020B0004020202020204" pitchFamily="34" charset="0"/>
                        </a:rPr>
                        <a:t>High</a:t>
                      </a:r>
                    </a:p>
                  </a:txBody>
                  <a:tcPr marL="6350" marR="6350" marT="635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1201749604"/>
                  </a:ext>
                </a:extLst>
              </a:tr>
              <a:tr h="111811">
                <a:tc>
                  <a:txBody>
                    <a:bodyPr/>
                    <a:lstStyle/>
                    <a:p>
                      <a:pPr algn="l" fontAlgn="ctr">
                        <a:buNone/>
                      </a:pPr>
                      <a:r>
                        <a:rPr lang="en-US" sz="1100" b="0" i="0" u="none" strike="noStrike" dirty="0">
                          <a:solidFill>
                            <a:srgbClr val="FF0000"/>
                          </a:solidFill>
                          <a:effectLst/>
                          <a:latin typeface="+mj-lt"/>
                        </a:rPr>
                        <a:t>11</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Finalize and standardize reference checks</a:t>
                      </a:r>
                    </a:p>
                  </a:txBody>
                  <a:tcPr marL="6350" marR="6350" marT="6350" marB="0" anchor="ctr"/>
                </a:tc>
                <a:tc>
                  <a:txBody>
                    <a:bodyPr/>
                    <a:lstStyle/>
                    <a:p>
                      <a:pPr algn="l" fontAlgn="ctr">
                        <a:buNone/>
                      </a:pPr>
                      <a:r>
                        <a:rPr lang="en-US" sz="1100" b="0" i="0" u="none" strike="noStrike" dirty="0">
                          <a:solidFill>
                            <a:srgbClr val="FFC000"/>
                          </a:solidFill>
                          <a:effectLst/>
                          <a:latin typeface="Aptos Narrow" panose="020B0004020202020204" pitchFamily="34" charset="0"/>
                        </a:rPr>
                        <a:t>Medium</a:t>
                      </a:r>
                    </a:p>
                  </a:txBody>
                  <a:tcPr marL="6350" marR="6350" marT="6350" marB="0" anchor="ctr"/>
                </a:tc>
                <a:tc>
                  <a:txBody>
                    <a:bodyPr/>
                    <a:lstStyle/>
                    <a:p>
                      <a:pPr algn="l" fontAlgn="ctr">
                        <a:buNone/>
                      </a:pPr>
                      <a:r>
                        <a:rPr lang="en-US" sz="1100" b="0" i="0" u="none" strike="noStrike" dirty="0">
                          <a:solidFill>
                            <a:srgbClr val="000000"/>
                          </a:solidFill>
                          <a:effectLst/>
                          <a:latin typeface="Aptos Narrow" panose="020B0004020202020204" pitchFamily="34" charset="0"/>
                        </a:rPr>
                        <a:t>Closed</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764771775"/>
                  </a:ext>
                </a:extLst>
              </a:tr>
              <a:tr h="111811">
                <a:tc>
                  <a:txBody>
                    <a:bodyPr/>
                    <a:lstStyle/>
                    <a:p>
                      <a:pPr algn="l" fontAlgn="ctr">
                        <a:buNone/>
                      </a:pPr>
                      <a:r>
                        <a:rPr lang="en-US" sz="1100" b="0" i="0" u="none" strike="noStrike" dirty="0">
                          <a:solidFill>
                            <a:srgbClr val="FF0000"/>
                          </a:solidFill>
                          <a:effectLst/>
                          <a:latin typeface="+mj-lt"/>
                        </a:rPr>
                        <a:t>12</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Implement a formal action plan and ensure proper  closure tracking</a:t>
                      </a:r>
                    </a:p>
                  </a:txBody>
                  <a:tcPr marL="6350" marR="6350" marT="6350" marB="0" anchor="ctr"/>
                </a:tc>
                <a:tc>
                  <a:txBody>
                    <a:bodyPr/>
                    <a:lstStyle/>
                    <a:p>
                      <a:pPr algn="l" fontAlgn="ctr">
                        <a:buNone/>
                      </a:pPr>
                      <a:r>
                        <a:rPr lang="en-US" sz="1100" b="0" i="0" u="none" strike="noStrike">
                          <a:solidFill>
                            <a:srgbClr val="FF0000"/>
                          </a:solidFill>
                          <a:effectLst/>
                          <a:latin typeface="Aptos Narrow" panose="020B0004020202020204" pitchFamily="34" charset="0"/>
                        </a:rPr>
                        <a:t>High</a:t>
                      </a:r>
                    </a:p>
                  </a:txBody>
                  <a:tcPr marL="6350" marR="6350" marT="635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2697186367"/>
                  </a:ext>
                </a:extLst>
              </a:tr>
              <a:tr h="111811">
                <a:tc>
                  <a:txBody>
                    <a:bodyPr/>
                    <a:lstStyle/>
                    <a:p>
                      <a:pPr algn="l" fontAlgn="ctr">
                        <a:buNone/>
                      </a:pPr>
                      <a:r>
                        <a:rPr lang="en-US" sz="1100" b="0" i="0" u="none" strike="noStrike" dirty="0">
                          <a:solidFill>
                            <a:srgbClr val="00B050"/>
                          </a:solidFill>
                          <a:effectLst/>
                          <a:latin typeface="+mj-lt"/>
                        </a:rPr>
                        <a:t>13</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Implement an automatic recuitment System</a:t>
                      </a:r>
                    </a:p>
                  </a:txBody>
                  <a:tcPr marL="6350" marR="6350" marT="6350" marB="0" anchor="ctr"/>
                </a:tc>
                <a:tc>
                  <a:txBody>
                    <a:bodyPr/>
                    <a:lstStyle/>
                    <a:p>
                      <a:pPr algn="l" fontAlgn="ctr">
                        <a:buNone/>
                      </a:pPr>
                      <a:r>
                        <a:rPr lang="en-US" sz="1100" b="0" i="0" u="none" strike="noStrike">
                          <a:solidFill>
                            <a:srgbClr val="FFC000"/>
                          </a:solidFill>
                          <a:effectLst/>
                          <a:latin typeface="Aptos Narrow" panose="020B0004020202020204" pitchFamily="34" charset="0"/>
                        </a:rPr>
                        <a:t>Medium</a:t>
                      </a:r>
                    </a:p>
                  </a:txBody>
                  <a:tcPr marL="6350" marR="6350" marT="635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3/31/2027</a:t>
                      </a:r>
                    </a:p>
                  </a:txBody>
                  <a:tcPr marL="6350" marR="6350" marT="6350" marB="0" anchor="ctr"/>
                </a:tc>
                <a:extLst>
                  <a:ext uri="{0D108BD9-81ED-4DB2-BD59-A6C34878D82A}">
                    <a16:rowId xmlns:a16="http://schemas.microsoft.com/office/drawing/2014/main" val="2044497200"/>
                  </a:ext>
                </a:extLst>
              </a:tr>
              <a:tr h="219150">
                <a:tc>
                  <a:txBody>
                    <a:bodyPr/>
                    <a:lstStyle/>
                    <a:p>
                      <a:pPr algn="l" fontAlgn="ctr">
                        <a:buNone/>
                      </a:pPr>
                      <a:r>
                        <a:rPr lang="en-US" sz="1100" b="0" i="0" u="none" strike="noStrike" dirty="0">
                          <a:solidFill>
                            <a:srgbClr val="00B050"/>
                          </a:solidFill>
                          <a:effectLst/>
                          <a:latin typeface="+mj-lt"/>
                        </a:rPr>
                        <a:t>14</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Include a mandatory handover/ tracking file within  the clearance process (Update the clearance from)</a:t>
                      </a:r>
                    </a:p>
                  </a:txBody>
                  <a:tcPr marL="6350" marR="6350" marT="6350" marB="0" anchor="ctr"/>
                </a:tc>
                <a:tc>
                  <a:txBody>
                    <a:bodyPr/>
                    <a:lstStyle/>
                    <a:p>
                      <a:pPr algn="l" fontAlgn="ctr">
                        <a:buNone/>
                      </a:pPr>
                      <a:r>
                        <a:rPr lang="en-US" sz="1100" b="0" i="0" u="none" strike="noStrike">
                          <a:solidFill>
                            <a:srgbClr val="FF0000"/>
                          </a:solidFill>
                          <a:effectLst/>
                          <a:latin typeface="Aptos Narrow" panose="020B0004020202020204" pitchFamily="34" charset="0"/>
                        </a:rPr>
                        <a:t>High</a:t>
                      </a:r>
                    </a:p>
                  </a:txBody>
                  <a:tcPr marL="6350" marR="6350" marT="635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2901550332"/>
                  </a:ext>
                </a:extLst>
              </a:tr>
              <a:tr h="219150">
                <a:tc>
                  <a:txBody>
                    <a:bodyPr/>
                    <a:lstStyle/>
                    <a:p>
                      <a:pPr algn="l" fontAlgn="ctr">
                        <a:buNone/>
                      </a:pPr>
                      <a:r>
                        <a:rPr lang="en-US" sz="1100" b="0" i="0" u="none" strike="noStrike" dirty="0">
                          <a:solidFill>
                            <a:srgbClr val="00B050"/>
                          </a:solidFill>
                          <a:effectLst/>
                          <a:latin typeface="+mj-lt"/>
                        </a:rPr>
                        <a:t>15</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Introduce a KPI on proper filing and document completeness in  employee records</a:t>
                      </a:r>
                    </a:p>
                  </a:txBody>
                  <a:tcPr marL="6350" marR="6350" marT="6350" marB="0" anchor="ctr"/>
                </a:tc>
                <a:tc>
                  <a:txBody>
                    <a:bodyPr/>
                    <a:lstStyle/>
                    <a:p>
                      <a:pPr algn="l" fontAlgn="ctr">
                        <a:buNone/>
                      </a:pPr>
                      <a:r>
                        <a:rPr lang="en-US" sz="1100" b="0" i="0" u="none" strike="noStrike">
                          <a:solidFill>
                            <a:srgbClr val="FFC000"/>
                          </a:solidFill>
                          <a:effectLst/>
                          <a:latin typeface="Aptos Narrow" panose="020B0004020202020204" pitchFamily="34" charset="0"/>
                        </a:rPr>
                        <a:t>Medium</a:t>
                      </a:r>
                    </a:p>
                  </a:txBody>
                  <a:tcPr marL="6350" marR="6350" marT="635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1545505088"/>
                  </a:ext>
                </a:extLst>
              </a:tr>
              <a:tr h="111811">
                <a:tc>
                  <a:txBody>
                    <a:bodyPr/>
                    <a:lstStyle/>
                    <a:p>
                      <a:pPr algn="l" fontAlgn="ctr">
                        <a:buNone/>
                      </a:pPr>
                      <a:r>
                        <a:rPr lang="en-US" sz="1100" b="0" i="0" u="none" strike="noStrike" dirty="0">
                          <a:solidFill>
                            <a:srgbClr val="00B050"/>
                          </a:solidFill>
                          <a:effectLst/>
                          <a:latin typeface="+mj-lt"/>
                        </a:rPr>
                        <a:t>16</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Issue a decision note to formalize interview outcomes</a:t>
                      </a:r>
                    </a:p>
                  </a:txBody>
                  <a:tcPr marL="6350" marR="6350" marT="6350" marB="0" anchor="ctr"/>
                </a:tc>
                <a:tc>
                  <a:txBody>
                    <a:bodyPr/>
                    <a:lstStyle/>
                    <a:p>
                      <a:pPr algn="l" fontAlgn="ctr">
                        <a:buNone/>
                      </a:pPr>
                      <a:r>
                        <a:rPr lang="en-US" sz="1100" b="0" i="0" u="none" strike="noStrike">
                          <a:solidFill>
                            <a:srgbClr val="FFC000"/>
                          </a:solidFill>
                          <a:effectLst/>
                          <a:latin typeface="Aptos Narrow" panose="020B0004020202020204" pitchFamily="34" charset="0"/>
                        </a:rPr>
                        <a:t>Medium</a:t>
                      </a:r>
                    </a:p>
                  </a:txBody>
                  <a:tcPr marL="6350" marR="6350" marT="635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3203992485"/>
                  </a:ext>
                </a:extLst>
              </a:tr>
              <a:tr h="111811">
                <a:tc>
                  <a:txBody>
                    <a:bodyPr/>
                    <a:lstStyle/>
                    <a:p>
                      <a:pPr algn="l" fontAlgn="ctr">
                        <a:buNone/>
                      </a:pPr>
                      <a:r>
                        <a:rPr lang="en-US" sz="1100" b="0" i="0" u="none" strike="noStrike" dirty="0">
                          <a:solidFill>
                            <a:srgbClr val="00B050"/>
                          </a:solidFill>
                          <a:effectLst/>
                          <a:latin typeface="+mj-lt"/>
                        </a:rPr>
                        <a:t>17</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Notify all pending candidates of their probation status</a:t>
                      </a:r>
                    </a:p>
                  </a:txBody>
                  <a:tcPr marL="6350" marR="6350" marT="6350" marB="0" anchor="ctr"/>
                </a:tc>
                <a:tc>
                  <a:txBody>
                    <a:bodyPr/>
                    <a:lstStyle/>
                    <a:p>
                      <a:pPr algn="l" fontAlgn="ctr">
                        <a:buNone/>
                      </a:pPr>
                      <a:r>
                        <a:rPr lang="en-US" sz="1100" b="0" i="0" u="none" strike="noStrike">
                          <a:solidFill>
                            <a:srgbClr val="FFC000"/>
                          </a:solidFill>
                          <a:effectLst/>
                          <a:latin typeface="Aptos Narrow" panose="020B0004020202020204" pitchFamily="34" charset="0"/>
                        </a:rPr>
                        <a:t>Medium</a:t>
                      </a:r>
                    </a:p>
                  </a:txBody>
                  <a:tcPr marL="6350" marR="6350" marT="635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3152873293"/>
                  </a:ext>
                </a:extLst>
              </a:tr>
              <a:tr h="326489">
                <a:tc>
                  <a:txBody>
                    <a:bodyPr/>
                    <a:lstStyle/>
                    <a:p>
                      <a:pPr algn="l" fontAlgn="ctr">
                        <a:buNone/>
                      </a:pPr>
                      <a:r>
                        <a:rPr lang="en-US" sz="1100" b="0" i="0" u="none" strike="noStrike" dirty="0">
                          <a:solidFill>
                            <a:srgbClr val="00B050"/>
                          </a:solidFill>
                          <a:effectLst/>
                          <a:latin typeface="+mj-lt"/>
                        </a:rPr>
                        <a:t>18</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Organize an alignment session between Human Resources  and Legal to clarify requirements and define the appropriate  framework documentation.</a:t>
                      </a:r>
                    </a:p>
                  </a:txBody>
                  <a:tcPr marL="6350" marR="6350" marT="6350" marB="0" anchor="ctr"/>
                </a:tc>
                <a:tc>
                  <a:txBody>
                    <a:bodyPr/>
                    <a:lstStyle/>
                    <a:p>
                      <a:pPr algn="l" fontAlgn="ctr">
                        <a:buNone/>
                      </a:pPr>
                      <a:r>
                        <a:rPr lang="en-US" sz="1100" b="0" i="0" u="none" strike="noStrike">
                          <a:solidFill>
                            <a:srgbClr val="00B050"/>
                          </a:solidFill>
                          <a:effectLst/>
                          <a:latin typeface="Aptos Narrow" panose="020B0004020202020204" pitchFamily="34" charset="0"/>
                        </a:rPr>
                        <a:t>Low</a:t>
                      </a:r>
                    </a:p>
                  </a:txBody>
                  <a:tcPr marL="6350" marR="6350" marT="635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2686948510"/>
                  </a:ext>
                </a:extLst>
              </a:tr>
              <a:tr h="219150">
                <a:tc>
                  <a:txBody>
                    <a:bodyPr/>
                    <a:lstStyle/>
                    <a:p>
                      <a:pPr algn="l" fontAlgn="ctr">
                        <a:buNone/>
                      </a:pPr>
                      <a:r>
                        <a:rPr lang="en-US" sz="1100" b="0" i="0" u="none" strike="noStrike" dirty="0">
                          <a:solidFill>
                            <a:srgbClr val="00B050"/>
                          </a:solidFill>
                          <a:effectLst/>
                          <a:latin typeface="+mj-lt"/>
                        </a:rPr>
                        <a:t>19</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Organize focus group sessions (plant and head  office) to gather additional insigh</a:t>
                      </a:r>
                    </a:p>
                  </a:txBody>
                  <a:tcPr marL="6350" marR="6350" marT="6350" marB="0" anchor="ctr"/>
                </a:tc>
                <a:tc>
                  <a:txBody>
                    <a:bodyPr/>
                    <a:lstStyle/>
                    <a:p>
                      <a:pPr algn="l" fontAlgn="ctr">
                        <a:buNone/>
                      </a:pPr>
                      <a:r>
                        <a:rPr lang="en-US" sz="1100" b="0" i="0" u="none" strike="noStrike">
                          <a:solidFill>
                            <a:srgbClr val="FF0000"/>
                          </a:solidFill>
                          <a:effectLst/>
                          <a:latin typeface="Aptos Narrow" panose="020B0004020202020204" pitchFamily="34" charset="0"/>
                        </a:rPr>
                        <a:t>High</a:t>
                      </a:r>
                    </a:p>
                  </a:txBody>
                  <a:tcPr marL="6350" marR="6350" marT="6350" marB="0" anchor="ctr"/>
                </a:tc>
                <a:tc>
                  <a:txBody>
                    <a:bodyPr/>
                    <a:lstStyle/>
                    <a:p>
                      <a:pPr algn="l" fontAlgn="ctr">
                        <a:buNone/>
                      </a:pPr>
                      <a:r>
                        <a:rPr lang="en-US" sz="1100" b="0" i="0" u="none" strike="noStrike">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1019206834"/>
                  </a:ext>
                </a:extLst>
              </a:tr>
              <a:tr h="219150">
                <a:tc>
                  <a:txBody>
                    <a:bodyPr/>
                    <a:lstStyle/>
                    <a:p>
                      <a:pPr algn="l" fontAlgn="ctr">
                        <a:buNone/>
                      </a:pPr>
                      <a:r>
                        <a:rPr lang="en-US" sz="1100" b="0" i="0" u="none" strike="noStrike" dirty="0">
                          <a:solidFill>
                            <a:srgbClr val="00B050"/>
                          </a:solidFill>
                          <a:effectLst/>
                          <a:latin typeface="+mj-lt"/>
                        </a:rPr>
                        <a:t>20</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Publish an updated and comprehensive training plan  FY27, including clear objectives and cost tracking</a:t>
                      </a:r>
                    </a:p>
                  </a:txBody>
                  <a:tcPr marL="6350" marR="6350" marT="6350" marB="0" anchor="ctr"/>
                </a:tc>
                <a:tc>
                  <a:txBody>
                    <a:bodyPr/>
                    <a:lstStyle/>
                    <a:p>
                      <a:pPr algn="l" fontAlgn="ctr">
                        <a:buNone/>
                      </a:pPr>
                      <a:r>
                        <a:rPr lang="en-US" sz="1100" b="0" i="0" u="none" strike="noStrike">
                          <a:solidFill>
                            <a:srgbClr val="FF0000"/>
                          </a:solidFill>
                          <a:effectLst/>
                          <a:latin typeface="Aptos Narrow" panose="020B0004020202020204" pitchFamily="34" charset="0"/>
                        </a:rPr>
                        <a:t>High</a:t>
                      </a:r>
                    </a:p>
                  </a:txBody>
                  <a:tcPr marL="6350" marR="6350" marT="6350" marB="0" anchor="ctr"/>
                </a:tc>
                <a:tc>
                  <a:txBody>
                    <a:bodyPr/>
                    <a:lstStyle/>
                    <a:p>
                      <a:pPr algn="l" fontAlgn="ctr">
                        <a:buNone/>
                      </a:pPr>
                      <a:r>
                        <a:rPr lang="en-US" sz="1100" b="0" i="0" u="none" strike="noStrike" dirty="0">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185987772"/>
                  </a:ext>
                </a:extLst>
              </a:tr>
              <a:tr h="111811">
                <a:tc>
                  <a:txBody>
                    <a:bodyPr/>
                    <a:lstStyle/>
                    <a:p>
                      <a:pPr algn="l" fontAlgn="ctr">
                        <a:buNone/>
                      </a:pPr>
                      <a:r>
                        <a:rPr lang="en-US" sz="1100" b="0" i="0" u="none" strike="noStrike" dirty="0">
                          <a:solidFill>
                            <a:srgbClr val="00B050"/>
                          </a:solidFill>
                          <a:effectLst/>
                          <a:latin typeface="+mj-lt"/>
                        </a:rPr>
                        <a:t>21</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Send regret letters to all unsuccessful candidates</a:t>
                      </a:r>
                    </a:p>
                  </a:txBody>
                  <a:tcPr marL="6350" marR="6350" marT="6350" marB="0" anchor="ctr"/>
                </a:tc>
                <a:tc>
                  <a:txBody>
                    <a:bodyPr/>
                    <a:lstStyle/>
                    <a:p>
                      <a:pPr algn="l" fontAlgn="ctr">
                        <a:buNone/>
                      </a:pPr>
                      <a:r>
                        <a:rPr lang="en-US" sz="1100" b="0" i="0" u="none" strike="noStrike">
                          <a:solidFill>
                            <a:srgbClr val="FFC000"/>
                          </a:solidFill>
                          <a:effectLst/>
                          <a:latin typeface="Aptos Narrow" panose="020B0004020202020204" pitchFamily="34" charset="0"/>
                        </a:rPr>
                        <a:t>Medium</a:t>
                      </a:r>
                    </a:p>
                  </a:txBody>
                  <a:tcPr marL="6350" marR="6350" marT="6350" marB="0" anchor="ctr"/>
                </a:tc>
                <a:tc>
                  <a:txBody>
                    <a:bodyPr/>
                    <a:lstStyle/>
                    <a:p>
                      <a:pPr algn="l" fontAlgn="ctr">
                        <a:buNone/>
                      </a:pPr>
                      <a:r>
                        <a:rPr lang="en-US" sz="1100" b="0" i="0" u="none" strike="noStrike" dirty="0">
                          <a:solidFill>
                            <a:srgbClr val="000000"/>
                          </a:solidFill>
                          <a:effectLst/>
                          <a:latin typeface="Aptos Narrow" panose="020B0004020202020204" pitchFamily="34" charset="0"/>
                        </a:rPr>
                        <a:t>Closed</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7601080"/>
                  </a:ext>
                </a:extLst>
              </a:tr>
              <a:tr h="111811">
                <a:tc>
                  <a:txBody>
                    <a:bodyPr/>
                    <a:lstStyle/>
                    <a:p>
                      <a:pPr algn="l" fontAlgn="ctr">
                        <a:buNone/>
                      </a:pPr>
                      <a:r>
                        <a:rPr lang="en-US" sz="1100" b="0" i="0" u="none" strike="noStrike" dirty="0">
                          <a:solidFill>
                            <a:srgbClr val="00B050"/>
                          </a:solidFill>
                          <a:effectLst/>
                          <a:latin typeface="+mj-lt"/>
                        </a:rPr>
                        <a:t>22</a:t>
                      </a:r>
                    </a:p>
                  </a:txBody>
                  <a:tcPr marL="3980" marR="3980" marT="3980" marB="0" anchor="ctr"/>
                </a:tc>
                <a:tc>
                  <a:txBody>
                    <a:bodyPr/>
                    <a:lstStyle/>
                    <a:p>
                      <a:pPr algn="l" fontAlgn="ctr">
                        <a:buNone/>
                      </a:pPr>
                      <a:r>
                        <a:rPr lang="en-US" sz="1100" b="0" i="0" u="none" strike="noStrike">
                          <a:solidFill>
                            <a:srgbClr val="000000"/>
                          </a:solidFill>
                          <a:effectLst/>
                          <a:latin typeface="Aptos Narrow" panose="020B0004020202020204" pitchFamily="34" charset="0"/>
                        </a:rPr>
                        <a:t>Send Training Plan FY26 asap</a:t>
                      </a:r>
                    </a:p>
                  </a:txBody>
                  <a:tcPr marL="6350" marR="6350" marT="6350" marB="0" anchor="ctr"/>
                </a:tc>
                <a:tc>
                  <a:txBody>
                    <a:bodyPr/>
                    <a:lstStyle/>
                    <a:p>
                      <a:pPr algn="l" fontAlgn="ctr">
                        <a:buNone/>
                      </a:pPr>
                      <a:r>
                        <a:rPr lang="en-US" sz="1100" b="0" i="0" u="none" strike="noStrike">
                          <a:solidFill>
                            <a:srgbClr val="FF0000"/>
                          </a:solidFill>
                          <a:effectLst/>
                          <a:latin typeface="Aptos Narrow" panose="020B0004020202020204" pitchFamily="34" charset="0"/>
                        </a:rPr>
                        <a:t>High</a:t>
                      </a:r>
                    </a:p>
                  </a:txBody>
                  <a:tcPr marL="6350" marR="6350" marT="6350" marB="0" anchor="ctr"/>
                </a:tc>
                <a:tc>
                  <a:txBody>
                    <a:bodyPr/>
                    <a:lstStyle/>
                    <a:p>
                      <a:pPr algn="l" fontAlgn="ctr">
                        <a:buNone/>
                      </a:pPr>
                      <a:r>
                        <a:rPr lang="en-US" sz="1100" b="0" i="0" u="none" strike="noStrike" dirty="0">
                          <a:solidFill>
                            <a:srgbClr val="000000"/>
                          </a:solidFill>
                          <a:effectLst/>
                          <a:latin typeface="Aptos Narrow" panose="020B0004020202020204" pitchFamily="34" charset="0"/>
                        </a:rPr>
                        <a:t>Closed</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1759985497"/>
                  </a:ext>
                </a:extLst>
              </a:tr>
              <a:tr h="326489">
                <a:tc>
                  <a:txBody>
                    <a:bodyPr/>
                    <a:lstStyle/>
                    <a:p>
                      <a:pPr algn="l" fontAlgn="ctr">
                        <a:buNone/>
                      </a:pPr>
                      <a:r>
                        <a:rPr lang="en-US" sz="1100" b="0" i="0" u="none" strike="noStrike" dirty="0">
                          <a:solidFill>
                            <a:srgbClr val="00B050"/>
                          </a:solidFill>
                          <a:effectLst/>
                          <a:latin typeface="+mj-lt"/>
                        </a:rPr>
                        <a:t>23</a:t>
                      </a:r>
                    </a:p>
                  </a:txBody>
                  <a:tcPr marL="3980" marR="3980" marT="3980" marB="0" anchor="ctr"/>
                </a:tc>
                <a:tc>
                  <a:txBody>
                    <a:bodyPr/>
                    <a:lstStyle/>
                    <a:p>
                      <a:pPr algn="l" fontAlgn="ctr">
                        <a:buNone/>
                      </a:pPr>
                      <a:r>
                        <a:rPr lang="en-US" sz="1100" b="0" i="0" u="none" strike="noStrike" dirty="0">
                          <a:solidFill>
                            <a:srgbClr val="000000"/>
                          </a:solidFill>
                          <a:effectLst/>
                          <a:latin typeface="Aptos Narrow" panose="020B0004020202020204" pitchFamily="34" charset="0"/>
                        </a:rPr>
                        <a:t>Update the procedure or policy to include a clear  requirement for timely clearance and final payment  processing (48H hours before the last)</a:t>
                      </a:r>
                    </a:p>
                  </a:txBody>
                  <a:tcPr marL="6350" marR="6350" marT="6350" marB="0" anchor="ctr"/>
                </a:tc>
                <a:tc>
                  <a:txBody>
                    <a:bodyPr/>
                    <a:lstStyle/>
                    <a:p>
                      <a:pPr algn="l" fontAlgn="ctr">
                        <a:buNone/>
                      </a:pPr>
                      <a:r>
                        <a:rPr lang="en-US" sz="1100" b="0" i="0" u="none" strike="noStrike" dirty="0">
                          <a:solidFill>
                            <a:srgbClr val="FFC000"/>
                          </a:solidFill>
                          <a:effectLst/>
                          <a:latin typeface="Aptos Narrow" panose="020B0004020202020204" pitchFamily="34" charset="0"/>
                        </a:rPr>
                        <a:t>Medium</a:t>
                      </a:r>
                    </a:p>
                  </a:txBody>
                  <a:tcPr marL="6350" marR="6350" marT="6350" marB="0" anchor="ctr"/>
                </a:tc>
                <a:tc>
                  <a:txBody>
                    <a:bodyPr/>
                    <a:lstStyle/>
                    <a:p>
                      <a:pPr algn="l" fontAlgn="ctr">
                        <a:buNone/>
                      </a:pPr>
                      <a:r>
                        <a:rPr lang="en-US" sz="1100" b="0" i="0" u="none" strike="noStrike" dirty="0">
                          <a:solidFill>
                            <a:srgbClr val="000000"/>
                          </a:solidFill>
                          <a:effectLst/>
                          <a:latin typeface="Aptos Narrow" panose="020B0004020202020204" pitchFamily="34" charset="0"/>
                        </a:rPr>
                        <a:t>Open</a:t>
                      </a:r>
                    </a:p>
                  </a:txBody>
                  <a:tcPr marL="6350" marR="6350" marT="6350" marB="0" anchor="ctr"/>
                </a:tc>
                <a:tc>
                  <a:txBody>
                    <a:bodyPr/>
                    <a:lstStyle/>
                    <a:p>
                      <a:pPr algn="l" fontAlgn="ctr">
                        <a:buNone/>
                      </a:pPr>
                      <a:endParaRPr lang="fr-FR" sz="1100" b="0" i="0" u="none" strike="noStrike" dirty="0">
                        <a:solidFill>
                          <a:schemeClr val="tx1"/>
                        </a:solidFill>
                        <a:effectLst/>
                      </a:endParaRPr>
                    </a:p>
                  </a:txBody>
                  <a:tcPr marL="3980" marR="3980" marT="3980" marB="0" anchor="ctr"/>
                </a:tc>
                <a:tc>
                  <a:txBody>
                    <a:bodyPr/>
                    <a:lstStyle/>
                    <a:p>
                      <a:pPr algn="r" fontAlgn="ctr">
                        <a:buNone/>
                      </a:pPr>
                      <a:r>
                        <a:rPr lang="en-US" sz="1100" b="0" i="0" u="none" strike="noStrike" dirty="0">
                          <a:solidFill>
                            <a:srgbClr val="000000"/>
                          </a:solidFill>
                          <a:effectLst/>
                          <a:latin typeface="Aptos Narrow" panose="020B0004020202020204" pitchFamily="34" charset="0"/>
                        </a:rPr>
                        <a:t>6/30/2026</a:t>
                      </a:r>
                    </a:p>
                  </a:txBody>
                  <a:tcPr marL="6350" marR="6350" marT="6350" marB="0" anchor="ctr"/>
                </a:tc>
                <a:extLst>
                  <a:ext uri="{0D108BD9-81ED-4DB2-BD59-A6C34878D82A}">
                    <a16:rowId xmlns:a16="http://schemas.microsoft.com/office/drawing/2014/main" val="1973229864"/>
                  </a:ext>
                </a:extLst>
              </a:tr>
            </a:tbl>
          </a:graphicData>
        </a:graphic>
      </p:graphicFrame>
      <p:sp>
        <p:nvSpPr>
          <p:cNvPr id="10" name="Title 2">
            <a:extLst>
              <a:ext uri="{FF2B5EF4-FFF2-40B4-BE49-F238E27FC236}">
                <a16:creationId xmlns:a16="http://schemas.microsoft.com/office/drawing/2014/main" id="{E272F41D-68E2-652E-B027-CF640F2028D0}"/>
              </a:ext>
            </a:extLst>
          </p:cNvPr>
          <p:cNvSpPr txBox="1">
            <a:spLocks/>
          </p:cNvSpPr>
          <p:nvPr/>
        </p:nvSpPr>
        <p:spPr>
          <a:xfrm>
            <a:off x="101420" y="497443"/>
            <a:ext cx="1967329" cy="442837"/>
          </a:xfrm>
          <a:prstGeom prst="rect">
            <a:avLst/>
          </a:prstGeom>
        </p:spPr>
        <p:txBody>
          <a:bodyPr vert="horz" lIns="91440" tIns="45720" rIns="91440" bIns="45720" rtlCol="0" anchor="t">
            <a:normAutofit fontScale="92500"/>
          </a:bodyPr>
          <a:lstStyle>
            <a:lvl1pPr algn="l" defTabSz="914400" rtl="0" eaLnBrk="1" latinLnBrk="0" hangingPunct="1">
              <a:lnSpc>
                <a:spcPct val="90000"/>
              </a:lnSpc>
              <a:spcBef>
                <a:spcPct val="0"/>
              </a:spcBef>
              <a:buNone/>
              <a:defRPr sz="2400" b="1" i="0" kern="1200">
                <a:solidFill>
                  <a:schemeClr val="tx1"/>
                </a:solidFill>
                <a:latin typeface="Arial Black" panose="020B0604020202020204" pitchFamily="34" charset="0"/>
                <a:ea typeface="+mj-ea"/>
                <a:cs typeface="Arial Black" panose="020B0604020202020204" pitchFamily="34" charset="0"/>
              </a:defRPr>
            </a:lvl1pPr>
          </a:lstStyle>
          <a:p>
            <a:r>
              <a:rPr lang="en-US" sz="1800" dirty="0"/>
              <a:t>Internal AUDIT</a:t>
            </a:r>
          </a:p>
        </p:txBody>
      </p:sp>
    </p:spTree>
    <p:extLst>
      <p:ext uri="{BB962C8B-B14F-4D97-AF65-F5344CB8AC3E}">
        <p14:creationId xmlns:p14="http://schemas.microsoft.com/office/powerpoint/2010/main" val="1377165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206491-796D-06EA-B772-950A1CAE27C7}"/>
              </a:ext>
            </a:extLst>
          </p:cNvPr>
          <p:cNvSpPr>
            <a:spLocks noGrp="1"/>
          </p:cNvSpPr>
          <p:nvPr>
            <p:ph type="sldNum" sz="quarter" idx="4"/>
          </p:nvPr>
        </p:nvSpPr>
        <p:spPr>
          <a:xfrm>
            <a:off x="8739667" y="5499555"/>
            <a:ext cx="2743200" cy="365125"/>
          </a:xfrm>
        </p:spPr>
        <p:txBody>
          <a:bodyPr/>
          <a:lstStyle/>
          <a:p>
            <a:fld id="{DDAFD0C9-8BC0-5147-B74C-78C6A0363883}" type="slidenum">
              <a:rPr lang="en-ZA" smtClean="0"/>
              <a:pPr/>
              <a:t>13</a:t>
            </a:fld>
            <a:endParaRPr lang="en-ZA"/>
          </a:p>
        </p:txBody>
      </p:sp>
      <p:sp>
        <p:nvSpPr>
          <p:cNvPr id="6" name="Title 2">
            <a:extLst>
              <a:ext uri="{FF2B5EF4-FFF2-40B4-BE49-F238E27FC236}">
                <a16:creationId xmlns:a16="http://schemas.microsoft.com/office/drawing/2014/main" id="{5C11AA10-2A9C-4F89-BD34-4E70711BA8A6}"/>
              </a:ext>
            </a:extLst>
          </p:cNvPr>
          <p:cNvSpPr>
            <a:spLocks noGrp="1"/>
          </p:cNvSpPr>
          <p:nvPr>
            <p:ph type="title"/>
          </p:nvPr>
        </p:nvSpPr>
        <p:spPr>
          <a:xfrm>
            <a:off x="2870738" y="111345"/>
            <a:ext cx="7803963" cy="442837"/>
          </a:xfrm>
        </p:spPr>
        <p:txBody>
          <a:bodyPr/>
          <a:lstStyle/>
          <a:p>
            <a:r>
              <a:rPr lang="en-US" dirty="0"/>
              <a:t>GOVERNANCE</a:t>
            </a:r>
          </a:p>
        </p:txBody>
      </p:sp>
      <p:sp>
        <p:nvSpPr>
          <p:cNvPr id="11" name="Title 2">
            <a:extLst>
              <a:ext uri="{FF2B5EF4-FFF2-40B4-BE49-F238E27FC236}">
                <a16:creationId xmlns:a16="http://schemas.microsoft.com/office/drawing/2014/main" id="{C0541447-4598-A86E-88C9-AA8A3EAF2221}"/>
              </a:ext>
            </a:extLst>
          </p:cNvPr>
          <p:cNvSpPr txBox="1">
            <a:spLocks/>
          </p:cNvSpPr>
          <p:nvPr/>
        </p:nvSpPr>
        <p:spPr>
          <a:xfrm>
            <a:off x="185726" y="3123274"/>
            <a:ext cx="1535502" cy="30572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i="0" kern="1200">
                <a:solidFill>
                  <a:schemeClr val="tx1"/>
                </a:solidFill>
                <a:latin typeface="Arial Black" panose="020B0604020202020204" pitchFamily="34" charset="0"/>
                <a:ea typeface="+mj-ea"/>
                <a:cs typeface="Arial Black" panose="020B0604020202020204" pitchFamily="34" charset="0"/>
              </a:defRPr>
            </a:lvl1pPr>
          </a:lstStyle>
          <a:p>
            <a:r>
              <a:rPr lang="en-US" sz="1800" dirty="0"/>
              <a:t>Policies</a:t>
            </a:r>
          </a:p>
        </p:txBody>
      </p:sp>
      <p:sp>
        <p:nvSpPr>
          <p:cNvPr id="7" name="Title 2">
            <a:extLst>
              <a:ext uri="{FF2B5EF4-FFF2-40B4-BE49-F238E27FC236}">
                <a16:creationId xmlns:a16="http://schemas.microsoft.com/office/drawing/2014/main" id="{DF9678E0-AE03-5467-22F5-88CDED35FB6A}"/>
              </a:ext>
            </a:extLst>
          </p:cNvPr>
          <p:cNvSpPr txBox="1">
            <a:spLocks/>
          </p:cNvSpPr>
          <p:nvPr/>
        </p:nvSpPr>
        <p:spPr>
          <a:xfrm>
            <a:off x="185726" y="703200"/>
            <a:ext cx="2946580" cy="30572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i="0" kern="1200">
                <a:solidFill>
                  <a:schemeClr val="tx1"/>
                </a:solidFill>
                <a:latin typeface="Arial Black" panose="020B0604020202020204" pitchFamily="34" charset="0"/>
                <a:ea typeface="+mj-ea"/>
                <a:cs typeface="Arial Black" panose="020B0604020202020204" pitchFamily="34" charset="0"/>
              </a:defRPr>
            </a:lvl1pPr>
          </a:lstStyle>
          <a:p>
            <a:r>
              <a:rPr lang="en-US" sz="1800" dirty="0"/>
              <a:t>External Audit - ISO</a:t>
            </a:r>
          </a:p>
        </p:txBody>
      </p:sp>
      <p:graphicFrame>
        <p:nvGraphicFramePr>
          <p:cNvPr id="10" name="Table 9">
            <a:extLst>
              <a:ext uri="{FF2B5EF4-FFF2-40B4-BE49-F238E27FC236}">
                <a16:creationId xmlns:a16="http://schemas.microsoft.com/office/drawing/2014/main" id="{4A370CAB-DC3C-6663-878A-B44B7C46B87E}"/>
              </a:ext>
            </a:extLst>
          </p:cNvPr>
          <p:cNvGraphicFramePr>
            <a:graphicFrameLocks noGrp="1"/>
          </p:cNvGraphicFramePr>
          <p:nvPr>
            <p:extLst>
              <p:ext uri="{D42A27DB-BD31-4B8C-83A1-F6EECF244321}">
                <p14:modId xmlns:p14="http://schemas.microsoft.com/office/powerpoint/2010/main" val="2518369394"/>
              </p:ext>
            </p:extLst>
          </p:nvPr>
        </p:nvGraphicFramePr>
        <p:xfrm>
          <a:off x="185726" y="1087867"/>
          <a:ext cx="11091875" cy="1660521"/>
        </p:xfrm>
        <a:graphic>
          <a:graphicData uri="http://schemas.openxmlformats.org/drawingml/2006/table">
            <a:tbl>
              <a:tblPr firstRow="1" firstCol="1" bandRow="1">
                <a:tableStyleId>{5C22544A-7EE6-4342-B048-85BDC9FD1C3A}</a:tableStyleId>
              </a:tblPr>
              <a:tblGrid>
                <a:gridCol w="677745">
                  <a:extLst>
                    <a:ext uri="{9D8B030D-6E8A-4147-A177-3AD203B41FA5}">
                      <a16:colId xmlns:a16="http://schemas.microsoft.com/office/drawing/2014/main" val="2938268177"/>
                    </a:ext>
                  </a:extLst>
                </a:gridCol>
                <a:gridCol w="4595441">
                  <a:extLst>
                    <a:ext uri="{9D8B030D-6E8A-4147-A177-3AD203B41FA5}">
                      <a16:colId xmlns:a16="http://schemas.microsoft.com/office/drawing/2014/main" val="860923075"/>
                    </a:ext>
                  </a:extLst>
                </a:gridCol>
                <a:gridCol w="2446494">
                  <a:extLst>
                    <a:ext uri="{9D8B030D-6E8A-4147-A177-3AD203B41FA5}">
                      <a16:colId xmlns:a16="http://schemas.microsoft.com/office/drawing/2014/main" val="1042109620"/>
                    </a:ext>
                  </a:extLst>
                </a:gridCol>
                <a:gridCol w="1124065">
                  <a:extLst>
                    <a:ext uri="{9D8B030D-6E8A-4147-A177-3AD203B41FA5}">
                      <a16:colId xmlns:a16="http://schemas.microsoft.com/office/drawing/2014/main" val="3631894624"/>
                    </a:ext>
                  </a:extLst>
                </a:gridCol>
                <a:gridCol w="1124065">
                  <a:extLst>
                    <a:ext uri="{9D8B030D-6E8A-4147-A177-3AD203B41FA5}">
                      <a16:colId xmlns:a16="http://schemas.microsoft.com/office/drawing/2014/main" val="1266690697"/>
                    </a:ext>
                  </a:extLst>
                </a:gridCol>
                <a:gridCol w="1124065">
                  <a:extLst>
                    <a:ext uri="{9D8B030D-6E8A-4147-A177-3AD203B41FA5}">
                      <a16:colId xmlns:a16="http://schemas.microsoft.com/office/drawing/2014/main" val="546353255"/>
                    </a:ext>
                  </a:extLst>
                </a:gridCol>
              </a:tblGrid>
              <a:tr h="319401">
                <a:tc>
                  <a:txBody>
                    <a:bodyPr/>
                    <a:lstStyle/>
                    <a:p>
                      <a:pPr marL="0" marR="0" algn="ctr">
                        <a:buNone/>
                      </a:pPr>
                      <a:r>
                        <a:rPr lang="en-US" sz="1100" dirty="0">
                          <a:effectLst/>
                        </a:rPr>
                        <a:t>NC</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solidFill>
                      <a:schemeClr val="accent1">
                        <a:lumMod val="50000"/>
                      </a:schemeClr>
                    </a:solidFill>
                  </a:tcPr>
                </a:tc>
                <a:tc>
                  <a:txBody>
                    <a:bodyPr/>
                    <a:lstStyle/>
                    <a:p>
                      <a:pPr marL="0" marR="0" algn="ctr">
                        <a:buNone/>
                      </a:pPr>
                      <a:r>
                        <a:rPr lang="en-US" sz="1100" dirty="0">
                          <a:effectLst/>
                        </a:rPr>
                        <a:t>Corrective Action</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solidFill>
                      <a:schemeClr val="accent1">
                        <a:lumMod val="50000"/>
                      </a:schemeClr>
                    </a:solidFill>
                  </a:tcPr>
                </a:tc>
                <a:tc>
                  <a:txBody>
                    <a:bodyPr/>
                    <a:lstStyle/>
                    <a:p>
                      <a:pPr marL="0" marR="0" algn="ctr">
                        <a:buNone/>
                      </a:pPr>
                      <a:r>
                        <a:rPr lang="en-US" sz="1100" dirty="0">
                          <a:effectLst/>
                        </a:rPr>
                        <a:t>Responsible</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solidFill>
                      <a:schemeClr val="accent1">
                        <a:lumMod val="50000"/>
                      </a:schemeClr>
                    </a:solidFill>
                  </a:tcPr>
                </a:tc>
                <a:tc>
                  <a:txBody>
                    <a:bodyPr/>
                    <a:lstStyle/>
                    <a:p>
                      <a:pPr marL="0" marR="0" algn="ctr">
                        <a:buNone/>
                      </a:pPr>
                      <a:r>
                        <a:rPr lang="en-US" sz="1100" dirty="0">
                          <a:effectLst/>
                        </a:rPr>
                        <a:t>Start</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solidFill>
                      <a:schemeClr val="accent1">
                        <a:lumMod val="50000"/>
                      </a:schemeClr>
                    </a:solidFill>
                  </a:tcPr>
                </a:tc>
                <a:tc>
                  <a:txBody>
                    <a:bodyPr/>
                    <a:lstStyle/>
                    <a:p>
                      <a:pPr marL="0" marR="0" algn="ctr">
                        <a:buNone/>
                      </a:pPr>
                      <a:r>
                        <a:rPr lang="en-US" sz="1100" dirty="0">
                          <a:effectLst/>
                        </a:rPr>
                        <a:t>Deadline</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solidFill>
                      <a:schemeClr val="accent1">
                        <a:lumMod val="50000"/>
                      </a:schemeClr>
                    </a:solidFill>
                  </a:tcPr>
                </a:tc>
                <a:tc>
                  <a:txBody>
                    <a:bodyPr/>
                    <a:lstStyle/>
                    <a:p>
                      <a:pPr marL="0" marR="0" algn="ctr">
                        <a:buNone/>
                      </a:pPr>
                      <a:r>
                        <a:rPr lang="en-US" sz="1100" dirty="0">
                          <a:effectLst/>
                        </a:rPr>
                        <a:t>Status</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solidFill>
                      <a:schemeClr val="accent1">
                        <a:lumMod val="50000"/>
                      </a:schemeClr>
                    </a:solidFill>
                  </a:tcPr>
                </a:tc>
                <a:extLst>
                  <a:ext uri="{0D108BD9-81ED-4DB2-BD59-A6C34878D82A}">
                    <a16:rowId xmlns:a16="http://schemas.microsoft.com/office/drawing/2014/main" val="886783497"/>
                  </a:ext>
                </a:extLst>
              </a:tr>
              <a:tr h="130096">
                <a:tc>
                  <a:txBody>
                    <a:bodyPr/>
                    <a:lstStyle/>
                    <a:p>
                      <a:pPr marL="0" marR="0" algn="ctr">
                        <a:buNone/>
                      </a:pPr>
                      <a:r>
                        <a:rPr lang="en-US" sz="1100" dirty="0">
                          <a:effectLst/>
                        </a:rPr>
                        <a:t>NC2</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solidFill>
                      <a:schemeClr val="accent1">
                        <a:lumMod val="50000"/>
                      </a:schemeClr>
                    </a:solidFill>
                  </a:tcPr>
                </a:tc>
                <a:tc>
                  <a:txBody>
                    <a:bodyPr/>
                    <a:lstStyle/>
                    <a:p>
                      <a:pPr marL="0" marR="0">
                        <a:buNone/>
                      </a:pPr>
                      <a:r>
                        <a:rPr lang="en-US" sz="1100">
                          <a:effectLst/>
                        </a:rPr>
                        <a:t>Audit all job descriptions vs. actual CVs/qualifications</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a:effectLst/>
                        </a:rPr>
                        <a:t>Benny Zakuani</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a:effectLst/>
                        </a:rPr>
                        <a:t>2026-04-10</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a:effectLst/>
                        </a:rPr>
                        <a:t>2026-04-24</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kumimoji="0" lang="en-US" sz="1100" b="0" i="0" u="none" strike="noStrike" kern="12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rPr>
                        <a:t>Open</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extLst>
                  <a:ext uri="{0D108BD9-81ED-4DB2-BD59-A6C34878D82A}">
                    <a16:rowId xmlns:a16="http://schemas.microsoft.com/office/drawing/2014/main" val="1925295706"/>
                  </a:ext>
                </a:extLst>
              </a:tr>
              <a:tr h="130096">
                <a:tc>
                  <a:txBody>
                    <a:bodyPr/>
                    <a:lstStyle/>
                    <a:p>
                      <a:pPr marL="0" marR="0" algn="ctr">
                        <a:buNone/>
                      </a:pPr>
                      <a:r>
                        <a:rPr lang="en-US" sz="1100" dirty="0">
                          <a:effectLst/>
                        </a:rPr>
                        <a:t>NC2</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solidFill>
                      <a:schemeClr val="accent1">
                        <a:lumMod val="50000"/>
                      </a:schemeClr>
                    </a:solidFill>
                  </a:tcPr>
                </a:tc>
                <a:tc>
                  <a:txBody>
                    <a:bodyPr/>
                    <a:lstStyle/>
                    <a:p>
                      <a:pPr marL="0" marR="0">
                        <a:buNone/>
                      </a:pPr>
                      <a:r>
                        <a:rPr lang="en-US" sz="1100">
                          <a:effectLst/>
                        </a:rPr>
                        <a:t>Redesign competence matrix template (Required/Actual/Gap/Plan)</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a:effectLst/>
                        </a:rPr>
                        <a:t>Benny Zakuani</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a:effectLst/>
                        </a:rPr>
                        <a:t>2026-04-20</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a:effectLst/>
                        </a:rPr>
                        <a:t>2026-05-01</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kumimoji="0" lang="en-US" sz="11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rPr>
                        <a:t>Closed</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extLst>
                  <a:ext uri="{0D108BD9-81ED-4DB2-BD59-A6C34878D82A}">
                    <a16:rowId xmlns:a16="http://schemas.microsoft.com/office/drawing/2014/main" val="125669637"/>
                  </a:ext>
                </a:extLst>
              </a:tr>
              <a:tr h="130096">
                <a:tc>
                  <a:txBody>
                    <a:bodyPr/>
                    <a:lstStyle/>
                    <a:p>
                      <a:pPr marL="0" marR="0" algn="ctr">
                        <a:buNone/>
                      </a:pPr>
                      <a:r>
                        <a:rPr lang="en-US" sz="1100" dirty="0">
                          <a:effectLst/>
                        </a:rPr>
                        <a:t>NC2</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solidFill>
                      <a:schemeClr val="accent1">
                        <a:lumMod val="50000"/>
                      </a:schemeClr>
                    </a:solidFill>
                  </a:tcPr>
                </a:tc>
                <a:tc>
                  <a:txBody>
                    <a:bodyPr/>
                    <a:lstStyle/>
                    <a:p>
                      <a:pPr marL="0" marR="0">
                        <a:buNone/>
                      </a:pPr>
                      <a:r>
                        <a:rPr lang="en-US" sz="1100">
                          <a:effectLst/>
                        </a:rPr>
                        <a:t>Populate matrices for safety-critical &amp; env. positions</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a:effectLst/>
                        </a:rPr>
                        <a:t>Benny Zakuani</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a:effectLst/>
                        </a:rPr>
                        <a:t>2026-05-01</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a:effectLst/>
                        </a:rPr>
                        <a:t>2026-05-15</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kumimoji="0" lang="en-US" sz="11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rPr>
                        <a:t>Closed</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extLst>
                  <a:ext uri="{0D108BD9-81ED-4DB2-BD59-A6C34878D82A}">
                    <a16:rowId xmlns:a16="http://schemas.microsoft.com/office/drawing/2014/main" val="3587360287"/>
                  </a:ext>
                </a:extLst>
              </a:tr>
              <a:tr h="130096">
                <a:tc>
                  <a:txBody>
                    <a:bodyPr/>
                    <a:lstStyle/>
                    <a:p>
                      <a:pPr marL="0" marR="0" algn="ctr">
                        <a:buNone/>
                      </a:pPr>
                      <a:r>
                        <a:rPr lang="en-US" sz="1100" dirty="0">
                          <a:effectLst/>
                        </a:rPr>
                        <a:t>NC2</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solidFill>
                      <a:schemeClr val="accent1">
                        <a:lumMod val="50000"/>
                      </a:schemeClr>
                    </a:solidFill>
                  </a:tcPr>
                </a:tc>
                <a:tc>
                  <a:txBody>
                    <a:bodyPr/>
                    <a:lstStyle/>
                    <a:p>
                      <a:pPr marL="0" marR="0">
                        <a:buNone/>
                      </a:pPr>
                      <a:r>
                        <a:rPr lang="en-US" sz="1100">
                          <a:effectLst/>
                        </a:rPr>
                        <a:t>Establish semi-annual review process with line managers</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a:effectLst/>
                        </a:rPr>
                        <a:t>Benny Zakuani</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a:effectLst/>
                        </a:rPr>
                        <a:t>2026-05-04</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a:effectLst/>
                        </a:rPr>
                        <a:t>2026-05-20</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kumimoji="0" lang="en-US" sz="11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rPr>
                        <a:t>Open</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extLst>
                  <a:ext uri="{0D108BD9-81ED-4DB2-BD59-A6C34878D82A}">
                    <a16:rowId xmlns:a16="http://schemas.microsoft.com/office/drawing/2014/main" val="1472690453"/>
                  </a:ext>
                </a:extLst>
              </a:tr>
              <a:tr h="199579">
                <a:tc>
                  <a:txBody>
                    <a:bodyPr/>
                    <a:lstStyle/>
                    <a:p>
                      <a:pPr marL="0" marR="0" algn="ctr">
                        <a:buNone/>
                      </a:pPr>
                      <a:r>
                        <a:rPr lang="en-US" sz="1100" dirty="0">
                          <a:effectLst/>
                        </a:rPr>
                        <a:t>NC2</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solidFill>
                      <a:schemeClr val="accent1">
                        <a:lumMod val="50000"/>
                      </a:schemeClr>
                    </a:solidFill>
                  </a:tcPr>
                </a:tc>
                <a:tc>
                  <a:txBody>
                    <a:bodyPr/>
                    <a:lstStyle/>
                    <a:p>
                      <a:pPr marL="0" marR="0">
                        <a:buNone/>
                      </a:pPr>
                      <a:r>
                        <a:rPr lang="en-US" sz="1100">
                          <a:effectLst/>
                        </a:rPr>
                        <a:t>Define training effectiveness KPIs (gap closure rate, on-time completion, post-training assessment)</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a:effectLst/>
                        </a:rPr>
                        <a:t>Benny Zakuani</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a:effectLst/>
                        </a:rPr>
                        <a:t>2026-05-11</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a:effectLst/>
                        </a:rPr>
                        <a:t>2026-05-24</a:t>
                      </a:r>
                      <a:endParaRPr lang="en-US" sz="110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kumimoji="0" lang="en-US" sz="11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rPr>
                        <a:t>Closed</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extLst>
                  <a:ext uri="{0D108BD9-81ED-4DB2-BD59-A6C34878D82A}">
                    <a16:rowId xmlns:a16="http://schemas.microsoft.com/office/drawing/2014/main" val="3935106172"/>
                  </a:ext>
                </a:extLst>
              </a:tr>
              <a:tr h="192187">
                <a:tc>
                  <a:txBody>
                    <a:bodyPr/>
                    <a:lstStyle/>
                    <a:p>
                      <a:pPr marL="0" marR="0" algn="ctr">
                        <a:buNone/>
                      </a:pPr>
                      <a:r>
                        <a:rPr lang="en-US" sz="1100" dirty="0">
                          <a:effectLst/>
                        </a:rPr>
                        <a:t>NC3</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solidFill>
                      <a:schemeClr val="accent1">
                        <a:lumMod val="50000"/>
                      </a:schemeClr>
                    </a:solidFill>
                  </a:tcPr>
                </a:tc>
                <a:tc>
                  <a:txBody>
                    <a:bodyPr/>
                    <a:lstStyle/>
                    <a:p>
                      <a:pPr marL="0" marR="0">
                        <a:buNone/>
                      </a:pPr>
                      <a:r>
                        <a:rPr lang="en-US" sz="1100" dirty="0">
                          <a:effectLst/>
                        </a:rPr>
                        <a:t>Establish strict 30-day first aid inspection cycle with digital scheduling, automatic alerts</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dirty="0">
                          <a:effectLst/>
                        </a:rPr>
                        <a:t>Karine Mvutu</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dirty="0">
                          <a:effectLst/>
                        </a:rPr>
                        <a:t>2026-04-10</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lang="en-US" sz="1100" dirty="0">
                          <a:effectLst/>
                        </a:rPr>
                        <a:t>2026-06-30</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tc>
                  <a:txBody>
                    <a:bodyPr/>
                    <a:lstStyle/>
                    <a:p>
                      <a:pPr marL="0" marR="0" algn="ctr">
                        <a:buNone/>
                      </a:pPr>
                      <a:r>
                        <a:rPr kumimoji="0" lang="en-US" sz="11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ptos" panose="020B0004020202020204" pitchFamily="34" charset="0"/>
                        </a:rPr>
                        <a:t>Closed</a:t>
                      </a:r>
                      <a:endParaRPr lang="en-US" sz="1100" dirty="0">
                        <a:effectLst/>
                        <a:latin typeface="Aptos" panose="020B0004020202020204" pitchFamily="34" charset="0"/>
                        <a:ea typeface="Aptos" panose="020B0004020202020204" pitchFamily="34" charset="0"/>
                        <a:cs typeface="Aptos" panose="020B0004020202020204" pitchFamily="34" charset="0"/>
                      </a:endParaRPr>
                    </a:p>
                  </a:txBody>
                  <a:tcPr marL="0" marR="0" marT="0" marB="0" anchor="ctr"/>
                </a:tc>
                <a:extLst>
                  <a:ext uri="{0D108BD9-81ED-4DB2-BD59-A6C34878D82A}">
                    <a16:rowId xmlns:a16="http://schemas.microsoft.com/office/drawing/2014/main" val="1787649777"/>
                  </a:ext>
                </a:extLst>
              </a:tr>
            </a:tbl>
          </a:graphicData>
        </a:graphic>
      </p:graphicFrame>
      <p:graphicFrame>
        <p:nvGraphicFramePr>
          <p:cNvPr id="2" name="Table 1">
            <a:extLst>
              <a:ext uri="{FF2B5EF4-FFF2-40B4-BE49-F238E27FC236}">
                <a16:creationId xmlns:a16="http://schemas.microsoft.com/office/drawing/2014/main" id="{DC635EBF-1CB1-F066-CE2D-684D77888F11}"/>
              </a:ext>
            </a:extLst>
          </p:cNvPr>
          <p:cNvGraphicFramePr>
            <a:graphicFrameLocks noGrp="1"/>
          </p:cNvGraphicFramePr>
          <p:nvPr>
            <p:extLst>
              <p:ext uri="{D42A27DB-BD31-4B8C-83A1-F6EECF244321}">
                <p14:modId xmlns:p14="http://schemas.microsoft.com/office/powerpoint/2010/main" val="3324741007"/>
              </p:ext>
            </p:extLst>
          </p:nvPr>
        </p:nvGraphicFramePr>
        <p:xfrm>
          <a:off x="185726" y="3429000"/>
          <a:ext cx="11091876" cy="2908214"/>
        </p:xfrm>
        <a:graphic>
          <a:graphicData uri="http://schemas.openxmlformats.org/drawingml/2006/table">
            <a:tbl>
              <a:tblPr>
                <a:tableStyleId>{00A15C55-8517-42AA-B614-E9B94910E393}</a:tableStyleId>
              </a:tblPr>
              <a:tblGrid>
                <a:gridCol w="2772969">
                  <a:extLst>
                    <a:ext uri="{9D8B030D-6E8A-4147-A177-3AD203B41FA5}">
                      <a16:colId xmlns:a16="http://schemas.microsoft.com/office/drawing/2014/main" val="2333943743"/>
                    </a:ext>
                  </a:extLst>
                </a:gridCol>
                <a:gridCol w="2772969">
                  <a:extLst>
                    <a:ext uri="{9D8B030D-6E8A-4147-A177-3AD203B41FA5}">
                      <a16:colId xmlns:a16="http://schemas.microsoft.com/office/drawing/2014/main" val="2985213138"/>
                    </a:ext>
                  </a:extLst>
                </a:gridCol>
                <a:gridCol w="2772969">
                  <a:extLst>
                    <a:ext uri="{9D8B030D-6E8A-4147-A177-3AD203B41FA5}">
                      <a16:colId xmlns:a16="http://schemas.microsoft.com/office/drawing/2014/main" val="4139923050"/>
                    </a:ext>
                  </a:extLst>
                </a:gridCol>
                <a:gridCol w="2772969">
                  <a:extLst>
                    <a:ext uri="{9D8B030D-6E8A-4147-A177-3AD203B41FA5}">
                      <a16:colId xmlns:a16="http://schemas.microsoft.com/office/drawing/2014/main" val="2349192033"/>
                    </a:ext>
                  </a:extLst>
                </a:gridCol>
              </a:tblGrid>
              <a:tr h="258445">
                <a:tc>
                  <a:txBody>
                    <a:bodyPr/>
                    <a:lstStyle/>
                    <a:p>
                      <a:pPr>
                        <a:buNone/>
                      </a:pPr>
                      <a:r>
                        <a:rPr lang="en-US" sz="900" b="1" dirty="0">
                          <a:solidFill>
                            <a:schemeClr val="bg1"/>
                          </a:solidFill>
                        </a:rPr>
                        <a:t>Expired Policies Pending Update</a:t>
                      </a:r>
                    </a:p>
                  </a:txBody>
                  <a:tcPr marL="46789" marR="46789" marT="23394" marB="23394" anchor="ctr">
                    <a:solidFill>
                      <a:schemeClr val="accent3">
                        <a:lumMod val="50000"/>
                      </a:schemeClr>
                    </a:solidFill>
                  </a:tcPr>
                </a:tc>
                <a:tc>
                  <a:txBody>
                    <a:bodyPr/>
                    <a:lstStyle/>
                    <a:p>
                      <a:pPr>
                        <a:buNone/>
                      </a:pPr>
                      <a:r>
                        <a:rPr lang="en-US" sz="900" b="1" dirty="0">
                          <a:solidFill>
                            <a:schemeClr val="bg1"/>
                          </a:solidFill>
                        </a:rPr>
                        <a:t>Policies Submitted to EXCO for Review and Validation</a:t>
                      </a:r>
                    </a:p>
                  </a:txBody>
                  <a:tcPr marL="46789" marR="46789" marT="23394" marB="23394" anchor="ctr">
                    <a:solidFill>
                      <a:schemeClr val="accent3">
                        <a:lumMod val="50000"/>
                      </a:schemeClr>
                    </a:solidFill>
                  </a:tcPr>
                </a:tc>
                <a:tc>
                  <a:txBody>
                    <a:bodyPr/>
                    <a:lstStyle/>
                    <a:p>
                      <a:pPr>
                        <a:buNone/>
                      </a:pPr>
                      <a:r>
                        <a:rPr lang="en-US" sz="900" b="1" dirty="0">
                          <a:solidFill>
                            <a:schemeClr val="bg1"/>
                          </a:solidFill>
                        </a:rPr>
                        <a:t>Policies Pending Publication</a:t>
                      </a:r>
                    </a:p>
                  </a:txBody>
                  <a:tcPr marL="46789" marR="46789" marT="23394" marB="23394" anchor="ctr">
                    <a:solidFill>
                      <a:schemeClr val="accent3">
                        <a:lumMod val="50000"/>
                      </a:schemeClr>
                    </a:solidFill>
                  </a:tcPr>
                </a:tc>
                <a:tc>
                  <a:txBody>
                    <a:bodyPr/>
                    <a:lstStyle/>
                    <a:p>
                      <a:pPr>
                        <a:buNone/>
                      </a:pPr>
                      <a:r>
                        <a:rPr lang="en-US" sz="900" b="1" dirty="0">
                          <a:solidFill>
                            <a:schemeClr val="bg1"/>
                          </a:solidFill>
                        </a:rPr>
                        <a:t>Updated Policies Under Communication / Awareness</a:t>
                      </a:r>
                    </a:p>
                  </a:txBody>
                  <a:tcPr marL="46789" marR="46789" marT="23394" marB="23394" anchor="ctr">
                    <a:solidFill>
                      <a:schemeClr val="accent3">
                        <a:lumMod val="50000"/>
                      </a:schemeClr>
                    </a:solidFill>
                  </a:tcPr>
                </a:tc>
                <a:extLst>
                  <a:ext uri="{0D108BD9-81ED-4DB2-BD59-A6C34878D82A}">
                    <a16:rowId xmlns:a16="http://schemas.microsoft.com/office/drawing/2014/main" val="555866644"/>
                  </a:ext>
                </a:extLst>
              </a:tr>
              <a:tr h="180911">
                <a:tc>
                  <a:txBody>
                    <a:bodyPr/>
                    <a:lstStyle/>
                    <a:p>
                      <a:pPr>
                        <a:buNone/>
                      </a:pPr>
                      <a:r>
                        <a:rPr lang="en-US" sz="900"/>
                        <a:t>Officer in Charge Policy</a:t>
                      </a:r>
                    </a:p>
                  </a:txBody>
                  <a:tcPr marL="46789" marR="46789" marT="23394" marB="23394" anchor="ctr"/>
                </a:tc>
                <a:tc>
                  <a:txBody>
                    <a:bodyPr/>
                    <a:lstStyle/>
                    <a:p>
                      <a:pPr>
                        <a:buNone/>
                      </a:pPr>
                      <a:r>
                        <a:rPr lang="en-US" sz="900"/>
                        <a:t>Code of Conduct and Business Ethics Policy</a:t>
                      </a:r>
                    </a:p>
                  </a:txBody>
                  <a:tcPr marL="46789" marR="46789" marT="23394" marB="23394" anchor="ctr"/>
                </a:tc>
                <a:tc>
                  <a:txBody>
                    <a:bodyPr/>
                    <a:lstStyle/>
                    <a:p>
                      <a:pPr>
                        <a:buNone/>
                      </a:pPr>
                      <a:r>
                        <a:rPr lang="en-US" sz="900"/>
                        <a:t>Shift Allowance Policy</a:t>
                      </a:r>
                    </a:p>
                  </a:txBody>
                  <a:tcPr marL="46789" marR="46789" marT="23394" marB="23394" anchor="ctr"/>
                </a:tc>
                <a:tc>
                  <a:txBody>
                    <a:bodyPr/>
                    <a:lstStyle/>
                    <a:p>
                      <a:pPr>
                        <a:buNone/>
                      </a:pPr>
                      <a:r>
                        <a:rPr lang="en-US" sz="900"/>
                        <a:t>Cellphone Policy</a:t>
                      </a:r>
                    </a:p>
                  </a:txBody>
                  <a:tcPr marL="46789" marR="46789" marT="23394" marB="23394" anchor="ctr"/>
                </a:tc>
                <a:extLst>
                  <a:ext uri="{0D108BD9-81ED-4DB2-BD59-A6C34878D82A}">
                    <a16:rowId xmlns:a16="http://schemas.microsoft.com/office/drawing/2014/main" val="2980374009"/>
                  </a:ext>
                </a:extLst>
              </a:tr>
              <a:tr h="258445">
                <a:tc>
                  <a:txBody>
                    <a:bodyPr/>
                    <a:lstStyle/>
                    <a:p>
                      <a:pPr>
                        <a:buNone/>
                      </a:pPr>
                      <a:r>
                        <a:rPr lang="en-US" sz="900" dirty="0"/>
                        <a:t>Sales Incentives Policy</a:t>
                      </a:r>
                    </a:p>
                  </a:txBody>
                  <a:tcPr marL="46789" marR="46789" marT="23394" marB="23394" anchor="ctr"/>
                </a:tc>
                <a:tc>
                  <a:txBody>
                    <a:bodyPr/>
                    <a:lstStyle/>
                    <a:p>
                      <a:pPr>
                        <a:buNone/>
                      </a:pPr>
                      <a:r>
                        <a:rPr lang="en-US" sz="900"/>
                        <a:t>Job Evaluation Policy</a:t>
                      </a:r>
                    </a:p>
                  </a:txBody>
                  <a:tcPr marL="46789" marR="46789" marT="23394" marB="23394" anchor="ctr"/>
                </a:tc>
                <a:tc>
                  <a:txBody>
                    <a:bodyPr/>
                    <a:lstStyle/>
                    <a:p>
                      <a:pPr>
                        <a:buNone/>
                      </a:pPr>
                      <a:r>
                        <a:rPr lang="en-US" sz="900"/>
                        <a:t>Remuneration Policy, subject to Board validation</a:t>
                      </a:r>
                    </a:p>
                  </a:txBody>
                  <a:tcPr marL="46789" marR="46789" marT="23394" marB="23394" anchor="ctr"/>
                </a:tc>
                <a:tc>
                  <a:txBody>
                    <a:bodyPr/>
                    <a:lstStyle/>
                    <a:p>
                      <a:pPr>
                        <a:buNone/>
                      </a:pPr>
                      <a:r>
                        <a:rPr lang="en-US" sz="900"/>
                        <a:t>Overtime Policy</a:t>
                      </a:r>
                    </a:p>
                  </a:txBody>
                  <a:tcPr marL="46789" marR="46789" marT="23394" marB="23394" anchor="ctr"/>
                </a:tc>
                <a:extLst>
                  <a:ext uri="{0D108BD9-81ED-4DB2-BD59-A6C34878D82A}">
                    <a16:rowId xmlns:a16="http://schemas.microsoft.com/office/drawing/2014/main" val="1294349207"/>
                  </a:ext>
                </a:extLst>
              </a:tr>
              <a:tr h="180911">
                <a:tc>
                  <a:txBody>
                    <a:bodyPr/>
                    <a:lstStyle/>
                    <a:p>
                      <a:pPr>
                        <a:buNone/>
                      </a:pPr>
                      <a:r>
                        <a:rPr lang="en-US" sz="900"/>
                        <a:t>Membership of Professional Society Fees</a:t>
                      </a:r>
                    </a:p>
                  </a:txBody>
                  <a:tcPr marL="46789" marR="46789" marT="23394" marB="23394" anchor="ctr"/>
                </a:tc>
                <a:tc>
                  <a:txBody>
                    <a:bodyPr/>
                    <a:lstStyle/>
                    <a:p>
                      <a:pPr>
                        <a:buNone/>
                      </a:pPr>
                      <a:r>
                        <a:rPr lang="en-US" sz="900"/>
                        <a:t>Learning and Development Policy</a:t>
                      </a:r>
                    </a:p>
                  </a:txBody>
                  <a:tcPr marL="46789" marR="46789" marT="23394" marB="23394" anchor="ctr"/>
                </a:tc>
                <a:tc>
                  <a:txBody>
                    <a:bodyPr/>
                    <a:lstStyle/>
                    <a:p>
                      <a:pPr>
                        <a:buNone/>
                      </a:pPr>
                      <a:r>
                        <a:rPr lang="en-US" sz="900"/>
                        <a:t>PPC Village Policy</a:t>
                      </a:r>
                    </a:p>
                  </a:txBody>
                  <a:tcPr marL="46789" marR="46789" marT="23394" marB="23394" anchor="ctr"/>
                </a:tc>
                <a:tc>
                  <a:txBody>
                    <a:bodyPr/>
                    <a:lstStyle/>
                    <a:p>
                      <a:pPr>
                        <a:buNone/>
                      </a:pPr>
                      <a:r>
                        <a:rPr lang="en-US" sz="900"/>
                        <a:t>Annual Leave Policy</a:t>
                      </a:r>
                    </a:p>
                  </a:txBody>
                  <a:tcPr marL="46789" marR="46789" marT="23394" marB="23394" anchor="ctr"/>
                </a:tc>
                <a:extLst>
                  <a:ext uri="{0D108BD9-81ED-4DB2-BD59-A6C34878D82A}">
                    <a16:rowId xmlns:a16="http://schemas.microsoft.com/office/drawing/2014/main" val="1856794868"/>
                  </a:ext>
                </a:extLst>
              </a:tr>
              <a:tr h="180911">
                <a:tc>
                  <a:txBody>
                    <a:bodyPr/>
                    <a:lstStyle/>
                    <a:p>
                      <a:pPr>
                        <a:buNone/>
                      </a:pPr>
                      <a:r>
                        <a:rPr lang="en-US" sz="900"/>
                        <a:t>Internship Policy</a:t>
                      </a:r>
                    </a:p>
                  </a:txBody>
                  <a:tcPr marL="46789" marR="46789" marT="23394" marB="23394" anchor="ctr"/>
                </a:tc>
                <a:tc>
                  <a:txBody>
                    <a:bodyPr/>
                    <a:lstStyle/>
                    <a:p>
                      <a:pPr>
                        <a:buNone/>
                      </a:pPr>
                      <a:r>
                        <a:rPr lang="en-US" sz="900"/>
                        <a:t>Performance Management Policy</a:t>
                      </a:r>
                    </a:p>
                  </a:txBody>
                  <a:tcPr marL="46789" marR="46789" marT="23394" marB="23394" anchor="ctr"/>
                </a:tc>
                <a:tc>
                  <a:txBody>
                    <a:bodyPr/>
                    <a:lstStyle/>
                    <a:p>
                      <a:pPr>
                        <a:buNone/>
                      </a:pPr>
                      <a:r>
                        <a:rPr lang="en-US" sz="900"/>
                        <a:t>Probation Policy</a:t>
                      </a:r>
                    </a:p>
                  </a:txBody>
                  <a:tcPr marL="46789" marR="46789" marT="23394" marB="23394" anchor="ctr"/>
                </a:tc>
                <a:tc>
                  <a:txBody>
                    <a:bodyPr/>
                    <a:lstStyle/>
                    <a:p>
                      <a:pPr>
                        <a:buNone/>
                      </a:pPr>
                      <a:r>
                        <a:rPr lang="en-US" sz="900"/>
                        <a:t>Funeral Assistance Policy</a:t>
                      </a:r>
                    </a:p>
                  </a:txBody>
                  <a:tcPr marL="46789" marR="46789" marT="23394" marB="23394" anchor="ctr"/>
                </a:tc>
                <a:extLst>
                  <a:ext uri="{0D108BD9-81ED-4DB2-BD59-A6C34878D82A}">
                    <a16:rowId xmlns:a16="http://schemas.microsoft.com/office/drawing/2014/main" val="494546000"/>
                  </a:ext>
                </a:extLst>
              </a:tr>
              <a:tr h="180911">
                <a:tc>
                  <a:txBody>
                    <a:bodyPr/>
                    <a:lstStyle/>
                    <a:p>
                      <a:pPr>
                        <a:buNone/>
                      </a:pPr>
                      <a:r>
                        <a:rPr lang="en-US" sz="900"/>
                        <a:t>PPC Ethics Line / Tip-Off Anonymous</a:t>
                      </a:r>
                    </a:p>
                  </a:txBody>
                  <a:tcPr marL="46789" marR="46789" marT="23394" marB="23394" anchor="ctr"/>
                </a:tc>
                <a:tc>
                  <a:txBody>
                    <a:bodyPr/>
                    <a:lstStyle/>
                    <a:p>
                      <a:pPr>
                        <a:buNone/>
                      </a:pPr>
                      <a:r>
                        <a:rPr lang="en-US" sz="900"/>
                        <a:t>Recruitment Policy</a:t>
                      </a:r>
                    </a:p>
                  </a:txBody>
                  <a:tcPr marL="46789" marR="46789" marT="23394" marB="23394" anchor="ctr"/>
                </a:tc>
                <a:tc>
                  <a:txBody>
                    <a:bodyPr/>
                    <a:lstStyle/>
                    <a:p>
                      <a:pPr>
                        <a:buNone/>
                      </a:pPr>
                      <a:r>
                        <a:rPr lang="en-US" sz="900"/>
                        <a:t>Alcohol and Substance Abuse Policy</a:t>
                      </a:r>
                    </a:p>
                  </a:txBody>
                  <a:tcPr marL="46789" marR="46789" marT="23394" marB="23394" anchor="ctr"/>
                </a:tc>
                <a:tc>
                  <a:txBody>
                    <a:bodyPr/>
                    <a:lstStyle/>
                    <a:p>
                      <a:pPr>
                        <a:buNone/>
                      </a:pPr>
                      <a:endParaRPr lang="en-US" sz="900" dirty="0"/>
                    </a:p>
                  </a:txBody>
                  <a:tcPr marL="46789" marR="46789" marT="23394" marB="23394" anchor="ctr"/>
                </a:tc>
                <a:extLst>
                  <a:ext uri="{0D108BD9-81ED-4DB2-BD59-A6C34878D82A}">
                    <a16:rowId xmlns:a16="http://schemas.microsoft.com/office/drawing/2014/main" val="448560289"/>
                  </a:ext>
                </a:extLst>
              </a:tr>
              <a:tr h="149572">
                <a:tc>
                  <a:txBody>
                    <a:bodyPr/>
                    <a:lstStyle/>
                    <a:p>
                      <a:pPr>
                        <a:buNone/>
                      </a:pPr>
                      <a:r>
                        <a:rPr lang="en-US" sz="900" dirty="0"/>
                        <a:t>Harassment Policy</a:t>
                      </a:r>
                    </a:p>
                  </a:txBody>
                  <a:tcPr marL="46789" marR="46789" marT="23394" marB="23394" anchor="ctr"/>
                </a:tc>
                <a:tc>
                  <a:txBody>
                    <a:bodyPr/>
                    <a:lstStyle/>
                    <a:p>
                      <a:pPr>
                        <a:buNone/>
                      </a:pPr>
                      <a:r>
                        <a:rPr lang="en-US" sz="900"/>
                        <a:t>Disciplinary Code Policy</a:t>
                      </a:r>
                    </a:p>
                  </a:txBody>
                  <a:tcPr marL="46789" marR="46789" marT="23394" marB="23394" anchor="ctr"/>
                </a:tc>
                <a:tc>
                  <a:txBody>
                    <a:bodyPr/>
                    <a:lstStyle/>
                    <a:p>
                      <a:pPr>
                        <a:buNone/>
                      </a:pPr>
                      <a:r>
                        <a:rPr lang="en-US" sz="900"/>
                        <a:t>Travel Policy</a:t>
                      </a:r>
                    </a:p>
                  </a:txBody>
                  <a:tcPr marL="46789" marR="46789" marT="23394" marB="23394" anchor="ctr"/>
                </a:tc>
                <a:tc>
                  <a:txBody>
                    <a:bodyPr/>
                    <a:lstStyle/>
                    <a:p>
                      <a:pPr>
                        <a:buNone/>
                      </a:pPr>
                      <a:endParaRPr lang="en-US" sz="900"/>
                    </a:p>
                  </a:txBody>
                  <a:tcPr marL="46789" marR="46789" marT="23394" marB="23394" anchor="ctr"/>
                </a:tc>
                <a:extLst>
                  <a:ext uri="{0D108BD9-81ED-4DB2-BD59-A6C34878D82A}">
                    <a16:rowId xmlns:a16="http://schemas.microsoft.com/office/drawing/2014/main" val="464130475"/>
                  </a:ext>
                </a:extLst>
              </a:tr>
              <a:tr h="180911">
                <a:tc>
                  <a:txBody>
                    <a:bodyPr/>
                    <a:lstStyle/>
                    <a:p>
                      <a:pPr>
                        <a:buNone/>
                      </a:pPr>
                      <a:r>
                        <a:rPr lang="en-US" sz="900"/>
                        <a:t>Maternity Leave Policy</a:t>
                      </a:r>
                    </a:p>
                  </a:txBody>
                  <a:tcPr marL="46789" marR="46789" marT="23394" marB="23394" anchor="ctr"/>
                </a:tc>
                <a:tc>
                  <a:txBody>
                    <a:bodyPr/>
                    <a:lstStyle/>
                    <a:p>
                      <a:pPr>
                        <a:buNone/>
                      </a:pPr>
                      <a:r>
                        <a:rPr lang="en-US" sz="900"/>
                        <a:t>Termination Policy</a:t>
                      </a:r>
                    </a:p>
                  </a:txBody>
                  <a:tcPr marL="46789" marR="46789" marT="23394" marB="23394" anchor="ctr"/>
                </a:tc>
                <a:tc>
                  <a:txBody>
                    <a:bodyPr/>
                    <a:lstStyle/>
                    <a:p>
                      <a:pPr>
                        <a:buNone/>
                      </a:pPr>
                      <a:r>
                        <a:rPr lang="en-US" sz="900"/>
                        <a:t>Transfer and Relocation Policy</a:t>
                      </a:r>
                    </a:p>
                  </a:txBody>
                  <a:tcPr marL="46789" marR="46789" marT="23394" marB="23394" anchor="ctr"/>
                </a:tc>
                <a:tc>
                  <a:txBody>
                    <a:bodyPr/>
                    <a:lstStyle/>
                    <a:p>
                      <a:pPr>
                        <a:buNone/>
                      </a:pPr>
                      <a:endParaRPr lang="en-US" sz="900" dirty="0"/>
                    </a:p>
                  </a:txBody>
                  <a:tcPr marL="46789" marR="46789" marT="23394" marB="23394" anchor="ctr"/>
                </a:tc>
                <a:extLst>
                  <a:ext uri="{0D108BD9-81ED-4DB2-BD59-A6C34878D82A}">
                    <a16:rowId xmlns:a16="http://schemas.microsoft.com/office/drawing/2014/main" val="163280922"/>
                  </a:ext>
                </a:extLst>
              </a:tr>
              <a:tr h="180911">
                <a:tc>
                  <a:txBody>
                    <a:bodyPr/>
                    <a:lstStyle/>
                    <a:p>
                      <a:pPr>
                        <a:buNone/>
                      </a:pPr>
                      <a:r>
                        <a:rPr lang="en-US" sz="900"/>
                        <a:t>Salary Advance Policy</a:t>
                      </a:r>
                    </a:p>
                  </a:txBody>
                  <a:tcPr marL="46789" marR="46789" marT="23394" marB="23394" anchor="ctr"/>
                </a:tc>
                <a:tc>
                  <a:txBody>
                    <a:bodyPr/>
                    <a:lstStyle/>
                    <a:p>
                      <a:pPr>
                        <a:buNone/>
                      </a:pPr>
                      <a:r>
                        <a:rPr lang="en-US" sz="900" dirty="0"/>
                        <a:t>International Mobility Policy</a:t>
                      </a:r>
                    </a:p>
                  </a:txBody>
                  <a:tcPr marL="46789" marR="46789" marT="23394" marB="23394" anchor="ctr"/>
                </a:tc>
                <a:tc>
                  <a:txBody>
                    <a:bodyPr/>
                    <a:lstStyle/>
                    <a:p>
                      <a:pPr>
                        <a:buNone/>
                      </a:pPr>
                      <a:endParaRPr lang="en-US" sz="900"/>
                    </a:p>
                  </a:txBody>
                  <a:tcPr marL="46789" marR="46789" marT="23394" marB="23394" anchor="ctr"/>
                </a:tc>
                <a:tc>
                  <a:txBody>
                    <a:bodyPr/>
                    <a:lstStyle/>
                    <a:p>
                      <a:pPr>
                        <a:buNone/>
                      </a:pPr>
                      <a:endParaRPr lang="en-US" sz="900"/>
                    </a:p>
                  </a:txBody>
                  <a:tcPr marL="46789" marR="46789" marT="23394" marB="23394" anchor="ctr"/>
                </a:tc>
                <a:extLst>
                  <a:ext uri="{0D108BD9-81ED-4DB2-BD59-A6C34878D82A}">
                    <a16:rowId xmlns:a16="http://schemas.microsoft.com/office/drawing/2014/main" val="3985614406"/>
                  </a:ext>
                </a:extLst>
              </a:tr>
              <a:tr h="180911">
                <a:tc>
                  <a:txBody>
                    <a:bodyPr/>
                    <a:lstStyle/>
                    <a:p>
                      <a:pPr>
                        <a:buNone/>
                      </a:pPr>
                      <a:r>
                        <a:rPr lang="en-US" sz="900"/>
                        <a:t>Medical Aid Policy</a:t>
                      </a:r>
                    </a:p>
                  </a:txBody>
                  <a:tcPr marL="46789" marR="46789" marT="23394" marB="23394" anchor="ctr"/>
                </a:tc>
                <a:tc>
                  <a:txBody>
                    <a:bodyPr/>
                    <a:lstStyle/>
                    <a:p>
                      <a:pPr>
                        <a:buNone/>
                      </a:pPr>
                      <a:r>
                        <a:rPr lang="en-US" sz="900"/>
                        <a:t>Employee and Employer Relations Policy</a:t>
                      </a:r>
                    </a:p>
                  </a:txBody>
                  <a:tcPr marL="46789" marR="46789" marT="23394" marB="23394" anchor="ctr"/>
                </a:tc>
                <a:tc>
                  <a:txBody>
                    <a:bodyPr/>
                    <a:lstStyle/>
                    <a:p>
                      <a:pPr>
                        <a:buNone/>
                      </a:pPr>
                      <a:endParaRPr lang="en-US" sz="900"/>
                    </a:p>
                  </a:txBody>
                  <a:tcPr marL="46789" marR="46789" marT="23394" marB="23394" anchor="ctr"/>
                </a:tc>
                <a:tc>
                  <a:txBody>
                    <a:bodyPr/>
                    <a:lstStyle/>
                    <a:p>
                      <a:pPr>
                        <a:buNone/>
                      </a:pPr>
                      <a:endParaRPr lang="en-US" sz="900"/>
                    </a:p>
                  </a:txBody>
                  <a:tcPr marL="46789" marR="46789" marT="23394" marB="23394" anchor="ctr"/>
                </a:tc>
                <a:extLst>
                  <a:ext uri="{0D108BD9-81ED-4DB2-BD59-A6C34878D82A}">
                    <a16:rowId xmlns:a16="http://schemas.microsoft.com/office/drawing/2014/main" val="674399522"/>
                  </a:ext>
                </a:extLst>
              </a:tr>
              <a:tr h="149572">
                <a:tc>
                  <a:txBody>
                    <a:bodyPr/>
                    <a:lstStyle/>
                    <a:p>
                      <a:pPr>
                        <a:buNone/>
                      </a:pPr>
                      <a:r>
                        <a:rPr lang="en-US" sz="900"/>
                        <a:t>Long Service Award Policy</a:t>
                      </a:r>
                    </a:p>
                  </a:txBody>
                  <a:tcPr marL="46789" marR="46789" marT="23394" marB="23394" anchor="ctr"/>
                </a:tc>
                <a:tc>
                  <a:txBody>
                    <a:bodyPr/>
                    <a:lstStyle/>
                    <a:p>
                      <a:pPr>
                        <a:buNone/>
                      </a:pPr>
                      <a:r>
                        <a:rPr lang="en-US" sz="900"/>
                        <a:t>Succession Policy</a:t>
                      </a:r>
                    </a:p>
                  </a:txBody>
                  <a:tcPr marL="46789" marR="46789" marT="23394" marB="23394" anchor="ctr"/>
                </a:tc>
                <a:tc>
                  <a:txBody>
                    <a:bodyPr/>
                    <a:lstStyle/>
                    <a:p>
                      <a:pPr>
                        <a:buNone/>
                      </a:pPr>
                      <a:endParaRPr lang="en-US" sz="900"/>
                    </a:p>
                  </a:txBody>
                  <a:tcPr marL="46789" marR="46789" marT="23394" marB="23394" anchor="ctr"/>
                </a:tc>
                <a:tc>
                  <a:txBody>
                    <a:bodyPr/>
                    <a:lstStyle/>
                    <a:p>
                      <a:pPr>
                        <a:buNone/>
                      </a:pPr>
                      <a:endParaRPr lang="en-US" sz="900"/>
                    </a:p>
                  </a:txBody>
                  <a:tcPr marL="46789" marR="46789" marT="23394" marB="23394" anchor="ctr"/>
                </a:tc>
                <a:extLst>
                  <a:ext uri="{0D108BD9-81ED-4DB2-BD59-A6C34878D82A}">
                    <a16:rowId xmlns:a16="http://schemas.microsoft.com/office/drawing/2014/main" val="2172606817"/>
                  </a:ext>
                </a:extLst>
              </a:tr>
              <a:tr h="149572">
                <a:tc>
                  <a:txBody>
                    <a:bodyPr/>
                    <a:lstStyle/>
                    <a:p>
                      <a:pPr>
                        <a:buNone/>
                      </a:pPr>
                      <a:endParaRPr lang="en-US" sz="900"/>
                    </a:p>
                  </a:txBody>
                  <a:tcPr marL="46789" marR="46789" marT="23394" marB="23394" anchor="ctr"/>
                </a:tc>
                <a:tc>
                  <a:txBody>
                    <a:bodyPr/>
                    <a:lstStyle/>
                    <a:p>
                      <a:pPr>
                        <a:buNone/>
                      </a:pPr>
                      <a:r>
                        <a:rPr lang="en-US" sz="900"/>
                        <a:t>Standby Allowance Policy</a:t>
                      </a:r>
                    </a:p>
                  </a:txBody>
                  <a:tcPr marL="46789" marR="46789" marT="23394" marB="23394" anchor="ctr"/>
                </a:tc>
                <a:tc>
                  <a:txBody>
                    <a:bodyPr/>
                    <a:lstStyle/>
                    <a:p>
                      <a:pPr>
                        <a:buNone/>
                      </a:pPr>
                      <a:endParaRPr lang="en-US" sz="900"/>
                    </a:p>
                  </a:txBody>
                  <a:tcPr marL="46789" marR="46789" marT="23394" marB="23394" anchor="ctr"/>
                </a:tc>
                <a:tc>
                  <a:txBody>
                    <a:bodyPr/>
                    <a:lstStyle/>
                    <a:p>
                      <a:pPr>
                        <a:buNone/>
                      </a:pPr>
                      <a:endParaRPr lang="en-US" sz="900"/>
                    </a:p>
                  </a:txBody>
                  <a:tcPr marL="46789" marR="46789" marT="23394" marB="23394" anchor="ctr"/>
                </a:tc>
                <a:extLst>
                  <a:ext uri="{0D108BD9-81ED-4DB2-BD59-A6C34878D82A}">
                    <a16:rowId xmlns:a16="http://schemas.microsoft.com/office/drawing/2014/main" val="128522373"/>
                  </a:ext>
                </a:extLst>
              </a:tr>
              <a:tr h="149572">
                <a:tc>
                  <a:txBody>
                    <a:bodyPr/>
                    <a:lstStyle/>
                    <a:p>
                      <a:pPr>
                        <a:buNone/>
                      </a:pPr>
                      <a:endParaRPr lang="en-US" sz="900"/>
                    </a:p>
                  </a:txBody>
                  <a:tcPr marL="46789" marR="46789" marT="23394" marB="23394" anchor="ctr"/>
                </a:tc>
                <a:tc>
                  <a:txBody>
                    <a:bodyPr/>
                    <a:lstStyle/>
                    <a:p>
                      <a:pPr>
                        <a:buNone/>
                      </a:pPr>
                      <a:r>
                        <a:rPr lang="en-US" sz="900"/>
                        <a:t>Bank Loan Procedures</a:t>
                      </a:r>
                    </a:p>
                  </a:txBody>
                  <a:tcPr marL="46789" marR="46789" marT="23394" marB="23394" anchor="ctr"/>
                </a:tc>
                <a:tc>
                  <a:txBody>
                    <a:bodyPr/>
                    <a:lstStyle/>
                    <a:p>
                      <a:pPr>
                        <a:buNone/>
                      </a:pPr>
                      <a:endParaRPr lang="en-US" sz="900"/>
                    </a:p>
                  </a:txBody>
                  <a:tcPr marL="46789" marR="46789" marT="23394" marB="23394" anchor="ctr"/>
                </a:tc>
                <a:tc>
                  <a:txBody>
                    <a:bodyPr/>
                    <a:lstStyle/>
                    <a:p>
                      <a:pPr>
                        <a:buNone/>
                      </a:pPr>
                      <a:endParaRPr lang="en-US" sz="900"/>
                    </a:p>
                  </a:txBody>
                  <a:tcPr marL="46789" marR="46789" marT="23394" marB="23394" anchor="ctr"/>
                </a:tc>
                <a:extLst>
                  <a:ext uri="{0D108BD9-81ED-4DB2-BD59-A6C34878D82A}">
                    <a16:rowId xmlns:a16="http://schemas.microsoft.com/office/drawing/2014/main" val="1658284729"/>
                  </a:ext>
                </a:extLst>
              </a:tr>
              <a:tr h="149572">
                <a:tc>
                  <a:txBody>
                    <a:bodyPr/>
                    <a:lstStyle/>
                    <a:p>
                      <a:pPr>
                        <a:buNone/>
                      </a:pPr>
                      <a:endParaRPr lang="en-US" sz="900"/>
                    </a:p>
                  </a:txBody>
                  <a:tcPr marL="46789" marR="46789" marT="23394" marB="23394" anchor="ctr"/>
                </a:tc>
                <a:tc>
                  <a:txBody>
                    <a:bodyPr/>
                    <a:lstStyle/>
                    <a:p>
                      <a:pPr>
                        <a:buNone/>
                      </a:pPr>
                      <a:r>
                        <a:rPr lang="en-US" sz="900"/>
                        <a:t>Company Car Policy</a:t>
                      </a:r>
                    </a:p>
                  </a:txBody>
                  <a:tcPr marL="46789" marR="46789" marT="23394" marB="23394" anchor="ctr"/>
                </a:tc>
                <a:tc>
                  <a:txBody>
                    <a:bodyPr/>
                    <a:lstStyle/>
                    <a:p>
                      <a:pPr>
                        <a:buNone/>
                      </a:pPr>
                      <a:endParaRPr lang="en-US" sz="900"/>
                    </a:p>
                  </a:txBody>
                  <a:tcPr marL="46789" marR="46789" marT="23394" marB="23394" anchor="ctr"/>
                </a:tc>
                <a:tc>
                  <a:txBody>
                    <a:bodyPr/>
                    <a:lstStyle/>
                    <a:p>
                      <a:pPr>
                        <a:buNone/>
                      </a:pPr>
                      <a:endParaRPr lang="en-US" sz="900"/>
                    </a:p>
                  </a:txBody>
                  <a:tcPr marL="46789" marR="46789" marT="23394" marB="23394" anchor="ctr"/>
                </a:tc>
                <a:extLst>
                  <a:ext uri="{0D108BD9-81ED-4DB2-BD59-A6C34878D82A}">
                    <a16:rowId xmlns:a16="http://schemas.microsoft.com/office/drawing/2014/main" val="1944215851"/>
                  </a:ext>
                </a:extLst>
              </a:tr>
              <a:tr h="149572">
                <a:tc>
                  <a:txBody>
                    <a:bodyPr/>
                    <a:lstStyle/>
                    <a:p>
                      <a:pPr>
                        <a:buNone/>
                      </a:pPr>
                      <a:r>
                        <a:rPr lang="en-US" sz="900" b="1"/>
                        <a:t>Total: 10</a:t>
                      </a:r>
                      <a:endParaRPr lang="en-US" sz="900"/>
                    </a:p>
                  </a:txBody>
                  <a:tcPr marL="46789" marR="46789" marT="23394" marB="23394" anchor="ctr"/>
                </a:tc>
                <a:tc>
                  <a:txBody>
                    <a:bodyPr/>
                    <a:lstStyle/>
                    <a:p>
                      <a:pPr>
                        <a:buNone/>
                      </a:pPr>
                      <a:r>
                        <a:rPr lang="en-US" sz="900" b="1"/>
                        <a:t>Total: 13</a:t>
                      </a:r>
                      <a:endParaRPr lang="en-US" sz="900"/>
                    </a:p>
                  </a:txBody>
                  <a:tcPr marL="46789" marR="46789" marT="23394" marB="23394" anchor="ctr"/>
                </a:tc>
                <a:tc>
                  <a:txBody>
                    <a:bodyPr/>
                    <a:lstStyle/>
                    <a:p>
                      <a:pPr>
                        <a:buNone/>
                      </a:pPr>
                      <a:r>
                        <a:rPr lang="en-US" sz="900" b="1"/>
                        <a:t>Total: 7</a:t>
                      </a:r>
                      <a:endParaRPr lang="en-US" sz="900"/>
                    </a:p>
                  </a:txBody>
                  <a:tcPr marL="46789" marR="46789" marT="23394" marB="23394" anchor="ctr"/>
                </a:tc>
                <a:tc>
                  <a:txBody>
                    <a:bodyPr/>
                    <a:lstStyle/>
                    <a:p>
                      <a:pPr>
                        <a:buNone/>
                      </a:pPr>
                      <a:r>
                        <a:rPr lang="en-US" sz="900" b="1" dirty="0"/>
                        <a:t>Total: 4</a:t>
                      </a:r>
                      <a:endParaRPr lang="en-US" sz="900" dirty="0"/>
                    </a:p>
                  </a:txBody>
                  <a:tcPr marL="46789" marR="46789" marT="23394" marB="23394" anchor="ctr"/>
                </a:tc>
                <a:extLst>
                  <a:ext uri="{0D108BD9-81ED-4DB2-BD59-A6C34878D82A}">
                    <a16:rowId xmlns:a16="http://schemas.microsoft.com/office/drawing/2014/main" val="174789039"/>
                  </a:ext>
                </a:extLst>
              </a:tr>
            </a:tbl>
          </a:graphicData>
        </a:graphic>
      </p:graphicFrame>
    </p:spTree>
    <p:extLst>
      <p:ext uri="{BB962C8B-B14F-4D97-AF65-F5344CB8AC3E}">
        <p14:creationId xmlns:p14="http://schemas.microsoft.com/office/powerpoint/2010/main" val="992299771"/>
      </p:ext>
    </p:extLst>
  </p:cSld>
  <p:clrMapOvr>
    <a:masterClrMapping/>
  </p:clrMapOvr>
</p:sld>
</file>

<file path=ppt/theme/theme1.xml><?xml version="1.0" encoding="utf-8"?>
<a:theme xmlns:a="http://schemas.openxmlformats.org/drawingml/2006/main" name="1_Office Theme">
  <a:themeElements>
    <a:clrScheme name="Custom 1">
      <a:dk1>
        <a:sysClr val="windowText" lastClr="000000"/>
      </a:dk1>
      <a:lt1>
        <a:sysClr val="window" lastClr="FFFFFF"/>
      </a:lt1>
      <a:dk2>
        <a:srgbClr val="D8D8D8"/>
      </a:dk2>
      <a:lt2>
        <a:srgbClr val="A5A5A5"/>
      </a:lt2>
      <a:accent1>
        <a:srgbClr val="FF0000"/>
      </a:accent1>
      <a:accent2>
        <a:srgbClr val="000000"/>
      </a:accent2>
      <a:accent3>
        <a:srgbClr val="FD0F0F"/>
      </a:accent3>
      <a:accent4>
        <a:srgbClr val="FF5050"/>
      </a:accent4>
      <a:accent5>
        <a:srgbClr val="918485"/>
      </a:accent5>
      <a:accent6>
        <a:srgbClr val="855D5D"/>
      </a:accent6>
      <a:hlink>
        <a:srgbClr val="CC9900"/>
      </a:hlink>
      <a:folHlink>
        <a:srgbClr val="96A9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noAutofit/>
      </a:bodyPr>
      <a:lstStyle>
        <a:defPPr algn="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ver Slides">
  <a:themeElements>
    <a:clrScheme name="PPC FINAL COLOURS">
      <a:dk1>
        <a:srgbClr val="000000"/>
      </a:dk1>
      <a:lt1>
        <a:srgbClr val="FFFFFF"/>
      </a:lt1>
      <a:dk2>
        <a:srgbClr val="000000"/>
      </a:dk2>
      <a:lt2>
        <a:srgbClr val="FFFFFF"/>
      </a:lt2>
      <a:accent1>
        <a:srgbClr val="000000"/>
      </a:accent1>
      <a:accent2>
        <a:srgbClr val="D42E12"/>
      </a:accent2>
      <a:accent3>
        <a:srgbClr val="969696"/>
      </a:accent3>
      <a:accent4>
        <a:srgbClr val="C8C8C8"/>
      </a:accent4>
      <a:accent5>
        <a:srgbClr val="323232"/>
      </a:accent5>
      <a:accent6>
        <a:srgbClr val="646464"/>
      </a:accent6>
      <a:hlink>
        <a:srgbClr val="191919"/>
      </a:hlink>
      <a:folHlink>
        <a:srgbClr val="D42E12"/>
      </a:folHlink>
    </a:clrScheme>
    <a:fontScheme name="PPC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C481E255E4B3B419867C38A7285C372" ma:contentTypeVersion="15" ma:contentTypeDescription="Create a new document." ma:contentTypeScope="" ma:versionID="600cd7a6d1bcd878c7579b99e29aa297">
  <xsd:schema xmlns:xsd="http://www.w3.org/2001/XMLSchema" xmlns:xs="http://www.w3.org/2001/XMLSchema" xmlns:p="http://schemas.microsoft.com/office/2006/metadata/properties" xmlns:ns2="7ae44015-a061-40b1-9b77-d3bafb64349c" xmlns:ns3="e90df9ce-515d-4039-b08f-118a1c973bbe" targetNamespace="http://schemas.microsoft.com/office/2006/metadata/properties" ma:root="true" ma:fieldsID="cfc5bb1e2d119d4a084877b641c821d8" ns2:_="" ns3:_="">
    <xsd:import namespace="7ae44015-a061-40b1-9b77-d3bafb64349c"/>
    <xsd:import namespace="e90df9ce-515d-4039-b08f-118a1c973bb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lcf76f155ced4ddcb4097134ff3c332f" minOccurs="0"/>
                <xsd:element ref="ns2:TaxCatchAll" minOccurs="0"/>
                <xsd:element ref="ns3:MediaServiceGenerationTime" minOccurs="0"/>
                <xsd:element ref="ns3:MediaServiceEventHashCode" minOccurs="0"/>
                <xsd:element ref="ns3:MediaServiceOCR"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e44015-a061-40b1-9b77-d3bafb64349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12a5298-6cca-43cd-94d8-ba3b6048f95c}" ma:internalName="TaxCatchAll" ma:showField="CatchAllData" ma:web="7ae44015-a061-40b1-9b77-d3bafb64349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e90df9ce-515d-4039-b08f-118a1c973bbe"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4170f2da-c541-4e22-bd9f-f1b3dee4a7e9"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ae44015-a061-40b1-9b77-d3bafb64349c" xsi:nil="true"/>
    <lcf76f155ced4ddcb4097134ff3c332f xmlns="e90df9ce-515d-4039-b08f-118a1c973bb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311DD9E-E4CC-48A7-8401-865841036A81}">
  <ds:schemaRefs>
    <ds:schemaRef ds:uri="http://schemas.microsoft.com/sharepoint/v3/contenttype/forms"/>
  </ds:schemaRefs>
</ds:datastoreItem>
</file>

<file path=customXml/itemProps2.xml><?xml version="1.0" encoding="utf-8"?>
<ds:datastoreItem xmlns:ds="http://schemas.openxmlformats.org/officeDocument/2006/customXml" ds:itemID="{7C87F985-F508-4115-A456-90707BAE6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e44015-a061-40b1-9b77-d3bafb64349c"/>
    <ds:schemaRef ds:uri="e90df9ce-515d-4039-b08f-118a1c973b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3EBA7CF-FD6D-4A97-8AF4-33934869E6B2}">
  <ds:schemaRefs>
    <ds:schemaRef ds:uri="http://purl.org/dc/dcmitype/"/>
    <ds:schemaRef ds:uri="a3e7eddb-7c43-4e1d-a58f-f99a7034e0b9"/>
    <ds:schemaRef ds:uri="http://schemas.microsoft.com/office/2006/metadata/properties"/>
    <ds:schemaRef ds:uri="http://www.w3.org/XML/1998/namespace"/>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0285acda-4845-4bdb-8243-659421a5712b"/>
    <ds:schemaRef ds:uri="http://purl.org/dc/elements/1.1/"/>
    <ds:schemaRef ds:uri="7ae44015-a061-40b1-9b77-d3bafb64349c"/>
    <ds:schemaRef ds:uri="e90df9ce-515d-4039-b08f-118a1c973bbe"/>
  </ds:schemaRefs>
</ds:datastoreItem>
</file>

<file path=docProps/app.xml><?xml version="1.0" encoding="utf-8"?>
<Properties xmlns="http://schemas.openxmlformats.org/officeDocument/2006/extended-properties" xmlns:vt="http://schemas.openxmlformats.org/officeDocument/2006/docPropsVTypes">
  <TotalTime>91079</TotalTime>
  <Words>5382</Words>
  <Application>Microsoft Office PowerPoint</Application>
  <PresentationFormat>Widescreen</PresentationFormat>
  <Paragraphs>1826</Paragraphs>
  <Slides>13</Slides>
  <Notes>1</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13</vt:i4>
      </vt:variant>
    </vt:vector>
  </HeadingPairs>
  <TitlesOfParts>
    <vt:vector size="30" baseType="lpstr">
      <vt:lpstr>Aptos</vt:lpstr>
      <vt:lpstr>Aptos Narrow</vt:lpstr>
      <vt:lpstr>Arial</vt:lpstr>
      <vt:lpstr>Arial Black</vt:lpstr>
      <vt:lpstr>Arial Narrow</vt:lpstr>
      <vt:lpstr>Calibri</vt:lpstr>
      <vt:lpstr>Calibri Light</vt:lpstr>
      <vt:lpstr>Fira Sans Extra Condensed Medium</vt:lpstr>
      <vt:lpstr>Franklin Gothic Book</vt:lpstr>
      <vt:lpstr>Franklin Gothic Demi</vt:lpstr>
      <vt:lpstr>FS Albert Light</vt:lpstr>
      <vt:lpstr>Helvetica</vt:lpstr>
      <vt:lpstr>Segoe UI Light</vt:lpstr>
      <vt:lpstr>Times New Roman</vt:lpstr>
      <vt:lpstr>Wingdings</vt:lpstr>
      <vt:lpstr>1_Office Theme</vt:lpstr>
      <vt:lpstr>Cover Slides</vt:lpstr>
      <vt:lpstr>PowerPoint Presentation</vt:lpstr>
      <vt:lpstr>HIGHLIGHT – LOWLIGHT - FOCUS</vt:lpstr>
      <vt:lpstr>PowerPoint Presentation</vt:lpstr>
      <vt:lpstr>HR KPI  - Trends</vt:lpstr>
      <vt:lpstr>HR KPI AND DIVERSITY</vt:lpstr>
      <vt:lpstr>OVERTIME - Hours</vt:lpstr>
      <vt:lpstr>Overtime vs Leave Balance</vt:lpstr>
      <vt:lpstr>OVERTIME - Cost</vt:lpstr>
      <vt:lpstr>Training Dashboard</vt:lpstr>
      <vt:lpstr>PowerPoint Presentation</vt:lpstr>
      <vt:lpstr>PowerPoint Presentation</vt:lpstr>
      <vt:lpstr>GOVERNANCE</vt:lpstr>
      <vt:lpstr>GOVERNANCE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Monthly KPIs’</dc:title>
  <dc:creator>Michelle Marks</dc:creator>
  <cp:lastModifiedBy>Gedeon Massadi</cp:lastModifiedBy>
  <cp:revision>78</cp:revision>
  <dcterms:created xsi:type="dcterms:W3CDTF">2023-10-05T07:23:32Z</dcterms:created>
  <dcterms:modified xsi:type="dcterms:W3CDTF">2026-08-13T12:15:41Z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0x0101003C481E255E4B3B419867C38A7285C372</vt:lpwstr>
  </property>
</Properties>
</file>