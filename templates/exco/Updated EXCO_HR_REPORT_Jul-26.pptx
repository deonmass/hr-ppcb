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1338" r:id="rId9"/>
    <p:sldId id="1318" r:id="rId10"/>
    <p:sldId id="1325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B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apports\July%2026\HR_ReportData_FY27_July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apports\July%2026\HR_ReportData_FY27_July.xlsb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apports\July%2026\HR_ReportData_FY27_July.xlsb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apports\July%2026\HR_ReportData_FY27_July.xlsb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1.4678754605215659E-2"/>
                  <c:y val="-0.3919952210653112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847706422018348"/>
                      <c:h val="0.148227898997789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805C-401C-8785-9370EAA88B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IN_OUT!$N$3:$N$7</c:f>
              <c:strCache>
                <c:ptCount val="5"/>
                <c:pt idx="0">
                  <c:v>Amicable Separation</c:v>
                </c:pt>
                <c:pt idx="1">
                  <c:v>Dismissal</c:v>
                </c:pt>
                <c:pt idx="2">
                  <c:v>Resignation</c:v>
                </c:pt>
                <c:pt idx="3">
                  <c:v>Contract Expired</c:v>
                </c:pt>
                <c:pt idx="4">
                  <c:v>Retirement</c:v>
                </c:pt>
              </c:strCache>
            </c:strRef>
          </c:cat>
          <c:val>
            <c:numRef>
              <c:f>IN_OUT!$O$3:$O$7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5C-401C-8785-9370EAA88B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678434464"/>
        <c:axId val="1678445024"/>
      </c:barChart>
      <c:catAx>
        <c:axId val="1678434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8445024"/>
        <c:crosses val="autoZero"/>
        <c:auto val="1"/>
        <c:lblAlgn val="ctr"/>
        <c:lblOffset val="100"/>
        <c:noMultiLvlLbl val="0"/>
      </c:catAx>
      <c:valAx>
        <c:axId val="1678445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78434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Headcount_Kiesse!$D$5:$D$12</c:f>
              <c:strCache>
                <c:ptCount val="8"/>
                <c:pt idx="0">
                  <c:v>&lt;25 ans</c:v>
                </c:pt>
                <c:pt idx="1">
                  <c:v>25 - 29 ans</c:v>
                </c:pt>
                <c:pt idx="2">
                  <c:v>30 - 34 ans </c:v>
                </c:pt>
                <c:pt idx="3">
                  <c:v>35 - 39 ans </c:v>
                </c:pt>
                <c:pt idx="4">
                  <c:v>40 - 44 ans </c:v>
                </c:pt>
                <c:pt idx="5">
                  <c:v>45 - 49 ans </c:v>
                </c:pt>
                <c:pt idx="6">
                  <c:v>50 - 54 ans </c:v>
                </c:pt>
                <c:pt idx="7">
                  <c:v>&gt;55</c:v>
                </c:pt>
              </c:strCache>
            </c:strRef>
          </c:cat>
          <c:val>
            <c:numRef>
              <c:f>Headcount_Kiesse!$F$5:$F$12</c:f>
              <c:numCache>
                <c:formatCode>0%</c:formatCode>
                <c:ptCount val="8"/>
                <c:pt idx="0">
                  <c:v>5.7142857142857143E-3</c:v>
                </c:pt>
                <c:pt idx="1">
                  <c:v>0.08</c:v>
                </c:pt>
                <c:pt idx="2">
                  <c:v>0.13142857142857142</c:v>
                </c:pt>
                <c:pt idx="3">
                  <c:v>0.31428571428571428</c:v>
                </c:pt>
                <c:pt idx="4">
                  <c:v>0.21714285714285714</c:v>
                </c:pt>
                <c:pt idx="5">
                  <c:v>0.13714285714285715</c:v>
                </c:pt>
                <c:pt idx="6">
                  <c:v>5.1428571428571428E-2</c:v>
                </c:pt>
                <c:pt idx="7">
                  <c:v>6.2857142857142861E-2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FF-425B-9843-AE627F71E7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70013615"/>
        <c:axId val="1390900655"/>
      </c:barChart>
      <c:catAx>
        <c:axId val="1970013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0900655"/>
        <c:crosses val="autoZero"/>
        <c:auto val="1"/>
        <c:lblAlgn val="ctr"/>
        <c:lblOffset val="100"/>
        <c:noMultiLvlLbl val="0"/>
      </c:catAx>
      <c:valAx>
        <c:axId val="1390900655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970013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Headcount_Kiesse!$M$6:$M$10</c:f>
              <c:strCache>
                <c:ptCount val="5"/>
                <c:pt idx="0">
                  <c:v>&lt;1 year</c:v>
                </c:pt>
                <c:pt idx="1">
                  <c:v>1 - 3 year(s)</c:v>
                </c:pt>
                <c:pt idx="2">
                  <c:v>4 - 6 years</c:v>
                </c:pt>
                <c:pt idx="3">
                  <c:v>7 - 9 years</c:v>
                </c:pt>
                <c:pt idx="4">
                  <c:v>&gt;= 10 years</c:v>
                </c:pt>
              </c:strCache>
            </c:strRef>
          </c:cat>
          <c:val>
            <c:numRef>
              <c:f>Headcount_Kiesse!$O$6:$O$10</c:f>
              <c:numCache>
                <c:formatCode>0%</c:formatCode>
                <c:ptCount val="5"/>
                <c:pt idx="0">
                  <c:v>0.08</c:v>
                </c:pt>
                <c:pt idx="1">
                  <c:v>0.26285714285714284</c:v>
                </c:pt>
                <c:pt idx="2">
                  <c:v>0.20571428571428571</c:v>
                </c:pt>
                <c:pt idx="3">
                  <c:v>0.29142857142857143</c:v>
                </c:pt>
                <c:pt idx="4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88-469B-B70A-985B92AD21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3611231"/>
        <c:axId val="693610271"/>
      </c:barChart>
      <c:catAx>
        <c:axId val="6936112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3610271"/>
        <c:crosses val="autoZero"/>
        <c:auto val="1"/>
        <c:lblAlgn val="ctr"/>
        <c:lblOffset val="100"/>
        <c:noMultiLvlLbl val="0"/>
      </c:catAx>
      <c:valAx>
        <c:axId val="69361027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936112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OVT!$E$16</c:f>
              <c:strCache>
                <c:ptCount val="1"/>
                <c:pt idx="0">
                  <c:v>APR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OVT!$C$17:$C$23</c:f>
              <c:strCache>
                <c:ptCount val="7"/>
                <c:pt idx="0">
                  <c:v>CEC</c:v>
                </c:pt>
                <c:pt idx="1">
                  <c:v>ENG</c:v>
                </c:pt>
                <c:pt idx="2">
                  <c:v>Mining</c:v>
                </c:pt>
                <c:pt idx="3">
                  <c:v>Opt</c:v>
                </c:pt>
                <c:pt idx="4">
                  <c:v>Prod</c:v>
                </c:pt>
                <c:pt idx="5">
                  <c:v>Log</c:v>
                </c:pt>
                <c:pt idx="6">
                  <c:v>QA</c:v>
                </c:pt>
              </c:strCache>
            </c:strRef>
          </c:cat>
          <c:val>
            <c:numRef>
              <c:f>OVT!$E$17:$E$23</c:f>
              <c:numCache>
                <c:formatCode>_(* #,##0.00_);_(* \(#,##0.00\);_(* "-"??_);_(@_)</c:formatCode>
                <c:ptCount val="7"/>
                <c:pt idx="0">
                  <c:v>0</c:v>
                </c:pt>
                <c:pt idx="1">
                  <c:v>3807.7021408572041</c:v>
                </c:pt>
                <c:pt idx="2">
                  <c:v>513.25301744561705</c:v>
                </c:pt>
                <c:pt idx="3">
                  <c:v>0</c:v>
                </c:pt>
                <c:pt idx="4">
                  <c:v>620.02703855265997</c:v>
                </c:pt>
                <c:pt idx="5">
                  <c:v>637.95511953478353</c:v>
                </c:pt>
                <c:pt idx="6">
                  <c:v>545.43868188671115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C0-4C32-A85F-BB3C2EB3DA59}"/>
            </c:ext>
          </c:extLst>
        </c:ser>
        <c:ser>
          <c:idx val="1"/>
          <c:order val="1"/>
          <c:tx>
            <c:strRef>
              <c:f>OVT!$F$16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OVT!$C$17:$C$23</c:f>
              <c:strCache>
                <c:ptCount val="7"/>
                <c:pt idx="0">
                  <c:v>CEC</c:v>
                </c:pt>
                <c:pt idx="1">
                  <c:v>ENG</c:v>
                </c:pt>
                <c:pt idx="2">
                  <c:v>Mining</c:v>
                </c:pt>
                <c:pt idx="3">
                  <c:v>Opt</c:v>
                </c:pt>
                <c:pt idx="4">
                  <c:v>Prod</c:v>
                </c:pt>
                <c:pt idx="5">
                  <c:v>Log</c:v>
                </c:pt>
                <c:pt idx="6">
                  <c:v>QA</c:v>
                </c:pt>
              </c:strCache>
            </c:strRef>
          </c:cat>
          <c:val>
            <c:numRef>
              <c:f>OVT!$F$17:$F$23</c:f>
              <c:numCache>
                <c:formatCode>_(* #,##0.00_);_(* \(#,##0.00\);_(* "-"??_);_(@_)</c:formatCode>
                <c:ptCount val="7"/>
                <c:pt idx="0">
                  <c:v>240.38846137105548</c:v>
                </c:pt>
                <c:pt idx="1">
                  <c:v>5326.2197257888984</c:v>
                </c:pt>
                <c:pt idx="2">
                  <c:v>402.22010446137108</c:v>
                </c:pt>
                <c:pt idx="3">
                  <c:v>45.854250272034818</c:v>
                </c:pt>
                <c:pt idx="4">
                  <c:v>2296.8059499455926</c:v>
                </c:pt>
                <c:pt idx="5">
                  <c:v>1084.9869597388465</c:v>
                </c:pt>
                <c:pt idx="6">
                  <c:v>575.12230250272034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C0-4C32-A85F-BB3C2EB3DA59}"/>
            </c:ext>
          </c:extLst>
        </c:ser>
        <c:ser>
          <c:idx val="2"/>
          <c:order val="2"/>
          <c:tx>
            <c:strRef>
              <c:f>OVT!$G$16</c:f>
              <c:strCache>
                <c:ptCount val="1"/>
                <c:pt idx="0">
                  <c:v>JUN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OVT!$C$17:$C$23</c:f>
              <c:strCache>
                <c:ptCount val="7"/>
                <c:pt idx="0">
                  <c:v>CEC</c:v>
                </c:pt>
                <c:pt idx="1">
                  <c:v>ENG</c:v>
                </c:pt>
                <c:pt idx="2">
                  <c:v>Mining</c:v>
                </c:pt>
                <c:pt idx="3">
                  <c:v>Opt</c:v>
                </c:pt>
                <c:pt idx="4">
                  <c:v>Prod</c:v>
                </c:pt>
                <c:pt idx="5">
                  <c:v>Log</c:v>
                </c:pt>
                <c:pt idx="6">
                  <c:v>QA</c:v>
                </c:pt>
              </c:strCache>
            </c:strRef>
          </c:cat>
          <c:val>
            <c:numRef>
              <c:f>OVT!$G$17:$G$23</c:f>
              <c:numCache>
                <c:formatCode>_(* #,##0.00_);_(* \(#,##0.00\);_(* "-"??_);_(@_)</c:formatCode>
                <c:ptCount val="7"/>
                <c:pt idx="0">
                  <c:v>0</c:v>
                </c:pt>
                <c:pt idx="1">
                  <c:v>8020.6187319387536</c:v>
                </c:pt>
                <c:pt idx="2">
                  <c:v>586.04396808281217</c:v>
                </c:pt>
                <c:pt idx="3">
                  <c:v>0</c:v>
                </c:pt>
                <c:pt idx="4">
                  <c:v>1749.3283804183741</c:v>
                </c:pt>
                <c:pt idx="5">
                  <c:v>824.61975415139091</c:v>
                </c:pt>
                <c:pt idx="6">
                  <c:v>774.62589605348273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C0-4C32-A85F-BB3C2EB3DA59}"/>
            </c:ext>
          </c:extLst>
        </c:ser>
        <c:ser>
          <c:idx val="3"/>
          <c:order val="3"/>
          <c:tx>
            <c:strRef>
              <c:f>OVT!$H$16</c:f>
              <c:strCache>
                <c:ptCount val="1"/>
                <c:pt idx="0">
                  <c:v>JUL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OVT!$C$17:$C$23</c:f>
              <c:strCache>
                <c:ptCount val="7"/>
                <c:pt idx="0">
                  <c:v>CEC</c:v>
                </c:pt>
                <c:pt idx="1">
                  <c:v>ENG</c:v>
                </c:pt>
                <c:pt idx="2">
                  <c:v>Mining</c:v>
                </c:pt>
                <c:pt idx="3">
                  <c:v>Opt</c:v>
                </c:pt>
                <c:pt idx="4">
                  <c:v>Prod</c:v>
                </c:pt>
                <c:pt idx="5">
                  <c:v>Log</c:v>
                </c:pt>
                <c:pt idx="6">
                  <c:v>QA</c:v>
                </c:pt>
              </c:strCache>
            </c:strRef>
          </c:cat>
          <c:val>
            <c:numRef>
              <c:f>OVT!$H$17:$H$23</c:f>
              <c:numCache>
                <c:formatCode>_(* #,##0.00_);_(* \(#,##0.00\);_(* "-"??_);_(@_)</c:formatCode>
                <c:ptCount val="7"/>
                <c:pt idx="0">
                  <c:v>0</c:v>
                </c:pt>
                <c:pt idx="1">
                  <c:v>6262.8716637781636</c:v>
                </c:pt>
                <c:pt idx="2">
                  <c:v>430.45051126516466</c:v>
                </c:pt>
                <c:pt idx="3">
                  <c:v>0</c:v>
                </c:pt>
                <c:pt idx="4">
                  <c:v>3481.9247876949753</c:v>
                </c:pt>
                <c:pt idx="5">
                  <c:v>716.59825389948003</c:v>
                </c:pt>
                <c:pt idx="6">
                  <c:v>942.05117850953206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DC0-4C32-A85F-BB3C2EB3DA59}"/>
            </c:ext>
          </c:extLst>
        </c:ser>
        <c:ser>
          <c:idx val="4"/>
          <c:order val="4"/>
          <c:tx>
            <c:strRef>
              <c:f>OVT!$I$16</c:f>
              <c:strCache>
                <c:ptCount val="1"/>
                <c:pt idx="0">
                  <c:v>AUG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OVT!$C$17:$C$23</c:f>
              <c:strCache>
                <c:ptCount val="7"/>
                <c:pt idx="0">
                  <c:v>CEC</c:v>
                </c:pt>
                <c:pt idx="1">
                  <c:v>ENG</c:v>
                </c:pt>
                <c:pt idx="2">
                  <c:v>Mining</c:v>
                </c:pt>
                <c:pt idx="3">
                  <c:v>Opt</c:v>
                </c:pt>
                <c:pt idx="4">
                  <c:v>Prod</c:v>
                </c:pt>
                <c:pt idx="5">
                  <c:v>Log</c:v>
                </c:pt>
                <c:pt idx="6">
                  <c:v>QA</c:v>
                </c:pt>
              </c:strCache>
            </c:strRef>
          </c:cat>
          <c:val>
            <c:numRef>
              <c:f>OVT!$I$17:$I$23</c:f>
              <c:numCache>
                <c:formatCode>_(* #,##0.00_);_(* \(#,##0.00\);_(* "-"??_);_(@_)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4-CDC0-4C32-A85F-BB3C2EB3DA59}"/>
            </c:ext>
          </c:extLst>
        </c:ser>
        <c:ser>
          <c:idx val="5"/>
          <c:order val="5"/>
          <c:tx>
            <c:strRef>
              <c:f>OVT!$J$16</c:f>
              <c:strCache>
                <c:ptCount val="1"/>
                <c:pt idx="0">
                  <c:v>SEP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OVT!$C$17:$C$23</c:f>
              <c:strCache>
                <c:ptCount val="7"/>
                <c:pt idx="0">
                  <c:v>CEC</c:v>
                </c:pt>
                <c:pt idx="1">
                  <c:v>ENG</c:v>
                </c:pt>
                <c:pt idx="2">
                  <c:v>Mining</c:v>
                </c:pt>
                <c:pt idx="3">
                  <c:v>Opt</c:v>
                </c:pt>
                <c:pt idx="4">
                  <c:v>Prod</c:v>
                </c:pt>
                <c:pt idx="5">
                  <c:v>Log</c:v>
                </c:pt>
                <c:pt idx="6">
                  <c:v>QA</c:v>
                </c:pt>
              </c:strCache>
            </c:strRef>
          </c:cat>
          <c:val>
            <c:numRef>
              <c:f>OVT!$J$17:$J$23</c:f>
              <c:numCache>
                <c:formatCode>_(* #,##0.00_);_(* \(#,##0.00\);_(* "-"??_);_(@_)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5-CDC0-4C32-A85F-BB3C2EB3DA59}"/>
            </c:ext>
          </c:extLst>
        </c:ser>
        <c:ser>
          <c:idx val="6"/>
          <c:order val="6"/>
          <c:tx>
            <c:strRef>
              <c:f>OVT!$K$16</c:f>
              <c:strCache>
                <c:ptCount val="1"/>
                <c:pt idx="0">
                  <c:v>OCT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OVT!$C$17:$C$23</c:f>
              <c:strCache>
                <c:ptCount val="7"/>
                <c:pt idx="0">
                  <c:v>CEC</c:v>
                </c:pt>
                <c:pt idx="1">
                  <c:v>ENG</c:v>
                </c:pt>
                <c:pt idx="2">
                  <c:v>Mining</c:v>
                </c:pt>
                <c:pt idx="3">
                  <c:v>Opt</c:v>
                </c:pt>
                <c:pt idx="4">
                  <c:v>Prod</c:v>
                </c:pt>
                <c:pt idx="5">
                  <c:v>Log</c:v>
                </c:pt>
                <c:pt idx="6">
                  <c:v>QA</c:v>
                </c:pt>
              </c:strCache>
            </c:strRef>
          </c:cat>
          <c:val>
            <c:numRef>
              <c:f>OVT!$K$17:$K$23</c:f>
              <c:numCache>
                <c:formatCode>_(* #,##0.00_);_(* \(#,##0.00\);_(* "-"??_);_(@_)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6-CDC0-4C32-A85F-BB3C2EB3DA59}"/>
            </c:ext>
          </c:extLst>
        </c:ser>
        <c:ser>
          <c:idx val="7"/>
          <c:order val="7"/>
          <c:tx>
            <c:strRef>
              <c:f>OVT!$L$16</c:f>
              <c:strCache>
                <c:ptCount val="1"/>
                <c:pt idx="0">
                  <c:v>NOV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OVT!$C$17:$C$23</c:f>
              <c:strCache>
                <c:ptCount val="7"/>
                <c:pt idx="0">
                  <c:v>CEC</c:v>
                </c:pt>
                <c:pt idx="1">
                  <c:v>ENG</c:v>
                </c:pt>
                <c:pt idx="2">
                  <c:v>Mining</c:v>
                </c:pt>
                <c:pt idx="3">
                  <c:v>Opt</c:v>
                </c:pt>
                <c:pt idx="4">
                  <c:v>Prod</c:v>
                </c:pt>
                <c:pt idx="5">
                  <c:v>Log</c:v>
                </c:pt>
                <c:pt idx="6">
                  <c:v>QA</c:v>
                </c:pt>
              </c:strCache>
            </c:strRef>
          </c:cat>
          <c:val>
            <c:numRef>
              <c:f>OVT!$L$17:$L$23</c:f>
              <c:numCache>
                <c:formatCode>_(* #,##0.00_);_(* \(#,##0.00\);_(* "-"??_);_(@_)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7-CDC0-4C32-A85F-BB3C2EB3DA59}"/>
            </c:ext>
          </c:extLst>
        </c:ser>
        <c:ser>
          <c:idx val="8"/>
          <c:order val="8"/>
          <c:tx>
            <c:strRef>
              <c:f>OVT!$M$16</c:f>
              <c:strCache>
                <c:ptCount val="1"/>
                <c:pt idx="0">
                  <c:v>DEC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OVT!$C$17:$C$23</c:f>
              <c:strCache>
                <c:ptCount val="7"/>
                <c:pt idx="0">
                  <c:v>CEC</c:v>
                </c:pt>
                <c:pt idx="1">
                  <c:v>ENG</c:v>
                </c:pt>
                <c:pt idx="2">
                  <c:v>Mining</c:v>
                </c:pt>
                <c:pt idx="3">
                  <c:v>Opt</c:v>
                </c:pt>
                <c:pt idx="4">
                  <c:v>Prod</c:v>
                </c:pt>
                <c:pt idx="5">
                  <c:v>Log</c:v>
                </c:pt>
                <c:pt idx="6">
                  <c:v>QA</c:v>
                </c:pt>
              </c:strCache>
            </c:strRef>
          </c:cat>
          <c:val>
            <c:numRef>
              <c:f>OVT!$M$17:$M$23</c:f>
              <c:numCache>
                <c:formatCode>_(* #,##0.00_);_(* \(#,##0.00\);_(* "-"??_);_(@_)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8-CDC0-4C32-A85F-BB3C2EB3DA59}"/>
            </c:ext>
          </c:extLst>
        </c:ser>
        <c:ser>
          <c:idx val="9"/>
          <c:order val="9"/>
          <c:tx>
            <c:strRef>
              <c:f>OVT!$N$16</c:f>
              <c:strCache>
                <c:ptCount val="1"/>
                <c:pt idx="0">
                  <c:v>JAN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OVT!$C$17:$C$23</c:f>
              <c:strCache>
                <c:ptCount val="7"/>
                <c:pt idx="0">
                  <c:v>CEC</c:v>
                </c:pt>
                <c:pt idx="1">
                  <c:v>ENG</c:v>
                </c:pt>
                <c:pt idx="2">
                  <c:v>Mining</c:v>
                </c:pt>
                <c:pt idx="3">
                  <c:v>Opt</c:v>
                </c:pt>
                <c:pt idx="4">
                  <c:v>Prod</c:v>
                </c:pt>
                <c:pt idx="5">
                  <c:v>Log</c:v>
                </c:pt>
                <c:pt idx="6">
                  <c:v>QA</c:v>
                </c:pt>
              </c:strCache>
            </c:strRef>
          </c:cat>
          <c:val>
            <c:numRef>
              <c:f>OVT!$N$17:$N$23</c:f>
              <c:numCache>
                <c:formatCode>_(* #,##0.00_);_(* \(#,##0.00\);_(* "-"??_);_(@_)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9-CDC0-4C32-A85F-BB3C2EB3DA59}"/>
            </c:ext>
          </c:extLst>
        </c:ser>
        <c:ser>
          <c:idx val="10"/>
          <c:order val="10"/>
          <c:tx>
            <c:strRef>
              <c:f>OVT!$O$16</c:f>
              <c:strCache>
                <c:ptCount val="1"/>
                <c:pt idx="0">
                  <c:v>FEB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OVT!$C$17:$C$23</c:f>
              <c:strCache>
                <c:ptCount val="7"/>
                <c:pt idx="0">
                  <c:v>CEC</c:v>
                </c:pt>
                <c:pt idx="1">
                  <c:v>ENG</c:v>
                </c:pt>
                <c:pt idx="2">
                  <c:v>Mining</c:v>
                </c:pt>
                <c:pt idx="3">
                  <c:v>Opt</c:v>
                </c:pt>
                <c:pt idx="4">
                  <c:v>Prod</c:v>
                </c:pt>
                <c:pt idx="5">
                  <c:v>Log</c:v>
                </c:pt>
                <c:pt idx="6">
                  <c:v>QA</c:v>
                </c:pt>
              </c:strCache>
            </c:strRef>
          </c:cat>
          <c:val>
            <c:numRef>
              <c:f>OVT!$O$17:$O$23</c:f>
              <c:numCache>
                <c:formatCode>_(* #,##0.00_);_(* \(#,##0.00\);_(* "-"??_);_(@_)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A-CDC0-4C32-A85F-BB3C2EB3DA59}"/>
            </c:ext>
          </c:extLst>
        </c:ser>
        <c:ser>
          <c:idx val="11"/>
          <c:order val="11"/>
          <c:tx>
            <c:strRef>
              <c:f>OVT!$P$16</c:f>
              <c:strCache>
                <c:ptCount val="1"/>
                <c:pt idx="0">
                  <c:v>MAR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OVT!$C$17:$C$23</c:f>
              <c:strCache>
                <c:ptCount val="7"/>
                <c:pt idx="0">
                  <c:v>CEC</c:v>
                </c:pt>
                <c:pt idx="1">
                  <c:v>ENG</c:v>
                </c:pt>
                <c:pt idx="2">
                  <c:v>Mining</c:v>
                </c:pt>
                <c:pt idx="3">
                  <c:v>Opt</c:v>
                </c:pt>
                <c:pt idx="4">
                  <c:v>Prod</c:v>
                </c:pt>
                <c:pt idx="5">
                  <c:v>Log</c:v>
                </c:pt>
                <c:pt idx="6">
                  <c:v>QA</c:v>
                </c:pt>
              </c:strCache>
            </c:strRef>
          </c:cat>
          <c:val>
            <c:numRef>
              <c:f>OVT!$P$17:$P$23</c:f>
              <c:numCache>
                <c:formatCode>_(* #,##0.00_);_(* \(#,##0.00\);_(* "-"??_);_(@_)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B-CDC0-4C32-A85F-BB3C2EB3DA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88872592"/>
        <c:axId val="388870672"/>
      </c:barChart>
      <c:lineChart>
        <c:grouping val="standard"/>
        <c:varyColors val="0"/>
        <c:ser>
          <c:idx val="12"/>
          <c:order val="12"/>
          <c:tx>
            <c:strRef>
              <c:f>OVT!$Q$16</c:f>
              <c:strCache>
                <c:ptCount val="1"/>
                <c:pt idx="0">
                  <c:v>%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1.8672463131494323E-2"/>
                  <c:y val="-0.1012602848982799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DC0-4C32-A85F-BB3C2EB3DA5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OVT!$C$17:$C$23</c:f>
              <c:strCache>
                <c:ptCount val="7"/>
                <c:pt idx="0">
                  <c:v>CEC</c:v>
                </c:pt>
                <c:pt idx="1">
                  <c:v>ENG</c:v>
                </c:pt>
                <c:pt idx="2">
                  <c:v>Mining</c:v>
                </c:pt>
                <c:pt idx="3">
                  <c:v>Opt</c:v>
                </c:pt>
                <c:pt idx="4">
                  <c:v>Prod</c:v>
                </c:pt>
                <c:pt idx="5">
                  <c:v>Log</c:v>
                </c:pt>
                <c:pt idx="6">
                  <c:v>QA</c:v>
                </c:pt>
              </c:strCache>
            </c:strRef>
          </c:cat>
          <c:val>
            <c:numRef>
              <c:f>OVT!$Q$17:$Q$23</c:f>
              <c:numCache>
                <c:formatCode>0%</c:formatCode>
                <c:ptCount val="7"/>
                <c:pt idx="0">
                  <c:v>6.0270231218246583E-3</c:v>
                </c:pt>
                <c:pt idx="1">
                  <c:v>0.58712171272109215</c:v>
                </c:pt>
                <c:pt idx="2">
                  <c:v>4.8438320778660379E-2</c:v>
                </c:pt>
                <c:pt idx="3">
                  <c:v>1.1496584530190964E-3</c:v>
                </c:pt>
                <c:pt idx="4">
                  <c:v>0.20428893876364143</c:v>
                </c:pt>
                <c:pt idx="5">
                  <c:v>8.1839070841570591E-2</c:v>
                </c:pt>
                <c:pt idx="6">
                  <c:v>7.1135275320191732E-2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CDC0-4C32-A85F-BB3C2EB3DA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4985040"/>
        <c:axId val="384982640"/>
      </c:lineChart>
      <c:catAx>
        <c:axId val="388872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870672"/>
        <c:crosses val="autoZero"/>
        <c:auto val="1"/>
        <c:lblAlgn val="ctr"/>
        <c:lblOffset val="100"/>
        <c:noMultiLvlLbl val="0"/>
      </c:catAx>
      <c:valAx>
        <c:axId val="388870672"/>
        <c:scaling>
          <c:orientation val="minMax"/>
        </c:scaling>
        <c:delete val="0"/>
        <c:axPos val="l"/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872592"/>
        <c:crosses val="autoZero"/>
        <c:crossBetween val="between"/>
      </c:valAx>
      <c:valAx>
        <c:axId val="384982640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4985040"/>
        <c:crosses val="max"/>
        <c:crossBetween val="between"/>
      </c:valAx>
      <c:catAx>
        <c:axId val="3849850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8498264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1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730-4590-A124-1B655D55FF73}"/>
              </c:ext>
            </c:extLst>
          </c:dPt>
          <c:dPt>
            <c:idx val="1"/>
            <c:bubble3D val="0"/>
            <c:spPr>
              <a:solidFill>
                <a:srgbClr val="F4C4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30-4590-A124-1B655D55FF73}"/>
              </c:ext>
            </c:extLst>
          </c:dPt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30-4590-A124-1B655D55FF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C80-44D9-B5C3-D7FCFE6CB315}"/>
              </c:ext>
            </c:extLst>
          </c:dPt>
          <c:dPt>
            <c:idx val="1"/>
            <c:bubble3D val="0"/>
            <c:spPr>
              <a:solidFill>
                <a:srgbClr val="F4C4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C80-44D9-B5C3-D7FCFE6CB315}"/>
              </c:ext>
            </c:extLst>
          </c:dPt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C80-44D9-B5C3-D7FCFE6CB3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890-4971-9DC1-0E1F9D4CCAEF}"/>
              </c:ext>
            </c:extLst>
          </c:dPt>
          <c:dPt>
            <c:idx val="1"/>
            <c:bubble3D val="0"/>
            <c:spPr>
              <a:solidFill>
                <a:srgbClr val="F4C4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90-4971-9DC1-0E1F9D4CCAEF}"/>
              </c:ext>
            </c:extLst>
          </c:dPt>
          <c:cat>
            <c:strRef>
              <c:f>Sheet1!$A$2:$A$3</c:f>
              <c:strCache>
                <c:ptCount val="2"/>
                <c:pt idx="0">
                  <c:v>Done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890-4971-9DC1-0E1F9D4CCA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788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33D69-0F93-84E0-E642-ECA227005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01F150-F591-AFD6-B387-8FBDEEB85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CDFDA-0314-3FB1-7209-8F1A10BBE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D6BD0-D371-8F54-D9F3-2E568008CB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29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A152F2-A2CC-5743-960D-B215E594CD2C}"/>
              </a:ext>
            </a:extLst>
          </p:cNvPr>
          <p:cNvSpPr txBox="1"/>
          <p:nvPr userDrawn="1"/>
        </p:nvSpPr>
        <p:spPr>
          <a:xfrm>
            <a:off x="1965434" y="-882869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C83089-3A30-5A40-B530-607FAEFBA67E}"/>
              </a:ext>
            </a:extLst>
          </p:cNvPr>
          <p:cNvSpPr txBox="1"/>
          <p:nvPr userDrawn="1"/>
        </p:nvSpPr>
        <p:spPr>
          <a:xfrm>
            <a:off x="3343275" y="-84296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CAF83C4-7EF0-B44E-A9F6-CD9545BDD84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4628" y="1978599"/>
            <a:ext cx="9980343" cy="4036884"/>
          </a:xfrm>
        </p:spPr>
        <p:txBody>
          <a:bodyPr/>
          <a:lstStyle>
            <a:lvl1pPr marL="0" indent="0">
              <a:lnSpc>
                <a:spcPts val="1400"/>
              </a:lnSpc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Lorem ipsum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labore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et dolore magna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aliqua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tortor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id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lectus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proin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nibh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nisl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condimentum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dui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vivamus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bibendum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ut.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Arcu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cursus vitae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congue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mauris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rhoncus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aenean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vel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scelerisque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euismod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nisi porta lorem.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volutpat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egestas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fringilla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phasellus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nulla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porttitor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lacus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accumsan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tortor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posuere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risus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pretium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dignissim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suspendisse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in.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Nulla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pharetra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nisl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suscipit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Vulputate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scelerisque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proin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fermentum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leo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vel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orci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Volutpat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venenatis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tellus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Consequat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ac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felis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donec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odio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pellentesque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diam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volutpat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commodo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Urna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molestie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at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elementum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facilisis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odio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morbi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sagittis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id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purus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faucibus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 pulvinar </a:t>
            </a:r>
            <a:r>
              <a:rPr lang="en-ZA" sz="1200" err="1">
                <a:latin typeface="Arial" panose="020B0604020202020204" pitchFamily="34" charset="0"/>
                <a:cs typeface="Arial" panose="020B0604020202020204" pitchFamily="34" charset="0"/>
              </a:rPr>
              <a:t>elementum</a:t>
            </a:r>
            <a:r>
              <a:rPr lang="en-ZA" sz="120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11" name="Picture 10" descr="Arrow, funnel chart&#10;&#10;Description automatically generated">
            <a:extLst>
              <a:ext uri="{FF2B5EF4-FFF2-40B4-BE49-F238E27FC236}">
                <a16:creationId xmlns:a16="http://schemas.microsoft.com/office/drawing/2014/main" id="{2D8E92D5-915C-6D47-8333-5119CE95CE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628" y="0"/>
            <a:ext cx="2334986" cy="538843"/>
          </a:xfrm>
          <a:prstGeom prst="rect">
            <a:avLst/>
          </a:prstGeom>
        </p:spPr>
      </p:pic>
      <p:pic>
        <p:nvPicPr>
          <p:cNvPr id="12" name="Picture 11" descr="Arrow&#10;&#10;Description automatically generated with medium confidence">
            <a:extLst>
              <a:ext uri="{FF2B5EF4-FFF2-40B4-BE49-F238E27FC236}">
                <a16:creationId xmlns:a16="http://schemas.microsoft.com/office/drawing/2014/main" id="{6B2B6B72-3093-874F-90AF-367BA5AE82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628" y="6468836"/>
            <a:ext cx="2439759" cy="38916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4C25450-573F-DE44-A8CC-2B31B6FF8C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629" y="751359"/>
            <a:ext cx="7803963" cy="737832"/>
          </a:xfrm>
        </p:spPr>
        <p:txBody>
          <a:bodyPr anchor="t"/>
          <a:lstStyle>
            <a:lvl1pPr algn="l">
              <a:defRPr sz="2400" b="1" i="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/>
              <a:t>CLICK TO EDIT MASTER</a:t>
            </a:r>
            <a:br>
              <a:rPr lang="en-GB"/>
            </a:br>
            <a:r>
              <a:rPr lang="en-GB"/>
              <a:t>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9469E39-899B-A541-807D-6E514AF15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9667" y="63815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DAFD0C9-8BC0-5147-B74C-78C6A0363883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8657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57">
          <p15:clr>
            <a:srgbClr val="FBAE40"/>
          </p15:clr>
        </p15:guide>
        <p15:guide id="4" pos="7446">
          <p15:clr>
            <a:srgbClr val="FBAE40"/>
          </p15:clr>
        </p15:guide>
        <p15:guide id="5" orient="horz" pos="482">
          <p15:clr>
            <a:srgbClr val="FBAE40"/>
          </p15:clr>
        </p15:guide>
        <p15:guide id="6" orient="horz" pos="392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5.jp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11" Type="http://schemas.openxmlformats.org/officeDocument/2006/relationships/image" Target="../media/image12.svg"/><Relationship Id="rId5" Type="http://schemas.openxmlformats.org/officeDocument/2006/relationships/image" Target="../media/image9.svg"/><Relationship Id="rId10" Type="http://schemas.openxmlformats.org/officeDocument/2006/relationships/chart" Target="../charts/chart7.xml"/><Relationship Id="rId4" Type="http://schemas.openxmlformats.org/officeDocument/2006/relationships/image" Target="../media/image8.svg"/><Relationship Id="rId9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" y="-3749040"/>
            <a:ext cx="4206240" cy="4206240"/>
          </a:xfrm>
          <a:prstGeom prst="ellipse">
            <a:avLst/>
          </a:prstGeom>
          <a:solidFill>
            <a:srgbClr val="E8E8EC"/>
          </a:solidFill>
          <a:ln w="1270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242332" y="6019799"/>
            <a:ext cx="1707032" cy="1676399"/>
          </a:xfrm>
          <a:prstGeom prst="ellipse">
            <a:avLst/>
          </a:prstGeom>
          <a:solidFill>
            <a:srgbClr val="D8D8DE"/>
          </a:solidFill>
          <a:ln w="12700">
            <a:solidFill>
              <a:srgbClr val="D8D8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" name="Image 0" descr="D:\Apps\hr-rh-app\templates\exco\cover-assets\cover-bann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448" y="502920"/>
            <a:ext cx="10972800" cy="3171825"/>
          </a:xfrm>
          <a:prstGeom prst="rect">
            <a:avLst/>
          </a:prstGeom>
        </p:spPr>
      </p:pic>
      <p:pic>
        <p:nvPicPr>
          <p:cNvPr id="5" name="Image 1" descr="D:\Apps\hr-rh-app\templates\exco\cover-assets\cover-bad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22112" y="5092065"/>
            <a:ext cx="347472" cy="3474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4708017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EXCO MEETING HELD ON 31 JULY 2026 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pps\hr-rh-app\templates\exco\cover-assets\slide-fad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64008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365760" y="128016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PPC · HR EXCO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274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95360" y="201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Jul-26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594360" y="141732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94360" y="14173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80160" y="13990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80160" y="167335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Highlights · Lowlights · Focus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14884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594360" y="233172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594360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80160" y="23134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Summary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80160" y="258775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Comparison vs previous month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06324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594360" y="324612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594360" y="32461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80160" y="32278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80160" y="350215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· Headcount · Gender · Age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97764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594360" y="4160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280160" y="41422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Movements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280160" y="441655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movement · Overtime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89204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7"/>
          <p:cNvSpPr/>
          <p:nvPr/>
        </p:nvSpPr>
        <p:spPr>
          <a:xfrm>
            <a:off x="594360" y="507492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594360" y="50749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280160" y="50566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Overtime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280160" y="533095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 · Top 15 OT &amp; Leave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309360" y="123444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6446520" y="141732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6446520" y="14173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132320" y="13990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132320" y="167335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Topics · Sessions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309360" y="214884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7"/>
          <p:cNvSpPr/>
          <p:nvPr/>
        </p:nvSpPr>
        <p:spPr>
          <a:xfrm>
            <a:off x="6446520" y="233172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8"/>
          <p:cNvSpPr/>
          <p:nvPr/>
        </p:nvSpPr>
        <p:spPr>
          <a:xfrm>
            <a:off x="6446520" y="23317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132320" y="23134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 and Cahier des Charges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132320" y="258775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· FY27 · Cahier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309360" y="306324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2"/>
          <p:cNvSpPr/>
          <p:nvPr/>
        </p:nvSpPr>
        <p:spPr>
          <a:xfrm>
            <a:off x="6446520" y="324612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3"/>
          <p:cNvSpPr/>
          <p:nvPr/>
        </p:nvSpPr>
        <p:spPr>
          <a:xfrm>
            <a:off x="6446520" y="32461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132320" y="32278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Recruitment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7132320" y="350215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Replacements · New positions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309360" y="397764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0" name="Shape 47"/>
          <p:cNvSpPr/>
          <p:nvPr/>
        </p:nvSpPr>
        <p:spPr>
          <a:xfrm>
            <a:off x="6446520" y="416052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8"/>
          <p:cNvSpPr/>
          <p:nvPr/>
        </p:nvSpPr>
        <p:spPr>
          <a:xfrm>
            <a:off x="6446520" y="4160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7132320" y="41422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132320" y="441655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table · Progression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6309360" y="489204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635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5" name="Shape 52"/>
          <p:cNvSpPr/>
          <p:nvPr/>
        </p:nvSpPr>
        <p:spPr>
          <a:xfrm>
            <a:off x="6446520" y="5074920"/>
            <a:ext cx="502920" cy="411480"/>
          </a:xfrm>
          <a:prstGeom prst="roundRect">
            <a:avLst>
              <a:gd name="adj" fmla="val 13333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3"/>
          <p:cNvSpPr/>
          <p:nvPr/>
        </p:nvSpPr>
        <p:spPr>
          <a:xfrm>
            <a:off x="6446520" y="50749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7132320" y="50566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7132320" y="533095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 slide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pps\hr-rh-app\templates\exco\cover-assets\slide-fad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64008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292608" y="1463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92608" y="146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" y="128016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PPC · HR EXCO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" y="274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95360" y="201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Jul-26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65760" y="1115568"/>
            <a:ext cx="3749040" cy="54406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530352" y="1234440"/>
            <a:ext cx="347472" cy="34747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fr-FR" sz="1100" b="1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987552" y="12801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Highlights</a:t>
            </a:r>
            <a:endParaRPr lang="en-US" sz="13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548640" y="1755648"/>
            <a:ext cx="3383280" cy="4562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Cost vs Budget:</a:t>
            </a:r>
          </a:p>
          <a:p>
            <a:pPr marL="0" indent="0">
              <a:buNone/>
            </a:pPr>
            <a:endParaRPr lang="en-US" sz="1000" b="1" dirty="0">
              <a:solidFill>
                <a:srgbClr val="16161E"/>
              </a:solidFill>
              <a:latin typeface="Segoe UI" pitchFamily="34" charset="0"/>
              <a:cs typeface="Segoe UI" pitchFamily="34" charset="-120"/>
            </a:endParaRP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Electrification Project: </a:t>
            </a:r>
            <a:endParaRPr lang="en-US" sz="1000" dirty="0"/>
          </a:p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Completion: 80% </a:t>
            </a:r>
          </a:p>
          <a:p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Ongoing work:- Improvement of the grounding networks- Widening the control room to have access to the acquired cells Progress status: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Zamba 1st: two cabins installed, only the connection remains;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Malanga Cité: Snel have to send a letter to the </a:t>
            </a:r>
            <a:r>
              <a:rPr lang="en-US" sz="1000" b="1" dirty="0">
                <a:solidFill>
                  <a:schemeClr val="accent1">
                    <a:lumMod val="50000"/>
                  </a:schemeClr>
                </a:solidFill>
              </a:rPr>
              <a:t>AT </a:t>
            </a:r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of </a:t>
            </a:r>
            <a:r>
              <a:rPr lang="en-US" sz="1000" dirty="0" err="1">
                <a:solidFill>
                  <a:schemeClr val="accent1">
                    <a:lumMod val="50000"/>
                  </a:schemeClr>
                </a:solidFill>
              </a:rPr>
              <a:t>Songololo</a:t>
            </a:r>
            <a:r>
              <a:rPr lang="en-US" sz="1000" dirty="0">
                <a:solidFill>
                  <a:schemeClr val="accent1">
                    <a:lumMod val="50000"/>
                  </a:schemeClr>
                </a:solidFill>
              </a:rPr>
              <a:t> for the formalities of the new transformer location.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1" dirty="0">
              <a:solidFill>
                <a:srgbClr val="16161E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incentives paid: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 paid at Lubudi (100%), Zamba and HQ Kinshasa. Very positive reception on all three sites; staff committed to extra effort so the bonus becomes regular.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51960" y="1115568"/>
            <a:ext cx="3749040" cy="54406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416552" y="1261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73752" y="12801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Lowlights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434840" y="1755648"/>
            <a:ext cx="3383280" cy="4562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 Safety: </a:t>
            </a:r>
            <a:r>
              <a:rPr lang="en-US" sz="10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LOXEA accident near Nsele (Honoré Samba / Patrick Kodjowa). Investigations ongoing; CNPR engagement given Plant–HO accidents this year.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Resignations: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Clement Ndusha (Graduate) resigned in July (not yet in stats). Grassinda. Happy Iyanya — requested the 15th; asked to remain until 08/31 for handover (delay to confirm with </a:t>
            </a:r>
            <a:r>
              <a:rPr lang="en-US" sz="1000" dirty="0" err="1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ExCo</a:t>
            </a:r>
            <a:r>
              <a:rPr lang="en-US" sz="10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Recruitment: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of Lab Analyst (Zamba) declined the offer (re-advertise). CRO offers sent, awaiting response. Lab Analyst Plant and Warehouse Officer accepted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Relations: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Nanga clan is in the process of regaining management of ZTL.</a:t>
            </a:r>
          </a:p>
          <a:p>
            <a:pPr marL="0" indent="0">
              <a:buNone/>
            </a:pPr>
            <a:endParaRPr lang="en-US" sz="1000" dirty="0">
              <a:solidFill>
                <a:srgbClr val="16161E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8138160" y="1115568"/>
            <a:ext cx="3657600" cy="5440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762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8759952" y="12801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</a:t>
            </a:r>
            <a:endParaRPr lang="en-US" sz="1300" dirty="0">
              <a:solidFill>
                <a:srgbClr val="FFC000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8321040" y="1755648"/>
            <a:ext cx="3291840" cy="4562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 Day: </a:t>
            </a:r>
            <a:r>
              <a:rPr lang="en-US" sz="10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Confirmed — 22 Aug at Zamba Plant; 5 Sep at Head Office (Kinshasa). Priority is organisation of both events.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 Services replacement: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expected to close this month. Focus on transition and handover.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design payments: </a:t>
            </a:r>
            <a:endParaRPr lang="en-US" sz="1000" dirty="0"/>
          </a:p>
          <a:p>
            <a:r>
              <a:rPr lang="en-US" sz="1000" dirty="0">
                <a:solidFill>
                  <a:srgbClr val="16161E"/>
                </a:solidFill>
                <a:latin typeface="Segoe UI" pitchFamily="34" charset="0"/>
                <a:cs typeface="Segoe UI" pitchFamily="34" charset="-120"/>
              </a:rPr>
              <a:t>Regarding the office design in Kinshasa, we are awaiting the additional PR approvals in order to proceed with the posting and payment of the remaining balance for the works</a:t>
            </a:r>
          </a:p>
          <a:p>
            <a:endParaRPr lang="en-US" sz="1000" dirty="0">
              <a:solidFill>
                <a:srgbClr val="16161E"/>
              </a:solidFill>
              <a:latin typeface="Segoe UI" pitchFamily="34" charset="0"/>
              <a:cs typeface="Segoe UI" pitchFamily="34" charset="-120"/>
            </a:endParaRPr>
          </a:p>
          <a:p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 retirement — Charles Pongo-Pongo (QA Manager):  </a:t>
            </a:r>
            <a:r>
              <a:rPr lang="en-US" sz="1000" dirty="0">
                <a:solidFill>
                  <a:srgbClr val="16161E"/>
                </a:solidFill>
                <a:latin typeface="Segoe UI" pitchFamily="34" charset="0"/>
                <a:cs typeface="Segoe UI" pitchFamily="34" charset="-120"/>
              </a:rPr>
              <a:t>The recruitment of his replacement is underway</a:t>
            </a:r>
          </a:p>
          <a:p>
            <a:pPr marL="0" indent="0">
              <a:buNone/>
            </a:pPr>
            <a:endParaRPr lang="en-US" sz="1000" b="1" dirty="0">
              <a:solidFill>
                <a:srgbClr val="16161E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cases: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Yannick Kalambayi (Instrumentation); Toubi Nzazi (Drilling); Lab employee (mental health) — contract expires August.</a:t>
            </a:r>
            <a:endParaRPr lang="en-US" sz="1000" dirty="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B52688A-4318-C53E-0155-88C2F63CD65D}"/>
              </a:ext>
            </a:extLst>
          </p:cNvPr>
          <p:cNvSpPr/>
          <p:nvPr/>
        </p:nvSpPr>
        <p:spPr>
          <a:xfrm>
            <a:off x="4416552" y="1234440"/>
            <a:ext cx="347472" cy="347472"/>
          </a:xfrm>
          <a:prstGeom prst="ellipse">
            <a:avLst/>
          </a:prstGeom>
          <a:solidFill>
            <a:srgbClr val="C00000"/>
          </a:solidFill>
          <a:ln w="12700">
            <a:noFill/>
            <a:prstDash val="solid"/>
          </a:ln>
        </p:spPr>
        <p:txBody>
          <a:bodyPr/>
          <a:lstStyle/>
          <a:p>
            <a:endParaRPr lang="fr-FR" sz="1100" b="1" dirty="0">
              <a:solidFill>
                <a:schemeClr val="bg1"/>
              </a:solidFill>
            </a:endParaRPr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71452117-FD18-9DC3-E068-908F12203D62}"/>
              </a:ext>
            </a:extLst>
          </p:cNvPr>
          <p:cNvSpPr/>
          <p:nvPr/>
        </p:nvSpPr>
        <p:spPr>
          <a:xfrm>
            <a:off x="8275320" y="1235157"/>
            <a:ext cx="347472" cy="347472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  <p:txBody>
          <a:bodyPr/>
          <a:lstStyle/>
          <a:p>
            <a:endParaRPr lang="fr-FR" sz="11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pps\hr-rh-app\templates\exco\cover-assets\slide-fad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64008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292608" y="1463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92608" y="146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" y="128016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PPC · HR EXCO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" y="274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Summary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95360" y="201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Jul-26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65760" y="865090"/>
            <a:ext cx="3840480" cy="9144"/>
          </a:xfrm>
          <a:prstGeom prst="rect">
            <a:avLst/>
          </a:prstGeom>
          <a:solidFill>
            <a:srgbClr val="CFCFD6"/>
          </a:solidFill>
          <a:ln w="12700">
            <a:solidFill>
              <a:srgbClr val="CFCF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297680" y="77365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Headcount &amp; profile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46720" y="865090"/>
            <a:ext cx="3749040" cy="9144"/>
          </a:xfrm>
          <a:prstGeom prst="rect">
            <a:avLst/>
          </a:prstGeom>
          <a:solidFill>
            <a:srgbClr val="CFCFD6"/>
          </a:solidFill>
          <a:ln w="12700">
            <a:solidFill>
              <a:srgbClr val="CFCF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Shape 71"/>
          <p:cNvSpPr/>
          <p:nvPr/>
        </p:nvSpPr>
        <p:spPr>
          <a:xfrm>
            <a:off x="365760" y="3749040"/>
            <a:ext cx="3840480" cy="9144"/>
          </a:xfrm>
          <a:prstGeom prst="rect">
            <a:avLst/>
          </a:prstGeom>
          <a:solidFill>
            <a:srgbClr val="CFCFD6"/>
          </a:solidFill>
          <a:ln w="12700">
            <a:solidFill>
              <a:srgbClr val="CFCF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2"/>
          <p:cNvSpPr/>
          <p:nvPr/>
        </p:nvSpPr>
        <p:spPr>
          <a:xfrm>
            <a:off x="4297680" y="341555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Cost, productivity &amp; development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8046720" y="3749040"/>
            <a:ext cx="3749040" cy="9144"/>
          </a:xfrm>
          <a:prstGeom prst="rect">
            <a:avLst/>
          </a:prstGeom>
          <a:solidFill>
            <a:srgbClr val="CFCFD6"/>
          </a:solidFill>
          <a:ln w="12700">
            <a:solidFill>
              <a:srgbClr val="CFCF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28EE868-E90F-7B32-41A2-E3188B026698}"/>
              </a:ext>
            </a:extLst>
          </p:cNvPr>
          <p:cNvGrpSpPr/>
          <p:nvPr/>
        </p:nvGrpSpPr>
        <p:grpSpPr>
          <a:xfrm>
            <a:off x="320040" y="1021080"/>
            <a:ext cx="11704320" cy="2139696"/>
            <a:chOff x="320040" y="1021080"/>
            <a:chExt cx="11704320" cy="2139696"/>
          </a:xfrm>
        </p:grpSpPr>
        <p:sp>
          <p:nvSpPr>
            <p:cNvPr id="14" name="Shape 11"/>
            <p:cNvSpPr/>
            <p:nvPr/>
          </p:nvSpPr>
          <p:spPr>
            <a:xfrm>
              <a:off x="320040" y="1021080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Shape 12"/>
            <p:cNvSpPr/>
            <p:nvPr/>
          </p:nvSpPr>
          <p:spPr>
            <a:xfrm>
              <a:off x="320040" y="1021080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 13"/>
            <p:cNvSpPr/>
            <p:nvPr/>
          </p:nvSpPr>
          <p:spPr>
            <a:xfrm>
              <a:off x="502920" y="1149096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Headcount</a:t>
              </a:r>
              <a:endParaRPr lang="en-US" sz="11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502920" y="1386840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175</a:t>
              </a:r>
              <a:endParaRPr lang="en-US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502920" y="1752600"/>
              <a:ext cx="11031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800" dirty="0">
                  <a:solidFill>
                    <a:srgbClr val="C000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▼ 0.6% vs prev.</a:t>
              </a:r>
              <a:endParaRPr lang="en-US" sz="800" dirty="0">
                <a:solidFill>
                  <a:srgbClr val="C00000"/>
                </a:solidFill>
              </a:endParaRPr>
            </a:p>
          </p:txBody>
        </p:sp>
        <p:sp>
          <p:nvSpPr>
            <p:cNvPr id="19" name="Text 16"/>
            <p:cNvSpPr/>
            <p:nvPr/>
          </p:nvSpPr>
          <p:spPr>
            <a:xfrm>
              <a:off x="1263701" y="1752600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176</a:t>
              </a:r>
              <a:endParaRPr lang="en-US" sz="8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2679192" y="1021080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Shape 18"/>
            <p:cNvSpPr/>
            <p:nvPr/>
          </p:nvSpPr>
          <p:spPr>
            <a:xfrm>
              <a:off x="2679192" y="1021080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 19"/>
            <p:cNvSpPr/>
            <p:nvPr/>
          </p:nvSpPr>
          <p:spPr>
            <a:xfrm>
              <a:off x="2862072" y="1149096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Gender Ratio</a:t>
              </a:r>
              <a:endParaRPr lang="en-US" sz="11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2907792" y="1386840"/>
              <a:ext cx="201168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85% - 15%</a:t>
              </a:r>
              <a:endParaRPr lang="en-US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2862072" y="1752600"/>
              <a:ext cx="11031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vs prev. —</a:t>
              </a:r>
              <a:endParaRPr lang="en-US" sz="800" dirty="0"/>
            </a:p>
          </p:txBody>
        </p:sp>
        <p:sp>
          <p:nvSpPr>
            <p:cNvPr id="25" name="Text 22"/>
            <p:cNvSpPr/>
            <p:nvPr/>
          </p:nvSpPr>
          <p:spPr>
            <a:xfrm>
              <a:off x="3718103" y="1752600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/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85% H / 15% F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Shape 23"/>
            <p:cNvSpPr/>
            <p:nvPr/>
          </p:nvSpPr>
          <p:spPr>
            <a:xfrm>
              <a:off x="5038344" y="1021080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Shape 24"/>
            <p:cNvSpPr/>
            <p:nvPr/>
          </p:nvSpPr>
          <p:spPr>
            <a:xfrm>
              <a:off x="5038344" y="1021080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Text 25"/>
            <p:cNvSpPr/>
            <p:nvPr/>
          </p:nvSpPr>
          <p:spPr>
            <a:xfrm>
              <a:off x="5221224" y="1149096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Average Age</a:t>
              </a:r>
              <a:endParaRPr lang="en-US" sz="1100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5221224" y="1386840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40.01 yrs</a:t>
              </a:r>
              <a:endParaRPr lang="en-US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5221224" y="1752600"/>
              <a:ext cx="11031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C000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▲ 0.51% vs prev.</a:t>
              </a:r>
              <a:endParaRPr lang="en-US" sz="800" dirty="0">
                <a:solidFill>
                  <a:srgbClr val="C00000"/>
                </a:solidFill>
              </a:endParaRPr>
            </a:p>
          </p:txBody>
        </p:sp>
        <p:sp>
          <p:nvSpPr>
            <p:cNvPr id="31" name="Text 28"/>
            <p:cNvSpPr/>
            <p:nvPr/>
          </p:nvSpPr>
          <p:spPr>
            <a:xfrm>
              <a:off x="6071655" y="1752600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39.99 yrs</a:t>
              </a:r>
              <a:endParaRPr lang="en-US" sz="800" dirty="0"/>
            </a:p>
          </p:txBody>
        </p:sp>
        <p:sp>
          <p:nvSpPr>
            <p:cNvPr id="32" name="Shape 29"/>
            <p:cNvSpPr/>
            <p:nvPr/>
          </p:nvSpPr>
          <p:spPr>
            <a:xfrm>
              <a:off x="7397496" y="1021080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Shape 30"/>
            <p:cNvSpPr/>
            <p:nvPr/>
          </p:nvSpPr>
          <p:spPr>
            <a:xfrm>
              <a:off x="7397496" y="1021080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Text 31"/>
            <p:cNvSpPr/>
            <p:nvPr/>
          </p:nvSpPr>
          <p:spPr>
            <a:xfrm>
              <a:off x="7580376" y="1149096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Length of Service (years)</a:t>
              </a:r>
              <a:endParaRPr lang="en-US" sz="11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7580376" y="1386840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5.78</a:t>
              </a:r>
              <a:endParaRPr lang="en-US" dirty="0"/>
            </a:p>
          </p:txBody>
        </p:sp>
        <p:sp>
          <p:nvSpPr>
            <p:cNvPr id="36" name="Text 33"/>
            <p:cNvSpPr/>
            <p:nvPr/>
          </p:nvSpPr>
          <p:spPr>
            <a:xfrm>
              <a:off x="7580376" y="1752600"/>
              <a:ext cx="11031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800" dirty="0">
                  <a:solidFill>
                    <a:srgbClr val="C000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▼ 1.2% vs prev.</a:t>
              </a:r>
              <a:endParaRPr lang="en-US" sz="800" dirty="0">
                <a:solidFill>
                  <a:srgbClr val="C00000"/>
                </a:solidFill>
              </a:endParaRPr>
            </a:p>
          </p:txBody>
        </p:sp>
        <p:sp>
          <p:nvSpPr>
            <p:cNvPr id="37" name="Text 34"/>
            <p:cNvSpPr/>
            <p:nvPr/>
          </p:nvSpPr>
          <p:spPr>
            <a:xfrm>
              <a:off x="8341157" y="1752600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6</a:t>
              </a:r>
              <a:endParaRPr lang="en-US" sz="800" dirty="0"/>
            </a:p>
          </p:txBody>
        </p:sp>
        <p:sp>
          <p:nvSpPr>
            <p:cNvPr id="38" name="Shape 35"/>
            <p:cNvSpPr/>
            <p:nvPr/>
          </p:nvSpPr>
          <p:spPr>
            <a:xfrm>
              <a:off x="9756648" y="1021080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Shape 36"/>
            <p:cNvSpPr/>
            <p:nvPr/>
          </p:nvSpPr>
          <p:spPr>
            <a:xfrm>
              <a:off x="9756648" y="1021080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Text 37"/>
            <p:cNvSpPr/>
            <p:nvPr/>
          </p:nvSpPr>
          <p:spPr>
            <a:xfrm>
              <a:off x="9939528" y="1149096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Onboarding Survey</a:t>
              </a:r>
              <a:endParaRPr lang="en-US" sz="1100" dirty="0"/>
            </a:p>
          </p:txBody>
        </p:sp>
        <p:sp>
          <p:nvSpPr>
            <p:cNvPr id="41" name="Text 38"/>
            <p:cNvSpPr/>
            <p:nvPr/>
          </p:nvSpPr>
          <p:spPr>
            <a:xfrm>
              <a:off x="9939528" y="1386840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dirty="0"/>
                <a:t>57</a:t>
              </a:r>
              <a:r>
                <a:rPr lang="fr-FR" b="1" dirty="0"/>
                <a:t>.</a:t>
              </a:r>
              <a:r>
                <a:rPr lang="en-US" b="1" dirty="0"/>
                <a:t>1%</a:t>
              </a:r>
              <a:endParaRPr lang="fr-FR" sz="140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9939528" y="1752600"/>
              <a:ext cx="11031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vs prev. —</a:t>
              </a:r>
              <a:endParaRPr lang="en-US" sz="800" dirty="0"/>
            </a:p>
          </p:txBody>
        </p:sp>
        <p:sp>
          <p:nvSpPr>
            <p:cNvPr id="43" name="Text 40"/>
            <p:cNvSpPr/>
            <p:nvPr/>
          </p:nvSpPr>
          <p:spPr>
            <a:xfrm>
              <a:off x="10700309" y="1752600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57.1%</a:t>
              </a:r>
            </a:p>
          </p:txBody>
        </p:sp>
        <p:sp>
          <p:nvSpPr>
            <p:cNvPr id="44" name="Shape 41"/>
            <p:cNvSpPr/>
            <p:nvPr/>
          </p:nvSpPr>
          <p:spPr>
            <a:xfrm>
              <a:off x="320040" y="2136648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Shape 42"/>
            <p:cNvSpPr/>
            <p:nvPr/>
          </p:nvSpPr>
          <p:spPr>
            <a:xfrm>
              <a:off x="320040" y="2136648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Text 43"/>
            <p:cNvSpPr/>
            <p:nvPr/>
          </p:nvSpPr>
          <p:spPr>
            <a:xfrm>
              <a:off x="502920" y="2264664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Hires</a:t>
              </a:r>
              <a:endParaRPr lang="en-US" sz="1100" dirty="0"/>
            </a:p>
          </p:txBody>
        </p:sp>
        <p:sp>
          <p:nvSpPr>
            <p:cNvPr id="47" name="Text 44"/>
            <p:cNvSpPr/>
            <p:nvPr/>
          </p:nvSpPr>
          <p:spPr>
            <a:xfrm>
              <a:off x="502920" y="2502408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dirty="0"/>
            </a:p>
          </p:txBody>
        </p:sp>
        <p:sp>
          <p:nvSpPr>
            <p:cNvPr id="49" name="Text 46"/>
            <p:cNvSpPr/>
            <p:nvPr/>
          </p:nvSpPr>
          <p:spPr>
            <a:xfrm>
              <a:off x="1263701" y="2868168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</a:t>
              </a:r>
              <a:endParaRPr lang="en-US" sz="800" dirty="0"/>
            </a:p>
          </p:txBody>
        </p:sp>
        <p:sp>
          <p:nvSpPr>
            <p:cNvPr id="50" name="Shape 47"/>
            <p:cNvSpPr/>
            <p:nvPr/>
          </p:nvSpPr>
          <p:spPr>
            <a:xfrm>
              <a:off x="2679192" y="2136648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Shape 48"/>
            <p:cNvSpPr/>
            <p:nvPr/>
          </p:nvSpPr>
          <p:spPr>
            <a:xfrm>
              <a:off x="2679192" y="2136648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Text 49"/>
            <p:cNvSpPr/>
            <p:nvPr/>
          </p:nvSpPr>
          <p:spPr>
            <a:xfrm>
              <a:off x="2862072" y="2264664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Exits</a:t>
              </a:r>
              <a:endParaRPr lang="en-US" sz="1100" dirty="0"/>
            </a:p>
          </p:txBody>
        </p:sp>
        <p:sp>
          <p:nvSpPr>
            <p:cNvPr id="53" name="Text 50"/>
            <p:cNvSpPr/>
            <p:nvPr/>
          </p:nvSpPr>
          <p:spPr>
            <a:xfrm>
              <a:off x="2862072" y="2502408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</a:t>
              </a:r>
              <a:endParaRPr lang="en-US" dirty="0"/>
            </a:p>
          </p:txBody>
        </p:sp>
        <p:sp>
          <p:nvSpPr>
            <p:cNvPr id="55" name="Text 52"/>
            <p:cNvSpPr/>
            <p:nvPr/>
          </p:nvSpPr>
          <p:spPr>
            <a:xfrm>
              <a:off x="3730432" y="2859203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sz="800" dirty="0"/>
            </a:p>
          </p:txBody>
        </p:sp>
        <p:sp>
          <p:nvSpPr>
            <p:cNvPr id="56" name="Shape 53"/>
            <p:cNvSpPr/>
            <p:nvPr/>
          </p:nvSpPr>
          <p:spPr>
            <a:xfrm>
              <a:off x="5038344" y="2136648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57" name="Shape 54"/>
            <p:cNvSpPr/>
            <p:nvPr/>
          </p:nvSpPr>
          <p:spPr>
            <a:xfrm>
              <a:off x="5038344" y="2136648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Text 55"/>
            <p:cNvSpPr/>
            <p:nvPr/>
          </p:nvSpPr>
          <p:spPr>
            <a:xfrm>
              <a:off x="5221224" y="2264664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Turnover %</a:t>
              </a:r>
              <a:endParaRPr lang="en-US" sz="1100" dirty="0"/>
            </a:p>
          </p:txBody>
        </p:sp>
        <p:sp>
          <p:nvSpPr>
            <p:cNvPr id="59" name="Text 56"/>
            <p:cNvSpPr/>
            <p:nvPr/>
          </p:nvSpPr>
          <p:spPr>
            <a:xfrm>
              <a:off x="5221224" y="2502408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0.3%</a:t>
              </a:r>
              <a:endParaRPr lang="en-US" dirty="0"/>
            </a:p>
          </p:txBody>
        </p:sp>
        <p:sp>
          <p:nvSpPr>
            <p:cNvPr id="60" name="Text 57"/>
            <p:cNvSpPr/>
            <p:nvPr/>
          </p:nvSpPr>
          <p:spPr>
            <a:xfrm>
              <a:off x="5221224" y="2868168"/>
              <a:ext cx="11031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800" b="1" dirty="0">
                  <a:solidFill>
                    <a:srgbClr val="166534"/>
                  </a:solidFill>
                  <a:latin typeface="Segoe UI" pitchFamily="34" charset="0"/>
                  <a:cs typeface="Segoe UI" pitchFamily="34" charset="-120"/>
                </a:rPr>
                <a:t>▼ 67.23% vs prev.</a:t>
              </a:r>
            </a:p>
          </p:txBody>
        </p:sp>
        <p:sp>
          <p:nvSpPr>
            <p:cNvPr id="61" name="Text 58"/>
            <p:cNvSpPr/>
            <p:nvPr/>
          </p:nvSpPr>
          <p:spPr>
            <a:xfrm>
              <a:off x="6017865" y="2868168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0.9%</a:t>
              </a:r>
              <a:endParaRPr lang="en-US" sz="800" dirty="0"/>
            </a:p>
          </p:txBody>
        </p:sp>
        <p:sp>
          <p:nvSpPr>
            <p:cNvPr id="62" name="Shape 59"/>
            <p:cNvSpPr/>
            <p:nvPr/>
          </p:nvSpPr>
          <p:spPr>
            <a:xfrm>
              <a:off x="7397496" y="2136648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63" name="Shape 60"/>
            <p:cNvSpPr/>
            <p:nvPr/>
          </p:nvSpPr>
          <p:spPr>
            <a:xfrm>
              <a:off x="7397496" y="2136648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Text 61"/>
            <p:cNvSpPr/>
            <p:nvPr/>
          </p:nvSpPr>
          <p:spPr>
            <a:xfrm>
              <a:off x="7580376" y="2264664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Attrition rate %</a:t>
              </a:r>
              <a:endParaRPr lang="en-US" sz="1100" dirty="0"/>
            </a:p>
          </p:txBody>
        </p:sp>
        <p:sp>
          <p:nvSpPr>
            <p:cNvPr id="65" name="Text 62"/>
            <p:cNvSpPr/>
            <p:nvPr/>
          </p:nvSpPr>
          <p:spPr>
            <a:xfrm>
              <a:off x="7580376" y="2502408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0.6%</a:t>
              </a:r>
              <a:endParaRPr lang="en-US" dirty="0"/>
            </a:p>
          </p:txBody>
        </p:sp>
        <p:sp>
          <p:nvSpPr>
            <p:cNvPr id="66" name="Text 63"/>
            <p:cNvSpPr/>
            <p:nvPr/>
          </p:nvSpPr>
          <p:spPr>
            <a:xfrm>
              <a:off x="7580376" y="2868168"/>
              <a:ext cx="11031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166534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▲ 100% vs prev.</a:t>
              </a:r>
              <a:endParaRPr lang="en-US" sz="800" b="1" dirty="0"/>
            </a:p>
          </p:txBody>
        </p:sp>
        <p:sp>
          <p:nvSpPr>
            <p:cNvPr id="67" name="Text 64"/>
            <p:cNvSpPr/>
            <p:nvPr/>
          </p:nvSpPr>
          <p:spPr>
            <a:xfrm>
              <a:off x="8341157" y="2868168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0.0%</a:t>
              </a:r>
              <a:endParaRPr lang="en-US" sz="800" dirty="0"/>
            </a:p>
          </p:txBody>
        </p:sp>
        <p:sp>
          <p:nvSpPr>
            <p:cNvPr id="68" name="Shape 65"/>
            <p:cNvSpPr/>
            <p:nvPr/>
          </p:nvSpPr>
          <p:spPr>
            <a:xfrm>
              <a:off x="9756648" y="2136648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Shape 66"/>
            <p:cNvSpPr/>
            <p:nvPr/>
          </p:nvSpPr>
          <p:spPr>
            <a:xfrm>
              <a:off x="9756648" y="2136648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Text 67"/>
            <p:cNvSpPr/>
            <p:nvPr/>
          </p:nvSpPr>
          <p:spPr>
            <a:xfrm>
              <a:off x="9939528" y="2264664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Succession Coverage</a:t>
              </a:r>
              <a:endParaRPr lang="en-US" sz="1100" dirty="0"/>
            </a:p>
          </p:txBody>
        </p:sp>
        <p:sp>
          <p:nvSpPr>
            <p:cNvPr id="71" name="Text 68"/>
            <p:cNvSpPr/>
            <p:nvPr/>
          </p:nvSpPr>
          <p:spPr>
            <a:xfrm>
              <a:off x="9939528" y="2502408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0.0%</a:t>
              </a:r>
              <a:endParaRPr lang="en-US" dirty="0"/>
            </a:p>
          </p:txBody>
        </p:sp>
        <p:sp>
          <p:nvSpPr>
            <p:cNvPr id="72" name="Text 69"/>
            <p:cNvSpPr/>
            <p:nvPr/>
          </p:nvSpPr>
          <p:spPr>
            <a:xfrm>
              <a:off x="9939528" y="2868168"/>
              <a:ext cx="11031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0.0% vs prev. —</a:t>
              </a:r>
              <a:endParaRPr lang="en-US" sz="800" dirty="0"/>
            </a:p>
          </p:txBody>
        </p:sp>
        <p:sp>
          <p:nvSpPr>
            <p:cNvPr id="73" name="Text 70"/>
            <p:cNvSpPr/>
            <p:nvPr/>
          </p:nvSpPr>
          <p:spPr>
            <a:xfrm>
              <a:off x="10700309" y="2868168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0.0%</a:t>
              </a:r>
              <a:endParaRPr lang="en-US" sz="800" dirty="0"/>
            </a:p>
          </p:txBody>
        </p:sp>
        <p:pic>
          <p:nvPicPr>
            <p:cNvPr id="123" name="Picture 122" descr="Woman - Flat - Wired - Lordicon">
              <a:extLst>
                <a:ext uri="{FF2B5EF4-FFF2-40B4-BE49-F238E27FC236}">
                  <a16:creationId xmlns:a16="http://schemas.microsoft.com/office/drawing/2014/main" id="{573CCC92-413E-3867-EFA4-E56B8D7392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7948" y="1318430"/>
              <a:ext cx="440741" cy="4407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8" name="Picture 137" descr="User Male Icon SVG Vector &amp; PNG Free Download | UXWing">
              <a:extLst>
                <a:ext uri="{FF2B5EF4-FFF2-40B4-BE49-F238E27FC236}">
                  <a16:creationId xmlns:a16="http://schemas.microsoft.com/office/drawing/2014/main" id="{08D5982C-8396-2A83-DB3B-B3C260BC92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4097" y="1365573"/>
              <a:ext cx="353430" cy="3534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45E78C3-B789-3957-3F98-86DC1198A619}"/>
              </a:ext>
            </a:extLst>
          </p:cNvPr>
          <p:cNvGrpSpPr/>
          <p:nvPr/>
        </p:nvGrpSpPr>
        <p:grpSpPr>
          <a:xfrm>
            <a:off x="320040" y="3788486"/>
            <a:ext cx="11704320" cy="2139696"/>
            <a:chOff x="320040" y="3931920"/>
            <a:chExt cx="11704320" cy="2139696"/>
          </a:xfrm>
        </p:grpSpPr>
        <p:sp>
          <p:nvSpPr>
            <p:cNvPr id="77" name="Shape 74"/>
            <p:cNvSpPr/>
            <p:nvPr/>
          </p:nvSpPr>
          <p:spPr>
            <a:xfrm>
              <a:off x="320040" y="3931920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Shape 75"/>
            <p:cNvSpPr/>
            <p:nvPr/>
          </p:nvSpPr>
          <p:spPr>
            <a:xfrm>
              <a:off x="320040" y="3931920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Text 76"/>
            <p:cNvSpPr/>
            <p:nvPr/>
          </p:nvSpPr>
          <p:spPr>
            <a:xfrm>
              <a:off x="502920" y="4059936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Leave Balance (avg days)</a:t>
              </a:r>
              <a:endParaRPr lang="en-US" sz="1100" dirty="0"/>
            </a:p>
          </p:txBody>
        </p:sp>
        <p:sp>
          <p:nvSpPr>
            <p:cNvPr id="80" name="Text 77"/>
            <p:cNvSpPr/>
            <p:nvPr/>
          </p:nvSpPr>
          <p:spPr>
            <a:xfrm>
              <a:off x="502920" y="4297680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 days</a:t>
              </a:r>
              <a:endParaRPr lang="en-US" dirty="0"/>
            </a:p>
          </p:txBody>
        </p:sp>
        <p:sp>
          <p:nvSpPr>
            <p:cNvPr id="82" name="Text 79"/>
            <p:cNvSpPr/>
            <p:nvPr/>
          </p:nvSpPr>
          <p:spPr>
            <a:xfrm>
              <a:off x="1263701" y="4663440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19 days / </a:t>
              </a:r>
              <a:r>
                <a:rPr lang="en-US" sz="800" dirty="0" err="1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june</a:t>
              </a:r>
              <a:endParaRPr lang="en-US" sz="800" dirty="0"/>
            </a:p>
          </p:txBody>
        </p:sp>
        <p:sp>
          <p:nvSpPr>
            <p:cNvPr id="83" name="Shape 80"/>
            <p:cNvSpPr/>
            <p:nvPr/>
          </p:nvSpPr>
          <p:spPr>
            <a:xfrm>
              <a:off x="2679192" y="3931920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84" name="Shape 81"/>
            <p:cNvSpPr/>
            <p:nvPr/>
          </p:nvSpPr>
          <p:spPr>
            <a:xfrm>
              <a:off x="2679192" y="3931920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Text 82"/>
            <p:cNvSpPr/>
            <p:nvPr/>
          </p:nvSpPr>
          <p:spPr>
            <a:xfrm>
              <a:off x="2862072" y="4059936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Leave COST</a:t>
              </a:r>
              <a:endParaRPr lang="en-US" sz="1100" dirty="0"/>
            </a:p>
          </p:txBody>
        </p:sp>
        <p:sp>
          <p:nvSpPr>
            <p:cNvPr id="86" name="Text 83"/>
            <p:cNvSpPr/>
            <p:nvPr/>
          </p:nvSpPr>
          <p:spPr>
            <a:xfrm>
              <a:off x="2862072" y="4297680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$418,316.07</a:t>
              </a:r>
              <a:endParaRPr lang="en-US" dirty="0"/>
            </a:p>
          </p:txBody>
        </p:sp>
        <p:sp>
          <p:nvSpPr>
            <p:cNvPr id="87" name="Text 84"/>
            <p:cNvSpPr/>
            <p:nvPr/>
          </p:nvSpPr>
          <p:spPr>
            <a:xfrm>
              <a:off x="2862072" y="4663440"/>
              <a:ext cx="11031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B91C1C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▼ 3.7% vs prev.</a:t>
              </a:r>
              <a:endParaRPr lang="en-US" sz="800" b="1" dirty="0"/>
            </a:p>
          </p:txBody>
        </p:sp>
        <p:sp>
          <p:nvSpPr>
            <p:cNvPr id="88" name="Text 85"/>
            <p:cNvSpPr/>
            <p:nvPr/>
          </p:nvSpPr>
          <p:spPr>
            <a:xfrm>
              <a:off x="3622853" y="4663440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$435,850.00</a:t>
              </a:r>
              <a:endParaRPr lang="en-US" sz="800" dirty="0"/>
            </a:p>
          </p:txBody>
        </p:sp>
        <p:sp>
          <p:nvSpPr>
            <p:cNvPr id="89" name="Shape 86"/>
            <p:cNvSpPr/>
            <p:nvPr/>
          </p:nvSpPr>
          <p:spPr>
            <a:xfrm>
              <a:off x="5038344" y="3931920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90" name="Shape 87"/>
            <p:cNvSpPr/>
            <p:nvPr/>
          </p:nvSpPr>
          <p:spPr>
            <a:xfrm>
              <a:off x="5038344" y="3931920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Text 88"/>
            <p:cNvSpPr/>
            <p:nvPr/>
          </p:nvSpPr>
          <p:spPr>
            <a:xfrm>
              <a:off x="5221224" y="4059936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Staff cost</a:t>
              </a:r>
              <a:endParaRPr lang="en-US" sz="1100" dirty="0"/>
            </a:p>
          </p:txBody>
        </p:sp>
        <p:sp>
          <p:nvSpPr>
            <p:cNvPr id="92" name="Text 89"/>
            <p:cNvSpPr/>
            <p:nvPr/>
          </p:nvSpPr>
          <p:spPr>
            <a:xfrm>
              <a:off x="5221224" y="4297680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3,228.98</a:t>
              </a:r>
              <a:endParaRPr lang="en-US" dirty="0"/>
            </a:p>
          </p:txBody>
        </p:sp>
        <p:sp>
          <p:nvSpPr>
            <p:cNvPr id="93" name="Text 90"/>
            <p:cNvSpPr/>
            <p:nvPr/>
          </p:nvSpPr>
          <p:spPr>
            <a:xfrm>
              <a:off x="5221224" y="4663440"/>
              <a:ext cx="11031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800" b="1" dirty="0">
                  <a:solidFill>
                    <a:srgbClr val="C000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▲ 71% vs prev.</a:t>
              </a:r>
              <a:endParaRPr lang="en-US" sz="800" b="1" dirty="0">
                <a:solidFill>
                  <a:srgbClr val="C00000"/>
                </a:solidFill>
              </a:endParaRPr>
            </a:p>
          </p:txBody>
        </p:sp>
        <p:sp>
          <p:nvSpPr>
            <p:cNvPr id="94" name="Text 91"/>
            <p:cNvSpPr/>
            <p:nvPr/>
          </p:nvSpPr>
          <p:spPr>
            <a:xfrm>
              <a:off x="5982005" y="4663440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$941,257</a:t>
              </a:r>
              <a:endParaRPr lang="en-US" sz="800" dirty="0"/>
            </a:p>
          </p:txBody>
        </p:sp>
        <p:sp>
          <p:nvSpPr>
            <p:cNvPr id="95" name="Shape 92"/>
            <p:cNvSpPr/>
            <p:nvPr/>
          </p:nvSpPr>
          <p:spPr>
            <a:xfrm>
              <a:off x="7397496" y="3931920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96" name="Shape 93"/>
            <p:cNvSpPr/>
            <p:nvPr/>
          </p:nvSpPr>
          <p:spPr>
            <a:xfrm>
              <a:off x="7397496" y="3931920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7" name="Text 94"/>
            <p:cNvSpPr/>
            <p:nvPr/>
          </p:nvSpPr>
          <p:spPr>
            <a:xfrm>
              <a:off x="7580376" y="4059936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Overtime cost</a:t>
              </a:r>
              <a:endParaRPr lang="en-US" sz="1100" dirty="0"/>
            </a:p>
          </p:txBody>
        </p:sp>
        <p:sp>
          <p:nvSpPr>
            <p:cNvPr id="98" name="Text 95"/>
            <p:cNvSpPr/>
            <p:nvPr/>
          </p:nvSpPr>
          <p:spPr>
            <a:xfrm>
              <a:off x="7580376" y="4297680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$11,833</a:t>
              </a:r>
              <a:endParaRPr lang="en-US" dirty="0"/>
            </a:p>
          </p:txBody>
        </p:sp>
        <p:sp>
          <p:nvSpPr>
            <p:cNvPr id="99" name="Text 96"/>
            <p:cNvSpPr/>
            <p:nvPr/>
          </p:nvSpPr>
          <p:spPr>
            <a:xfrm>
              <a:off x="7580376" y="4663440"/>
              <a:ext cx="11031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800" b="1" dirty="0">
                  <a:solidFill>
                    <a:srgbClr val="166534"/>
                  </a:solidFill>
                  <a:latin typeface="Segoe UI" pitchFamily="34" charset="0"/>
                  <a:cs typeface="Segoe UI" pitchFamily="34" charset="-120"/>
                </a:rPr>
                <a:t>▲ -1.01% vs prev. </a:t>
              </a:r>
            </a:p>
          </p:txBody>
        </p:sp>
        <p:sp>
          <p:nvSpPr>
            <p:cNvPr id="100" name="Text 97"/>
            <p:cNvSpPr/>
            <p:nvPr/>
          </p:nvSpPr>
          <p:spPr>
            <a:xfrm>
              <a:off x="8385982" y="4663440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0"/>
              <a:r>
                <a:rPr lang="en-US" sz="800" b="1" i="0" u="none" strike="noStrike" kern="1200" baseline="0" dirty="0">
                  <a:solidFill>
                    <a:srgbClr val="1F2937"/>
                  </a:solidFill>
                  <a:latin typeface="Calibri" panose="020F0502020204030204" pitchFamily="34" charset="0"/>
                </a:rPr>
                <a:t>$</a:t>
              </a:r>
              <a:r>
                <a:rPr lang="en-US" sz="800" b="1" dirty="0">
                  <a:solidFill>
                    <a:srgbClr val="6B6B7A"/>
                  </a:solidFill>
                  <a:latin typeface="Segoe UI" pitchFamily="34" charset="0"/>
                  <a:cs typeface="Segoe UI" pitchFamily="34" charset="-120"/>
                </a:rPr>
                <a:t>11,955.24</a:t>
              </a:r>
            </a:p>
          </p:txBody>
        </p:sp>
        <p:sp>
          <p:nvSpPr>
            <p:cNvPr id="101" name="Shape 98"/>
            <p:cNvSpPr/>
            <p:nvPr/>
          </p:nvSpPr>
          <p:spPr>
            <a:xfrm>
              <a:off x="9756648" y="3931920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102" name="Shape 99"/>
            <p:cNvSpPr/>
            <p:nvPr/>
          </p:nvSpPr>
          <p:spPr>
            <a:xfrm>
              <a:off x="9756648" y="3931920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3" name="Text 100"/>
            <p:cNvSpPr/>
            <p:nvPr/>
          </p:nvSpPr>
          <p:spPr>
            <a:xfrm>
              <a:off x="9939528" y="4059936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Revenue / emp</a:t>
              </a:r>
              <a:endParaRPr lang="en-US" sz="1100" dirty="0"/>
            </a:p>
          </p:txBody>
        </p:sp>
        <p:sp>
          <p:nvSpPr>
            <p:cNvPr id="104" name="Text 101"/>
            <p:cNvSpPr/>
            <p:nvPr/>
          </p:nvSpPr>
          <p:spPr>
            <a:xfrm>
              <a:off x="9939528" y="4297680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cs typeface="Segoe UI" pitchFamily="34" charset="-120"/>
                </a:rPr>
                <a:t>202,404.45</a:t>
              </a:r>
              <a:endParaRPr lang="fr-FR" b="1" dirty="0">
                <a:solidFill>
                  <a:srgbClr val="16161E"/>
                </a:solidFill>
                <a:latin typeface="Segoe UI" pitchFamily="34" charset="0"/>
                <a:cs typeface="Segoe UI" pitchFamily="34" charset="-120"/>
              </a:endParaRPr>
            </a:p>
          </p:txBody>
        </p:sp>
        <p:sp>
          <p:nvSpPr>
            <p:cNvPr id="105" name="Text 102"/>
            <p:cNvSpPr/>
            <p:nvPr/>
          </p:nvSpPr>
          <p:spPr>
            <a:xfrm>
              <a:off x="9939528" y="4663440"/>
              <a:ext cx="11031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vs prev. —</a:t>
              </a:r>
              <a:endParaRPr lang="en-US" sz="800" dirty="0"/>
            </a:p>
          </p:txBody>
        </p:sp>
        <p:sp>
          <p:nvSpPr>
            <p:cNvPr id="106" name="Text 103"/>
            <p:cNvSpPr/>
            <p:nvPr/>
          </p:nvSpPr>
          <p:spPr>
            <a:xfrm>
              <a:off x="10700309" y="4663440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$51,800</a:t>
              </a:r>
              <a:endParaRPr lang="en-US" sz="800" dirty="0"/>
            </a:p>
          </p:txBody>
        </p:sp>
        <p:sp>
          <p:nvSpPr>
            <p:cNvPr id="107" name="Shape 104"/>
            <p:cNvSpPr/>
            <p:nvPr/>
          </p:nvSpPr>
          <p:spPr>
            <a:xfrm>
              <a:off x="320040" y="5047488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108" name="Shape 105"/>
            <p:cNvSpPr/>
            <p:nvPr/>
          </p:nvSpPr>
          <p:spPr>
            <a:xfrm>
              <a:off x="320040" y="5047488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9" name="Text 106"/>
            <p:cNvSpPr/>
            <p:nvPr/>
          </p:nvSpPr>
          <p:spPr>
            <a:xfrm>
              <a:off x="502920" y="5175504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Volume / emp</a:t>
              </a:r>
              <a:endParaRPr lang="en-US" sz="1100" dirty="0"/>
            </a:p>
          </p:txBody>
        </p:sp>
        <p:sp>
          <p:nvSpPr>
            <p:cNvPr id="110" name="Text 107"/>
            <p:cNvSpPr/>
            <p:nvPr/>
          </p:nvSpPr>
          <p:spPr>
            <a:xfrm>
              <a:off x="502920" y="5413248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dirty="0">
                  <a:latin typeface="Segoe UI" charset="0"/>
                  <a:ea typeface="Segoe UI" charset="0"/>
                  <a:cs typeface="Segoe UI" charset="0"/>
                </a:rPr>
                <a:t>1,279.03</a:t>
              </a:r>
            </a:p>
          </p:txBody>
        </p:sp>
        <p:sp>
          <p:nvSpPr>
            <p:cNvPr id="111" name="Text 108"/>
            <p:cNvSpPr/>
            <p:nvPr/>
          </p:nvSpPr>
          <p:spPr>
            <a:xfrm>
              <a:off x="502920" y="5779008"/>
              <a:ext cx="11031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vs prev. —</a:t>
              </a:r>
              <a:endParaRPr lang="en-US" sz="800" dirty="0"/>
            </a:p>
          </p:txBody>
        </p:sp>
        <p:sp>
          <p:nvSpPr>
            <p:cNvPr id="112" name="Text 109"/>
            <p:cNvSpPr/>
            <p:nvPr/>
          </p:nvSpPr>
          <p:spPr>
            <a:xfrm>
              <a:off x="1263701" y="5779008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327.53</a:t>
              </a:r>
            </a:p>
          </p:txBody>
        </p:sp>
        <p:sp>
          <p:nvSpPr>
            <p:cNvPr id="113" name="Shape 110"/>
            <p:cNvSpPr/>
            <p:nvPr/>
          </p:nvSpPr>
          <p:spPr>
            <a:xfrm>
              <a:off x="2679192" y="5047488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114" name="Shape 111"/>
            <p:cNvSpPr/>
            <p:nvPr/>
          </p:nvSpPr>
          <p:spPr>
            <a:xfrm>
              <a:off x="2679192" y="5047488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5" name="Text 112"/>
            <p:cNvSpPr/>
            <p:nvPr/>
          </p:nvSpPr>
          <p:spPr>
            <a:xfrm>
              <a:off x="2862072" y="5175504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Training Cost</a:t>
              </a:r>
              <a:endParaRPr lang="en-US" sz="1100" dirty="0"/>
            </a:p>
          </p:txBody>
        </p:sp>
        <p:sp>
          <p:nvSpPr>
            <p:cNvPr id="116" name="Text 113"/>
            <p:cNvSpPr/>
            <p:nvPr/>
          </p:nvSpPr>
          <p:spPr>
            <a:xfrm>
              <a:off x="2862072" y="5413248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dirty="0"/>
            </a:p>
          </p:txBody>
        </p:sp>
        <p:sp>
          <p:nvSpPr>
            <p:cNvPr id="118" name="Text 115"/>
            <p:cNvSpPr/>
            <p:nvPr/>
          </p:nvSpPr>
          <p:spPr>
            <a:xfrm>
              <a:off x="3622853" y="5779008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—</a:t>
              </a:r>
              <a:endParaRPr lang="en-US" sz="800" dirty="0"/>
            </a:p>
          </p:txBody>
        </p:sp>
        <p:sp>
          <p:nvSpPr>
            <p:cNvPr id="119" name="Shape 116"/>
            <p:cNvSpPr/>
            <p:nvPr/>
          </p:nvSpPr>
          <p:spPr>
            <a:xfrm>
              <a:off x="5038344" y="5047488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120" name="Shape 117"/>
            <p:cNvSpPr/>
            <p:nvPr/>
          </p:nvSpPr>
          <p:spPr>
            <a:xfrm>
              <a:off x="5038344" y="5047488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1" name="Text 118"/>
            <p:cNvSpPr/>
            <p:nvPr/>
          </p:nvSpPr>
          <p:spPr>
            <a:xfrm>
              <a:off x="5221224" y="5175504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Training Hours</a:t>
              </a:r>
              <a:endParaRPr lang="en-US" sz="1100" dirty="0"/>
            </a:p>
          </p:txBody>
        </p:sp>
        <p:sp>
          <p:nvSpPr>
            <p:cNvPr id="122" name="Text 119"/>
            <p:cNvSpPr/>
            <p:nvPr/>
          </p:nvSpPr>
          <p:spPr>
            <a:xfrm>
              <a:off x="5221224" y="5413248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</a:t>
              </a:r>
              <a:endParaRPr lang="en-US" dirty="0"/>
            </a:p>
          </p:txBody>
        </p:sp>
        <p:sp>
          <p:nvSpPr>
            <p:cNvPr id="124" name="Text 121"/>
            <p:cNvSpPr/>
            <p:nvPr/>
          </p:nvSpPr>
          <p:spPr>
            <a:xfrm>
              <a:off x="5982005" y="5779008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—</a:t>
              </a:r>
              <a:endParaRPr lang="en-US" sz="800" dirty="0"/>
            </a:p>
          </p:txBody>
        </p:sp>
        <p:sp>
          <p:nvSpPr>
            <p:cNvPr id="125" name="Shape 122"/>
            <p:cNvSpPr/>
            <p:nvPr/>
          </p:nvSpPr>
          <p:spPr>
            <a:xfrm>
              <a:off x="7397496" y="5047488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126" name="Shape 123"/>
            <p:cNvSpPr/>
            <p:nvPr/>
          </p:nvSpPr>
          <p:spPr>
            <a:xfrm>
              <a:off x="7397496" y="5047488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7" name="Text 124"/>
            <p:cNvSpPr/>
            <p:nvPr/>
          </p:nvSpPr>
          <p:spPr>
            <a:xfrm>
              <a:off x="7580376" y="5175504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Employee Engagement</a:t>
              </a:r>
              <a:endParaRPr lang="en-US" sz="1100" dirty="0"/>
            </a:p>
          </p:txBody>
        </p:sp>
        <p:sp>
          <p:nvSpPr>
            <p:cNvPr id="128" name="Text 125"/>
            <p:cNvSpPr/>
            <p:nvPr/>
          </p:nvSpPr>
          <p:spPr>
            <a:xfrm>
              <a:off x="7580376" y="5413248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dirty="0"/>
                <a:t>89.8</a:t>
              </a:r>
              <a:r>
                <a:rPr lang="fr-FR" b="1" dirty="0"/>
                <a:t>.0</a:t>
              </a:r>
              <a:endParaRPr lang="fr-FR" dirty="0"/>
            </a:p>
          </p:txBody>
        </p:sp>
        <p:sp>
          <p:nvSpPr>
            <p:cNvPr id="129" name="Text 126"/>
            <p:cNvSpPr/>
            <p:nvPr/>
          </p:nvSpPr>
          <p:spPr>
            <a:xfrm>
              <a:off x="7580376" y="5779008"/>
              <a:ext cx="11031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0.0% vs prev. —</a:t>
              </a:r>
              <a:endParaRPr lang="en-US" sz="800" dirty="0"/>
            </a:p>
          </p:txBody>
        </p:sp>
        <p:sp>
          <p:nvSpPr>
            <p:cNvPr id="130" name="Text 127"/>
            <p:cNvSpPr/>
            <p:nvPr/>
          </p:nvSpPr>
          <p:spPr>
            <a:xfrm>
              <a:off x="8341157" y="5779008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89.8.0</a:t>
              </a:r>
            </a:p>
          </p:txBody>
        </p:sp>
        <p:sp>
          <p:nvSpPr>
            <p:cNvPr id="131" name="Shape 128"/>
            <p:cNvSpPr/>
            <p:nvPr/>
          </p:nvSpPr>
          <p:spPr>
            <a:xfrm>
              <a:off x="9756648" y="5047488"/>
              <a:ext cx="2267712" cy="1024128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0E0E6"/>
              </a:solidFill>
              <a:prstDash val="solid"/>
            </a:ln>
            <a:effectLst>
              <a:outerShdw blurRad="76200" dist="12700" dir="162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132" name="Shape 129"/>
            <p:cNvSpPr/>
            <p:nvPr/>
          </p:nvSpPr>
          <p:spPr>
            <a:xfrm>
              <a:off x="9756648" y="5047488"/>
              <a:ext cx="64008" cy="102412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3" name="Text 130"/>
            <p:cNvSpPr/>
            <p:nvPr/>
          </p:nvSpPr>
          <p:spPr>
            <a:xfrm>
              <a:off x="9939528" y="5175504"/>
              <a:ext cx="194767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306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Competencies Gap Coverage</a:t>
              </a:r>
              <a:endParaRPr lang="en-US" sz="1100" dirty="0"/>
            </a:p>
          </p:txBody>
        </p:sp>
        <p:sp>
          <p:nvSpPr>
            <p:cNvPr id="140" name="Text 68">
              <a:extLst>
                <a:ext uri="{FF2B5EF4-FFF2-40B4-BE49-F238E27FC236}">
                  <a16:creationId xmlns:a16="http://schemas.microsoft.com/office/drawing/2014/main" id="{F19A8C14-05EB-9D8B-83EB-8DA59F5F76E7}"/>
                </a:ext>
              </a:extLst>
            </p:cNvPr>
            <p:cNvSpPr/>
            <p:nvPr/>
          </p:nvSpPr>
          <p:spPr>
            <a:xfrm>
              <a:off x="9966423" y="5452515"/>
              <a:ext cx="1947672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16161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0.0%</a:t>
              </a:r>
              <a:endParaRPr lang="en-US" dirty="0"/>
            </a:p>
          </p:txBody>
        </p:sp>
        <p:sp>
          <p:nvSpPr>
            <p:cNvPr id="142" name="Text 69">
              <a:extLst>
                <a:ext uri="{FF2B5EF4-FFF2-40B4-BE49-F238E27FC236}">
                  <a16:creationId xmlns:a16="http://schemas.microsoft.com/office/drawing/2014/main" id="{FBE68339-791C-484C-763E-061A08B67A5B}"/>
                </a:ext>
              </a:extLst>
            </p:cNvPr>
            <p:cNvSpPr/>
            <p:nvPr/>
          </p:nvSpPr>
          <p:spPr>
            <a:xfrm>
              <a:off x="9966423" y="5818275"/>
              <a:ext cx="11031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0.0% vs prev. —</a:t>
              </a:r>
              <a:endParaRPr lang="en-US" sz="800" dirty="0"/>
            </a:p>
          </p:txBody>
        </p:sp>
        <p:sp>
          <p:nvSpPr>
            <p:cNvPr id="144" name="Text 70">
              <a:extLst>
                <a:ext uri="{FF2B5EF4-FFF2-40B4-BE49-F238E27FC236}">
                  <a16:creationId xmlns:a16="http://schemas.microsoft.com/office/drawing/2014/main" id="{96A546B8-F411-B6BE-F8E9-49522BD0A346}"/>
                </a:ext>
              </a:extLst>
            </p:cNvPr>
            <p:cNvSpPr/>
            <p:nvPr/>
          </p:nvSpPr>
          <p:spPr>
            <a:xfrm>
              <a:off x="10727204" y="5818275"/>
              <a:ext cx="114117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800" dirty="0">
                  <a:solidFill>
                    <a:srgbClr val="6B6B7A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0.0%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pps\hr-rh-app\templates\exco\cover-assets\slide-fad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965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64008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292608" y="1463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92608" y="146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" y="128016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PPC · HR EXCO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" y="274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KPI — Trends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95360" y="201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Jul-26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256032" y="841248"/>
            <a:ext cx="11658600" cy="576072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1016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9601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Financial KPIs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1234440"/>
            <a:ext cx="11155680" cy="16459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656651"/>
              </p:ext>
            </p:extLst>
          </p:nvPr>
        </p:nvGraphicFramePr>
        <p:xfrm>
          <a:off x="502920" y="1325880"/>
          <a:ext cx="11155688" cy="1719072"/>
        </p:xfrm>
        <a:graphic>
          <a:graphicData uri="http://schemas.openxmlformats.org/drawingml/2006/table">
            <a:tbl>
              <a:tblPr/>
              <a:tblGrid>
                <a:gridCol w="1412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56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56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96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15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15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15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150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61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938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088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507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1032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9150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 26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OCT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YTD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BUDGET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Staff Cost (000 USD)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804.78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898.10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798.14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941.26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latin typeface="Segoe UI" charset="0"/>
                          <a:ea typeface="Segoe UI" charset="0"/>
                          <a:cs typeface="Segoe UI" charset="0"/>
                        </a:rPr>
                        <a:t>3228.979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5,866.46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6,525.99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Ton per Employee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271.36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187.30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362.68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327.53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latin typeface="Segoe UI" charset="0"/>
                          <a:ea typeface="Segoe UI" charset="0"/>
                          <a:cs typeface="Segoe UI" charset="0"/>
                        </a:rPr>
                        <a:t>1,279.03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2,152.13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2,451.22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 per Employee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47,011.60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31,530.70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59,536.15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51,800.29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latin typeface="Segoe UI" charset="0"/>
                          <a:ea typeface="Segoe UI" charset="0"/>
                          <a:cs typeface="Segoe UI" charset="0"/>
                        </a:rPr>
                        <a:t>202,404.45</a:t>
                      </a: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344,526.82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403,746.79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85%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502920" y="3300984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Headcount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" y="3575304"/>
            <a:ext cx="11155680" cy="16459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326911"/>
              </p:ext>
            </p:extLst>
          </p:nvPr>
        </p:nvGraphicFramePr>
        <p:xfrm>
          <a:off x="502920" y="3666744"/>
          <a:ext cx="11155680" cy="257860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 26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OCT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Jun-26 → Jul-26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YTD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3061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charset="0"/>
                          <a:cs typeface="Segoe UI" pitchFamily="34" charset="-120"/>
                        </a:rPr>
                        <a:t>-1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track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HQ and Regions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3061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charset="0"/>
                          <a:cs typeface="Segoe UI" pitchFamily="34" charset="-120"/>
                        </a:rPr>
                        <a:t>+0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track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Lubudi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3061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charset="0"/>
                          <a:cs typeface="Segoe UI" pitchFamily="34" charset="-120"/>
                        </a:rPr>
                        <a:t>+0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track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Graduates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3061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track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3061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track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pps\hr-rh-app\templates\exco\cover-assets\slide-fad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64008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292608" y="1463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92608" y="146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" y="128016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PPC · HR EXCO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" y="274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KPI — Trends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95360" y="201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Jul-26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256032" y="841248"/>
            <a:ext cx="11658600" cy="576072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1016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9601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Gender RATIO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1234440"/>
            <a:ext cx="11155680" cy="16459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067858"/>
              </p:ext>
            </p:extLst>
          </p:nvPr>
        </p:nvGraphicFramePr>
        <p:xfrm>
          <a:off x="502920" y="1325880"/>
          <a:ext cx="11155680" cy="150876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Gender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 26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OCT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Jul-26 — Sites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Jul-26 — HQ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85%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3061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85%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Female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3061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502920" y="309067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AGE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02920" y="3364992"/>
            <a:ext cx="11155680" cy="16459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428083"/>
              </p:ext>
            </p:extLst>
          </p:nvPr>
        </p:nvGraphicFramePr>
        <p:xfrm>
          <a:off x="502920" y="3456432"/>
          <a:ext cx="11155679" cy="201168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8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80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80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80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80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80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80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800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800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800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2800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 26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OCT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Average Age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39.8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39.9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39.9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3061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Male Average Age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3061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Female Average Age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36.3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36.4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36.5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36.7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3061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36.7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pps\hr-rh-app\templates\exco\cover-assets\slide-fad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64008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292608" y="1463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92608" y="146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" y="128016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PPC · HR EXCO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" y="274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KPI AND DIVERSITY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95360" y="201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Jul-26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256032" y="841248"/>
            <a:ext cx="11658600" cy="576072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1016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02920" y="9144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Staff Movement — IN / OUT YTD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1188720"/>
            <a:ext cx="11155680" cy="16459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928713"/>
              </p:ext>
            </p:extLst>
          </p:nvPr>
        </p:nvGraphicFramePr>
        <p:xfrm>
          <a:off x="502920" y="1280160"/>
          <a:ext cx="11155682" cy="1975104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0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0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60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60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60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60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600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7600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600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7600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7600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— OUT YTD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 26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OCT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FY26 YTD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3061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3061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Attrition Rate (%)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3061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1.71%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Turnover (%)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0.9%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3061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2.02%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Headcount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174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3061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9" name="Group 38">
            <a:extLst>
              <a:ext uri="{FF2B5EF4-FFF2-40B4-BE49-F238E27FC236}">
                <a16:creationId xmlns:a16="http://schemas.microsoft.com/office/drawing/2014/main" id="{8B2B2864-E8FC-6BE3-B0E1-ED89A6E60B0A}"/>
              </a:ext>
            </a:extLst>
          </p:cNvPr>
          <p:cNvGrpSpPr/>
          <p:nvPr/>
        </p:nvGrpSpPr>
        <p:grpSpPr>
          <a:xfrm>
            <a:off x="512545" y="3342370"/>
            <a:ext cx="3657600" cy="384048"/>
            <a:chOff x="320040" y="3246120"/>
            <a:chExt cx="3657600" cy="384048"/>
          </a:xfrm>
        </p:grpSpPr>
        <p:sp>
          <p:nvSpPr>
            <p:cNvPr id="16" name="Shape 12"/>
            <p:cNvSpPr/>
            <p:nvPr/>
          </p:nvSpPr>
          <p:spPr>
            <a:xfrm>
              <a:off x="320040" y="3246120"/>
              <a:ext cx="3657600" cy="384048"/>
            </a:xfrm>
            <a:prstGeom prst="rect">
              <a:avLst/>
            </a:prstGeom>
            <a:solidFill>
              <a:srgbClr val="E30613"/>
            </a:solidFill>
            <a:ln w="12700">
              <a:solidFill>
                <a:srgbClr val="E3061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 13"/>
            <p:cNvSpPr/>
            <p:nvPr/>
          </p:nvSpPr>
          <p:spPr>
            <a:xfrm>
              <a:off x="411480" y="3264408"/>
              <a:ext cx="34747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Age Distribution</a:t>
              </a:r>
              <a:endParaRPr lang="en-US" sz="1000" dirty="0"/>
            </a:p>
          </p:txBody>
        </p:sp>
      </p:grpSp>
      <p:sp>
        <p:nvSpPr>
          <p:cNvPr id="18" name="Text 14"/>
          <p:cNvSpPr/>
          <p:nvPr/>
        </p:nvSpPr>
        <p:spPr>
          <a:xfrm>
            <a:off x="411480" y="342900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459F3C6-5AB7-2D99-ED53-8F32E6DB8DD0}"/>
              </a:ext>
            </a:extLst>
          </p:cNvPr>
          <p:cNvGrpSpPr/>
          <p:nvPr/>
        </p:nvGrpSpPr>
        <p:grpSpPr>
          <a:xfrm>
            <a:off x="4251783" y="3337560"/>
            <a:ext cx="3657600" cy="384048"/>
            <a:chOff x="4160520" y="3246120"/>
            <a:chExt cx="3657600" cy="384048"/>
          </a:xfrm>
        </p:grpSpPr>
        <p:sp>
          <p:nvSpPr>
            <p:cNvPr id="21" name="Shape 16"/>
            <p:cNvSpPr/>
            <p:nvPr/>
          </p:nvSpPr>
          <p:spPr>
            <a:xfrm>
              <a:off x="4160520" y="3246120"/>
              <a:ext cx="3657600" cy="384048"/>
            </a:xfrm>
            <a:prstGeom prst="rect">
              <a:avLst/>
            </a:prstGeom>
            <a:solidFill>
              <a:srgbClr val="0A0A0A"/>
            </a:solidFill>
            <a:ln w="12700">
              <a:solidFill>
                <a:srgbClr val="0A0A0A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 17"/>
            <p:cNvSpPr/>
            <p:nvPr/>
          </p:nvSpPr>
          <p:spPr>
            <a:xfrm>
              <a:off x="4251960" y="3264408"/>
              <a:ext cx="1555115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Length of Service</a:t>
              </a:r>
              <a:endParaRPr lang="en-US" sz="1000" dirty="0"/>
            </a:p>
          </p:txBody>
        </p:sp>
        <p:sp>
          <p:nvSpPr>
            <p:cNvPr id="23" name="Text 18"/>
            <p:cNvSpPr/>
            <p:nvPr/>
          </p:nvSpPr>
          <p:spPr>
            <a:xfrm>
              <a:off x="4251960" y="3429000"/>
              <a:ext cx="1124712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F5E6A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5.78 years</a:t>
              </a:r>
              <a:endParaRPr lang="en-US" sz="80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61EEEB-282D-5C34-2FE9-9B77034A1179}"/>
              </a:ext>
            </a:extLst>
          </p:cNvPr>
          <p:cNvGrpSpPr/>
          <p:nvPr/>
        </p:nvGrpSpPr>
        <p:grpSpPr>
          <a:xfrm>
            <a:off x="8001000" y="3337560"/>
            <a:ext cx="3657600" cy="384048"/>
            <a:chOff x="8001000" y="3246120"/>
            <a:chExt cx="3657600" cy="384048"/>
          </a:xfrm>
        </p:grpSpPr>
        <p:sp>
          <p:nvSpPr>
            <p:cNvPr id="26" name="Shape 20"/>
            <p:cNvSpPr/>
            <p:nvPr/>
          </p:nvSpPr>
          <p:spPr>
            <a:xfrm>
              <a:off x="8001000" y="3246120"/>
              <a:ext cx="3657600" cy="384048"/>
            </a:xfrm>
            <a:prstGeom prst="rect">
              <a:avLst/>
            </a:prstGeom>
            <a:solidFill>
              <a:srgbClr val="B0050F"/>
            </a:solidFill>
            <a:ln w="12700">
              <a:solidFill>
                <a:srgbClr val="B0050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Text 21"/>
            <p:cNvSpPr/>
            <p:nvPr/>
          </p:nvSpPr>
          <p:spPr>
            <a:xfrm>
              <a:off x="8092440" y="3264408"/>
              <a:ext cx="34747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Departure and Termination</a:t>
              </a:r>
              <a:endParaRPr lang="en-US" sz="1000" dirty="0"/>
            </a:p>
          </p:txBody>
        </p:sp>
      </p:grp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C8F16320-4550-5ABE-9CF7-E6A1A17FB7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5325152"/>
              </p:ext>
            </p:extLst>
          </p:nvPr>
        </p:nvGraphicFramePr>
        <p:xfrm>
          <a:off x="8003406" y="3703321"/>
          <a:ext cx="3460750" cy="26039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51E34520-86D5-3462-04FA-DDE72A6C11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4676910"/>
              </p:ext>
            </p:extLst>
          </p:nvPr>
        </p:nvGraphicFramePr>
        <p:xfrm>
          <a:off x="522170" y="3703320"/>
          <a:ext cx="3646036" cy="2603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1F0174BC-C8B2-6DCE-7B35-D7ADC630AD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1222911"/>
              </p:ext>
            </p:extLst>
          </p:nvPr>
        </p:nvGraphicFramePr>
        <p:xfrm>
          <a:off x="4251783" y="3703321"/>
          <a:ext cx="3646036" cy="2476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427318-1D7C-D17B-74F4-4438B33B5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pps\hr-rh-app\templates\exco\cover-assets\slide-fade.jpg">
            <a:extLst>
              <a:ext uri="{FF2B5EF4-FFF2-40B4-BE49-F238E27FC236}">
                <a16:creationId xmlns:a16="http://schemas.microsoft.com/office/drawing/2014/main" id="{C114D7FF-15AA-1ED3-595A-02FDE2BC9A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EEAA435-1434-6715-290D-FA9A654562A9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93F8AA8-A777-1548-ED39-6ACE287145A5}"/>
              </a:ext>
            </a:extLst>
          </p:cNvPr>
          <p:cNvSpPr/>
          <p:nvPr/>
        </p:nvSpPr>
        <p:spPr>
          <a:xfrm>
            <a:off x="0" y="64008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501F7F4-D19D-932F-5E9E-E90D36700947}"/>
              </a:ext>
            </a:extLst>
          </p:cNvPr>
          <p:cNvSpPr/>
          <p:nvPr/>
        </p:nvSpPr>
        <p:spPr>
          <a:xfrm>
            <a:off x="292608" y="1463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F6DE83-AF70-4308-CD44-D7740576ED22}"/>
              </a:ext>
            </a:extLst>
          </p:cNvPr>
          <p:cNvSpPr/>
          <p:nvPr/>
        </p:nvSpPr>
        <p:spPr>
          <a:xfrm>
            <a:off x="292608" y="146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505A2BD-9B4A-3793-0316-649B956F4CC8}"/>
              </a:ext>
            </a:extLst>
          </p:cNvPr>
          <p:cNvSpPr/>
          <p:nvPr/>
        </p:nvSpPr>
        <p:spPr>
          <a:xfrm>
            <a:off x="804672" y="128016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PPC · HR EXCO</a:t>
            </a:r>
            <a:endParaRPr lang="en-US" sz="9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6C19C4D-3D13-D1E7-983F-69A2219CA84C}"/>
              </a:ext>
            </a:extLst>
          </p:cNvPr>
          <p:cNvSpPr/>
          <p:nvPr/>
        </p:nvSpPr>
        <p:spPr>
          <a:xfrm>
            <a:off x="804672" y="274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KPI AND DIVERSITY</a:t>
            </a:r>
            <a:endParaRPr lang="en-US" sz="18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979D730-22BD-01A8-7823-CE3132714294}"/>
              </a:ext>
            </a:extLst>
          </p:cNvPr>
          <p:cNvSpPr/>
          <p:nvPr/>
        </p:nvSpPr>
        <p:spPr>
          <a:xfrm>
            <a:off x="8595360" y="201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Jul-26</a:t>
            </a:r>
            <a:endParaRPr lang="en-US" sz="12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31C03DA-58D6-3870-9E7B-4BAEAE2E5B5F}"/>
              </a:ext>
            </a:extLst>
          </p:cNvPr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A6CACC3-340E-2998-E9AC-95CA6DAD5AC5}"/>
              </a:ext>
            </a:extLst>
          </p:cNvPr>
          <p:cNvSpPr/>
          <p:nvPr/>
        </p:nvSpPr>
        <p:spPr>
          <a:xfrm>
            <a:off x="292608" y="841248"/>
            <a:ext cx="11658600" cy="576072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1016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2CAD064-D6A9-1158-35DB-CC03F0F020DF}"/>
              </a:ext>
            </a:extLst>
          </p:cNvPr>
          <p:cNvSpPr/>
          <p:nvPr/>
        </p:nvSpPr>
        <p:spPr>
          <a:xfrm>
            <a:off x="502920" y="9144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Leaves</a:t>
            </a:r>
            <a:endParaRPr lang="en-US" sz="13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CBFB463-8E87-3525-C80E-994772917C1A}"/>
              </a:ext>
            </a:extLst>
          </p:cNvPr>
          <p:cNvSpPr/>
          <p:nvPr/>
        </p:nvSpPr>
        <p:spPr>
          <a:xfrm>
            <a:off x="502920" y="1188720"/>
            <a:ext cx="11155680" cy="16459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EB1FD3B9-4BCB-14C4-68FC-97A348564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355615"/>
              </p:ext>
            </p:extLst>
          </p:nvPr>
        </p:nvGraphicFramePr>
        <p:xfrm>
          <a:off x="502920" y="1280160"/>
          <a:ext cx="11155678" cy="1645920"/>
        </p:xfrm>
        <a:graphic>
          <a:graphicData uri="http://schemas.openxmlformats.org/drawingml/2006/table">
            <a:tbl>
              <a:tblPr/>
              <a:tblGrid>
                <a:gridCol w="1800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BALANCE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 26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OCT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marR="889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50" b="1" kern="1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Franklin Gothic Book" panose="020B0503020102020204" pitchFamily="34" charset="0"/>
                        </a:rPr>
                        <a:t>Plant (Average Days) </a:t>
                      </a:r>
                      <a:endParaRPr lang="en-US" sz="1400" b="1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16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17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17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17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16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marR="889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50" b="1" kern="1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Franklin Gothic Book" panose="020B0503020102020204" pitchFamily="34" charset="0"/>
                        </a:rPr>
                        <a:t>HQ and Region (Average Days)</a:t>
                      </a:r>
                      <a:endParaRPr lang="en-US" sz="1400" b="1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22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21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22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23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23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marR="889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50" b="1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Lubudi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50" b="1" kern="1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Franklin Gothic Book" panose="020B0503020102020204" pitchFamily="34" charset="0"/>
                        </a:rPr>
                        <a:t>(Average Days)</a:t>
                      </a:r>
                      <a:endParaRPr lang="en-US" sz="105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+mn-cs"/>
                        </a:rPr>
                        <a:t>6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Calibri" panose="020F0502020204030204" pitchFamily="34" charset="0"/>
                          <a:cs typeface="+mn-cs"/>
                        </a:rPr>
                        <a:t>7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9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7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8</a:t>
                      </a:r>
                      <a:endParaRPr lang="en-US" sz="10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marR="889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50" b="1" kern="1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Franklin Gothic Book" panose="020B0503020102020204" pitchFamily="34" charset="0"/>
                        </a:rPr>
                        <a:t>All Company (Average Days)</a:t>
                      </a:r>
                      <a:endParaRPr lang="en-US" sz="1400" b="1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18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Calibri" panose="020F0502020204030204" pitchFamily="34" charset="0"/>
                          <a:cs typeface="+mn-cs"/>
                        </a:rPr>
                        <a:t>18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18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19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19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4">
            <a:extLst>
              <a:ext uri="{FF2B5EF4-FFF2-40B4-BE49-F238E27FC236}">
                <a16:creationId xmlns:a16="http://schemas.microsoft.com/office/drawing/2014/main" id="{269D46BA-62DF-CF89-1623-11F37C875261}"/>
              </a:ext>
            </a:extLst>
          </p:cNvPr>
          <p:cNvSpPr/>
          <p:nvPr/>
        </p:nvSpPr>
        <p:spPr>
          <a:xfrm>
            <a:off x="411480" y="342900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83B743D7-F0C2-FF0E-EF83-97A99DB08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171958"/>
              </p:ext>
            </p:extLst>
          </p:nvPr>
        </p:nvGraphicFramePr>
        <p:xfrm>
          <a:off x="518008" y="3429000"/>
          <a:ext cx="11050812" cy="658368"/>
        </p:xfrm>
        <a:graphic>
          <a:graphicData uri="http://schemas.openxmlformats.org/drawingml/2006/table">
            <a:tbl>
              <a:tblPr/>
              <a:tblGrid>
                <a:gridCol w="1695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1960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marR="889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8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r>
                        <a:rPr lang="en-US" sz="12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COSTS (000 USD)</a:t>
                      </a:r>
                      <a:endParaRPr lang="en-US" sz="12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 26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AUG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OCT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FEB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marR="889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50" kern="1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Provision (Leave not taken)</a:t>
                      </a:r>
                      <a:r>
                        <a:rPr lang="fr-FR" sz="1050" kern="1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 </a:t>
                      </a:r>
                      <a:endParaRPr lang="en-US" sz="14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377.88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391.7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390.47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435.85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 panose="020F0502020204030204" pitchFamily="34" charset="0"/>
                        </a:rPr>
                        <a:t>418.32</a:t>
                      </a:r>
                    </a:p>
                  </a:txBody>
                  <a:tcPr marL="68580" marR="68580" marT="0" marB="0"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4737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2AA87-4586-C33E-250F-8C339D9B5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AFD0C9-8BC0-5147-B74C-78C6A0363883}" type="slidenum">
              <a:rPr lang="en-ZA" smtClean="0"/>
              <a:pPr/>
              <a:t>9</a:t>
            </a:fld>
            <a:endParaRPr lang="en-Z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AE36D3-49D3-B588-C62F-0E50AE8ED6D7}"/>
              </a:ext>
            </a:extLst>
          </p:cNvPr>
          <p:cNvGraphicFramePr>
            <a:graphicFrameLocks noGrp="1"/>
          </p:cNvGraphicFramePr>
          <p:nvPr/>
        </p:nvGraphicFramePr>
        <p:xfrm>
          <a:off x="450010" y="563016"/>
          <a:ext cx="10644188" cy="257152"/>
        </p:xfrm>
        <a:graphic>
          <a:graphicData uri="http://schemas.openxmlformats.org/drawingml/2006/table">
            <a:tbl>
              <a:tblPr firstRow="1" firstCol="1" bandRow="1"/>
              <a:tblGrid>
                <a:gridCol w="10644188">
                  <a:extLst>
                    <a:ext uri="{9D8B030D-6E8A-4147-A177-3AD203B41FA5}">
                      <a16:colId xmlns:a16="http://schemas.microsoft.com/office/drawing/2014/main" val="2095277014"/>
                    </a:ext>
                  </a:extLst>
                </a:gridCol>
              </a:tblGrid>
              <a:tr h="257152">
                <a:tc>
                  <a:txBody>
                    <a:bodyPr/>
                    <a:lstStyle/>
                    <a:p>
                      <a:pPr marL="457200" marR="0" lvl="1" indent="0"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000" b="1" dirty="0">
                          <a:solidFill>
                            <a:srgbClr val="595959"/>
                          </a:solidFill>
                          <a:effectLst/>
                          <a:latin typeface="Franklin Gothic Book" panose="020B05030201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 .Overtime </a:t>
                      </a:r>
                      <a:endParaRPr lang="en-US" sz="1000" b="1" dirty="0">
                        <a:solidFill>
                          <a:srgbClr val="595959"/>
                        </a:solidFill>
                        <a:effectLst/>
                        <a:latin typeface="Franklin Gothic Book" panose="020B0503020102020204" pitchFamily="34" charset="0"/>
                        <a:ea typeface="Franklin Gothic Book" panose="020B05030201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FEDE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13993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090061-04B7-8D45-2D94-5235ABBD7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092924"/>
              </p:ext>
            </p:extLst>
          </p:nvPr>
        </p:nvGraphicFramePr>
        <p:xfrm>
          <a:off x="457200" y="1011098"/>
          <a:ext cx="11593904" cy="2034027"/>
        </p:xfrm>
        <a:graphic>
          <a:graphicData uri="http://schemas.openxmlformats.org/drawingml/2006/table">
            <a:tbl>
              <a:tblPr firstRow="1" firstCol="1" bandRow="1"/>
              <a:tblGrid>
                <a:gridCol w="1248561">
                  <a:extLst>
                    <a:ext uri="{9D8B030D-6E8A-4147-A177-3AD203B41FA5}">
                      <a16:colId xmlns:a16="http://schemas.microsoft.com/office/drawing/2014/main" val="1139382827"/>
                    </a:ext>
                  </a:extLst>
                </a:gridCol>
                <a:gridCol w="612646">
                  <a:extLst>
                    <a:ext uri="{9D8B030D-6E8A-4147-A177-3AD203B41FA5}">
                      <a16:colId xmlns:a16="http://schemas.microsoft.com/office/drawing/2014/main" val="755313647"/>
                    </a:ext>
                  </a:extLst>
                </a:gridCol>
                <a:gridCol w="536936">
                  <a:extLst>
                    <a:ext uri="{9D8B030D-6E8A-4147-A177-3AD203B41FA5}">
                      <a16:colId xmlns:a16="http://schemas.microsoft.com/office/drawing/2014/main" val="1143850189"/>
                    </a:ext>
                  </a:extLst>
                </a:gridCol>
                <a:gridCol w="688356">
                  <a:extLst>
                    <a:ext uri="{9D8B030D-6E8A-4147-A177-3AD203B41FA5}">
                      <a16:colId xmlns:a16="http://schemas.microsoft.com/office/drawing/2014/main" val="3339244156"/>
                    </a:ext>
                  </a:extLst>
                </a:gridCol>
                <a:gridCol w="612646">
                  <a:extLst>
                    <a:ext uri="{9D8B030D-6E8A-4147-A177-3AD203B41FA5}">
                      <a16:colId xmlns:a16="http://schemas.microsoft.com/office/drawing/2014/main" val="2784203244"/>
                    </a:ext>
                  </a:extLst>
                </a:gridCol>
                <a:gridCol w="571498">
                  <a:extLst>
                    <a:ext uri="{9D8B030D-6E8A-4147-A177-3AD203B41FA5}">
                      <a16:colId xmlns:a16="http://schemas.microsoft.com/office/drawing/2014/main" val="187446532"/>
                    </a:ext>
                  </a:extLst>
                </a:gridCol>
                <a:gridCol w="612646">
                  <a:extLst>
                    <a:ext uri="{9D8B030D-6E8A-4147-A177-3AD203B41FA5}">
                      <a16:colId xmlns:a16="http://schemas.microsoft.com/office/drawing/2014/main" val="894957097"/>
                    </a:ext>
                  </a:extLst>
                </a:gridCol>
                <a:gridCol w="583690">
                  <a:extLst>
                    <a:ext uri="{9D8B030D-6E8A-4147-A177-3AD203B41FA5}">
                      <a16:colId xmlns:a16="http://schemas.microsoft.com/office/drawing/2014/main" val="362513042"/>
                    </a:ext>
                  </a:extLst>
                </a:gridCol>
                <a:gridCol w="615721">
                  <a:extLst>
                    <a:ext uri="{9D8B030D-6E8A-4147-A177-3AD203B41FA5}">
                      <a16:colId xmlns:a16="http://schemas.microsoft.com/office/drawing/2014/main" val="4288945845"/>
                    </a:ext>
                  </a:extLst>
                </a:gridCol>
                <a:gridCol w="593582">
                  <a:extLst>
                    <a:ext uri="{9D8B030D-6E8A-4147-A177-3AD203B41FA5}">
                      <a16:colId xmlns:a16="http://schemas.microsoft.com/office/drawing/2014/main" val="511038007"/>
                    </a:ext>
                  </a:extLst>
                </a:gridCol>
                <a:gridCol w="694086">
                  <a:extLst>
                    <a:ext uri="{9D8B030D-6E8A-4147-A177-3AD203B41FA5}">
                      <a16:colId xmlns:a16="http://schemas.microsoft.com/office/drawing/2014/main" val="1790287352"/>
                    </a:ext>
                  </a:extLst>
                </a:gridCol>
                <a:gridCol w="846202">
                  <a:extLst>
                    <a:ext uri="{9D8B030D-6E8A-4147-A177-3AD203B41FA5}">
                      <a16:colId xmlns:a16="http://schemas.microsoft.com/office/drawing/2014/main" val="813054166"/>
                    </a:ext>
                  </a:extLst>
                </a:gridCol>
                <a:gridCol w="886421">
                  <a:extLst>
                    <a:ext uri="{9D8B030D-6E8A-4147-A177-3AD203B41FA5}">
                      <a16:colId xmlns:a16="http://schemas.microsoft.com/office/drawing/2014/main" val="777913738"/>
                    </a:ext>
                  </a:extLst>
                </a:gridCol>
                <a:gridCol w="886421">
                  <a:extLst>
                    <a:ext uri="{9D8B030D-6E8A-4147-A177-3AD203B41FA5}">
                      <a16:colId xmlns:a16="http://schemas.microsoft.com/office/drawing/2014/main" val="723346365"/>
                    </a:ext>
                  </a:extLst>
                </a:gridCol>
                <a:gridCol w="1604492">
                  <a:extLst>
                    <a:ext uri="{9D8B030D-6E8A-4147-A177-3AD203B41FA5}">
                      <a16:colId xmlns:a16="http://schemas.microsoft.com/office/drawing/2014/main" val="2780768768"/>
                    </a:ext>
                  </a:extLst>
                </a:gridCol>
              </a:tblGrid>
              <a:tr h="225230"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Overtime -  Hours </a:t>
                      </a:r>
                      <a:endParaRPr lang="en-US" sz="12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36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Mar 26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36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APR</a:t>
                      </a:r>
                      <a:endParaRPr lang="en-US" sz="120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36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MAY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36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JUN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36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JUL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36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AUG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36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SEP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36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OCT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36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NOV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36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DEC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36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JAN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36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FEB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36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MAR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36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889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000" kern="1000" cap="all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+mn-cs"/>
                        </a:rPr>
                        <a:t>FY27 YTD</a:t>
                      </a:r>
                      <a:endParaRPr lang="en-US" sz="1000" kern="1000" cap="all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36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344585"/>
                  </a:ext>
                </a:extLst>
              </a:tr>
              <a:tr h="2252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Calibri" panose="020F0502020204030204" pitchFamily="34" charset="0"/>
                        </a:rPr>
                        <a:t>CEC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 -  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16.00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fr-FR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1" i="0" u="none" strike="noStrike">
                          <a:effectLst/>
                          <a:latin typeface="Calibri" panose="020F0502020204030204" pitchFamily="34" charset="0"/>
                        </a:rPr>
                        <a:t>               16.00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078748"/>
                  </a:ext>
                </a:extLst>
              </a:tr>
              <a:tr h="2252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Calibri" panose="020F0502020204030204" pitchFamily="34" charset="0"/>
                        </a:rPr>
                        <a:t>ENG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effectLst/>
                          <a:latin typeface="Calibri" panose="020F0502020204030204" pitchFamily="34" charset="0"/>
                        </a:rPr>
                        <a:t>356.34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356.34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538.73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784.18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fr-FR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639.19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1" i="0" u="none" strike="noStrike">
                          <a:effectLst/>
                          <a:latin typeface="Calibri" panose="020F0502020204030204" pitchFamily="34" charset="0"/>
                        </a:rPr>
                        <a:t>         2,318.44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59278"/>
                  </a:ext>
                </a:extLst>
              </a:tr>
              <a:tr h="2252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Calibri" panose="020F0502020204030204" pitchFamily="34" charset="0"/>
                        </a:rPr>
                        <a:t>Mining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64.00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52.30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fr-FR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57.30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1" i="0" u="none" strike="noStrike">
                          <a:effectLst/>
                          <a:latin typeface="Calibri" panose="020F0502020204030204" pitchFamily="34" charset="0"/>
                        </a:rPr>
                        <a:t>             233.60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772076"/>
                  </a:ext>
                </a:extLst>
              </a:tr>
              <a:tr h="2252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 err="1">
                          <a:effectLst/>
                          <a:latin typeface="Calibri" panose="020F0502020204030204" pitchFamily="34" charset="0"/>
                        </a:rPr>
                        <a:t>Opt</a:t>
                      </a:r>
                      <a:endParaRPr lang="en-US" sz="11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-  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6.30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fr-FR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-  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1" i="0" u="none" strike="noStrike">
                          <a:effectLst/>
                          <a:latin typeface="Calibri" panose="020F0502020204030204" pitchFamily="34" charset="0"/>
                        </a:rPr>
                        <a:t>                 6.30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131971"/>
                  </a:ext>
                </a:extLst>
              </a:tr>
              <a:tr h="2252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Calibri" panose="020F0502020204030204" pitchFamily="34" charset="0"/>
                        </a:rPr>
                        <a:t>Prod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53.06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53.06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241.41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163.52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fr-FR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378.92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1" i="0" u="none" strike="noStrike">
                          <a:effectLst/>
                          <a:latin typeface="Calibri" panose="020F0502020204030204" pitchFamily="34" charset="0"/>
                        </a:rPr>
                        <a:t>             836.91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701273"/>
                  </a:ext>
                </a:extLst>
              </a:tr>
              <a:tr h="2252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Calibri" panose="020F0502020204030204" pitchFamily="34" charset="0"/>
                        </a:rPr>
                        <a:t>Log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57.99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57.99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128.91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82.24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fr-FR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65.57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1" i="0" u="none" strike="noStrike" dirty="0">
                          <a:effectLst/>
                          <a:latin typeface="Calibri" panose="020F0502020204030204" pitchFamily="34" charset="0"/>
                        </a:rPr>
                        <a:t>             334.71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952595"/>
                  </a:ext>
                </a:extLst>
              </a:tr>
              <a:tr h="22523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effectLst/>
                          <a:latin typeface="Calibri" panose="020F0502020204030204" pitchFamily="34" charset="0"/>
                        </a:rPr>
                        <a:t>QA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68.58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68.58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53.97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101.13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fr-FR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111.00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1" i="0" u="none" strike="noStrike">
                          <a:effectLst/>
                          <a:latin typeface="Calibri" panose="020F0502020204030204" pitchFamily="34" charset="0"/>
                        </a:rPr>
                        <a:t>             334.68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032940"/>
                  </a:ext>
                </a:extLst>
              </a:tr>
              <a:tr h="232187">
                <a:tc>
                  <a:txBody>
                    <a:bodyPr/>
                    <a:lstStyle/>
                    <a:p>
                      <a:pPr marL="0" marR="8890" algn="l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u="none" strike="noStrike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E5EAEE"/>
                          </a:highlight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      </a:t>
                      </a:r>
                      <a:r>
                        <a:rPr lang="en-US" sz="1100" b="1" i="0" u="none" strike="noStrike" dirty="0">
                          <a:effectLst/>
                          <a:latin typeface="Calibri" panose="020F0502020204030204" pitchFamily="34" charset="0"/>
                        </a:rPr>
                        <a:t>535.97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  </a:t>
                      </a:r>
                      <a:r>
                        <a:rPr lang="en-US" sz="1100" b="1" i="0" u="none" strike="noStrike" dirty="0">
                          <a:effectLst/>
                          <a:latin typeface="Calibri" panose="020F0502020204030204" pitchFamily="34" charset="0"/>
                        </a:rPr>
                        <a:t>599.97</a:t>
                      </a: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1,037.62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   </a:t>
                      </a:r>
                      <a:r>
                        <a:rPr lang="en-US" sz="1100" b="1" i="0" u="none" strike="noStrike" dirty="0">
                          <a:effectLst/>
                          <a:latin typeface="Calibri" panose="020F0502020204030204" pitchFamily="34" charset="0"/>
                        </a:rPr>
                        <a:t>1,191.07</a:t>
                      </a:r>
                      <a:r>
                        <a:rPr lang="en-US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fr-FR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1,251.98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AE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        4,080.64 </a:t>
                      </a:r>
                    </a:p>
                  </a:txBody>
                  <a:tcPr marL="6350" marR="6350" marT="635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347217"/>
                  </a:ext>
                </a:extLst>
              </a:tr>
            </a:tbl>
          </a:graphicData>
        </a:graphic>
      </p:graphicFrame>
      <p:sp>
        <p:nvSpPr>
          <p:cNvPr id="2" name="Title 2">
            <a:extLst>
              <a:ext uri="{FF2B5EF4-FFF2-40B4-BE49-F238E27FC236}">
                <a16:creationId xmlns:a16="http://schemas.microsoft.com/office/drawing/2014/main" id="{5969DBF3-6D21-29C0-859D-F9EDE2FC0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5520" y="72331"/>
            <a:ext cx="3399620" cy="438764"/>
          </a:xfrm>
          <a:solidFill>
            <a:schemeClr val="accent3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OVERTIME - Hours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6E6F636-1867-52BE-F5BF-2488D3C79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3367593"/>
              </p:ext>
            </p:extLst>
          </p:nvPr>
        </p:nvGraphicFramePr>
        <p:xfrm>
          <a:off x="450010" y="3151327"/>
          <a:ext cx="11601094" cy="3410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91809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32A7D0-D4AD-10BE-73DD-515B2DA5F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904" y="9625"/>
            <a:ext cx="7803963" cy="361638"/>
          </a:xfrm>
          <a:solidFill>
            <a:srgbClr val="C000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Overtime vs Leave Balance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9BF57EB5-FE8D-D28F-9A42-7765B109B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553" y="712286"/>
            <a:ext cx="2848564" cy="39857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General Overview - July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workforce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175 employees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Employees with recorded hours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altLang="en-US" sz="11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52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⇒ 30 % of the total staff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Overtime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1,251.98 hours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hours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altLang="en-US" sz="11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24.08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hours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cost :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USD </a:t>
            </a:r>
            <a:r>
              <a:rPr lang="en-US" sz="11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11,833.90</a:t>
            </a: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cost per </a:t>
            </a:r>
            <a:r>
              <a:rPr lang="en-US" altLang="en-US" sz="1100" b="1" dirty="0">
                <a:latin typeface="Arial" panose="020B0604020202020204" pitchFamily="34" charset="0"/>
              </a:rPr>
              <a:t>employee</a:t>
            </a: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latin typeface="Arial" panose="020B0604020202020204" pitchFamily="34" charset="0"/>
              </a:rPr>
              <a:t>               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USD 227.57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100" b="1" dirty="0"/>
              <a:t>Overtime represents </a:t>
            </a:r>
            <a:r>
              <a:rPr lang="en-US" sz="1100" b="1" dirty="0">
                <a:solidFill>
                  <a:srgbClr val="00B050"/>
                </a:solidFill>
              </a:rPr>
              <a:t>0.37 % of overall staff cost YTD, and 0.67 % in July 2026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remaining leave days (OVT recorded employees)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18.37 days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7679E599-8D18-E54E-F941-C5E40086C58D}"/>
              </a:ext>
            </a:extLst>
          </p:cNvPr>
          <p:cNvSpPr txBox="1">
            <a:spLocks/>
          </p:cNvSpPr>
          <p:nvPr/>
        </p:nvSpPr>
        <p:spPr>
          <a:xfrm>
            <a:off x="123496" y="474039"/>
            <a:ext cx="2834553" cy="2415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algn="ctr"/>
            <a:r>
              <a:rPr lang="en-US" sz="1100" dirty="0">
                <a:solidFill>
                  <a:schemeClr val="accent1">
                    <a:lumMod val="50000"/>
                  </a:schemeClr>
                </a:solidFill>
              </a:rPr>
              <a:t>Overtime – Top Employees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65267C76-3F46-88EE-5C0A-938DD3962E2B}"/>
              </a:ext>
            </a:extLst>
          </p:cNvPr>
          <p:cNvSpPr txBox="1">
            <a:spLocks/>
          </p:cNvSpPr>
          <p:nvPr/>
        </p:nvSpPr>
        <p:spPr>
          <a:xfrm>
            <a:off x="7696609" y="474039"/>
            <a:ext cx="2834553" cy="241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Leave Balance – Top Employees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64C2F9-2462-3721-E704-08DDC3C14ED8}"/>
              </a:ext>
            </a:extLst>
          </p:cNvPr>
          <p:cNvSpPr txBox="1"/>
          <p:nvPr/>
        </p:nvSpPr>
        <p:spPr>
          <a:xfrm>
            <a:off x="4742378" y="4631759"/>
            <a:ext cx="28307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Overtime vs Leave Balance per DEPT</a:t>
            </a:r>
            <a:endParaRPr lang="en-US" sz="1200" b="1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CF92A9-E6FC-A66E-5B39-20C54D364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354586"/>
              </p:ext>
            </p:extLst>
          </p:nvPr>
        </p:nvGraphicFramePr>
        <p:xfrm>
          <a:off x="123496" y="733665"/>
          <a:ext cx="4477566" cy="573093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355362">
                  <a:extLst>
                    <a:ext uri="{9D8B030D-6E8A-4147-A177-3AD203B41FA5}">
                      <a16:colId xmlns:a16="http://schemas.microsoft.com/office/drawing/2014/main" val="2720131535"/>
                    </a:ext>
                  </a:extLst>
                </a:gridCol>
                <a:gridCol w="1243768">
                  <a:extLst>
                    <a:ext uri="{9D8B030D-6E8A-4147-A177-3AD203B41FA5}">
                      <a16:colId xmlns:a16="http://schemas.microsoft.com/office/drawing/2014/main" val="4262590588"/>
                    </a:ext>
                  </a:extLst>
                </a:gridCol>
                <a:gridCol w="506392">
                  <a:extLst>
                    <a:ext uri="{9D8B030D-6E8A-4147-A177-3AD203B41FA5}">
                      <a16:colId xmlns:a16="http://schemas.microsoft.com/office/drawing/2014/main" val="4194270388"/>
                    </a:ext>
                  </a:extLst>
                </a:gridCol>
                <a:gridCol w="577464">
                  <a:extLst>
                    <a:ext uri="{9D8B030D-6E8A-4147-A177-3AD203B41FA5}">
                      <a16:colId xmlns:a16="http://schemas.microsoft.com/office/drawing/2014/main" val="2392853439"/>
                    </a:ext>
                  </a:extLst>
                </a:gridCol>
                <a:gridCol w="657420">
                  <a:extLst>
                    <a:ext uri="{9D8B030D-6E8A-4147-A177-3AD203B41FA5}">
                      <a16:colId xmlns:a16="http://schemas.microsoft.com/office/drawing/2014/main" val="724299047"/>
                    </a:ext>
                  </a:extLst>
                </a:gridCol>
                <a:gridCol w="1137160">
                  <a:extLst>
                    <a:ext uri="{9D8B030D-6E8A-4147-A177-3AD203B41FA5}">
                      <a16:colId xmlns:a16="http://schemas.microsoft.com/office/drawing/2014/main" val="412270344"/>
                    </a:ext>
                  </a:extLst>
                </a:gridCol>
              </a:tblGrid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ID</a:t>
                      </a:r>
                      <a:endParaRPr lang="fr-FR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Names</a:t>
                      </a:r>
                      <a:endParaRPr lang="fr-FR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OVT_Hours</a:t>
                      </a:r>
                      <a:endParaRPr lang="fr-FR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solidFill>
                            <a:schemeClr val="bg1"/>
                          </a:solidFill>
                          <a:effectLst/>
                        </a:rPr>
                        <a:t>OVT_Cost</a:t>
                      </a:r>
                      <a:endParaRPr lang="fr-FR" sz="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solidFill>
                            <a:schemeClr val="bg1"/>
                          </a:solidFill>
                          <a:effectLst/>
                        </a:rPr>
                        <a:t>Leave_Balance</a:t>
                      </a:r>
                      <a:endParaRPr lang="fr-FR" sz="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Departments</a:t>
                      </a:r>
                      <a:endParaRPr lang="fr-FR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029592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1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Dieu Ngoma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          78.89 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           938.93 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                 26.17 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Engineering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53688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2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Lundi Onosamba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69.95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 743.90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       22.92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Engineering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190491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3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Antoine Nzungu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69.79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 787.64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       20.92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Engineering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770930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4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Guylain Wampangulua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61.73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 188.15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       24.92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Engineering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9424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5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Patience Mansiamina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          51.17 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 608.58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       24.42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Engineering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310527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6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Willy Tshilolo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          47.04 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           334.18 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       22.67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Production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02320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7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Junior Nlandu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45.60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           332.37 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         3.24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Engineering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403666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8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Yannick Kamunga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42.51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 287.87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                 18.17 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Production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579862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9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LUZOLO NSEMBOLO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42.20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 519.11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                 20.84 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Engineering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684283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10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Jisca Muanda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41.34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 617.00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                 17.00 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Production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954601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11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Christian Mukonkole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40.75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292.84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  7.67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Production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2244018736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12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Simon Bayisa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38.49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396.11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  7.33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Engineering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1252020968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13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 dirty="0">
                          <a:effectLst/>
                        </a:rPr>
                        <a:t>Declairck </a:t>
                      </a:r>
                      <a:r>
                        <a:rPr lang="fr-FR" sz="800" u="none" strike="noStrike" dirty="0" err="1">
                          <a:effectLst/>
                        </a:rPr>
                        <a:t>Nsilulu</a:t>
                      </a:r>
                      <a:r>
                        <a:rPr lang="fr-FR" sz="800" u="none" strike="noStrike" dirty="0">
                          <a:effectLst/>
                        </a:rPr>
                        <a:t> Ngimbi</a:t>
                      </a:r>
                      <a:endParaRPr lang="fr-FR" sz="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38.28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133.69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  7.05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Engineering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4231481751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14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Jonas LINGOMA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36.46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473.50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15.00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Logistic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1519607388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15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Alphonse Bindama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35.29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515.48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26.42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Engineering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2216017532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16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Alidor Kankonde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34.93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154.53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16.00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Production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3746523239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Ovie Tulomba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29.43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365.33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(1.67)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Engineering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1622913047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18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Jean Biawila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29.11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243.10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24.50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Logistic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3240921335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19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Albert Vangu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27.43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99.57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18.67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Production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3924528338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20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Dinandi Mvumbi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26.91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325.50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20.08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Engineering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221843386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21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Emmanuel Mawete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24.16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144.37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15.22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Quality Assurance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1876181189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22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Blanchard Muzo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22.60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124.53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  5.32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Engineering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3384212594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23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Rodrigue Luzolawo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22.00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240.20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  3.00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Production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2744449018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24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Joel Nzuzi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22.00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253.09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23.00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Production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1884336907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25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Erick Nlandu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21.74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176.60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  5.17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Quality Assurance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1509437013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26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Longo Zola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21.00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246.07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31.17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Mining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1869093466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Nadege Nsilu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18.81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142.31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16.17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Quality Assurance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3556830882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28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Olivier Lutonadio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18.00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188.73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  8.92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Production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1341374156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29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Kabangu Mutambayi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15.71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309.13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28.67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Production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789476576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30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Sosthene Nyomba Kamanda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b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15.43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177.09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                 12.17 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u="none" strike="noStrike" dirty="0" err="1">
                          <a:effectLst/>
                        </a:rPr>
                        <a:t>Quality</a:t>
                      </a:r>
                      <a:r>
                        <a:rPr lang="fr-FR" sz="800" u="none" strike="noStrike" dirty="0">
                          <a:effectLst/>
                        </a:rPr>
                        <a:t> Assurance</a:t>
                      </a:r>
                      <a:endParaRPr lang="fr-FR" sz="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420690698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2AAB6B0-1560-E05D-0917-EFE9A99B7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961734"/>
              </p:ext>
            </p:extLst>
          </p:nvPr>
        </p:nvGraphicFramePr>
        <p:xfrm>
          <a:off x="7770408" y="715578"/>
          <a:ext cx="4224368" cy="573093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99801">
                  <a:extLst>
                    <a:ext uri="{9D8B030D-6E8A-4147-A177-3AD203B41FA5}">
                      <a16:colId xmlns:a16="http://schemas.microsoft.com/office/drawing/2014/main" val="3843779197"/>
                    </a:ext>
                  </a:extLst>
                </a:gridCol>
                <a:gridCol w="1312980">
                  <a:extLst>
                    <a:ext uri="{9D8B030D-6E8A-4147-A177-3AD203B41FA5}">
                      <a16:colId xmlns:a16="http://schemas.microsoft.com/office/drawing/2014/main" val="1937546500"/>
                    </a:ext>
                  </a:extLst>
                </a:gridCol>
                <a:gridCol w="542318">
                  <a:extLst>
                    <a:ext uri="{9D8B030D-6E8A-4147-A177-3AD203B41FA5}">
                      <a16:colId xmlns:a16="http://schemas.microsoft.com/office/drawing/2014/main" val="2432595868"/>
                    </a:ext>
                  </a:extLst>
                </a:gridCol>
                <a:gridCol w="618432">
                  <a:extLst>
                    <a:ext uri="{9D8B030D-6E8A-4147-A177-3AD203B41FA5}">
                      <a16:colId xmlns:a16="http://schemas.microsoft.com/office/drawing/2014/main" val="3586548718"/>
                    </a:ext>
                  </a:extLst>
                </a:gridCol>
                <a:gridCol w="704061">
                  <a:extLst>
                    <a:ext uri="{9D8B030D-6E8A-4147-A177-3AD203B41FA5}">
                      <a16:colId xmlns:a16="http://schemas.microsoft.com/office/drawing/2014/main" val="706058371"/>
                    </a:ext>
                  </a:extLst>
                </a:gridCol>
                <a:gridCol w="846776">
                  <a:extLst>
                    <a:ext uri="{9D8B030D-6E8A-4147-A177-3AD203B41FA5}">
                      <a16:colId xmlns:a16="http://schemas.microsoft.com/office/drawing/2014/main" val="3299996743"/>
                    </a:ext>
                  </a:extLst>
                </a:gridCol>
              </a:tblGrid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ID</a:t>
                      </a:r>
                      <a:endParaRPr lang="fr-F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Names</a:t>
                      </a:r>
                      <a:endParaRPr lang="fr-F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OVT_Hours</a:t>
                      </a:r>
                      <a:endParaRPr lang="fr-F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OVT_Cost</a:t>
                      </a:r>
                      <a:endParaRPr lang="fr-F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Leave_Balance</a:t>
                      </a:r>
                      <a:endParaRPr lang="fr-F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Departments</a:t>
                      </a:r>
                      <a:endParaRPr lang="fr-F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01364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1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Longo Zola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21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246.0687782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31.17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Mining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98351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2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Eder Bitutu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6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25.83865251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28.75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Production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112211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3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Kabangu </a:t>
                      </a:r>
                      <a:r>
                        <a:rPr lang="fr-FR" sz="800" b="1" u="none" strike="noStrike" dirty="0" err="1">
                          <a:effectLst/>
                        </a:rPr>
                        <a:t>Mutambayi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15.71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309.1328726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28.67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Production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850251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4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Lucio Da Conceição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15.41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165.9745797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27.54444444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Engineering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670669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5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Alphonse Bindama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35.29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515.4823527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26.41666667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Engineering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192654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6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Dieu Ngoma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78.89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938.9251083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26.17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Engineering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400232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7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Joel Toko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7.09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52.9104896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25.49333333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Production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970711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8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Guylain Wampangulua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61.73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188.1464081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24.91666667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Engineering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898504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9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Jean Biawila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29.11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243.1008709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24.5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Logistic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898376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10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Patience Mansiamina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51.17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608.5835745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>
                          <a:effectLst/>
                        </a:rPr>
                        <a:t>24.41666667</a:t>
                      </a:r>
                      <a:endParaRPr lang="fr-FR" sz="800" b="1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u="none" strike="noStrike" dirty="0">
                          <a:effectLst/>
                        </a:rPr>
                        <a:t>Engineering</a:t>
                      </a:r>
                      <a:endParaRPr lang="fr-FR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>
                    <a:solidFill>
                      <a:srgbClr val="E9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300016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11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Joel Nzuzi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22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 dirty="0">
                          <a:effectLst/>
                        </a:rPr>
                        <a:t>253.0891724</a:t>
                      </a:r>
                      <a:endParaRPr lang="fr-FR" sz="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 dirty="0">
                          <a:effectLst/>
                        </a:rPr>
                        <a:t>22.99666667</a:t>
                      </a:r>
                      <a:endParaRPr lang="fr-FR" sz="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 dirty="0">
                          <a:effectLst/>
                        </a:rPr>
                        <a:t>Production</a:t>
                      </a:r>
                      <a:endParaRPr lang="fr-FR" sz="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1313347614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12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Lundi Onosamba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69.95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743.8993068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22.92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Engineering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121740831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13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 dirty="0">
                          <a:effectLst/>
                        </a:rPr>
                        <a:t>Willy Tshilolo</a:t>
                      </a:r>
                      <a:endParaRPr lang="fr-FR" sz="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47.04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334.1788215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22.66666667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Production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2405941374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14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Leon Badibanga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3.07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24.51365685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22.66666667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Production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1044312831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15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Antoine Nzungu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69.79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787.6409965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20.92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Engineering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4027914537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16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LUZOLO NSEMBOLO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42.2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519.1127513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20.84333333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Engineering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473437405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Maphasi Vangu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14.74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352.060156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20.67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Production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3185133422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18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Dinandi Mvumbi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26.91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325.5029376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20.08333333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Engineering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2733249163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19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EDDO MAKIVOVI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41.58206672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19.17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Mining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683561096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20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Masudi Nkosi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13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42.60986568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19.08333333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Mining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813906401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21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Albert Vangu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27.43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99.56660312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18.66666667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Production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2653730385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22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Gervais Bavibidila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3.17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13.60113085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18.33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Production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3668127220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23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Yannick Kamunga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42.51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287.8690425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18.16666667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Production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27879886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24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Jisca Muanda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41.34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616.997747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16.99666667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Production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4039301373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25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Joel Matoko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8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49.56334922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16.34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Production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625655115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26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Nadege Nsilu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18.81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142.3066941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16.16666667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Quality Assurance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1845728958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Alidor Kankonde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34.93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154.5298657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16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Production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4270232642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28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Emmanuel Mawete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24.16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144.3722617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15.22222223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Quality Assurance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500793034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29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Jonas LINGOMA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36.46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473.497383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15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Logistic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3438516816"/>
                  </a:ext>
                </a:extLst>
              </a:tr>
              <a:tr h="1848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30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CHRISTIAN KUABI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2.58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21.26434142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>
                          <a:effectLst/>
                        </a:rPr>
                        <a:t>14.83333333</a:t>
                      </a:r>
                      <a:endParaRPr lang="fr-FR" sz="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u="none" strike="noStrike" dirty="0">
                          <a:effectLst/>
                        </a:rPr>
                        <a:t>Production</a:t>
                      </a:r>
                      <a:endParaRPr lang="fr-FR" sz="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40" marR="4840" marT="4840" marB="0" anchor="ctr"/>
                </a:tc>
                <a:extLst>
                  <a:ext uri="{0D108BD9-81ED-4DB2-BD59-A6C34878D82A}">
                    <a16:rowId xmlns:a16="http://schemas.microsoft.com/office/drawing/2014/main" val="302721224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96A9ECF-FE9F-745B-307B-200A833ED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373293"/>
              </p:ext>
            </p:extLst>
          </p:nvPr>
        </p:nvGraphicFramePr>
        <p:xfrm>
          <a:off x="4742378" y="4888680"/>
          <a:ext cx="2830740" cy="15759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666497">
                  <a:extLst>
                    <a:ext uri="{9D8B030D-6E8A-4147-A177-3AD203B41FA5}">
                      <a16:colId xmlns:a16="http://schemas.microsoft.com/office/drawing/2014/main" val="1144339161"/>
                    </a:ext>
                  </a:extLst>
                </a:gridCol>
                <a:gridCol w="696452">
                  <a:extLst>
                    <a:ext uri="{9D8B030D-6E8A-4147-A177-3AD203B41FA5}">
                      <a16:colId xmlns:a16="http://schemas.microsoft.com/office/drawing/2014/main" val="1530416922"/>
                    </a:ext>
                  </a:extLst>
                </a:gridCol>
                <a:gridCol w="644031">
                  <a:extLst>
                    <a:ext uri="{9D8B030D-6E8A-4147-A177-3AD203B41FA5}">
                      <a16:colId xmlns:a16="http://schemas.microsoft.com/office/drawing/2014/main" val="3555391509"/>
                    </a:ext>
                  </a:extLst>
                </a:gridCol>
                <a:gridCol w="823760">
                  <a:extLst>
                    <a:ext uri="{9D8B030D-6E8A-4147-A177-3AD203B41FA5}">
                      <a16:colId xmlns:a16="http://schemas.microsoft.com/office/drawing/2014/main" val="2879038073"/>
                    </a:ext>
                  </a:extLst>
                </a:gridCol>
              </a:tblGrid>
              <a:tr h="230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</a:t>
                      </a:r>
                      <a:endParaRPr lang="fr-FR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7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OVT_Hours</a:t>
                      </a:r>
                      <a:endParaRPr lang="fr-FR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7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OVT_Cost</a:t>
                      </a:r>
                      <a:endParaRPr lang="fr-FR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7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Leave</a:t>
                      </a:r>
                      <a:endParaRPr lang="fr-FR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534314"/>
                  </a:ext>
                </a:extLst>
              </a:tr>
              <a:tr h="230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1" u="none" strike="noStrike" dirty="0">
                          <a:effectLst/>
                        </a:rPr>
                        <a:t>Engineering</a:t>
                      </a:r>
                      <a:endParaRPr lang="fr-FR" sz="10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50" u="none" strike="noStrike" dirty="0">
                          <a:effectLst/>
                        </a:rPr>
                        <a:t>639.19 </a:t>
                      </a:r>
                      <a:endParaRPr lang="fr-FR" sz="105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50" u="none" strike="noStrike" dirty="0">
                          <a:effectLst/>
                        </a:rPr>
                        <a:t>6,262.87 </a:t>
                      </a:r>
                      <a:endParaRPr lang="fr-FR" sz="105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50" u="none" strike="noStrike" dirty="0">
                          <a:effectLst/>
                        </a:rPr>
                        <a:t>247.96 </a:t>
                      </a:r>
                      <a:endParaRPr lang="fr-FR" sz="105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26357189"/>
                  </a:ext>
                </a:extLst>
              </a:tr>
              <a:tr h="230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1" u="none" strike="noStrike" dirty="0" err="1">
                          <a:effectLst/>
                        </a:rPr>
                        <a:t>Logistic</a:t>
                      </a:r>
                      <a:endParaRPr lang="fr-FR" sz="10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50" u="none" strike="noStrike" dirty="0">
                          <a:effectLst/>
                        </a:rPr>
                        <a:t>65.57 </a:t>
                      </a:r>
                      <a:endParaRPr lang="fr-FR" sz="105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50" u="none" strike="noStrike" dirty="0">
                          <a:effectLst/>
                        </a:rPr>
                        <a:t>716.60 </a:t>
                      </a:r>
                      <a:endParaRPr lang="fr-FR" sz="105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50" u="none" strike="noStrike" dirty="0">
                          <a:effectLst/>
                        </a:rPr>
                        <a:t>39.50 </a:t>
                      </a:r>
                      <a:endParaRPr lang="fr-FR" sz="105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66256636"/>
                  </a:ext>
                </a:extLst>
              </a:tr>
              <a:tr h="230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1" u="none" strike="noStrike" dirty="0">
                          <a:effectLst/>
                        </a:rPr>
                        <a:t>Mining</a:t>
                      </a:r>
                      <a:endParaRPr lang="fr-FR" sz="10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50" u="none" strike="noStrike" dirty="0">
                          <a:effectLst/>
                        </a:rPr>
                        <a:t>57.30 </a:t>
                      </a:r>
                      <a:endParaRPr lang="fr-FR" sz="105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50" u="none" strike="noStrike" dirty="0">
                          <a:effectLst/>
                        </a:rPr>
                        <a:t>430.45 </a:t>
                      </a:r>
                      <a:endParaRPr lang="fr-FR" sz="105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50" u="none" strike="noStrike" dirty="0">
                          <a:effectLst/>
                        </a:rPr>
                        <a:t>100.47 </a:t>
                      </a:r>
                      <a:endParaRPr lang="fr-FR" sz="105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20572273"/>
                  </a:ext>
                </a:extLst>
              </a:tr>
              <a:tr h="230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1" u="none" strike="noStrike" dirty="0">
                          <a:effectLst/>
                        </a:rPr>
                        <a:t>Production</a:t>
                      </a:r>
                      <a:endParaRPr lang="fr-FR" sz="10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50" u="none" strike="noStrike" dirty="0">
                          <a:effectLst/>
                        </a:rPr>
                        <a:t>378.92 </a:t>
                      </a:r>
                      <a:endParaRPr lang="fr-FR" sz="105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50" u="none" strike="noStrike" dirty="0">
                          <a:effectLst/>
                        </a:rPr>
                        <a:t>3,481.92 </a:t>
                      </a:r>
                      <a:endParaRPr lang="fr-FR" sz="105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50" u="none" strike="noStrike" dirty="0">
                          <a:effectLst/>
                        </a:rPr>
                        <a:t>325.16 </a:t>
                      </a:r>
                      <a:endParaRPr lang="fr-FR" sz="105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0858057"/>
                  </a:ext>
                </a:extLst>
              </a:tr>
              <a:tr h="230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1" u="none" strike="noStrike" dirty="0">
                          <a:effectLst/>
                        </a:rPr>
                        <a:t>QA</a:t>
                      </a:r>
                      <a:endParaRPr lang="fr-FR" sz="10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50" u="none" strike="noStrike" dirty="0">
                          <a:effectLst/>
                        </a:rPr>
                        <a:t>111.00 </a:t>
                      </a:r>
                      <a:endParaRPr lang="fr-FR" sz="105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50" u="none" strike="noStrike" dirty="0">
                          <a:effectLst/>
                        </a:rPr>
                        <a:t>942.05 </a:t>
                      </a:r>
                      <a:endParaRPr lang="fr-FR" sz="105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50" u="none" strike="noStrike" dirty="0">
                          <a:effectLst/>
                        </a:rPr>
                        <a:t>99.56 </a:t>
                      </a:r>
                      <a:endParaRPr lang="fr-FR" sz="105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47187756"/>
                  </a:ext>
                </a:extLst>
              </a:tr>
              <a:tr h="1931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7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Grand Total</a:t>
                      </a:r>
                      <a:endParaRPr lang="fr-FR" sz="7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1251.98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11833.90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812.65</a:t>
                      </a:r>
                      <a:endParaRPr lang="fr-FR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751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103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pps\hr-rh-app\templates\exco\cover-assets\slide-fad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64008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292608" y="1463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92608" y="146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" y="128016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PPC · HR EXCO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" y="274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 – FY27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95360" y="201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Jul-26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256032" y="841248"/>
            <a:ext cx="11658600" cy="576072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1016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529287"/>
              </p:ext>
            </p:extLst>
          </p:nvPr>
        </p:nvGraphicFramePr>
        <p:xfrm>
          <a:off x="292608" y="892048"/>
          <a:ext cx="11414893" cy="5701602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80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22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Project / Initiative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 / Objective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Current Status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Issues / Risks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 Steps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Scholarship Programme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4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Provide educational support to students from host communities.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programme is fully operational and continues to support beneficiaries in accordance with the approved framework.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significant issues reported.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monitoring academic performance and programme compliance.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1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Zamba Water Tank Replacement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4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Planning the replacement of the defective and perforated tank with a new one already available.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village's agreement for the new location of the tank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waiting for the SOW</a:t>
                      </a:r>
                      <a:endParaRPr lang="en-US" sz="2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kern="1200" dirty="0">
                          <a:solidFill>
                            <a:srgbClr val="1D4ED8"/>
                          </a:solidFill>
                          <a:latin typeface="Segoe UI" pitchFamily="34" charset="0"/>
                          <a:ea typeface="+mn-ea"/>
                          <a:cs typeface="Segoe UI" pitchFamily="34" charset="-120"/>
                        </a:rPr>
                        <a:t>The SOW has been prepared, and a tender process must be initiated by the Procurement department.</a:t>
                      </a:r>
                      <a:br>
                        <a:rPr lang="en-US" sz="1200" dirty="0"/>
                      </a:b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3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Mwinda Partnership – Local PPE Manufacturing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4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Train and professionally integrate young women + produce PPE locally to reduce imports and delays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After procurement realized that Mwinda is a sole supplier, a Justification Form for Purchasing from a Sole Supplier was created and placed in the circuit for approval.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waiting for MD signature</a:t>
                      </a:r>
                      <a:endParaRPr lang="en-US" sz="2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kern="12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charset="0"/>
                          <a:cs typeface="Segoe UI" pitchFamily="34" charset="-120"/>
                        </a:rPr>
                        <a:t>Scheduling of Rehabilitation Works.</a:t>
                      </a:r>
                    </a:p>
                    <a:p>
                      <a:pPr marL="0" indent="0" algn="l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3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PPC School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4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Legal status of the school signed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contract is signed by MD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Waiting for the congregation's signature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Waiting for the congregation's signature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Sewing Workshop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4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Develop vocational skills and improve employability of local women.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training programme has been successfully completed, and certificates were awarded on 27 June 2026.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Integrate graduates into the Mwinda PPE project to apply the skills acquired.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7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Programme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4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 community infrastructure projects under the Cahier des Charges.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Construction of two bridges linking Malanga Cité and Malanga Gare is progressing, with approximately 25% of clearing and stump removal completed. A third bridge has been added to facilitate access and transportation through the Malanga Gare railway corridor.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Land-related disputes may delay implementation of some infrastructure works.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civil works while resolving outstanding community issues affecting project implementation.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77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Agriculture Programme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4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Promote sustainable livelihoods through community agriculture initiatives.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Resumption of agricultural activities for the communities of Nkumba and Malanga city planned for September 2026.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err="1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Finalise</a:t>
                      </a: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stakeholder discussions and resume agricultural activities once community consensus has been reached.</a:t>
                      </a:r>
                      <a:endParaRPr lang="en-US" sz="2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rgbClr val="16161E"/>
                          </a:solidFill>
                          <a:latin typeface="Segoe UI" pitchFamily="34" charset="0"/>
                          <a:ea typeface="+mn-ea"/>
                          <a:cs typeface="Segoe UI" pitchFamily="34" charset="-120"/>
                        </a:rPr>
                        <a:t>Scheduling of Ploughing and Harrowing Activities</a:t>
                      </a:r>
                    </a:p>
                    <a:p>
                      <a:br>
                        <a:rPr lang="en-US" sz="800" dirty="0"/>
                      </a:br>
                      <a:endParaRPr lang="en-US" sz="700" kern="1200" dirty="0">
                        <a:solidFill>
                          <a:srgbClr val="16161E"/>
                        </a:solidFill>
                        <a:latin typeface="Segoe UI" pitchFamily="34" charset="0"/>
                        <a:ea typeface="Segoe UI" charset="0"/>
                        <a:cs typeface="Segoe UI" pitchFamily="34" charset="-12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42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Sports &amp; Leisure Facilities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4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Promote youth development and community wellbeing through sports infrastructure.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inspection visit of the soccer field to be developed in Kumba for the start of work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major risks identified at this stage.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  <a:defRPr sz="1100"/>
                      </a:pPr>
                      <a:r>
                        <a:rPr lang="en-US" sz="700" kern="1200" dirty="0">
                          <a:solidFill>
                            <a:srgbClr val="16161E"/>
                          </a:solidFill>
                          <a:latin typeface="Segoe UI" pitchFamily="34" charset="0"/>
                          <a:cs typeface="Segoe UI" pitchFamily="34" charset="-120"/>
                        </a:rPr>
                        <a:t>Malanga Gare, the place has been indicated to set up a football field. The procedures are underway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  <a:defRPr sz="1100"/>
                      </a:pPr>
                      <a:r>
                        <a:rPr lang="en-US" sz="700" kern="1200" dirty="0">
                          <a:solidFill>
                            <a:srgbClr val="16161E"/>
                          </a:solidFill>
                          <a:latin typeface="Segoe UI" pitchFamily="34" charset="0"/>
                          <a:cs typeface="Segoe UI" pitchFamily="34" charset="-120"/>
                        </a:rPr>
                        <a:t>inspection visit of the soccer field to be developed in Kumba for the start of work</a:t>
                      </a: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37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Zamba &amp; Malanga Cité Electrification Project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4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Improve access to electricity for surrounding communities and strengthen local infrastructure.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Completion: 80%. Ongoing work: Improvement of the grounding networks. Widening the control room to have access to the acquired cells. Progress status: Zamba 1st: two cabins installed, only the connection remains; Malanga Cité: send a letter to the AT of Songololo for the formalities of the new transformer location.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err="1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Finalise</a:t>
                      </a:r>
                      <a:r>
                        <a:rPr lang="en-US" sz="8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engineering approvals with SNEL and PPC, complete corrective technical works, validate the revised project schedule and proceed towards commissioning.</a:t>
                      </a:r>
                      <a:endParaRPr lang="en-US" sz="2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kern="1200" dirty="0">
                          <a:solidFill>
                            <a:srgbClr val="16161E"/>
                          </a:solidFill>
                          <a:latin typeface="Segoe UI" pitchFamily="34" charset="0"/>
                          <a:cs typeface="Segoe UI" pitchFamily="34" charset="-120"/>
                        </a:rPr>
                        <a:t>Completion: 80% </a:t>
                      </a:r>
                    </a:p>
                    <a:p>
                      <a:endParaRPr lang="en-US" sz="800" kern="1200" dirty="0">
                        <a:solidFill>
                          <a:srgbClr val="16161E"/>
                        </a:solidFill>
                        <a:latin typeface="Segoe UI" pitchFamily="34" charset="0"/>
                        <a:cs typeface="Segoe UI" pitchFamily="34" charset="-120"/>
                      </a:endParaRPr>
                    </a:p>
                    <a:p>
                      <a:r>
                        <a:rPr lang="en-US" sz="800" kern="1200" dirty="0">
                          <a:solidFill>
                            <a:srgbClr val="16161E"/>
                          </a:solidFill>
                          <a:latin typeface="Segoe UI" pitchFamily="34" charset="0"/>
                          <a:cs typeface="Segoe UI" pitchFamily="34" charset="-120"/>
                        </a:rPr>
                        <a:t>Ongoing work:- Improvement of the grounding networks- Widening the control room to have access to the acquired cells Progress status: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kern="1200" dirty="0">
                          <a:solidFill>
                            <a:srgbClr val="16161E"/>
                          </a:solidFill>
                          <a:latin typeface="Segoe UI" pitchFamily="34" charset="0"/>
                          <a:cs typeface="Segoe UI" pitchFamily="34" charset="-120"/>
                        </a:rPr>
                        <a:t>Zamba 1st: two cabins installed, only the connection remains;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800" kern="1200" dirty="0">
                          <a:solidFill>
                            <a:srgbClr val="16161E"/>
                          </a:solidFill>
                          <a:latin typeface="Segoe UI" pitchFamily="34" charset="0"/>
                          <a:cs typeface="Segoe UI" pitchFamily="34" charset="-120"/>
                        </a:rPr>
                        <a:t>Malanga Cité: send a letter to the AT of </a:t>
                      </a:r>
                      <a:r>
                        <a:rPr lang="en-US" sz="800" kern="1200" dirty="0" err="1">
                          <a:solidFill>
                            <a:srgbClr val="16161E"/>
                          </a:solidFill>
                          <a:latin typeface="Segoe UI" pitchFamily="34" charset="0"/>
                          <a:cs typeface="Segoe UI" pitchFamily="34" charset="-120"/>
                        </a:rPr>
                        <a:t>Songololo</a:t>
                      </a:r>
                      <a:r>
                        <a:rPr lang="en-US" sz="800" kern="1200" dirty="0">
                          <a:solidFill>
                            <a:srgbClr val="16161E"/>
                          </a:solidFill>
                          <a:latin typeface="Segoe UI" pitchFamily="34" charset="0"/>
                          <a:cs typeface="Segoe UI" pitchFamily="34" charset="-120"/>
                        </a:rPr>
                        <a:t> for the formalities of the new transformer location.</a:t>
                      </a:r>
                    </a:p>
                    <a:p>
                      <a:pPr marL="0" indent="0" algn="l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8412480" y="43891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text = latest update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pps\hr-rh-app\templates\exco\cover-assets\slide-fad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64008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292608" y="1463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92608" y="146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" y="128016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PPC · HR EXCO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" y="274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Cahier des Charges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95360" y="201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Jul-26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256032" y="841248"/>
            <a:ext cx="11658600" cy="576072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1016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38912" y="987552"/>
            <a:ext cx="1020470" cy="1020470"/>
          </a:xfrm>
          <a:prstGeom prst="ellipse">
            <a:avLst/>
          </a:prstGeom>
          <a:solidFill>
            <a:srgbClr val="2F7D32"/>
          </a:solidFill>
          <a:ln w="1270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653211" y="1201851"/>
            <a:ext cx="591873" cy="5918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4" name="Image 1" descr="D:\Apps\hr-rh-app\public\exco\cahier\scholarshi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317" y="1266957"/>
            <a:ext cx="461661" cy="4616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60550" y="987552"/>
            <a:ext cx="98151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Scholarship - Project fully in place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60550" y="1261872"/>
            <a:ext cx="9815170" cy="672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3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r>
              <a:rPr lang="en-US" sz="13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place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20624" y="2035454"/>
            <a:ext cx="11064240" cy="10973"/>
          </a:xfrm>
          <a:prstGeom prst="rect">
            <a:avLst/>
          </a:prstGeom>
          <a:solidFill>
            <a:srgbClr val="D8D8DE"/>
          </a:solidFill>
          <a:ln w="12700">
            <a:solidFill>
              <a:srgbClr val="D8D8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38912" y="2099462"/>
            <a:ext cx="1020470" cy="1020470"/>
          </a:xfrm>
          <a:prstGeom prst="ellipse">
            <a:avLst/>
          </a:prstGeom>
          <a:solidFill>
            <a:srgbClr val="2F7D32"/>
          </a:solidFill>
          <a:ln w="1270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653211" y="2313761"/>
            <a:ext cx="591873" cy="5918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0" name="Image 2" descr="D:\Apps\hr-rh-app\public\exco\cahier\infrastructur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8317" y="2378867"/>
            <a:ext cx="461661" cy="4616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60550" y="2099462"/>
            <a:ext cx="98151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660550" y="2278369"/>
            <a:ext cx="9815170" cy="8799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construction of two bridges connecting Malanga Cité and Malanga Gare. 25% of the work, in terms of clearing and stump removal, is completed. A second project has been added to this. It involves the construction of a third bridge to facilitate both the evacuation and the transport of our products via the Malanga Gare railway. Negotiations with the residents of Kuzi were ongoing, but after a meeting held on this issue on Saturday, July 4th at Malanga Gare, we were informed that there is a land dispute between the lineages.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20624" y="3147365"/>
            <a:ext cx="11064240" cy="10973"/>
          </a:xfrm>
          <a:prstGeom prst="rect">
            <a:avLst/>
          </a:prstGeom>
          <a:solidFill>
            <a:srgbClr val="D8D8DE"/>
          </a:solidFill>
          <a:ln w="12700">
            <a:solidFill>
              <a:srgbClr val="D8D8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24" name="Chart 0"/>
          <p:cNvGraphicFramePr/>
          <p:nvPr/>
        </p:nvGraphicFramePr>
        <p:xfrm>
          <a:off x="438912" y="3211373"/>
          <a:ext cx="1020470" cy="1020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5" name="Shape 19"/>
          <p:cNvSpPr/>
          <p:nvPr/>
        </p:nvSpPr>
        <p:spPr>
          <a:xfrm>
            <a:off x="653211" y="3425672"/>
            <a:ext cx="591873" cy="5918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3" descr="D:\Apps\hr-rh-app\public\exco\cahier\agricultur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8317" y="3490778"/>
            <a:ext cx="461661" cy="4616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60550" y="3211373"/>
            <a:ext cx="98151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Agriculture -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660550" y="3485693"/>
            <a:ext cx="9815170" cy="8825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online meeting was held with the </a:t>
            </a:r>
            <a:r>
              <a:rPr lang="en-US" sz="1200" dirty="0" err="1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Manalola</a:t>
            </a:r>
            <a:r>
              <a:rPr lang="en-US" sz="12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organization, from which the lack of progress in the agricultural project was noted following land conflicts. A discussion about another methodology is underway to successfully carry the project through. However, we hope that a possible resumption of agricultural activities planned in </a:t>
            </a:r>
            <a:r>
              <a:rPr lang="en-US" sz="1200" dirty="0" err="1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Nkumba</a:t>
            </a:r>
            <a:r>
              <a:rPr lang="en-US" sz="12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will take place in September as planned. </a:t>
            </a:r>
            <a:r>
              <a:rPr lang="en-US" sz="12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Resumption of agricultural activities for the communities of Nkumba and Malanga city planned for September 2026.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20624" y="4259275"/>
            <a:ext cx="11064240" cy="10973"/>
          </a:xfrm>
          <a:prstGeom prst="rect">
            <a:avLst/>
          </a:prstGeom>
          <a:solidFill>
            <a:srgbClr val="D8D8DE"/>
          </a:solidFill>
          <a:ln w="12700">
            <a:solidFill>
              <a:srgbClr val="D8D8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30" name="Chart 1"/>
          <p:cNvGraphicFramePr/>
          <p:nvPr/>
        </p:nvGraphicFramePr>
        <p:xfrm>
          <a:off x="438912" y="4323283"/>
          <a:ext cx="1020470" cy="1020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1" name="Shape 23"/>
          <p:cNvSpPr/>
          <p:nvPr/>
        </p:nvSpPr>
        <p:spPr>
          <a:xfrm>
            <a:off x="653211" y="4537582"/>
            <a:ext cx="591873" cy="5918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2" name="Image 4" descr="D:\Apps\hr-rh-app\public\exco\cahier\leisur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8317" y="4602688"/>
            <a:ext cx="461661" cy="461661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642262" y="4386535"/>
            <a:ext cx="98151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Leisure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1642262" y="4653540"/>
            <a:ext cx="9815170" cy="672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Malanga Gare, the place has been indicated to set up a football field. The procedures are underway. </a:t>
            </a:r>
            <a:r>
              <a:rPr lang="en-US" sz="1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inspection visit of the soccer field to be developed in Kumba for the start of work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420624" y="5371186"/>
            <a:ext cx="11064240" cy="10973"/>
          </a:xfrm>
          <a:prstGeom prst="rect">
            <a:avLst/>
          </a:prstGeom>
          <a:solidFill>
            <a:srgbClr val="D8D8DE"/>
          </a:solidFill>
          <a:ln w="12700">
            <a:solidFill>
              <a:srgbClr val="D8D8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36" name="Chart 2"/>
          <p:cNvGraphicFramePr/>
          <p:nvPr/>
        </p:nvGraphicFramePr>
        <p:xfrm>
          <a:off x="438912" y="5435194"/>
          <a:ext cx="1020470" cy="1020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" name="Shape 27"/>
          <p:cNvSpPr/>
          <p:nvPr/>
        </p:nvSpPr>
        <p:spPr>
          <a:xfrm>
            <a:off x="653211" y="5649492"/>
            <a:ext cx="591873" cy="59187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8" name="Image 5" descr="D:\Apps\hr-rh-app\public\exco\cahier\electricity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8317" y="5714598"/>
            <a:ext cx="461661" cy="461661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660550" y="5435194"/>
            <a:ext cx="98151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Electricity</a:t>
            </a:r>
            <a:endParaRPr lang="en-US" sz="1600" dirty="0"/>
          </a:p>
        </p:txBody>
      </p:sp>
      <p:sp>
        <p:nvSpPr>
          <p:cNvPr id="40" name="Text 29"/>
          <p:cNvSpPr/>
          <p:nvPr/>
        </p:nvSpPr>
        <p:spPr>
          <a:xfrm>
            <a:off x="1660550" y="5709514"/>
            <a:ext cx="9815170" cy="672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Completion: 80%. Ongoing work: Improvement of the grounding networks. Widening the control room to have access to the acquired cells. Progress status: Zamba 1st: two cabins installed, only the connection remains; Malanga Cité: send a letter to the AT of Songololo for the formalities of the new transformer location.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pps\hr-rh-app\templates\exco\cover-assets\slide-fad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64008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292608" y="1463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92608" y="146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" y="128016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PPC · HR EXCO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" y="274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Recruitment – FY27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95360" y="201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Jul-26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256032" y="841248"/>
            <a:ext cx="11658600" cy="576072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1016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7863840" y="8778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text = latest update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87782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Replacements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1060704"/>
          <a:ext cx="10972800" cy="171297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Position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Grades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Comments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Budgeted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Department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Location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Contract type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Fitter (Plumber)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Shortlisting done, interview to be planned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Process Operator (2)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 interviews done, second round interview ongoing with Mr. Andrew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Shift Supervisor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Awaiting for shortlist from the manager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Sales and Marketing Head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Interviews done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Sales and Marketing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HQ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Logistic superintendent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Interviews done, offer to be sent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Supply Chain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HQ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Instrumentation Foreman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Waiting for the shortlisting from the manager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 Analyst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Offer sent and starting soon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 Officer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Notification letter sent, candidate starting soon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Supply Chain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Kisangani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Outsourced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365760" y="282092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New positions</a:t>
            </a:r>
            <a:endParaRPr lang="en-US" sz="12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3003804"/>
          <a:ext cx="10972800" cy="330250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Position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Grades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Comments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Budgeted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Department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Location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Contract type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Maintenance Planner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Second interviews are to be scheduled.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Mechanical foreman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Vacancy advertised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Quality Manager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Vacancy advertised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Talent and development Manager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Vacancy advertised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CPME Officer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started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Vacancy to be advertised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CPME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Buyer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Interviews to be planned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Supply chain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HQ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 (2)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Offer sent, waiting for response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Sales and Marketing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Sales Consultant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Final Interviews pending MD's availability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Sales and Marketing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Kindu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 operator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Offer to be sent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Supply chain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Kindu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 Analyst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Candidate did not accept the offer, vacancy to be advertised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Zamba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Permanent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 Analyst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Started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Through Capital HR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Albatros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Lubudi – Grand Katanga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Outsourced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Community Liaison Assistant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Started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Through Capital HR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Albatros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Lubudi – Grand Katanga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Outsourced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Accountant – pettycash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Started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Through Capital HR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Albatros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Lubudi – Grand Katanga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Outsourced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Logistics and Customs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Through Capital HR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Supply Chain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HQ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Outsourced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 Assistant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Started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D4ED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Through Capital HR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Albatros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Lubudi – Grand Katanga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Outsourced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pps\hr-rh-app\templates\exco\cover-assets\slide-fad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64008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292608" y="1463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92608" y="146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" y="128016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PPC · HR EXCO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" y="274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AUDIT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95360" y="201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Jul-26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256032" y="841248"/>
            <a:ext cx="11658600" cy="576072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1016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65760" y="89611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 12/23 (52%)  ·  +7 since last EXCO  ·  Overdue 7  ·  On going 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0" y="89611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 = Closed (progression)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1133856"/>
          <a:ext cx="11503152" cy="48463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Findings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Severity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Comments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Due Date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01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Complete all missing documents in employee files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C241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02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Ensure all induction plan are properly documented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C241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03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Introduce a KPI related to proper documentation filing within the recruitment process in the Recruitment Officer scorecard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C241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04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Conduct an annual internal audit of employee files to ensure compliance and completeness and close the Gap (85% compliance rate)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C241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05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Define and streamline the approval workflow to reduce delays (Everything should be signed the last day)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C241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Employee files update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9/30/2025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07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Ensure all FY26 training records are properly documented and closed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Overdue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08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Ensure that all required employee data is systematically shared with Finance on an annual basis, no later than end of april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Establish a formal procedure defining roles and responsibilities between HR and Finance, including timelines and data requirements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Establish a formal procedure for conducting surveys, including confidentiality requirements and formal agreements with providers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Finalize and standardize reference checks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C241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Implement a formal action plan and ensure proper closure tracking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Overdue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Implement an automatic recruitment System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C241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0A0A0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going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3/31/2027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Include a mandatory handover/ tracking file within the clearance process (Update the clearance from)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Introduce a KPI on proper filing and document completeness in employee records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C241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Overdue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Issue a decision note to formalize interview outcomes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C241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Overdue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Notify all pending candidates of their probation status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C241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Overdue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Organize an alignment session between Human Resources and Legal to clarify requirements and define the appropriate framework documentation.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Organize focus group sessions (plant and head office) to gather additional insigh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Overdue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Publish an updated and comprehensive training plan FY27, including clear objectives and cost tracking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Overdue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 regret letters to all unsuccessful candidates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C241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 Training Plan FY26 asap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Update the procedure or policy to include a clear requirement for timely clearance and final payment processing (48H hours before the last)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C2410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6653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616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6/30/2026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38100" marB="38100" anchor="ctr">
                    <a:lnL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EF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pps\hr-rh-app\templates\exco\cover-assets\slide-fad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64008"/>
            <a:ext cx="1219169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292608" y="1463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92608" y="146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" y="128016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PPC · HR EXCO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" y="274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— Audit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95360" y="201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Jul-26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274320" y="868680"/>
            <a:ext cx="7635240" cy="5440680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1016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57200" y="10058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Cumulative progression % Closed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5760720"/>
            <a:ext cx="7040880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256032" y="566928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0080" y="4686300"/>
            <a:ext cx="7040880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256032" y="45948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3611880"/>
            <a:ext cx="7040880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256032" y="35204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0080" y="2537460"/>
            <a:ext cx="7040880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256032" y="24460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0080" y="1463040"/>
            <a:ext cx="7040880" cy="0"/>
          </a:xfrm>
          <a:prstGeom prst="line">
            <a:avLst/>
          </a:prstGeom>
          <a:noFill/>
          <a:ln w="12700">
            <a:solidFill>
              <a:srgbClr val="E0E0E6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256032" y="1371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080" y="5541264"/>
            <a:ext cx="5867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0080" y="5815584"/>
            <a:ext cx="586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226820" y="5541264"/>
            <a:ext cx="5867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226820" y="5815584"/>
            <a:ext cx="586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813560" y="5541264"/>
            <a:ext cx="5867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813560" y="5815584"/>
            <a:ext cx="586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400300" y="5541264"/>
            <a:ext cx="5867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400300" y="5815584"/>
            <a:ext cx="586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039847" y="5545836"/>
            <a:ext cx="481127" cy="214884"/>
          </a:xfrm>
          <a:prstGeom prst="roundRect">
            <a:avLst>
              <a:gd name="adj" fmla="val 1702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2987040" y="5326380"/>
            <a:ext cx="5867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5%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987040" y="5815584"/>
            <a:ext cx="586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626587" y="5373929"/>
            <a:ext cx="481127" cy="386791"/>
          </a:xfrm>
          <a:prstGeom prst="roundRect">
            <a:avLst>
              <a:gd name="adj" fmla="val 945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3573780" y="5154473"/>
            <a:ext cx="5867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9%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573780" y="5815584"/>
            <a:ext cx="586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213327" y="3396996"/>
            <a:ext cx="481127" cy="2363724"/>
          </a:xfrm>
          <a:prstGeom prst="roundRect">
            <a:avLst>
              <a:gd name="adj" fmla="val 760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4160520" y="3177540"/>
            <a:ext cx="5867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55%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160520" y="5815584"/>
            <a:ext cx="586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747260" y="5815584"/>
            <a:ext cx="586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334000" y="5815584"/>
            <a:ext cx="586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920740" y="5815584"/>
            <a:ext cx="586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507480" y="5815584"/>
            <a:ext cx="586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094220" y="5815584"/>
            <a:ext cx="586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092440" y="868680"/>
            <a:ext cx="3794760" cy="544068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1016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Text 43"/>
          <p:cNvSpPr/>
          <p:nvPr/>
        </p:nvSpPr>
        <p:spPr>
          <a:xfrm>
            <a:off x="827532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Evolution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827532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55% Closed</a:t>
            </a:r>
            <a:endParaRPr lang="en-US" sz="2600" dirty="0"/>
          </a:p>
        </p:txBody>
      </p:sp>
      <p:sp>
        <p:nvSpPr>
          <p:cNvPr id="48" name="Text 45"/>
          <p:cNvSpPr/>
          <p:nvPr/>
        </p:nvSpPr>
        <p:spPr>
          <a:xfrm>
            <a:off x="8275320" y="1828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22 points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8275320" y="2286000"/>
            <a:ext cx="34290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points reached 5% in May, then progressed in June (9%), with a notable jump in July (55%, +46 pts). As of end-July, the cumulative figure stands at 55% (12 / 22 points).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E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pps\hr-rh-app\templates\exco\cover-assets\slide-fad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1645920" y="1463040"/>
            <a:ext cx="886968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0E0E6"/>
            </a:solidFill>
            <a:prstDash val="solid"/>
          </a:ln>
          <a:effectLst>
            <a:outerShdw blurRad="1016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1645920" y="1965960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3061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PPC · HR EXCO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45920" y="2468880"/>
            <a:ext cx="8869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616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8" name="Shape 5"/>
          <p:cNvSpPr/>
          <p:nvPr/>
        </p:nvSpPr>
        <p:spPr>
          <a:xfrm>
            <a:off x="5394960" y="3383280"/>
            <a:ext cx="1371600" cy="5486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1645920" y="3794760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Jul-26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1793</TotalTime>
  <Words>3715</Words>
  <Application>Microsoft Office PowerPoint</Application>
  <PresentationFormat>Widescreen</PresentationFormat>
  <Paragraphs>1431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 Narrow</vt:lpstr>
      <vt:lpstr>Arial</vt:lpstr>
      <vt:lpstr>Arial Black</vt:lpstr>
      <vt:lpstr>Calibri</vt:lpstr>
      <vt:lpstr>Franklin Gothic Book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OVERTIME - Hours</vt:lpstr>
      <vt:lpstr>Overtime vs Leave Balance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EXCO HR — Jul-26</dc:title>
  <dc:subject>PptxGenJS Presentation</dc:subject>
  <dc:creator>PPC HR</dc:creator>
  <cp:lastModifiedBy>Gedeon Massadi</cp:lastModifiedBy>
  <cp:revision>23</cp:revision>
  <dcterms:created xsi:type="dcterms:W3CDTF">2026-08-15T19:59:16Z</dcterms:created>
  <dcterms:modified xsi:type="dcterms:W3CDTF">2026-08-25T17:29:09Z</dcterms:modified>
</cp:coreProperties>
</file>